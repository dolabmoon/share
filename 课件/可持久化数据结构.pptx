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9" r:id="rId5"/>
    <p:sldId id="260" r:id="rId6"/>
    <p:sldId id="261" r:id="rId7"/>
    <p:sldId id="263" r:id="rId8"/>
    <p:sldId id="262" r:id="rId9"/>
    <p:sldId id="264" r:id="rId10"/>
    <p:sldId id="265" r:id="rId11"/>
    <p:sldId id="266" r:id="rId12"/>
    <p:sldId id="268" r:id="rId13"/>
    <p:sldId id="270" r:id="rId14"/>
    <p:sldId id="267" r:id="rId15"/>
    <p:sldId id="272" r:id="rId16"/>
    <p:sldId id="273" r:id="rId17"/>
    <p:sldId id="288" r:id="rId18"/>
    <p:sldId id="274" r:id="rId19"/>
    <p:sldId id="275" r:id="rId20"/>
    <p:sldId id="276" r:id="rId21"/>
    <p:sldId id="277" r:id="rId22"/>
    <p:sldId id="278" r:id="rId23"/>
    <p:sldId id="289" r:id="rId24"/>
    <p:sldId id="281" r:id="rId25"/>
    <p:sldId id="290" r:id="rId26"/>
    <p:sldId id="292" r:id="rId27"/>
    <p:sldId id="291" r:id="rId28"/>
    <p:sldId id="282" r:id="rId29"/>
    <p:sldId id="293" r:id="rId30"/>
    <p:sldId id="295" r:id="rId31"/>
    <p:sldId id="296" r:id="rId32"/>
    <p:sldId id="294" r:id="rId33"/>
    <p:sldId id="283" r:id="rId34"/>
    <p:sldId id="298" r:id="rId35"/>
    <p:sldId id="299" r:id="rId36"/>
    <p:sldId id="284" r:id="rId37"/>
    <p:sldId id="285" r:id="rId38"/>
    <p:sldId id="286" r:id="rId39"/>
    <p:sldId id="287" r:id="rId40"/>
    <p:sldId id="297" r:id="rId41"/>
    <p:sldId id="300" r:id="rId42"/>
    <p:sldId id="301" r:id="rId43"/>
    <p:sldId id="302" r:id="rId44"/>
    <p:sldId id="315" r:id="rId45"/>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2B3AD1-FCB7-43D8-924A-C182C0F1EA4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2075567" y="2149475"/>
            <a:ext cx="7830433" cy="1881188"/>
          </a:xfrm>
        </p:spPr>
        <p:txBody>
          <a:bodyPr anchor="b"/>
          <a:lstStyle>
            <a:lvl1pPr algn="ctr">
              <a:defRPr sz="6000" b="1">
                <a:solidFill>
                  <a:schemeClr val="tx1"/>
                </a:solidFill>
              </a:defRPr>
            </a:lvl1pPr>
          </a:lstStyle>
          <a:p>
            <a:r>
              <a:rPr lang="en-US" altLang="zh-CN" smtClean="0"/>
              <a:t>LOREM IPSUM DOLOR</a:t>
            </a:r>
            <a:endParaRPr lang="zh-CN" altLang="en-US"/>
          </a:p>
        </p:txBody>
      </p:sp>
      <p:sp>
        <p:nvSpPr>
          <p:cNvPr id="3" name="副标题 2"/>
          <p:cNvSpPr>
            <a:spLocks noGrp="1"/>
          </p:cNvSpPr>
          <p:nvPr>
            <p:ph type="subTitle" idx="1" hasCustomPrompt="1"/>
          </p:nvPr>
        </p:nvSpPr>
        <p:spPr>
          <a:xfrm>
            <a:off x="2075567" y="4144963"/>
            <a:ext cx="7830434" cy="1003300"/>
          </a:xfrm>
        </p:spPr>
        <p:txBody>
          <a:bodyPr>
            <a:normAutofit/>
          </a:bodyPr>
          <a:lstStyle>
            <a:lvl1pPr marL="0" indent="0" algn="ct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smtClean="0"/>
              <a:t>LOREM IPSUM DOLOR</a:t>
            </a:r>
            <a:endParaRPr lang="zh-CN" altLang="en-US"/>
          </a:p>
        </p:txBody>
      </p:sp>
      <p:sp>
        <p:nvSpPr>
          <p:cNvPr id="4" name="日期占位符 3"/>
          <p:cNvSpPr>
            <a:spLocks noGrp="1"/>
          </p:cNvSpPr>
          <p:nvPr>
            <p:ph type="dt" sz="half" idx="10"/>
          </p:nvPr>
        </p:nvSpPr>
        <p:spPr/>
        <p:txBody>
          <a:bodyPr/>
          <a:lstStyle/>
          <a:p>
            <a:fld id="{C0969DF5-CE6F-460D-85D3-AC9F3B21A05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7F28AF-5BE0-4465-9148-1AC3FCF059DB}"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983673" y="1745673"/>
            <a:ext cx="10224655" cy="402336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C0969DF5-CE6F-460D-85D3-AC9F3B21A05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7F28AF-5BE0-4465-9148-1AC3FCF059DB}"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矩形 6"/>
          <p:cNvSpPr/>
          <p:nvPr>
            <p:custDataLst>
              <p:tags r:id="rId3"/>
            </p:custDataLst>
          </p:nvPr>
        </p:nvSpPr>
        <p:spPr bwMode="auto">
          <a:xfrm>
            <a:off x="10091738" y="0"/>
            <a:ext cx="576262" cy="37750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1"/>
              </a:solidFill>
            </a:endParaRPr>
          </a:p>
        </p:txBody>
      </p:sp>
      <p:sp>
        <p:nvSpPr>
          <p:cNvPr id="9" name="矩形 8"/>
          <p:cNvSpPr/>
          <p:nvPr>
            <p:custDataLst>
              <p:tags r:id="rId4"/>
            </p:custDataLst>
          </p:nvPr>
        </p:nvSpPr>
        <p:spPr bwMode="auto">
          <a:xfrm>
            <a:off x="10091738" y="5211762"/>
            <a:ext cx="576262" cy="16462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1"/>
              </a:solidFill>
            </a:endParaRPr>
          </a:p>
        </p:txBody>
      </p:sp>
      <p:sp>
        <p:nvSpPr>
          <p:cNvPr id="2" name="标题 1"/>
          <p:cNvSpPr>
            <a:spLocks noGrp="1"/>
          </p:cNvSpPr>
          <p:nvPr>
            <p:ph type="title"/>
          </p:nvPr>
        </p:nvSpPr>
        <p:spPr>
          <a:xfrm>
            <a:off x="1524000" y="3775075"/>
            <a:ext cx="7620000" cy="1385774"/>
          </a:xfrm>
          <a:solidFill>
            <a:schemeClr val="accent1"/>
          </a:solidFill>
        </p:spPr>
        <p:txBody>
          <a:bodyPr anchor="ctr" anchorCtr="0">
            <a:normAutofit/>
          </a:bodyPr>
          <a:lstStyle>
            <a:lvl1pPr algn="ctr">
              <a:defRPr sz="4000">
                <a:solidFill>
                  <a:schemeClr val="bg1"/>
                </a:solidFill>
              </a:defRPr>
            </a:lvl1pPr>
          </a:lstStyle>
          <a:p>
            <a:pPr algn="ctr">
              <a:defRPr/>
            </a:pPr>
            <a:r>
              <a:rPr lang="zh-CN" altLang="en-US" dirty="0" smtClean="0"/>
              <a:t>单击此处编辑母版标题样式</a:t>
            </a:r>
            <a:endParaRPr lang="zh-CN" altLang="en-US" sz="4000" dirty="0">
              <a:solidFill>
                <a:prstClr val="white"/>
              </a:solidFill>
            </a:endParaRPr>
          </a:p>
        </p:txBody>
      </p:sp>
      <p:sp>
        <p:nvSpPr>
          <p:cNvPr id="4" name="日期占位符 3"/>
          <p:cNvSpPr>
            <a:spLocks noGrp="1"/>
          </p:cNvSpPr>
          <p:nvPr>
            <p:ph type="dt" sz="half" idx="10"/>
          </p:nvPr>
        </p:nvSpPr>
        <p:spPr/>
        <p:txBody>
          <a:bodyPr>
            <a:normAutofit/>
          </a:bodyPr>
          <a:lstStyle>
            <a:lvl1pPr>
              <a:defRPr>
                <a:solidFill>
                  <a:schemeClr val="bg1"/>
                </a:solidFill>
              </a:defRPr>
            </a:lvl1pPr>
          </a:lstStyle>
          <a:p>
            <a:fld id="{C0969DF5-CE6F-460D-85D3-AC9F3B21A050}"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a:solidFill>
                  <a:schemeClr val="bg1"/>
                </a:solidFill>
              </a:defRPr>
            </a:lvl1pPr>
          </a:lstStyle>
          <a:p>
            <a:endParaRPr lang="zh-CN" altLang="en-US"/>
          </a:p>
        </p:txBody>
      </p:sp>
      <p:sp>
        <p:nvSpPr>
          <p:cNvPr id="6" name="灯片编号占位符 5"/>
          <p:cNvSpPr>
            <a:spLocks noGrp="1"/>
          </p:cNvSpPr>
          <p:nvPr>
            <p:ph type="sldNum" sz="quarter" idx="12"/>
          </p:nvPr>
        </p:nvSpPr>
        <p:spPr/>
        <p:txBody>
          <a:bodyPr>
            <a:normAutofit/>
          </a:bodyPr>
          <a:lstStyle>
            <a:lvl1pPr>
              <a:defRPr>
                <a:solidFill>
                  <a:schemeClr val="bg1"/>
                </a:solidFill>
              </a:defRPr>
            </a:lvl1pPr>
          </a:lstStyle>
          <a:p>
            <a:fld id="{4F7F28AF-5BE0-4465-9148-1AC3FCF059DB}"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990600" y="1431178"/>
            <a:ext cx="10363200" cy="2165519"/>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内容占位符 3"/>
          <p:cNvSpPr>
            <a:spLocks noGrp="1"/>
          </p:cNvSpPr>
          <p:nvPr>
            <p:ph sz="half" idx="2"/>
          </p:nvPr>
        </p:nvSpPr>
        <p:spPr>
          <a:xfrm>
            <a:off x="1006188" y="4052400"/>
            <a:ext cx="10363200" cy="2165519"/>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5" name="日期占位符 4"/>
          <p:cNvSpPr>
            <a:spLocks noGrp="1"/>
          </p:cNvSpPr>
          <p:nvPr>
            <p:ph type="dt" sz="half" idx="10"/>
          </p:nvPr>
        </p:nvSpPr>
        <p:spPr/>
        <p:txBody>
          <a:bodyPr/>
          <a:lstStyle/>
          <a:p>
            <a:fld id="{C0969DF5-CE6F-460D-85D3-AC9F3B21A05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7F28AF-5BE0-4465-9148-1AC3FCF059DB}" type="slidenum">
              <a:rPr lang="zh-CN" altLang="en-US" smtClean="0"/>
            </a:fld>
            <a:endParaRPr lang="zh-CN" altLang="en-US"/>
          </a:p>
        </p:txBody>
      </p:sp>
      <p:sp>
        <p:nvSpPr>
          <p:cNvPr id="8" name="标题 7"/>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9788" y="1282155"/>
            <a:ext cx="5157787" cy="823912"/>
          </a:xfrm>
        </p:spPr>
        <p:txBody>
          <a:bodyPr anchor="b">
            <a:normAutofit/>
          </a:bodyPr>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106067"/>
            <a:ext cx="5157787" cy="4028726"/>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5" name="文本占位符 4"/>
          <p:cNvSpPr>
            <a:spLocks noGrp="1"/>
          </p:cNvSpPr>
          <p:nvPr>
            <p:ph type="body" sz="quarter" idx="3"/>
          </p:nvPr>
        </p:nvSpPr>
        <p:spPr>
          <a:xfrm>
            <a:off x="6172200" y="1282155"/>
            <a:ext cx="5183188" cy="823912"/>
          </a:xfrm>
        </p:spPr>
        <p:txBody>
          <a:bodyPr anchor="b">
            <a:normAutofit/>
          </a:bodyPr>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106067"/>
            <a:ext cx="5183188" cy="402872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C0969DF5-CE6F-460D-85D3-AC9F3B21A05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7F28AF-5BE0-4465-9148-1AC3FCF059DB}" type="slidenum">
              <a:rPr lang="zh-CN" altLang="en-US" smtClean="0"/>
            </a:fld>
            <a:endParaRPr lang="zh-CN" altLang="en-US"/>
          </a:p>
        </p:txBody>
      </p:sp>
      <p:sp>
        <p:nvSpPr>
          <p:cNvPr id="10" name="标题 9"/>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wrap="square">
            <a:normAutofit/>
          </a:bodyPr>
          <a:lstStyle/>
          <a:p>
            <a:fld id="{C0969DF5-CE6F-460D-85D3-AC9F3B21A050}" type="datetimeFigureOut">
              <a:rPr lang="zh-CN" altLang="en-US" smtClean="0"/>
            </a:fld>
            <a:endParaRPr lang="zh-CN" altLang="en-US"/>
          </a:p>
        </p:txBody>
      </p:sp>
      <p:sp>
        <p:nvSpPr>
          <p:cNvPr id="4" name="页脚占位符 3"/>
          <p:cNvSpPr>
            <a:spLocks noGrp="1"/>
          </p:cNvSpPr>
          <p:nvPr>
            <p:ph type="ftr" sz="quarter" idx="11"/>
          </p:nvPr>
        </p:nvSpPr>
        <p:spPr/>
        <p:txBody>
          <a:bodyPr wrap="square">
            <a:normAutofit/>
          </a:bodyPr>
          <a:lstStyle/>
          <a:p>
            <a:endParaRPr lang="zh-CN" altLang="en-US"/>
          </a:p>
        </p:txBody>
      </p:sp>
      <p:sp>
        <p:nvSpPr>
          <p:cNvPr id="5" name="灯片编号占位符 4"/>
          <p:cNvSpPr>
            <a:spLocks noGrp="1"/>
          </p:cNvSpPr>
          <p:nvPr>
            <p:ph type="sldNum" sz="quarter" idx="12"/>
          </p:nvPr>
        </p:nvSpPr>
        <p:spPr/>
        <p:txBody>
          <a:bodyPr wrap="square">
            <a:normAutofit/>
          </a:bodyPr>
          <a:lstStyle/>
          <a:p>
            <a:fld id="{4F7F28AF-5BE0-4465-9148-1AC3FCF059DB}" type="slidenum">
              <a:rPr lang="zh-CN" altLang="en-US" smtClean="0"/>
            </a:fld>
            <a:endParaRPr lang="zh-CN" altLang="en-US"/>
          </a:p>
        </p:txBody>
      </p:sp>
      <p:sp>
        <p:nvSpPr>
          <p:cNvPr id="6" name="矩形 5"/>
          <p:cNvSpPr/>
          <p:nvPr/>
        </p:nvSpPr>
        <p:spPr>
          <a:xfrm>
            <a:off x="0" y="3238500"/>
            <a:ext cx="12192000" cy="381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25000" lnSpcReduction="20000"/>
          </a:bodyPr>
          <a:lstStyle/>
          <a:p>
            <a:pPr algn="ctr"/>
            <a:endParaRPr lang="zh-CN" altLang="en-US" sz="6600" b="1">
              <a:solidFill>
                <a:srgbClr val="FFFFFF"/>
              </a:solidFill>
            </a:endParaRPr>
          </a:p>
        </p:txBody>
      </p:sp>
      <p:sp>
        <p:nvSpPr>
          <p:cNvPr id="2" name="标题 1"/>
          <p:cNvSpPr>
            <a:spLocks noGrp="1"/>
          </p:cNvSpPr>
          <p:nvPr>
            <p:ph type="title" hasCustomPrompt="1"/>
          </p:nvPr>
        </p:nvSpPr>
        <p:spPr>
          <a:xfrm>
            <a:off x="3657600" y="2400300"/>
            <a:ext cx="4876800" cy="2057400"/>
          </a:xfrm>
          <a:solidFill>
            <a:schemeClr val="accent1"/>
          </a:solidFill>
        </p:spPr>
        <p:txBody>
          <a:bodyPr wrap="square">
            <a:normAutofit/>
          </a:bodyPr>
          <a:lstStyle>
            <a:lvl1pPr algn="ctr">
              <a:defRPr sz="6600"/>
            </a:lvl1pPr>
          </a:lstStyle>
          <a:p>
            <a:r>
              <a:rPr lang="zh-CN" altLang="en-US" dirty="0" smtClean="0"/>
              <a:t>编辑标题</a:t>
            </a:r>
            <a:endParaRPr lang="zh-CN" altLang="en-US" dirty="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0969DF5-CE6F-460D-85D3-AC9F3B21A05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F7F28AF-5BE0-4465-9148-1AC3FCF059DB}"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7" y="1106901"/>
            <a:ext cx="4165200" cy="1600200"/>
          </a:xfrm>
        </p:spPr>
        <p:txBody>
          <a:bodyPr anchor="t" anchorCtr="0"/>
          <a:lstStyle>
            <a:lvl1pPr>
              <a:defRPr sz="3200">
                <a:solidFill>
                  <a:schemeClr val="tx1"/>
                </a:solidFill>
              </a:defRPr>
            </a:lvl1pPr>
          </a:lstStyle>
          <a:p>
            <a:r>
              <a:rPr lang="zh-CN" altLang="en-US" dirty="0" smtClean="0"/>
              <a:t>单击此处编辑母版标题样式</a:t>
            </a:r>
            <a:endParaRPr lang="zh-CN" altLang="en-US" dirty="0"/>
          </a:p>
        </p:txBody>
      </p:sp>
      <p:sp>
        <p:nvSpPr>
          <p:cNvPr id="3" name="图片占位符 2"/>
          <p:cNvSpPr>
            <a:spLocks noGrp="1" noChangeAspect="1"/>
          </p:cNvSpPr>
          <p:nvPr>
            <p:ph type="pic" idx="1"/>
          </p:nvPr>
        </p:nvSpPr>
        <p:spPr>
          <a:xfrm>
            <a:off x="5184000" y="1106901"/>
            <a:ext cx="6170400" cy="540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7" y="2707101"/>
            <a:ext cx="4165200" cy="38115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smtClean="0"/>
              <a:t>单击此处编辑母版文本样式</a:t>
            </a:r>
            <a:endParaRPr lang="zh-CN" altLang="en-US" dirty="0" smtClean="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649326" y="365125"/>
            <a:ext cx="1704474" cy="5811838"/>
          </a:xfrm>
        </p:spPr>
        <p:txBody>
          <a:bodyPr vert="eaVert"/>
          <a:lstStyle>
            <a:lvl1pPr>
              <a:defRPr>
                <a:solidFill>
                  <a:schemeClr val="tx1"/>
                </a:solidFill>
              </a:defRPr>
            </a:lvl1p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199" y="365125"/>
            <a:ext cx="8570495" cy="5811838"/>
          </a:xfrm>
        </p:spPr>
        <p:txBody>
          <a:bodyPr vert="eaVert"/>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C0969DF5-CE6F-460D-85D3-AC9F3B21A05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7F28AF-5BE0-4465-9148-1AC3FCF059D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1"/>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EFD9D74-47D9-4702-A33C-335B63B48DB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ABC47A4-756D-490B-A52F-7D9E2C9FC05F}" type="slidenum">
              <a:rPr lang="zh-CN" altLang="en-US" smtClean="0"/>
            </a:fld>
            <a:endParaRPr lang="zh-CN" altLang="en-US"/>
          </a:p>
        </p:txBody>
      </p:sp>
      <p:sp>
        <p:nvSpPr>
          <p:cNvPr id="7" name="内容占位符 6"/>
          <p:cNvSpPr>
            <a:spLocks noGrp="1"/>
          </p:cNvSpPr>
          <p:nvPr>
            <p:ph sz="quarter" idx="13"/>
          </p:nvPr>
        </p:nvSpPr>
        <p:spPr>
          <a:xfrm>
            <a:off x="838200" y="529067"/>
            <a:ext cx="10515600" cy="5575095"/>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tags" Target="../tags/tag4.xml"/><Relationship Id="rId12" Type="http://schemas.openxmlformats.org/officeDocument/2006/relationships/tags" Target="../tags/tag3.xml"/><Relationship Id="rId11" Type="http://schemas.openxmlformats.org/officeDocument/2006/relationships/image" Target="../media/image3.pn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0" y="1"/>
            <a:ext cx="6819900" cy="952500"/>
          </a:xfrm>
          <a:prstGeom prst="rect">
            <a:avLst/>
          </a:prstGeom>
          <a:noFill/>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custDataLst>
              <p:tags r:id="rId13"/>
            </p:custDataLst>
          </p:nvPr>
        </p:nvSpPr>
        <p:spPr>
          <a:xfrm>
            <a:off x="838200" y="1323974"/>
            <a:ext cx="10515600" cy="4852989"/>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C0969DF5-CE6F-460D-85D3-AC9F3B21A05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F7F28AF-5BE0-4465-9148-1AC3FCF059D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iming>
    <p:tnLst>
      <p:par>
        <p:cTn id="1" dur="indefinite" restart="never" nodeType="tmRoot"/>
      </p:par>
    </p:tnLst>
  </p:timing>
  <p:txStyles>
    <p:titleStyle>
      <a:lvl1pPr algn="l" defTabSz="914400" rtl="0" eaLnBrk="1" latinLnBrk="0" hangingPunct="1">
        <a:lnSpc>
          <a:spcPct val="90000"/>
        </a:lnSpc>
        <a:spcBef>
          <a:spcPct val="0"/>
        </a:spcBef>
        <a:buNone/>
        <a:defRPr sz="4000" kern="1200">
          <a:solidFill>
            <a:schemeClr val="bg1"/>
          </a:solidFill>
          <a:latin typeface="+mj-lt"/>
          <a:ea typeface="+mj-ea"/>
          <a:cs typeface="+mj-cs"/>
        </a:defRPr>
      </a:lvl1pPr>
    </p:titleStyle>
    <p:bodyStyle>
      <a:lvl1pPr marL="228600" indent="-228600" algn="just" defTabSz="914400" rtl="0" eaLnBrk="1" latinLnBrk="0" hangingPunct="1">
        <a:lnSpc>
          <a:spcPct val="12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just"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just"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just"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2.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2.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2.xml"/><Relationship Id="rId5" Type="http://schemas.openxmlformats.org/officeDocument/2006/relationships/tags" Target="../tags/tag77.xml"/><Relationship Id="rId4" Type="http://schemas.openxmlformats.org/officeDocument/2006/relationships/image" Target="../media/image4.png"/><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2.xml"/><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2.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2.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2.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2.xml"/><Relationship Id="rId4" Type="http://schemas.openxmlformats.org/officeDocument/2006/relationships/tags" Target="../tags/tag105.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2.xml"/><Relationship Id="rId4" Type="http://schemas.openxmlformats.org/officeDocument/2006/relationships/tags" Target="../tags/tag109.xml"/><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2.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tags" Target="../tags/tag110.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4.xml"/></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2.xml"/><Relationship Id="rId4" Type="http://schemas.openxmlformats.org/officeDocument/2006/relationships/tags" Target="../tags/tag118.xml"/><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s>
</file>

<file path=ppt/slides/_rels/slide32.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2.xml"/><Relationship Id="rId4" Type="http://schemas.openxmlformats.org/officeDocument/2006/relationships/tags" Target="../tags/tag122.xml"/><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tags" Target="../tags/tag119.xml"/></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30.xml"/><Relationship Id="rId5" Type="http://schemas.openxmlformats.org/officeDocument/2006/relationships/slideLayout" Target="../slideLayouts/slideLayout2.xml"/><Relationship Id="rId4" Type="http://schemas.openxmlformats.org/officeDocument/2006/relationships/tags" Target="../tags/tag126.xml"/><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31.xml"/><Relationship Id="rId5" Type="http://schemas.openxmlformats.org/officeDocument/2006/relationships/slideLayout" Target="../slideLayouts/slideLayout2.xml"/><Relationship Id="rId4" Type="http://schemas.openxmlformats.org/officeDocument/2006/relationships/tags" Target="../tags/tag130.xml"/><Relationship Id="rId3" Type="http://schemas.openxmlformats.org/officeDocument/2006/relationships/tags" Target="../tags/tag129.xml"/><Relationship Id="rId2" Type="http://schemas.openxmlformats.org/officeDocument/2006/relationships/tags" Target="../tags/tag128.xml"/><Relationship Id="rId1" Type="http://schemas.openxmlformats.org/officeDocument/2006/relationships/tags" Target="../tags/tag127.xml"/></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2.xml"/><Relationship Id="rId4" Type="http://schemas.openxmlformats.org/officeDocument/2006/relationships/tags" Target="../tags/tag134.xml"/><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tags" Target="../tags/tag131.xml"/></Relationships>
</file>

<file path=ppt/slides/_rels/slide36.xml.rels><?xml version="1.0" encoding="UTF-8" standalone="yes"?>
<Relationships xmlns="http://schemas.openxmlformats.org/package/2006/relationships"><Relationship Id="rId6" Type="http://schemas.openxmlformats.org/officeDocument/2006/relationships/notesSlide" Target="../notesSlides/notesSlide33.xml"/><Relationship Id="rId5" Type="http://schemas.openxmlformats.org/officeDocument/2006/relationships/slideLayout" Target="../slideLayouts/slideLayout2.xml"/><Relationship Id="rId4" Type="http://schemas.openxmlformats.org/officeDocument/2006/relationships/tags" Target="../tags/tag138.xml"/><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s>
</file>

<file path=ppt/slides/_rels/slide37.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2.xml"/><Relationship Id="rId7" Type="http://schemas.openxmlformats.org/officeDocument/2006/relationships/tags" Target="../tags/tag142.xml"/><Relationship Id="rId6" Type="http://schemas.openxmlformats.org/officeDocument/2006/relationships/oleObject" Target="../embeddings/oleObject2.bin"/><Relationship Id="rId5" Type="http://schemas.openxmlformats.org/officeDocument/2006/relationships/image" Target="../media/image5.wmf"/><Relationship Id="rId4" Type="http://schemas.openxmlformats.org/officeDocument/2006/relationships/oleObject" Target="../embeddings/oleObject1.bin"/><Relationship Id="rId3" Type="http://schemas.openxmlformats.org/officeDocument/2006/relationships/tags" Target="../tags/tag141.xml"/><Relationship Id="rId2" Type="http://schemas.openxmlformats.org/officeDocument/2006/relationships/tags" Target="../tags/tag140.xml"/><Relationship Id="rId10" Type="http://schemas.openxmlformats.org/officeDocument/2006/relationships/notesSlide" Target="../notesSlides/notesSlide34.xml"/><Relationship Id="rId1" Type="http://schemas.openxmlformats.org/officeDocument/2006/relationships/tags" Target="../tags/tag139.xml"/></Relationships>
</file>

<file path=ppt/slides/_rels/slide3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46.xml"/><Relationship Id="rId7" Type="http://schemas.openxmlformats.org/officeDocument/2006/relationships/oleObject" Target="../embeddings/oleObject5.bin"/><Relationship Id="rId6" Type="http://schemas.openxmlformats.org/officeDocument/2006/relationships/oleObject" Target="../embeddings/oleObject4.bin"/><Relationship Id="rId5" Type="http://schemas.openxmlformats.org/officeDocument/2006/relationships/image" Target="../media/image5.wmf"/><Relationship Id="rId4" Type="http://schemas.openxmlformats.org/officeDocument/2006/relationships/oleObject" Target="../embeddings/oleObject3.bin"/><Relationship Id="rId3" Type="http://schemas.openxmlformats.org/officeDocument/2006/relationships/tags" Target="../tags/tag145.xml"/><Relationship Id="rId2" Type="http://schemas.openxmlformats.org/officeDocument/2006/relationships/tags" Target="../tags/tag144.xml"/><Relationship Id="rId11" Type="http://schemas.openxmlformats.org/officeDocument/2006/relationships/notesSlide" Target="../notesSlides/notesSlide35.xml"/><Relationship Id="rId10" Type="http://schemas.openxmlformats.org/officeDocument/2006/relationships/vmlDrawing" Target="../drawings/vmlDrawing2.vml"/><Relationship Id="rId1" Type="http://schemas.openxmlformats.org/officeDocument/2006/relationships/tags" Target="../tags/tag143.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7.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8.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9.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9"/>
          <p:cNvSpPr>
            <a:spLocks noGrp="1"/>
          </p:cNvSpPr>
          <p:nvPr>
            <p:ph type="ctrTitle"/>
            <p:custDataLst>
              <p:tags r:id="rId1"/>
            </p:custDataLst>
          </p:nvPr>
        </p:nvSpPr>
        <p:spPr/>
        <p:txBody>
          <a:bodyPr/>
          <a:lstStyle/>
          <a:p>
            <a:r>
              <a:rPr lang="zh-CN" altLang="en-US" dirty="0">
                <a:solidFill>
                  <a:schemeClr val="tx1"/>
                </a:solidFill>
              </a:rPr>
              <a:t>可持久化数据结构</a:t>
            </a:r>
            <a:endParaRPr lang="zh-CN" altLang="en-US" dirty="0">
              <a:solidFill>
                <a:schemeClr val="tx1"/>
              </a:solidFill>
            </a:endParaRPr>
          </a:p>
        </p:txBody>
      </p:sp>
      <p:sp>
        <p:nvSpPr>
          <p:cNvPr id="21" name="副标题 20"/>
          <p:cNvSpPr>
            <a:spLocks noGrp="1"/>
          </p:cNvSpPr>
          <p:nvPr>
            <p:ph type="subTitle" idx="1"/>
            <p:custDataLst>
              <p:tags r:id="rId2"/>
            </p:custDataLst>
          </p:nvPr>
        </p:nvSpPr>
        <p:spPr/>
        <p:txBody>
          <a:bodyPr/>
          <a:lstStyle/>
          <a:p>
            <a:r>
              <a:rPr lang="en-US" altLang="zh-CN" dirty="0"/>
              <a:t>by lyc</a:t>
            </a:r>
            <a:endParaRPr lang="en-US" altLang="zh-CN" dirty="0"/>
          </a:p>
        </p:txBody>
      </p:sp>
    </p:spTree>
    <p:custDataLst>
      <p:tags r:id="rId3"/>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一</a:t>
            </a:r>
            <a:r>
              <a:rPr lang="en-US" altLang="zh-CN"/>
              <a:t>.</a:t>
            </a:r>
            <a:r>
              <a:rPr lang="zh-CN" altLang="en-US"/>
              <a:t>什么是可持久化数据结构</a:t>
            </a:r>
            <a:r>
              <a:rPr lang="en-US" altLang="zh-CN"/>
              <a:t>?</a:t>
            </a:r>
            <a:endParaRPr lang="en-US" altLang="zh-CN"/>
          </a:p>
        </p:txBody>
      </p:sp>
      <p:sp>
        <p:nvSpPr>
          <p:cNvPr id="6" name="文本框 5"/>
          <p:cNvSpPr txBox="1"/>
          <p:nvPr/>
        </p:nvSpPr>
        <p:spPr>
          <a:xfrm>
            <a:off x="983615" y="2992755"/>
            <a:ext cx="10224135" cy="209169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常见的可持久化数据结构有，可持久化线段树（也叫主席树），可持久化</a:t>
            </a:r>
            <a:r>
              <a:rPr lang="en-US" altLang="zh-CN" sz="2800">
                <a:sym typeface="+mn-ea"/>
              </a:rPr>
              <a:t>trie</a:t>
            </a:r>
            <a:r>
              <a:rPr lang="zh-CN" altLang="en-US" sz="2800">
                <a:sym typeface="+mn-ea"/>
              </a:rPr>
              <a:t>树，可持久化并查集，可持久化平衡树，可持久化动态链表，可持久化动态树，可持久化动态仙人掌。</a:t>
            </a:r>
            <a:endParaRPr lang="zh-CN" altLang="zh-CN" sz="2800">
              <a:sym typeface="+mn-ea"/>
            </a:endParaRPr>
          </a:p>
          <a:p>
            <a:pPr marL="457200" indent="-457200">
              <a:buFont typeface="Arial" panose="020B0604020202020204" pitchFamily="34" charset="0"/>
              <a:buChar char="•"/>
            </a:pPr>
            <a:endParaRPr lang="zh-CN" altLang="en-US" sz="2800">
              <a:sym typeface="+mn-ea"/>
            </a:endParaRPr>
          </a:p>
          <a:p>
            <a:endParaRPr lang="zh-CN" altLang="en-US"/>
          </a:p>
        </p:txBody>
      </p:sp>
      <p:sp>
        <p:nvSpPr>
          <p:cNvPr id="12" name="文本框 11"/>
          <p:cNvSpPr txBox="1"/>
          <p:nvPr/>
        </p:nvSpPr>
        <p:spPr>
          <a:xfrm>
            <a:off x="984885" y="1303655"/>
            <a:ext cx="10225405" cy="138366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可持久化数据结构就是利用函数式编程的思想使其支持询问历史版本、同时充分利用它们之间的共同数据来减少时间和空间消耗。</a:t>
            </a:r>
            <a:endParaRPr lang="zh-CN" altLang="zh-CN" sz="2800">
              <a:sym typeface="+mn-ea"/>
            </a:endParaRPr>
          </a:p>
        </p:txBody>
      </p:sp>
      <p:sp>
        <p:nvSpPr>
          <p:cNvPr id="13" name="文本框 12"/>
          <p:cNvSpPr txBox="1"/>
          <p:nvPr/>
        </p:nvSpPr>
        <p:spPr>
          <a:xfrm>
            <a:off x="984885" y="4779010"/>
            <a:ext cx="10224135" cy="95313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不过鉴于本人知识储备原因，后面的内容只涉及到前面三个数据结构。</a:t>
            </a:r>
            <a:endParaRPr lang="zh-CN" altLang="zh-CN" sz="2800">
              <a:sym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二</a:t>
            </a:r>
            <a:r>
              <a:rPr lang="en-US" altLang="zh-CN"/>
              <a:t>.</a:t>
            </a:r>
            <a:r>
              <a:rPr lang="zh-CN" altLang="zh-CN"/>
              <a:t>主席树</a:t>
            </a:r>
            <a:endParaRPr lang="zh-CN" altLang="zh-CN"/>
          </a:p>
        </p:txBody>
      </p:sp>
      <p:sp>
        <p:nvSpPr>
          <p:cNvPr id="4" name="内容占位符 3"/>
          <p:cNvSpPr>
            <a:spLocks noGrp="1"/>
          </p:cNvSpPr>
          <p:nvPr>
            <p:ph idx="1"/>
          </p:nvPr>
        </p:nvSpPr>
        <p:spPr>
          <a:xfrm>
            <a:off x="983615" y="1442085"/>
            <a:ext cx="10224770" cy="1598930"/>
          </a:xfrm>
        </p:spPr>
        <p:txBody>
          <a:bodyPr/>
          <a:p>
            <a:pPr marL="0" indent="0">
              <a:buNone/>
            </a:pPr>
            <a:endParaRPr lang="zh-CN" altLang="zh-CN" sz="2800"/>
          </a:p>
          <a:p>
            <a:pPr marL="0" indent="0">
              <a:buNone/>
            </a:pPr>
            <a:endParaRPr lang="en-US" altLang="zh-CN" sz="2800"/>
          </a:p>
        </p:txBody>
      </p:sp>
      <p:sp>
        <p:nvSpPr>
          <p:cNvPr id="12" name="文本框 11"/>
          <p:cNvSpPr txBox="1"/>
          <p:nvPr/>
        </p:nvSpPr>
        <p:spPr>
          <a:xfrm>
            <a:off x="984885" y="1303655"/>
            <a:ext cx="10225405" cy="224536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可持久化数据结构要求可以查询历史版本。</a:t>
            </a:r>
            <a:endParaRPr lang="zh-CN" altLang="zh-CN" sz="2800">
              <a:sym typeface="+mn-ea"/>
            </a:endParaRPr>
          </a:p>
          <a:p>
            <a:pPr indent="0">
              <a:buFont typeface="Arial" panose="020B0604020202020204" pitchFamily="34" charset="0"/>
              <a:buNone/>
            </a:pPr>
            <a:endParaRPr lang="zh-CN" altLang="zh-CN" sz="2800">
              <a:sym typeface="+mn-ea"/>
            </a:endParaRPr>
          </a:p>
          <a:p>
            <a:pPr marL="457200" indent="-457200">
              <a:buFont typeface="Arial" panose="020B0604020202020204" pitchFamily="34" charset="0"/>
              <a:buChar char="•"/>
            </a:pPr>
            <a:r>
              <a:rPr lang="zh-CN" altLang="zh-CN" sz="2800">
                <a:sym typeface="+mn-ea"/>
              </a:rPr>
              <a:t>那么最简单的想法就是完整保留每次修改之后的版本，但这样空间和时间复杂度过大，对绝大多数题都不能满足要求，所以我们考虑可以利用上一个版本的原有数据。</a:t>
            </a:r>
            <a:endParaRPr lang="zh-CN" altLang="zh-CN" sz="2800">
              <a:sym typeface="+mn-ea"/>
            </a:endParaRPr>
          </a:p>
        </p:txBody>
      </p:sp>
      <p:sp>
        <p:nvSpPr>
          <p:cNvPr id="10" name="文本框 9"/>
          <p:cNvSpPr txBox="1"/>
          <p:nvPr/>
        </p:nvSpPr>
        <p:spPr>
          <a:xfrm>
            <a:off x="983615" y="3820160"/>
            <a:ext cx="10223500" cy="95313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例如线段树，如果执行单点修改，最多修改</a:t>
            </a:r>
            <a:r>
              <a:rPr lang="en-US" altLang="zh-CN" sz="2800">
                <a:sym typeface="+mn-ea"/>
              </a:rPr>
              <a:t>log</a:t>
            </a:r>
            <a:r>
              <a:rPr lang="zh-CN" altLang="en-US" sz="2800">
                <a:sym typeface="+mn-ea"/>
              </a:rPr>
              <a:t>个节点，而其它的节点没有变化，那就可以直接借用原来的点。</a:t>
            </a:r>
            <a:endParaRPr lang="zh-CN" altLang="en-US" sz="2800">
              <a:sym typeface="+mn-ea"/>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文本框 4"/>
          <p:cNvSpPr txBox="1"/>
          <p:nvPr/>
        </p:nvSpPr>
        <p:spPr>
          <a:xfrm>
            <a:off x="984885" y="1751965"/>
            <a:ext cx="10133965" cy="521970"/>
          </a:xfrm>
          <a:prstGeom prst="rect">
            <a:avLst/>
          </a:prstGeom>
          <a:noFill/>
        </p:spPr>
        <p:txBody>
          <a:bodyPr wrap="square" rtlCol="0">
            <a:spAutoFit/>
          </a:bodyPr>
          <a:p>
            <a:pPr marL="457200" indent="-457200">
              <a:buFont typeface="Arial" panose="020B0604020202020204" pitchFamily="34" charset="0"/>
              <a:buChar char="•"/>
            </a:pPr>
            <a:r>
              <a:rPr lang="zh-CN" altLang="en-US" sz="2800">
                <a:sym typeface="+mn-ea"/>
              </a:rPr>
              <a:t>单点更新</a:t>
            </a:r>
            <a:endParaRPr lang="zh-CN" altLang="en-US" sz="2800">
              <a:sym typeface="+mn-ea"/>
            </a:endParaRPr>
          </a:p>
        </p:txBody>
      </p:sp>
      <p:sp>
        <p:nvSpPr>
          <p:cNvPr id="184" name=" 184"/>
          <p:cNvSpPr/>
          <p:nvPr/>
        </p:nvSpPr>
        <p:spPr>
          <a:xfrm>
            <a:off x="2941320" y="3025775"/>
            <a:ext cx="407670" cy="3968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1</a:t>
            </a:r>
            <a:endParaRPr lang="en-US" altLang="zh-CN">
              <a:solidFill>
                <a:srgbClr val="FFFFFF"/>
              </a:solidFill>
            </a:endParaRPr>
          </a:p>
        </p:txBody>
      </p:sp>
      <p:sp>
        <p:nvSpPr>
          <p:cNvPr id="6" name=" 184"/>
          <p:cNvSpPr/>
          <p:nvPr/>
        </p:nvSpPr>
        <p:spPr>
          <a:xfrm>
            <a:off x="1336040" y="5165090"/>
            <a:ext cx="407670" cy="3968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4</a:t>
            </a:r>
            <a:endParaRPr lang="en-US" altLang="zh-CN">
              <a:solidFill>
                <a:srgbClr val="FFFFFF"/>
              </a:solidFill>
            </a:endParaRPr>
          </a:p>
        </p:txBody>
      </p:sp>
      <p:sp>
        <p:nvSpPr>
          <p:cNvPr id="9" name=" 184"/>
          <p:cNvSpPr/>
          <p:nvPr/>
        </p:nvSpPr>
        <p:spPr>
          <a:xfrm>
            <a:off x="2533650" y="5165090"/>
            <a:ext cx="407670" cy="3968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5</a:t>
            </a:r>
            <a:endParaRPr lang="en-US" altLang="zh-CN">
              <a:solidFill>
                <a:srgbClr val="FFFFFF"/>
              </a:solidFill>
            </a:endParaRPr>
          </a:p>
        </p:txBody>
      </p:sp>
      <p:sp>
        <p:nvSpPr>
          <p:cNvPr id="11" name=" 184"/>
          <p:cNvSpPr/>
          <p:nvPr/>
        </p:nvSpPr>
        <p:spPr>
          <a:xfrm>
            <a:off x="3831590" y="3961765"/>
            <a:ext cx="407670" cy="3968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3</a:t>
            </a:r>
            <a:endParaRPr lang="en-US" altLang="zh-CN">
              <a:solidFill>
                <a:srgbClr val="FFFFFF"/>
              </a:solidFill>
            </a:endParaRPr>
          </a:p>
        </p:txBody>
      </p:sp>
      <p:sp>
        <p:nvSpPr>
          <p:cNvPr id="12" name=" 184"/>
          <p:cNvSpPr/>
          <p:nvPr/>
        </p:nvSpPr>
        <p:spPr>
          <a:xfrm>
            <a:off x="2145665" y="3961765"/>
            <a:ext cx="407670" cy="3968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2</a:t>
            </a:r>
            <a:endParaRPr lang="en-US" altLang="zh-CN">
              <a:solidFill>
                <a:srgbClr val="FFFFFF"/>
              </a:solidFill>
            </a:endParaRPr>
          </a:p>
        </p:txBody>
      </p:sp>
      <p:sp>
        <p:nvSpPr>
          <p:cNvPr id="13" name=" 184"/>
          <p:cNvSpPr/>
          <p:nvPr/>
        </p:nvSpPr>
        <p:spPr>
          <a:xfrm>
            <a:off x="5227320" y="5165090"/>
            <a:ext cx="407670" cy="3968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7</a:t>
            </a:r>
            <a:endParaRPr lang="en-US" altLang="zh-CN">
              <a:solidFill>
                <a:srgbClr val="FFFFFF"/>
              </a:solidFill>
            </a:endParaRPr>
          </a:p>
        </p:txBody>
      </p:sp>
      <p:sp>
        <p:nvSpPr>
          <p:cNvPr id="14" name=" 184"/>
          <p:cNvSpPr/>
          <p:nvPr/>
        </p:nvSpPr>
        <p:spPr>
          <a:xfrm>
            <a:off x="3627755" y="5165090"/>
            <a:ext cx="407670" cy="3968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6</a:t>
            </a:r>
            <a:endParaRPr lang="en-US" altLang="zh-CN">
              <a:solidFill>
                <a:srgbClr val="FFFFFF"/>
              </a:solidFill>
            </a:endParaRPr>
          </a:p>
        </p:txBody>
      </p:sp>
      <p:cxnSp>
        <p:nvCxnSpPr>
          <p:cNvPr id="15" name="直接箭头连接符 14"/>
          <p:cNvCxnSpPr>
            <a:stCxn id="184" idx="3"/>
            <a:endCxn id="12" idx="7"/>
          </p:cNvCxnSpPr>
          <p:nvPr/>
        </p:nvCxnSpPr>
        <p:spPr>
          <a:xfrm flipH="1">
            <a:off x="2493645" y="3364230"/>
            <a:ext cx="507365" cy="6559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184" idx="5"/>
            <a:endCxn id="11" idx="1"/>
          </p:cNvCxnSpPr>
          <p:nvPr/>
        </p:nvCxnSpPr>
        <p:spPr>
          <a:xfrm>
            <a:off x="3289300" y="3364230"/>
            <a:ext cx="601980" cy="6559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12" idx="4"/>
            <a:endCxn id="6" idx="7"/>
          </p:cNvCxnSpPr>
          <p:nvPr/>
        </p:nvCxnSpPr>
        <p:spPr>
          <a:xfrm flipH="1">
            <a:off x="1684020" y="4358640"/>
            <a:ext cx="665480" cy="8648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11" idx="4"/>
            <a:endCxn id="14" idx="0"/>
          </p:cNvCxnSpPr>
          <p:nvPr/>
        </p:nvCxnSpPr>
        <p:spPr>
          <a:xfrm flipH="1">
            <a:off x="3831590" y="4358640"/>
            <a:ext cx="203835" cy="8064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endCxn id="9" idx="0"/>
          </p:cNvCxnSpPr>
          <p:nvPr/>
        </p:nvCxnSpPr>
        <p:spPr>
          <a:xfrm>
            <a:off x="2436495" y="4264660"/>
            <a:ext cx="300990" cy="9004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1" idx="5"/>
            <a:endCxn id="13" idx="1"/>
          </p:cNvCxnSpPr>
          <p:nvPr/>
        </p:nvCxnSpPr>
        <p:spPr>
          <a:xfrm>
            <a:off x="4179570" y="4300220"/>
            <a:ext cx="1107440" cy="9232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 184"/>
          <p:cNvSpPr/>
          <p:nvPr/>
        </p:nvSpPr>
        <p:spPr>
          <a:xfrm>
            <a:off x="3964305" y="3025775"/>
            <a:ext cx="407670" cy="396875"/>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1</a:t>
            </a:r>
            <a:endParaRPr lang="en-US" altLang="zh-CN">
              <a:solidFill>
                <a:srgbClr val="FFFFFF"/>
              </a:solidFill>
            </a:endParaRPr>
          </a:p>
        </p:txBody>
      </p:sp>
      <p:sp>
        <p:nvSpPr>
          <p:cNvPr id="22" name=" 184"/>
          <p:cNvSpPr/>
          <p:nvPr/>
        </p:nvSpPr>
        <p:spPr>
          <a:xfrm>
            <a:off x="4646930" y="3961765"/>
            <a:ext cx="407670" cy="396875"/>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3</a:t>
            </a:r>
            <a:endParaRPr lang="en-US" altLang="zh-CN">
              <a:solidFill>
                <a:srgbClr val="FFFFFF"/>
              </a:solidFill>
            </a:endParaRPr>
          </a:p>
        </p:txBody>
      </p:sp>
      <p:sp>
        <p:nvSpPr>
          <p:cNvPr id="23" name=" 184"/>
          <p:cNvSpPr/>
          <p:nvPr/>
        </p:nvSpPr>
        <p:spPr>
          <a:xfrm>
            <a:off x="4371975" y="5165090"/>
            <a:ext cx="407670" cy="396875"/>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6</a:t>
            </a:r>
            <a:endParaRPr lang="en-US" altLang="zh-CN">
              <a:solidFill>
                <a:srgbClr val="FFFFFF"/>
              </a:solidFill>
            </a:endParaRPr>
          </a:p>
        </p:txBody>
      </p:sp>
      <p:cxnSp>
        <p:nvCxnSpPr>
          <p:cNvPr id="24" name="直接箭头连接符 23"/>
          <p:cNvCxnSpPr>
            <a:stCxn id="21" idx="3"/>
            <a:endCxn id="12" idx="7"/>
          </p:cNvCxnSpPr>
          <p:nvPr/>
        </p:nvCxnSpPr>
        <p:spPr>
          <a:xfrm flipH="1">
            <a:off x="2493645" y="3364230"/>
            <a:ext cx="1530350" cy="655955"/>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21" idx="5"/>
            <a:endCxn id="22" idx="1"/>
          </p:cNvCxnSpPr>
          <p:nvPr/>
        </p:nvCxnSpPr>
        <p:spPr>
          <a:xfrm>
            <a:off x="4312285" y="3364230"/>
            <a:ext cx="394335" cy="655955"/>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22" idx="4"/>
            <a:endCxn id="23" idx="0"/>
          </p:cNvCxnSpPr>
          <p:nvPr/>
        </p:nvCxnSpPr>
        <p:spPr>
          <a:xfrm flipH="1">
            <a:off x="4575810" y="4358640"/>
            <a:ext cx="274955" cy="806450"/>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endCxn id="13" idx="0"/>
          </p:cNvCxnSpPr>
          <p:nvPr/>
        </p:nvCxnSpPr>
        <p:spPr>
          <a:xfrm>
            <a:off x="4933315" y="4300220"/>
            <a:ext cx="497840" cy="864870"/>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5807075" y="2328545"/>
            <a:ext cx="5387340" cy="353822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从根节点开始，一直到找到我们要修改的叶子节点。路上把经过的节点都复制一遍。</a:t>
            </a:r>
            <a:endParaRPr lang="zh-CN" altLang="zh-CN" sz="2800">
              <a:sym typeface="+mn-ea"/>
            </a:endParaRPr>
          </a:p>
          <a:p>
            <a:pPr marL="457200" indent="-457200">
              <a:buFont typeface="Arial" panose="020B0604020202020204" pitchFamily="34" charset="0"/>
              <a:buChar char="•"/>
            </a:pPr>
            <a:r>
              <a:rPr lang="zh-CN" altLang="zh-CN" sz="2800">
                <a:sym typeface="+mn-ea"/>
              </a:rPr>
              <a:t>到达叶子节点新建节点并复制后，修改点权，向父亲节点返回当前节点的编号。</a:t>
            </a:r>
            <a:endParaRPr lang="zh-CN" altLang="zh-CN" sz="2800">
              <a:sym typeface="+mn-ea"/>
            </a:endParaRPr>
          </a:p>
          <a:p>
            <a:pPr marL="457200" indent="-457200">
              <a:buFont typeface="Arial" panose="020B0604020202020204" pitchFamily="34" charset="0"/>
              <a:buChar char="•"/>
            </a:pPr>
            <a:r>
              <a:rPr lang="zh-CN" altLang="zh-CN" sz="2800">
                <a:sym typeface="+mn-ea"/>
              </a:rPr>
              <a:t>重复返回到根节点，并一路更新这些重建点的值。</a:t>
            </a:r>
            <a:endParaRPr lang="zh-CN" altLang="zh-CN" sz="2800">
              <a:sym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84" grpId="0" animBg="1"/>
      <p:bldP spid="6" grpId="0" animBg="1"/>
      <p:bldP spid="9" grpId="0" animBg="1"/>
      <p:bldP spid="11" grpId="0" animBg="1"/>
      <p:bldP spid="12" grpId="0" animBg="1"/>
      <p:bldP spid="13" grpId="0" animBg="1"/>
      <p:bldP spid="14" grpId="0" animBg="1"/>
      <p:bldP spid="21" grpId="0" animBg="1"/>
      <p:bldP spid="22" grpId="0" animBg="1"/>
      <p:bldP spid="23" grpId="0" animBg="1"/>
      <p:bldP spid="2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文本框 4"/>
          <p:cNvSpPr txBox="1"/>
          <p:nvPr/>
        </p:nvSpPr>
        <p:spPr>
          <a:xfrm>
            <a:off x="984885" y="1751965"/>
            <a:ext cx="10133965" cy="953135"/>
          </a:xfrm>
          <a:prstGeom prst="rect">
            <a:avLst/>
          </a:prstGeom>
          <a:noFill/>
        </p:spPr>
        <p:txBody>
          <a:bodyPr wrap="square" rtlCol="0">
            <a:spAutoFit/>
          </a:bodyPr>
          <a:p>
            <a:pPr marL="457200" indent="-457200">
              <a:buFont typeface="Arial" panose="020B0604020202020204" pitchFamily="34" charset="0"/>
              <a:buChar char="•"/>
            </a:pPr>
            <a:r>
              <a:rPr lang="zh-CN" altLang="en-US" sz="2800">
                <a:sym typeface="+mn-ea"/>
              </a:rPr>
              <a:t>区间求和，最初每个底层节点的权值都是</a:t>
            </a:r>
            <a:r>
              <a:rPr lang="en-US" altLang="zh-CN" sz="2800">
                <a:sym typeface="+mn-ea"/>
              </a:rPr>
              <a:t>1</a:t>
            </a:r>
            <a:r>
              <a:rPr lang="zh-CN" altLang="en-US" sz="2800">
                <a:sym typeface="+mn-ea"/>
              </a:rPr>
              <a:t>，修改时在第六个节点上加</a:t>
            </a:r>
            <a:r>
              <a:rPr lang="en-US" altLang="zh-CN" sz="2800">
                <a:sym typeface="+mn-ea"/>
              </a:rPr>
              <a:t>1</a:t>
            </a:r>
            <a:r>
              <a:rPr lang="zh-CN" altLang="en-US" sz="2800">
                <a:sym typeface="+mn-ea"/>
              </a:rPr>
              <a:t>，如图</a:t>
            </a:r>
            <a:r>
              <a:rPr lang="zh-CN" altLang="zh-CN" sz="2800">
                <a:sym typeface="+mn-ea"/>
              </a:rPr>
              <a:t>。</a:t>
            </a:r>
            <a:endParaRPr lang="zh-CN" altLang="zh-CN" sz="2800">
              <a:sym typeface="+mn-ea"/>
            </a:endParaRPr>
          </a:p>
        </p:txBody>
      </p:sp>
      <p:sp>
        <p:nvSpPr>
          <p:cNvPr id="184" name=" 184"/>
          <p:cNvSpPr/>
          <p:nvPr/>
        </p:nvSpPr>
        <p:spPr>
          <a:xfrm>
            <a:off x="2941320" y="3025775"/>
            <a:ext cx="407670" cy="3968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1</a:t>
            </a:r>
            <a:endParaRPr lang="en-US" altLang="zh-CN">
              <a:solidFill>
                <a:srgbClr val="FFFFFF"/>
              </a:solidFill>
            </a:endParaRPr>
          </a:p>
        </p:txBody>
      </p:sp>
      <p:sp>
        <p:nvSpPr>
          <p:cNvPr id="6" name=" 184"/>
          <p:cNvSpPr/>
          <p:nvPr/>
        </p:nvSpPr>
        <p:spPr>
          <a:xfrm>
            <a:off x="1336040" y="5165090"/>
            <a:ext cx="407670" cy="3968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4</a:t>
            </a:r>
            <a:endParaRPr lang="en-US" altLang="zh-CN">
              <a:solidFill>
                <a:srgbClr val="FFFFFF"/>
              </a:solidFill>
            </a:endParaRPr>
          </a:p>
        </p:txBody>
      </p:sp>
      <p:sp>
        <p:nvSpPr>
          <p:cNvPr id="9" name=" 184"/>
          <p:cNvSpPr/>
          <p:nvPr/>
        </p:nvSpPr>
        <p:spPr>
          <a:xfrm>
            <a:off x="2533650" y="5165090"/>
            <a:ext cx="407670" cy="3968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5</a:t>
            </a:r>
            <a:endParaRPr lang="en-US" altLang="zh-CN">
              <a:solidFill>
                <a:srgbClr val="FFFFFF"/>
              </a:solidFill>
            </a:endParaRPr>
          </a:p>
        </p:txBody>
      </p:sp>
      <p:sp>
        <p:nvSpPr>
          <p:cNvPr id="11" name=" 184"/>
          <p:cNvSpPr/>
          <p:nvPr/>
        </p:nvSpPr>
        <p:spPr>
          <a:xfrm>
            <a:off x="3831590" y="3961765"/>
            <a:ext cx="407670" cy="3968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3</a:t>
            </a:r>
            <a:endParaRPr lang="en-US" altLang="zh-CN">
              <a:solidFill>
                <a:srgbClr val="FFFFFF"/>
              </a:solidFill>
            </a:endParaRPr>
          </a:p>
        </p:txBody>
      </p:sp>
      <p:sp>
        <p:nvSpPr>
          <p:cNvPr id="12" name=" 184"/>
          <p:cNvSpPr/>
          <p:nvPr/>
        </p:nvSpPr>
        <p:spPr>
          <a:xfrm>
            <a:off x="2145665" y="3961765"/>
            <a:ext cx="407670" cy="3968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2</a:t>
            </a:r>
            <a:endParaRPr lang="en-US" altLang="zh-CN">
              <a:solidFill>
                <a:srgbClr val="FFFFFF"/>
              </a:solidFill>
            </a:endParaRPr>
          </a:p>
        </p:txBody>
      </p:sp>
      <p:sp>
        <p:nvSpPr>
          <p:cNvPr id="13" name=" 184"/>
          <p:cNvSpPr/>
          <p:nvPr/>
        </p:nvSpPr>
        <p:spPr>
          <a:xfrm>
            <a:off x="5227320" y="5165090"/>
            <a:ext cx="407670" cy="3968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7</a:t>
            </a:r>
            <a:endParaRPr lang="en-US" altLang="zh-CN">
              <a:solidFill>
                <a:srgbClr val="FFFFFF"/>
              </a:solidFill>
            </a:endParaRPr>
          </a:p>
        </p:txBody>
      </p:sp>
      <p:sp>
        <p:nvSpPr>
          <p:cNvPr id="14" name=" 184"/>
          <p:cNvSpPr/>
          <p:nvPr/>
        </p:nvSpPr>
        <p:spPr>
          <a:xfrm>
            <a:off x="3627755" y="5165090"/>
            <a:ext cx="407670" cy="3968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6</a:t>
            </a:r>
            <a:endParaRPr lang="en-US" altLang="zh-CN">
              <a:solidFill>
                <a:srgbClr val="FFFFFF"/>
              </a:solidFill>
            </a:endParaRPr>
          </a:p>
        </p:txBody>
      </p:sp>
      <p:cxnSp>
        <p:nvCxnSpPr>
          <p:cNvPr id="15" name="直接箭头连接符 14"/>
          <p:cNvCxnSpPr>
            <a:stCxn id="184" idx="3"/>
            <a:endCxn id="12" idx="7"/>
          </p:cNvCxnSpPr>
          <p:nvPr/>
        </p:nvCxnSpPr>
        <p:spPr>
          <a:xfrm flipH="1">
            <a:off x="2493645" y="3364230"/>
            <a:ext cx="507365" cy="6559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184" idx="5"/>
            <a:endCxn id="11" idx="1"/>
          </p:cNvCxnSpPr>
          <p:nvPr/>
        </p:nvCxnSpPr>
        <p:spPr>
          <a:xfrm>
            <a:off x="3289300" y="3364230"/>
            <a:ext cx="601980" cy="6559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12" idx="4"/>
            <a:endCxn id="6" idx="7"/>
          </p:cNvCxnSpPr>
          <p:nvPr/>
        </p:nvCxnSpPr>
        <p:spPr>
          <a:xfrm flipH="1">
            <a:off x="1684020" y="4358640"/>
            <a:ext cx="665480" cy="8648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11" idx="4"/>
            <a:endCxn id="14" idx="0"/>
          </p:cNvCxnSpPr>
          <p:nvPr/>
        </p:nvCxnSpPr>
        <p:spPr>
          <a:xfrm flipH="1">
            <a:off x="3831590" y="4358640"/>
            <a:ext cx="203835" cy="8064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endCxn id="9" idx="0"/>
          </p:cNvCxnSpPr>
          <p:nvPr/>
        </p:nvCxnSpPr>
        <p:spPr>
          <a:xfrm>
            <a:off x="2436495" y="4264660"/>
            <a:ext cx="300990" cy="9004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1" idx="5"/>
            <a:endCxn id="13" idx="1"/>
          </p:cNvCxnSpPr>
          <p:nvPr/>
        </p:nvCxnSpPr>
        <p:spPr>
          <a:xfrm>
            <a:off x="4179570" y="4300220"/>
            <a:ext cx="1107440" cy="9232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 184"/>
          <p:cNvSpPr/>
          <p:nvPr/>
        </p:nvSpPr>
        <p:spPr>
          <a:xfrm>
            <a:off x="3964305" y="3025775"/>
            <a:ext cx="407670" cy="396875"/>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1</a:t>
            </a:r>
            <a:endParaRPr lang="en-US" altLang="zh-CN">
              <a:solidFill>
                <a:srgbClr val="FFFFFF"/>
              </a:solidFill>
            </a:endParaRPr>
          </a:p>
        </p:txBody>
      </p:sp>
      <p:sp>
        <p:nvSpPr>
          <p:cNvPr id="22" name=" 184"/>
          <p:cNvSpPr/>
          <p:nvPr/>
        </p:nvSpPr>
        <p:spPr>
          <a:xfrm>
            <a:off x="4646930" y="3961765"/>
            <a:ext cx="407670" cy="396875"/>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3</a:t>
            </a:r>
            <a:endParaRPr lang="en-US" altLang="zh-CN">
              <a:solidFill>
                <a:srgbClr val="FFFFFF"/>
              </a:solidFill>
            </a:endParaRPr>
          </a:p>
        </p:txBody>
      </p:sp>
      <p:sp>
        <p:nvSpPr>
          <p:cNvPr id="23" name=" 184"/>
          <p:cNvSpPr/>
          <p:nvPr/>
        </p:nvSpPr>
        <p:spPr>
          <a:xfrm>
            <a:off x="4371975" y="5165090"/>
            <a:ext cx="407670" cy="396875"/>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6</a:t>
            </a:r>
            <a:endParaRPr lang="en-US" altLang="zh-CN">
              <a:solidFill>
                <a:srgbClr val="FFFFFF"/>
              </a:solidFill>
            </a:endParaRPr>
          </a:p>
        </p:txBody>
      </p:sp>
      <p:cxnSp>
        <p:nvCxnSpPr>
          <p:cNvPr id="24" name="直接箭头连接符 23"/>
          <p:cNvCxnSpPr>
            <a:stCxn id="21" idx="3"/>
            <a:endCxn id="12" idx="7"/>
          </p:cNvCxnSpPr>
          <p:nvPr/>
        </p:nvCxnSpPr>
        <p:spPr>
          <a:xfrm flipH="1">
            <a:off x="2493645" y="3364230"/>
            <a:ext cx="1530350" cy="655955"/>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21" idx="5"/>
            <a:endCxn id="22" idx="1"/>
          </p:cNvCxnSpPr>
          <p:nvPr/>
        </p:nvCxnSpPr>
        <p:spPr>
          <a:xfrm>
            <a:off x="4312285" y="3364230"/>
            <a:ext cx="394335" cy="655955"/>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22" idx="4"/>
            <a:endCxn id="23" idx="0"/>
          </p:cNvCxnSpPr>
          <p:nvPr/>
        </p:nvCxnSpPr>
        <p:spPr>
          <a:xfrm flipH="1">
            <a:off x="4575810" y="4358640"/>
            <a:ext cx="274955" cy="806450"/>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endCxn id="13" idx="0"/>
          </p:cNvCxnSpPr>
          <p:nvPr/>
        </p:nvCxnSpPr>
        <p:spPr>
          <a:xfrm>
            <a:off x="4933315" y="4300220"/>
            <a:ext cx="497840" cy="864870"/>
          </a:xfrm>
          <a:prstGeom prst="straightConnector1">
            <a:avLst/>
          </a:prstGeom>
          <a:ln>
            <a:solidFill>
              <a:srgbClr val="00B0F0"/>
            </a:solidFill>
            <a:tailEnd type="arrow"/>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3289300" y="3023870"/>
            <a:ext cx="364490" cy="398780"/>
          </a:xfrm>
          <a:prstGeom prst="rect">
            <a:avLst/>
          </a:prstGeom>
          <a:noFill/>
        </p:spPr>
        <p:txBody>
          <a:bodyPr wrap="square" rtlCol="0">
            <a:spAutoFit/>
          </a:bodyPr>
          <a:p>
            <a:pPr indent="0">
              <a:buFont typeface="Arial" panose="020B0604020202020204" pitchFamily="34" charset="0"/>
              <a:buNone/>
            </a:pPr>
            <a:r>
              <a:rPr lang="en-US" altLang="zh-CN" sz="2000">
                <a:sym typeface="+mn-ea"/>
              </a:rPr>
              <a:t>4</a:t>
            </a:r>
            <a:endParaRPr lang="en-US" altLang="zh-CN" sz="2000">
              <a:sym typeface="+mn-ea"/>
            </a:endParaRPr>
          </a:p>
        </p:txBody>
      </p:sp>
      <p:sp>
        <p:nvSpPr>
          <p:cNvPr id="4" name="文本框 3"/>
          <p:cNvSpPr txBox="1"/>
          <p:nvPr/>
        </p:nvSpPr>
        <p:spPr>
          <a:xfrm>
            <a:off x="2533650" y="3959860"/>
            <a:ext cx="364490" cy="398780"/>
          </a:xfrm>
          <a:prstGeom prst="rect">
            <a:avLst/>
          </a:prstGeom>
          <a:noFill/>
        </p:spPr>
        <p:txBody>
          <a:bodyPr wrap="square" rtlCol="0">
            <a:spAutoFit/>
          </a:bodyPr>
          <a:p>
            <a:pPr indent="0">
              <a:buFont typeface="Arial" panose="020B0604020202020204" pitchFamily="34" charset="0"/>
              <a:buNone/>
            </a:pPr>
            <a:r>
              <a:rPr lang="en-US" altLang="zh-CN" sz="2000">
                <a:sym typeface="+mn-ea"/>
              </a:rPr>
              <a:t>2</a:t>
            </a:r>
            <a:endParaRPr lang="en-US" altLang="zh-CN" sz="2000">
              <a:sym typeface="+mn-ea"/>
            </a:endParaRPr>
          </a:p>
        </p:txBody>
      </p:sp>
      <p:sp>
        <p:nvSpPr>
          <p:cNvPr id="10" name="文本框 9"/>
          <p:cNvSpPr txBox="1"/>
          <p:nvPr/>
        </p:nvSpPr>
        <p:spPr>
          <a:xfrm>
            <a:off x="4179570" y="3961765"/>
            <a:ext cx="364490" cy="398780"/>
          </a:xfrm>
          <a:prstGeom prst="rect">
            <a:avLst/>
          </a:prstGeom>
          <a:noFill/>
        </p:spPr>
        <p:txBody>
          <a:bodyPr wrap="square" rtlCol="0">
            <a:spAutoFit/>
          </a:bodyPr>
          <a:p>
            <a:pPr indent="0">
              <a:buFont typeface="Arial" panose="020B0604020202020204" pitchFamily="34" charset="0"/>
              <a:buNone/>
            </a:pPr>
            <a:r>
              <a:rPr lang="en-US" altLang="zh-CN" sz="2000">
                <a:sym typeface="+mn-ea"/>
              </a:rPr>
              <a:t>2</a:t>
            </a:r>
            <a:endParaRPr lang="en-US" altLang="zh-CN" sz="2000">
              <a:sym typeface="+mn-ea"/>
            </a:endParaRPr>
          </a:p>
        </p:txBody>
      </p:sp>
      <p:sp>
        <p:nvSpPr>
          <p:cNvPr id="28" name="文本框 27"/>
          <p:cNvSpPr txBox="1"/>
          <p:nvPr/>
        </p:nvSpPr>
        <p:spPr>
          <a:xfrm>
            <a:off x="1743710" y="5165090"/>
            <a:ext cx="364490" cy="398780"/>
          </a:xfrm>
          <a:prstGeom prst="rect">
            <a:avLst/>
          </a:prstGeom>
          <a:noFill/>
        </p:spPr>
        <p:txBody>
          <a:bodyPr wrap="square" rtlCol="0">
            <a:spAutoFit/>
          </a:bodyPr>
          <a:p>
            <a:pPr indent="0">
              <a:buFont typeface="Arial" panose="020B0604020202020204" pitchFamily="34" charset="0"/>
              <a:buNone/>
            </a:pPr>
            <a:r>
              <a:rPr lang="en-US" altLang="zh-CN" sz="2000">
                <a:sym typeface="+mn-ea"/>
              </a:rPr>
              <a:t>1</a:t>
            </a:r>
            <a:endParaRPr lang="en-US" altLang="zh-CN" sz="2000">
              <a:sym typeface="+mn-ea"/>
            </a:endParaRPr>
          </a:p>
        </p:txBody>
      </p:sp>
      <p:sp>
        <p:nvSpPr>
          <p:cNvPr id="29" name="文本框 28"/>
          <p:cNvSpPr txBox="1"/>
          <p:nvPr/>
        </p:nvSpPr>
        <p:spPr>
          <a:xfrm>
            <a:off x="2898140" y="5165090"/>
            <a:ext cx="364490" cy="398780"/>
          </a:xfrm>
          <a:prstGeom prst="rect">
            <a:avLst/>
          </a:prstGeom>
          <a:noFill/>
        </p:spPr>
        <p:txBody>
          <a:bodyPr wrap="square" rtlCol="0">
            <a:spAutoFit/>
          </a:bodyPr>
          <a:p>
            <a:pPr indent="0">
              <a:buFont typeface="Arial" panose="020B0604020202020204" pitchFamily="34" charset="0"/>
              <a:buNone/>
            </a:pPr>
            <a:r>
              <a:rPr lang="en-US" altLang="zh-CN" sz="2000">
                <a:sym typeface="+mn-ea"/>
              </a:rPr>
              <a:t>1</a:t>
            </a:r>
            <a:endParaRPr lang="en-US" altLang="zh-CN" sz="2000">
              <a:sym typeface="+mn-ea"/>
            </a:endParaRPr>
          </a:p>
        </p:txBody>
      </p:sp>
      <p:sp>
        <p:nvSpPr>
          <p:cNvPr id="30" name="文本框 29"/>
          <p:cNvSpPr txBox="1"/>
          <p:nvPr/>
        </p:nvSpPr>
        <p:spPr>
          <a:xfrm>
            <a:off x="3947795" y="5165090"/>
            <a:ext cx="364490" cy="398780"/>
          </a:xfrm>
          <a:prstGeom prst="rect">
            <a:avLst/>
          </a:prstGeom>
          <a:noFill/>
        </p:spPr>
        <p:txBody>
          <a:bodyPr wrap="square" rtlCol="0">
            <a:spAutoFit/>
          </a:bodyPr>
          <a:p>
            <a:pPr indent="0">
              <a:buFont typeface="Arial" panose="020B0604020202020204" pitchFamily="34" charset="0"/>
              <a:buNone/>
            </a:pPr>
            <a:r>
              <a:rPr lang="en-US" altLang="zh-CN" sz="2000">
                <a:sym typeface="+mn-ea"/>
              </a:rPr>
              <a:t>1</a:t>
            </a:r>
            <a:endParaRPr lang="en-US" altLang="zh-CN" sz="2000">
              <a:sym typeface="+mn-ea"/>
            </a:endParaRPr>
          </a:p>
        </p:txBody>
      </p:sp>
      <p:sp>
        <p:nvSpPr>
          <p:cNvPr id="31" name="文本框 30"/>
          <p:cNvSpPr txBox="1"/>
          <p:nvPr/>
        </p:nvSpPr>
        <p:spPr>
          <a:xfrm>
            <a:off x="5553075" y="5165090"/>
            <a:ext cx="364490" cy="398780"/>
          </a:xfrm>
          <a:prstGeom prst="rect">
            <a:avLst/>
          </a:prstGeom>
          <a:noFill/>
        </p:spPr>
        <p:txBody>
          <a:bodyPr wrap="square" rtlCol="0">
            <a:spAutoFit/>
          </a:bodyPr>
          <a:p>
            <a:pPr indent="0">
              <a:buFont typeface="Arial" panose="020B0604020202020204" pitchFamily="34" charset="0"/>
              <a:buNone/>
            </a:pPr>
            <a:r>
              <a:rPr lang="en-US" altLang="zh-CN" sz="2000">
                <a:sym typeface="+mn-ea"/>
              </a:rPr>
              <a:t>1</a:t>
            </a:r>
            <a:endParaRPr lang="en-US" altLang="zh-CN" sz="2000">
              <a:sym typeface="+mn-ea"/>
            </a:endParaRPr>
          </a:p>
        </p:txBody>
      </p:sp>
      <p:sp>
        <p:nvSpPr>
          <p:cNvPr id="32" name="文本框 31"/>
          <p:cNvSpPr txBox="1"/>
          <p:nvPr/>
        </p:nvSpPr>
        <p:spPr>
          <a:xfrm>
            <a:off x="4779645" y="5163185"/>
            <a:ext cx="364490" cy="398780"/>
          </a:xfrm>
          <a:prstGeom prst="rect">
            <a:avLst/>
          </a:prstGeom>
          <a:noFill/>
        </p:spPr>
        <p:txBody>
          <a:bodyPr wrap="square" rtlCol="0">
            <a:spAutoFit/>
          </a:bodyPr>
          <a:p>
            <a:pPr indent="0">
              <a:buFont typeface="Arial" panose="020B0604020202020204" pitchFamily="34" charset="0"/>
              <a:buNone/>
            </a:pPr>
            <a:r>
              <a:rPr lang="en-US" altLang="zh-CN" sz="2000">
                <a:sym typeface="+mn-ea"/>
              </a:rPr>
              <a:t>2</a:t>
            </a:r>
            <a:endParaRPr lang="en-US" altLang="zh-CN" sz="2000">
              <a:sym typeface="+mn-ea"/>
            </a:endParaRPr>
          </a:p>
        </p:txBody>
      </p:sp>
      <p:sp>
        <p:nvSpPr>
          <p:cNvPr id="33" name="文本框 32"/>
          <p:cNvSpPr txBox="1"/>
          <p:nvPr/>
        </p:nvSpPr>
        <p:spPr>
          <a:xfrm>
            <a:off x="5054600" y="3961765"/>
            <a:ext cx="364490" cy="398780"/>
          </a:xfrm>
          <a:prstGeom prst="rect">
            <a:avLst/>
          </a:prstGeom>
          <a:noFill/>
        </p:spPr>
        <p:txBody>
          <a:bodyPr wrap="square" rtlCol="0">
            <a:spAutoFit/>
          </a:bodyPr>
          <a:p>
            <a:pPr indent="0">
              <a:buFont typeface="Arial" panose="020B0604020202020204" pitchFamily="34" charset="0"/>
              <a:buNone/>
            </a:pPr>
            <a:r>
              <a:rPr lang="en-US" altLang="zh-CN" sz="2000">
                <a:sym typeface="+mn-ea"/>
              </a:rPr>
              <a:t>3</a:t>
            </a:r>
            <a:endParaRPr lang="en-US" altLang="zh-CN" sz="2000">
              <a:sym typeface="+mn-ea"/>
            </a:endParaRPr>
          </a:p>
        </p:txBody>
      </p:sp>
      <p:sp>
        <p:nvSpPr>
          <p:cNvPr id="34" name="文本框 33"/>
          <p:cNvSpPr txBox="1"/>
          <p:nvPr/>
        </p:nvSpPr>
        <p:spPr>
          <a:xfrm>
            <a:off x="4415155" y="3023870"/>
            <a:ext cx="364490" cy="398780"/>
          </a:xfrm>
          <a:prstGeom prst="rect">
            <a:avLst/>
          </a:prstGeom>
          <a:noFill/>
        </p:spPr>
        <p:txBody>
          <a:bodyPr wrap="square" rtlCol="0">
            <a:spAutoFit/>
          </a:bodyPr>
          <a:p>
            <a:pPr indent="0">
              <a:buFont typeface="Arial" panose="020B0604020202020204" pitchFamily="34" charset="0"/>
              <a:buNone/>
            </a:pPr>
            <a:r>
              <a:rPr lang="en-US" altLang="zh-CN" sz="2000">
                <a:sym typeface="+mn-ea"/>
              </a:rPr>
              <a:t>5</a:t>
            </a:r>
            <a:endParaRPr lang="en-US" altLang="zh-CN" sz="2000">
              <a:sym typeface="+mn-ea"/>
            </a:endParaRPr>
          </a:p>
        </p:txBody>
      </p:sp>
      <p:sp>
        <p:nvSpPr>
          <p:cNvPr id="35" name="文本框 34"/>
          <p:cNvSpPr txBox="1"/>
          <p:nvPr/>
        </p:nvSpPr>
        <p:spPr>
          <a:xfrm>
            <a:off x="6340475" y="2816225"/>
            <a:ext cx="4778375" cy="310769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这样，所有版本的线段树的同一个位置的节点，等同于维护了一个前缀和。</a:t>
            </a:r>
            <a:endParaRPr lang="zh-CN" altLang="zh-CN" sz="2800">
              <a:sym typeface="+mn-ea"/>
            </a:endParaRPr>
          </a:p>
          <a:p>
            <a:pPr marL="457200" indent="-457200">
              <a:buFont typeface="Arial" panose="020B0604020202020204" pitchFamily="34" charset="0"/>
              <a:buChar char="•"/>
            </a:pPr>
            <a:r>
              <a:rPr lang="zh-CN" altLang="zh-CN" sz="2800">
                <a:sym typeface="+mn-ea"/>
              </a:rPr>
              <a:t>一个线段树若减去它原来的某个版本，就等于这一段区间所有的操作构成的线段树。</a:t>
            </a:r>
            <a:endParaRPr lang="zh-CN" altLang="zh-CN" sz="2800">
              <a:sym typeface="+mn-ea"/>
            </a:endParaRPr>
          </a:p>
        </p:txBody>
      </p:sp>
      <p:sp>
        <p:nvSpPr>
          <p:cNvPr id="36" name="文本框 35"/>
          <p:cNvSpPr txBox="1"/>
          <p:nvPr/>
        </p:nvSpPr>
        <p:spPr>
          <a:xfrm>
            <a:off x="4312285" y="5561965"/>
            <a:ext cx="633095" cy="398780"/>
          </a:xfrm>
          <a:prstGeom prst="rect">
            <a:avLst/>
          </a:prstGeom>
          <a:noFill/>
        </p:spPr>
        <p:txBody>
          <a:bodyPr wrap="square" rtlCol="0">
            <a:spAutoFit/>
          </a:bodyPr>
          <a:p>
            <a:pPr indent="0">
              <a:buFont typeface="Arial" panose="020B0604020202020204" pitchFamily="34" charset="0"/>
              <a:buNone/>
            </a:pPr>
            <a:r>
              <a:rPr lang="en-US" altLang="zh-CN" sz="2000">
                <a:sym typeface="+mn-ea"/>
              </a:rPr>
              <a:t>+1</a:t>
            </a:r>
            <a:endParaRPr lang="en-US" altLang="zh-CN" sz="2000">
              <a:sym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文本框 4"/>
          <p:cNvSpPr txBox="1"/>
          <p:nvPr/>
        </p:nvSpPr>
        <p:spPr>
          <a:xfrm>
            <a:off x="984885" y="1751965"/>
            <a:ext cx="10133965" cy="4523105"/>
          </a:xfrm>
          <a:prstGeom prst="rect">
            <a:avLst/>
          </a:prstGeom>
          <a:noFill/>
        </p:spPr>
        <p:txBody>
          <a:bodyPr wrap="square" rtlCol="0">
            <a:spAutoFit/>
          </a:bodyPr>
          <a:p>
            <a:pPr marL="457200" indent="-457200">
              <a:buFont typeface="Arial" panose="020B0604020202020204" pitchFamily="34" charset="0"/>
              <a:buChar char="•"/>
            </a:pPr>
            <a:r>
              <a:rPr lang="zh-CN" altLang="en-US" sz="2800">
                <a:sym typeface="+mn-ea"/>
              </a:rPr>
              <a:t>代码</a:t>
            </a:r>
            <a:endParaRPr lang="zh-CN" altLang="en-US" sz="2800">
              <a:sym typeface="+mn-ea"/>
            </a:endParaRPr>
          </a:p>
          <a:p>
            <a:pPr lvl="1" indent="0">
              <a:buFont typeface="Arial" panose="020B0604020202020204" pitchFamily="34" charset="0"/>
              <a:buNone/>
            </a:pPr>
            <a:r>
              <a:rPr lang="zh-CN" altLang="en-US" sz="2000">
                <a:sym typeface="+mn-ea"/>
              </a:rPr>
              <a:t>void Insert(int l</a:t>
            </a:r>
            <a:r>
              <a:rPr lang="en-US" altLang="zh-CN" sz="2000">
                <a:sym typeface="+mn-ea"/>
              </a:rPr>
              <a:t>ast_</a:t>
            </a:r>
            <a:r>
              <a:rPr lang="zh-CN" altLang="en-US" sz="2000">
                <a:sym typeface="+mn-ea"/>
              </a:rPr>
              <a:t>r</a:t>
            </a:r>
            <a:r>
              <a:rPr lang="en-US" altLang="zh-CN" sz="2000">
                <a:sym typeface="+mn-ea"/>
              </a:rPr>
              <a:t>oo</a:t>
            </a:r>
            <a:r>
              <a:rPr lang="zh-CN" altLang="en-US" sz="2000">
                <a:sym typeface="+mn-ea"/>
              </a:rPr>
              <a:t>t, int &amp;r</a:t>
            </a:r>
            <a:r>
              <a:rPr lang="en-US" altLang="zh-CN" sz="2000">
                <a:sym typeface="+mn-ea"/>
              </a:rPr>
              <a:t>oo</a:t>
            </a:r>
            <a:r>
              <a:rPr lang="zh-CN" altLang="en-US" sz="2000">
                <a:sym typeface="+mn-ea"/>
              </a:rPr>
              <a:t>t, int l, int r, int pos) {</a:t>
            </a:r>
            <a:endParaRPr lang="zh-CN" altLang="en-US" sz="2000">
              <a:sym typeface="+mn-ea"/>
            </a:endParaRPr>
          </a:p>
          <a:p>
            <a:pPr lvl="1" indent="0">
              <a:buFont typeface="Arial" panose="020B0604020202020204" pitchFamily="34" charset="0"/>
              <a:buNone/>
            </a:pPr>
            <a:r>
              <a:rPr lang="zh-CN" altLang="en-US" sz="2000">
                <a:sym typeface="+mn-ea"/>
              </a:rPr>
              <a:t>    r</a:t>
            </a:r>
            <a:r>
              <a:rPr lang="en-US" altLang="zh-CN" sz="2000">
                <a:sym typeface="+mn-ea"/>
              </a:rPr>
              <a:t>oot</a:t>
            </a:r>
            <a:r>
              <a:rPr lang="zh-CN" altLang="en-US" sz="2000">
                <a:sym typeface="+mn-ea"/>
              </a:rPr>
              <a:t> = ++ num; </a:t>
            </a:r>
            <a:r>
              <a:rPr lang="en-US" altLang="zh-CN" sz="2000">
                <a:sym typeface="+mn-ea"/>
              </a:rPr>
              <a:t>//</a:t>
            </a:r>
            <a:r>
              <a:rPr lang="zh-CN" altLang="zh-CN" sz="2000">
                <a:sym typeface="+mn-ea"/>
              </a:rPr>
              <a:t>新建当前的点</a:t>
            </a:r>
            <a:endParaRPr lang="zh-CN" altLang="zh-CN" sz="2000">
              <a:sym typeface="+mn-ea"/>
            </a:endParaRPr>
          </a:p>
          <a:p>
            <a:pPr lvl="1" indent="0">
              <a:buFont typeface="Arial" panose="020B0604020202020204" pitchFamily="34" charset="0"/>
              <a:buNone/>
            </a:pPr>
            <a:r>
              <a:rPr lang="zh-CN" altLang="en-US" sz="2000">
                <a:sym typeface="+mn-ea"/>
              </a:rPr>
              <a:t>    </a:t>
            </a:r>
            <a:r>
              <a:rPr lang="en-US" altLang="zh-CN" sz="2000">
                <a:sym typeface="+mn-ea"/>
              </a:rPr>
              <a:t>seg</a:t>
            </a:r>
            <a:r>
              <a:rPr lang="zh-CN" altLang="en-US" sz="2000">
                <a:sym typeface="+mn-ea"/>
              </a:rPr>
              <a:t>[r</a:t>
            </a:r>
            <a:r>
              <a:rPr lang="en-US" altLang="zh-CN" sz="2000">
                <a:sym typeface="+mn-ea"/>
              </a:rPr>
              <a:t>oo</a:t>
            </a:r>
            <a:r>
              <a:rPr lang="zh-CN" altLang="en-US" sz="2000">
                <a:sym typeface="+mn-ea"/>
              </a:rPr>
              <a:t>t] = </a:t>
            </a:r>
            <a:r>
              <a:rPr lang="en-US" altLang="zh-CN" sz="2000">
                <a:sym typeface="+mn-ea"/>
              </a:rPr>
              <a:t>seg</a:t>
            </a:r>
            <a:r>
              <a:rPr lang="zh-CN" altLang="en-US" sz="2000">
                <a:sym typeface="+mn-ea"/>
              </a:rPr>
              <a:t>[l</a:t>
            </a:r>
            <a:r>
              <a:rPr lang="en-US" altLang="zh-CN" sz="2000">
                <a:sym typeface="+mn-ea"/>
              </a:rPr>
              <a:t>ast_</a:t>
            </a:r>
            <a:r>
              <a:rPr lang="zh-CN" altLang="en-US" sz="2000">
                <a:sym typeface="+mn-ea"/>
              </a:rPr>
              <a:t>r</a:t>
            </a:r>
            <a:r>
              <a:rPr lang="en-US" altLang="zh-CN" sz="2000">
                <a:sym typeface="+mn-ea"/>
              </a:rPr>
              <a:t>oo</a:t>
            </a:r>
            <a:r>
              <a:rPr lang="zh-CN" altLang="en-US" sz="2000">
                <a:sym typeface="+mn-ea"/>
              </a:rPr>
              <a:t>t]; </a:t>
            </a:r>
            <a:r>
              <a:rPr lang="en-US" altLang="zh-CN" sz="2000">
                <a:sym typeface="+mn-ea"/>
              </a:rPr>
              <a:t>//</a:t>
            </a:r>
            <a:r>
              <a:rPr lang="zh-CN" altLang="zh-CN" sz="2000">
                <a:sym typeface="+mn-ea"/>
              </a:rPr>
              <a:t>复制为上一个版本的当前点</a:t>
            </a:r>
            <a:endParaRPr lang="zh-CN" altLang="zh-CN" sz="2000">
              <a:sym typeface="+mn-ea"/>
            </a:endParaRPr>
          </a:p>
          <a:p>
            <a:pPr lvl="1" indent="0">
              <a:buFont typeface="Arial" panose="020B0604020202020204" pitchFamily="34" charset="0"/>
              <a:buNone/>
            </a:pPr>
            <a:r>
              <a:rPr lang="zh-CN" altLang="en-US" sz="2000">
                <a:sym typeface="+mn-ea"/>
              </a:rPr>
              <a:t>    if(l==r) {</a:t>
            </a:r>
            <a:endParaRPr lang="zh-CN" altLang="en-US" sz="2000">
              <a:sym typeface="+mn-ea"/>
            </a:endParaRPr>
          </a:p>
          <a:p>
            <a:pPr lvl="1" indent="0">
              <a:buFont typeface="Arial" panose="020B0604020202020204" pitchFamily="34" charset="0"/>
              <a:buNone/>
            </a:pPr>
            <a:r>
              <a:rPr lang="zh-CN" altLang="en-US" sz="2000">
                <a:sym typeface="+mn-ea"/>
              </a:rPr>
              <a:t>        ++ </a:t>
            </a:r>
            <a:r>
              <a:rPr lang="en-US" altLang="zh-CN" sz="2000">
                <a:sym typeface="+mn-ea"/>
              </a:rPr>
              <a:t>seg</a:t>
            </a:r>
            <a:r>
              <a:rPr lang="zh-CN" altLang="en-US" sz="2000">
                <a:sym typeface="+mn-ea"/>
              </a:rPr>
              <a:t>[r</a:t>
            </a:r>
            <a:r>
              <a:rPr lang="en-US" altLang="zh-CN" sz="2000">
                <a:sym typeface="+mn-ea"/>
              </a:rPr>
              <a:t>oo</a:t>
            </a:r>
            <a:r>
              <a:rPr lang="zh-CN" altLang="en-US" sz="2000">
                <a:sym typeface="+mn-ea"/>
              </a:rPr>
              <a:t>t].val;</a:t>
            </a:r>
            <a:endParaRPr lang="zh-CN" altLang="en-US" sz="2000">
              <a:sym typeface="+mn-ea"/>
            </a:endParaRPr>
          </a:p>
          <a:p>
            <a:pPr lvl="1" indent="0">
              <a:buFont typeface="Arial" panose="020B0604020202020204" pitchFamily="34" charset="0"/>
              <a:buNone/>
            </a:pPr>
            <a:r>
              <a:rPr lang="zh-CN" altLang="en-US" sz="2000">
                <a:sym typeface="+mn-ea"/>
              </a:rPr>
              <a:t>        return;</a:t>
            </a:r>
            <a:endParaRPr lang="zh-CN" altLang="en-US" sz="2000">
              <a:sym typeface="+mn-ea"/>
            </a:endParaRPr>
          </a:p>
          <a:p>
            <a:pPr lvl="1" indent="0">
              <a:buFont typeface="Arial" panose="020B0604020202020204" pitchFamily="34" charset="0"/>
              <a:buNone/>
            </a:pPr>
            <a:r>
              <a:rPr lang="zh-CN" altLang="en-US" sz="2000">
                <a:sym typeface="+mn-ea"/>
              </a:rPr>
              <a:t>    }</a:t>
            </a:r>
            <a:endParaRPr lang="zh-CN" altLang="en-US" sz="2000">
              <a:sym typeface="+mn-ea"/>
            </a:endParaRPr>
          </a:p>
          <a:p>
            <a:pPr lvl="1" indent="0">
              <a:buFont typeface="Arial" panose="020B0604020202020204" pitchFamily="34" charset="0"/>
              <a:buNone/>
            </a:pPr>
            <a:r>
              <a:rPr lang="zh-CN" altLang="en-US" sz="2000">
                <a:sym typeface="+mn-ea"/>
              </a:rPr>
              <a:t>    int mid = (l+r)&gt;&gt;1; </a:t>
            </a:r>
            <a:r>
              <a:rPr lang="en-US" altLang="zh-CN" sz="2000">
                <a:sym typeface="+mn-ea"/>
              </a:rPr>
              <a:t>//</a:t>
            </a:r>
            <a:r>
              <a:rPr lang="zh-CN" altLang="zh-CN" sz="2000">
                <a:sym typeface="+mn-ea"/>
              </a:rPr>
              <a:t>如果位置在左侧，就再新建左侧的点，右侧的点不变</a:t>
            </a:r>
            <a:endParaRPr lang="zh-CN" altLang="zh-CN" sz="2000">
              <a:sym typeface="+mn-ea"/>
            </a:endParaRPr>
          </a:p>
          <a:p>
            <a:pPr lvl="1" indent="0">
              <a:buFont typeface="Arial" panose="020B0604020202020204" pitchFamily="34" charset="0"/>
              <a:buNone/>
            </a:pPr>
            <a:r>
              <a:rPr lang="zh-CN" altLang="en-US" sz="2000">
                <a:sym typeface="+mn-ea"/>
              </a:rPr>
              <a:t>    if(pos&lt;=mid) Insert</a:t>
            </a:r>
            <a:r>
              <a:rPr lang="en-US" altLang="zh-CN" sz="2000">
                <a:sym typeface="+mn-ea"/>
              </a:rPr>
              <a:t>(seg</a:t>
            </a:r>
            <a:r>
              <a:rPr lang="zh-CN" altLang="en-US" sz="2000">
                <a:sym typeface="+mn-ea"/>
              </a:rPr>
              <a:t>[l</a:t>
            </a:r>
            <a:r>
              <a:rPr lang="en-US" altLang="zh-CN" sz="2000">
                <a:sym typeface="+mn-ea"/>
              </a:rPr>
              <a:t>ast_</a:t>
            </a:r>
            <a:r>
              <a:rPr lang="zh-CN" altLang="en-US" sz="2000">
                <a:sym typeface="+mn-ea"/>
              </a:rPr>
              <a:t>r</a:t>
            </a:r>
            <a:r>
              <a:rPr lang="en-US" altLang="zh-CN" sz="2000">
                <a:sym typeface="+mn-ea"/>
              </a:rPr>
              <a:t>oo</a:t>
            </a:r>
            <a:r>
              <a:rPr lang="zh-CN" altLang="en-US" sz="2000">
                <a:sym typeface="+mn-ea"/>
              </a:rPr>
              <a:t>t].ls</a:t>
            </a:r>
            <a:r>
              <a:rPr lang="en-US" altLang="zh-CN" sz="2000">
                <a:sym typeface="+mn-ea"/>
              </a:rPr>
              <a:t>on</a:t>
            </a:r>
            <a:r>
              <a:rPr lang="zh-CN" altLang="en-US" sz="2000">
                <a:sym typeface="+mn-ea"/>
              </a:rPr>
              <a:t>, </a:t>
            </a:r>
            <a:r>
              <a:rPr lang="en-US" altLang="zh-CN" sz="2000">
                <a:sym typeface="+mn-ea"/>
              </a:rPr>
              <a:t>seg</a:t>
            </a:r>
            <a:r>
              <a:rPr lang="zh-CN" altLang="en-US" sz="2000">
                <a:sym typeface="+mn-ea"/>
              </a:rPr>
              <a:t>[r</a:t>
            </a:r>
            <a:r>
              <a:rPr lang="en-US" altLang="zh-CN" sz="2000">
                <a:sym typeface="+mn-ea"/>
              </a:rPr>
              <a:t>oo</a:t>
            </a:r>
            <a:r>
              <a:rPr lang="zh-CN" altLang="en-US" sz="2000">
                <a:sym typeface="+mn-ea"/>
              </a:rPr>
              <a:t>t].ls</a:t>
            </a:r>
            <a:r>
              <a:rPr lang="en-US" altLang="zh-CN" sz="2000">
                <a:sym typeface="+mn-ea"/>
              </a:rPr>
              <a:t>on</a:t>
            </a:r>
            <a:r>
              <a:rPr lang="zh-CN" altLang="en-US" sz="2000">
                <a:sym typeface="+mn-ea"/>
              </a:rPr>
              <a:t>, l, mid, pos); </a:t>
            </a:r>
            <a:endParaRPr lang="en-US" altLang="zh-CN" sz="2000">
              <a:sym typeface="+mn-ea"/>
            </a:endParaRPr>
          </a:p>
          <a:p>
            <a:pPr lvl="1" indent="0">
              <a:buFont typeface="Arial" panose="020B0604020202020204" pitchFamily="34" charset="0"/>
              <a:buNone/>
            </a:pPr>
            <a:r>
              <a:rPr lang="zh-CN" altLang="en-US" sz="2000">
                <a:sym typeface="+mn-ea"/>
              </a:rPr>
              <a:t>    else Insert(</a:t>
            </a:r>
            <a:r>
              <a:rPr lang="en-US" altLang="zh-CN" sz="2000">
                <a:sym typeface="+mn-ea"/>
              </a:rPr>
              <a:t>seg</a:t>
            </a:r>
            <a:r>
              <a:rPr lang="zh-CN" altLang="en-US" sz="2000">
                <a:sym typeface="+mn-ea"/>
              </a:rPr>
              <a:t>[l</a:t>
            </a:r>
            <a:r>
              <a:rPr lang="en-US" altLang="zh-CN" sz="2000">
                <a:sym typeface="+mn-ea"/>
              </a:rPr>
              <a:t>ast_</a:t>
            </a:r>
            <a:r>
              <a:rPr lang="zh-CN" altLang="en-US" sz="2000">
                <a:sym typeface="+mn-ea"/>
              </a:rPr>
              <a:t>r</a:t>
            </a:r>
            <a:r>
              <a:rPr lang="en-US" altLang="zh-CN" sz="2000">
                <a:sym typeface="+mn-ea"/>
              </a:rPr>
              <a:t>oo</a:t>
            </a:r>
            <a:r>
              <a:rPr lang="zh-CN" altLang="en-US" sz="2000">
                <a:sym typeface="+mn-ea"/>
              </a:rPr>
              <a:t>t].rs</a:t>
            </a:r>
            <a:r>
              <a:rPr lang="en-US" altLang="zh-CN" sz="2000">
                <a:sym typeface="+mn-ea"/>
              </a:rPr>
              <a:t>on</a:t>
            </a:r>
            <a:r>
              <a:rPr lang="zh-CN" altLang="en-US" sz="2000">
                <a:sym typeface="+mn-ea"/>
              </a:rPr>
              <a:t>, </a:t>
            </a:r>
            <a:r>
              <a:rPr lang="en-US" altLang="zh-CN" sz="2000">
                <a:sym typeface="+mn-ea"/>
              </a:rPr>
              <a:t>seg</a:t>
            </a:r>
            <a:r>
              <a:rPr lang="zh-CN" altLang="en-US" sz="2000">
                <a:sym typeface="+mn-ea"/>
              </a:rPr>
              <a:t>[r</a:t>
            </a:r>
            <a:r>
              <a:rPr lang="en-US" altLang="zh-CN" sz="2000">
                <a:sym typeface="+mn-ea"/>
              </a:rPr>
              <a:t>oo</a:t>
            </a:r>
            <a:r>
              <a:rPr lang="zh-CN" altLang="en-US" sz="2000">
                <a:sym typeface="+mn-ea"/>
              </a:rPr>
              <a:t>t].rs</a:t>
            </a:r>
            <a:r>
              <a:rPr lang="en-US" altLang="zh-CN" sz="2000">
                <a:sym typeface="+mn-ea"/>
              </a:rPr>
              <a:t>on</a:t>
            </a:r>
            <a:r>
              <a:rPr lang="zh-CN" altLang="en-US" sz="2000">
                <a:sym typeface="+mn-ea"/>
              </a:rPr>
              <a:t>, mid+1, r, pos);</a:t>
            </a:r>
            <a:endParaRPr lang="zh-CN" altLang="en-US" sz="2000">
              <a:sym typeface="+mn-ea"/>
            </a:endParaRPr>
          </a:p>
          <a:p>
            <a:pPr lvl="1" indent="0">
              <a:buFont typeface="Arial" panose="020B0604020202020204" pitchFamily="34" charset="0"/>
              <a:buNone/>
            </a:pPr>
            <a:r>
              <a:rPr lang="zh-CN" altLang="en-US" sz="2000">
                <a:sym typeface="+mn-ea"/>
              </a:rPr>
              <a:t>    </a:t>
            </a:r>
            <a:r>
              <a:rPr lang="en-US" altLang="zh-CN" sz="2000">
                <a:sym typeface="+mn-ea"/>
              </a:rPr>
              <a:t>seg</a:t>
            </a:r>
            <a:r>
              <a:rPr lang="zh-CN" altLang="en-US" sz="2000">
                <a:sym typeface="+mn-ea"/>
              </a:rPr>
              <a:t>[r</a:t>
            </a:r>
            <a:r>
              <a:rPr lang="en-US" altLang="zh-CN" sz="2000">
                <a:sym typeface="+mn-ea"/>
              </a:rPr>
              <a:t>oo</a:t>
            </a:r>
            <a:r>
              <a:rPr lang="zh-CN" altLang="en-US" sz="2000">
                <a:sym typeface="+mn-ea"/>
              </a:rPr>
              <a:t>t].val = </a:t>
            </a:r>
            <a:r>
              <a:rPr lang="en-US" altLang="zh-CN" sz="2000">
                <a:sym typeface="+mn-ea"/>
              </a:rPr>
              <a:t>seg</a:t>
            </a:r>
            <a:r>
              <a:rPr lang="zh-CN" altLang="en-US" sz="2000">
                <a:sym typeface="+mn-ea"/>
              </a:rPr>
              <a:t>[</a:t>
            </a:r>
            <a:r>
              <a:rPr lang="en-US" altLang="zh-CN" sz="2000">
                <a:sym typeface="+mn-ea"/>
              </a:rPr>
              <a:t>seg</a:t>
            </a:r>
            <a:r>
              <a:rPr lang="zh-CN" altLang="en-US" sz="2000">
                <a:sym typeface="+mn-ea"/>
              </a:rPr>
              <a:t>[r</a:t>
            </a:r>
            <a:r>
              <a:rPr lang="en-US" altLang="zh-CN" sz="2000">
                <a:sym typeface="+mn-ea"/>
              </a:rPr>
              <a:t>oo</a:t>
            </a:r>
            <a:r>
              <a:rPr lang="zh-CN" altLang="en-US" sz="2000">
                <a:sym typeface="+mn-ea"/>
              </a:rPr>
              <a:t>t].ls</a:t>
            </a:r>
            <a:r>
              <a:rPr lang="en-US" altLang="zh-CN" sz="2000">
                <a:sym typeface="+mn-ea"/>
              </a:rPr>
              <a:t>on</a:t>
            </a:r>
            <a:r>
              <a:rPr lang="zh-CN" altLang="en-US" sz="2000">
                <a:sym typeface="+mn-ea"/>
              </a:rPr>
              <a:t>].val+</a:t>
            </a:r>
            <a:r>
              <a:rPr lang="en-US" altLang="zh-CN" sz="2000">
                <a:sym typeface="+mn-ea"/>
              </a:rPr>
              <a:t>seg</a:t>
            </a:r>
            <a:r>
              <a:rPr lang="zh-CN" altLang="en-US" sz="2000">
                <a:sym typeface="+mn-ea"/>
              </a:rPr>
              <a:t>[</a:t>
            </a:r>
            <a:r>
              <a:rPr lang="en-US" altLang="zh-CN" sz="2000">
                <a:sym typeface="+mn-ea"/>
              </a:rPr>
              <a:t>seg</a:t>
            </a:r>
            <a:r>
              <a:rPr lang="zh-CN" altLang="en-US" sz="2000">
                <a:sym typeface="+mn-ea"/>
              </a:rPr>
              <a:t>[r</a:t>
            </a:r>
            <a:r>
              <a:rPr lang="en-US" altLang="zh-CN" sz="2000">
                <a:sym typeface="+mn-ea"/>
              </a:rPr>
              <a:t>oo</a:t>
            </a:r>
            <a:r>
              <a:rPr lang="zh-CN" altLang="en-US" sz="2000">
                <a:sym typeface="+mn-ea"/>
              </a:rPr>
              <a:t>t].rs</a:t>
            </a:r>
            <a:r>
              <a:rPr lang="en-US" altLang="zh-CN" sz="2000">
                <a:sym typeface="+mn-ea"/>
              </a:rPr>
              <a:t>on</a:t>
            </a:r>
            <a:r>
              <a:rPr lang="zh-CN" altLang="en-US" sz="2000">
                <a:sym typeface="+mn-ea"/>
              </a:rPr>
              <a:t>].val; </a:t>
            </a:r>
            <a:r>
              <a:rPr lang="en-US" altLang="zh-CN" sz="2000">
                <a:sym typeface="+mn-ea"/>
              </a:rPr>
              <a:t>//</a:t>
            </a:r>
            <a:r>
              <a:rPr lang="zh-CN" altLang="zh-CN" sz="2000">
                <a:sym typeface="+mn-ea"/>
              </a:rPr>
              <a:t>更新区间和。</a:t>
            </a:r>
            <a:endParaRPr lang="zh-CN" altLang="zh-CN" sz="2000">
              <a:sym typeface="+mn-ea"/>
            </a:endParaRPr>
          </a:p>
          <a:p>
            <a:pPr lvl="1" indent="0">
              <a:buFont typeface="Arial" panose="020B0604020202020204" pitchFamily="34" charset="0"/>
              <a:buNone/>
            </a:pPr>
            <a:r>
              <a:rPr lang="zh-CN" altLang="en-US" sz="2000">
                <a:sym typeface="+mn-ea"/>
              </a:rPr>
              <a:t>    return;</a:t>
            </a:r>
            <a:endParaRPr lang="zh-CN" altLang="en-US" sz="2000">
              <a:sym typeface="+mn-ea"/>
            </a:endParaRPr>
          </a:p>
          <a:p>
            <a:pPr lvl="1" indent="0">
              <a:buFont typeface="Arial" panose="020B0604020202020204" pitchFamily="34" charset="0"/>
              <a:buNone/>
            </a:pPr>
            <a:r>
              <a:rPr lang="zh-CN" altLang="en-US" sz="2000">
                <a:sym typeface="+mn-ea"/>
              </a:rPr>
              <a:t>}</a:t>
            </a:r>
            <a:endParaRPr lang="zh-CN" altLang="en-US" sz="2000">
              <a:sym typeface="+mn-ea"/>
            </a:endParaRPr>
          </a:p>
        </p:txBody>
      </p:sp>
    </p:spTree>
    <p:custDataLst>
      <p:tags r:id="rId4"/>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文本框 4"/>
          <p:cNvSpPr txBox="1"/>
          <p:nvPr/>
        </p:nvSpPr>
        <p:spPr>
          <a:xfrm>
            <a:off x="984885" y="1751965"/>
            <a:ext cx="10133965" cy="3969385"/>
          </a:xfrm>
          <a:prstGeom prst="rect">
            <a:avLst/>
          </a:prstGeom>
          <a:noFill/>
        </p:spPr>
        <p:txBody>
          <a:bodyPr wrap="square" rtlCol="0">
            <a:spAutoFit/>
          </a:bodyPr>
          <a:p>
            <a:pPr marL="457200" indent="-457200">
              <a:buFont typeface="Arial" panose="020B0604020202020204" pitchFamily="34" charset="0"/>
              <a:buChar char="•"/>
            </a:pPr>
            <a:r>
              <a:rPr lang="zh-CN" altLang="en-US" sz="2800">
                <a:sym typeface="+mn-ea"/>
              </a:rPr>
              <a:t>代码</a:t>
            </a:r>
            <a:endParaRPr lang="zh-CN" altLang="en-US" sz="2800">
              <a:sym typeface="+mn-ea"/>
            </a:endParaRPr>
          </a:p>
          <a:p>
            <a:pPr lvl="1" indent="0">
              <a:buFont typeface="Arial" panose="020B0604020202020204" pitchFamily="34" charset="0"/>
              <a:buNone/>
            </a:pPr>
            <a:r>
              <a:rPr lang="zh-CN" altLang="en-US" sz="2000">
                <a:sym typeface="+mn-ea"/>
              </a:rPr>
              <a:t>int Query(int last_root, int root, int ls, int rs, int l, int r) {</a:t>
            </a:r>
            <a:endParaRPr lang="zh-CN" altLang="en-US" sz="2000">
              <a:sym typeface="+mn-ea"/>
            </a:endParaRPr>
          </a:p>
          <a:p>
            <a:pPr lvl="1" indent="0">
              <a:buFont typeface="Arial" panose="020B0604020202020204" pitchFamily="34" charset="0"/>
              <a:buNone/>
            </a:pPr>
            <a:r>
              <a:rPr lang="zh-CN" altLang="en-US" sz="2000">
                <a:sym typeface="+mn-ea"/>
              </a:rPr>
              <a:t>	if(ls&lt;=l&amp;&amp;rs&gt;=r) return seg[root].val-seg[last_root].val;</a:t>
            </a:r>
            <a:endParaRPr lang="zh-CN" altLang="en-US" sz="2000">
              <a:sym typeface="+mn-ea"/>
            </a:endParaRPr>
          </a:p>
          <a:p>
            <a:pPr lvl="1" indent="0">
              <a:buFont typeface="Arial" panose="020B0604020202020204" pitchFamily="34" charset="0"/>
              <a:buNone/>
            </a:pPr>
            <a:r>
              <a:rPr lang="zh-CN" altLang="en-US" sz="2000">
                <a:sym typeface="+mn-ea"/>
              </a:rPr>
              <a:t>	int mid = (l+r)&gt;&gt;1, ret = 0;</a:t>
            </a:r>
            <a:endParaRPr lang="zh-CN" altLang="en-US" sz="2000">
              <a:sym typeface="+mn-ea"/>
            </a:endParaRPr>
          </a:p>
          <a:p>
            <a:pPr lvl="1" indent="0">
              <a:buFont typeface="Arial" panose="020B0604020202020204" pitchFamily="34" charset="0"/>
              <a:buNone/>
            </a:pPr>
            <a:r>
              <a:rPr lang="zh-CN" altLang="en-US" sz="2000">
                <a:sym typeface="+mn-ea"/>
              </a:rPr>
              <a:t>	if(ls&lt;=mid) ret += Query(seg[last_root].lson, seg[root].lson, ls, rs, l, mid);</a:t>
            </a:r>
            <a:endParaRPr lang="zh-CN" altLang="en-US" sz="2000">
              <a:sym typeface="+mn-ea"/>
            </a:endParaRPr>
          </a:p>
          <a:p>
            <a:pPr lvl="1" indent="0">
              <a:buFont typeface="Arial" panose="020B0604020202020204" pitchFamily="34" charset="0"/>
              <a:buNone/>
            </a:pPr>
            <a:r>
              <a:rPr lang="zh-CN" altLang="en-US" sz="2000">
                <a:sym typeface="+mn-ea"/>
              </a:rPr>
              <a:t>	if(rs&gt;mid) ret += Query(seg[last_root].rson, seg[root].rson, ls, rs, mid+1, r);</a:t>
            </a:r>
            <a:endParaRPr lang="zh-CN" altLang="en-US" sz="2000">
              <a:sym typeface="+mn-ea"/>
            </a:endParaRPr>
          </a:p>
          <a:p>
            <a:pPr lvl="1" indent="0">
              <a:buFont typeface="Arial" panose="020B0604020202020204" pitchFamily="34" charset="0"/>
              <a:buNone/>
            </a:pPr>
            <a:r>
              <a:rPr lang="zh-CN" altLang="en-US" sz="2000">
                <a:sym typeface="+mn-ea"/>
              </a:rPr>
              <a:t>	return ret; </a:t>
            </a:r>
            <a:endParaRPr lang="zh-CN" altLang="en-US" sz="2000">
              <a:sym typeface="+mn-ea"/>
            </a:endParaRPr>
          </a:p>
          <a:p>
            <a:pPr lvl="1" indent="0">
              <a:buFont typeface="Arial" panose="020B0604020202020204" pitchFamily="34" charset="0"/>
              <a:buNone/>
            </a:pPr>
            <a:r>
              <a:rPr lang="zh-CN" altLang="en-US" sz="2000">
                <a:sym typeface="+mn-ea"/>
              </a:rPr>
              <a:t>}</a:t>
            </a:r>
            <a:endParaRPr lang="zh-CN" altLang="en-US" sz="2000">
              <a:sym typeface="+mn-ea"/>
            </a:endParaRPr>
          </a:p>
          <a:p>
            <a:pPr lvl="1" indent="0">
              <a:buFont typeface="Arial" panose="020B0604020202020204" pitchFamily="34" charset="0"/>
              <a:buNone/>
            </a:pPr>
            <a:r>
              <a:rPr lang="zh-CN" altLang="en-US" sz="2800">
                <a:sym typeface="+mn-ea"/>
              </a:rPr>
              <a:t>查询与普通的线段树没有什么不同，只是要查一系列连续的操作组成的线段树，每个点的值，是两个前缀和的差。</a:t>
            </a:r>
            <a:endParaRPr lang="zh-CN" altLang="en-US" sz="2800">
              <a:sym typeface="+mn-ea"/>
            </a:endParaRPr>
          </a:p>
          <a:p>
            <a:pPr lvl="1" indent="0">
              <a:buFont typeface="Arial" panose="020B0604020202020204" pitchFamily="34" charset="0"/>
              <a:buNone/>
            </a:pPr>
            <a:endParaRPr lang="zh-CN" altLang="en-US" sz="2800">
              <a:sym typeface="+mn-ea"/>
            </a:endParaRPr>
          </a:p>
        </p:txBody>
      </p:sp>
    </p:spTree>
    <p:custDataLst>
      <p:tags r:id="rId4"/>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 name="文本框 2"/>
          <p:cNvSpPr txBox="1"/>
          <p:nvPr/>
        </p:nvSpPr>
        <p:spPr>
          <a:xfrm>
            <a:off x="1012825" y="1746250"/>
            <a:ext cx="10009505" cy="521970"/>
          </a:xfrm>
          <a:prstGeom prst="rect">
            <a:avLst/>
          </a:prstGeom>
          <a:noFill/>
        </p:spPr>
        <p:txBody>
          <a:bodyPr wrap="square" rtlCol="0">
            <a:spAutoFit/>
          </a:bodyPr>
          <a:p>
            <a:pPr marL="457200" indent="-457200">
              <a:buFont typeface="Arial" panose="020B0604020202020204" pitchFamily="34" charset="0"/>
              <a:buChar char="•"/>
            </a:pPr>
            <a:endParaRPr lang="zh-CN" altLang="zh-CN" sz="2800">
              <a:sym typeface="+mn-ea"/>
            </a:endParaRPr>
          </a:p>
        </p:txBody>
      </p:sp>
      <p:sp>
        <p:nvSpPr>
          <p:cNvPr id="4" name="文本框 3"/>
          <p:cNvSpPr txBox="1"/>
          <p:nvPr/>
        </p:nvSpPr>
        <p:spPr>
          <a:xfrm>
            <a:off x="1012825" y="1746250"/>
            <a:ext cx="10009505" cy="224536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可持久化数据结构多了历史版本，实际上可以看作它能够处理的数据多了一维。</a:t>
            </a:r>
            <a:endParaRPr lang="zh-CN" altLang="zh-CN" sz="2800">
              <a:sym typeface="+mn-ea"/>
            </a:endParaRPr>
          </a:p>
          <a:p>
            <a:pPr marL="457200" indent="-457200">
              <a:buFont typeface="Arial" panose="020B0604020202020204" pitchFamily="34" charset="0"/>
              <a:buChar char="•"/>
            </a:pPr>
            <a:r>
              <a:rPr lang="zh-CN" altLang="zh-CN" sz="2800">
                <a:sym typeface="+mn-ea"/>
              </a:rPr>
              <a:t>以查询一段数值的出现次数为例，普通线段树查询当前这整个序列出现数值的此时，而主席树可以查询任意一段序列数值出现的次数。</a:t>
            </a:r>
            <a:endParaRPr lang="zh-CN" altLang="zh-CN" sz="2800">
              <a:sym typeface="+mn-ea"/>
            </a:endParaRPr>
          </a:p>
        </p:txBody>
      </p:sp>
      <p:sp>
        <p:nvSpPr>
          <p:cNvPr id="165" name=" 165"/>
          <p:cNvSpPr/>
          <p:nvPr/>
        </p:nvSpPr>
        <p:spPr>
          <a:xfrm>
            <a:off x="1688465" y="5375275"/>
            <a:ext cx="2660650" cy="755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6" name=" 6"/>
          <p:cNvSpPr/>
          <p:nvPr/>
        </p:nvSpPr>
        <p:spPr>
          <a:xfrm>
            <a:off x="5996305" y="3910330"/>
            <a:ext cx="3608705" cy="15570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9" name="文本框 8"/>
          <p:cNvSpPr txBox="1"/>
          <p:nvPr/>
        </p:nvSpPr>
        <p:spPr>
          <a:xfrm>
            <a:off x="1922780" y="5467350"/>
            <a:ext cx="2191385" cy="521970"/>
          </a:xfrm>
          <a:prstGeom prst="rect">
            <a:avLst/>
          </a:prstGeom>
          <a:noFill/>
        </p:spPr>
        <p:txBody>
          <a:bodyPr wrap="square" rtlCol="0">
            <a:spAutoFit/>
          </a:bodyPr>
          <a:p>
            <a:pPr indent="0">
              <a:buFont typeface="Arial" panose="020B0604020202020204" pitchFamily="34" charset="0"/>
              <a:buNone/>
            </a:pPr>
            <a:r>
              <a:rPr lang="en-US" altLang="zh-CN" sz="2800">
                <a:sym typeface="+mn-ea"/>
              </a:rPr>
              <a:t>   </a:t>
            </a:r>
            <a:r>
              <a:rPr lang="zh-CN" altLang="zh-CN" sz="2800">
                <a:sym typeface="+mn-ea"/>
              </a:rPr>
              <a:t>每个数值</a:t>
            </a:r>
            <a:endParaRPr lang="zh-CN" altLang="zh-CN" sz="2800">
              <a:sym typeface="+mn-ea"/>
            </a:endParaRPr>
          </a:p>
        </p:txBody>
      </p:sp>
      <p:sp>
        <p:nvSpPr>
          <p:cNvPr id="10" name="文本框 9"/>
          <p:cNvSpPr txBox="1"/>
          <p:nvPr/>
        </p:nvSpPr>
        <p:spPr>
          <a:xfrm>
            <a:off x="6704965" y="5467350"/>
            <a:ext cx="2191385" cy="521970"/>
          </a:xfrm>
          <a:prstGeom prst="rect">
            <a:avLst/>
          </a:prstGeom>
          <a:noFill/>
        </p:spPr>
        <p:txBody>
          <a:bodyPr wrap="square" rtlCol="0">
            <a:spAutoFit/>
          </a:bodyPr>
          <a:p>
            <a:pPr indent="0">
              <a:buFont typeface="Arial" panose="020B0604020202020204" pitchFamily="34" charset="0"/>
              <a:buNone/>
            </a:pPr>
            <a:r>
              <a:rPr lang="en-US" altLang="zh-CN" sz="2800">
                <a:sym typeface="+mn-ea"/>
              </a:rPr>
              <a:t>   </a:t>
            </a:r>
            <a:r>
              <a:rPr lang="zh-CN" altLang="zh-CN" sz="2800">
                <a:sym typeface="+mn-ea"/>
              </a:rPr>
              <a:t>每个数值</a:t>
            </a:r>
            <a:endParaRPr lang="zh-CN" altLang="zh-CN" sz="2800">
              <a:sym typeface="+mn-ea"/>
            </a:endParaRPr>
          </a:p>
        </p:txBody>
      </p:sp>
      <p:sp>
        <p:nvSpPr>
          <p:cNvPr id="11" name="文本框 10"/>
          <p:cNvSpPr txBox="1"/>
          <p:nvPr/>
        </p:nvSpPr>
        <p:spPr>
          <a:xfrm>
            <a:off x="9791065" y="3556635"/>
            <a:ext cx="613410" cy="2989580"/>
          </a:xfrm>
          <a:prstGeom prst="rect">
            <a:avLst/>
          </a:prstGeom>
          <a:noFill/>
        </p:spPr>
        <p:txBody>
          <a:bodyPr vert="eaVert" wrap="square" rtlCol="0">
            <a:spAutoFit/>
          </a:bodyPr>
          <a:p>
            <a:pPr indent="0">
              <a:buFont typeface="Arial" panose="020B0604020202020204" pitchFamily="34" charset="0"/>
              <a:buNone/>
            </a:pPr>
            <a:r>
              <a:rPr lang="zh-CN" altLang="zh-CN" sz="2800">
                <a:sym typeface="+mn-ea"/>
              </a:rPr>
              <a:t>序列中的每个点</a:t>
            </a:r>
            <a:endParaRPr lang="zh-CN" altLang="zh-CN" sz="2800">
              <a:sym typeface="+mn-ea"/>
            </a:endParaRPr>
          </a:p>
        </p:txBody>
      </p:sp>
    </p:spTree>
    <p:custDataLst>
      <p:tags r:id="rId4"/>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 name="文本框 2"/>
          <p:cNvSpPr txBox="1"/>
          <p:nvPr/>
        </p:nvSpPr>
        <p:spPr>
          <a:xfrm>
            <a:off x="1070610" y="2576195"/>
            <a:ext cx="10066655" cy="95313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而这样处理的一个</a:t>
            </a:r>
            <a:r>
              <a:rPr lang="en-US" altLang="zh-CN" sz="2800">
                <a:sym typeface="+mn-ea"/>
              </a:rPr>
              <a:t>“</a:t>
            </a:r>
            <a:r>
              <a:rPr lang="zh-CN" altLang="en-US" sz="2800">
                <a:sym typeface="+mn-ea"/>
              </a:rPr>
              <a:t>长方形</a:t>
            </a:r>
            <a:r>
              <a:rPr lang="en-US" altLang="zh-CN" sz="2800">
                <a:sym typeface="+mn-ea"/>
              </a:rPr>
              <a:t>”</a:t>
            </a:r>
            <a:r>
              <a:rPr lang="zh-CN" altLang="en-US" sz="2800">
                <a:sym typeface="+mn-ea"/>
              </a:rPr>
              <a:t>，长与宽这两维代表的含义是什么，是可以依题而定的。</a:t>
            </a:r>
            <a:endParaRPr lang="zh-CN" altLang="en-US" sz="2800">
              <a:sym typeface="+mn-ea"/>
            </a:endParaRPr>
          </a:p>
        </p:txBody>
      </p:sp>
      <p:sp>
        <p:nvSpPr>
          <p:cNvPr id="4" name="文本框 3"/>
          <p:cNvSpPr txBox="1"/>
          <p:nvPr/>
        </p:nvSpPr>
        <p:spPr>
          <a:xfrm>
            <a:off x="1070610" y="3902075"/>
            <a:ext cx="9959975" cy="52197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下面来看一些主席树的经典题目。</a:t>
            </a:r>
            <a:endParaRPr lang="zh-CN" altLang="zh-CN" sz="2800">
              <a:sym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文本框 3"/>
          <p:cNvSpPr txBox="1"/>
          <p:nvPr/>
        </p:nvSpPr>
        <p:spPr>
          <a:xfrm>
            <a:off x="1070610" y="1851025"/>
            <a:ext cx="9959975" cy="953135"/>
          </a:xfrm>
          <a:prstGeom prst="rect">
            <a:avLst/>
          </a:prstGeom>
          <a:noFill/>
        </p:spPr>
        <p:txBody>
          <a:bodyPr wrap="square" rtlCol="0">
            <a:spAutoFit/>
          </a:bodyPr>
          <a:p>
            <a:pPr marL="457200" indent="-457200">
              <a:buFont typeface="Arial" panose="020B0604020202020204" pitchFamily="34" charset="0"/>
              <a:buChar char="•"/>
            </a:pPr>
            <a:r>
              <a:rPr lang="en-US" altLang="zh-CN" sz="2800">
                <a:sym typeface="+mn-ea"/>
              </a:rPr>
              <a:t>Kth-number </a:t>
            </a:r>
            <a:r>
              <a:rPr lang="zh-CN" altLang="en-US" sz="2800">
                <a:sym typeface="+mn-ea"/>
              </a:rPr>
              <a:t>（</a:t>
            </a:r>
            <a:r>
              <a:rPr lang="en-US" altLang="zh-CN" sz="2800">
                <a:sym typeface="+mn-ea"/>
              </a:rPr>
              <a:t>poj 2104</a:t>
            </a:r>
            <a:r>
              <a:rPr lang="zh-CN" altLang="en-US" sz="2800">
                <a:sym typeface="+mn-ea"/>
              </a:rPr>
              <a:t>）</a:t>
            </a:r>
            <a:endParaRPr lang="zh-CN" altLang="en-US" sz="2800">
              <a:sym typeface="+mn-ea"/>
            </a:endParaRPr>
          </a:p>
          <a:p>
            <a:pPr marL="457200" indent="-457200">
              <a:buFont typeface="Arial" panose="020B0604020202020204" pitchFamily="34" charset="0"/>
              <a:buChar char="•"/>
            </a:pPr>
            <a:r>
              <a:rPr lang="zh-CN" altLang="en-US" sz="2800">
                <a:sym typeface="+mn-ea"/>
              </a:rPr>
              <a:t>求区间第</a:t>
            </a:r>
            <a:r>
              <a:rPr lang="en-US" altLang="zh-CN" sz="2800">
                <a:sym typeface="+mn-ea"/>
              </a:rPr>
              <a:t>k</a:t>
            </a:r>
            <a:r>
              <a:rPr lang="zh-CN" altLang="en-US" sz="2800">
                <a:sym typeface="+mn-ea"/>
              </a:rPr>
              <a:t>小（大）值，多次询问，无修改。</a:t>
            </a:r>
            <a:endParaRPr lang="zh-CN" altLang="en-US" sz="2800">
              <a:sym typeface="+mn-ea"/>
            </a:endParaRPr>
          </a:p>
        </p:txBody>
      </p:sp>
      <p:sp>
        <p:nvSpPr>
          <p:cNvPr id="5" name="文本框 4"/>
          <p:cNvSpPr txBox="1"/>
          <p:nvPr/>
        </p:nvSpPr>
        <p:spPr>
          <a:xfrm>
            <a:off x="1070610" y="2946400"/>
            <a:ext cx="9712325" cy="267652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建立主席树，每单独的都是一棵权值线段树，记录每个值出现的次数。</a:t>
            </a:r>
            <a:endParaRPr lang="zh-CN" altLang="zh-CN" sz="2800">
              <a:sym typeface="+mn-ea"/>
            </a:endParaRPr>
          </a:p>
          <a:p>
            <a:pPr marL="457200" indent="-457200">
              <a:buFont typeface="Arial" panose="020B0604020202020204" pitchFamily="34" charset="0"/>
              <a:buChar char="•"/>
            </a:pPr>
            <a:r>
              <a:rPr lang="zh-CN" altLang="zh-CN" sz="2800">
                <a:sym typeface="+mn-ea"/>
              </a:rPr>
              <a:t>查询利用主席树每个点都是前缀和的性质，找到一段区间两侧的线段树</a:t>
            </a:r>
            <a:r>
              <a:rPr lang="en-US" altLang="zh-CN" sz="2800">
                <a:sym typeface="+mn-ea"/>
              </a:rPr>
              <a:t>segtree(l-1)</a:t>
            </a:r>
            <a:r>
              <a:rPr lang="zh-CN" altLang="zh-CN" sz="2800">
                <a:sym typeface="+mn-ea"/>
              </a:rPr>
              <a:t>和</a:t>
            </a:r>
            <a:r>
              <a:rPr lang="en-US" altLang="zh-CN" sz="2800">
                <a:sym typeface="+mn-ea"/>
              </a:rPr>
              <a:t>segtree(r)</a:t>
            </a:r>
            <a:r>
              <a:rPr lang="zh-CN" altLang="zh-CN" sz="2800">
                <a:sym typeface="+mn-ea"/>
              </a:rPr>
              <a:t>，相减就可以得到中间一段区间的权值线段树。</a:t>
            </a:r>
            <a:endParaRPr lang="zh-CN" altLang="zh-CN" sz="2800">
              <a:sym typeface="+mn-ea"/>
            </a:endParaRPr>
          </a:p>
          <a:p>
            <a:pPr marL="457200" indent="-457200">
              <a:buFont typeface="Arial" panose="020B0604020202020204" pitchFamily="34" charset="0"/>
              <a:buChar char="•"/>
            </a:pPr>
            <a:r>
              <a:rPr lang="zh-CN" altLang="zh-CN" sz="2800">
                <a:sym typeface="+mn-ea"/>
              </a:rPr>
              <a:t>然后直接在线段树上二分就可以了。</a:t>
            </a:r>
            <a:endParaRPr lang="zh-CN" altLang="zh-CN" sz="2800">
              <a:sym typeface="+mn-ea"/>
            </a:endParaRPr>
          </a:p>
        </p:txBody>
      </p:sp>
      <p:sp>
        <p:nvSpPr>
          <p:cNvPr id="165"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静态区间</a:t>
            </a:r>
            <a:r>
              <a:rPr lang="en-US" altLang="zh-CN">
                <a:solidFill>
                  <a:schemeClr val="tx1"/>
                </a:solidFill>
              </a:rPr>
              <a:t>k</a:t>
            </a:r>
            <a:r>
              <a:rPr lang="zh-CN" altLang="en-US">
                <a:solidFill>
                  <a:schemeClr val="tx1"/>
                </a:solidFill>
              </a:rPr>
              <a:t>大值</a:t>
            </a:r>
            <a:endParaRPr lang="zh-CN" altLang="en-US">
              <a:solidFill>
                <a:schemeClr val="tx1"/>
              </a:solidFill>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文本框 3"/>
          <p:cNvSpPr txBox="1"/>
          <p:nvPr/>
        </p:nvSpPr>
        <p:spPr>
          <a:xfrm>
            <a:off x="1070610" y="1851025"/>
            <a:ext cx="9959975" cy="953135"/>
          </a:xfrm>
          <a:prstGeom prst="rect">
            <a:avLst/>
          </a:prstGeom>
          <a:noFill/>
        </p:spPr>
        <p:txBody>
          <a:bodyPr wrap="square" rtlCol="0">
            <a:spAutoFit/>
          </a:bodyPr>
          <a:p>
            <a:pPr marL="457200" indent="-457200">
              <a:buFont typeface="Arial" panose="020B0604020202020204" pitchFamily="34" charset="0"/>
              <a:buChar char="•"/>
            </a:pPr>
            <a:r>
              <a:rPr lang="en-US" altLang="zh-CN" sz="2800">
                <a:sym typeface="+mn-ea"/>
              </a:rPr>
              <a:t>Kth-number </a:t>
            </a:r>
            <a:r>
              <a:rPr lang="zh-CN" altLang="en-US" sz="2800">
                <a:sym typeface="+mn-ea"/>
              </a:rPr>
              <a:t>（</a:t>
            </a:r>
            <a:r>
              <a:rPr lang="en-US" altLang="zh-CN" sz="2800">
                <a:sym typeface="+mn-ea"/>
              </a:rPr>
              <a:t>bzoj 1901</a:t>
            </a:r>
            <a:r>
              <a:rPr lang="zh-CN" altLang="en-US" sz="2800">
                <a:sym typeface="+mn-ea"/>
              </a:rPr>
              <a:t>）</a:t>
            </a:r>
            <a:endParaRPr lang="zh-CN" altLang="en-US" sz="2800">
              <a:sym typeface="+mn-ea"/>
            </a:endParaRPr>
          </a:p>
          <a:p>
            <a:pPr marL="457200" indent="-457200">
              <a:buFont typeface="Arial" panose="020B0604020202020204" pitchFamily="34" charset="0"/>
              <a:buChar char="•"/>
            </a:pPr>
            <a:r>
              <a:rPr lang="zh-CN" altLang="en-US" sz="2800">
                <a:sym typeface="+mn-ea"/>
              </a:rPr>
              <a:t>求区间第</a:t>
            </a:r>
            <a:r>
              <a:rPr lang="en-US" altLang="zh-CN" sz="2800">
                <a:sym typeface="+mn-ea"/>
              </a:rPr>
              <a:t>k</a:t>
            </a:r>
            <a:r>
              <a:rPr lang="zh-CN" altLang="en-US" sz="2800">
                <a:sym typeface="+mn-ea"/>
              </a:rPr>
              <a:t>小（大）值，多次询问，有单点修改。</a:t>
            </a:r>
            <a:endParaRPr lang="zh-CN" altLang="en-US" sz="2800">
              <a:sym typeface="+mn-ea"/>
            </a:endParaRPr>
          </a:p>
        </p:txBody>
      </p:sp>
      <p:sp>
        <p:nvSpPr>
          <p:cNvPr id="5" name="文本框 4"/>
          <p:cNvSpPr txBox="1"/>
          <p:nvPr/>
        </p:nvSpPr>
        <p:spPr>
          <a:xfrm>
            <a:off x="1070610" y="2946400"/>
            <a:ext cx="9960610" cy="224536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思考：对于主席树上的每个点，储存的都是一系列相同点的前缀和，我们必须要维护前缀和这个性质才可以通过相减得到一段区间的权值线段树。</a:t>
            </a:r>
            <a:endParaRPr lang="zh-CN" altLang="zh-CN" sz="2800">
              <a:sym typeface="+mn-ea"/>
            </a:endParaRPr>
          </a:p>
          <a:p>
            <a:pPr marL="457200" indent="-457200">
              <a:buFont typeface="Arial" panose="020B0604020202020204" pitchFamily="34" charset="0"/>
              <a:buChar char="•"/>
            </a:pPr>
            <a:r>
              <a:rPr lang="zh-CN" altLang="en-US" sz="2800">
                <a:sym typeface="+mn-ea"/>
              </a:rPr>
              <a:t>对于单个点来说查询是</a:t>
            </a:r>
            <a:r>
              <a:rPr lang="en-US" altLang="zh-CN" sz="2800">
                <a:sym typeface="+mn-ea"/>
              </a:rPr>
              <a:t>O(1)</a:t>
            </a:r>
            <a:r>
              <a:rPr lang="zh-CN" altLang="en-US" sz="2800">
                <a:sym typeface="+mn-ea"/>
              </a:rPr>
              <a:t>的，维护前缀和是</a:t>
            </a:r>
            <a:r>
              <a:rPr lang="en-US" altLang="zh-CN" sz="2800">
                <a:sym typeface="+mn-ea"/>
              </a:rPr>
              <a:t>O(n)</a:t>
            </a:r>
            <a:r>
              <a:rPr lang="zh-CN" altLang="en-US" sz="2800">
                <a:sym typeface="+mn-ea"/>
              </a:rPr>
              <a:t>的。</a:t>
            </a:r>
            <a:endParaRPr lang="zh-CN" altLang="en-US" sz="2800">
              <a:sym typeface="+mn-ea"/>
            </a:endParaRPr>
          </a:p>
          <a:p>
            <a:pPr marL="457200" indent="-457200">
              <a:buFont typeface="Arial" panose="020B0604020202020204" pitchFamily="34" charset="0"/>
              <a:buChar char="•"/>
            </a:pPr>
            <a:r>
              <a:rPr lang="zh-CN" altLang="en-US" sz="2800">
                <a:sym typeface="+mn-ea"/>
              </a:rPr>
              <a:t>而如果不维护前缀和，那么修改是</a:t>
            </a:r>
            <a:r>
              <a:rPr lang="en-US" altLang="zh-CN" sz="2800">
                <a:sym typeface="+mn-ea"/>
              </a:rPr>
              <a:t>O(1)</a:t>
            </a:r>
            <a:r>
              <a:rPr lang="zh-CN" altLang="zh-CN" sz="2800">
                <a:sym typeface="+mn-ea"/>
              </a:rPr>
              <a:t>的，查询是</a:t>
            </a:r>
            <a:r>
              <a:rPr lang="en-US" altLang="zh-CN" sz="2800">
                <a:sym typeface="+mn-ea"/>
              </a:rPr>
              <a:t>O(n)</a:t>
            </a:r>
            <a:r>
              <a:rPr lang="zh-CN" altLang="en-US" sz="2800">
                <a:sym typeface="+mn-ea"/>
              </a:rPr>
              <a:t>的。</a:t>
            </a:r>
            <a:endParaRPr lang="zh-CN" altLang="en-US" sz="2800">
              <a:sym typeface="+mn-ea"/>
            </a:endParaRPr>
          </a:p>
        </p:txBody>
      </p:sp>
      <p:sp>
        <p:nvSpPr>
          <p:cNvPr id="3" name="文本框 2"/>
          <p:cNvSpPr txBox="1"/>
          <p:nvPr/>
        </p:nvSpPr>
        <p:spPr>
          <a:xfrm>
            <a:off x="1070610" y="5238115"/>
            <a:ext cx="9959975" cy="52197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于是就可以想到，之前为了解决这种问题而出现的树状数组。</a:t>
            </a:r>
            <a:endParaRPr lang="zh-CN" altLang="zh-CN" sz="2800">
              <a:sym typeface="+mn-ea"/>
            </a:endParaRPr>
          </a:p>
        </p:txBody>
      </p:sp>
      <p:sp>
        <p:nvSpPr>
          <p:cNvPr id="165"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动态区间</a:t>
            </a:r>
            <a:r>
              <a:rPr lang="en-US" altLang="zh-CN">
                <a:solidFill>
                  <a:schemeClr val="tx1"/>
                </a:solidFill>
              </a:rPr>
              <a:t>k</a:t>
            </a:r>
            <a:r>
              <a:rPr lang="zh-CN" altLang="en-US">
                <a:solidFill>
                  <a:schemeClr val="tx1"/>
                </a:solidFill>
              </a:rPr>
              <a:t>大值</a:t>
            </a:r>
            <a:endParaRPr lang="zh-CN" altLang="en-US">
              <a:solidFill>
                <a:schemeClr val="tx1"/>
              </a:solidFill>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65" name=" 165"/>
          <p:cNvSpPr/>
          <p:nvPr/>
        </p:nvSpPr>
        <p:spPr>
          <a:xfrm>
            <a:off x="1308735" y="5162550"/>
            <a:ext cx="601345" cy="370840"/>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a[1]</a:t>
            </a:r>
            <a:endParaRPr lang="en-US" altLang="zh-CN">
              <a:solidFill>
                <a:srgbClr val="FFFFFF"/>
              </a:solidFill>
            </a:endParaRPr>
          </a:p>
        </p:txBody>
      </p:sp>
      <p:sp>
        <p:nvSpPr>
          <p:cNvPr id="4" name=" 165"/>
          <p:cNvSpPr/>
          <p:nvPr/>
        </p:nvSpPr>
        <p:spPr>
          <a:xfrm>
            <a:off x="1910080" y="5162550"/>
            <a:ext cx="601345" cy="370840"/>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a[2]</a:t>
            </a:r>
            <a:endParaRPr lang="en-US" altLang="zh-CN">
              <a:solidFill>
                <a:srgbClr val="FFFFFF"/>
              </a:solidFill>
            </a:endParaRPr>
          </a:p>
        </p:txBody>
      </p:sp>
      <p:sp>
        <p:nvSpPr>
          <p:cNvPr id="6" name=" 165"/>
          <p:cNvSpPr/>
          <p:nvPr/>
        </p:nvSpPr>
        <p:spPr>
          <a:xfrm>
            <a:off x="2456815" y="5162550"/>
            <a:ext cx="601345" cy="370840"/>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a[3]</a:t>
            </a:r>
            <a:endParaRPr lang="en-US" altLang="zh-CN">
              <a:solidFill>
                <a:srgbClr val="FFFFFF"/>
              </a:solidFill>
            </a:endParaRPr>
          </a:p>
        </p:txBody>
      </p:sp>
      <p:sp>
        <p:nvSpPr>
          <p:cNvPr id="9" name=" 165"/>
          <p:cNvSpPr/>
          <p:nvPr/>
        </p:nvSpPr>
        <p:spPr>
          <a:xfrm>
            <a:off x="3058160" y="5162550"/>
            <a:ext cx="601345" cy="370840"/>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a[4]</a:t>
            </a:r>
            <a:endParaRPr lang="en-US" altLang="zh-CN">
              <a:solidFill>
                <a:srgbClr val="FFFFFF"/>
              </a:solidFill>
            </a:endParaRPr>
          </a:p>
        </p:txBody>
      </p:sp>
      <p:sp>
        <p:nvSpPr>
          <p:cNvPr id="10" name=" 165"/>
          <p:cNvSpPr/>
          <p:nvPr/>
        </p:nvSpPr>
        <p:spPr>
          <a:xfrm>
            <a:off x="3651885" y="5162550"/>
            <a:ext cx="601345" cy="370840"/>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a[5]</a:t>
            </a:r>
            <a:endParaRPr lang="en-US" altLang="zh-CN">
              <a:solidFill>
                <a:srgbClr val="FFFFFF"/>
              </a:solidFill>
            </a:endParaRPr>
          </a:p>
        </p:txBody>
      </p:sp>
      <p:sp>
        <p:nvSpPr>
          <p:cNvPr id="11" name=" 165"/>
          <p:cNvSpPr/>
          <p:nvPr/>
        </p:nvSpPr>
        <p:spPr>
          <a:xfrm>
            <a:off x="4253230" y="5162550"/>
            <a:ext cx="601345" cy="370840"/>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a[6]</a:t>
            </a:r>
            <a:endParaRPr lang="en-US" altLang="zh-CN">
              <a:solidFill>
                <a:srgbClr val="FFFFFF"/>
              </a:solidFill>
            </a:endParaRPr>
          </a:p>
        </p:txBody>
      </p:sp>
      <p:sp>
        <p:nvSpPr>
          <p:cNvPr id="12" name=" 165"/>
          <p:cNvSpPr/>
          <p:nvPr/>
        </p:nvSpPr>
        <p:spPr>
          <a:xfrm>
            <a:off x="4854575" y="5162550"/>
            <a:ext cx="601345" cy="370840"/>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a[7]</a:t>
            </a:r>
            <a:endParaRPr lang="en-US" altLang="zh-CN">
              <a:solidFill>
                <a:srgbClr val="FFFFFF"/>
              </a:solidFill>
            </a:endParaRPr>
          </a:p>
        </p:txBody>
      </p:sp>
      <p:sp>
        <p:nvSpPr>
          <p:cNvPr id="13" name=" 165"/>
          <p:cNvSpPr/>
          <p:nvPr/>
        </p:nvSpPr>
        <p:spPr>
          <a:xfrm>
            <a:off x="5455920" y="5162550"/>
            <a:ext cx="601345" cy="370840"/>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a[8]</a:t>
            </a:r>
            <a:endParaRPr lang="en-US" altLang="zh-CN">
              <a:solidFill>
                <a:srgbClr val="FFFFFF"/>
              </a:solidFill>
            </a:endParaRPr>
          </a:p>
        </p:txBody>
      </p:sp>
      <p:sp>
        <p:nvSpPr>
          <p:cNvPr id="14" name=" 165"/>
          <p:cNvSpPr/>
          <p:nvPr/>
        </p:nvSpPr>
        <p:spPr>
          <a:xfrm>
            <a:off x="1308735" y="4791710"/>
            <a:ext cx="601345" cy="37084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c[1]</a:t>
            </a:r>
            <a:endParaRPr lang="en-US" altLang="zh-CN">
              <a:solidFill>
                <a:srgbClr val="FFFFFF"/>
              </a:solidFill>
            </a:endParaRPr>
          </a:p>
        </p:txBody>
      </p:sp>
      <p:sp>
        <p:nvSpPr>
          <p:cNvPr id="15" name=" 165"/>
          <p:cNvSpPr/>
          <p:nvPr/>
        </p:nvSpPr>
        <p:spPr>
          <a:xfrm>
            <a:off x="1910080" y="3860800"/>
            <a:ext cx="601345" cy="37084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c[2]</a:t>
            </a:r>
            <a:endParaRPr lang="en-US" altLang="zh-CN">
              <a:solidFill>
                <a:srgbClr val="FFFFFF"/>
              </a:solidFill>
            </a:endParaRPr>
          </a:p>
        </p:txBody>
      </p:sp>
      <p:sp>
        <p:nvSpPr>
          <p:cNvPr id="16" name=" 165"/>
          <p:cNvSpPr/>
          <p:nvPr/>
        </p:nvSpPr>
        <p:spPr>
          <a:xfrm>
            <a:off x="2456815" y="4791710"/>
            <a:ext cx="601345" cy="37084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c[3]</a:t>
            </a:r>
            <a:endParaRPr lang="en-US" altLang="zh-CN">
              <a:solidFill>
                <a:srgbClr val="FFFFFF"/>
              </a:solidFill>
            </a:endParaRPr>
          </a:p>
        </p:txBody>
      </p:sp>
      <p:sp>
        <p:nvSpPr>
          <p:cNvPr id="17" name=" 165"/>
          <p:cNvSpPr/>
          <p:nvPr/>
        </p:nvSpPr>
        <p:spPr>
          <a:xfrm>
            <a:off x="3109595" y="2946400"/>
            <a:ext cx="601345" cy="37084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c[4]</a:t>
            </a:r>
            <a:endParaRPr lang="en-US" altLang="zh-CN">
              <a:solidFill>
                <a:srgbClr val="FFFFFF"/>
              </a:solidFill>
            </a:endParaRPr>
          </a:p>
        </p:txBody>
      </p:sp>
      <p:sp>
        <p:nvSpPr>
          <p:cNvPr id="18" name=" 165"/>
          <p:cNvSpPr/>
          <p:nvPr/>
        </p:nvSpPr>
        <p:spPr>
          <a:xfrm>
            <a:off x="3651885" y="4791710"/>
            <a:ext cx="601345" cy="37084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c[5]</a:t>
            </a:r>
            <a:endParaRPr lang="en-US" altLang="zh-CN">
              <a:solidFill>
                <a:srgbClr val="FFFFFF"/>
              </a:solidFill>
            </a:endParaRPr>
          </a:p>
        </p:txBody>
      </p:sp>
      <p:sp>
        <p:nvSpPr>
          <p:cNvPr id="19" name=" 165"/>
          <p:cNvSpPr/>
          <p:nvPr/>
        </p:nvSpPr>
        <p:spPr>
          <a:xfrm>
            <a:off x="4307840" y="3860800"/>
            <a:ext cx="601345" cy="37084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c[6]</a:t>
            </a:r>
            <a:endParaRPr lang="en-US" altLang="zh-CN">
              <a:solidFill>
                <a:srgbClr val="FFFFFF"/>
              </a:solidFill>
            </a:endParaRPr>
          </a:p>
        </p:txBody>
      </p:sp>
      <p:sp>
        <p:nvSpPr>
          <p:cNvPr id="20" name=" 165"/>
          <p:cNvSpPr/>
          <p:nvPr/>
        </p:nvSpPr>
        <p:spPr>
          <a:xfrm>
            <a:off x="4854575" y="4791710"/>
            <a:ext cx="601345" cy="37084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c[7]</a:t>
            </a:r>
            <a:endParaRPr lang="en-US" altLang="zh-CN">
              <a:solidFill>
                <a:srgbClr val="FFFFFF"/>
              </a:solidFill>
            </a:endParaRPr>
          </a:p>
        </p:txBody>
      </p:sp>
      <p:sp>
        <p:nvSpPr>
          <p:cNvPr id="21" name=" 165"/>
          <p:cNvSpPr/>
          <p:nvPr/>
        </p:nvSpPr>
        <p:spPr>
          <a:xfrm>
            <a:off x="5455920" y="2146935"/>
            <a:ext cx="601345" cy="37084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c[8]</a:t>
            </a:r>
            <a:endParaRPr lang="en-US" altLang="zh-CN">
              <a:solidFill>
                <a:srgbClr val="FFFFFF"/>
              </a:solidFill>
            </a:endParaRPr>
          </a:p>
        </p:txBody>
      </p:sp>
      <p:cxnSp>
        <p:nvCxnSpPr>
          <p:cNvPr id="22" name="直接连接符 21"/>
          <p:cNvCxnSpPr>
            <a:stCxn id="21" idx="2"/>
            <a:endCxn id="13" idx="0"/>
          </p:cNvCxnSpPr>
          <p:nvPr/>
        </p:nvCxnSpPr>
        <p:spPr>
          <a:xfrm>
            <a:off x="5756910" y="2517775"/>
            <a:ext cx="0" cy="26447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21" idx="2"/>
            <a:endCxn id="20" idx="0"/>
          </p:cNvCxnSpPr>
          <p:nvPr/>
        </p:nvCxnSpPr>
        <p:spPr>
          <a:xfrm flipH="1">
            <a:off x="5155565" y="2517775"/>
            <a:ext cx="601345" cy="227393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21" idx="1"/>
            <a:endCxn id="19" idx="0"/>
          </p:cNvCxnSpPr>
          <p:nvPr/>
        </p:nvCxnSpPr>
        <p:spPr>
          <a:xfrm flipH="1">
            <a:off x="4608830" y="2332355"/>
            <a:ext cx="847090" cy="1528445"/>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21" idx="1"/>
            <a:endCxn id="17" idx="0"/>
          </p:cNvCxnSpPr>
          <p:nvPr/>
        </p:nvCxnSpPr>
        <p:spPr>
          <a:xfrm flipH="1">
            <a:off x="3410585" y="2332355"/>
            <a:ext cx="2045335" cy="61404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15" idx="0"/>
          </p:cNvCxnSpPr>
          <p:nvPr/>
        </p:nvCxnSpPr>
        <p:spPr>
          <a:xfrm flipH="1">
            <a:off x="2211070" y="3122295"/>
            <a:ext cx="898525" cy="7385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14" idx="0"/>
          </p:cNvCxnSpPr>
          <p:nvPr/>
        </p:nvCxnSpPr>
        <p:spPr>
          <a:xfrm flipH="1">
            <a:off x="1609725" y="4231640"/>
            <a:ext cx="597535" cy="56007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4011295" y="4231640"/>
            <a:ext cx="597535" cy="56007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p:cNvCxnSpPr>
            <a:endCxn id="9" idx="0"/>
          </p:cNvCxnSpPr>
          <p:nvPr/>
        </p:nvCxnSpPr>
        <p:spPr>
          <a:xfrm flipH="1">
            <a:off x="3359150" y="3317240"/>
            <a:ext cx="50800" cy="184531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p:cNvCxnSpPr>
            <a:endCxn id="4" idx="0"/>
          </p:cNvCxnSpPr>
          <p:nvPr/>
        </p:nvCxnSpPr>
        <p:spPr>
          <a:xfrm>
            <a:off x="2211070" y="4231640"/>
            <a:ext cx="0" cy="93091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4608195" y="4231640"/>
            <a:ext cx="0" cy="93091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16" idx="0"/>
          </p:cNvCxnSpPr>
          <p:nvPr/>
        </p:nvCxnSpPr>
        <p:spPr>
          <a:xfrm flipH="1">
            <a:off x="2757805" y="3317240"/>
            <a:ext cx="601345" cy="1474470"/>
          </a:xfrm>
          <a:prstGeom prst="line">
            <a:avLst/>
          </a:prstGeom>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6532245" y="2071370"/>
            <a:ext cx="4580255" cy="353822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如图，这样第</a:t>
            </a:r>
            <a:r>
              <a:rPr lang="en-US" altLang="zh-CN" sz="2800">
                <a:sym typeface="+mn-ea"/>
              </a:rPr>
              <a:t>8</a:t>
            </a:r>
            <a:r>
              <a:rPr lang="zh-CN" altLang="zh-CN" sz="2800">
                <a:sym typeface="+mn-ea"/>
              </a:rPr>
              <a:t>个点代表的线段树就是区间</a:t>
            </a:r>
            <a:r>
              <a:rPr lang="en-US" altLang="zh-CN" sz="2800">
                <a:sym typeface="+mn-ea"/>
              </a:rPr>
              <a:t>[1,8]</a:t>
            </a:r>
            <a:r>
              <a:rPr lang="zh-CN" altLang="zh-CN" sz="2800">
                <a:sym typeface="+mn-ea"/>
              </a:rPr>
              <a:t>的线段树，而第</a:t>
            </a:r>
            <a:r>
              <a:rPr lang="en-US" altLang="zh-CN" sz="2800">
                <a:sym typeface="+mn-ea"/>
              </a:rPr>
              <a:t>6</a:t>
            </a:r>
            <a:r>
              <a:rPr lang="zh-CN" altLang="en-US" sz="2800">
                <a:sym typeface="+mn-ea"/>
              </a:rPr>
              <a:t>个点代表的就是区间</a:t>
            </a:r>
            <a:r>
              <a:rPr lang="en-US" altLang="zh-CN" sz="2800">
                <a:sym typeface="+mn-ea"/>
              </a:rPr>
              <a:t>[5,6]</a:t>
            </a:r>
            <a:r>
              <a:rPr lang="zh-CN" altLang="zh-CN" sz="2800">
                <a:sym typeface="+mn-ea"/>
              </a:rPr>
              <a:t>的线段树。其他点同理。</a:t>
            </a:r>
            <a:endParaRPr lang="zh-CN" altLang="zh-CN" sz="2800">
              <a:sym typeface="+mn-ea"/>
            </a:endParaRPr>
          </a:p>
          <a:p>
            <a:pPr marL="457200" indent="-457200">
              <a:buFont typeface="Arial" panose="020B0604020202020204" pitchFamily="34" charset="0"/>
              <a:buChar char="•"/>
            </a:pPr>
            <a:r>
              <a:rPr lang="zh-CN" altLang="zh-CN" sz="2800">
                <a:sym typeface="+mn-ea"/>
              </a:rPr>
              <a:t>找前缀和和修改时，只需要像树状数组一样，修改一些特定的点就可以了。</a:t>
            </a:r>
            <a:endParaRPr lang="zh-CN" altLang="zh-CN" sz="2800">
              <a:sym typeface="+mn-ea"/>
            </a:endParaRPr>
          </a:p>
        </p:txBody>
      </p:sp>
      <p:sp>
        <p:nvSpPr>
          <p:cNvPr id="35"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动态区间</a:t>
            </a:r>
            <a:r>
              <a:rPr lang="en-US" altLang="zh-CN">
                <a:solidFill>
                  <a:schemeClr val="tx1"/>
                </a:solidFill>
              </a:rPr>
              <a:t>k</a:t>
            </a:r>
            <a:r>
              <a:rPr lang="zh-CN" altLang="en-US">
                <a:solidFill>
                  <a:schemeClr val="tx1"/>
                </a:solidFill>
              </a:rPr>
              <a:t>大值</a:t>
            </a:r>
            <a:endParaRPr lang="zh-CN" altLang="en-US">
              <a:solidFill>
                <a:schemeClr val="tx1"/>
              </a:solidFill>
            </a:endParaRPr>
          </a:p>
        </p:txBody>
      </p:sp>
    </p:spTree>
    <p:custDataLst>
      <p:tags r:id="rId4"/>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文本框 3"/>
          <p:cNvSpPr txBox="1"/>
          <p:nvPr/>
        </p:nvSpPr>
        <p:spPr>
          <a:xfrm>
            <a:off x="1070610" y="1851025"/>
            <a:ext cx="9959975" cy="953135"/>
          </a:xfrm>
          <a:prstGeom prst="rect">
            <a:avLst/>
          </a:prstGeom>
          <a:noFill/>
        </p:spPr>
        <p:txBody>
          <a:bodyPr wrap="square" rtlCol="0">
            <a:spAutoFit/>
          </a:bodyPr>
          <a:p>
            <a:pPr marL="457200" indent="-457200">
              <a:buFont typeface="Arial" panose="020B0604020202020204" pitchFamily="34" charset="0"/>
              <a:buChar char="•"/>
            </a:pPr>
            <a:r>
              <a:rPr lang="en-US" altLang="zh-CN" sz="2800">
                <a:sym typeface="+mn-ea"/>
              </a:rPr>
              <a:t>Kth-number </a:t>
            </a:r>
            <a:r>
              <a:rPr lang="zh-CN" altLang="en-US" sz="2800">
                <a:sym typeface="+mn-ea"/>
              </a:rPr>
              <a:t>（</a:t>
            </a:r>
            <a:r>
              <a:rPr lang="en-US" altLang="zh-CN" sz="2800">
                <a:sym typeface="+mn-ea"/>
              </a:rPr>
              <a:t>bzoj 2588</a:t>
            </a:r>
            <a:r>
              <a:rPr lang="zh-CN" altLang="en-US" sz="2800">
                <a:sym typeface="+mn-ea"/>
              </a:rPr>
              <a:t>）</a:t>
            </a:r>
            <a:endParaRPr lang="zh-CN" altLang="en-US" sz="2800">
              <a:sym typeface="+mn-ea"/>
            </a:endParaRPr>
          </a:p>
          <a:p>
            <a:pPr marL="457200" indent="-457200">
              <a:buFont typeface="Arial" panose="020B0604020202020204" pitchFamily="34" charset="0"/>
              <a:buChar char="•"/>
            </a:pPr>
            <a:r>
              <a:rPr lang="zh-CN" altLang="en-US" sz="2800">
                <a:sym typeface="+mn-ea"/>
              </a:rPr>
              <a:t>求树上任意两个点之间的第</a:t>
            </a:r>
            <a:r>
              <a:rPr lang="en-US" altLang="zh-CN" sz="2800">
                <a:sym typeface="+mn-ea"/>
              </a:rPr>
              <a:t>k</a:t>
            </a:r>
            <a:r>
              <a:rPr lang="zh-CN" altLang="en-US" sz="2800">
                <a:sym typeface="+mn-ea"/>
              </a:rPr>
              <a:t>小（大）值，多次询问。</a:t>
            </a:r>
            <a:endParaRPr lang="zh-CN" altLang="en-US" sz="2800">
              <a:sym typeface="+mn-ea"/>
            </a:endParaRPr>
          </a:p>
        </p:txBody>
      </p:sp>
      <p:sp>
        <p:nvSpPr>
          <p:cNvPr id="6" name="文本框 5"/>
          <p:cNvSpPr txBox="1"/>
          <p:nvPr/>
        </p:nvSpPr>
        <p:spPr>
          <a:xfrm>
            <a:off x="1070610" y="2889250"/>
            <a:ext cx="9959340" cy="138366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只需要建立树上的主席树就可以了。</a:t>
            </a:r>
            <a:endParaRPr lang="zh-CN" altLang="zh-CN" sz="2800">
              <a:sym typeface="+mn-ea"/>
            </a:endParaRPr>
          </a:p>
          <a:p>
            <a:pPr marL="457200" indent="-457200">
              <a:buFont typeface="Arial" panose="020B0604020202020204" pitchFamily="34" charset="0"/>
              <a:buChar char="•"/>
            </a:pPr>
            <a:r>
              <a:rPr lang="zh-CN" altLang="zh-CN" sz="2800">
                <a:sym typeface="+mn-ea"/>
              </a:rPr>
              <a:t>插入每个点时，以它的父亲节点为上一版本。</a:t>
            </a:r>
            <a:endParaRPr lang="zh-CN" altLang="zh-CN" sz="2800">
              <a:sym typeface="+mn-ea"/>
            </a:endParaRPr>
          </a:p>
          <a:p>
            <a:pPr marL="457200" indent="-457200">
              <a:buFont typeface="Arial" panose="020B0604020202020204" pitchFamily="34" charset="0"/>
              <a:buChar char="•"/>
            </a:pPr>
            <a:r>
              <a:rPr lang="zh-CN" altLang="zh-CN" sz="2800">
                <a:sym typeface="+mn-ea"/>
              </a:rPr>
              <a:t>或者是找出</a:t>
            </a:r>
            <a:r>
              <a:rPr lang="en-US" altLang="zh-CN" sz="2800">
                <a:sym typeface="+mn-ea"/>
              </a:rPr>
              <a:t>dfs</a:t>
            </a:r>
            <a:r>
              <a:rPr lang="zh-CN" altLang="en-US" sz="2800">
                <a:sym typeface="+mn-ea"/>
              </a:rPr>
              <a:t>序，进栈</a:t>
            </a:r>
            <a:r>
              <a:rPr lang="en-US" altLang="zh-CN" sz="2800">
                <a:sym typeface="+mn-ea"/>
              </a:rPr>
              <a:t>+1</a:t>
            </a:r>
            <a:r>
              <a:rPr lang="zh-CN" altLang="en-US" sz="2800">
                <a:sym typeface="+mn-ea"/>
              </a:rPr>
              <a:t>，出栈</a:t>
            </a:r>
            <a:r>
              <a:rPr lang="en-US" altLang="zh-CN" sz="2800">
                <a:sym typeface="+mn-ea"/>
              </a:rPr>
              <a:t>-1</a:t>
            </a:r>
            <a:r>
              <a:rPr lang="zh-CN" altLang="zh-CN" sz="2800">
                <a:sym typeface="+mn-ea"/>
              </a:rPr>
              <a:t>。</a:t>
            </a:r>
            <a:endParaRPr lang="zh-CN" altLang="zh-CN" sz="2800">
              <a:sym typeface="+mn-ea"/>
            </a:endParaRPr>
          </a:p>
        </p:txBody>
      </p:sp>
      <p:sp>
        <p:nvSpPr>
          <p:cNvPr id="9" name="文本框 8"/>
          <p:cNvSpPr txBox="1"/>
          <p:nvPr/>
        </p:nvSpPr>
        <p:spPr>
          <a:xfrm>
            <a:off x="1070610" y="4338955"/>
            <a:ext cx="10107930" cy="95313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不过这样只能查询一个点到它的任意一个祖先点的一段区间，所以要分两段来计算。</a:t>
            </a:r>
            <a:endParaRPr lang="zh-CN" altLang="zh-CN" sz="2800">
              <a:sym typeface="+mn-ea"/>
            </a:endParaRPr>
          </a:p>
        </p:txBody>
      </p:sp>
      <p:sp>
        <p:nvSpPr>
          <p:cNvPr id="165"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静态树上</a:t>
            </a:r>
            <a:r>
              <a:rPr lang="en-US" altLang="zh-CN">
                <a:solidFill>
                  <a:schemeClr val="tx1"/>
                </a:solidFill>
              </a:rPr>
              <a:t>k</a:t>
            </a:r>
            <a:r>
              <a:rPr lang="zh-CN" altLang="en-US">
                <a:solidFill>
                  <a:schemeClr val="tx1"/>
                </a:solidFill>
              </a:rPr>
              <a:t>大值</a:t>
            </a:r>
            <a:endParaRPr lang="zh-CN" altLang="en-US">
              <a:solidFill>
                <a:schemeClr val="tx1"/>
              </a:solidFill>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4" name="文本框 13"/>
          <p:cNvSpPr txBox="1"/>
          <p:nvPr/>
        </p:nvSpPr>
        <p:spPr>
          <a:xfrm>
            <a:off x="5930265" y="2320290"/>
            <a:ext cx="5742305" cy="224536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因为需要算上</a:t>
            </a:r>
            <a:r>
              <a:rPr lang="en-US" altLang="zh-CN" sz="2800">
                <a:sym typeface="+mn-ea"/>
              </a:rPr>
              <a:t>lca</a:t>
            </a:r>
            <a:r>
              <a:rPr lang="zh-CN" altLang="en-US" sz="2800">
                <a:sym typeface="+mn-ea"/>
              </a:rPr>
              <a:t>的值，所以要分两段。</a:t>
            </a:r>
            <a:endParaRPr lang="zh-CN" altLang="en-US" sz="2800">
              <a:sym typeface="+mn-ea"/>
            </a:endParaRPr>
          </a:p>
          <a:p>
            <a:pPr marL="457200" indent="-457200">
              <a:buFont typeface="Arial" panose="020B0604020202020204" pitchFamily="34" charset="0"/>
              <a:buChar char="•"/>
            </a:pPr>
            <a:r>
              <a:rPr lang="zh-CN" altLang="en-US" sz="2800">
                <a:sym typeface="+mn-ea"/>
              </a:rPr>
              <a:t>一段是</a:t>
            </a:r>
            <a:r>
              <a:rPr lang="en-US" altLang="zh-CN" sz="2800">
                <a:sym typeface="+mn-ea"/>
              </a:rPr>
              <a:t>segtree[x]-segtree[father]</a:t>
            </a:r>
            <a:r>
              <a:rPr lang="zh-CN" altLang="zh-CN" sz="2800">
                <a:sym typeface="+mn-ea"/>
              </a:rPr>
              <a:t>。</a:t>
            </a:r>
            <a:endParaRPr lang="zh-CN" altLang="zh-CN" sz="2800">
              <a:sym typeface="+mn-ea"/>
            </a:endParaRPr>
          </a:p>
          <a:p>
            <a:pPr marL="457200" indent="-457200">
              <a:buFont typeface="Arial" panose="020B0604020202020204" pitchFamily="34" charset="0"/>
              <a:buChar char="•"/>
            </a:pPr>
            <a:r>
              <a:rPr lang="zh-CN" altLang="zh-CN" sz="2800">
                <a:sym typeface="+mn-ea"/>
              </a:rPr>
              <a:t>另一段是</a:t>
            </a:r>
            <a:r>
              <a:rPr lang="en-US" altLang="zh-CN" sz="2800">
                <a:sym typeface="+mn-ea"/>
              </a:rPr>
              <a:t>segtree[y]-segtree[lca]</a:t>
            </a:r>
            <a:r>
              <a:rPr lang="zh-CN" altLang="zh-CN" sz="2800">
                <a:sym typeface="+mn-ea"/>
              </a:rPr>
              <a:t>。</a:t>
            </a:r>
            <a:endParaRPr lang="zh-CN" altLang="zh-CN" sz="2800">
              <a:sym typeface="+mn-ea"/>
            </a:endParaRPr>
          </a:p>
          <a:p>
            <a:pPr marL="457200" indent="-457200">
              <a:buFont typeface="Arial" panose="020B0604020202020204" pitchFamily="34" charset="0"/>
              <a:buChar char="•"/>
            </a:pPr>
            <a:r>
              <a:rPr lang="zh-CN" altLang="en-US" sz="2800">
                <a:sym typeface="+mn-ea"/>
              </a:rPr>
              <a:t>两段同时进行直接二分即可。</a:t>
            </a:r>
            <a:endParaRPr lang="zh-CN" altLang="en-US" sz="2800">
              <a:sym typeface="+mn-ea"/>
            </a:endParaRPr>
          </a:p>
        </p:txBody>
      </p:sp>
      <p:sp>
        <p:nvSpPr>
          <p:cNvPr id="15"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静态树上</a:t>
            </a:r>
            <a:r>
              <a:rPr lang="en-US" altLang="zh-CN">
                <a:solidFill>
                  <a:schemeClr val="tx1"/>
                </a:solidFill>
              </a:rPr>
              <a:t>k</a:t>
            </a:r>
            <a:r>
              <a:rPr lang="zh-CN" altLang="en-US">
                <a:solidFill>
                  <a:schemeClr val="tx1"/>
                </a:solidFill>
              </a:rPr>
              <a:t>大值</a:t>
            </a:r>
            <a:endParaRPr lang="zh-CN" altLang="en-US">
              <a:solidFill>
                <a:schemeClr val="tx1"/>
              </a:solidFill>
            </a:endParaRPr>
          </a:p>
        </p:txBody>
      </p:sp>
      <p:sp>
        <p:nvSpPr>
          <p:cNvPr id="16" name=" 16"/>
          <p:cNvSpPr/>
          <p:nvPr/>
        </p:nvSpPr>
        <p:spPr>
          <a:xfrm>
            <a:off x="2548255" y="2348865"/>
            <a:ext cx="521970" cy="45402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7" name=" 16"/>
          <p:cNvSpPr/>
          <p:nvPr/>
        </p:nvSpPr>
        <p:spPr>
          <a:xfrm>
            <a:off x="2484755" y="3305810"/>
            <a:ext cx="649605" cy="53086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sz="1400">
                <a:solidFill>
                  <a:srgbClr val="FFFFFF"/>
                </a:solidFill>
              </a:rPr>
              <a:t>lca</a:t>
            </a:r>
            <a:endParaRPr lang="en-US" altLang="zh-CN" sz="1400">
              <a:solidFill>
                <a:srgbClr val="FFFFFF"/>
              </a:solidFill>
            </a:endParaRPr>
          </a:p>
        </p:txBody>
      </p:sp>
      <p:sp>
        <p:nvSpPr>
          <p:cNvPr id="18" name=" 16"/>
          <p:cNvSpPr/>
          <p:nvPr/>
        </p:nvSpPr>
        <p:spPr>
          <a:xfrm>
            <a:off x="1630045" y="5420995"/>
            <a:ext cx="521970" cy="45402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x</a:t>
            </a:r>
            <a:endParaRPr lang="en-US" altLang="zh-CN">
              <a:solidFill>
                <a:srgbClr val="FFFFFF"/>
              </a:solidFill>
            </a:endParaRPr>
          </a:p>
        </p:txBody>
      </p:sp>
      <p:sp>
        <p:nvSpPr>
          <p:cNvPr id="19" name=" 16"/>
          <p:cNvSpPr/>
          <p:nvPr/>
        </p:nvSpPr>
        <p:spPr>
          <a:xfrm>
            <a:off x="3486150" y="4594225"/>
            <a:ext cx="521970" cy="45402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y</a:t>
            </a:r>
            <a:endParaRPr lang="en-US" altLang="zh-CN">
              <a:solidFill>
                <a:srgbClr val="FFFFFF"/>
              </a:solidFill>
            </a:endParaRPr>
          </a:p>
        </p:txBody>
      </p:sp>
      <p:sp>
        <p:nvSpPr>
          <p:cNvPr id="20" name="文本框 19"/>
          <p:cNvSpPr txBox="1"/>
          <p:nvPr/>
        </p:nvSpPr>
        <p:spPr>
          <a:xfrm>
            <a:off x="2386965" y="2404110"/>
            <a:ext cx="1515110" cy="398780"/>
          </a:xfrm>
          <a:prstGeom prst="rect">
            <a:avLst/>
          </a:prstGeom>
          <a:noFill/>
        </p:spPr>
        <p:txBody>
          <a:bodyPr wrap="square" rtlCol="0">
            <a:spAutoFit/>
          </a:bodyPr>
          <a:p>
            <a:pPr indent="0">
              <a:buFont typeface="Arial" panose="020B0604020202020204" pitchFamily="34" charset="0"/>
              <a:buNone/>
            </a:pPr>
            <a:r>
              <a:rPr lang="en-US" altLang="zh-CN" sz="2000">
                <a:sym typeface="+mn-ea"/>
              </a:rPr>
              <a:t>father</a:t>
            </a:r>
            <a:endParaRPr lang="en-US" altLang="zh-CN" sz="2000">
              <a:sym typeface="+mn-ea"/>
            </a:endParaRPr>
          </a:p>
        </p:txBody>
      </p:sp>
      <p:cxnSp>
        <p:nvCxnSpPr>
          <p:cNvPr id="22" name="直接箭头连接符 21"/>
          <p:cNvCxnSpPr>
            <a:endCxn id="17" idx="0"/>
          </p:cNvCxnSpPr>
          <p:nvPr/>
        </p:nvCxnSpPr>
        <p:spPr>
          <a:xfrm>
            <a:off x="2769235" y="2569210"/>
            <a:ext cx="40640" cy="736600"/>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endCxn id="18" idx="0"/>
          </p:cNvCxnSpPr>
          <p:nvPr/>
        </p:nvCxnSpPr>
        <p:spPr>
          <a:xfrm flipH="1">
            <a:off x="1891030" y="3814445"/>
            <a:ext cx="753110" cy="1606550"/>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endCxn id="19" idx="1"/>
          </p:cNvCxnSpPr>
          <p:nvPr/>
        </p:nvCxnSpPr>
        <p:spPr>
          <a:xfrm>
            <a:off x="3012440" y="3729355"/>
            <a:ext cx="549910" cy="931545"/>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2050" name=" 2050"/>
          <p:cNvSpPr/>
          <p:nvPr/>
        </p:nvSpPr>
        <p:spPr bwMode="auto">
          <a:xfrm rot="1080000" flipH="1">
            <a:off x="1600835" y="2590165"/>
            <a:ext cx="492760" cy="2668270"/>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25" name=" 2050"/>
          <p:cNvSpPr/>
          <p:nvPr/>
        </p:nvSpPr>
        <p:spPr bwMode="auto">
          <a:xfrm rot="8640000" flipH="1">
            <a:off x="3479800" y="3110865"/>
            <a:ext cx="492760" cy="1553210"/>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Tree>
    <p:custDataLst>
      <p:tags r:id="rId4"/>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文本框 3"/>
          <p:cNvSpPr txBox="1"/>
          <p:nvPr/>
        </p:nvSpPr>
        <p:spPr>
          <a:xfrm>
            <a:off x="1070610" y="1851025"/>
            <a:ext cx="9959975" cy="521970"/>
          </a:xfrm>
          <a:prstGeom prst="rect">
            <a:avLst/>
          </a:prstGeom>
          <a:noFill/>
        </p:spPr>
        <p:txBody>
          <a:bodyPr wrap="square" rtlCol="0">
            <a:spAutoFit/>
          </a:bodyPr>
          <a:p>
            <a:pPr marL="457200" indent="-457200">
              <a:buFont typeface="Arial" panose="020B0604020202020204" pitchFamily="34" charset="0"/>
              <a:buChar char="•"/>
            </a:pPr>
            <a:r>
              <a:rPr lang="zh-CN" altLang="en-US" sz="2800">
                <a:sym typeface="+mn-ea"/>
              </a:rPr>
              <a:t>考虑：如果树上的值可以修改，该怎么做？</a:t>
            </a:r>
            <a:endParaRPr lang="zh-CN" altLang="en-US" sz="2800">
              <a:sym typeface="+mn-ea"/>
            </a:endParaRPr>
          </a:p>
        </p:txBody>
      </p:sp>
      <p:sp>
        <p:nvSpPr>
          <p:cNvPr id="6" name="文本框 5"/>
          <p:cNvSpPr txBox="1"/>
          <p:nvPr/>
        </p:nvSpPr>
        <p:spPr>
          <a:xfrm>
            <a:off x="1070610" y="2889250"/>
            <a:ext cx="9959340" cy="267652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此时如果子节点复制父亲节点的话，是没有办法用树状数组的。</a:t>
            </a:r>
            <a:endParaRPr lang="zh-CN" altLang="zh-CN" sz="2800">
              <a:sym typeface="+mn-ea"/>
            </a:endParaRPr>
          </a:p>
          <a:p>
            <a:pPr marL="457200" indent="-457200">
              <a:buFont typeface="Arial" panose="020B0604020202020204" pitchFamily="34" charset="0"/>
              <a:buChar char="•"/>
            </a:pPr>
            <a:r>
              <a:rPr lang="zh-CN" altLang="zh-CN" sz="2800">
                <a:sym typeface="+mn-ea"/>
              </a:rPr>
              <a:t>但仍然可以用</a:t>
            </a:r>
            <a:r>
              <a:rPr lang="en-US" altLang="zh-CN" sz="2800">
                <a:sym typeface="+mn-ea"/>
              </a:rPr>
              <a:t>dfs</a:t>
            </a:r>
            <a:r>
              <a:rPr lang="zh-CN" altLang="en-US" sz="2800">
                <a:sym typeface="+mn-ea"/>
              </a:rPr>
              <a:t>序，此时树上主席树就等于转化为了序列上的主席树，就可以套树状数组了。</a:t>
            </a:r>
            <a:endParaRPr lang="zh-CN" altLang="en-US" sz="2800">
              <a:sym typeface="+mn-ea"/>
            </a:endParaRPr>
          </a:p>
          <a:p>
            <a:pPr marL="457200" indent="-457200">
              <a:buFont typeface="Arial" panose="020B0604020202020204" pitchFamily="34" charset="0"/>
              <a:buChar char="•"/>
            </a:pPr>
            <a:r>
              <a:rPr lang="zh-CN" altLang="en-US" sz="2800">
                <a:sym typeface="+mn-ea"/>
              </a:rPr>
              <a:t>插入进栈</a:t>
            </a:r>
            <a:r>
              <a:rPr lang="en-US" altLang="zh-CN" sz="2800">
                <a:sym typeface="+mn-ea"/>
              </a:rPr>
              <a:t>+1</a:t>
            </a:r>
            <a:r>
              <a:rPr lang="zh-CN" altLang="zh-CN" sz="2800">
                <a:sym typeface="+mn-ea"/>
              </a:rPr>
              <a:t>，出栈</a:t>
            </a:r>
            <a:r>
              <a:rPr lang="en-US" altLang="zh-CN" sz="2800">
                <a:sym typeface="+mn-ea"/>
              </a:rPr>
              <a:t>-1</a:t>
            </a:r>
            <a:r>
              <a:rPr lang="zh-CN" altLang="zh-CN" sz="2800">
                <a:sym typeface="+mn-ea"/>
              </a:rPr>
              <a:t>。删除只需在原来进栈的点</a:t>
            </a:r>
            <a:r>
              <a:rPr lang="en-US" altLang="zh-CN" sz="2800">
                <a:sym typeface="+mn-ea"/>
              </a:rPr>
              <a:t>-1</a:t>
            </a:r>
            <a:r>
              <a:rPr lang="zh-CN" altLang="en-US" sz="2800">
                <a:sym typeface="+mn-ea"/>
              </a:rPr>
              <a:t>，出栈的点</a:t>
            </a:r>
            <a:r>
              <a:rPr lang="en-US" altLang="zh-CN" sz="2800">
                <a:sym typeface="+mn-ea"/>
              </a:rPr>
              <a:t>+1</a:t>
            </a:r>
            <a:r>
              <a:rPr lang="zh-CN" altLang="zh-CN" sz="2800">
                <a:sym typeface="+mn-ea"/>
              </a:rPr>
              <a:t>。</a:t>
            </a:r>
            <a:endParaRPr lang="zh-CN" altLang="zh-CN" sz="2800">
              <a:sym typeface="+mn-ea"/>
            </a:endParaRPr>
          </a:p>
        </p:txBody>
      </p:sp>
      <p:sp>
        <p:nvSpPr>
          <p:cNvPr id="165"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动态树上</a:t>
            </a:r>
            <a:r>
              <a:rPr lang="en-US" altLang="zh-CN">
                <a:solidFill>
                  <a:schemeClr val="tx1"/>
                </a:solidFill>
              </a:rPr>
              <a:t>k</a:t>
            </a:r>
            <a:r>
              <a:rPr lang="zh-CN" altLang="en-US">
                <a:solidFill>
                  <a:schemeClr val="tx1"/>
                </a:solidFill>
              </a:rPr>
              <a:t>大值 </a:t>
            </a:r>
            <a:r>
              <a:rPr lang="en-US" altLang="zh-CN">
                <a:solidFill>
                  <a:schemeClr val="tx1"/>
                </a:solidFill>
              </a:rPr>
              <a:t>1.0</a:t>
            </a:r>
            <a:endParaRPr lang="en-US" altLang="zh-CN">
              <a:solidFill>
                <a:schemeClr val="tx1"/>
              </a:solidFill>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文本框 3"/>
          <p:cNvSpPr txBox="1"/>
          <p:nvPr/>
        </p:nvSpPr>
        <p:spPr>
          <a:xfrm>
            <a:off x="1070610" y="1851025"/>
            <a:ext cx="9959975" cy="1383665"/>
          </a:xfrm>
          <a:prstGeom prst="rect">
            <a:avLst/>
          </a:prstGeom>
          <a:noFill/>
        </p:spPr>
        <p:txBody>
          <a:bodyPr wrap="square" rtlCol="0">
            <a:spAutoFit/>
          </a:bodyPr>
          <a:p>
            <a:pPr marL="457200" indent="-457200">
              <a:buFont typeface="Arial" panose="020B0604020202020204" pitchFamily="34" charset="0"/>
              <a:buChar char="•"/>
            </a:pPr>
            <a:r>
              <a:rPr lang="en-US" altLang="zh-CN" sz="2800">
                <a:sym typeface="+mn-ea"/>
              </a:rPr>
              <a:t>Kth-number </a:t>
            </a:r>
            <a:r>
              <a:rPr lang="zh-CN" altLang="en-US" sz="2800">
                <a:sym typeface="+mn-ea"/>
              </a:rPr>
              <a:t>（</a:t>
            </a:r>
            <a:r>
              <a:rPr lang="en-US" altLang="zh-CN" sz="2800">
                <a:sym typeface="+mn-ea"/>
              </a:rPr>
              <a:t>bzoj 3123</a:t>
            </a:r>
            <a:r>
              <a:rPr lang="zh-CN" altLang="en-US" sz="2800">
                <a:sym typeface="+mn-ea"/>
              </a:rPr>
              <a:t>）</a:t>
            </a:r>
            <a:endParaRPr lang="zh-CN" altLang="en-US" sz="2800">
              <a:sym typeface="+mn-ea"/>
            </a:endParaRPr>
          </a:p>
          <a:p>
            <a:pPr marL="457200" indent="-457200">
              <a:buFont typeface="Arial" panose="020B0604020202020204" pitchFamily="34" charset="0"/>
              <a:buChar char="•"/>
            </a:pPr>
            <a:r>
              <a:rPr lang="zh-CN" altLang="en-US" sz="2800">
                <a:sym typeface="+mn-ea"/>
              </a:rPr>
              <a:t>初始给出一片森林，求树上任意两个点之间的第</a:t>
            </a:r>
            <a:r>
              <a:rPr lang="en-US" altLang="zh-CN" sz="2800">
                <a:sym typeface="+mn-ea"/>
              </a:rPr>
              <a:t>k</a:t>
            </a:r>
            <a:r>
              <a:rPr lang="zh-CN" altLang="en-US" sz="2800">
                <a:sym typeface="+mn-ea"/>
              </a:rPr>
              <a:t>小（大）值，有操作可以合并两棵树。</a:t>
            </a:r>
            <a:endParaRPr lang="zh-CN" altLang="en-US" sz="2800">
              <a:sym typeface="+mn-ea"/>
            </a:endParaRPr>
          </a:p>
        </p:txBody>
      </p:sp>
      <p:sp>
        <p:nvSpPr>
          <p:cNvPr id="9" name="文本框 8"/>
          <p:cNvSpPr txBox="1"/>
          <p:nvPr/>
        </p:nvSpPr>
        <p:spPr>
          <a:xfrm>
            <a:off x="1070610" y="3308985"/>
            <a:ext cx="10107930" cy="95313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每次启发式合并，对于节点个数</a:t>
            </a:r>
            <a:r>
              <a:rPr lang="zh-CN" altLang="en-US" sz="2800">
                <a:sym typeface="+mn-ea"/>
              </a:rPr>
              <a:t>较小的那棵树直接暴力拆开，合并到较大的那棵主席树中。</a:t>
            </a:r>
            <a:endParaRPr lang="zh-CN" altLang="en-US" sz="2800">
              <a:sym typeface="+mn-ea"/>
            </a:endParaRPr>
          </a:p>
        </p:txBody>
      </p:sp>
      <p:sp>
        <p:nvSpPr>
          <p:cNvPr id="3" name="文本框 2"/>
          <p:cNvSpPr txBox="1"/>
          <p:nvPr/>
        </p:nvSpPr>
        <p:spPr>
          <a:xfrm>
            <a:off x="1004570" y="4336415"/>
            <a:ext cx="9663430" cy="95313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对于单个点来说，每次重新插入，它所在的树的大小</a:t>
            </a:r>
            <a:r>
              <a:rPr lang="zh-CN" altLang="en-US" sz="2800">
                <a:sym typeface="+mn-ea"/>
              </a:rPr>
              <a:t>至少会变为原来的二倍。树最大为</a:t>
            </a:r>
            <a:r>
              <a:rPr lang="en-US" altLang="zh-CN" sz="2800">
                <a:sym typeface="+mn-ea"/>
              </a:rPr>
              <a:t>n</a:t>
            </a:r>
            <a:r>
              <a:rPr lang="zh-CN" altLang="en-US" sz="2800">
                <a:sym typeface="+mn-ea"/>
              </a:rPr>
              <a:t>，也就是最多插入</a:t>
            </a:r>
            <a:r>
              <a:rPr lang="en-US" altLang="zh-CN" sz="2800">
                <a:sym typeface="+mn-ea"/>
              </a:rPr>
              <a:t>logn</a:t>
            </a:r>
            <a:r>
              <a:rPr lang="zh-CN" altLang="en-US" sz="2800">
                <a:sym typeface="+mn-ea"/>
              </a:rPr>
              <a:t>次。</a:t>
            </a:r>
            <a:endParaRPr lang="zh-CN" altLang="en-US" sz="2800">
              <a:sym typeface="+mn-ea"/>
            </a:endParaRPr>
          </a:p>
        </p:txBody>
      </p:sp>
      <p:sp>
        <p:nvSpPr>
          <p:cNvPr id="5" name="文本框 4"/>
          <p:cNvSpPr txBox="1"/>
          <p:nvPr/>
        </p:nvSpPr>
        <p:spPr>
          <a:xfrm>
            <a:off x="1004570" y="5320030"/>
            <a:ext cx="9885680" cy="521970"/>
          </a:xfrm>
          <a:prstGeom prst="rect">
            <a:avLst/>
          </a:prstGeom>
          <a:noFill/>
        </p:spPr>
        <p:txBody>
          <a:bodyPr wrap="square" rtlCol="0">
            <a:spAutoFit/>
          </a:bodyPr>
          <a:p>
            <a:pPr marL="457200" indent="-457200">
              <a:buFont typeface="Arial" panose="020B0604020202020204" pitchFamily="34" charset="0"/>
              <a:buChar char="•"/>
            </a:pPr>
            <a:r>
              <a:rPr lang="en-US" altLang="zh-CN" sz="2800">
                <a:sym typeface="+mn-ea"/>
              </a:rPr>
              <a:t>n</a:t>
            </a:r>
            <a:r>
              <a:rPr lang="zh-CN" altLang="en-US" sz="2800">
                <a:sym typeface="+mn-ea"/>
              </a:rPr>
              <a:t>个点，最多插入</a:t>
            </a:r>
            <a:r>
              <a:rPr lang="en-US" altLang="zh-CN" sz="2800">
                <a:sym typeface="+mn-ea"/>
              </a:rPr>
              <a:t>nlogn</a:t>
            </a:r>
            <a:r>
              <a:rPr lang="zh-CN" altLang="en-US" sz="2800">
                <a:sym typeface="+mn-ea"/>
              </a:rPr>
              <a:t>次，复杂度</a:t>
            </a:r>
            <a:r>
              <a:rPr lang="en-US" altLang="zh-CN" sz="2800">
                <a:sym typeface="+mn-ea"/>
              </a:rPr>
              <a:t>O(nlogn^2)</a:t>
            </a:r>
            <a:r>
              <a:rPr lang="zh-CN" altLang="zh-CN" sz="2800">
                <a:sym typeface="+mn-ea"/>
              </a:rPr>
              <a:t>。</a:t>
            </a:r>
            <a:endParaRPr lang="zh-CN" altLang="zh-CN" sz="2800">
              <a:sym typeface="+mn-ea"/>
            </a:endParaRPr>
          </a:p>
        </p:txBody>
      </p:sp>
      <p:sp>
        <p:nvSpPr>
          <p:cNvPr id="165"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动态树上</a:t>
            </a:r>
            <a:r>
              <a:rPr lang="en-US" altLang="zh-CN">
                <a:solidFill>
                  <a:schemeClr val="tx1"/>
                </a:solidFill>
              </a:rPr>
              <a:t>k</a:t>
            </a:r>
            <a:r>
              <a:rPr lang="zh-CN" altLang="en-US">
                <a:solidFill>
                  <a:schemeClr val="tx1"/>
                </a:solidFill>
              </a:rPr>
              <a:t>大值 </a:t>
            </a:r>
            <a:r>
              <a:rPr lang="en-US" altLang="zh-CN">
                <a:solidFill>
                  <a:schemeClr val="tx1"/>
                </a:solidFill>
              </a:rPr>
              <a:t>2.0</a:t>
            </a:r>
            <a:endParaRPr lang="en-US" altLang="zh-CN">
              <a:solidFill>
                <a:schemeClr val="tx1"/>
              </a:solidFill>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文本框 3"/>
          <p:cNvSpPr txBox="1"/>
          <p:nvPr/>
        </p:nvSpPr>
        <p:spPr>
          <a:xfrm>
            <a:off x="1070610" y="1851025"/>
            <a:ext cx="9959975" cy="2676525"/>
          </a:xfrm>
          <a:prstGeom prst="rect">
            <a:avLst/>
          </a:prstGeom>
          <a:noFill/>
        </p:spPr>
        <p:txBody>
          <a:bodyPr wrap="square" rtlCol="0">
            <a:spAutoFit/>
          </a:bodyPr>
          <a:p>
            <a:pPr marL="457200" indent="-457200">
              <a:buFont typeface="Arial" panose="020B0604020202020204" pitchFamily="34" charset="0"/>
              <a:buChar char="•"/>
            </a:pPr>
            <a:r>
              <a:rPr lang="en-US" altLang="zh-CN" sz="2800">
                <a:sym typeface="+mn-ea"/>
              </a:rPr>
              <a:t>Peaks </a:t>
            </a:r>
            <a:r>
              <a:rPr lang="zh-CN" altLang="en-US" sz="2800">
                <a:sym typeface="+mn-ea"/>
              </a:rPr>
              <a:t>（</a:t>
            </a:r>
            <a:r>
              <a:rPr lang="en-US" altLang="zh-CN" sz="2800">
                <a:sym typeface="+mn-ea"/>
              </a:rPr>
              <a:t>bzoj 3545</a:t>
            </a:r>
            <a:r>
              <a:rPr lang="zh-CN" altLang="en-US" sz="2800">
                <a:sym typeface="+mn-ea"/>
              </a:rPr>
              <a:t>）</a:t>
            </a:r>
            <a:endParaRPr lang="zh-CN" altLang="en-US" sz="2800">
              <a:sym typeface="+mn-ea"/>
            </a:endParaRPr>
          </a:p>
          <a:p>
            <a:pPr marL="457200" indent="-457200">
              <a:buFont typeface="Arial" panose="020B0604020202020204" pitchFamily="34" charset="0"/>
              <a:buChar char="•"/>
            </a:pPr>
            <a:r>
              <a:rPr sz="2800">
                <a:sym typeface="+mn-ea"/>
              </a:rPr>
              <a:t>在Bytemountains有N座山峰，每座山峰有他的高度h_i。有些山峰之间有双向道路相连，共M条路径，每条路径有一个困难值，这个值越大表示越难走，现在有Q组询问，每组询问询问从点v开始只经过困难值小于等于x的路径所能到达的山峰中第k高的山峰，如果无解输出-1。</a:t>
            </a:r>
            <a:endParaRPr sz="2800">
              <a:sym typeface="+mn-ea"/>
            </a:endParaRPr>
          </a:p>
        </p:txBody>
      </p:sp>
      <p:sp>
        <p:nvSpPr>
          <p:cNvPr id="6" name="文本框 5"/>
          <p:cNvSpPr txBox="1"/>
          <p:nvPr/>
        </p:nvSpPr>
        <p:spPr>
          <a:xfrm>
            <a:off x="1070610" y="4716145"/>
            <a:ext cx="9695815" cy="52197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此题并没有强制在线，那我们就可以考虑离线算法。</a:t>
            </a:r>
            <a:endParaRPr lang="zh-CN" altLang="zh-CN" sz="2800">
              <a:sym typeface="+mn-ea"/>
            </a:endParaRPr>
          </a:p>
        </p:txBody>
      </p:sp>
      <p:sp>
        <p:nvSpPr>
          <p:cNvPr id="165"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动态树上</a:t>
            </a:r>
            <a:r>
              <a:rPr lang="en-US" altLang="zh-CN">
                <a:solidFill>
                  <a:schemeClr val="tx1"/>
                </a:solidFill>
              </a:rPr>
              <a:t>k</a:t>
            </a:r>
            <a:r>
              <a:rPr lang="zh-CN" altLang="en-US">
                <a:solidFill>
                  <a:schemeClr val="tx1"/>
                </a:solidFill>
              </a:rPr>
              <a:t>大值 </a:t>
            </a:r>
            <a:r>
              <a:rPr lang="en-US" altLang="zh-CN">
                <a:solidFill>
                  <a:schemeClr val="tx1"/>
                </a:solidFill>
              </a:rPr>
              <a:t>2.0</a:t>
            </a:r>
            <a:endParaRPr lang="en-US" altLang="zh-CN">
              <a:solidFill>
                <a:schemeClr val="tx1"/>
              </a:solidFill>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文本框 3"/>
          <p:cNvSpPr txBox="1"/>
          <p:nvPr/>
        </p:nvSpPr>
        <p:spPr>
          <a:xfrm>
            <a:off x="1070610" y="1851025"/>
            <a:ext cx="9959975" cy="2245360"/>
          </a:xfrm>
          <a:prstGeom prst="rect">
            <a:avLst/>
          </a:prstGeom>
          <a:noFill/>
        </p:spPr>
        <p:txBody>
          <a:bodyPr wrap="square" rtlCol="0">
            <a:spAutoFit/>
          </a:bodyPr>
          <a:p>
            <a:pPr marL="457200" indent="-457200">
              <a:buFont typeface="Arial" panose="020B0604020202020204" pitchFamily="34" charset="0"/>
              <a:buChar char="•"/>
            </a:pPr>
            <a:r>
              <a:rPr lang="zh-CN" altLang="en-US" sz="2800">
                <a:sym typeface="+mn-ea"/>
              </a:rPr>
              <a:t>将所有的边和询问，分别按困难值由小到大排序。</a:t>
            </a:r>
            <a:endParaRPr lang="zh-CN" altLang="en-US" sz="2800">
              <a:sym typeface="+mn-ea"/>
            </a:endParaRPr>
          </a:p>
          <a:p>
            <a:pPr indent="0">
              <a:buFont typeface="Arial" panose="020B0604020202020204" pitchFamily="34" charset="0"/>
              <a:buNone/>
            </a:pPr>
            <a:endParaRPr lang="zh-CN" altLang="en-US" sz="2800">
              <a:sym typeface="+mn-ea"/>
            </a:endParaRPr>
          </a:p>
          <a:p>
            <a:pPr marL="457200" indent="-457200">
              <a:buFont typeface="Arial" panose="020B0604020202020204" pitchFamily="34" charset="0"/>
              <a:buChar char="•"/>
            </a:pPr>
            <a:r>
              <a:rPr lang="zh-CN" sz="2800">
                <a:sym typeface="+mn-ea"/>
              </a:rPr>
              <a:t>从困难值最小的边开始，不断加边，相当于合并两个联通块。</a:t>
            </a:r>
            <a:endParaRPr lang="zh-CN" sz="2800">
              <a:sym typeface="+mn-ea"/>
            </a:endParaRPr>
          </a:p>
          <a:p>
            <a:pPr marL="457200" indent="-457200">
              <a:buFont typeface="Arial" panose="020B0604020202020204" pitchFamily="34" charset="0"/>
              <a:buChar char="•"/>
            </a:pPr>
            <a:r>
              <a:rPr lang="zh-CN" sz="2800">
                <a:sym typeface="+mn-ea"/>
              </a:rPr>
              <a:t>当小于等于一个询问的困难值的所有边都加入后，就可以查询当前的询问点。</a:t>
            </a:r>
            <a:endParaRPr lang="zh-CN" sz="2800">
              <a:sym typeface="+mn-ea"/>
            </a:endParaRPr>
          </a:p>
        </p:txBody>
      </p:sp>
      <p:sp>
        <p:nvSpPr>
          <p:cNvPr id="3" name="文本框 2"/>
          <p:cNvSpPr txBox="1"/>
          <p:nvPr/>
        </p:nvSpPr>
        <p:spPr>
          <a:xfrm>
            <a:off x="1070610" y="4215130"/>
            <a:ext cx="9761855" cy="95313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这样不断合并联通块的操作与树的合并相同，操作与上一题本质上无异。</a:t>
            </a:r>
            <a:endParaRPr lang="zh-CN" altLang="zh-CN" sz="2800">
              <a:sym typeface="+mn-ea"/>
            </a:endParaRPr>
          </a:p>
        </p:txBody>
      </p:sp>
      <p:sp>
        <p:nvSpPr>
          <p:cNvPr id="165"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动态树上</a:t>
            </a:r>
            <a:r>
              <a:rPr lang="en-US" altLang="zh-CN">
                <a:solidFill>
                  <a:schemeClr val="tx1"/>
                </a:solidFill>
              </a:rPr>
              <a:t>k</a:t>
            </a:r>
            <a:r>
              <a:rPr lang="zh-CN" altLang="en-US">
                <a:solidFill>
                  <a:schemeClr val="tx1"/>
                </a:solidFill>
              </a:rPr>
              <a:t>大值 </a:t>
            </a:r>
            <a:r>
              <a:rPr lang="en-US" altLang="zh-CN">
                <a:solidFill>
                  <a:schemeClr val="tx1"/>
                </a:solidFill>
              </a:rPr>
              <a:t>2.0</a:t>
            </a:r>
            <a:endParaRPr lang="en-US" altLang="zh-CN">
              <a:solidFill>
                <a:schemeClr val="tx1"/>
              </a:solidFill>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文本框 3"/>
          <p:cNvSpPr txBox="1"/>
          <p:nvPr/>
        </p:nvSpPr>
        <p:spPr>
          <a:xfrm>
            <a:off x="1070610" y="1851025"/>
            <a:ext cx="9959975" cy="953135"/>
          </a:xfrm>
          <a:prstGeom prst="rect">
            <a:avLst/>
          </a:prstGeom>
          <a:noFill/>
        </p:spPr>
        <p:txBody>
          <a:bodyPr wrap="square" rtlCol="0">
            <a:spAutoFit/>
          </a:bodyPr>
          <a:p>
            <a:pPr marL="457200" indent="-457200">
              <a:buFont typeface="Arial" panose="020B0604020202020204" pitchFamily="34" charset="0"/>
              <a:buChar char="•"/>
            </a:pPr>
            <a:r>
              <a:rPr lang="en-US" altLang="zh-CN" sz="2800">
                <a:sym typeface="+mn-ea"/>
              </a:rPr>
              <a:t>Peaks </a:t>
            </a:r>
            <a:r>
              <a:rPr lang="zh-CN" altLang="en-US" sz="2800">
                <a:sym typeface="+mn-ea"/>
              </a:rPr>
              <a:t>（</a:t>
            </a:r>
            <a:r>
              <a:rPr lang="en-US" altLang="zh-CN" sz="2800">
                <a:sym typeface="+mn-ea"/>
              </a:rPr>
              <a:t>bzoj 3551</a:t>
            </a:r>
            <a:r>
              <a:rPr lang="zh-CN" altLang="en-US" sz="2800">
                <a:sym typeface="+mn-ea"/>
              </a:rPr>
              <a:t>）</a:t>
            </a:r>
            <a:endParaRPr lang="zh-CN" altLang="en-US" sz="2800">
              <a:sym typeface="+mn-ea"/>
            </a:endParaRPr>
          </a:p>
          <a:p>
            <a:pPr marL="457200" indent="-457200">
              <a:buFont typeface="Arial" panose="020B0604020202020204" pitchFamily="34" charset="0"/>
              <a:buChar char="•"/>
            </a:pPr>
            <a:r>
              <a:rPr lang="zh-CN" sz="2800">
                <a:sym typeface="+mn-ea"/>
              </a:rPr>
              <a:t>题意与上一题相同，不过强制在线。</a:t>
            </a:r>
            <a:endParaRPr lang="zh-CN" sz="2800">
              <a:sym typeface="+mn-ea"/>
            </a:endParaRPr>
          </a:p>
        </p:txBody>
      </p:sp>
      <p:sp>
        <p:nvSpPr>
          <p:cNvPr id="6" name="文本框 5"/>
          <p:cNvSpPr txBox="1"/>
          <p:nvPr/>
        </p:nvSpPr>
        <p:spPr>
          <a:xfrm>
            <a:off x="1070610" y="3111500"/>
            <a:ext cx="9959975" cy="953135"/>
          </a:xfrm>
          <a:prstGeom prst="rect">
            <a:avLst/>
          </a:prstGeom>
          <a:noFill/>
        </p:spPr>
        <p:txBody>
          <a:bodyPr wrap="square" rtlCol="0">
            <a:spAutoFit/>
          </a:bodyPr>
          <a:p>
            <a:pPr marL="457200" indent="-457200">
              <a:buFont typeface="Arial" panose="020B0604020202020204" pitchFamily="34" charset="0"/>
              <a:buChar char="•"/>
            </a:pPr>
            <a:r>
              <a:rPr lang="zh-CN" altLang="en-US" sz="2800">
                <a:sym typeface="+mn-ea"/>
              </a:rPr>
              <a:t>不能离线，查询的时候，点只能通过困难值在一定范围内的边。那么肯定还是要按照顺序加边，关键是怎样加？</a:t>
            </a:r>
            <a:endParaRPr lang="zh-CN" altLang="en-US" sz="2800">
              <a:sym typeface="+mn-ea"/>
            </a:endParaRPr>
          </a:p>
        </p:txBody>
      </p:sp>
      <p:sp>
        <p:nvSpPr>
          <p:cNvPr id="3" name="文本框 2"/>
          <p:cNvSpPr txBox="1"/>
          <p:nvPr/>
        </p:nvSpPr>
        <p:spPr>
          <a:xfrm>
            <a:off x="1070610" y="4371975"/>
            <a:ext cx="9959975" cy="138366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每次要建边时，我们新建一个点，让边的两个端点所在的联通块的代表点分别作为它的左右儿子节点，然后这个新建的点，就成为这整个连通块的代表点，点权为连边的值。</a:t>
            </a:r>
            <a:endParaRPr lang="zh-CN" altLang="zh-CN" sz="2800">
              <a:sym typeface="+mn-ea"/>
            </a:endParaRPr>
          </a:p>
        </p:txBody>
      </p:sp>
      <p:sp>
        <p:nvSpPr>
          <p:cNvPr id="165"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动态树上</a:t>
            </a:r>
            <a:r>
              <a:rPr lang="en-US" altLang="zh-CN">
                <a:solidFill>
                  <a:schemeClr val="tx1"/>
                </a:solidFill>
              </a:rPr>
              <a:t>k</a:t>
            </a:r>
            <a:r>
              <a:rPr lang="zh-CN" altLang="en-US">
                <a:solidFill>
                  <a:schemeClr val="tx1"/>
                </a:solidFill>
              </a:rPr>
              <a:t>大值（</a:t>
            </a:r>
            <a:r>
              <a:rPr lang="en-US" altLang="zh-CN">
                <a:solidFill>
                  <a:schemeClr val="tx1"/>
                </a:solidFill>
              </a:rPr>
              <a:t>kruskal</a:t>
            </a:r>
            <a:r>
              <a:rPr lang="zh-CN" altLang="en-US">
                <a:solidFill>
                  <a:schemeClr val="tx1"/>
                </a:solidFill>
              </a:rPr>
              <a:t>特别版）</a:t>
            </a:r>
            <a:endParaRPr lang="en-US" altLang="zh-CN">
              <a:solidFill>
                <a:schemeClr val="tx1"/>
              </a:solidFill>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14" name="图片 13"/>
          <p:cNvPicPr>
            <a:picLocks noChangeAspect="1"/>
          </p:cNvPicPr>
          <p:nvPr/>
        </p:nvPicPr>
        <p:blipFill>
          <a:blip r:embed="rId4"/>
          <a:stretch>
            <a:fillRect/>
          </a:stretch>
        </p:blipFill>
        <p:spPr>
          <a:xfrm>
            <a:off x="1250315" y="2096770"/>
            <a:ext cx="4699000" cy="3418205"/>
          </a:xfrm>
          <a:prstGeom prst="rect">
            <a:avLst/>
          </a:prstGeom>
        </p:spPr>
      </p:pic>
      <p:sp>
        <p:nvSpPr>
          <p:cNvPr id="15" name="文本框 14"/>
          <p:cNvSpPr txBox="1"/>
          <p:nvPr/>
        </p:nvSpPr>
        <p:spPr>
          <a:xfrm>
            <a:off x="5469890" y="2096770"/>
            <a:ext cx="5593080" cy="310769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例如：</a:t>
            </a:r>
            <a:endParaRPr lang="zh-CN" altLang="zh-CN" sz="2800">
              <a:sym typeface="+mn-ea"/>
            </a:endParaRPr>
          </a:p>
          <a:p>
            <a:pPr marL="457200" indent="-457200">
              <a:buFont typeface="Arial" panose="020B0604020202020204" pitchFamily="34" charset="0"/>
              <a:buChar char="•"/>
            </a:pPr>
            <a:r>
              <a:rPr lang="zh-CN" altLang="zh-CN" sz="2800">
                <a:sym typeface="+mn-ea"/>
              </a:rPr>
              <a:t>首先连接（</a:t>
            </a:r>
            <a:r>
              <a:rPr lang="en-US" altLang="zh-CN" sz="2800">
                <a:sym typeface="+mn-ea"/>
              </a:rPr>
              <a:t>1,2</a:t>
            </a:r>
            <a:r>
              <a:rPr lang="zh-CN" altLang="zh-CN" sz="2800">
                <a:sym typeface="+mn-ea"/>
              </a:rPr>
              <a:t>），新建一个点</a:t>
            </a:r>
            <a:r>
              <a:rPr lang="en-US" altLang="zh-CN" sz="2800">
                <a:sym typeface="+mn-ea"/>
              </a:rPr>
              <a:t>5</a:t>
            </a:r>
            <a:r>
              <a:rPr lang="zh-CN" altLang="en-US" sz="2800">
                <a:sym typeface="+mn-ea"/>
              </a:rPr>
              <a:t>。</a:t>
            </a:r>
            <a:endParaRPr lang="zh-CN" altLang="en-US" sz="2800">
              <a:sym typeface="+mn-ea"/>
            </a:endParaRPr>
          </a:p>
          <a:p>
            <a:pPr marL="457200" indent="-457200">
              <a:buFont typeface="Arial" panose="020B0604020202020204" pitchFamily="34" charset="0"/>
              <a:buChar char="•"/>
            </a:pPr>
            <a:r>
              <a:rPr lang="zh-CN" altLang="en-US" sz="2800">
                <a:sym typeface="+mn-ea"/>
              </a:rPr>
              <a:t>再连接（</a:t>
            </a:r>
            <a:r>
              <a:rPr lang="en-US" altLang="zh-CN" sz="2800">
                <a:sym typeface="+mn-ea"/>
              </a:rPr>
              <a:t>3,4</a:t>
            </a:r>
            <a:r>
              <a:rPr lang="zh-CN" altLang="en-US" sz="2800">
                <a:sym typeface="+mn-ea"/>
              </a:rPr>
              <a:t>），新建一个点</a:t>
            </a:r>
            <a:r>
              <a:rPr lang="en-US" altLang="zh-CN" sz="2800">
                <a:sym typeface="+mn-ea"/>
              </a:rPr>
              <a:t>6</a:t>
            </a:r>
            <a:r>
              <a:rPr lang="zh-CN" altLang="en-US" sz="2800">
                <a:sym typeface="+mn-ea"/>
              </a:rPr>
              <a:t>。</a:t>
            </a:r>
            <a:endParaRPr lang="zh-CN" altLang="en-US" sz="2800">
              <a:sym typeface="+mn-ea"/>
            </a:endParaRPr>
          </a:p>
          <a:p>
            <a:pPr marL="457200" indent="-457200">
              <a:buFont typeface="Arial" panose="020B0604020202020204" pitchFamily="34" charset="0"/>
              <a:buChar char="•"/>
            </a:pPr>
            <a:r>
              <a:rPr lang="zh-CN" altLang="en-US" sz="2800">
                <a:sym typeface="+mn-ea"/>
              </a:rPr>
              <a:t>然后连接（</a:t>
            </a:r>
            <a:r>
              <a:rPr lang="en-US" altLang="zh-CN" sz="2800">
                <a:sym typeface="+mn-ea"/>
              </a:rPr>
              <a:t>1,3</a:t>
            </a:r>
            <a:r>
              <a:rPr lang="zh-CN" altLang="en-US" sz="2800">
                <a:sym typeface="+mn-ea"/>
              </a:rPr>
              <a:t>），实际上是连接它们各自联通块的代表点（</a:t>
            </a:r>
            <a:r>
              <a:rPr lang="en-US" altLang="zh-CN" sz="2800">
                <a:sym typeface="+mn-ea"/>
              </a:rPr>
              <a:t>5,6</a:t>
            </a:r>
            <a:r>
              <a:rPr lang="zh-CN" altLang="en-US" sz="2800">
                <a:sym typeface="+mn-ea"/>
              </a:rPr>
              <a:t>），再新建一个点</a:t>
            </a:r>
            <a:r>
              <a:rPr lang="en-US" altLang="zh-CN" sz="2800">
                <a:sym typeface="+mn-ea"/>
              </a:rPr>
              <a:t>7</a:t>
            </a:r>
            <a:r>
              <a:rPr lang="zh-CN" altLang="en-US" sz="2800">
                <a:sym typeface="+mn-ea"/>
              </a:rPr>
              <a:t>。</a:t>
            </a:r>
            <a:endParaRPr lang="zh-CN" altLang="en-US" sz="2800">
              <a:sym typeface="+mn-ea"/>
            </a:endParaRPr>
          </a:p>
        </p:txBody>
      </p:sp>
      <p:sp>
        <p:nvSpPr>
          <p:cNvPr id="165"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动态树上</a:t>
            </a:r>
            <a:r>
              <a:rPr lang="en-US" altLang="zh-CN">
                <a:solidFill>
                  <a:schemeClr val="tx1"/>
                </a:solidFill>
              </a:rPr>
              <a:t>k</a:t>
            </a:r>
            <a:r>
              <a:rPr lang="zh-CN" altLang="en-US">
                <a:solidFill>
                  <a:schemeClr val="tx1"/>
                </a:solidFill>
              </a:rPr>
              <a:t>大值（</a:t>
            </a:r>
            <a:r>
              <a:rPr lang="en-US" altLang="zh-CN">
                <a:solidFill>
                  <a:schemeClr val="tx1"/>
                </a:solidFill>
              </a:rPr>
              <a:t>kruskal</a:t>
            </a:r>
            <a:r>
              <a:rPr lang="zh-CN" altLang="en-US">
                <a:solidFill>
                  <a:schemeClr val="tx1"/>
                </a:solidFill>
              </a:rPr>
              <a:t>特别版）</a:t>
            </a:r>
            <a:endParaRPr lang="en-US" altLang="zh-CN">
              <a:solidFill>
                <a:schemeClr val="tx1"/>
              </a:solidFill>
            </a:endParaRPr>
          </a:p>
        </p:txBody>
      </p:sp>
    </p:spTree>
    <p:custDataLst>
      <p:tags r:id="rId5"/>
    </p:custData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65"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动态树上</a:t>
            </a:r>
            <a:r>
              <a:rPr lang="en-US" altLang="zh-CN">
                <a:solidFill>
                  <a:schemeClr val="tx1"/>
                </a:solidFill>
              </a:rPr>
              <a:t>k</a:t>
            </a:r>
            <a:r>
              <a:rPr lang="zh-CN" altLang="en-US">
                <a:solidFill>
                  <a:schemeClr val="tx1"/>
                </a:solidFill>
              </a:rPr>
              <a:t>大值（</a:t>
            </a:r>
            <a:r>
              <a:rPr lang="en-US" altLang="zh-CN">
                <a:solidFill>
                  <a:schemeClr val="tx1"/>
                </a:solidFill>
              </a:rPr>
              <a:t>kruskal</a:t>
            </a:r>
            <a:r>
              <a:rPr lang="zh-CN" altLang="en-US">
                <a:solidFill>
                  <a:schemeClr val="tx1"/>
                </a:solidFill>
              </a:rPr>
              <a:t>特别版）</a:t>
            </a:r>
            <a:endParaRPr lang="en-US" altLang="zh-CN">
              <a:solidFill>
                <a:schemeClr val="tx1"/>
              </a:solidFill>
            </a:endParaRPr>
          </a:p>
        </p:txBody>
      </p:sp>
      <p:sp>
        <p:nvSpPr>
          <p:cNvPr id="5" name="文本框 4"/>
          <p:cNvSpPr txBox="1"/>
          <p:nvPr/>
        </p:nvSpPr>
        <p:spPr>
          <a:xfrm>
            <a:off x="1094740" y="1785620"/>
            <a:ext cx="9839960" cy="396938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由于我们是按困难值由小到大建的边，所以可以保证一个点的所有子树节点的权值都小于等于它的权值，并且从它开始逐渐向子节点移动，权值是单调不上升的。</a:t>
            </a:r>
            <a:endParaRPr lang="zh-CN" altLang="zh-CN" sz="2800">
              <a:sym typeface="+mn-ea"/>
            </a:endParaRPr>
          </a:p>
          <a:p>
            <a:pPr marL="457200" indent="-457200">
              <a:buFont typeface="Arial" panose="020B0604020202020204" pitchFamily="34" charset="0"/>
              <a:buChar char="•"/>
            </a:pPr>
            <a:endParaRPr lang="zh-CN" altLang="zh-CN" sz="2800">
              <a:sym typeface="+mn-ea"/>
            </a:endParaRPr>
          </a:p>
          <a:p>
            <a:pPr marL="457200" indent="-457200">
              <a:buFont typeface="Arial" panose="020B0604020202020204" pitchFamily="34" charset="0"/>
              <a:buChar char="•"/>
            </a:pPr>
            <a:r>
              <a:rPr lang="zh-CN" altLang="zh-CN" sz="2800">
                <a:sym typeface="+mn-ea"/>
              </a:rPr>
              <a:t>查询时，首先可以在树上二分得到当前查询点所能够到达的最远的祖先点，那么它能够到达的连通块就是祖先点的子树中所有的叶节点。</a:t>
            </a:r>
            <a:endParaRPr lang="zh-CN" altLang="zh-CN" sz="2800">
              <a:sym typeface="+mn-ea"/>
            </a:endParaRPr>
          </a:p>
          <a:p>
            <a:pPr marL="457200" indent="-457200">
              <a:buFont typeface="Arial" panose="020B0604020202020204" pitchFamily="34" charset="0"/>
              <a:buChar char="•"/>
            </a:pPr>
            <a:endParaRPr lang="zh-CN" altLang="zh-CN" sz="2800">
              <a:sym typeface="+mn-ea"/>
            </a:endParaRPr>
          </a:p>
          <a:p>
            <a:pPr marL="457200" indent="-457200">
              <a:buFont typeface="Arial" panose="020B0604020202020204" pitchFamily="34" charset="0"/>
              <a:buChar char="•"/>
            </a:pPr>
            <a:r>
              <a:rPr lang="zh-CN" altLang="zh-CN" sz="2800">
                <a:sym typeface="+mn-ea"/>
              </a:rPr>
              <a:t>然后在这棵子树的线段树中查询第</a:t>
            </a:r>
            <a:r>
              <a:rPr lang="en-US" altLang="zh-CN" sz="2800">
                <a:sym typeface="+mn-ea"/>
              </a:rPr>
              <a:t>k</a:t>
            </a:r>
            <a:r>
              <a:rPr lang="zh-CN" altLang="en-US" sz="2800">
                <a:sym typeface="+mn-ea"/>
              </a:rPr>
              <a:t>大值就可以了。</a:t>
            </a:r>
            <a:endParaRPr lang="zh-CN" altLang="en-US" sz="2800">
              <a:sym typeface="+mn-ea"/>
            </a:endParaRPr>
          </a:p>
        </p:txBody>
      </p:sp>
    </p:spTree>
    <p:custDataLst>
      <p:tags r:id="rId4"/>
    </p:custData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文本框 3"/>
          <p:cNvSpPr txBox="1"/>
          <p:nvPr/>
        </p:nvSpPr>
        <p:spPr>
          <a:xfrm>
            <a:off x="1062355" y="1842770"/>
            <a:ext cx="9959975" cy="521970"/>
          </a:xfrm>
          <a:prstGeom prst="rect">
            <a:avLst/>
          </a:prstGeom>
          <a:noFill/>
        </p:spPr>
        <p:txBody>
          <a:bodyPr wrap="square" rtlCol="0">
            <a:spAutoFit/>
          </a:bodyPr>
          <a:p>
            <a:pPr marL="457200" indent="-457200">
              <a:buFont typeface="Arial" panose="020B0604020202020204" pitchFamily="34" charset="0"/>
              <a:buChar char="•"/>
            </a:pPr>
            <a:r>
              <a:rPr lang="zh-CN" sz="2800">
                <a:sym typeface="+mn-ea"/>
              </a:rPr>
              <a:t>然后来一些其它的题目。</a:t>
            </a:r>
            <a:endParaRPr lang="zh-CN" sz="2800">
              <a:sym typeface="+mn-ea"/>
            </a:endParaRPr>
          </a:p>
        </p:txBody>
      </p:sp>
      <p:sp>
        <p:nvSpPr>
          <p:cNvPr id="5" name="文本框 4"/>
          <p:cNvSpPr txBox="1"/>
          <p:nvPr/>
        </p:nvSpPr>
        <p:spPr>
          <a:xfrm>
            <a:off x="1062355" y="2427605"/>
            <a:ext cx="9960610" cy="181483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精神污染 （bzoj 3772）</a:t>
            </a:r>
            <a:endParaRPr lang="zh-CN" altLang="zh-CN" sz="2800">
              <a:sym typeface="+mn-ea"/>
            </a:endParaRPr>
          </a:p>
          <a:p>
            <a:pPr marL="457200" indent="-457200">
              <a:buFont typeface="Arial" panose="020B0604020202020204" pitchFamily="34" charset="0"/>
              <a:buChar char="•"/>
            </a:pPr>
            <a:r>
              <a:rPr lang="zh-CN" altLang="zh-CN" sz="2800">
                <a:sym typeface="+mn-ea"/>
              </a:rPr>
              <a:t>有一棵树，给出一些（</a:t>
            </a:r>
            <a:r>
              <a:rPr lang="en-US" altLang="zh-CN" sz="2800">
                <a:sym typeface="+mn-ea"/>
              </a:rPr>
              <a:t>x</a:t>
            </a:r>
            <a:r>
              <a:rPr lang="zh-CN" altLang="en-US" sz="2800">
                <a:sym typeface="+mn-ea"/>
              </a:rPr>
              <a:t>，</a:t>
            </a:r>
            <a:r>
              <a:rPr lang="en-US" altLang="zh-CN" sz="2800">
                <a:sym typeface="+mn-ea"/>
              </a:rPr>
              <a:t>y</a:t>
            </a:r>
            <a:r>
              <a:rPr lang="zh-CN" altLang="zh-CN" sz="2800">
                <a:sym typeface="+mn-ea"/>
              </a:rPr>
              <a:t>）的路径，任意两条路径不同。</a:t>
            </a:r>
            <a:endParaRPr lang="zh-CN" altLang="zh-CN" sz="2800">
              <a:sym typeface="+mn-ea"/>
            </a:endParaRPr>
          </a:p>
          <a:p>
            <a:pPr marL="457200" indent="-457200">
              <a:buFont typeface="Arial" panose="020B0604020202020204" pitchFamily="34" charset="0"/>
              <a:buChar char="•"/>
            </a:pPr>
            <a:r>
              <a:rPr lang="zh-CN" altLang="zh-CN" sz="2800">
                <a:sym typeface="+mn-ea"/>
              </a:rPr>
              <a:t>求有多少种两条路径的组合可以形成一条路径完全包含另一条路径。</a:t>
            </a:r>
            <a:endParaRPr lang="zh-CN" altLang="zh-CN" sz="2800">
              <a:sym typeface="+mn-ea"/>
            </a:endParaRPr>
          </a:p>
        </p:txBody>
      </p:sp>
      <p:sp>
        <p:nvSpPr>
          <p:cNvPr id="10" name="文本框 9"/>
          <p:cNvSpPr txBox="1"/>
          <p:nvPr/>
        </p:nvSpPr>
        <p:spPr>
          <a:xfrm>
            <a:off x="1062355" y="4389120"/>
            <a:ext cx="9959975" cy="138366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可以从两个角度考虑</a:t>
            </a:r>
            <a:endParaRPr lang="zh-CN" altLang="zh-CN" sz="2800">
              <a:sym typeface="+mn-ea"/>
            </a:endParaRPr>
          </a:p>
          <a:p>
            <a:pPr lvl="2" indent="-457200">
              <a:buFont typeface="Arial" panose="020B0604020202020204" pitchFamily="34" charset="0"/>
              <a:buChar char="•"/>
            </a:pPr>
            <a:r>
              <a:rPr lang="zh-CN" altLang="zh-CN" sz="2800">
                <a:sym typeface="+mn-ea"/>
              </a:rPr>
              <a:t>查询每条路径被多少条路径包含</a:t>
            </a:r>
            <a:endParaRPr lang="zh-CN" altLang="zh-CN" sz="2800">
              <a:sym typeface="+mn-ea"/>
            </a:endParaRPr>
          </a:p>
          <a:p>
            <a:pPr marL="914400" lvl="1" indent="-457200">
              <a:buFont typeface="Arial" panose="020B0604020202020204" pitchFamily="34" charset="0"/>
              <a:buChar char="•"/>
            </a:pPr>
            <a:r>
              <a:rPr lang="zh-CN" altLang="zh-CN" sz="2800">
                <a:sym typeface="+mn-ea"/>
              </a:rPr>
              <a:t>查询每条路径包含多少路径</a:t>
            </a:r>
            <a:endParaRPr lang="zh-CN" altLang="zh-CN" sz="2800">
              <a:sym typeface="+mn-ea"/>
            </a:endParaRPr>
          </a:p>
        </p:txBody>
      </p:sp>
      <p:sp>
        <p:nvSpPr>
          <p:cNvPr id="11"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特别系列</a:t>
            </a:r>
            <a:endParaRPr lang="en-US" altLang="zh-CN">
              <a:solidFill>
                <a:schemeClr val="tx1"/>
              </a:solidFill>
            </a:endParaRPr>
          </a:p>
        </p:txBody>
      </p:sp>
    </p:spTree>
    <p:custDataLst>
      <p:tags r:id="rId4"/>
    </p:custData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特别系列</a:t>
            </a:r>
            <a:endParaRPr lang="en-US" altLang="zh-CN">
              <a:solidFill>
                <a:schemeClr val="tx1"/>
              </a:solidFill>
            </a:endParaRPr>
          </a:p>
        </p:txBody>
      </p:sp>
      <p:sp>
        <p:nvSpPr>
          <p:cNvPr id="3" name="文本框 2"/>
          <p:cNvSpPr txBox="1"/>
          <p:nvPr/>
        </p:nvSpPr>
        <p:spPr>
          <a:xfrm>
            <a:off x="1062355" y="1842770"/>
            <a:ext cx="9950450" cy="138366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首先从第一种角度考虑</a:t>
            </a:r>
            <a:endParaRPr lang="zh-CN" altLang="zh-CN" sz="2800">
              <a:sym typeface="+mn-ea"/>
            </a:endParaRPr>
          </a:p>
          <a:p>
            <a:pPr marL="914400" lvl="1" indent="-457200">
              <a:buFont typeface="Arial" panose="020B0604020202020204" pitchFamily="34" charset="0"/>
              <a:buChar char="•"/>
            </a:pPr>
            <a:r>
              <a:rPr lang="zh-CN" altLang="zh-CN" sz="2800">
                <a:sym typeface="+mn-ea"/>
              </a:rPr>
              <a:t>将每条路径储存到随机选定的一个端点上，另一个端点的位置插入主席树中。</a:t>
            </a:r>
            <a:endParaRPr lang="zh-CN" altLang="zh-CN" sz="2800">
              <a:sym typeface="+mn-ea"/>
            </a:endParaRPr>
          </a:p>
        </p:txBody>
      </p:sp>
      <p:sp>
        <p:nvSpPr>
          <p:cNvPr id="13" name="文本框 12"/>
          <p:cNvSpPr txBox="1"/>
          <p:nvPr/>
        </p:nvSpPr>
        <p:spPr>
          <a:xfrm>
            <a:off x="1524000" y="3602990"/>
            <a:ext cx="6233795" cy="1814830"/>
          </a:xfrm>
          <a:prstGeom prst="rect">
            <a:avLst/>
          </a:prstGeom>
          <a:noFill/>
        </p:spPr>
        <p:txBody>
          <a:bodyPr wrap="square" rtlCol="0">
            <a:spAutoFit/>
          </a:bodyPr>
          <a:p>
            <a:pPr marL="457200" indent="-457200">
              <a:buFont typeface="Arial" panose="020B0604020202020204" pitchFamily="34" charset="0"/>
              <a:buChar char="•"/>
            </a:pPr>
            <a:r>
              <a:rPr lang="en-US" altLang="zh-CN" sz="2800">
                <a:sym typeface="+mn-ea"/>
              </a:rPr>
              <a:t>x</a:t>
            </a:r>
            <a:r>
              <a:rPr lang="zh-CN" altLang="en-US" sz="2800">
                <a:sym typeface="+mn-ea"/>
              </a:rPr>
              <a:t>，</a:t>
            </a:r>
            <a:r>
              <a:rPr lang="en-US" altLang="zh-CN" sz="2800">
                <a:sym typeface="+mn-ea"/>
              </a:rPr>
              <a:t>y</a:t>
            </a:r>
            <a:r>
              <a:rPr lang="zh-CN" altLang="en-US" sz="2800">
                <a:sym typeface="+mn-ea"/>
              </a:rPr>
              <a:t>都不是另一个点的祖先。这样如果有路径覆盖它，那么这条路径两端点一定分别在，</a:t>
            </a:r>
            <a:r>
              <a:rPr lang="en-US" altLang="zh-CN" sz="2800">
                <a:sym typeface="+mn-ea"/>
              </a:rPr>
              <a:t>x</a:t>
            </a:r>
            <a:r>
              <a:rPr lang="zh-CN" altLang="en-US" sz="2800">
                <a:sym typeface="+mn-ea"/>
              </a:rPr>
              <a:t>和</a:t>
            </a:r>
            <a:r>
              <a:rPr lang="en-US" altLang="zh-CN" sz="2800">
                <a:sym typeface="+mn-ea"/>
              </a:rPr>
              <a:t>y</a:t>
            </a:r>
            <a:r>
              <a:rPr lang="zh-CN" altLang="en-US" sz="2800">
                <a:sym typeface="+mn-ea"/>
              </a:rPr>
              <a:t>的子树中（包含</a:t>
            </a:r>
            <a:r>
              <a:rPr lang="en-US" altLang="zh-CN" sz="2800">
                <a:sym typeface="+mn-ea"/>
              </a:rPr>
              <a:t>x</a:t>
            </a:r>
            <a:r>
              <a:rPr lang="zh-CN" altLang="en-US" sz="2800">
                <a:sym typeface="+mn-ea"/>
              </a:rPr>
              <a:t>，</a:t>
            </a:r>
            <a:r>
              <a:rPr lang="en-US" altLang="zh-CN" sz="2800">
                <a:sym typeface="+mn-ea"/>
              </a:rPr>
              <a:t>y</a:t>
            </a:r>
            <a:r>
              <a:rPr lang="zh-CN" altLang="en-US" sz="2800">
                <a:sym typeface="+mn-ea"/>
              </a:rPr>
              <a:t>）。</a:t>
            </a:r>
            <a:r>
              <a:rPr lang="en-US" altLang="zh-CN" sz="2800">
                <a:sym typeface="+mn-ea"/>
              </a:rPr>
              <a:t>			   </a:t>
            </a:r>
            <a:endParaRPr lang="zh-CN" altLang="en-US" sz="2800">
              <a:sym typeface="+mn-ea"/>
            </a:endParaRPr>
          </a:p>
        </p:txBody>
      </p:sp>
      <p:sp>
        <p:nvSpPr>
          <p:cNvPr id="15" name=" 15"/>
          <p:cNvSpPr/>
          <p:nvPr/>
        </p:nvSpPr>
        <p:spPr>
          <a:xfrm>
            <a:off x="9336405" y="2761615"/>
            <a:ext cx="396240" cy="404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6" name=" 15"/>
          <p:cNvSpPr/>
          <p:nvPr/>
        </p:nvSpPr>
        <p:spPr>
          <a:xfrm>
            <a:off x="8334375" y="4540250"/>
            <a:ext cx="396240" cy="404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x</a:t>
            </a:r>
            <a:endParaRPr lang="en-US" altLang="zh-CN">
              <a:solidFill>
                <a:srgbClr val="FFFFFF"/>
              </a:solidFill>
            </a:endParaRPr>
          </a:p>
        </p:txBody>
      </p:sp>
      <p:sp>
        <p:nvSpPr>
          <p:cNvPr id="17" name=" 15"/>
          <p:cNvSpPr/>
          <p:nvPr/>
        </p:nvSpPr>
        <p:spPr>
          <a:xfrm>
            <a:off x="10271760" y="4194810"/>
            <a:ext cx="396240" cy="404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y</a:t>
            </a:r>
            <a:endParaRPr lang="en-US" altLang="zh-CN">
              <a:solidFill>
                <a:srgbClr val="FFFFFF"/>
              </a:solidFill>
            </a:endParaRPr>
          </a:p>
        </p:txBody>
      </p:sp>
      <p:cxnSp>
        <p:nvCxnSpPr>
          <p:cNvPr id="18" name="直接箭头连接符 17"/>
          <p:cNvCxnSpPr>
            <a:stCxn id="15" idx="3"/>
            <a:endCxn id="16" idx="7"/>
          </p:cNvCxnSpPr>
          <p:nvPr/>
        </p:nvCxnSpPr>
        <p:spPr>
          <a:xfrm flipH="1">
            <a:off x="8672830" y="3107055"/>
            <a:ext cx="721360" cy="1492250"/>
          </a:xfrm>
          <a:prstGeom prst="straightConnector1">
            <a:avLst/>
          </a:prstGeom>
          <a:ln w="12700" cmpd="sng">
            <a:solidFill>
              <a:schemeClr val="accent1">
                <a:shade val="50000"/>
              </a:schemeClr>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endCxn id="17" idx="1"/>
          </p:cNvCxnSpPr>
          <p:nvPr/>
        </p:nvCxnSpPr>
        <p:spPr>
          <a:xfrm>
            <a:off x="9665970" y="3048000"/>
            <a:ext cx="663575" cy="1205865"/>
          </a:xfrm>
          <a:prstGeom prst="straightConnector1">
            <a:avLst/>
          </a:prstGeom>
          <a:ln w="12700" cmpd="sng">
            <a:solidFill>
              <a:schemeClr val="accent1">
                <a:shade val="50000"/>
              </a:schemeClr>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9278620" y="2797810"/>
            <a:ext cx="993140" cy="368300"/>
          </a:xfrm>
          <a:prstGeom prst="rect">
            <a:avLst/>
          </a:prstGeom>
          <a:noFill/>
        </p:spPr>
        <p:txBody>
          <a:bodyPr wrap="square" rtlCol="0">
            <a:spAutoFit/>
          </a:bodyPr>
          <a:p>
            <a:pPr indent="0">
              <a:buFont typeface="Arial" panose="020B0604020202020204" pitchFamily="34" charset="0"/>
              <a:buNone/>
            </a:pPr>
            <a:r>
              <a:rPr lang="en-US" altLang="zh-CN">
                <a:sym typeface="+mn-ea"/>
              </a:rPr>
              <a:t>lca</a:t>
            </a:r>
            <a:endParaRPr lang="en-US" altLang="zh-CN">
              <a:sym typeface="+mn-ea"/>
            </a:endParaRPr>
          </a:p>
        </p:txBody>
      </p:sp>
      <p:sp>
        <p:nvSpPr>
          <p:cNvPr id="226" name=" 226"/>
          <p:cNvSpPr/>
          <p:nvPr/>
        </p:nvSpPr>
        <p:spPr>
          <a:xfrm>
            <a:off x="7900670" y="4944745"/>
            <a:ext cx="1264285" cy="1149350"/>
          </a:xfrm>
          <a:custGeom>
            <a:avLst/>
            <a:gdLst>
              <a:gd name="connsiteX0" fmla="*/ 1846300 w 4171682"/>
              <a:gd name="connsiteY0" fmla="*/ 0 h 3589654"/>
              <a:gd name="connsiteX1" fmla="*/ 2325378 w 4171682"/>
              <a:gd name="connsiteY1" fmla="*/ 0 h 3589654"/>
              <a:gd name="connsiteX2" fmla="*/ 4171682 w 4171682"/>
              <a:gd name="connsiteY2" fmla="*/ 3183284 h 3589654"/>
              <a:gd name="connsiteX3" fmla="*/ 3937064 w 4171682"/>
              <a:gd name="connsiteY3" fmla="*/ 3589654 h 3589654"/>
              <a:gd name="connsiteX4" fmla="*/ 234622 w 4171682"/>
              <a:gd name="connsiteY4" fmla="*/ 3589654 h 3589654"/>
              <a:gd name="connsiteX5" fmla="*/ 0 w 4171682"/>
              <a:gd name="connsiteY5" fmla="*/ 3183277 h 358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1682" h="3589654">
                <a:moveTo>
                  <a:pt x="1846300" y="0"/>
                </a:moveTo>
                <a:lnTo>
                  <a:pt x="2325378" y="0"/>
                </a:lnTo>
                <a:lnTo>
                  <a:pt x="4171682" y="3183284"/>
                </a:lnTo>
                <a:lnTo>
                  <a:pt x="3937064" y="3589654"/>
                </a:lnTo>
                <a:lnTo>
                  <a:pt x="234622" y="3589654"/>
                </a:lnTo>
                <a:lnTo>
                  <a:pt x="0" y="31832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1" name=" 226"/>
          <p:cNvSpPr/>
          <p:nvPr/>
        </p:nvSpPr>
        <p:spPr>
          <a:xfrm>
            <a:off x="9838055" y="4599305"/>
            <a:ext cx="1264285" cy="1149350"/>
          </a:xfrm>
          <a:custGeom>
            <a:avLst/>
            <a:gdLst>
              <a:gd name="connsiteX0" fmla="*/ 1846300 w 4171682"/>
              <a:gd name="connsiteY0" fmla="*/ 0 h 3589654"/>
              <a:gd name="connsiteX1" fmla="*/ 2325378 w 4171682"/>
              <a:gd name="connsiteY1" fmla="*/ 0 h 3589654"/>
              <a:gd name="connsiteX2" fmla="*/ 4171682 w 4171682"/>
              <a:gd name="connsiteY2" fmla="*/ 3183284 h 3589654"/>
              <a:gd name="connsiteX3" fmla="*/ 3937064 w 4171682"/>
              <a:gd name="connsiteY3" fmla="*/ 3589654 h 3589654"/>
              <a:gd name="connsiteX4" fmla="*/ 234622 w 4171682"/>
              <a:gd name="connsiteY4" fmla="*/ 3589654 h 3589654"/>
              <a:gd name="connsiteX5" fmla="*/ 0 w 4171682"/>
              <a:gd name="connsiteY5" fmla="*/ 3183277 h 358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1682" h="3589654">
                <a:moveTo>
                  <a:pt x="1846300" y="0"/>
                </a:moveTo>
                <a:lnTo>
                  <a:pt x="2325378" y="0"/>
                </a:lnTo>
                <a:lnTo>
                  <a:pt x="4171682" y="3183284"/>
                </a:lnTo>
                <a:lnTo>
                  <a:pt x="3937064" y="3589654"/>
                </a:lnTo>
                <a:lnTo>
                  <a:pt x="234622" y="3589654"/>
                </a:lnTo>
                <a:lnTo>
                  <a:pt x="0" y="31832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Tree>
    <p:custDataLst>
      <p:tags r:id="rId4"/>
    </p:custData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397490" y="470836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特别系列</a:t>
            </a:r>
            <a:endParaRPr lang="en-US" altLang="zh-CN">
              <a:solidFill>
                <a:schemeClr val="tx1"/>
              </a:solidFill>
            </a:endParaRPr>
          </a:p>
        </p:txBody>
      </p:sp>
      <p:sp>
        <p:nvSpPr>
          <p:cNvPr id="13" name="文本框 12"/>
          <p:cNvSpPr txBox="1"/>
          <p:nvPr/>
        </p:nvSpPr>
        <p:spPr>
          <a:xfrm>
            <a:off x="1138555" y="2737485"/>
            <a:ext cx="6233795" cy="2245360"/>
          </a:xfrm>
          <a:prstGeom prst="rect">
            <a:avLst/>
          </a:prstGeom>
          <a:noFill/>
        </p:spPr>
        <p:txBody>
          <a:bodyPr wrap="square" rtlCol="0">
            <a:spAutoFit/>
          </a:bodyPr>
          <a:p>
            <a:pPr marL="457200" indent="-457200">
              <a:buFont typeface="Arial" panose="020B0604020202020204" pitchFamily="34" charset="0"/>
              <a:buChar char="•"/>
            </a:pPr>
            <a:r>
              <a:rPr lang="zh-CN" altLang="en-US" sz="2800">
                <a:sym typeface="+mn-ea"/>
              </a:rPr>
              <a:t>那只需要求出选定端点在</a:t>
            </a:r>
            <a:r>
              <a:rPr lang="en-US" altLang="zh-CN" sz="2800">
                <a:sym typeface="+mn-ea"/>
              </a:rPr>
              <a:t>x</a:t>
            </a:r>
            <a:r>
              <a:rPr lang="zh-CN" altLang="en-US" sz="2800">
                <a:sym typeface="+mn-ea"/>
              </a:rPr>
              <a:t>即其子树中，另一个端点在</a:t>
            </a:r>
            <a:r>
              <a:rPr lang="en-US" altLang="zh-CN" sz="2800">
                <a:sym typeface="+mn-ea"/>
              </a:rPr>
              <a:t>y</a:t>
            </a:r>
            <a:r>
              <a:rPr lang="zh-CN" altLang="en-US" sz="2800">
                <a:sym typeface="+mn-ea"/>
              </a:rPr>
              <a:t>及其子树中的路径的数量。以及选定端点在</a:t>
            </a:r>
            <a:r>
              <a:rPr lang="en-US" altLang="zh-CN" sz="2800">
                <a:sym typeface="+mn-ea"/>
              </a:rPr>
              <a:t>y</a:t>
            </a:r>
            <a:r>
              <a:rPr lang="zh-CN" altLang="en-US" sz="2800">
                <a:sym typeface="+mn-ea"/>
              </a:rPr>
              <a:t>即其子树中，另一个端点在</a:t>
            </a:r>
            <a:r>
              <a:rPr lang="en-US" altLang="zh-CN" sz="2800">
                <a:sym typeface="+mn-ea"/>
              </a:rPr>
              <a:t>x</a:t>
            </a:r>
            <a:r>
              <a:rPr lang="zh-CN" altLang="en-US" sz="2800">
                <a:sym typeface="+mn-ea"/>
              </a:rPr>
              <a:t>及其子树中的路径的数量。</a:t>
            </a:r>
            <a:endParaRPr lang="zh-CN" altLang="en-US" sz="2800">
              <a:sym typeface="+mn-ea"/>
            </a:endParaRPr>
          </a:p>
        </p:txBody>
      </p:sp>
      <p:sp>
        <p:nvSpPr>
          <p:cNvPr id="15" name=" 15"/>
          <p:cNvSpPr/>
          <p:nvPr/>
        </p:nvSpPr>
        <p:spPr>
          <a:xfrm>
            <a:off x="9065895" y="2232025"/>
            <a:ext cx="396240" cy="404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6" name=" 15"/>
          <p:cNvSpPr/>
          <p:nvPr/>
        </p:nvSpPr>
        <p:spPr>
          <a:xfrm>
            <a:off x="8063865" y="4010660"/>
            <a:ext cx="396240" cy="404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x</a:t>
            </a:r>
            <a:endParaRPr lang="en-US" altLang="zh-CN">
              <a:solidFill>
                <a:srgbClr val="FFFFFF"/>
              </a:solidFill>
            </a:endParaRPr>
          </a:p>
        </p:txBody>
      </p:sp>
      <p:sp>
        <p:nvSpPr>
          <p:cNvPr id="17" name=" 15"/>
          <p:cNvSpPr/>
          <p:nvPr/>
        </p:nvSpPr>
        <p:spPr>
          <a:xfrm>
            <a:off x="10001250" y="3665220"/>
            <a:ext cx="396240" cy="4044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y</a:t>
            </a:r>
            <a:endParaRPr lang="en-US" altLang="zh-CN">
              <a:solidFill>
                <a:srgbClr val="FFFFFF"/>
              </a:solidFill>
            </a:endParaRPr>
          </a:p>
        </p:txBody>
      </p:sp>
      <p:cxnSp>
        <p:nvCxnSpPr>
          <p:cNvPr id="18" name="直接箭头连接符 17"/>
          <p:cNvCxnSpPr>
            <a:stCxn id="15" idx="3"/>
            <a:endCxn id="16" idx="7"/>
          </p:cNvCxnSpPr>
          <p:nvPr/>
        </p:nvCxnSpPr>
        <p:spPr>
          <a:xfrm flipH="1">
            <a:off x="8402320" y="2577465"/>
            <a:ext cx="721360" cy="1492250"/>
          </a:xfrm>
          <a:prstGeom prst="straightConnector1">
            <a:avLst/>
          </a:prstGeom>
          <a:ln w="12700" cmpd="sng">
            <a:solidFill>
              <a:schemeClr val="accent1">
                <a:shade val="50000"/>
              </a:schemeClr>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endCxn id="17" idx="1"/>
          </p:cNvCxnSpPr>
          <p:nvPr/>
        </p:nvCxnSpPr>
        <p:spPr>
          <a:xfrm>
            <a:off x="9395460" y="2518410"/>
            <a:ext cx="663575" cy="1205865"/>
          </a:xfrm>
          <a:prstGeom prst="straightConnector1">
            <a:avLst/>
          </a:prstGeom>
          <a:ln w="12700" cmpd="sng">
            <a:solidFill>
              <a:schemeClr val="accent1">
                <a:shade val="50000"/>
              </a:schemeClr>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9008110" y="2268220"/>
            <a:ext cx="993140" cy="368300"/>
          </a:xfrm>
          <a:prstGeom prst="rect">
            <a:avLst/>
          </a:prstGeom>
          <a:noFill/>
        </p:spPr>
        <p:txBody>
          <a:bodyPr wrap="square" rtlCol="0">
            <a:spAutoFit/>
          </a:bodyPr>
          <a:p>
            <a:pPr indent="0">
              <a:buFont typeface="Arial" panose="020B0604020202020204" pitchFamily="34" charset="0"/>
              <a:buNone/>
            </a:pPr>
            <a:r>
              <a:rPr lang="en-US" altLang="zh-CN">
                <a:sym typeface="+mn-ea"/>
              </a:rPr>
              <a:t>lca</a:t>
            </a:r>
            <a:endParaRPr lang="en-US" altLang="zh-CN">
              <a:sym typeface="+mn-ea"/>
            </a:endParaRPr>
          </a:p>
        </p:txBody>
      </p:sp>
      <p:sp>
        <p:nvSpPr>
          <p:cNvPr id="226" name=" 226"/>
          <p:cNvSpPr/>
          <p:nvPr/>
        </p:nvSpPr>
        <p:spPr>
          <a:xfrm>
            <a:off x="7630160" y="4415155"/>
            <a:ext cx="1264285" cy="1149350"/>
          </a:xfrm>
          <a:custGeom>
            <a:avLst/>
            <a:gdLst>
              <a:gd name="connsiteX0" fmla="*/ 1846300 w 4171682"/>
              <a:gd name="connsiteY0" fmla="*/ 0 h 3589654"/>
              <a:gd name="connsiteX1" fmla="*/ 2325378 w 4171682"/>
              <a:gd name="connsiteY1" fmla="*/ 0 h 3589654"/>
              <a:gd name="connsiteX2" fmla="*/ 4171682 w 4171682"/>
              <a:gd name="connsiteY2" fmla="*/ 3183284 h 3589654"/>
              <a:gd name="connsiteX3" fmla="*/ 3937064 w 4171682"/>
              <a:gd name="connsiteY3" fmla="*/ 3589654 h 3589654"/>
              <a:gd name="connsiteX4" fmla="*/ 234622 w 4171682"/>
              <a:gd name="connsiteY4" fmla="*/ 3589654 h 3589654"/>
              <a:gd name="connsiteX5" fmla="*/ 0 w 4171682"/>
              <a:gd name="connsiteY5" fmla="*/ 3183277 h 358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1682" h="3589654">
                <a:moveTo>
                  <a:pt x="1846300" y="0"/>
                </a:moveTo>
                <a:lnTo>
                  <a:pt x="2325378" y="0"/>
                </a:lnTo>
                <a:lnTo>
                  <a:pt x="4171682" y="3183284"/>
                </a:lnTo>
                <a:lnTo>
                  <a:pt x="3937064" y="3589654"/>
                </a:lnTo>
                <a:lnTo>
                  <a:pt x="234622" y="3589654"/>
                </a:lnTo>
                <a:lnTo>
                  <a:pt x="0" y="31832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1" name=" 226"/>
          <p:cNvSpPr/>
          <p:nvPr/>
        </p:nvSpPr>
        <p:spPr>
          <a:xfrm>
            <a:off x="9567545" y="4069715"/>
            <a:ext cx="1264285" cy="1149350"/>
          </a:xfrm>
          <a:custGeom>
            <a:avLst/>
            <a:gdLst>
              <a:gd name="connsiteX0" fmla="*/ 1846300 w 4171682"/>
              <a:gd name="connsiteY0" fmla="*/ 0 h 3589654"/>
              <a:gd name="connsiteX1" fmla="*/ 2325378 w 4171682"/>
              <a:gd name="connsiteY1" fmla="*/ 0 h 3589654"/>
              <a:gd name="connsiteX2" fmla="*/ 4171682 w 4171682"/>
              <a:gd name="connsiteY2" fmla="*/ 3183284 h 3589654"/>
              <a:gd name="connsiteX3" fmla="*/ 3937064 w 4171682"/>
              <a:gd name="connsiteY3" fmla="*/ 3589654 h 3589654"/>
              <a:gd name="connsiteX4" fmla="*/ 234622 w 4171682"/>
              <a:gd name="connsiteY4" fmla="*/ 3589654 h 3589654"/>
              <a:gd name="connsiteX5" fmla="*/ 0 w 4171682"/>
              <a:gd name="connsiteY5" fmla="*/ 3183277 h 358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1682" h="3589654">
                <a:moveTo>
                  <a:pt x="1846300" y="0"/>
                </a:moveTo>
                <a:lnTo>
                  <a:pt x="2325378" y="0"/>
                </a:lnTo>
                <a:lnTo>
                  <a:pt x="4171682" y="3183284"/>
                </a:lnTo>
                <a:lnTo>
                  <a:pt x="3937064" y="3589654"/>
                </a:lnTo>
                <a:lnTo>
                  <a:pt x="234622" y="3589654"/>
                </a:lnTo>
                <a:lnTo>
                  <a:pt x="0" y="31832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Tree>
    <p:custDataLst>
      <p:tags r:id="rId4"/>
    </p:custData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特别系列</a:t>
            </a:r>
            <a:endParaRPr lang="en-US" altLang="zh-CN">
              <a:solidFill>
                <a:schemeClr val="tx1"/>
              </a:solidFill>
            </a:endParaRPr>
          </a:p>
        </p:txBody>
      </p:sp>
      <p:sp>
        <p:nvSpPr>
          <p:cNvPr id="13" name="文本框 12"/>
          <p:cNvSpPr txBox="1"/>
          <p:nvPr/>
        </p:nvSpPr>
        <p:spPr>
          <a:xfrm>
            <a:off x="4795520" y="2063750"/>
            <a:ext cx="6233795" cy="3538220"/>
          </a:xfrm>
          <a:prstGeom prst="rect">
            <a:avLst/>
          </a:prstGeom>
          <a:noFill/>
        </p:spPr>
        <p:txBody>
          <a:bodyPr wrap="square" rtlCol="0">
            <a:spAutoFit/>
          </a:bodyPr>
          <a:p>
            <a:pPr marL="457200" indent="-457200">
              <a:buFont typeface="Arial" panose="020B0604020202020204" pitchFamily="34" charset="0"/>
              <a:buChar char="•"/>
            </a:pPr>
            <a:r>
              <a:rPr lang="zh-CN" altLang="en-US" sz="2800">
                <a:sym typeface="+mn-ea"/>
              </a:rPr>
              <a:t>其中一个是另一个祖先节点，假设</a:t>
            </a:r>
            <a:r>
              <a:rPr lang="en-US" altLang="zh-CN" sz="2800">
                <a:sym typeface="+mn-ea"/>
              </a:rPr>
              <a:t>y   </a:t>
            </a:r>
            <a:r>
              <a:rPr lang="zh-CN" altLang="en-US" sz="2800">
                <a:sym typeface="+mn-ea"/>
              </a:rPr>
              <a:t>是</a:t>
            </a:r>
            <a:r>
              <a:rPr lang="en-US" altLang="zh-CN" sz="2800">
                <a:sym typeface="+mn-ea"/>
              </a:rPr>
              <a:t>x</a:t>
            </a:r>
            <a:r>
              <a:rPr lang="zh-CN" altLang="en-US" sz="2800">
                <a:sym typeface="+mn-ea"/>
              </a:rPr>
              <a:t>祖先节点。</a:t>
            </a:r>
            <a:endParaRPr lang="zh-CN" altLang="en-US" sz="2800">
              <a:sym typeface="+mn-ea"/>
            </a:endParaRPr>
          </a:p>
          <a:p>
            <a:pPr marL="457200" indent="-457200">
              <a:buFont typeface="Arial" panose="020B0604020202020204" pitchFamily="34" charset="0"/>
              <a:buChar char="•"/>
            </a:pPr>
            <a:r>
              <a:rPr lang="zh-CN" altLang="en-US" sz="2800">
                <a:sym typeface="+mn-ea"/>
              </a:rPr>
              <a:t>那么只需要找出选定端点在</a:t>
            </a:r>
            <a:r>
              <a:rPr lang="en-US" altLang="zh-CN" sz="2800">
                <a:sym typeface="+mn-ea"/>
              </a:rPr>
              <a:t>x</a:t>
            </a:r>
            <a:r>
              <a:rPr lang="zh-CN" altLang="en-US" sz="2800">
                <a:sym typeface="+mn-ea"/>
              </a:rPr>
              <a:t>子树中（包括</a:t>
            </a:r>
            <a:r>
              <a:rPr lang="en-US" altLang="zh-CN" sz="2800">
                <a:sym typeface="+mn-ea"/>
              </a:rPr>
              <a:t>x</a:t>
            </a:r>
            <a:r>
              <a:rPr lang="zh-CN" altLang="en-US" sz="2800">
                <a:sym typeface="+mn-ea"/>
              </a:rPr>
              <a:t>），另一个点在整棵树除</a:t>
            </a:r>
            <a:r>
              <a:rPr lang="en-US" altLang="zh-CN" sz="2800">
                <a:sym typeface="+mn-ea"/>
              </a:rPr>
              <a:t>y</a:t>
            </a:r>
            <a:r>
              <a:rPr lang="zh-CN" altLang="en-US" sz="2800">
                <a:sym typeface="+mn-ea"/>
              </a:rPr>
              <a:t>子树中的路径数和选定端点在除</a:t>
            </a:r>
            <a:r>
              <a:rPr lang="en-US" altLang="zh-CN" sz="2800">
                <a:sym typeface="+mn-ea"/>
              </a:rPr>
              <a:t>y</a:t>
            </a:r>
            <a:r>
              <a:rPr lang="zh-CN" altLang="en-US" sz="2800">
                <a:sym typeface="+mn-ea"/>
              </a:rPr>
              <a:t>子树中，另一个点在</a:t>
            </a:r>
            <a:r>
              <a:rPr lang="en-US" altLang="zh-CN" sz="2800">
                <a:sym typeface="+mn-ea"/>
              </a:rPr>
              <a:t>x</a:t>
            </a:r>
            <a:r>
              <a:rPr lang="zh-CN" altLang="en-US" sz="2800">
                <a:sym typeface="+mn-ea"/>
              </a:rPr>
              <a:t>及其子树中的路径数。</a:t>
            </a:r>
            <a:endParaRPr lang="zh-CN" altLang="en-US" sz="2800">
              <a:sym typeface="+mn-ea"/>
            </a:endParaRPr>
          </a:p>
          <a:p>
            <a:pPr marL="457200" indent="-457200">
              <a:buFont typeface="Arial" panose="020B0604020202020204" pitchFamily="34" charset="0"/>
              <a:buChar char="•"/>
            </a:pPr>
            <a:r>
              <a:rPr lang="zh-CN" altLang="en-US" sz="2800">
                <a:sym typeface="+mn-ea"/>
              </a:rPr>
              <a:t>实现过程自己尝试。</a:t>
            </a:r>
            <a:endParaRPr lang="zh-CN" altLang="en-US" sz="2800">
              <a:sym typeface="+mn-ea"/>
            </a:endParaRPr>
          </a:p>
        </p:txBody>
      </p:sp>
      <p:sp>
        <p:nvSpPr>
          <p:cNvPr id="184" name=" 184"/>
          <p:cNvSpPr/>
          <p:nvPr/>
        </p:nvSpPr>
        <p:spPr>
          <a:xfrm>
            <a:off x="2446655" y="2299970"/>
            <a:ext cx="404495" cy="379095"/>
          </a:xfrm>
          <a:prstGeom prst="ellipse">
            <a:avLst/>
          </a:prstGeom>
          <a:solidFill>
            <a:schemeClr val="accent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y</a:t>
            </a:r>
            <a:endParaRPr lang="en-US" altLang="zh-CN">
              <a:solidFill>
                <a:srgbClr val="FFFFFF"/>
              </a:solidFill>
            </a:endParaRPr>
          </a:p>
        </p:txBody>
      </p:sp>
      <p:sp>
        <p:nvSpPr>
          <p:cNvPr id="5" name=" 5"/>
          <p:cNvSpPr/>
          <p:nvPr/>
        </p:nvSpPr>
        <p:spPr>
          <a:xfrm>
            <a:off x="1347470" y="2679065"/>
            <a:ext cx="2602230" cy="2304415"/>
          </a:xfrm>
          <a:custGeom>
            <a:avLst/>
            <a:gdLst>
              <a:gd name="connsiteX0" fmla="*/ 1846300 w 4171682"/>
              <a:gd name="connsiteY0" fmla="*/ 0 h 3589654"/>
              <a:gd name="connsiteX1" fmla="*/ 2325378 w 4171682"/>
              <a:gd name="connsiteY1" fmla="*/ 0 h 3589654"/>
              <a:gd name="connsiteX2" fmla="*/ 4171682 w 4171682"/>
              <a:gd name="connsiteY2" fmla="*/ 3183284 h 3589654"/>
              <a:gd name="connsiteX3" fmla="*/ 3937064 w 4171682"/>
              <a:gd name="connsiteY3" fmla="*/ 3589654 h 3589654"/>
              <a:gd name="connsiteX4" fmla="*/ 234622 w 4171682"/>
              <a:gd name="connsiteY4" fmla="*/ 3589654 h 3589654"/>
              <a:gd name="connsiteX5" fmla="*/ 0 w 4171682"/>
              <a:gd name="connsiteY5" fmla="*/ 3183277 h 358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1682" h="3589654">
                <a:moveTo>
                  <a:pt x="1846300" y="0"/>
                </a:moveTo>
                <a:lnTo>
                  <a:pt x="2325378" y="0"/>
                </a:lnTo>
                <a:lnTo>
                  <a:pt x="4171682" y="3183284"/>
                </a:lnTo>
                <a:lnTo>
                  <a:pt x="3937064" y="3589654"/>
                </a:lnTo>
                <a:lnTo>
                  <a:pt x="234622" y="3589654"/>
                </a:lnTo>
                <a:lnTo>
                  <a:pt x="0" y="31832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6" name=" 6"/>
          <p:cNvSpPr/>
          <p:nvPr/>
        </p:nvSpPr>
        <p:spPr>
          <a:xfrm>
            <a:off x="1972945" y="4011930"/>
            <a:ext cx="404495" cy="3619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en-US" altLang="zh-CN">
                <a:solidFill>
                  <a:srgbClr val="FFFFFF"/>
                </a:solidFill>
              </a:rPr>
              <a:t>x</a:t>
            </a:r>
            <a:endParaRPr lang="en-US" altLang="zh-CN">
              <a:solidFill>
                <a:srgbClr val="FFFFFF"/>
              </a:solidFill>
            </a:endParaRPr>
          </a:p>
        </p:txBody>
      </p:sp>
      <p:sp>
        <p:nvSpPr>
          <p:cNvPr id="9" name=" 9"/>
          <p:cNvSpPr/>
          <p:nvPr/>
        </p:nvSpPr>
        <p:spPr>
          <a:xfrm>
            <a:off x="1812290" y="4306570"/>
            <a:ext cx="725170" cy="676910"/>
          </a:xfrm>
          <a:custGeom>
            <a:avLst/>
            <a:gdLst>
              <a:gd name="connsiteX0" fmla="*/ 1846300 w 4171682"/>
              <a:gd name="connsiteY0" fmla="*/ 0 h 3589654"/>
              <a:gd name="connsiteX1" fmla="*/ 2325378 w 4171682"/>
              <a:gd name="connsiteY1" fmla="*/ 0 h 3589654"/>
              <a:gd name="connsiteX2" fmla="*/ 4171682 w 4171682"/>
              <a:gd name="connsiteY2" fmla="*/ 3183284 h 3589654"/>
              <a:gd name="connsiteX3" fmla="*/ 3937064 w 4171682"/>
              <a:gd name="connsiteY3" fmla="*/ 3589654 h 3589654"/>
              <a:gd name="connsiteX4" fmla="*/ 234622 w 4171682"/>
              <a:gd name="connsiteY4" fmla="*/ 3589654 h 3589654"/>
              <a:gd name="connsiteX5" fmla="*/ 0 w 4171682"/>
              <a:gd name="connsiteY5" fmla="*/ 3183277 h 358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1682" h="3589654">
                <a:moveTo>
                  <a:pt x="1846300" y="0"/>
                </a:moveTo>
                <a:lnTo>
                  <a:pt x="2325378" y="0"/>
                </a:lnTo>
                <a:lnTo>
                  <a:pt x="4171682" y="3183284"/>
                </a:lnTo>
                <a:lnTo>
                  <a:pt x="3937064" y="3589654"/>
                </a:lnTo>
                <a:lnTo>
                  <a:pt x="234622" y="3589654"/>
                </a:lnTo>
                <a:lnTo>
                  <a:pt x="0" y="3183277"/>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cxnSp>
        <p:nvCxnSpPr>
          <p:cNvPr id="10" name="直接箭头连接符 9"/>
          <p:cNvCxnSpPr>
            <a:endCxn id="6" idx="0"/>
          </p:cNvCxnSpPr>
          <p:nvPr/>
        </p:nvCxnSpPr>
        <p:spPr>
          <a:xfrm flipH="1">
            <a:off x="2175510" y="2679065"/>
            <a:ext cx="473710" cy="1332865"/>
          </a:xfrm>
          <a:prstGeom prst="straightConnector1">
            <a:avLst/>
          </a:prstGeom>
          <a:ln>
            <a:solidFill>
              <a:srgbClr val="002060"/>
            </a:solidFill>
            <a:tailEnd type="arrow"/>
          </a:ln>
        </p:spPr>
        <p:style>
          <a:lnRef idx="1">
            <a:schemeClr val="accent1"/>
          </a:lnRef>
          <a:fillRef idx="0">
            <a:schemeClr val="accent1"/>
          </a:fillRef>
          <a:effectRef idx="0">
            <a:schemeClr val="accent1"/>
          </a:effectRef>
          <a:fontRef idx="minor">
            <a:schemeClr val="tx1"/>
          </a:fontRef>
        </p:style>
      </p:cxnSp>
    </p:spTree>
    <p:custDataLst>
      <p:tags r:id="rId4"/>
    </p:custData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文本框 4"/>
          <p:cNvSpPr txBox="1"/>
          <p:nvPr/>
        </p:nvSpPr>
        <p:spPr>
          <a:xfrm>
            <a:off x="1061720" y="1826260"/>
            <a:ext cx="10832465" cy="95313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中位数（bzoj </a:t>
            </a:r>
            <a:r>
              <a:rPr lang="en-US" altLang="zh-CN" sz="2800">
                <a:sym typeface="+mn-ea"/>
              </a:rPr>
              <a:t>2653</a:t>
            </a:r>
            <a:r>
              <a:rPr lang="zh-CN" altLang="zh-CN" sz="2800">
                <a:sym typeface="+mn-ea"/>
              </a:rPr>
              <a:t>）</a:t>
            </a:r>
            <a:endParaRPr lang="zh-CN" altLang="zh-CN" sz="2800">
              <a:sym typeface="+mn-ea"/>
            </a:endParaRPr>
          </a:p>
          <a:p>
            <a:pPr marL="457200" indent="-457200">
              <a:buFont typeface="Arial" panose="020B0604020202020204" pitchFamily="34" charset="0"/>
              <a:buChar char="•"/>
            </a:pPr>
            <a:r>
              <a:rPr lang="zh-CN" altLang="zh-CN" sz="2800">
                <a:sym typeface="+mn-ea"/>
              </a:rPr>
              <a:t>链接：http://www.lydsy.com/JudgeOnline/problem.php?id=2653</a:t>
            </a:r>
            <a:endParaRPr lang="zh-CN" altLang="zh-CN" sz="2800">
              <a:sym typeface="+mn-ea"/>
            </a:endParaRPr>
          </a:p>
        </p:txBody>
      </p:sp>
      <p:sp>
        <p:nvSpPr>
          <p:cNvPr id="10" name="文本框 9"/>
          <p:cNvSpPr txBox="1"/>
          <p:nvPr/>
        </p:nvSpPr>
        <p:spPr>
          <a:xfrm>
            <a:off x="1061720" y="2872740"/>
            <a:ext cx="9959975" cy="52197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一般涉及到中位数的题目都可以二分，此题也是如此。</a:t>
            </a:r>
            <a:endParaRPr lang="zh-CN" altLang="zh-CN" sz="2800">
              <a:sym typeface="+mn-ea"/>
            </a:endParaRPr>
          </a:p>
        </p:txBody>
      </p:sp>
      <p:sp>
        <p:nvSpPr>
          <p:cNvPr id="3" name="文本框 2"/>
          <p:cNvSpPr txBox="1"/>
          <p:nvPr/>
        </p:nvSpPr>
        <p:spPr>
          <a:xfrm>
            <a:off x="1061720" y="3562350"/>
            <a:ext cx="10025380" cy="138366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如果是二分中位数为某个值的序列是否存在，这样没有单调性。所以我们转换一下，改成中位数大于某个值的序列是否存在。</a:t>
            </a:r>
            <a:endParaRPr lang="zh-CN" altLang="zh-CN" sz="2800">
              <a:sym typeface="+mn-ea"/>
            </a:endParaRPr>
          </a:p>
        </p:txBody>
      </p:sp>
      <p:sp>
        <p:nvSpPr>
          <p:cNvPr id="6" name="文本框 5"/>
          <p:cNvSpPr txBox="1"/>
          <p:nvPr/>
        </p:nvSpPr>
        <p:spPr>
          <a:xfrm>
            <a:off x="1061720" y="4970780"/>
            <a:ext cx="10076180" cy="95313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思考：如果一段序列中大于等于某个值的数量大于等于一半，那么中位数一定大于等于这个值。</a:t>
            </a:r>
            <a:endParaRPr lang="zh-CN" altLang="zh-CN" sz="2800">
              <a:sym typeface="+mn-ea"/>
            </a:endParaRPr>
          </a:p>
        </p:txBody>
      </p:sp>
      <p:sp>
        <p:nvSpPr>
          <p:cNvPr id="11"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特别系列</a:t>
            </a:r>
            <a:endParaRPr lang="en-US" altLang="zh-CN">
              <a:solidFill>
                <a:schemeClr val="tx1"/>
              </a:solidFill>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P spid="8" grpId="0" animBg="1"/>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文本框 4"/>
          <p:cNvSpPr txBox="1"/>
          <p:nvPr/>
        </p:nvSpPr>
        <p:spPr>
          <a:xfrm>
            <a:off x="1147445" y="1816735"/>
            <a:ext cx="9770745" cy="52197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有单调性之后，就可以二分了。但改怎样检验呢？</a:t>
            </a:r>
            <a:endParaRPr lang="zh-CN" altLang="zh-CN" sz="2800">
              <a:sym typeface="+mn-ea"/>
            </a:endParaRPr>
          </a:p>
        </p:txBody>
      </p:sp>
      <p:sp>
        <p:nvSpPr>
          <p:cNvPr id="11"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特别系列</a:t>
            </a:r>
            <a:endParaRPr lang="en-US" altLang="zh-CN">
              <a:solidFill>
                <a:schemeClr val="tx1"/>
              </a:solidFill>
            </a:endParaRPr>
          </a:p>
        </p:txBody>
      </p:sp>
      <p:sp>
        <p:nvSpPr>
          <p:cNvPr id="12" name="文本框 11"/>
          <p:cNvSpPr txBox="1"/>
          <p:nvPr/>
        </p:nvSpPr>
        <p:spPr>
          <a:xfrm>
            <a:off x="1147445" y="2561590"/>
            <a:ext cx="9605010" cy="267652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设检验的值为</a:t>
            </a:r>
            <a:r>
              <a:rPr lang="en-US" altLang="zh-CN" sz="2800">
                <a:sym typeface="+mn-ea"/>
              </a:rPr>
              <a:t>x</a:t>
            </a:r>
            <a:r>
              <a:rPr lang="zh-CN" altLang="en-US" sz="2800">
                <a:sym typeface="+mn-ea"/>
              </a:rPr>
              <a:t>，我们可以把大于等于</a:t>
            </a:r>
            <a:r>
              <a:rPr lang="en-US" altLang="zh-CN" sz="2800">
                <a:sym typeface="+mn-ea"/>
              </a:rPr>
              <a:t>x</a:t>
            </a:r>
            <a:r>
              <a:rPr lang="zh-CN" altLang="en-US" sz="2800">
                <a:sym typeface="+mn-ea"/>
              </a:rPr>
              <a:t>的数的值设为</a:t>
            </a:r>
            <a:r>
              <a:rPr lang="en-US" altLang="zh-CN" sz="2800">
                <a:sym typeface="+mn-ea"/>
              </a:rPr>
              <a:t>1</a:t>
            </a:r>
            <a:r>
              <a:rPr lang="zh-CN" altLang="en-US" sz="2800">
                <a:sym typeface="+mn-ea"/>
              </a:rPr>
              <a:t>，小于</a:t>
            </a:r>
            <a:r>
              <a:rPr lang="en-US" altLang="zh-CN" sz="2800">
                <a:sym typeface="+mn-ea"/>
              </a:rPr>
              <a:t>x</a:t>
            </a:r>
            <a:r>
              <a:rPr lang="zh-CN" altLang="en-US" sz="2800">
                <a:sym typeface="+mn-ea"/>
              </a:rPr>
              <a:t>的数的值设为</a:t>
            </a:r>
            <a:r>
              <a:rPr lang="en-US" altLang="zh-CN" sz="2800">
                <a:sym typeface="+mn-ea"/>
              </a:rPr>
              <a:t>-1</a:t>
            </a:r>
            <a:r>
              <a:rPr lang="zh-CN" altLang="en-US" sz="2800">
                <a:sym typeface="+mn-ea"/>
              </a:rPr>
              <a:t>，这样如果一段区间的和大于等于</a:t>
            </a:r>
            <a:r>
              <a:rPr lang="en-US" altLang="zh-CN" sz="2800">
                <a:sym typeface="+mn-ea"/>
              </a:rPr>
              <a:t>0</a:t>
            </a:r>
            <a:r>
              <a:rPr lang="zh-CN" altLang="zh-CN" sz="2800">
                <a:sym typeface="+mn-ea"/>
              </a:rPr>
              <a:t>。就证明可能存在。</a:t>
            </a:r>
            <a:endParaRPr lang="zh-CN" altLang="zh-CN" sz="2800">
              <a:sym typeface="+mn-ea"/>
            </a:endParaRPr>
          </a:p>
          <a:p>
            <a:pPr marL="457200" indent="-457200">
              <a:buFont typeface="Arial" panose="020B0604020202020204" pitchFamily="34" charset="0"/>
              <a:buChar char="•"/>
            </a:pPr>
            <a:endParaRPr lang="zh-CN" altLang="zh-CN" sz="2800">
              <a:sym typeface="+mn-ea"/>
            </a:endParaRPr>
          </a:p>
          <a:p>
            <a:pPr marL="457200" indent="-457200">
              <a:buFont typeface="Arial" panose="020B0604020202020204" pitchFamily="34" charset="0"/>
              <a:buChar char="•"/>
            </a:pPr>
            <a:r>
              <a:rPr lang="zh-CN" altLang="zh-CN" sz="2800">
                <a:sym typeface="+mn-ea"/>
              </a:rPr>
              <a:t>所以主席树的每个线段树版本，应是区间线段树。这样就可以很方便地统计一段区间的和。</a:t>
            </a:r>
            <a:endParaRPr lang="zh-CN" altLang="zh-CN" sz="2800">
              <a:sym typeface="+mn-ea"/>
            </a:endParaRPr>
          </a:p>
        </p:txBody>
      </p:sp>
    </p:spTree>
    <p:custDataLst>
      <p:tags r:id="rId4"/>
    </p:custData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特别系列</a:t>
            </a:r>
            <a:endParaRPr lang="en-US" altLang="zh-CN">
              <a:solidFill>
                <a:schemeClr val="tx1"/>
              </a:solidFill>
            </a:endParaRPr>
          </a:p>
        </p:txBody>
      </p:sp>
      <p:sp>
        <p:nvSpPr>
          <p:cNvPr id="165" name=" 165"/>
          <p:cNvSpPr/>
          <p:nvPr/>
        </p:nvSpPr>
        <p:spPr>
          <a:xfrm>
            <a:off x="1524000" y="3331210"/>
            <a:ext cx="1177925" cy="55054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3" name=" 165"/>
          <p:cNvSpPr/>
          <p:nvPr/>
        </p:nvSpPr>
        <p:spPr>
          <a:xfrm>
            <a:off x="2701925" y="3331210"/>
            <a:ext cx="1177925" cy="55054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4" name=" 165"/>
          <p:cNvSpPr/>
          <p:nvPr/>
        </p:nvSpPr>
        <p:spPr>
          <a:xfrm>
            <a:off x="3879850" y="3331210"/>
            <a:ext cx="1177925" cy="55054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cxnSp>
        <p:nvCxnSpPr>
          <p:cNvPr id="6" name="直接连接符 5"/>
          <p:cNvCxnSpPr/>
          <p:nvPr/>
        </p:nvCxnSpPr>
        <p:spPr>
          <a:xfrm>
            <a:off x="2200275" y="3022600"/>
            <a:ext cx="0" cy="1216025"/>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4267200" y="2998470"/>
            <a:ext cx="0" cy="1216025"/>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244600" y="3949065"/>
            <a:ext cx="4092575" cy="521970"/>
          </a:xfrm>
          <a:prstGeom prst="rect">
            <a:avLst/>
          </a:prstGeom>
          <a:noFill/>
        </p:spPr>
        <p:txBody>
          <a:bodyPr wrap="square" rtlCol="0">
            <a:spAutoFit/>
          </a:bodyPr>
          <a:p>
            <a:pPr indent="0">
              <a:buFont typeface="Arial" panose="020B0604020202020204" pitchFamily="34" charset="0"/>
              <a:buNone/>
            </a:pPr>
            <a:r>
              <a:rPr lang="en-US" altLang="zh-CN" sz="2800">
                <a:sym typeface="+mn-ea"/>
              </a:rPr>
              <a:t> a          b          c          d</a:t>
            </a:r>
            <a:endParaRPr lang="zh-CN" altLang="en-US" sz="2800">
              <a:sym typeface="+mn-ea"/>
            </a:endParaRPr>
          </a:p>
        </p:txBody>
      </p:sp>
      <p:sp>
        <p:nvSpPr>
          <p:cNvPr id="13" name="文本框 12"/>
          <p:cNvSpPr txBox="1"/>
          <p:nvPr/>
        </p:nvSpPr>
        <p:spPr>
          <a:xfrm>
            <a:off x="5967095" y="2202180"/>
            <a:ext cx="4700905" cy="310769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a:t>
            </a:r>
            <a:r>
              <a:rPr lang="en-US" altLang="zh-CN" sz="2800">
                <a:sym typeface="+mn-ea"/>
              </a:rPr>
              <a:t>b</a:t>
            </a:r>
            <a:r>
              <a:rPr lang="zh-CN" altLang="en-US" sz="2800">
                <a:sym typeface="+mn-ea"/>
              </a:rPr>
              <a:t>，</a:t>
            </a:r>
            <a:r>
              <a:rPr lang="en-US" altLang="zh-CN" sz="2800">
                <a:sym typeface="+mn-ea"/>
              </a:rPr>
              <a:t>c</a:t>
            </a:r>
            <a:r>
              <a:rPr lang="zh-CN" altLang="zh-CN" sz="2800">
                <a:sym typeface="+mn-ea"/>
              </a:rPr>
              <a:t>）这段必须加上的区间值再加上（</a:t>
            </a:r>
            <a:r>
              <a:rPr lang="en-US" altLang="zh-CN" sz="2800">
                <a:sym typeface="+mn-ea"/>
              </a:rPr>
              <a:t>a</a:t>
            </a:r>
            <a:r>
              <a:rPr lang="zh-CN" altLang="en-US" sz="2800">
                <a:sym typeface="+mn-ea"/>
              </a:rPr>
              <a:t>，</a:t>
            </a:r>
            <a:r>
              <a:rPr lang="en-US" altLang="zh-CN" sz="2800">
                <a:sym typeface="+mn-ea"/>
              </a:rPr>
              <a:t>b</a:t>
            </a:r>
            <a:r>
              <a:rPr lang="zh-CN" altLang="zh-CN" sz="2800">
                <a:sym typeface="+mn-ea"/>
              </a:rPr>
              <a:t>）中最大的右侧连续区间值和（</a:t>
            </a:r>
            <a:r>
              <a:rPr lang="en-US" altLang="zh-CN" sz="2800">
                <a:sym typeface="+mn-ea"/>
              </a:rPr>
              <a:t>c</a:t>
            </a:r>
            <a:r>
              <a:rPr lang="zh-CN" altLang="en-US" sz="2800">
                <a:sym typeface="+mn-ea"/>
              </a:rPr>
              <a:t>，</a:t>
            </a:r>
            <a:r>
              <a:rPr lang="en-US" altLang="zh-CN" sz="2800">
                <a:sym typeface="+mn-ea"/>
              </a:rPr>
              <a:t>d</a:t>
            </a:r>
            <a:r>
              <a:rPr lang="zh-CN" altLang="zh-CN" sz="2800">
                <a:sym typeface="+mn-ea"/>
              </a:rPr>
              <a:t>）中最大的连续左侧连续区间值，如果大于等于</a:t>
            </a:r>
            <a:r>
              <a:rPr lang="en-US" altLang="zh-CN" sz="2800">
                <a:sym typeface="+mn-ea"/>
              </a:rPr>
              <a:t>0</a:t>
            </a:r>
            <a:r>
              <a:rPr lang="zh-CN" altLang="en-US" sz="2800">
                <a:sym typeface="+mn-ea"/>
              </a:rPr>
              <a:t>就可行。这两个最值是可以用线段树维护的。</a:t>
            </a:r>
            <a:endParaRPr lang="zh-CN" altLang="en-US" sz="2800">
              <a:sym typeface="+mn-ea"/>
            </a:endParaRPr>
          </a:p>
        </p:txBody>
      </p:sp>
    </p:spTree>
    <p:custDataLst>
      <p:tags r:id="rId4"/>
    </p:custData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二</a:t>
            </a:r>
            <a:r>
              <a:rPr lang="en-US" altLang="zh-CN" dirty="0"/>
              <a:t>.</a:t>
            </a:r>
            <a:r>
              <a:rPr lang="zh-CN" altLang="zh-CN" dirty="0"/>
              <a:t>主席树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特别系列</a:t>
            </a:r>
            <a:endParaRPr lang="en-US" altLang="zh-CN">
              <a:solidFill>
                <a:schemeClr val="tx1"/>
              </a:solidFill>
            </a:endParaRPr>
          </a:p>
        </p:txBody>
      </p:sp>
      <p:sp>
        <p:nvSpPr>
          <p:cNvPr id="13" name="文本框 12"/>
          <p:cNvSpPr txBox="1"/>
          <p:nvPr/>
        </p:nvSpPr>
        <p:spPr>
          <a:xfrm>
            <a:off x="1198245" y="1892935"/>
            <a:ext cx="9662160" cy="953135"/>
          </a:xfrm>
          <a:prstGeom prst="rect">
            <a:avLst/>
          </a:prstGeom>
          <a:noFill/>
        </p:spPr>
        <p:txBody>
          <a:bodyPr wrap="square" rtlCol="0">
            <a:spAutoFit/>
          </a:bodyPr>
          <a:p>
            <a:pPr marL="457200" indent="-457200">
              <a:buFont typeface="Arial" panose="020B0604020202020204" pitchFamily="34" charset="0"/>
              <a:buChar char="•"/>
            </a:pPr>
            <a:r>
              <a:rPr lang="zh-CN" altLang="en-US" sz="2800">
                <a:sym typeface="+mn-ea"/>
              </a:rPr>
              <a:t>现在关键就是怎样保证，每次二分检验时，查询的线段树小于</a:t>
            </a:r>
            <a:r>
              <a:rPr lang="en-US" altLang="zh-CN" sz="2800">
                <a:sym typeface="+mn-ea"/>
              </a:rPr>
              <a:t>x</a:t>
            </a:r>
            <a:r>
              <a:rPr lang="zh-CN" altLang="en-US" sz="2800">
                <a:sym typeface="+mn-ea"/>
              </a:rPr>
              <a:t>的值都为</a:t>
            </a:r>
            <a:r>
              <a:rPr lang="en-US" altLang="zh-CN" sz="2800">
                <a:sym typeface="+mn-ea"/>
              </a:rPr>
              <a:t>-1</a:t>
            </a:r>
            <a:r>
              <a:rPr lang="zh-CN" altLang="en-US" sz="2800">
                <a:sym typeface="+mn-ea"/>
              </a:rPr>
              <a:t>，大于等于</a:t>
            </a:r>
            <a:r>
              <a:rPr lang="en-US" altLang="zh-CN" sz="2800">
                <a:sym typeface="+mn-ea"/>
              </a:rPr>
              <a:t>x</a:t>
            </a:r>
            <a:r>
              <a:rPr lang="zh-CN" altLang="en-US" sz="2800">
                <a:sym typeface="+mn-ea"/>
              </a:rPr>
              <a:t>的值都为</a:t>
            </a:r>
            <a:r>
              <a:rPr lang="en-US" altLang="zh-CN" sz="2800">
                <a:sym typeface="+mn-ea"/>
              </a:rPr>
              <a:t>1</a:t>
            </a:r>
            <a:r>
              <a:rPr lang="zh-CN" altLang="zh-CN" sz="2800">
                <a:sym typeface="+mn-ea"/>
              </a:rPr>
              <a:t>。</a:t>
            </a:r>
            <a:endParaRPr lang="zh-CN" altLang="zh-CN" sz="2800">
              <a:sym typeface="+mn-ea"/>
            </a:endParaRPr>
          </a:p>
        </p:txBody>
      </p:sp>
      <p:sp>
        <p:nvSpPr>
          <p:cNvPr id="5" name="文本框 4"/>
          <p:cNvSpPr txBox="1"/>
          <p:nvPr/>
        </p:nvSpPr>
        <p:spPr>
          <a:xfrm>
            <a:off x="1198245" y="3061335"/>
            <a:ext cx="9653270" cy="95313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思考：刚才说明每颗线段树是区间线段树，那么还剩下一维，权值，不妨让每颗线段树都代表一个权值。</a:t>
            </a:r>
            <a:endParaRPr lang="zh-CN" altLang="zh-CN" sz="2800">
              <a:sym typeface="+mn-ea"/>
            </a:endParaRPr>
          </a:p>
        </p:txBody>
      </p:sp>
      <p:sp>
        <p:nvSpPr>
          <p:cNvPr id="12" name="文本框 11"/>
          <p:cNvSpPr txBox="1"/>
          <p:nvPr/>
        </p:nvSpPr>
        <p:spPr>
          <a:xfrm>
            <a:off x="1198245" y="4219575"/>
            <a:ext cx="9653270" cy="181483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将所有的位置按权值大小排序。最开始让所有的位置都为 </a:t>
            </a:r>
            <a:r>
              <a:rPr lang="en-US" altLang="zh-CN" sz="2800">
                <a:sym typeface="+mn-ea"/>
              </a:rPr>
              <a:t>-1</a:t>
            </a:r>
            <a:r>
              <a:rPr lang="zh-CN" altLang="en-US" sz="2800">
                <a:sym typeface="+mn-ea"/>
              </a:rPr>
              <a:t>，每插入一个权值，就将该权值所在的位置变为</a:t>
            </a:r>
            <a:r>
              <a:rPr lang="en-US" altLang="zh-CN" sz="2800">
                <a:sym typeface="+mn-ea"/>
              </a:rPr>
              <a:t>1</a:t>
            </a:r>
            <a:r>
              <a:rPr lang="zh-CN" altLang="en-US" sz="2800">
                <a:sym typeface="+mn-ea"/>
              </a:rPr>
              <a:t>，并维护前面提到的两个最值</a:t>
            </a:r>
            <a:r>
              <a:rPr lang="zh-CN" altLang="zh-CN" sz="2800">
                <a:sym typeface="+mn-ea"/>
              </a:rPr>
              <a:t>。每次检验时，查询</a:t>
            </a:r>
            <a:r>
              <a:rPr lang="en-US" altLang="zh-CN" sz="2800">
                <a:sym typeface="+mn-ea"/>
              </a:rPr>
              <a:t>x</a:t>
            </a:r>
            <a:r>
              <a:rPr lang="zh-CN" altLang="en-US" sz="2800">
                <a:sym typeface="+mn-ea"/>
              </a:rPr>
              <a:t>所在的线段树就可以了。</a:t>
            </a:r>
            <a:endParaRPr lang="zh-CN" altLang="en-US" sz="2800">
              <a:sym typeface="+mn-ea"/>
            </a:endParaRPr>
          </a:p>
        </p:txBody>
      </p:sp>
    </p:spTree>
    <p:custDataLst>
      <p:tags r:id="rId4"/>
    </p:custData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三</a:t>
            </a:r>
            <a:r>
              <a:rPr lang="en-US" altLang="zh-CN"/>
              <a:t>.</a:t>
            </a:r>
            <a:r>
              <a:rPr lang="zh-CN" altLang="zh-CN"/>
              <a:t>可持久化</a:t>
            </a:r>
            <a:r>
              <a:rPr lang="en-US" altLang="zh-CN"/>
              <a:t>trie</a:t>
            </a:r>
            <a:r>
              <a:rPr lang="zh-CN" altLang="en-US"/>
              <a:t>树</a:t>
            </a:r>
            <a:endParaRPr lang="en-US" altLang="zh-CN"/>
          </a:p>
        </p:txBody>
      </p:sp>
      <p:sp>
        <p:nvSpPr>
          <p:cNvPr id="5" name="文本框 4"/>
          <p:cNvSpPr txBox="1"/>
          <p:nvPr/>
        </p:nvSpPr>
        <p:spPr>
          <a:xfrm>
            <a:off x="1358900" y="1628775"/>
            <a:ext cx="9474835" cy="353822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大部分的可持久化</a:t>
            </a:r>
            <a:r>
              <a:rPr lang="en-US" altLang="zh-CN" sz="2800">
                <a:sym typeface="+mn-ea"/>
              </a:rPr>
              <a:t>trie</a:t>
            </a:r>
            <a:r>
              <a:rPr lang="zh-CN" altLang="en-US" sz="2800">
                <a:sym typeface="+mn-ea"/>
              </a:rPr>
              <a:t>树题目操作的都是一个数的二进制表示，很少遇见字符串的可持久化。</a:t>
            </a:r>
            <a:endParaRPr lang="zh-CN" altLang="en-US" sz="2800">
              <a:sym typeface="+mn-ea"/>
            </a:endParaRPr>
          </a:p>
          <a:p>
            <a:pPr indent="0">
              <a:buFont typeface="Arial" panose="020B0604020202020204" pitchFamily="34" charset="0"/>
              <a:buNone/>
            </a:pPr>
            <a:endParaRPr lang="zh-CN" altLang="en-US" sz="2800">
              <a:sym typeface="+mn-ea"/>
            </a:endParaRPr>
          </a:p>
          <a:p>
            <a:pPr marL="457200" indent="-457200">
              <a:buFont typeface="Arial" panose="020B0604020202020204" pitchFamily="34" charset="0"/>
              <a:buChar char="•"/>
            </a:pPr>
            <a:r>
              <a:rPr lang="zh-CN" altLang="en-US" sz="2800">
                <a:sym typeface="+mn-ea"/>
              </a:rPr>
              <a:t>可持久</a:t>
            </a:r>
            <a:r>
              <a:rPr lang="en-US" altLang="zh-CN" sz="2800">
                <a:sym typeface="+mn-ea"/>
              </a:rPr>
              <a:t>trie</a:t>
            </a:r>
            <a:r>
              <a:rPr lang="zh-CN" altLang="en-US" sz="2800">
                <a:sym typeface="+mn-ea"/>
              </a:rPr>
              <a:t>树的主体与可持久化线段树相同（就是可能多几个子节点）。</a:t>
            </a:r>
            <a:endParaRPr lang="zh-CN" altLang="en-US" sz="2800">
              <a:sym typeface="+mn-ea"/>
            </a:endParaRPr>
          </a:p>
          <a:p>
            <a:pPr marL="457200" indent="-457200">
              <a:buFont typeface="Arial" panose="020B0604020202020204" pitchFamily="34" charset="0"/>
              <a:buChar char="•"/>
            </a:pPr>
            <a:endParaRPr lang="zh-CN" altLang="en-US" sz="2800">
              <a:sym typeface="+mn-ea"/>
            </a:endParaRPr>
          </a:p>
          <a:p>
            <a:pPr marL="457200" indent="-457200">
              <a:buFont typeface="Arial" panose="020B0604020202020204" pitchFamily="34" charset="0"/>
              <a:buChar char="•"/>
            </a:pPr>
            <a:r>
              <a:rPr lang="zh-CN" altLang="en-US" sz="2800">
                <a:sym typeface="+mn-ea"/>
              </a:rPr>
              <a:t>以表示二进制串为例，从根节点开始，第一层代表限制的最高位，依次往下直到最底层，代表第</a:t>
            </a:r>
            <a:r>
              <a:rPr lang="en-US" altLang="zh-CN" sz="2800">
                <a:sym typeface="+mn-ea"/>
              </a:rPr>
              <a:t>0</a:t>
            </a:r>
            <a:r>
              <a:rPr lang="zh-CN" altLang="en-US" sz="2800">
                <a:sym typeface="+mn-ea"/>
              </a:rPr>
              <a:t>位。</a:t>
            </a:r>
            <a:endParaRPr lang="zh-CN" altLang="en-US" sz="2800">
              <a:sym typeface="+mn-ea"/>
            </a:endParaRP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三</a:t>
            </a:r>
            <a:r>
              <a:rPr lang="en-US" altLang="zh-CN" dirty="0"/>
              <a:t>.</a:t>
            </a:r>
            <a:r>
              <a:rPr lang="zh-CN" altLang="en-US" dirty="0"/>
              <a:t>可持久化</a:t>
            </a:r>
            <a:r>
              <a:rPr lang="en-US" altLang="zh-CN" dirty="0"/>
              <a:t>trie</a:t>
            </a:r>
            <a:r>
              <a:rPr lang="zh-CN" altLang="en-US" dirty="0"/>
              <a:t>树</a:t>
            </a:r>
            <a:endParaRPr lang="zh-CN" altLang="en-US"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文本框 4"/>
          <p:cNvSpPr txBox="1"/>
          <p:nvPr/>
        </p:nvSpPr>
        <p:spPr>
          <a:xfrm>
            <a:off x="1061720" y="1826260"/>
            <a:ext cx="10076180" cy="1383665"/>
          </a:xfrm>
          <a:prstGeom prst="rect">
            <a:avLst/>
          </a:prstGeom>
          <a:noFill/>
        </p:spPr>
        <p:txBody>
          <a:bodyPr wrap="square" rtlCol="0">
            <a:spAutoFit/>
          </a:bodyPr>
          <a:p>
            <a:pPr marL="457200" indent="-457200">
              <a:buFont typeface="Arial" panose="020B0604020202020204" pitchFamily="34" charset="0"/>
              <a:buChar char="•"/>
            </a:pPr>
            <a:r>
              <a:rPr lang="en-US" altLang="zh-CN" sz="2800">
                <a:sym typeface="+mn-ea"/>
              </a:rPr>
              <a:t>kth-number</a:t>
            </a:r>
            <a:endParaRPr lang="en-US" altLang="zh-CN" sz="2800">
              <a:sym typeface="+mn-ea"/>
            </a:endParaRPr>
          </a:p>
          <a:p>
            <a:pPr marL="457200" indent="-457200">
              <a:buFont typeface="Arial" panose="020B0604020202020204" pitchFamily="34" charset="0"/>
              <a:buChar char="•"/>
            </a:pPr>
            <a:r>
              <a:rPr lang="zh-CN" altLang="en-US" sz="2800">
                <a:sym typeface="+mn-ea"/>
              </a:rPr>
              <a:t>给出一个长度为</a:t>
            </a:r>
            <a:r>
              <a:rPr lang="en-US" altLang="zh-CN" sz="2800">
                <a:sym typeface="+mn-ea"/>
              </a:rPr>
              <a:t>n</a:t>
            </a:r>
            <a:r>
              <a:rPr lang="zh-CN" altLang="en-US" sz="2800">
                <a:sym typeface="+mn-ea"/>
              </a:rPr>
              <a:t>的序列，每次询问给出一个值，求这个值与这个序列中每个值异或得到的第</a:t>
            </a:r>
            <a:r>
              <a:rPr lang="en-US" altLang="zh-CN" sz="2800">
                <a:sym typeface="+mn-ea"/>
              </a:rPr>
              <a:t>k</a:t>
            </a:r>
            <a:r>
              <a:rPr lang="zh-CN" altLang="en-US" sz="2800">
                <a:sym typeface="+mn-ea"/>
              </a:rPr>
              <a:t>大值。</a:t>
            </a:r>
            <a:endParaRPr lang="zh-CN" altLang="en-US" sz="2800">
              <a:sym typeface="+mn-ea"/>
            </a:endParaRPr>
          </a:p>
        </p:txBody>
      </p:sp>
      <p:sp>
        <p:nvSpPr>
          <p:cNvPr id="4" name="文本框 3"/>
          <p:cNvSpPr txBox="1"/>
          <p:nvPr/>
        </p:nvSpPr>
        <p:spPr>
          <a:xfrm>
            <a:off x="1061720" y="3209925"/>
            <a:ext cx="9498330" cy="224536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对这</a:t>
            </a:r>
            <a:r>
              <a:rPr lang="en-US" altLang="zh-CN" sz="2800">
                <a:sym typeface="+mn-ea"/>
              </a:rPr>
              <a:t>n</a:t>
            </a:r>
            <a:r>
              <a:rPr lang="zh-CN" altLang="en-US" sz="2800">
                <a:sym typeface="+mn-ea"/>
              </a:rPr>
              <a:t>个值建立一颗可持久化</a:t>
            </a:r>
            <a:r>
              <a:rPr lang="en-US" altLang="zh-CN" sz="2800">
                <a:sym typeface="+mn-ea"/>
              </a:rPr>
              <a:t>trie</a:t>
            </a:r>
            <a:r>
              <a:rPr lang="zh-CN" altLang="en-US" sz="2800">
                <a:sym typeface="+mn-ea"/>
              </a:rPr>
              <a:t>树。</a:t>
            </a:r>
            <a:endParaRPr lang="zh-CN" altLang="en-US" sz="2800">
              <a:sym typeface="+mn-ea"/>
            </a:endParaRPr>
          </a:p>
          <a:p>
            <a:pPr marL="457200" indent="-457200">
              <a:buFont typeface="Arial" panose="020B0604020202020204" pitchFamily="34" charset="0"/>
              <a:buChar char="•"/>
            </a:pPr>
            <a:r>
              <a:rPr lang="zh-CN" altLang="en-US" sz="2800">
                <a:sym typeface="+mn-ea"/>
              </a:rPr>
              <a:t>然后对于每个查询的值，我们贪心地考虑，从最高位开始，若是能使当前为异或为</a:t>
            </a:r>
            <a:r>
              <a:rPr lang="en-US" altLang="zh-CN" sz="2800">
                <a:sym typeface="+mn-ea"/>
              </a:rPr>
              <a:t>1</a:t>
            </a:r>
            <a:r>
              <a:rPr lang="zh-CN" altLang="en-US" sz="2800">
                <a:sym typeface="+mn-ea"/>
              </a:rPr>
              <a:t>的值大于等于</a:t>
            </a:r>
            <a:r>
              <a:rPr lang="en-US" altLang="zh-CN" sz="2800">
                <a:sym typeface="+mn-ea"/>
              </a:rPr>
              <a:t>k</a:t>
            </a:r>
            <a:r>
              <a:rPr lang="zh-CN" altLang="en-US" sz="2800">
                <a:sym typeface="+mn-ea"/>
              </a:rPr>
              <a:t>，就异或为</a:t>
            </a:r>
            <a:r>
              <a:rPr lang="en-US" altLang="zh-CN" sz="2800">
                <a:sym typeface="+mn-ea"/>
              </a:rPr>
              <a:t>1</a:t>
            </a:r>
            <a:r>
              <a:rPr lang="zh-CN" altLang="zh-CN" sz="2800">
                <a:sym typeface="+mn-ea"/>
              </a:rPr>
              <a:t>。否则就异或为</a:t>
            </a:r>
            <a:r>
              <a:rPr lang="en-US" altLang="zh-CN" sz="2800">
                <a:sym typeface="+mn-ea"/>
              </a:rPr>
              <a:t>0</a:t>
            </a:r>
            <a:r>
              <a:rPr lang="zh-CN" altLang="en-US" sz="2800">
                <a:sym typeface="+mn-ea"/>
              </a:rPr>
              <a:t>，并使</a:t>
            </a:r>
            <a:r>
              <a:rPr lang="en-US" altLang="zh-CN" sz="2800">
                <a:sym typeface="+mn-ea"/>
              </a:rPr>
              <a:t>k</a:t>
            </a:r>
            <a:r>
              <a:rPr lang="zh-CN" altLang="en-US" sz="2800">
                <a:sym typeface="+mn-ea"/>
              </a:rPr>
              <a:t>减去能异或为</a:t>
            </a:r>
            <a:r>
              <a:rPr lang="en-US" altLang="zh-CN" sz="2800">
                <a:sym typeface="+mn-ea"/>
              </a:rPr>
              <a:t>1</a:t>
            </a:r>
            <a:r>
              <a:rPr lang="zh-CN" altLang="en-US" sz="2800">
                <a:sym typeface="+mn-ea"/>
              </a:rPr>
              <a:t>的值的数量。</a:t>
            </a:r>
            <a:endParaRPr lang="zh-CN" altLang="en-US" sz="2800">
              <a:sym typeface="+mn-ea"/>
            </a:endParaRPr>
          </a:p>
          <a:p>
            <a:pPr marL="457200" indent="-457200">
              <a:buFont typeface="Arial" panose="020B0604020202020204" pitchFamily="34" charset="0"/>
              <a:buChar char="•"/>
            </a:pPr>
            <a:r>
              <a:rPr lang="zh-CN" altLang="en-US" sz="2800">
                <a:sym typeface="+mn-ea"/>
              </a:rPr>
              <a:t>直接在主席树上二分即可。</a:t>
            </a:r>
            <a:endParaRPr lang="zh-CN" altLang="en-US" sz="2800">
              <a:sym typeface="+mn-ea"/>
            </a:endParaRPr>
          </a:p>
        </p:txBody>
      </p:sp>
      <p:sp>
        <p:nvSpPr>
          <p:cNvPr id="165"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点与点的异或</a:t>
            </a:r>
            <a:endParaRPr lang="zh-CN" altLang="en-US">
              <a:solidFill>
                <a:schemeClr val="tx1"/>
              </a:solidFill>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zh-CN" dirty="0"/>
              <a:t>三</a:t>
            </a:r>
            <a:r>
              <a:rPr lang="en-US" altLang="zh-CN" dirty="0"/>
              <a:t>.</a:t>
            </a:r>
            <a:r>
              <a:rPr lang="zh-CN" altLang="zh-CN" dirty="0"/>
              <a:t>可持久化</a:t>
            </a:r>
            <a:r>
              <a:rPr lang="en-US" altLang="zh-CN" dirty="0"/>
              <a:t>trie</a:t>
            </a:r>
            <a:r>
              <a:rPr lang="zh-CN" altLang="zh-CN" dirty="0"/>
              <a:t>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 name="文本框 9"/>
          <p:cNvSpPr txBox="1"/>
          <p:nvPr/>
        </p:nvSpPr>
        <p:spPr>
          <a:xfrm>
            <a:off x="1033145" y="1729740"/>
            <a:ext cx="10960735" cy="3969385"/>
          </a:xfrm>
          <a:prstGeom prst="rect">
            <a:avLst/>
          </a:prstGeom>
          <a:noFill/>
        </p:spPr>
        <p:txBody>
          <a:bodyPr wrap="square" rtlCol="0">
            <a:spAutoFit/>
          </a:bodyPr>
          <a:p>
            <a:pPr marL="457200" indent="-457200">
              <a:buFont typeface="Arial" panose="020B0604020202020204" pitchFamily="34" charset="0"/>
              <a:buChar char="•"/>
            </a:pPr>
            <a:r>
              <a:rPr lang="zh-CN" altLang="en-US" sz="2800">
                <a:sym typeface="+mn-ea"/>
              </a:rPr>
              <a:t>次大值（</a:t>
            </a:r>
            <a:r>
              <a:rPr lang="en-US" altLang="zh-CN" sz="2800">
                <a:sym typeface="+mn-ea"/>
              </a:rPr>
              <a:t>bzoj 3166</a:t>
            </a:r>
            <a:r>
              <a:rPr lang="zh-CN" altLang="en-US" sz="2800">
                <a:sym typeface="+mn-ea"/>
              </a:rPr>
              <a:t>）</a:t>
            </a:r>
            <a:endParaRPr lang="zh-CN" altLang="en-US" sz="2800">
              <a:sym typeface="+mn-ea"/>
            </a:endParaRPr>
          </a:p>
          <a:p>
            <a:pPr marL="457200" indent="-457200">
              <a:buFont typeface="Arial" panose="020B0604020202020204" pitchFamily="34" charset="0"/>
              <a:buChar char="•"/>
            </a:pPr>
            <a:endParaRPr lang="zh-CN" altLang="zh-CN" sz="2800">
              <a:sym typeface="+mn-ea"/>
            </a:endParaRPr>
          </a:p>
          <a:p>
            <a:pPr marL="457200" indent="-457200">
              <a:buFont typeface="Arial" panose="020B0604020202020204" pitchFamily="34" charset="0"/>
              <a:buChar char="•"/>
            </a:pPr>
            <a:r>
              <a:rPr lang="zh-CN" altLang="zh-CN" sz="2800">
                <a:sym typeface="+mn-ea"/>
              </a:rPr>
              <a:t>有n个点，每个点有一个权值，记为ai，权值两两不同。可以选取连续的一些点（至少两个）进行融合，设为 （ai,…,aj），则融合形成的值为这些权值中的次大值与其他任意一个权值异或的值，即，设该段序列次大值为k，则生成的权值为max{k xor ap | ap ≠ k , i ≤ p ≤ j}。 </a:t>
            </a:r>
            <a:endParaRPr lang="zh-CN" altLang="zh-CN" sz="2800">
              <a:sym typeface="+mn-ea"/>
            </a:endParaRPr>
          </a:p>
          <a:p>
            <a:pPr marL="457200" indent="-457200">
              <a:buFont typeface="Arial" panose="020B0604020202020204" pitchFamily="34" charset="0"/>
              <a:buChar char="•"/>
            </a:pPr>
            <a:endParaRPr lang="zh-CN" altLang="zh-CN" sz="2800">
              <a:sym typeface="+mn-ea"/>
            </a:endParaRPr>
          </a:p>
          <a:p>
            <a:pPr marL="457200" indent="-457200">
              <a:buFont typeface="Arial" panose="020B0604020202020204" pitchFamily="34" charset="0"/>
              <a:buChar char="•"/>
            </a:pPr>
            <a:r>
              <a:rPr lang="zh-CN" altLang="zh-CN" sz="2800">
                <a:sym typeface="+mn-ea"/>
              </a:rPr>
              <a:t>求怎么选取序列，才能使生成的权值最大。 </a:t>
            </a:r>
            <a:endParaRPr lang="zh-CN" altLang="zh-CN" sz="2800">
              <a:sym typeface="+mn-ea"/>
            </a:endParaRPr>
          </a:p>
        </p:txBody>
      </p:sp>
      <p:sp>
        <p:nvSpPr>
          <p:cNvPr id="165"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点与点的异或和</a:t>
            </a:r>
            <a:endParaRPr lang="zh-CN" altLang="en-US">
              <a:solidFill>
                <a:schemeClr val="tx1"/>
              </a:solidFill>
            </a:endParaRPr>
          </a:p>
        </p:txBody>
      </p:sp>
    </p:spTree>
    <p:custDataLst>
      <p:tags r:id="rId4"/>
    </p:custData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zh-CN" dirty="0"/>
              <a:t>三</a:t>
            </a:r>
            <a:r>
              <a:rPr lang="en-US" altLang="zh-CN" dirty="0"/>
              <a:t>.</a:t>
            </a:r>
            <a:r>
              <a:rPr lang="zh-CN" altLang="zh-CN" dirty="0"/>
              <a:t>可持久化</a:t>
            </a:r>
            <a:r>
              <a:rPr lang="en-US" altLang="zh-CN" dirty="0"/>
              <a:t>trie</a:t>
            </a:r>
            <a:r>
              <a:rPr lang="zh-CN" altLang="zh-CN" dirty="0"/>
              <a:t>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 name="文本框 9"/>
          <p:cNvSpPr txBox="1"/>
          <p:nvPr/>
        </p:nvSpPr>
        <p:spPr>
          <a:xfrm>
            <a:off x="1033145" y="1729740"/>
            <a:ext cx="10960735" cy="52197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可以枚举次大值，那么它能覆盖的范围如图。</a:t>
            </a:r>
            <a:endParaRPr lang="zh-CN" altLang="zh-CN" sz="2800">
              <a:sym typeface="+mn-ea"/>
            </a:endParaRPr>
          </a:p>
        </p:txBody>
      </p:sp>
      <p:sp>
        <p:nvSpPr>
          <p:cNvPr id="165"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点与点的异或和</a:t>
            </a:r>
            <a:endParaRPr lang="zh-CN" altLang="en-US">
              <a:solidFill>
                <a:schemeClr val="tx1"/>
              </a:solidFill>
            </a:endParaRPr>
          </a:p>
        </p:txBody>
      </p:sp>
      <p:sp>
        <p:nvSpPr>
          <p:cNvPr id="3" name=" 3"/>
          <p:cNvSpPr/>
          <p:nvPr/>
        </p:nvSpPr>
        <p:spPr>
          <a:xfrm>
            <a:off x="1680845" y="3119120"/>
            <a:ext cx="1254760" cy="4248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4" name=" 3"/>
          <p:cNvSpPr/>
          <p:nvPr/>
        </p:nvSpPr>
        <p:spPr>
          <a:xfrm>
            <a:off x="2935605" y="3119120"/>
            <a:ext cx="1254760" cy="4248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5" name=" 3"/>
          <p:cNvSpPr/>
          <p:nvPr/>
        </p:nvSpPr>
        <p:spPr>
          <a:xfrm>
            <a:off x="4190365" y="3119120"/>
            <a:ext cx="1254760" cy="4248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6" name=" 6"/>
          <p:cNvSpPr/>
          <p:nvPr/>
        </p:nvSpPr>
        <p:spPr>
          <a:xfrm>
            <a:off x="2860040" y="2940685"/>
            <a:ext cx="76200" cy="15849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9" name=" 6"/>
          <p:cNvSpPr/>
          <p:nvPr/>
        </p:nvSpPr>
        <p:spPr>
          <a:xfrm>
            <a:off x="1605280" y="2940685"/>
            <a:ext cx="76200" cy="95123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1" name=" 6"/>
          <p:cNvSpPr/>
          <p:nvPr/>
        </p:nvSpPr>
        <p:spPr>
          <a:xfrm>
            <a:off x="5445125" y="2940685"/>
            <a:ext cx="76200" cy="165036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2" name=" 6"/>
          <p:cNvSpPr/>
          <p:nvPr/>
        </p:nvSpPr>
        <p:spPr>
          <a:xfrm>
            <a:off x="3923665" y="2940685"/>
            <a:ext cx="76200" cy="9499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3" name=" 13"/>
          <p:cNvSpPr/>
          <p:nvPr/>
        </p:nvSpPr>
        <p:spPr>
          <a:xfrm>
            <a:off x="3140075" y="2945765"/>
            <a:ext cx="75565" cy="79121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4" name="文本框 13"/>
          <p:cNvSpPr txBox="1"/>
          <p:nvPr/>
        </p:nvSpPr>
        <p:spPr>
          <a:xfrm>
            <a:off x="6121400" y="2279650"/>
            <a:ext cx="4980940" cy="267652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红色为枚举到的次大值，黑色为大于它的值，其余为小于它的值。</a:t>
            </a:r>
            <a:endParaRPr lang="zh-CN" altLang="zh-CN" sz="2800">
              <a:sym typeface="+mn-ea"/>
            </a:endParaRPr>
          </a:p>
          <a:p>
            <a:pPr marL="457200" indent="-457200">
              <a:buFont typeface="Arial" panose="020B0604020202020204" pitchFamily="34" charset="0"/>
              <a:buChar char="•"/>
            </a:pPr>
            <a:r>
              <a:rPr lang="zh-CN" altLang="zh-CN" sz="2800">
                <a:sym typeface="+mn-ea"/>
              </a:rPr>
              <a:t>它做多能覆盖的两个区间如图。</a:t>
            </a:r>
            <a:endParaRPr lang="zh-CN" altLang="zh-CN" sz="2800">
              <a:sym typeface="+mn-ea"/>
            </a:endParaRPr>
          </a:p>
          <a:p>
            <a:pPr marL="457200" indent="-457200">
              <a:buFont typeface="Arial" panose="020B0604020202020204" pitchFamily="34" charset="0"/>
              <a:buChar char="•"/>
            </a:pPr>
            <a:r>
              <a:rPr lang="zh-CN" altLang="zh-CN" sz="2800">
                <a:sym typeface="+mn-ea"/>
              </a:rPr>
              <a:t>这要在这些区间中查询即可。</a:t>
            </a:r>
            <a:endParaRPr lang="zh-CN" altLang="zh-CN" sz="2800">
              <a:sym typeface="+mn-ea"/>
            </a:endParaRPr>
          </a:p>
        </p:txBody>
      </p:sp>
      <p:sp>
        <p:nvSpPr>
          <p:cNvPr id="2050" name=" 2050"/>
          <p:cNvSpPr/>
          <p:nvPr/>
        </p:nvSpPr>
        <p:spPr bwMode="auto">
          <a:xfrm rot="16200000" flipH="1">
            <a:off x="2623185" y="2815590"/>
            <a:ext cx="300355" cy="2451735"/>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rgbClr val="C00000"/>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15" name=" 2050"/>
          <p:cNvSpPr/>
          <p:nvPr/>
        </p:nvSpPr>
        <p:spPr bwMode="auto">
          <a:xfrm rot="16200000" flipH="1">
            <a:off x="4069080" y="3449320"/>
            <a:ext cx="300355" cy="2451735"/>
          </a:xfrm>
          <a:custGeom>
            <a:avLst/>
            <a:gdLst>
              <a:gd name="T0" fmla="*/ 2147483646 w 41"/>
              <a:gd name="T1" fmla="*/ 2147483646 h 281"/>
              <a:gd name="T2" fmla="*/ 2147483646 w 41"/>
              <a:gd name="T3" fmla="*/ 2147483646 h 281"/>
              <a:gd name="T4" fmla="*/ 0 w 41"/>
              <a:gd name="T5" fmla="*/ 0 h 281"/>
              <a:gd name="T6" fmla="*/ 2147483646 w 41"/>
              <a:gd name="T7" fmla="*/ 2147483646 h 281"/>
              <a:gd name="T8" fmla="*/ 2147483646 w 41"/>
              <a:gd name="T9" fmla="*/ 2147483646 h 281"/>
              <a:gd name="T10" fmla="*/ 2147483646 w 41"/>
              <a:gd name="T11" fmla="*/ 2147483646 h 281"/>
              <a:gd name="T12" fmla="*/ 2147483646 w 41"/>
              <a:gd name="T13" fmla="*/ 2147483646 h 281"/>
              <a:gd name="T14" fmla="*/ 2147483646 w 41"/>
              <a:gd name="T15" fmla="*/ 2147483646 h 281"/>
              <a:gd name="T16" fmla="*/ 2147483646 w 41"/>
              <a:gd name="T17" fmla="*/ 2147483646 h 281"/>
              <a:gd name="T18" fmla="*/ 2147483646 w 41"/>
              <a:gd name="T19" fmla="*/ 2147483646 h 281"/>
              <a:gd name="T20" fmla="*/ 2147483646 w 41"/>
              <a:gd name="T21" fmla="*/ 2147483646 h 281"/>
              <a:gd name="T22" fmla="*/ 2147483646 w 41"/>
              <a:gd name="T23" fmla="*/ 2147483646 h 281"/>
              <a:gd name="T24" fmla="*/ 2147483646 w 41"/>
              <a:gd name="T25" fmla="*/ 2147483646 h 281"/>
              <a:gd name="T26" fmla="*/ 0 w 41"/>
              <a:gd name="T27" fmla="*/ 2147483646 h 281"/>
              <a:gd name="T28" fmla="*/ 2147483646 w 41"/>
              <a:gd name="T29" fmla="*/ 2147483646 h 281"/>
              <a:gd name="T30" fmla="*/ 2147483646 w 41"/>
              <a:gd name="T31" fmla="*/ 2147483646 h 281"/>
              <a:gd name="T32" fmla="*/ 2147483646 w 41"/>
              <a:gd name="T33" fmla="*/ 2147483646 h 281"/>
              <a:gd name="T34" fmla="*/ 2147483646 w 41"/>
              <a:gd name="T35" fmla="*/ 2147483646 h 281"/>
              <a:gd name="T36" fmla="*/ 2147483646 w 41"/>
              <a:gd name="T37" fmla="*/ 2147483646 h 281"/>
              <a:gd name="T38" fmla="*/ 2147483646 w 41"/>
              <a:gd name="T39" fmla="*/ 2147483646 h 281"/>
              <a:gd name="T40" fmla="*/ 2147483646 w 41"/>
              <a:gd name="T41" fmla="*/ 2147483646 h 281"/>
              <a:gd name="T42" fmla="*/ 2147483646 w 41"/>
              <a:gd name="T43" fmla="*/ 2147483646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1" h="281">
                <a:moveTo>
                  <a:pt x="15" y="41"/>
                </a:moveTo>
                <a:cubicBezTo>
                  <a:pt x="15" y="29"/>
                  <a:pt x="13" y="19"/>
                  <a:pt x="11" y="13"/>
                </a:cubicBezTo>
                <a:cubicBezTo>
                  <a:pt x="9" y="7"/>
                  <a:pt x="5" y="2"/>
                  <a:pt x="0" y="0"/>
                </a:cubicBezTo>
                <a:cubicBezTo>
                  <a:pt x="10" y="0"/>
                  <a:pt x="17" y="3"/>
                  <a:pt x="21" y="9"/>
                </a:cubicBezTo>
                <a:cubicBezTo>
                  <a:pt x="25" y="14"/>
                  <a:pt x="27" y="27"/>
                  <a:pt x="27" y="45"/>
                </a:cubicBezTo>
                <a:cubicBezTo>
                  <a:pt x="27" y="103"/>
                  <a:pt x="27" y="103"/>
                  <a:pt x="27" y="103"/>
                </a:cubicBezTo>
                <a:cubicBezTo>
                  <a:pt x="27" y="114"/>
                  <a:pt x="28" y="122"/>
                  <a:pt x="30" y="128"/>
                </a:cubicBezTo>
                <a:cubicBezTo>
                  <a:pt x="32" y="134"/>
                  <a:pt x="35" y="138"/>
                  <a:pt x="41" y="141"/>
                </a:cubicBezTo>
                <a:cubicBezTo>
                  <a:pt x="35" y="143"/>
                  <a:pt x="31" y="147"/>
                  <a:pt x="30" y="153"/>
                </a:cubicBezTo>
                <a:cubicBezTo>
                  <a:pt x="28" y="158"/>
                  <a:pt x="27" y="167"/>
                  <a:pt x="27" y="179"/>
                </a:cubicBezTo>
                <a:cubicBezTo>
                  <a:pt x="27" y="232"/>
                  <a:pt x="27" y="232"/>
                  <a:pt x="27" y="232"/>
                </a:cubicBezTo>
                <a:cubicBezTo>
                  <a:pt x="27" y="245"/>
                  <a:pt x="26" y="255"/>
                  <a:pt x="25" y="262"/>
                </a:cubicBezTo>
                <a:cubicBezTo>
                  <a:pt x="23" y="269"/>
                  <a:pt x="20" y="274"/>
                  <a:pt x="16" y="277"/>
                </a:cubicBezTo>
                <a:cubicBezTo>
                  <a:pt x="12" y="279"/>
                  <a:pt x="7" y="281"/>
                  <a:pt x="0" y="281"/>
                </a:cubicBezTo>
                <a:cubicBezTo>
                  <a:pt x="5" y="279"/>
                  <a:pt x="9" y="274"/>
                  <a:pt x="11" y="268"/>
                </a:cubicBezTo>
                <a:cubicBezTo>
                  <a:pt x="13" y="261"/>
                  <a:pt x="15" y="252"/>
                  <a:pt x="15" y="240"/>
                </a:cubicBezTo>
                <a:cubicBezTo>
                  <a:pt x="15" y="186"/>
                  <a:pt x="15" y="186"/>
                  <a:pt x="15" y="186"/>
                </a:cubicBezTo>
                <a:cubicBezTo>
                  <a:pt x="15" y="172"/>
                  <a:pt x="15" y="162"/>
                  <a:pt x="17" y="155"/>
                </a:cubicBezTo>
                <a:cubicBezTo>
                  <a:pt x="19" y="148"/>
                  <a:pt x="23" y="144"/>
                  <a:pt x="29" y="141"/>
                </a:cubicBezTo>
                <a:cubicBezTo>
                  <a:pt x="23" y="138"/>
                  <a:pt x="19" y="133"/>
                  <a:pt x="17" y="127"/>
                </a:cubicBezTo>
                <a:cubicBezTo>
                  <a:pt x="15" y="121"/>
                  <a:pt x="15" y="111"/>
                  <a:pt x="15" y="98"/>
                </a:cubicBezTo>
                <a:lnTo>
                  <a:pt x="15" y="41"/>
                </a:lnTo>
                <a:close/>
              </a:path>
            </a:pathLst>
          </a:custGeom>
          <a:solidFill>
            <a:srgbClr val="C00000"/>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Tree>
    <p:custDataLst>
      <p:tags r:id="rId4"/>
    </p:custData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三</a:t>
            </a:r>
            <a:r>
              <a:rPr lang="en-US" altLang="zh-CN" dirty="0"/>
              <a:t>.</a:t>
            </a:r>
            <a:r>
              <a:rPr lang="zh-CN" altLang="en-US" dirty="0"/>
              <a:t>可持久化</a:t>
            </a:r>
            <a:r>
              <a:rPr lang="en-US" altLang="zh-CN" dirty="0"/>
              <a:t>trie</a:t>
            </a:r>
            <a:r>
              <a:rPr lang="zh-CN" altLang="en-US" dirty="0"/>
              <a:t>树</a:t>
            </a:r>
            <a:endParaRPr lang="zh-CN" altLang="en-US"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 name="文本框 9"/>
          <p:cNvSpPr txBox="1"/>
          <p:nvPr/>
        </p:nvSpPr>
        <p:spPr>
          <a:xfrm>
            <a:off x="1061720" y="1746250"/>
            <a:ext cx="9959975" cy="3969385"/>
          </a:xfrm>
          <a:prstGeom prst="rect">
            <a:avLst/>
          </a:prstGeom>
          <a:noFill/>
        </p:spPr>
        <p:txBody>
          <a:bodyPr wrap="square" rtlCol="0">
            <a:spAutoFit/>
          </a:bodyPr>
          <a:p>
            <a:pPr marL="457200" indent="-457200">
              <a:buFont typeface="Arial" panose="020B0604020202020204" pitchFamily="34" charset="0"/>
              <a:buChar char="•"/>
            </a:pPr>
            <a:r>
              <a:rPr lang="en-US" altLang="zh-CN" sz="2800">
                <a:sym typeface="+mn-ea"/>
              </a:rPr>
              <a:t>kth-number </a:t>
            </a:r>
            <a:r>
              <a:rPr lang="zh-CN" altLang="en-US" sz="2800">
                <a:sym typeface="+mn-ea"/>
              </a:rPr>
              <a:t>（</a:t>
            </a:r>
            <a:r>
              <a:rPr lang="en-US" altLang="zh-CN" sz="2800">
                <a:sym typeface="+mn-ea"/>
              </a:rPr>
              <a:t>bzoj 4103</a:t>
            </a:r>
            <a:r>
              <a:rPr lang="zh-CN" altLang="en-US" sz="2800">
                <a:sym typeface="+mn-ea"/>
              </a:rPr>
              <a:t>）</a:t>
            </a:r>
            <a:endParaRPr lang="zh-CN" altLang="en-US" sz="2800">
              <a:sym typeface="+mn-ea"/>
            </a:endParaRPr>
          </a:p>
          <a:p>
            <a:pPr marL="457200" indent="-457200">
              <a:buFont typeface="Arial" panose="020B0604020202020204" pitchFamily="34" charset="0"/>
              <a:buChar char="•"/>
            </a:pPr>
            <a:r>
              <a:rPr lang="zh-CN" altLang="zh-CN" sz="2800">
                <a:sym typeface="+mn-ea"/>
              </a:rPr>
              <a:t>给定长度为n的数列X={x1,x2,...,xn}和长度为m的数列Y={y1,y2,...,ym}，令矩阵A中第i行第j列的值Aij=xi xor yj，每次询问给定矩形区域i∈[u,d],j∈[l,r]，找出第k大的Aij。</a:t>
            </a:r>
            <a:endParaRPr lang="zh-CN" altLang="zh-CN" sz="2800">
              <a:sym typeface="+mn-ea"/>
            </a:endParaRPr>
          </a:p>
          <a:p>
            <a:pPr marL="457200" indent="-457200">
              <a:buFont typeface="Arial" panose="020B0604020202020204" pitchFamily="34" charset="0"/>
              <a:buChar char="•"/>
            </a:pPr>
            <a:endParaRPr lang="zh-CN" altLang="zh-CN" sz="2800">
              <a:sym typeface="+mn-ea"/>
            </a:endParaRPr>
          </a:p>
          <a:p>
            <a:pPr marL="457200" indent="-457200">
              <a:buFont typeface="Arial" panose="020B0604020202020204" pitchFamily="34" charset="0"/>
              <a:buChar char="•"/>
            </a:pPr>
            <a:r>
              <a:rPr lang="zh-CN" altLang="zh-CN" sz="2800">
                <a:sym typeface="+mn-ea"/>
              </a:rPr>
              <a:t>1&lt;=u&lt;=d&lt;=n&lt;=1000，</a:t>
            </a:r>
            <a:endParaRPr lang="zh-CN" altLang="zh-CN" sz="2800">
              <a:sym typeface="+mn-ea"/>
            </a:endParaRPr>
          </a:p>
          <a:p>
            <a:pPr marL="457200" indent="-457200">
              <a:buFont typeface="Arial" panose="020B0604020202020204" pitchFamily="34" charset="0"/>
              <a:buChar char="•"/>
            </a:pPr>
            <a:r>
              <a:rPr lang="zh-CN" altLang="zh-CN" sz="2800">
                <a:sym typeface="+mn-ea"/>
              </a:rPr>
              <a:t>1&lt;=l&lt;=r&lt;=m&lt;=300000,</a:t>
            </a:r>
            <a:endParaRPr lang="zh-CN" altLang="zh-CN" sz="2800">
              <a:sym typeface="+mn-ea"/>
            </a:endParaRPr>
          </a:p>
          <a:p>
            <a:pPr marL="457200" indent="-457200">
              <a:buFont typeface="Arial" panose="020B0604020202020204" pitchFamily="34" charset="0"/>
              <a:buChar char="•"/>
            </a:pPr>
            <a:r>
              <a:rPr lang="zh-CN" altLang="zh-CN" sz="2800">
                <a:sym typeface="+mn-ea"/>
              </a:rPr>
              <a:t>1&lt;=k&lt;=(d-u+1)*(r-l+1),</a:t>
            </a:r>
            <a:endParaRPr lang="zh-CN" altLang="zh-CN" sz="2800">
              <a:sym typeface="+mn-ea"/>
            </a:endParaRPr>
          </a:p>
          <a:p>
            <a:pPr marL="457200" indent="-457200">
              <a:buFont typeface="Arial" panose="020B0604020202020204" pitchFamily="34" charset="0"/>
              <a:buChar char="•"/>
            </a:pPr>
            <a:r>
              <a:rPr lang="zh-CN" altLang="zh-CN" sz="2800">
                <a:sym typeface="+mn-ea"/>
              </a:rPr>
              <a:t>1&lt;=p&lt;=500。</a:t>
            </a:r>
            <a:endParaRPr lang="zh-CN" altLang="zh-CN" sz="2800">
              <a:sym typeface="+mn-ea"/>
            </a:endParaRPr>
          </a:p>
        </p:txBody>
      </p:sp>
      <p:sp>
        <p:nvSpPr>
          <p:cNvPr id="165"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一堆点与一堆点的异或</a:t>
            </a:r>
            <a:endParaRPr lang="zh-CN" altLang="en-US">
              <a:solidFill>
                <a:schemeClr val="tx1"/>
              </a:solidFill>
            </a:endParaRPr>
          </a:p>
        </p:txBody>
      </p:sp>
    </p:spTree>
    <p:custDataLst>
      <p:tags r:id="rId4"/>
    </p:custData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en-US" dirty="0"/>
              <a:t>三</a:t>
            </a:r>
            <a:r>
              <a:rPr lang="en-US" altLang="zh-CN" dirty="0"/>
              <a:t>.</a:t>
            </a:r>
            <a:r>
              <a:rPr lang="zh-CN" altLang="en-US" dirty="0"/>
              <a:t>可持久化</a:t>
            </a:r>
            <a:r>
              <a:rPr lang="en-US" altLang="zh-CN" dirty="0"/>
              <a:t>trie</a:t>
            </a:r>
            <a:r>
              <a:rPr lang="zh-CN" altLang="en-US" dirty="0"/>
              <a:t>树</a:t>
            </a:r>
            <a:endParaRPr lang="zh-CN" altLang="en-US"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 name="文本框 9"/>
          <p:cNvSpPr txBox="1"/>
          <p:nvPr/>
        </p:nvSpPr>
        <p:spPr>
          <a:xfrm>
            <a:off x="1061720" y="1746250"/>
            <a:ext cx="9959975" cy="310769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首先，这道题数据</a:t>
            </a:r>
            <a:r>
              <a:rPr lang="en-US" altLang="zh-CN" sz="2800">
                <a:sym typeface="+mn-ea"/>
              </a:rPr>
              <a:t>n</a:t>
            </a:r>
            <a:r>
              <a:rPr lang="zh-CN" altLang="en-US" sz="2800">
                <a:sym typeface="+mn-ea"/>
              </a:rPr>
              <a:t>，</a:t>
            </a:r>
            <a:r>
              <a:rPr lang="en-US" altLang="zh-CN" sz="2800">
                <a:sym typeface="+mn-ea"/>
              </a:rPr>
              <a:t>m</a:t>
            </a:r>
            <a:r>
              <a:rPr lang="zh-CN" altLang="en-US" sz="2800">
                <a:sym typeface="+mn-ea"/>
              </a:rPr>
              <a:t>大小非常不平衡。</a:t>
            </a:r>
            <a:endParaRPr lang="zh-CN" altLang="en-US" sz="2800">
              <a:sym typeface="+mn-ea"/>
            </a:endParaRPr>
          </a:p>
          <a:p>
            <a:pPr marL="457200" indent="-457200">
              <a:buFont typeface="Arial" panose="020B0604020202020204" pitchFamily="34" charset="0"/>
              <a:buChar char="•"/>
            </a:pPr>
            <a:r>
              <a:rPr lang="zh-CN" altLang="en-US" sz="2800">
                <a:sym typeface="+mn-ea"/>
              </a:rPr>
              <a:t>可以考虑以数列</a:t>
            </a:r>
            <a:r>
              <a:rPr lang="en-US" altLang="zh-CN" sz="2800">
                <a:sym typeface="+mn-ea"/>
              </a:rPr>
              <a:t>m</a:t>
            </a:r>
            <a:r>
              <a:rPr lang="zh-CN" altLang="en-US" sz="2800">
                <a:sym typeface="+mn-ea"/>
              </a:rPr>
              <a:t>建立</a:t>
            </a:r>
            <a:r>
              <a:rPr lang="en-US" altLang="zh-CN" sz="2800">
                <a:sym typeface="+mn-ea"/>
              </a:rPr>
              <a:t>trie</a:t>
            </a:r>
            <a:r>
              <a:rPr lang="zh-CN" altLang="en-US" sz="2800">
                <a:sym typeface="+mn-ea"/>
              </a:rPr>
              <a:t>树。</a:t>
            </a:r>
            <a:endParaRPr lang="zh-CN" altLang="en-US" sz="2800">
              <a:sym typeface="+mn-ea"/>
            </a:endParaRPr>
          </a:p>
          <a:p>
            <a:pPr marL="457200" indent="-457200">
              <a:buFont typeface="Arial" panose="020B0604020202020204" pitchFamily="34" charset="0"/>
              <a:buChar char="•"/>
            </a:pPr>
            <a:endParaRPr lang="zh-CN" altLang="en-US" sz="2800">
              <a:sym typeface="+mn-ea"/>
            </a:endParaRPr>
          </a:p>
          <a:p>
            <a:pPr marL="457200" indent="-457200">
              <a:buFont typeface="Arial" panose="020B0604020202020204" pitchFamily="34" charset="0"/>
              <a:buChar char="•"/>
            </a:pPr>
            <a:r>
              <a:rPr lang="zh-CN" altLang="en-US" sz="2800">
                <a:sym typeface="+mn-ea"/>
              </a:rPr>
              <a:t>每次查询时</a:t>
            </a:r>
            <a:r>
              <a:rPr lang="en-US" altLang="zh-CN" sz="2800">
                <a:sym typeface="+mn-ea"/>
              </a:rPr>
              <a:t>n</a:t>
            </a:r>
            <a:r>
              <a:rPr lang="zh-CN" altLang="en-US" sz="2800">
                <a:sym typeface="+mn-ea"/>
              </a:rPr>
              <a:t>个点在上面跑。</a:t>
            </a:r>
            <a:endParaRPr lang="zh-CN" altLang="en-US" sz="2800">
              <a:sym typeface="+mn-ea"/>
            </a:endParaRPr>
          </a:p>
          <a:p>
            <a:pPr marL="457200" indent="-457200">
              <a:buFont typeface="Arial" panose="020B0604020202020204" pitchFamily="34" charset="0"/>
              <a:buChar char="•"/>
            </a:pPr>
            <a:r>
              <a:rPr lang="zh-CN" altLang="en-US" sz="2800">
                <a:sym typeface="+mn-ea"/>
              </a:rPr>
              <a:t>因为要在所有的异或值的集合中找</a:t>
            </a:r>
            <a:r>
              <a:rPr lang="en-US" altLang="zh-CN" sz="2800">
                <a:sym typeface="+mn-ea"/>
              </a:rPr>
              <a:t>k</a:t>
            </a:r>
            <a:r>
              <a:rPr lang="zh-CN" altLang="en-US" sz="2800">
                <a:sym typeface="+mn-ea"/>
              </a:rPr>
              <a:t>大值，所以这（</a:t>
            </a:r>
            <a:r>
              <a:rPr lang="en-US" altLang="zh-CN" sz="2800">
                <a:sym typeface="+mn-ea"/>
              </a:rPr>
              <a:t>d-u+1</a:t>
            </a:r>
            <a:r>
              <a:rPr lang="zh-CN" altLang="en-US" sz="2800">
                <a:sym typeface="+mn-ea"/>
              </a:rPr>
              <a:t>）个点可以同时在</a:t>
            </a:r>
            <a:r>
              <a:rPr lang="en-US" altLang="zh-CN" sz="2800">
                <a:sym typeface="+mn-ea"/>
              </a:rPr>
              <a:t>trie</a:t>
            </a:r>
            <a:r>
              <a:rPr lang="zh-CN" altLang="en-US" sz="2800">
                <a:sym typeface="+mn-ea"/>
              </a:rPr>
              <a:t>树上跑。</a:t>
            </a:r>
            <a:endParaRPr lang="zh-CN" altLang="en-US" sz="2800">
              <a:sym typeface="+mn-ea"/>
            </a:endParaRPr>
          </a:p>
          <a:p>
            <a:pPr marL="457200" indent="-457200">
              <a:buFont typeface="Arial" panose="020B0604020202020204" pitchFamily="34" charset="0"/>
              <a:buChar char="•"/>
            </a:pPr>
            <a:r>
              <a:rPr lang="zh-CN" altLang="en-US" sz="2800">
                <a:sym typeface="+mn-ea"/>
              </a:rPr>
              <a:t>不可能将其拆成（</a:t>
            </a:r>
            <a:r>
              <a:rPr lang="en-US" altLang="zh-CN" sz="2800">
                <a:sym typeface="+mn-ea"/>
              </a:rPr>
              <a:t>d-u+1</a:t>
            </a:r>
            <a:r>
              <a:rPr lang="zh-CN" altLang="en-US" sz="2800">
                <a:sym typeface="+mn-ea"/>
              </a:rPr>
              <a:t>）个集合，无法求出第</a:t>
            </a:r>
            <a:r>
              <a:rPr lang="en-US" altLang="zh-CN" sz="2800">
                <a:sym typeface="+mn-ea"/>
              </a:rPr>
              <a:t>k</a:t>
            </a:r>
            <a:r>
              <a:rPr lang="zh-CN" altLang="en-US" sz="2800">
                <a:sym typeface="+mn-ea"/>
              </a:rPr>
              <a:t>大值。</a:t>
            </a:r>
            <a:endParaRPr lang="zh-CN" altLang="en-US" sz="2800">
              <a:sym typeface="+mn-ea"/>
            </a:endParaRPr>
          </a:p>
        </p:txBody>
      </p:sp>
      <p:sp>
        <p:nvSpPr>
          <p:cNvPr id="4"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一堆点与一堆点的异或</a:t>
            </a:r>
            <a:endParaRPr lang="zh-CN" altLang="en-US">
              <a:solidFill>
                <a:schemeClr val="tx1"/>
              </a:solidFill>
            </a:endParaRPr>
          </a:p>
        </p:txBody>
      </p:sp>
    </p:spTree>
    <p:custDataLst>
      <p:tags r:id="rId4"/>
    </p:custData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zh-CN" dirty="0"/>
              <a:t>三</a:t>
            </a:r>
            <a:r>
              <a:rPr lang="en-US" altLang="zh-CN" dirty="0"/>
              <a:t>.</a:t>
            </a:r>
            <a:r>
              <a:rPr lang="zh-CN" altLang="zh-CN" dirty="0"/>
              <a:t>可持久化</a:t>
            </a:r>
            <a:r>
              <a:rPr lang="en-US" altLang="zh-CN" dirty="0"/>
              <a:t>trie</a:t>
            </a:r>
            <a:r>
              <a:rPr lang="zh-CN" altLang="zh-CN" dirty="0"/>
              <a:t>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 name="文本框 9"/>
          <p:cNvSpPr txBox="1"/>
          <p:nvPr/>
        </p:nvSpPr>
        <p:spPr>
          <a:xfrm>
            <a:off x="1033145" y="1729740"/>
            <a:ext cx="10960735" cy="953135"/>
          </a:xfrm>
          <a:prstGeom prst="rect">
            <a:avLst/>
          </a:prstGeom>
          <a:noFill/>
        </p:spPr>
        <p:txBody>
          <a:bodyPr wrap="square" rtlCol="0">
            <a:spAutoFit/>
          </a:bodyPr>
          <a:p>
            <a:pPr marL="457200" indent="-457200">
              <a:buFont typeface="Arial" panose="020B0604020202020204" pitchFamily="34" charset="0"/>
              <a:buChar char="•"/>
            </a:pPr>
            <a:r>
              <a:rPr lang="zh-CN" altLang="en-US" sz="2800">
                <a:sym typeface="+mn-ea"/>
              </a:rPr>
              <a:t>异或和</a:t>
            </a:r>
            <a:r>
              <a:rPr lang="en-US" altLang="zh-CN" sz="2800">
                <a:sym typeface="+mn-ea"/>
              </a:rPr>
              <a:t> </a:t>
            </a:r>
            <a:r>
              <a:rPr lang="zh-CN" altLang="en-US" sz="2800">
                <a:sym typeface="+mn-ea"/>
              </a:rPr>
              <a:t>（</a:t>
            </a:r>
            <a:r>
              <a:rPr lang="en-US" altLang="zh-CN" sz="2800">
                <a:sym typeface="+mn-ea"/>
              </a:rPr>
              <a:t>bzoj 2741</a:t>
            </a:r>
            <a:r>
              <a:rPr lang="zh-CN" altLang="en-US" sz="2800">
                <a:sym typeface="+mn-ea"/>
              </a:rPr>
              <a:t>）</a:t>
            </a:r>
            <a:endParaRPr lang="zh-CN" altLang="en-US" sz="2800">
              <a:sym typeface="+mn-ea"/>
            </a:endParaRPr>
          </a:p>
          <a:p>
            <a:pPr marL="457200" indent="-457200">
              <a:buFont typeface="Arial" panose="020B0604020202020204" pitchFamily="34" charset="0"/>
              <a:buChar char="•"/>
            </a:pPr>
            <a:r>
              <a:rPr lang="zh-CN" altLang="zh-CN" sz="2800">
                <a:sym typeface="+mn-ea"/>
              </a:rPr>
              <a:t>链接：http://www.lydsy.com/JudgeOnline/problem.php?id=2741</a:t>
            </a:r>
            <a:endParaRPr lang="zh-CN" altLang="zh-CN" sz="2800">
              <a:sym typeface="+mn-ea"/>
            </a:endParaRPr>
          </a:p>
        </p:txBody>
      </p:sp>
      <p:sp>
        <p:nvSpPr>
          <p:cNvPr id="3" name="文本框 2"/>
          <p:cNvSpPr txBox="1"/>
          <p:nvPr/>
        </p:nvSpPr>
        <p:spPr>
          <a:xfrm>
            <a:off x="1033145" y="2682875"/>
            <a:ext cx="9924415" cy="224536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思考：首先这是求区间异或和，先求出异或前缀和，</a:t>
            </a:r>
            <a:r>
              <a:rPr lang="zh-CN" altLang="en-US" sz="2800">
                <a:sym typeface="+mn-ea"/>
              </a:rPr>
              <a:t>就转化为了前面的题。</a:t>
            </a:r>
            <a:r>
              <a:rPr lang="en-US" altLang="zh-CN" sz="2800">
                <a:sym typeface="+mn-ea"/>
              </a:rPr>
              <a:t>			             </a:t>
            </a:r>
            <a:endParaRPr lang="en-US" altLang="zh-CN" sz="2800">
              <a:sym typeface="+mn-ea"/>
            </a:endParaRPr>
          </a:p>
          <a:p>
            <a:pPr marL="457200" indent="-457200">
              <a:buFont typeface="Arial" panose="020B0604020202020204" pitchFamily="34" charset="0"/>
              <a:buChar char="•"/>
            </a:pPr>
            <a:r>
              <a:rPr lang="zh-CN" altLang="en-US" sz="2800">
                <a:sym typeface="+mn-ea"/>
              </a:rPr>
              <a:t>考虑只有一次询问，那我们只需要枚举右端点，在</a:t>
            </a:r>
            <a:r>
              <a:rPr lang="en-US" altLang="zh-CN" sz="2800">
                <a:sym typeface="+mn-ea"/>
              </a:rPr>
              <a:t>trie</a:t>
            </a:r>
            <a:r>
              <a:rPr lang="zh-CN" altLang="en-US" sz="2800">
                <a:sym typeface="+mn-ea"/>
              </a:rPr>
              <a:t>树中贪心地找到最大值即可。</a:t>
            </a:r>
            <a:endParaRPr lang="zh-CN" altLang="en-US" sz="2800">
              <a:sym typeface="+mn-ea"/>
            </a:endParaRPr>
          </a:p>
          <a:p>
            <a:pPr marL="457200" indent="-457200">
              <a:buFont typeface="Arial" panose="020B0604020202020204" pitchFamily="34" charset="0"/>
              <a:buChar char="•"/>
            </a:pPr>
            <a:r>
              <a:rPr lang="zh-CN" altLang="en-US" sz="2800">
                <a:sym typeface="+mn-ea"/>
              </a:rPr>
              <a:t>但是有多次询问，该怎么办呢？</a:t>
            </a:r>
            <a:endParaRPr lang="zh-CN" altLang="en-US" sz="2800">
              <a:sym typeface="+mn-ea"/>
            </a:endParaRPr>
          </a:p>
        </p:txBody>
      </p:sp>
      <p:sp>
        <p:nvSpPr>
          <p:cNvPr id="5" name="文本框 4"/>
          <p:cNvSpPr txBox="1"/>
          <p:nvPr/>
        </p:nvSpPr>
        <p:spPr>
          <a:xfrm>
            <a:off x="1033145" y="4928235"/>
            <a:ext cx="9983470" cy="52197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考虑一种近乎暴力的优化复杂度的方法</a:t>
            </a:r>
            <a:endParaRPr lang="zh-CN" altLang="zh-CN" sz="2800">
              <a:sym typeface="+mn-ea"/>
            </a:endParaRPr>
          </a:p>
        </p:txBody>
      </p:sp>
      <p:sp>
        <p:nvSpPr>
          <p:cNvPr id="6" name="文本框 5"/>
          <p:cNvSpPr txBox="1"/>
          <p:nvPr/>
        </p:nvSpPr>
        <p:spPr>
          <a:xfrm>
            <a:off x="1033145" y="5450205"/>
            <a:ext cx="8813165" cy="521970"/>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分块！！！</a:t>
            </a:r>
            <a:endParaRPr lang="zh-CN" altLang="zh-CN" sz="2800">
              <a:sym typeface="+mn-ea"/>
            </a:endParaRPr>
          </a:p>
        </p:txBody>
      </p:sp>
      <p:sp>
        <p:nvSpPr>
          <p:cNvPr id="165"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区间的异或和</a:t>
            </a:r>
            <a:endParaRPr lang="zh-CN" altLang="en-US">
              <a:solidFill>
                <a:schemeClr val="tx1"/>
              </a:solidFill>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zh-CN" dirty="0">
                <a:sym typeface="+mn-ea"/>
              </a:rPr>
              <a:t>三</a:t>
            </a:r>
            <a:r>
              <a:rPr lang="en-US" altLang="zh-CN" dirty="0">
                <a:sym typeface="+mn-ea"/>
              </a:rPr>
              <a:t>.</a:t>
            </a:r>
            <a:r>
              <a:rPr lang="zh-CN" altLang="zh-CN" dirty="0">
                <a:sym typeface="+mn-ea"/>
              </a:rPr>
              <a:t>可持久化</a:t>
            </a:r>
            <a:r>
              <a:rPr lang="en-US" altLang="zh-CN" dirty="0">
                <a:sym typeface="+mn-ea"/>
              </a:rPr>
              <a:t>trie</a:t>
            </a:r>
            <a:r>
              <a:rPr lang="zh-CN" altLang="zh-CN" dirty="0">
                <a:sym typeface="+mn-ea"/>
              </a:rPr>
              <a:t>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文本框 3"/>
          <p:cNvSpPr txBox="1"/>
          <p:nvPr/>
        </p:nvSpPr>
        <p:spPr>
          <a:xfrm>
            <a:off x="3828415" y="3075305"/>
            <a:ext cx="4534535" cy="706755"/>
          </a:xfrm>
          <a:prstGeom prst="rect">
            <a:avLst/>
          </a:prstGeom>
          <a:noFill/>
        </p:spPr>
        <p:txBody>
          <a:bodyPr wrap="none" rtlCol="0" anchor="t">
            <a:spAutoFit/>
          </a:bodyPr>
          <a:p>
            <a:pPr marL="457200" indent="-457200">
              <a:buFont typeface="Arial" panose="020B0604020202020204" pitchFamily="34" charset="0"/>
              <a:buChar char="•"/>
            </a:pPr>
            <a:r>
              <a:rPr lang="zh-CN" altLang="zh-CN" sz="4000" dirty="0">
                <a:solidFill>
                  <a:schemeClr val="bg1"/>
                </a:solidFill>
                <a:latin typeface="+mj-lt"/>
                <a:ea typeface="+mj-ea"/>
                <a:cs typeface="+mj-cs"/>
                <a:sym typeface="+mn-ea"/>
              </a:rPr>
              <a:t>三</a:t>
            </a:r>
            <a:r>
              <a:rPr lang="en-US" altLang="zh-CN" sz="4000" dirty="0">
                <a:solidFill>
                  <a:schemeClr val="bg1"/>
                </a:solidFill>
                <a:latin typeface="+mj-lt"/>
                <a:ea typeface="+mj-ea"/>
                <a:cs typeface="+mj-cs"/>
                <a:sym typeface="+mn-ea"/>
              </a:rPr>
              <a:t>.</a:t>
            </a:r>
            <a:r>
              <a:rPr lang="zh-CN" altLang="zh-CN" sz="4000" dirty="0">
                <a:solidFill>
                  <a:schemeClr val="bg1"/>
                </a:solidFill>
                <a:latin typeface="+mj-lt"/>
                <a:ea typeface="+mj-ea"/>
                <a:cs typeface="+mj-cs"/>
                <a:sym typeface="+mn-ea"/>
              </a:rPr>
              <a:t>可持久化</a:t>
            </a:r>
            <a:r>
              <a:rPr lang="en-US" altLang="zh-CN" sz="4000" dirty="0">
                <a:solidFill>
                  <a:schemeClr val="bg1"/>
                </a:solidFill>
                <a:latin typeface="+mj-lt"/>
                <a:ea typeface="+mj-ea"/>
                <a:cs typeface="+mj-cs"/>
                <a:sym typeface="+mn-ea"/>
              </a:rPr>
              <a:t>trie</a:t>
            </a:r>
            <a:r>
              <a:rPr lang="zh-CN" altLang="zh-CN" sz="4000" dirty="0">
                <a:solidFill>
                  <a:schemeClr val="bg1"/>
                </a:solidFill>
                <a:latin typeface="+mj-lt"/>
                <a:ea typeface="+mj-ea"/>
                <a:cs typeface="+mj-cs"/>
                <a:sym typeface="+mn-ea"/>
              </a:rPr>
              <a:t>树</a:t>
            </a:r>
            <a:endParaRPr lang="zh-CN" altLang="zh-CN" sz="2800">
              <a:sym typeface="+mn-ea"/>
            </a:endParaRPr>
          </a:p>
        </p:txBody>
      </p:sp>
      <p:sp>
        <p:nvSpPr>
          <p:cNvPr id="9" name="文本框 8"/>
          <p:cNvSpPr txBox="1"/>
          <p:nvPr/>
        </p:nvSpPr>
        <p:spPr>
          <a:xfrm>
            <a:off x="1045210" y="1746250"/>
            <a:ext cx="9942830" cy="396938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将整个序列分成    块，每块大小为    </a:t>
            </a:r>
            <a:endParaRPr lang="zh-CN" altLang="zh-CN" sz="2800">
              <a:sym typeface="+mn-ea"/>
            </a:endParaRPr>
          </a:p>
          <a:p>
            <a:pPr marL="457200" indent="-457200">
              <a:buFont typeface="Arial" panose="020B0604020202020204" pitchFamily="34" charset="0"/>
              <a:buChar char="•"/>
            </a:pPr>
            <a:endParaRPr lang="zh-CN" altLang="zh-CN" sz="2800">
              <a:sym typeface="+mn-ea"/>
            </a:endParaRPr>
          </a:p>
          <a:p>
            <a:pPr marL="457200" indent="-457200">
              <a:buFont typeface="Arial" panose="020B0604020202020204" pitchFamily="34" charset="0"/>
              <a:buChar char="•"/>
            </a:pPr>
            <a:r>
              <a:rPr lang="zh-CN" altLang="zh-CN" sz="2800">
                <a:sym typeface="+mn-ea"/>
              </a:rPr>
              <a:t>先预处理出每块内部的异或和最大值。设</a:t>
            </a:r>
            <a:r>
              <a:rPr lang="en-US" altLang="zh-CN" sz="2800">
                <a:sym typeface="+mn-ea"/>
              </a:rPr>
              <a:t>c[i][j]</a:t>
            </a:r>
            <a:r>
              <a:rPr lang="zh-CN" altLang="zh-CN" sz="2800">
                <a:sym typeface="+mn-ea"/>
              </a:rPr>
              <a:t>为右端点在第</a:t>
            </a:r>
            <a:r>
              <a:rPr lang="en-US" altLang="zh-CN" sz="2800">
                <a:sym typeface="+mn-ea"/>
              </a:rPr>
              <a:t>j</a:t>
            </a:r>
            <a:r>
              <a:rPr lang="zh-CN" altLang="en-US" sz="2800">
                <a:sym typeface="+mn-ea"/>
              </a:rPr>
              <a:t>块中，左端点在</a:t>
            </a:r>
            <a:r>
              <a:rPr lang="en-US" altLang="zh-CN" sz="2800">
                <a:sym typeface="+mn-ea"/>
              </a:rPr>
              <a:t>i</a:t>
            </a:r>
            <a:r>
              <a:rPr lang="zh-CN" altLang="en-US" sz="2800">
                <a:sym typeface="+mn-ea"/>
              </a:rPr>
              <a:t>到</a:t>
            </a:r>
            <a:r>
              <a:rPr lang="en-US" altLang="zh-CN" sz="2800">
                <a:sym typeface="+mn-ea"/>
              </a:rPr>
              <a:t>j</a:t>
            </a:r>
            <a:r>
              <a:rPr lang="zh-CN" altLang="en-US" sz="2800">
                <a:sym typeface="+mn-ea"/>
              </a:rPr>
              <a:t>块之间（包括</a:t>
            </a:r>
            <a:r>
              <a:rPr lang="en-US" altLang="zh-CN" sz="2800">
                <a:sym typeface="+mn-ea"/>
              </a:rPr>
              <a:t>i</a:t>
            </a:r>
            <a:r>
              <a:rPr lang="zh-CN" altLang="en-US" sz="2800">
                <a:sym typeface="+mn-ea"/>
              </a:rPr>
              <a:t>，</a:t>
            </a:r>
            <a:r>
              <a:rPr lang="en-US" altLang="zh-CN" sz="2800">
                <a:sym typeface="+mn-ea"/>
              </a:rPr>
              <a:t>j</a:t>
            </a:r>
            <a:r>
              <a:rPr lang="zh-CN" altLang="en-US" sz="2800">
                <a:sym typeface="+mn-ea"/>
              </a:rPr>
              <a:t>）的区间异或和最大值。这样，</a:t>
            </a:r>
            <a:r>
              <a:rPr lang="en-US" altLang="zh-CN" sz="2800">
                <a:sym typeface="+mn-ea"/>
              </a:rPr>
              <a:t>f[i][j]</a:t>
            </a:r>
            <a:r>
              <a:rPr lang="zh-CN" altLang="zh-CN" sz="2800">
                <a:sym typeface="+mn-ea"/>
              </a:rPr>
              <a:t>为左右端点均在</a:t>
            </a:r>
            <a:r>
              <a:rPr lang="en-US" altLang="zh-CN" sz="2800">
                <a:sym typeface="+mn-ea"/>
              </a:rPr>
              <a:t>i</a:t>
            </a:r>
            <a:r>
              <a:rPr lang="zh-CN" altLang="en-US" sz="2800">
                <a:sym typeface="+mn-ea"/>
              </a:rPr>
              <a:t>到</a:t>
            </a:r>
            <a:r>
              <a:rPr lang="en-US" altLang="zh-CN" sz="2800">
                <a:sym typeface="+mn-ea"/>
              </a:rPr>
              <a:t>j</a:t>
            </a:r>
            <a:r>
              <a:rPr lang="zh-CN" altLang="en-US" sz="2800">
                <a:sym typeface="+mn-ea"/>
              </a:rPr>
              <a:t>块之间（包括</a:t>
            </a:r>
            <a:r>
              <a:rPr lang="en-US" altLang="zh-CN" sz="2800">
                <a:sym typeface="+mn-ea"/>
              </a:rPr>
              <a:t>i</a:t>
            </a:r>
            <a:r>
              <a:rPr lang="zh-CN" altLang="en-US" sz="2800">
                <a:sym typeface="+mn-ea"/>
              </a:rPr>
              <a:t>，</a:t>
            </a:r>
            <a:r>
              <a:rPr lang="en-US" altLang="zh-CN" sz="2800">
                <a:sym typeface="+mn-ea"/>
              </a:rPr>
              <a:t>j</a:t>
            </a:r>
            <a:r>
              <a:rPr lang="zh-CN" altLang="en-US" sz="2800">
                <a:sym typeface="+mn-ea"/>
              </a:rPr>
              <a:t>）的区间异或和最大值。</a:t>
            </a:r>
            <a:endParaRPr lang="zh-CN" altLang="en-US" sz="2800">
              <a:sym typeface="+mn-ea"/>
            </a:endParaRPr>
          </a:p>
          <a:p>
            <a:pPr marL="457200" indent="-457200">
              <a:buFont typeface="Arial" panose="020B0604020202020204" pitchFamily="34" charset="0"/>
              <a:buChar char="•"/>
            </a:pPr>
            <a:endParaRPr lang="zh-CN" altLang="en-US" sz="2800">
              <a:sym typeface="+mn-ea"/>
            </a:endParaRPr>
          </a:p>
          <a:p>
            <a:pPr marL="457200" indent="-457200">
              <a:buFont typeface="Arial" panose="020B0604020202020204" pitchFamily="34" charset="0"/>
              <a:buChar char="•"/>
            </a:pPr>
            <a:r>
              <a:rPr lang="zh-CN" altLang="en-US" sz="2800">
                <a:sym typeface="+mn-ea"/>
              </a:rPr>
              <a:t>转移</a:t>
            </a:r>
            <a:r>
              <a:rPr lang="en-US" altLang="zh-CN" sz="2800">
                <a:sym typeface="+mn-ea"/>
              </a:rPr>
              <a:t>:f[i][j] = max(f[i][j-1], c[i][j])</a:t>
            </a:r>
            <a:r>
              <a:rPr lang="zh-CN" altLang="en-US" sz="2800">
                <a:sym typeface="+mn-ea"/>
              </a:rPr>
              <a:t>（</a:t>
            </a:r>
            <a:r>
              <a:rPr lang="en-US" altLang="zh-CN" sz="2800">
                <a:sym typeface="+mn-ea"/>
              </a:rPr>
              <a:t>f[i][j]</a:t>
            </a:r>
            <a:r>
              <a:rPr lang="zh-CN" altLang="en-US" sz="2800">
                <a:sym typeface="+mn-ea"/>
              </a:rPr>
              <a:t>其实怎样都可以搞出来，这里知识提供了一种方法</a:t>
            </a:r>
            <a:r>
              <a:rPr lang="zh-CN" altLang="zh-CN" sz="2800">
                <a:sym typeface="+mn-ea"/>
              </a:rPr>
              <a:t>）。</a:t>
            </a:r>
            <a:endParaRPr lang="zh-CN" altLang="zh-CN" sz="2800">
              <a:sym typeface="+mn-ea"/>
            </a:endParaRPr>
          </a:p>
        </p:txBody>
      </p:sp>
      <p:graphicFrame>
        <p:nvGraphicFramePr>
          <p:cNvPr id="11" name="对象 10">
            <a:hlinkClick r:id="" action="ppaction://ole?verb="/>
          </p:cNvPr>
          <p:cNvGraphicFramePr>
            <a:graphicFrameLocks noChangeAspect="1"/>
          </p:cNvGraphicFramePr>
          <p:nvPr/>
        </p:nvGraphicFramePr>
        <p:xfrm>
          <a:off x="4121785" y="1844675"/>
          <a:ext cx="342900" cy="325755"/>
        </p:xfrm>
        <a:graphic>
          <a:graphicData uri="http://schemas.openxmlformats.org/presentationml/2006/ole">
            <mc:AlternateContent xmlns:mc="http://schemas.openxmlformats.org/markup-compatibility/2006">
              <mc:Choice xmlns:v="urn:schemas-microsoft-com:vml" Requires="v">
                <p:oleObj spid="_x0000_s1025" name="" r:id="rId4" imgW="241300" imgH="228600" progId="Equation.KSEE3">
                  <p:embed/>
                </p:oleObj>
              </mc:Choice>
              <mc:Fallback>
                <p:oleObj name="" r:id="rId4" imgW="241300" imgH="228600" progId="Equation.KSEE3">
                  <p:embed/>
                  <p:pic>
                    <p:nvPicPr>
                      <p:cNvPr id="0" name="图片 1024"/>
                      <p:cNvPicPr/>
                      <p:nvPr/>
                    </p:nvPicPr>
                    <p:blipFill>
                      <a:blip r:embed="rId5"/>
                      <a:stretch>
                        <a:fillRect/>
                      </a:stretch>
                    </p:blipFill>
                    <p:spPr>
                      <a:xfrm>
                        <a:off x="4121785" y="1844675"/>
                        <a:ext cx="342900" cy="325755"/>
                      </a:xfrm>
                      <a:prstGeom prst="rect">
                        <a:avLst/>
                      </a:prstGeom>
                    </p:spPr>
                  </p:pic>
                </p:oleObj>
              </mc:Fallback>
            </mc:AlternateContent>
          </a:graphicData>
        </a:graphic>
      </p:graphicFrame>
      <p:graphicFrame>
        <p:nvGraphicFramePr>
          <p:cNvPr id="12" name="对象 11">
            <a:hlinkClick r:id="" action="ppaction://ole?verb="/>
          </p:cNvPr>
          <p:cNvGraphicFramePr>
            <a:graphicFrameLocks noChangeAspect="1"/>
          </p:cNvGraphicFramePr>
          <p:nvPr/>
        </p:nvGraphicFramePr>
        <p:xfrm>
          <a:off x="6950710" y="1844040"/>
          <a:ext cx="342900" cy="325755"/>
        </p:xfrm>
        <a:graphic>
          <a:graphicData uri="http://schemas.openxmlformats.org/presentationml/2006/ole">
            <mc:AlternateContent xmlns:mc="http://schemas.openxmlformats.org/markup-compatibility/2006">
              <mc:Choice xmlns:v="urn:schemas-microsoft-com:vml" Requires="v">
                <p:oleObj spid="_x0000_s3" name="" r:id="rId6" imgW="241300" imgH="228600" progId="Equation.KSEE3">
                  <p:embed/>
                </p:oleObj>
              </mc:Choice>
              <mc:Fallback>
                <p:oleObj name="" r:id="rId6" imgW="241300" imgH="228600" progId="Equation.KSEE3">
                  <p:embed/>
                  <p:pic>
                    <p:nvPicPr>
                      <p:cNvPr id="0" name="图片 1024"/>
                      <p:cNvPicPr/>
                      <p:nvPr/>
                    </p:nvPicPr>
                    <p:blipFill>
                      <a:blip r:embed="rId5"/>
                      <a:stretch>
                        <a:fillRect/>
                      </a:stretch>
                    </p:blipFill>
                    <p:spPr>
                      <a:xfrm>
                        <a:off x="6950710" y="1844040"/>
                        <a:ext cx="342900" cy="325755"/>
                      </a:xfrm>
                      <a:prstGeom prst="rect">
                        <a:avLst/>
                      </a:prstGeom>
                    </p:spPr>
                  </p:pic>
                </p:oleObj>
              </mc:Fallback>
            </mc:AlternateContent>
          </a:graphicData>
        </a:graphic>
      </p:graphicFrame>
      <p:sp>
        <p:nvSpPr>
          <p:cNvPr id="165"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区间的异或和</a:t>
            </a:r>
            <a:endParaRPr lang="zh-CN" altLang="en-US">
              <a:solidFill>
                <a:schemeClr val="tx1"/>
              </a:solidFill>
            </a:endParaRPr>
          </a:p>
        </p:txBody>
      </p:sp>
    </p:spTree>
    <p:custDataLst>
      <p:tags r:id="rId7"/>
    </p:custData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p>
            <a:r>
              <a:rPr lang="zh-CN" altLang="zh-CN" dirty="0">
                <a:sym typeface="+mn-ea"/>
              </a:rPr>
              <a:t>三</a:t>
            </a:r>
            <a:r>
              <a:rPr lang="en-US" altLang="zh-CN" dirty="0">
                <a:sym typeface="+mn-ea"/>
              </a:rPr>
              <a:t>.</a:t>
            </a:r>
            <a:r>
              <a:rPr lang="zh-CN" altLang="zh-CN" dirty="0">
                <a:sym typeface="+mn-ea"/>
              </a:rPr>
              <a:t>可持久化</a:t>
            </a:r>
            <a:r>
              <a:rPr lang="en-US" altLang="zh-CN" dirty="0">
                <a:sym typeface="+mn-ea"/>
              </a:rPr>
              <a:t>trie</a:t>
            </a:r>
            <a:r>
              <a:rPr lang="zh-CN" altLang="zh-CN" dirty="0">
                <a:sym typeface="+mn-ea"/>
              </a:rPr>
              <a:t>树</a:t>
            </a:r>
            <a:endParaRPr lang="zh-CN" altLang="zh-CN" dirty="0"/>
          </a:p>
        </p:txBody>
      </p:sp>
      <p:sp>
        <p:nvSpPr>
          <p:cNvPr id="7" name="L 形 6"/>
          <p:cNvSpPr/>
          <p:nvPr>
            <p:custDataLst>
              <p:tags r:id="rId2"/>
            </p:custDataLst>
          </p:nvPr>
        </p:nvSpPr>
        <p:spPr>
          <a:xfrm rot="5400000">
            <a:off x="838200" y="1582190"/>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L 形 7"/>
          <p:cNvSpPr/>
          <p:nvPr>
            <p:custDataLst>
              <p:tags r:id="rId3"/>
            </p:custDataLst>
          </p:nvPr>
        </p:nvSpPr>
        <p:spPr>
          <a:xfrm rot="16200000">
            <a:off x="10668000" y="5237957"/>
            <a:ext cx="685800" cy="685800"/>
          </a:xfrm>
          <a:prstGeom prst="corner">
            <a:avLst>
              <a:gd name="adj1" fmla="val 16667"/>
              <a:gd name="adj2" fmla="val 1388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文本框 3"/>
          <p:cNvSpPr txBox="1"/>
          <p:nvPr/>
        </p:nvSpPr>
        <p:spPr>
          <a:xfrm>
            <a:off x="5964555" y="3249295"/>
            <a:ext cx="5180330" cy="1383665"/>
          </a:xfrm>
          <a:prstGeom prst="rect">
            <a:avLst/>
          </a:prstGeom>
          <a:noFill/>
        </p:spPr>
        <p:txBody>
          <a:bodyPr wrap="square" rtlCol="0" anchor="t">
            <a:spAutoFit/>
          </a:bodyPr>
          <a:p>
            <a:pPr indent="0">
              <a:buFont typeface="Arial" panose="020B0604020202020204" pitchFamily="34" charset="0"/>
              <a:buNone/>
            </a:pPr>
            <a:r>
              <a:rPr lang="en-US" altLang="zh-CN" sz="2800">
                <a:sym typeface="+mn-ea"/>
              </a:rPr>
              <a:t>b</a:t>
            </a:r>
            <a:r>
              <a:rPr lang="zh-CN" altLang="en-US" sz="2800">
                <a:sym typeface="+mn-ea"/>
              </a:rPr>
              <a:t>代表中间一系列连续的块，假设为从</a:t>
            </a:r>
            <a:r>
              <a:rPr lang="en-US" altLang="zh-CN" sz="2800">
                <a:sym typeface="+mn-ea"/>
              </a:rPr>
              <a:t>i</a:t>
            </a:r>
            <a:r>
              <a:rPr lang="zh-CN" altLang="en-US" sz="2800">
                <a:sym typeface="+mn-ea"/>
              </a:rPr>
              <a:t>到</a:t>
            </a:r>
            <a:r>
              <a:rPr lang="en-US" altLang="zh-CN" sz="2800">
                <a:sym typeface="+mn-ea"/>
              </a:rPr>
              <a:t>j</a:t>
            </a:r>
            <a:r>
              <a:rPr lang="zh-CN" altLang="en-US" sz="2800">
                <a:sym typeface="+mn-ea"/>
              </a:rPr>
              <a:t>，</a:t>
            </a:r>
            <a:r>
              <a:rPr lang="en-US" altLang="zh-CN" sz="2800">
                <a:sym typeface="+mn-ea"/>
              </a:rPr>
              <a:t>a</a:t>
            </a:r>
            <a:r>
              <a:rPr lang="zh-CN" altLang="en-US" sz="2800">
                <a:sym typeface="+mn-ea"/>
              </a:rPr>
              <a:t>，</a:t>
            </a:r>
            <a:r>
              <a:rPr lang="en-US" altLang="zh-CN" sz="2800">
                <a:sym typeface="+mn-ea"/>
              </a:rPr>
              <a:t>c</a:t>
            </a:r>
            <a:r>
              <a:rPr lang="zh-CN" altLang="en-US" sz="2800">
                <a:sym typeface="+mn-ea"/>
              </a:rPr>
              <a:t>分别带表两边的块的一部分。</a:t>
            </a:r>
            <a:endParaRPr lang="zh-CN" altLang="en-US" sz="2800">
              <a:sym typeface="+mn-ea"/>
            </a:endParaRPr>
          </a:p>
        </p:txBody>
      </p:sp>
      <p:graphicFrame>
        <p:nvGraphicFramePr>
          <p:cNvPr id="12" name="对象 11">
            <a:hlinkClick r:id="" action="ppaction://ole?verb="/>
          </p:cNvPr>
          <p:cNvGraphicFramePr>
            <a:graphicFrameLocks noChangeAspect="1"/>
          </p:cNvGraphicFramePr>
          <p:nvPr/>
        </p:nvGraphicFramePr>
        <p:xfrm>
          <a:off x="4639310" y="1905000"/>
          <a:ext cx="342900" cy="325755"/>
        </p:xfrm>
        <a:graphic>
          <a:graphicData uri="http://schemas.openxmlformats.org/presentationml/2006/ole">
            <mc:AlternateContent xmlns:mc="http://schemas.openxmlformats.org/markup-compatibility/2006">
              <mc:Choice xmlns:v="urn:schemas-microsoft-com:vml" Requires="v">
                <p:oleObj spid="_x0000_s3" name="" r:id="rId4" imgW="241300" imgH="228600" progId="Equation.KSEE3">
                  <p:embed/>
                </p:oleObj>
              </mc:Choice>
              <mc:Fallback>
                <p:oleObj name="" r:id="rId4" imgW="241300" imgH="228600" progId="Equation.KSEE3">
                  <p:embed/>
                  <p:pic>
                    <p:nvPicPr>
                      <p:cNvPr id="0" name="图片 1024"/>
                      <p:cNvPicPr/>
                      <p:nvPr/>
                    </p:nvPicPr>
                    <p:blipFill>
                      <a:blip r:embed="rId5"/>
                      <a:stretch>
                        <a:fillRect/>
                      </a:stretch>
                    </p:blipFill>
                    <p:spPr>
                      <a:xfrm>
                        <a:off x="4639310" y="1905000"/>
                        <a:ext cx="342900" cy="325755"/>
                      </a:xfrm>
                      <a:prstGeom prst="rect">
                        <a:avLst/>
                      </a:prstGeom>
                    </p:spPr>
                  </p:pic>
                </p:oleObj>
              </mc:Fallback>
            </mc:AlternateContent>
          </a:graphicData>
        </a:graphic>
      </p:graphicFrame>
      <p:sp>
        <p:nvSpPr>
          <p:cNvPr id="165" name=" 165"/>
          <p:cNvSpPr/>
          <p:nvPr/>
        </p:nvSpPr>
        <p:spPr>
          <a:xfrm>
            <a:off x="6819900" y="0"/>
            <a:ext cx="5369560" cy="378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a:solidFill>
                  <a:schemeClr val="tx1"/>
                </a:solidFill>
              </a:rPr>
              <a:t>区间的异或和</a:t>
            </a:r>
            <a:endParaRPr lang="zh-CN" altLang="en-US">
              <a:solidFill>
                <a:schemeClr val="tx1"/>
              </a:solidFill>
            </a:endParaRPr>
          </a:p>
        </p:txBody>
      </p:sp>
      <p:sp>
        <p:nvSpPr>
          <p:cNvPr id="5" name="文本框 4"/>
          <p:cNvSpPr txBox="1"/>
          <p:nvPr/>
        </p:nvSpPr>
        <p:spPr>
          <a:xfrm>
            <a:off x="1205865" y="1806575"/>
            <a:ext cx="9720580" cy="138366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当查询的区间小于     时，暴力枚举右端点，在</a:t>
            </a:r>
            <a:r>
              <a:rPr lang="en-US" altLang="zh-CN" sz="2800">
                <a:sym typeface="+mn-ea"/>
              </a:rPr>
              <a:t>trie</a:t>
            </a:r>
            <a:r>
              <a:rPr lang="zh-CN" altLang="en-US" sz="2800">
                <a:sym typeface="+mn-ea"/>
              </a:rPr>
              <a:t>树中查询即可。</a:t>
            </a:r>
            <a:endParaRPr lang="zh-CN" altLang="en-US" sz="2800">
              <a:sym typeface="+mn-ea"/>
            </a:endParaRPr>
          </a:p>
          <a:p>
            <a:pPr marL="457200" indent="-457200">
              <a:buFont typeface="Arial" panose="020B0604020202020204" pitchFamily="34" charset="0"/>
              <a:buChar char="•"/>
            </a:pPr>
            <a:r>
              <a:rPr lang="zh-CN" altLang="en-US" sz="2800">
                <a:sym typeface="+mn-ea"/>
              </a:rPr>
              <a:t>查询的区间大于     时</a:t>
            </a:r>
            <a:endParaRPr lang="zh-CN" altLang="en-US" sz="2800">
              <a:sym typeface="+mn-ea"/>
            </a:endParaRPr>
          </a:p>
        </p:txBody>
      </p:sp>
      <p:graphicFrame>
        <p:nvGraphicFramePr>
          <p:cNvPr id="6" name="对象 5">
            <a:hlinkClick r:id="" action="ppaction://ole?verb="/>
          </p:cNvPr>
          <p:cNvGraphicFramePr>
            <a:graphicFrameLocks noChangeAspect="1"/>
          </p:cNvGraphicFramePr>
          <p:nvPr/>
        </p:nvGraphicFramePr>
        <p:xfrm>
          <a:off x="4296410" y="2749550"/>
          <a:ext cx="342900" cy="325755"/>
        </p:xfrm>
        <a:graphic>
          <a:graphicData uri="http://schemas.openxmlformats.org/presentationml/2006/ole">
            <mc:AlternateContent xmlns:mc="http://schemas.openxmlformats.org/markup-compatibility/2006">
              <mc:Choice xmlns:v="urn:schemas-microsoft-com:vml" Requires="v">
                <p:oleObj spid="_x0000_s10" name="" r:id="rId6" imgW="241300" imgH="228600" progId="Equation.KSEE3">
                  <p:embed/>
                </p:oleObj>
              </mc:Choice>
              <mc:Fallback>
                <p:oleObj name="" r:id="rId6" imgW="241300" imgH="228600" progId="Equation.KSEE3">
                  <p:embed/>
                  <p:pic>
                    <p:nvPicPr>
                      <p:cNvPr id="0" name="图片 1024"/>
                      <p:cNvPicPr/>
                      <p:nvPr/>
                    </p:nvPicPr>
                    <p:blipFill>
                      <a:blip r:embed="rId5"/>
                      <a:stretch>
                        <a:fillRect/>
                      </a:stretch>
                    </p:blipFill>
                    <p:spPr>
                      <a:xfrm>
                        <a:off x="4296410" y="2749550"/>
                        <a:ext cx="342900" cy="325755"/>
                      </a:xfrm>
                      <a:prstGeom prst="rect">
                        <a:avLst/>
                      </a:prstGeom>
                    </p:spPr>
                  </p:pic>
                </p:oleObj>
              </mc:Fallback>
            </mc:AlternateContent>
          </a:graphicData>
        </a:graphic>
      </p:graphicFrame>
      <p:sp>
        <p:nvSpPr>
          <p:cNvPr id="13" name=" 165"/>
          <p:cNvSpPr/>
          <p:nvPr/>
        </p:nvSpPr>
        <p:spPr>
          <a:xfrm>
            <a:off x="2026285" y="3862070"/>
            <a:ext cx="1177925" cy="55054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4" name=" 165"/>
          <p:cNvSpPr/>
          <p:nvPr/>
        </p:nvSpPr>
        <p:spPr>
          <a:xfrm>
            <a:off x="3204210" y="3862070"/>
            <a:ext cx="1177925" cy="55054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5" name=" 165"/>
          <p:cNvSpPr/>
          <p:nvPr/>
        </p:nvSpPr>
        <p:spPr>
          <a:xfrm>
            <a:off x="4382135" y="3862070"/>
            <a:ext cx="1177925" cy="55054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cxnSp>
        <p:nvCxnSpPr>
          <p:cNvPr id="16" name="直接连接符 15"/>
          <p:cNvCxnSpPr/>
          <p:nvPr/>
        </p:nvCxnSpPr>
        <p:spPr>
          <a:xfrm>
            <a:off x="2702560" y="3553460"/>
            <a:ext cx="0" cy="1216025"/>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4769485" y="3529330"/>
            <a:ext cx="0" cy="1216025"/>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1871980" y="3900805"/>
            <a:ext cx="4092575" cy="521970"/>
          </a:xfrm>
          <a:prstGeom prst="rect">
            <a:avLst/>
          </a:prstGeom>
          <a:noFill/>
        </p:spPr>
        <p:txBody>
          <a:bodyPr wrap="square" rtlCol="0">
            <a:spAutoFit/>
          </a:bodyPr>
          <a:p>
            <a:pPr indent="0">
              <a:buFont typeface="Arial" panose="020B0604020202020204" pitchFamily="34" charset="0"/>
              <a:buNone/>
            </a:pPr>
            <a:r>
              <a:rPr lang="en-US" altLang="zh-CN" sz="2800">
                <a:sym typeface="+mn-ea"/>
              </a:rPr>
              <a:t>         a      b       c</a:t>
            </a:r>
            <a:endParaRPr lang="zh-CN" altLang="en-US" sz="2800">
              <a:sym typeface="+mn-ea"/>
            </a:endParaRPr>
          </a:p>
        </p:txBody>
      </p:sp>
      <p:sp>
        <p:nvSpPr>
          <p:cNvPr id="19" name="文本框 18"/>
          <p:cNvSpPr txBox="1"/>
          <p:nvPr/>
        </p:nvSpPr>
        <p:spPr>
          <a:xfrm>
            <a:off x="1205865" y="4769485"/>
            <a:ext cx="9605010" cy="1383665"/>
          </a:xfrm>
          <a:prstGeom prst="rect">
            <a:avLst/>
          </a:prstGeom>
          <a:noFill/>
        </p:spPr>
        <p:txBody>
          <a:bodyPr wrap="square" rtlCol="0">
            <a:spAutoFit/>
          </a:bodyPr>
          <a:p>
            <a:pPr marL="457200" indent="-457200">
              <a:buFont typeface="Arial" panose="020B0604020202020204" pitchFamily="34" charset="0"/>
              <a:buChar char="•"/>
            </a:pPr>
            <a:r>
              <a:rPr lang="zh-CN" altLang="zh-CN" sz="2800">
                <a:sym typeface="+mn-ea"/>
              </a:rPr>
              <a:t>首先令</a:t>
            </a:r>
            <a:r>
              <a:rPr lang="en-US" altLang="zh-CN" sz="2800">
                <a:sym typeface="+mn-ea"/>
              </a:rPr>
              <a:t>ans=f[i][j]</a:t>
            </a:r>
            <a:r>
              <a:rPr lang="zh-CN" altLang="zh-CN" sz="2800">
                <a:sym typeface="+mn-ea"/>
              </a:rPr>
              <a:t>，再暴力枚举</a:t>
            </a:r>
            <a:r>
              <a:rPr lang="en-US" altLang="zh-CN" sz="2800">
                <a:sym typeface="+mn-ea"/>
              </a:rPr>
              <a:t>c</a:t>
            </a:r>
            <a:r>
              <a:rPr lang="zh-CN" altLang="en-US" sz="2800">
                <a:sym typeface="+mn-ea"/>
              </a:rPr>
              <a:t>中右端点，在</a:t>
            </a:r>
            <a:r>
              <a:rPr lang="en-US" altLang="zh-CN" sz="2800">
                <a:sym typeface="+mn-ea"/>
              </a:rPr>
              <a:t>abc</a:t>
            </a:r>
            <a:r>
              <a:rPr lang="zh-CN" altLang="en-US" sz="2800">
                <a:sym typeface="+mn-ea"/>
              </a:rPr>
              <a:t>组成的</a:t>
            </a:r>
            <a:r>
              <a:rPr lang="en-US" altLang="zh-CN" sz="2800">
                <a:sym typeface="+mn-ea"/>
              </a:rPr>
              <a:t>trie</a:t>
            </a:r>
            <a:r>
              <a:rPr lang="zh-CN" altLang="en-US" sz="2800">
                <a:sym typeface="+mn-ea"/>
              </a:rPr>
              <a:t>树中查询，更新按时，</a:t>
            </a:r>
            <a:r>
              <a:rPr lang="en-US" altLang="zh-CN" sz="2800">
                <a:sym typeface="+mn-ea"/>
              </a:rPr>
              <a:t>a</a:t>
            </a:r>
            <a:r>
              <a:rPr lang="zh-CN" altLang="en-US" sz="2800">
                <a:sym typeface="+mn-ea"/>
              </a:rPr>
              <a:t>部分同理，暴力枚举左端点即可。总时间复杂度是</a:t>
            </a:r>
            <a:r>
              <a:rPr lang="en-US" altLang="zh-CN" sz="2800">
                <a:sym typeface="+mn-ea"/>
              </a:rPr>
              <a:t>O</a:t>
            </a:r>
            <a:r>
              <a:rPr lang="zh-CN" altLang="en-US" sz="2800">
                <a:sym typeface="+mn-ea"/>
              </a:rPr>
              <a:t>（</a:t>
            </a:r>
            <a:r>
              <a:rPr lang="en-US" altLang="zh-CN" sz="2800">
                <a:sym typeface="+mn-ea"/>
              </a:rPr>
              <a:t>n   logn</a:t>
            </a:r>
            <a:r>
              <a:rPr lang="zh-CN" altLang="en-US" sz="2800">
                <a:sym typeface="+mn-ea"/>
              </a:rPr>
              <a:t>）。</a:t>
            </a:r>
            <a:endParaRPr lang="zh-CN" altLang="en-US" sz="2800">
              <a:sym typeface="+mn-ea"/>
            </a:endParaRPr>
          </a:p>
        </p:txBody>
      </p:sp>
      <p:graphicFrame>
        <p:nvGraphicFramePr>
          <p:cNvPr id="20" name="对象 19">
            <a:hlinkClick r:id="" action="ppaction://ole?verb="/>
          </p:cNvPr>
          <p:cNvGraphicFramePr>
            <a:graphicFrameLocks noChangeAspect="1"/>
          </p:cNvGraphicFramePr>
          <p:nvPr/>
        </p:nvGraphicFramePr>
        <p:xfrm>
          <a:off x="5698490" y="5742940"/>
          <a:ext cx="339725" cy="323215"/>
        </p:xfrm>
        <a:graphic>
          <a:graphicData uri="http://schemas.openxmlformats.org/presentationml/2006/ole">
            <mc:AlternateContent xmlns:mc="http://schemas.openxmlformats.org/markup-compatibility/2006">
              <mc:Choice xmlns:v="urn:schemas-microsoft-com:vml" Requires="v">
                <p:oleObj spid="_x0000_s21" name="" r:id="rId7" imgW="241300" imgH="228600" progId="Equation.KSEE3">
                  <p:embed/>
                </p:oleObj>
              </mc:Choice>
              <mc:Fallback>
                <p:oleObj name="" r:id="rId7" imgW="241300" imgH="228600" progId="Equation.KSEE3">
                  <p:embed/>
                  <p:pic>
                    <p:nvPicPr>
                      <p:cNvPr id="0" name="图片 1024"/>
                      <p:cNvPicPr/>
                      <p:nvPr/>
                    </p:nvPicPr>
                    <p:blipFill>
                      <a:blip r:embed="rId5"/>
                      <a:stretch>
                        <a:fillRect/>
                      </a:stretch>
                    </p:blipFill>
                    <p:spPr>
                      <a:xfrm>
                        <a:off x="5698490" y="5742940"/>
                        <a:ext cx="339725" cy="323215"/>
                      </a:xfrm>
                      <a:prstGeom prst="rect">
                        <a:avLst/>
                      </a:prstGeom>
                    </p:spPr>
                  </p:pic>
                </p:oleObj>
              </mc:Fallback>
            </mc:AlternateContent>
          </a:graphicData>
        </a:graphic>
      </p:graphicFrame>
    </p:spTree>
    <p:custDataLst>
      <p:tags r:id="rId8"/>
    </p:custData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四</a:t>
            </a:r>
            <a:r>
              <a:rPr lang="en-US" altLang="zh-CN"/>
              <a:t>.</a:t>
            </a:r>
            <a:r>
              <a:rPr lang="zh-CN" altLang="zh-CN"/>
              <a:t>可持久化并查集</a:t>
            </a:r>
            <a:endParaRPr lang="en-US" altLang="zh-CN"/>
          </a:p>
        </p:txBody>
      </p:sp>
      <p:sp>
        <p:nvSpPr>
          <p:cNvPr id="5" name="文本框 4"/>
          <p:cNvSpPr txBox="1"/>
          <p:nvPr/>
        </p:nvSpPr>
        <p:spPr>
          <a:xfrm>
            <a:off x="1358900" y="1628775"/>
            <a:ext cx="9474835" cy="3538220"/>
          </a:xfrm>
          <a:prstGeom prst="rect">
            <a:avLst/>
          </a:prstGeom>
          <a:noFill/>
        </p:spPr>
        <p:txBody>
          <a:bodyPr wrap="square" rtlCol="0">
            <a:spAutoFit/>
          </a:bodyPr>
          <a:p>
            <a:pPr marL="457200" indent="-457200">
              <a:buFont typeface="Arial" panose="020B0604020202020204" pitchFamily="34" charset="0"/>
              <a:buChar char="•"/>
            </a:pPr>
            <a:r>
              <a:rPr lang="zh-CN" altLang="en-US" sz="2800">
                <a:sym typeface="+mn-ea"/>
              </a:rPr>
              <a:t>可持久化并查集的本质就是用可持久化线段树维护一个可持久化数组。</a:t>
            </a:r>
            <a:endParaRPr lang="zh-CN" altLang="en-US" sz="2800">
              <a:sym typeface="+mn-ea"/>
            </a:endParaRPr>
          </a:p>
          <a:p>
            <a:pPr marL="457200" indent="-457200">
              <a:buFont typeface="Arial" panose="020B0604020202020204" pitchFamily="34" charset="0"/>
              <a:buChar char="•"/>
            </a:pPr>
            <a:endParaRPr lang="zh-CN" altLang="en-US" sz="2800">
              <a:sym typeface="+mn-ea"/>
            </a:endParaRPr>
          </a:p>
          <a:p>
            <a:pPr marL="457200" indent="-457200">
              <a:buFont typeface="Arial" panose="020B0604020202020204" pitchFamily="34" charset="0"/>
              <a:buChar char="•"/>
            </a:pPr>
            <a:r>
              <a:rPr lang="zh-CN" altLang="en-US" sz="2800">
                <a:sym typeface="+mn-ea"/>
              </a:rPr>
              <a:t>每个时间版本的线段树的最底层点组成的数组，其实就是当前的</a:t>
            </a:r>
            <a:r>
              <a:rPr lang="en-US" altLang="zh-CN" sz="2800">
                <a:sym typeface="+mn-ea"/>
              </a:rPr>
              <a:t>fa</a:t>
            </a:r>
            <a:r>
              <a:rPr lang="zh-CN" altLang="en-US" sz="2800">
                <a:sym typeface="+mn-ea"/>
              </a:rPr>
              <a:t>数组。</a:t>
            </a:r>
            <a:endParaRPr lang="zh-CN" altLang="en-US" sz="2800">
              <a:sym typeface="+mn-ea"/>
            </a:endParaRPr>
          </a:p>
          <a:p>
            <a:pPr marL="457200" indent="-457200">
              <a:buFont typeface="Arial" panose="020B0604020202020204" pitchFamily="34" charset="0"/>
              <a:buChar char="•"/>
            </a:pPr>
            <a:endParaRPr lang="zh-CN" altLang="en-US" sz="2800">
              <a:sym typeface="+mn-ea"/>
            </a:endParaRPr>
          </a:p>
          <a:p>
            <a:pPr marL="457200" indent="-457200">
              <a:buFont typeface="Arial" panose="020B0604020202020204" pitchFamily="34" charset="0"/>
              <a:buChar char="•"/>
            </a:pPr>
            <a:r>
              <a:rPr lang="zh-CN" altLang="en-US" sz="2800">
                <a:sym typeface="+mn-ea"/>
              </a:rPr>
              <a:t>除去最底层的点，其它的点只是用来快速复制其它的不需要改变的点的</a:t>
            </a:r>
            <a:r>
              <a:rPr lang="en-US" altLang="zh-CN" sz="2800">
                <a:sym typeface="+mn-ea"/>
              </a:rPr>
              <a:t>fa</a:t>
            </a:r>
            <a:r>
              <a:rPr lang="zh-CN" altLang="en-US" sz="2800">
                <a:sym typeface="+mn-ea"/>
              </a:rPr>
              <a:t>数组。</a:t>
            </a:r>
            <a:endParaRPr lang="zh-CN" altLang="en-US" sz="2800">
              <a:sym typeface="+mn-ea"/>
            </a:endParaRPr>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四</a:t>
            </a:r>
            <a:r>
              <a:rPr lang="en-US" altLang="zh-CN"/>
              <a:t>.</a:t>
            </a:r>
            <a:r>
              <a:rPr lang="zh-CN" altLang="zh-CN"/>
              <a:t>可持久化并查集</a:t>
            </a:r>
            <a:endParaRPr lang="en-US" altLang="zh-CN"/>
          </a:p>
        </p:txBody>
      </p:sp>
      <p:sp>
        <p:nvSpPr>
          <p:cNvPr id="5" name="文本框 4"/>
          <p:cNvSpPr txBox="1"/>
          <p:nvPr/>
        </p:nvSpPr>
        <p:spPr>
          <a:xfrm>
            <a:off x="523875" y="1938020"/>
            <a:ext cx="10970260" cy="2676525"/>
          </a:xfrm>
          <a:prstGeom prst="rect">
            <a:avLst/>
          </a:prstGeom>
          <a:noFill/>
        </p:spPr>
        <p:txBody>
          <a:bodyPr wrap="square" rtlCol="0">
            <a:spAutoFit/>
          </a:bodyPr>
          <a:p>
            <a:pPr marL="457200" indent="-457200">
              <a:buFont typeface="Arial" panose="020B0604020202020204" pitchFamily="34" charset="0"/>
              <a:buChar char="•"/>
            </a:pPr>
            <a:r>
              <a:rPr lang="zh-CN" altLang="en-US" sz="2800">
                <a:sym typeface="+mn-ea"/>
              </a:rPr>
              <a:t>这样每次合并的时候，只能修改一个点（</a:t>
            </a:r>
            <a:r>
              <a:rPr lang="en-US" altLang="zh-CN" sz="2800">
                <a:sym typeface="+mn-ea"/>
              </a:rPr>
              <a:t>x</a:t>
            </a:r>
            <a:r>
              <a:rPr lang="zh-CN" altLang="en-US" sz="2800">
                <a:sym typeface="+mn-ea"/>
              </a:rPr>
              <a:t>或</a:t>
            </a:r>
            <a:r>
              <a:rPr lang="en-US" altLang="zh-CN" sz="2800">
                <a:sym typeface="+mn-ea"/>
              </a:rPr>
              <a:t>y</a:t>
            </a:r>
            <a:r>
              <a:rPr lang="zh-CN" altLang="en-US" sz="2800">
                <a:sym typeface="+mn-ea"/>
              </a:rPr>
              <a:t>所在联通块的根节点）的</a:t>
            </a:r>
            <a:r>
              <a:rPr lang="en-US" altLang="zh-CN" sz="2800">
                <a:sym typeface="+mn-ea"/>
              </a:rPr>
              <a:t>fa</a:t>
            </a:r>
            <a:r>
              <a:rPr lang="zh-CN" altLang="en-US" sz="2800">
                <a:sym typeface="+mn-ea"/>
              </a:rPr>
              <a:t>值，不能够使用路径压缩，所以可以用启发式合并来保证复杂度。</a:t>
            </a:r>
            <a:endParaRPr lang="zh-CN" altLang="en-US" sz="2800">
              <a:sym typeface="+mn-ea"/>
            </a:endParaRPr>
          </a:p>
          <a:p>
            <a:pPr marL="457200" indent="-457200">
              <a:buFont typeface="Arial" panose="020B0604020202020204" pitchFamily="34" charset="0"/>
              <a:buChar char="•"/>
            </a:pPr>
            <a:endParaRPr lang="zh-CN" altLang="en-US" sz="2800">
              <a:sym typeface="+mn-ea"/>
            </a:endParaRPr>
          </a:p>
          <a:p>
            <a:pPr marL="457200" indent="-457200">
              <a:buFont typeface="Arial" panose="020B0604020202020204" pitchFamily="34" charset="0"/>
              <a:buChar char="•"/>
            </a:pPr>
            <a:r>
              <a:rPr lang="zh-CN" altLang="en-US" sz="2800">
                <a:sym typeface="+mn-ea"/>
              </a:rPr>
              <a:t>以题为例</a:t>
            </a:r>
            <a:endParaRPr lang="zh-CN" altLang="en-US" sz="2800">
              <a:sym typeface="+mn-ea"/>
            </a:endParaRPr>
          </a:p>
          <a:p>
            <a:pPr marL="457200" indent="-457200">
              <a:buFont typeface="Arial" panose="020B0604020202020204" pitchFamily="34" charset="0"/>
              <a:buChar char="•"/>
            </a:pPr>
            <a:r>
              <a:rPr lang="zh-CN" altLang="en-US" sz="2800">
                <a:sym typeface="+mn-ea"/>
              </a:rPr>
              <a:t>链接：http://www.lydsy.com/JudgeOnline/problem.php?id=3674</a:t>
            </a:r>
            <a:endParaRPr lang="zh-CN" altLang="en-US" sz="2800">
              <a:sym typeface="+mn-ea"/>
            </a:endParaRPr>
          </a:p>
        </p:txBody>
      </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四</a:t>
            </a:r>
            <a:r>
              <a:rPr lang="en-US" altLang="zh-CN"/>
              <a:t>.</a:t>
            </a:r>
            <a:r>
              <a:rPr lang="zh-CN" altLang="zh-CN"/>
              <a:t>可持久化并查集</a:t>
            </a:r>
            <a:endParaRPr lang="en-US" altLang="zh-CN"/>
          </a:p>
        </p:txBody>
      </p:sp>
      <p:sp>
        <p:nvSpPr>
          <p:cNvPr id="3" name="文本框 2"/>
          <p:cNvSpPr txBox="1"/>
          <p:nvPr/>
        </p:nvSpPr>
        <p:spPr>
          <a:xfrm>
            <a:off x="645795" y="1251585"/>
            <a:ext cx="10454640" cy="5554345"/>
          </a:xfrm>
          <a:prstGeom prst="rect">
            <a:avLst/>
          </a:prstGeom>
          <a:noFill/>
        </p:spPr>
        <p:txBody>
          <a:bodyPr wrap="square" rtlCol="0">
            <a:spAutoFit/>
          </a:bodyPr>
          <a:p>
            <a:pPr marL="457200" indent="-457200">
              <a:buFont typeface="Arial" panose="020B0604020202020204" pitchFamily="34" charset="0"/>
              <a:buChar char="•"/>
            </a:pPr>
            <a:endParaRPr lang="zh-CN" altLang="zh-CN" sz="500">
              <a:sym typeface="+mn-ea"/>
            </a:endParaRPr>
          </a:p>
          <a:p>
            <a:pPr marL="457200" indent="-457200">
              <a:buFont typeface="Arial" panose="020B0604020202020204" pitchFamily="34" charset="0"/>
              <a:buChar char="•"/>
            </a:pPr>
            <a:r>
              <a:rPr lang="zh-CN" altLang="zh-CN" sz="1000">
                <a:sym typeface="+mn-ea"/>
              </a:rPr>
              <a:t>void Build(int &amp;root, int l, int r) {</a:t>
            </a:r>
            <a:endParaRPr lang="zh-CN" altLang="zh-CN" sz="1000">
              <a:sym typeface="+mn-ea"/>
            </a:endParaRPr>
          </a:p>
          <a:p>
            <a:pPr marL="457200" indent="-457200">
              <a:buFont typeface="Arial" panose="020B0604020202020204" pitchFamily="34" charset="0"/>
              <a:buChar char="•"/>
            </a:pPr>
            <a:r>
              <a:rPr lang="zh-CN" altLang="zh-CN" sz="1000">
                <a:sym typeface="+mn-ea"/>
              </a:rPr>
              <a:t>    r</a:t>
            </a:r>
            <a:r>
              <a:rPr lang="en-US" altLang="zh-CN" sz="1000">
                <a:sym typeface="+mn-ea"/>
              </a:rPr>
              <a:t>oo</a:t>
            </a:r>
            <a:r>
              <a:rPr lang="zh-CN" altLang="zh-CN" sz="1000">
                <a:sym typeface="+mn-ea"/>
              </a:rPr>
              <a:t>t = ++ cnt;</a:t>
            </a:r>
            <a:endParaRPr lang="zh-CN" altLang="zh-CN" sz="1000">
              <a:sym typeface="+mn-ea"/>
            </a:endParaRPr>
          </a:p>
          <a:p>
            <a:pPr marL="457200" indent="-457200">
              <a:buFont typeface="Arial" panose="020B0604020202020204" pitchFamily="34" charset="0"/>
              <a:buChar char="•"/>
            </a:pPr>
            <a:r>
              <a:rPr lang="zh-CN" altLang="zh-CN" sz="1000">
                <a:sym typeface="+mn-ea"/>
              </a:rPr>
              <a:t>    if(l==r) {</a:t>
            </a:r>
            <a:endParaRPr lang="zh-CN" altLang="zh-CN" sz="1000">
              <a:sym typeface="+mn-ea"/>
            </a:endParaRPr>
          </a:p>
          <a:p>
            <a:pPr marL="457200" indent="-457200">
              <a:buFont typeface="Arial" panose="020B0604020202020204" pitchFamily="34" charset="0"/>
              <a:buChar char="•"/>
            </a:pPr>
            <a:r>
              <a:rPr lang="zh-CN" altLang="zh-CN" sz="1000">
                <a:sym typeface="+mn-ea"/>
              </a:rPr>
              <a:t>        fa[r</a:t>
            </a:r>
            <a:r>
              <a:rPr lang="en-US" altLang="zh-CN" sz="1000">
                <a:sym typeface="+mn-ea"/>
              </a:rPr>
              <a:t>oo</a:t>
            </a:r>
            <a:r>
              <a:rPr lang="zh-CN" altLang="zh-CN" sz="1000">
                <a:sym typeface="+mn-ea"/>
              </a:rPr>
              <a:t>t] = l;</a:t>
            </a:r>
            <a:endParaRPr lang="zh-CN" altLang="zh-CN" sz="1000">
              <a:sym typeface="+mn-ea"/>
            </a:endParaRPr>
          </a:p>
          <a:p>
            <a:pPr marL="457200" indent="-457200">
              <a:buFont typeface="Arial" panose="020B0604020202020204" pitchFamily="34" charset="0"/>
              <a:buChar char="•"/>
            </a:pPr>
            <a:r>
              <a:rPr lang="zh-CN" altLang="zh-CN" sz="1000">
                <a:sym typeface="+mn-ea"/>
              </a:rPr>
              <a:t>        return;</a:t>
            </a:r>
            <a:endParaRPr lang="zh-CN" altLang="zh-CN" sz="1000">
              <a:sym typeface="+mn-ea"/>
            </a:endParaRPr>
          </a:p>
          <a:p>
            <a:pPr marL="457200" indent="-457200">
              <a:buFont typeface="Arial" panose="020B0604020202020204" pitchFamily="34" charset="0"/>
              <a:buChar char="•"/>
            </a:pPr>
            <a:r>
              <a:rPr lang="zh-CN" altLang="zh-CN" sz="1000">
                <a:sym typeface="+mn-ea"/>
              </a:rPr>
              <a:t>    }</a:t>
            </a:r>
            <a:endParaRPr lang="zh-CN" altLang="zh-CN" sz="1000">
              <a:sym typeface="+mn-ea"/>
            </a:endParaRPr>
          </a:p>
          <a:p>
            <a:pPr marL="457200" indent="-457200">
              <a:buFont typeface="Arial" panose="020B0604020202020204" pitchFamily="34" charset="0"/>
              <a:buChar char="•"/>
            </a:pPr>
            <a:r>
              <a:rPr lang="zh-CN" altLang="zh-CN" sz="1000">
                <a:sym typeface="+mn-ea"/>
              </a:rPr>
              <a:t>    int mid = (l+r)&gt;&gt;1;</a:t>
            </a:r>
            <a:endParaRPr lang="zh-CN" altLang="zh-CN" sz="1000">
              <a:sym typeface="+mn-ea"/>
            </a:endParaRPr>
          </a:p>
          <a:p>
            <a:pPr marL="457200" indent="-457200">
              <a:buFont typeface="Arial" panose="020B0604020202020204" pitchFamily="34" charset="0"/>
              <a:buChar char="•"/>
            </a:pPr>
            <a:r>
              <a:rPr lang="zh-CN" altLang="zh-CN" sz="1000">
                <a:sym typeface="+mn-ea"/>
              </a:rPr>
              <a:t>    Build(seg[root].lson, l, mid), Build(seg[root].rson, mid+1, r);</a:t>
            </a:r>
            <a:endParaRPr lang="zh-CN" altLang="zh-CN" sz="1000">
              <a:sym typeface="+mn-ea"/>
            </a:endParaRPr>
          </a:p>
          <a:p>
            <a:pPr marL="457200" indent="-457200">
              <a:buFont typeface="Arial" panose="020B0604020202020204" pitchFamily="34" charset="0"/>
              <a:buChar char="•"/>
            </a:pPr>
            <a:r>
              <a:rPr lang="zh-CN" altLang="zh-CN" sz="1000">
                <a:sym typeface="+mn-ea"/>
              </a:rPr>
              <a:t>    return;</a:t>
            </a:r>
            <a:endParaRPr lang="zh-CN" altLang="zh-CN" sz="1000">
              <a:sym typeface="+mn-ea"/>
            </a:endParaRPr>
          </a:p>
          <a:p>
            <a:pPr marL="457200" indent="-457200">
              <a:buFont typeface="Arial" panose="020B0604020202020204" pitchFamily="34" charset="0"/>
              <a:buChar char="•"/>
            </a:pPr>
            <a:r>
              <a:rPr lang="zh-CN" altLang="zh-CN" sz="1000">
                <a:sym typeface="+mn-ea"/>
              </a:rPr>
              <a:t>}</a:t>
            </a:r>
            <a:endParaRPr lang="zh-CN" altLang="zh-CN" sz="1000">
              <a:sym typeface="+mn-ea"/>
            </a:endParaRPr>
          </a:p>
          <a:p>
            <a:pPr marL="457200" indent="-457200">
              <a:buFont typeface="Arial" panose="020B0604020202020204" pitchFamily="34" charset="0"/>
              <a:buChar char="•"/>
            </a:pPr>
            <a:r>
              <a:rPr lang="zh-CN" altLang="zh-CN" sz="1000">
                <a:sym typeface="+mn-ea"/>
              </a:rPr>
              <a:t> </a:t>
            </a:r>
            <a:endParaRPr lang="zh-CN" altLang="zh-CN" sz="1000">
              <a:sym typeface="+mn-ea"/>
            </a:endParaRPr>
          </a:p>
          <a:p>
            <a:pPr marL="457200" indent="-457200">
              <a:buFont typeface="Arial" panose="020B0604020202020204" pitchFamily="34" charset="0"/>
              <a:buChar char="•"/>
            </a:pPr>
            <a:r>
              <a:rPr lang="zh-CN" altLang="zh-CN" sz="1000">
                <a:sym typeface="+mn-ea"/>
              </a:rPr>
              <a:t>int Ask(int root, int l, int r, int x) {</a:t>
            </a:r>
            <a:endParaRPr lang="zh-CN" altLang="zh-CN" sz="1000">
              <a:sym typeface="+mn-ea"/>
            </a:endParaRPr>
          </a:p>
          <a:p>
            <a:pPr marL="457200" indent="-457200">
              <a:buFont typeface="Arial" panose="020B0604020202020204" pitchFamily="34" charset="0"/>
              <a:buChar char="•"/>
            </a:pPr>
            <a:r>
              <a:rPr lang="zh-CN" altLang="zh-CN" sz="1000">
                <a:sym typeface="+mn-ea"/>
              </a:rPr>
              <a:t>    if(l==r) return rt;</a:t>
            </a:r>
            <a:endParaRPr lang="zh-CN" altLang="zh-CN" sz="1000">
              <a:sym typeface="+mn-ea"/>
            </a:endParaRPr>
          </a:p>
          <a:p>
            <a:pPr marL="457200" indent="-457200">
              <a:buFont typeface="Arial" panose="020B0604020202020204" pitchFamily="34" charset="0"/>
              <a:buChar char="•"/>
            </a:pPr>
            <a:r>
              <a:rPr lang="zh-CN" altLang="zh-CN" sz="1000">
                <a:sym typeface="+mn-ea"/>
              </a:rPr>
              <a:t>    int mid = (l+r)&gt;&gt;1;</a:t>
            </a:r>
            <a:endParaRPr lang="zh-CN" altLang="zh-CN" sz="1000">
              <a:sym typeface="+mn-ea"/>
            </a:endParaRPr>
          </a:p>
          <a:p>
            <a:pPr marL="457200" indent="-457200">
              <a:buFont typeface="Arial" panose="020B0604020202020204" pitchFamily="34" charset="0"/>
              <a:buChar char="•"/>
            </a:pPr>
            <a:r>
              <a:rPr lang="zh-CN" altLang="zh-CN" sz="1000">
                <a:sym typeface="+mn-ea"/>
              </a:rPr>
              <a:t>    if(x&lt;=mid) return Ask(seg[root].lson, l, mid, x);</a:t>
            </a:r>
            <a:endParaRPr lang="zh-CN" altLang="zh-CN" sz="1000">
              <a:sym typeface="+mn-ea"/>
            </a:endParaRPr>
          </a:p>
          <a:p>
            <a:pPr marL="457200" indent="-457200">
              <a:buFont typeface="Arial" panose="020B0604020202020204" pitchFamily="34" charset="0"/>
              <a:buChar char="•"/>
            </a:pPr>
            <a:r>
              <a:rPr lang="zh-CN" altLang="zh-CN" sz="1000">
                <a:sym typeface="+mn-ea"/>
              </a:rPr>
              <a:t>    else return Ask(seg[root].rson, mid+1, r, x);</a:t>
            </a:r>
            <a:endParaRPr lang="zh-CN" altLang="zh-CN" sz="1000">
              <a:sym typeface="+mn-ea"/>
            </a:endParaRPr>
          </a:p>
          <a:p>
            <a:pPr marL="457200" indent="-457200">
              <a:buFont typeface="Arial" panose="020B0604020202020204" pitchFamily="34" charset="0"/>
              <a:buChar char="•"/>
            </a:pPr>
            <a:r>
              <a:rPr lang="zh-CN" altLang="zh-CN" sz="1000">
                <a:sym typeface="+mn-ea"/>
              </a:rPr>
              <a:t>}</a:t>
            </a:r>
            <a:endParaRPr lang="zh-CN" altLang="zh-CN" sz="1000">
              <a:sym typeface="+mn-ea"/>
            </a:endParaRPr>
          </a:p>
          <a:p>
            <a:pPr marL="457200" indent="-457200">
              <a:buFont typeface="Arial" panose="020B0604020202020204" pitchFamily="34" charset="0"/>
              <a:buChar char="•"/>
            </a:pPr>
            <a:r>
              <a:rPr lang="zh-CN" altLang="zh-CN" sz="1000">
                <a:sym typeface="+mn-ea"/>
              </a:rPr>
              <a:t> </a:t>
            </a:r>
            <a:endParaRPr lang="zh-CN" altLang="zh-CN" sz="1000">
              <a:sym typeface="+mn-ea"/>
            </a:endParaRPr>
          </a:p>
          <a:p>
            <a:pPr marL="457200" indent="-457200">
              <a:buFont typeface="Arial" panose="020B0604020202020204" pitchFamily="34" charset="0"/>
              <a:buChar char="•"/>
            </a:pPr>
            <a:r>
              <a:rPr lang="zh-CN" altLang="zh-CN" sz="1000">
                <a:sym typeface="+mn-ea"/>
              </a:rPr>
              <a:t>int Find(int root, int x) {</a:t>
            </a:r>
            <a:endParaRPr lang="zh-CN" altLang="zh-CN" sz="1000">
              <a:sym typeface="+mn-ea"/>
            </a:endParaRPr>
          </a:p>
          <a:p>
            <a:pPr marL="457200" indent="-457200">
              <a:buFont typeface="Arial" panose="020B0604020202020204" pitchFamily="34" charset="0"/>
              <a:buChar char="•"/>
            </a:pPr>
            <a:r>
              <a:rPr lang="zh-CN" altLang="zh-CN" sz="1000">
                <a:sym typeface="+mn-ea"/>
              </a:rPr>
              <a:t>    int t = Ask(root, 1, n, x);</a:t>
            </a:r>
            <a:endParaRPr lang="zh-CN" altLang="zh-CN" sz="1000">
              <a:sym typeface="+mn-ea"/>
            </a:endParaRPr>
          </a:p>
          <a:p>
            <a:pPr marL="457200" indent="-457200">
              <a:buFont typeface="Arial" panose="020B0604020202020204" pitchFamily="34" charset="0"/>
              <a:buChar char="•"/>
            </a:pPr>
            <a:r>
              <a:rPr lang="zh-CN" altLang="zh-CN" sz="1000">
                <a:sym typeface="+mn-ea"/>
              </a:rPr>
              <a:t>    return fa[t]==x?t:Find(root, fa[t]);</a:t>
            </a:r>
            <a:endParaRPr lang="zh-CN" altLang="zh-CN" sz="1000">
              <a:sym typeface="+mn-ea"/>
            </a:endParaRPr>
          </a:p>
          <a:p>
            <a:pPr marL="457200" indent="-457200">
              <a:buFont typeface="Arial" panose="020B0604020202020204" pitchFamily="34" charset="0"/>
              <a:buChar char="•"/>
            </a:pPr>
            <a:r>
              <a:rPr lang="zh-CN" altLang="zh-CN" sz="1000">
                <a:sym typeface="+mn-ea"/>
              </a:rPr>
              <a:t>}</a:t>
            </a:r>
            <a:endParaRPr lang="zh-CN" altLang="zh-CN" sz="1000">
              <a:sym typeface="+mn-ea"/>
            </a:endParaRPr>
          </a:p>
          <a:p>
            <a:pPr marL="457200" indent="-457200">
              <a:buFont typeface="Arial" panose="020B0604020202020204" pitchFamily="34" charset="0"/>
              <a:buChar char="•"/>
            </a:pPr>
            <a:r>
              <a:rPr lang="zh-CN" altLang="zh-CN" sz="1000">
                <a:sym typeface="+mn-ea"/>
              </a:rPr>
              <a:t> </a:t>
            </a:r>
            <a:endParaRPr lang="zh-CN" altLang="zh-CN" sz="1000">
              <a:sym typeface="+mn-ea"/>
            </a:endParaRPr>
          </a:p>
          <a:p>
            <a:pPr marL="457200" indent="-457200">
              <a:buFont typeface="Arial" panose="020B0604020202020204" pitchFamily="34" charset="0"/>
              <a:buChar char="•"/>
            </a:pPr>
            <a:r>
              <a:rPr lang="zh-CN" altLang="zh-CN" sz="1000">
                <a:sym typeface="+mn-ea"/>
              </a:rPr>
              <a:t>void Insert(int last_root, int &amp;root, int l, int r, int x, int y) {</a:t>
            </a:r>
            <a:endParaRPr lang="zh-CN" altLang="zh-CN" sz="1000">
              <a:sym typeface="+mn-ea"/>
            </a:endParaRPr>
          </a:p>
          <a:p>
            <a:pPr marL="457200" indent="-457200">
              <a:buFont typeface="Arial" panose="020B0604020202020204" pitchFamily="34" charset="0"/>
              <a:buChar char="•"/>
            </a:pPr>
            <a:r>
              <a:rPr lang="zh-CN" altLang="zh-CN" sz="1000">
                <a:sym typeface="+mn-ea"/>
              </a:rPr>
              <a:t>    root = ++ cnt;</a:t>
            </a:r>
            <a:endParaRPr lang="zh-CN" altLang="zh-CN" sz="1000">
              <a:sym typeface="+mn-ea"/>
            </a:endParaRPr>
          </a:p>
          <a:p>
            <a:pPr marL="457200" indent="-457200">
              <a:buFont typeface="Arial" panose="020B0604020202020204" pitchFamily="34" charset="0"/>
              <a:buChar char="•"/>
            </a:pPr>
            <a:r>
              <a:rPr lang="zh-CN" altLang="zh-CN" sz="1000">
                <a:sym typeface="+mn-ea"/>
              </a:rPr>
              <a:t>    seg[root] = seg[last_root];</a:t>
            </a:r>
            <a:endParaRPr lang="zh-CN" altLang="zh-CN" sz="1000">
              <a:sym typeface="+mn-ea"/>
            </a:endParaRPr>
          </a:p>
          <a:p>
            <a:pPr marL="457200" indent="-457200">
              <a:buFont typeface="Arial" panose="020B0604020202020204" pitchFamily="34" charset="0"/>
              <a:buChar char="•"/>
            </a:pPr>
            <a:r>
              <a:rPr lang="zh-CN" altLang="zh-CN" sz="1000">
                <a:sym typeface="+mn-ea"/>
              </a:rPr>
              <a:t>    if(l==r) {</a:t>
            </a:r>
            <a:endParaRPr lang="zh-CN" altLang="zh-CN" sz="1000">
              <a:sym typeface="+mn-ea"/>
            </a:endParaRPr>
          </a:p>
          <a:p>
            <a:pPr marL="457200" indent="-457200">
              <a:buFont typeface="Arial" panose="020B0604020202020204" pitchFamily="34" charset="0"/>
              <a:buChar char="•"/>
            </a:pPr>
            <a:r>
              <a:rPr lang="zh-CN" altLang="zh-CN" sz="1000">
                <a:sym typeface="+mn-ea"/>
              </a:rPr>
              <a:t>        fa[root] = y;</a:t>
            </a:r>
            <a:endParaRPr lang="zh-CN" altLang="zh-CN" sz="1000">
              <a:sym typeface="+mn-ea"/>
            </a:endParaRPr>
          </a:p>
          <a:p>
            <a:pPr marL="457200" indent="-457200">
              <a:buFont typeface="Arial" panose="020B0604020202020204" pitchFamily="34" charset="0"/>
              <a:buChar char="•"/>
            </a:pPr>
            <a:r>
              <a:rPr lang="zh-CN" altLang="zh-CN" sz="1000">
                <a:sym typeface="+mn-ea"/>
              </a:rPr>
              <a:t>        return;</a:t>
            </a:r>
            <a:endParaRPr lang="zh-CN" altLang="zh-CN" sz="1000">
              <a:sym typeface="+mn-ea"/>
            </a:endParaRPr>
          </a:p>
          <a:p>
            <a:pPr marL="457200" indent="-457200">
              <a:buFont typeface="Arial" panose="020B0604020202020204" pitchFamily="34" charset="0"/>
              <a:buChar char="•"/>
            </a:pPr>
            <a:r>
              <a:rPr lang="zh-CN" altLang="zh-CN" sz="1000">
                <a:sym typeface="+mn-ea"/>
              </a:rPr>
              <a:t>    }</a:t>
            </a:r>
            <a:endParaRPr lang="zh-CN" altLang="zh-CN" sz="1000">
              <a:sym typeface="+mn-ea"/>
            </a:endParaRPr>
          </a:p>
          <a:p>
            <a:pPr marL="457200" indent="-457200">
              <a:buFont typeface="Arial" panose="020B0604020202020204" pitchFamily="34" charset="0"/>
              <a:buChar char="•"/>
            </a:pPr>
            <a:r>
              <a:rPr lang="zh-CN" altLang="zh-CN" sz="1000">
                <a:sym typeface="+mn-ea"/>
              </a:rPr>
              <a:t>    int mid = (l+r)&gt;&gt;1;</a:t>
            </a:r>
            <a:endParaRPr lang="zh-CN" altLang="zh-CN" sz="1000">
              <a:sym typeface="+mn-ea"/>
            </a:endParaRPr>
          </a:p>
          <a:p>
            <a:pPr marL="457200" indent="-457200">
              <a:buFont typeface="Arial" panose="020B0604020202020204" pitchFamily="34" charset="0"/>
              <a:buChar char="•"/>
            </a:pPr>
            <a:r>
              <a:rPr lang="zh-CN" altLang="zh-CN" sz="1000">
                <a:sym typeface="+mn-ea"/>
              </a:rPr>
              <a:t>    if(x&lt;=mid) Insert(seg[last_root].lson, seg[root].lson, l, mid, x, y);</a:t>
            </a:r>
            <a:endParaRPr lang="zh-CN" altLang="zh-CN" sz="1000">
              <a:sym typeface="+mn-ea"/>
            </a:endParaRPr>
          </a:p>
          <a:p>
            <a:pPr marL="457200" indent="-457200">
              <a:buFont typeface="Arial" panose="020B0604020202020204" pitchFamily="34" charset="0"/>
              <a:buChar char="•"/>
            </a:pPr>
            <a:r>
              <a:rPr lang="zh-CN" altLang="zh-CN" sz="1000">
                <a:sym typeface="+mn-ea"/>
              </a:rPr>
              <a:t>    else Insert(seg[last_root].rson, seg[root].rson, mid+1, r, x, y);</a:t>
            </a:r>
            <a:endParaRPr lang="zh-CN" altLang="zh-CN" sz="1000">
              <a:sym typeface="+mn-ea"/>
            </a:endParaRPr>
          </a:p>
          <a:p>
            <a:pPr marL="457200" indent="-457200">
              <a:buFont typeface="Arial" panose="020B0604020202020204" pitchFamily="34" charset="0"/>
              <a:buChar char="•"/>
            </a:pPr>
            <a:r>
              <a:rPr lang="zh-CN" altLang="zh-CN" sz="1000">
                <a:sym typeface="+mn-ea"/>
              </a:rPr>
              <a:t>    return;</a:t>
            </a:r>
            <a:endParaRPr lang="zh-CN" altLang="zh-CN" sz="1000">
              <a:sym typeface="+mn-ea"/>
            </a:endParaRPr>
          </a:p>
          <a:p>
            <a:pPr marL="457200" indent="-457200">
              <a:buFont typeface="Arial" panose="020B0604020202020204" pitchFamily="34" charset="0"/>
              <a:buChar char="•"/>
            </a:pPr>
            <a:r>
              <a:rPr lang="zh-CN" altLang="zh-CN" sz="1000">
                <a:sym typeface="+mn-ea"/>
              </a:rPr>
              <a:t>}</a:t>
            </a:r>
            <a:endParaRPr lang="zh-CN" altLang="zh-CN" sz="1000">
              <a:sym typeface="+mn-ea"/>
            </a:endParaRPr>
          </a:p>
        </p:txBody>
      </p:sp>
      <p:sp>
        <p:nvSpPr>
          <p:cNvPr id="5" name="文本框 4"/>
          <p:cNvSpPr txBox="1"/>
          <p:nvPr/>
        </p:nvSpPr>
        <p:spPr>
          <a:xfrm>
            <a:off x="5761990" y="1412875"/>
            <a:ext cx="5608320" cy="5231130"/>
          </a:xfrm>
          <a:prstGeom prst="rect">
            <a:avLst/>
          </a:prstGeom>
          <a:noFill/>
        </p:spPr>
        <p:txBody>
          <a:bodyPr wrap="square" rtlCol="0">
            <a:spAutoFit/>
          </a:bodyPr>
          <a:p>
            <a:pPr indent="0">
              <a:buFont typeface="Arial" panose="020B0604020202020204" pitchFamily="34" charset="0"/>
              <a:buNone/>
            </a:pPr>
            <a:r>
              <a:rPr lang="zh-CN" altLang="zh-CN" sz="1400">
                <a:sym typeface="+mn-ea"/>
              </a:rPr>
              <a:t> </a:t>
            </a:r>
            <a:r>
              <a:rPr lang="en-US" altLang="zh-CN" sz="1400">
                <a:sym typeface="+mn-ea"/>
              </a:rPr>
              <a:t>	</a:t>
            </a:r>
            <a:endParaRPr lang="en-US" altLang="zh-CN" sz="1400">
              <a:sym typeface="+mn-ea"/>
            </a:endParaRPr>
          </a:p>
          <a:p>
            <a:pPr lvl="1" indent="0">
              <a:buFont typeface="Arial" panose="020B0604020202020204" pitchFamily="34" charset="0"/>
              <a:buNone/>
            </a:pPr>
            <a:r>
              <a:rPr lang="zh-CN" altLang="zh-CN" sz="1000">
                <a:sym typeface="+mn-ea"/>
              </a:rPr>
              <a:t>void Update(int root, int l, int r, int x) {</a:t>
            </a:r>
            <a:endParaRPr lang="zh-CN" altLang="zh-CN" sz="1000">
              <a:sym typeface="+mn-ea"/>
            </a:endParaRPr>
          </a:p>
          <a:p>
            <a:pPr marL="457200" indent="-457200">
              <a:buFont typeface="Arial" panose="020B0604020202020204" pitchFamily="34" charset="0"/>
              <a:buChar char="•"/>
            </a:pPr>
            <a:r>
              <a:rPr lang="zh-CN" altLang="zh-CN" sz="1000">
                <a:sym typeface="+mn-ea"/>
              </a:rPr>
              <a:t>    if(l==r) {</a:t>
            </a:r>
            <a:endParaRPr lang="zh-CN" altLang="zh-CN" sz="1000">
              <a:sym typeface="+mn-ea"/>
            </a:endParaRPr>
          </a:p>
          <a:p>
            <a:pPr marL="457200" indent="-457200">
              <a:buFont typeface="Arial" panose="020B0604020202020204" pitchFamily="34" charset="0"/>
              <a:buChar char="•"/>
            </a:pPr>
            <a:r>
              <a:rPr lang="zh-CN" altLang="zh-CN" sz="1000">
                <a:sym typeface="+mn-ea"/>
              </a:rPr>
              <a:t>        ++ dep[root];</a:t>
            </a:r>
            <a:endParaRPr lang="zh-CN" altLang="zh-CN" sz="1000">
              <a:sym typeface="+mn-ea"/>
            </a:endParaRPr>
          </a:p>
          <a:p>
            <a:pPr marL="457200" indent="-457200">
              <a:buFont typeface="Arial" panose="020B0604020202020204" pitchFamily="34" charset="0"/>
              <a:buChar char="•"/>
            </a:pPr>
            <a:r>
              <a:rPr lang="zh-CN" altLang="zh-CN" sz="1000">
                <a:sym typeface="+mn-ea"/>
              </a:rPr>
              <a:t>        return;</a:t>
            </a:r>
            <a:endParaRPr lang="zh-CN" altLang="zh-CN" sz="1000">
              <a:sym typeface="+mn-ea"/>
            </a:endParaRPr>
          </a:p>
          <a:p>
            <a:pPr marL="457200" indent="-457200">
              <a:buFont typeface="Arial" panose="020B0604020202020204" pitchFamily="34" charset="0"/>
              <a:buChar char="•"/>
            </a:pPr>
            <a:r>
              <a:rPr lang="zh-CN" altLang="zh-CN" sz="1000">
                <a:sym typeface="+mn-ea"/>
              </a:rPr>
              <a:t>    }</a:t>
            </a:r>
            <a:endParaRPr lang="zh-CN" altLang="zh-CN" sz="1000">
              <a:sym typeface="+mn-ea"/>
            </a:endParaRPr>
          </a:p>
          <a:p>
            <a:pPr marL="457200" indent="-457200">
              <a:buFont typeface="Arial" panose="020B0604020202020204" pitchFamily="34" charset="0"/>
              <a:buChar char="•"/>
            </a:pPr>
            <a:r>
              <a:rPr lang="zh-CN" altLang="zh-CN" sz="1000">
                <a:sym typeface="+mn-ea"/>
              </a:rPr>
              <a:t>    int mid = (l+r)&gt;&gt;1;</a:t>
            </a:r>
            <a:endParaRPr lang="zh-CN" altLang="zh-CN" sz="1000">
              <a:sym typeface="+mn-ea"/>
            </a:endParaRPr>
          </a:p>
          <a:p>
            <a:pPr marL="457200" indent="-457200">
              <a:buFont typeface="Arial" panose="020B0604020202020204" pitchFamily="34" charset="0"/>
              <a:buChar char="•"/>
            </a:pPr>
            <a:r>
              <a:rPr lang="zh-CN" altLang="zh-CN" sz="1000">
                <a:sym typeface="+mn-ea"/>
              </a:rPr>
              <a:t>    if(x&lt;=mid) Update(seg[root].lson, l, mid, x);</a:t>
            </a:r>
            <a:endParaRPr lang="zh-CN" altLang="zh-CN" sz="1000">
              <a:sym typeface="+mn-ea"/>
            </a:endParaRPr>
          </a:p>
          <a:p>
            <a:pPr marL="457200" indent="-457200">
              <a:buFont typeface="Arial" panose="020B0604020202020204" pitchFamily="34" charset="0"/>
              <a:buChar char="•"/>
            </a:pPr>
            <a:r>
              <a:rPr lang="zh-CN" altLang="zh-CN" sz="1000">
                <a:sym typeface="+mn-ea"/>
              </a:rPr>
              <a:t>    else Update(seg[root].rson, mid+1, r, x);</a:t>
            </a:r>
            <a:endParaRPr lang="zh-CN" altLang="zh-CN" sz="1000">
              <a:sym typeface="+mn-ea"/>
            </a:endParaRPr>
          </a:p>
          <a:p>
            <a:pPr marL="457200" indent="-457200">
              <a:buFont typeface="Arial" panose="020B0604020202020204" pitchFamily="34" charset="0"/>
              <a:buChar char="•"/>
            </a:pPr>
            <a:r>
              <a:rPr lang="zh-CN" altLang="zh-CN" sz="1000">
                <a:sym typeface="+mn-ea"/>
              </a:rPr>
              <a:t>    return;</a:t>
            </a:r>
            <a:endParaRPr lang="zh-CN" altLang="zh-CN" sz="1000">
              <a:sym typeface="+mn-ea"/>
            </a:endParaRPr>
          </a:p>
          <a:p>
            <a:pPr marL="457200" indent="-457200">
              <a:buFont typeface="Arial" panose="020B0604020202020204" pitchFamily="34" charset="0"/>
              <a:buChar char="•"/>
            </a:pPr>
            <a:r>
              <a:rPr lang="zh-CN" altLang="zh-CN" sz="1000">
                <a:sym typeface="+mn-ea"/>
              </a:rPr>
              <a:t>}</a:t>
            </a:r>
            <a:endParaRPr lang="zh-CN" altLang="zh-CN" sz="1000">
              <a:sym typeface="+mn-ea"/>
            </a:endParaRPr>
          </a:p>
          <a:p>
            <a:pPr marL="457200" indent="-457200">
              <a:buFont typeface="Arial" panose="020B0604020202020204" pitchFamily="34" charset="0"/>
              <a:buChar char="•"/>
            </a:pPr>
            <a:r>
              <a:rPr lang="zh-CN" altLang="zh-CN" sz="1000">
                <a:sym typeface="+mn-ea"/>
              </a:rPr>
              <a:t> </a:t>
            </a:r>
            <a:endParaRPr lang="zh-CN" altLang="zh-CN" sz="1000">
              <a:sym typeface="+mn-ea"/>
            </a:endParaRPr>
          </a:p>
          <a:p>
            <a:pPr marL="457200" indent="-457200">
              <a:buFont typeface="Arial" panose="020B0604020202020204" pitchFamily="34" charset="0"/>
              <a:buChar char="•"/>
            </a:pPr>
            <a:r>
              <a:rPr lang="zh-CN" altLang="zh-CN" sz="1000">
                <a:sym typeface="+mn-ea"/>
              </a:rPr>
              <a:t>int main() {</a:t>
            </a:r>
            <a:endParaRPr lang="zh-CN" altLang="zh-CN" sz="1000">
              <a:sym typeface="+mn-ea"/>
            </a:endParaRPr>
          </a:p>
          <a:p>
            <a:pPr marL="457200" indent="-457200">
              <a:buFont typeface="Arial" panose="020B0604020202020204" pitchFamily="34" charset="0"/>
              <a:buChar char="•"/>
            </a:pPr>
            <a:r>
              <a:rPr lang="zh-CN" altLang="zh-CN" sz="1000">
                <a:sym typeface="+mn-ea"/>
              </a:rPr>
              <a:t>    scanf("%d%d", &amp;n, &amp;m);</a:t>
            </a:r>
            <a:endParaRPr lang="zh-CN" altLang="zh-CN" sz="1000">
              <a:sym typeface="+mn-ea"/>
            </a:endParaRPr>
          </a:p>
          <a:p>
            <a:pPr marL="457200" indent="-457200">
              <a:buFont typeface="Arial" panose="020B0604020202020204" pitchFamily="34" charset="0"/>
              <a:buChar char="•"/>
            </a:pPr>
            <a:r>
              <a:rPr lang="zh-CN" altLang="zh-CN" sz="1000">
                <a:sym typeface="+mn-ea"/>
              </a:rPr>
              <a:t>    Build(Root[0], 1, n);</a:t>
            </a:r>
            <a:endParaRPr lang="zh-CN" altLang="zh-CN" sz="1000">
              <a:sym typeface="+mn-ea"/>
            </a:endParaRPr>
          </a:p>
          <a:p>
            <a:pPr marL="457200" indent="-457200">
              <a:buFont typeface="Arial" panose="020B0604020202020204" pitchFamily="34" charset="0"/>
              <a:buChar char="•"/>
            </a:pPr>
            <a:r>
              <a:rPr lang="zh-CN" altLang="zh-CN" sz="1000">
                <a:sym typeface="+mn-ea"/>
              </a:rPr>
              <a:t>    int last_ans = 0;</a:t>
            </a:r>
            <a:endParaRPr lang="zh-CN" altLang="zh-CN" sz="1000">
              <a:sym typeface="+mn-ea"/>
            </a:endParaRPr>
          </a:p>
          <a:p>
            <a:pPr marL="457200" indent="-457200">
              <a:buFont typeface="Arial" panose="020B0604020202020204" pitchFamily="34" charset="0"/>
              <a:buChar char="•"/>
            </a:pPr>
            <a:r>
              <a:rPr lang="zh-CN" altLang="zh-CN" sz="1000">
                <a:sym typeface="+mn-ea"/>
              </a:rPr>
              <a:t>    for(int i = 1, k, x, y ; i &lt;= m ; ++ i) {</a:t>
            </a:r>
            <a:endParaRPr lang="zh-CN" altLang="zh-CN" sz="1000">
              <a:sym typeface="+mn-ea"/>
            </a:endParaRPr>
          </a:p>
          <a:p>
            <a:pPr marL="457200" indent="-457200">
              <a:buFont typeface="Arial" panose="020B0604020202020204" pitchFamily="34" charset="0"/>
              <a:buChar char="•"/>
            </a:pPr>
            <a:r>
              <a:rPr lang="zh-CN" altLang="zh-CN" sz="1000">
                <a:sym typeface="+mn-ea"/>
              </a:rPr>
              <a:t>        scanf("%d", &amp;k);</a:t>
            </a:r>
            <a:endParaRPr lang="zh-CN" altLang="zh-CN" sz="1000">
              <a:sym typeface="+mn-ea"/>
            </a:endParaRPr>
          </a:p>
          <a:p>
            <a:pPr marL="457200" indent="-457200">
              <a:buFont typeface="Arial" panose="020B0604020202020204" pitchFamily="34" charset="0"/>
              <a:buChar char="•"/>
            </a:pPr>
            <a:r>
              <a:rPr lang="zh-CN" altLang="zh-CN" sz="1000">
                <a:sym typeface="+mn-ea"/>
              </a:rPr>
              <a:t>        if(k&amp;1) {</a:t>
            </a:r>
            <a:endParaRPr lang="zh-CN" altLang="zh-CN" sz="1000">
              <a:sym typeface="+mn-ea"/>
            </a:endParaRPr>
          </a:p>
          <a:p>
            <a:pPr marL="457200" indent="-457200">
              <a:buFont typeface="Arial" panose="020B0604020202020204" pitchFamily="34" charset="0"/>
              <a:buChar char="•"/>
            </a:pPr>
            <a:r>
              <a:rPr lang="zh-CN" altLang="zh-CN" sz="1000">
                <a:sym typeface="+mn-ea"/>
              </a:rPr>
              <a:t>            scanf("%d%d", &amp;x, &amp;y);</a:t>
            </a:r>
            <a:endParaRPr lang="zh-CN" altLang="zh-CN" sz="1000">
              <a:sym typeface="+mn-ea"/>
            </a:endParaRPr>
          </a:p>
          <a:p>
            <a:pPr marL="457200" indent="-457200">
              <a:buFont typeface="Arial" panose="020B0604020202020204" pitchFamily="34" charset="0"/>
              <a:buChar char="•"/>
            </a:pPr>
            <a:r>
              <a:rPr lang="zh-CN" altLang="zh-CN" sz="1000">
                <a:sym typeface="+mn-ea"/>
              </a:rPr>
              <a:t>            Root[i] = Root[i-1];</a:t>
            </a:r>
            <a:endParaRPr lang="zh-CN" altLang="zh-CN" sz="1000">
              <a:sym typeface="+mn-ea"/>
            </a:endParaRPr>
          </a:p>
          <a:p>
            <a:pPr marL="457200" indent="-457200">
              <a:buFont typeface="Arial" panose="020B0604020202020204" pitchFamily="34" charset="0"/>
              <a:buChar char="•"/>
            </a:pPr>
            <a:r>
              <a:rPr lang="zh-CN" altLang="zh-CN" sz="1000">
                <a:sym typeface="+mn-ea"/>
              </a:rPr>
              <a:t>            x = Find(Root[i], x), y = Find(Root[i], y);</a:t>
            </a:r>
            <a:endParaRPr lang="zh-CN" altLang="zh-CN" sz="1000">
              <a:sym typeface="+mn-ea"/>
            </a:endParaRPr>
          </a:p>
          <a:p>
            <a:pPr marL="457200" indent="-457200">
              <a:buFont typeface="Arial" panose="020B0604020202020204" pitchFamily="34" charset="0"/>
              <a:buChar char="•"/>
            </a:pPr>
            <a:r>
              <a:rPr lang="zh-CN" altLang="zh-CN" sz="1000">
                <a:sym typeface="+mn-ea"/>
              </a:rPr>
              <a:t>            if(k&amp;2) printf("%d\n", last_ans = (fa[x]==fa[y]));</a:t>
            </a:r>
            <a:endParaRPr lang="zh-CN" altLang="zh-CN" sz="1000">
              <a:sym typeface="+mn-ea"/>
            </a:endParaRPr>
          </a:p>
          <a:p>
            <a:pPr marL="457200" indent="-457200">
              <a:buFont typeface="Arial" panose="020B0604020202020204" pitchFamily="34" charset="0"/>
              <a:buChar char="•"/>
            </a:pPr>
            <a:r>
              <a:rPr lang="zh-CN" altLang="zh-CN" sz="1000">
                <a:sym typeface="+mn-ea"/>
              </a:rPr>
              <a:t>            else {</a:t>
            </a:r>
            <a:endParaRPr lang="zh-CN" altLang="zh-CN" sz="1000">
              <a:sym typeface="+mn-ea"/>
            </a:endParaRPr>
          </a:p>
          <a:p>
            <a:pPr marL="457200" indent="-457200">
              <a:buFont typeface="Arial" panose="020B0604020202020204" pitchFamily="34" charset="0"/>
              <a:buChar char="•"/>
            </a:pPr>
            <a:r>
              <a:rPr lang="zh-CN" altLang="zh-CN" sz="1000">
                <a:sym typeface="+mn-ea"/>
              </a:rPr>
              <a:t>                if(dep[x]&gt;dep[y]) swap(x, y);</a:t>
            </a:r>
            <a:endParaRPr lang="zh-CN" altLang="zh-CN" sz="1000">
              <a:sym typeface="+mn-ea"/>
            </a:endParaRPr>
          </a:p>
          <a:p>
            <a:pPr marL="457200" indent="-457200">
              <a:buFont typeface="Arial" panose="020B0604020202020204" pitchFamily="34" charset="0"/>
              <a:buChar char="•"/>
            </a:pPr>
            <a:r>
              <a:rPr lang="zh-CN" altLang="zh-CN" sz="1000">
                <a:sym typeface="+mn-ea"/>
              </a:rPr>
              <a:t>                Insert(Root[i], Root[i], 1, n, fa[x], fa[y]);</a:t>
            </a:r>
            <a:endParaRPr lang="zh-CN" altLang="zh-CN" sz="1000">
              <a:sym typeface="+mn-ea"/>
            </a:endParaRPr>
          </a:p>
          <a:p>
            <a:pPr marL="457200" indent="-457200">
              <a:buFont typeface="Arial" panose="020B0604020202020204" pitchFamily="34" charset="0"/>
              <a:buChar char="•"/>
            </a:pPr>
            <a:r>
              <a:rPr lang="zh-CN" altLang="zh-CN" sz="1000">
                <a:sym typeface="+mn-ea"/>
              </a:rPr>
              <a:t>                if(dep[x]==dep[y]) Update(Root[i], 1, n, fa[y]);</a:t>
            </a:r>
            <a:endParaRPr lang="zh-CN" altLang="zh-CN" sz="1000">
              <a:sym typeface="+mn-ea"/>
            </a:endParaRPr>
          </a:p>
          <a:p>
            <a:pPr marL="457200" indent="-457200">
              <a:buFont typeface="Arial" panose="020B0604020202020204" pitchFamily="34" charset="0"/>
              <a:buChar char="•"/>
            </a:pPr>
            <a:r>
              <a:rPr lang="zh-CN" altLang="zh-CN" sz="1000">
                <a:sym typeface="+mn-ea"/>
              </a:rPr>
              <a:t>            }</a:t>
            </a:r>
            <a:endParaRPr lang="zh-CN" altLang="zh-CN" sz="1000">
              <a:sym typeface="+mn-ea"/>
            </a:endParaRPr>
          </a:p>
          <a:p>
            <a:pPr marL="457200" indent="-457200">
              <a:buFont typeface="Arial" panose="020B0604020202020204" pitchFamily="34" charset="0"/>
              <a:buChar char="•"/>
            </a:pPr>
            <a:r>
              <a:rPr lang="zh-CN" altLang="zh-CN" sz="1000">
                <a:sym typeface="+mn-ea"/>
              </a:rPr>
              <a:t>        } else scanf("%d", &amp;x), Root[i] = Root[x^last_ans];</a:t>
            </a:r>
            <a:endParaRPr lang="zh-CN" altLang="zh-CN" sz="1000">
              <a:sym typeface="+mn-ea"/>
            </a:endParaRPr>
          </a:p>
          <a:p>
            <a:pPr marL="457200" indent="-457200">
              <a:buFont typeface="Arial" panose="020B0604020202020204" pitchFamily="34" charset="0"/>
              <a:buChar char="•"/>
            </a:pPr>
            <a:r>
              <a:rPr lang="zh-CN" altLang="zh-CN" sz="1000">
                <a:sym typeface="+mn-ea"/>
              </a:rPr>
              <a:t>    }</a:t>
            </a:r>
            <a:endParaRPr lang="zh-CN" altLang="zh-CN" sz="1000">
              <a:sym typeface="+mn-ea"/>
            </a:endParaRPr>
          </a:p>
          <a:p>
            <a:pPr marL="457200" indent="-457200">
              <a:buFont typeface="Arial" panose="020B0604020202020204" pitchFamily="34" charset="0"/>
              <a:buChar char="•"/>
            </a:pPr>
            <a:r>
              <a:rPr lang="zh-CN" altLang="zh-CN" sz="1000">
                <a:sym typeface="+mn-ea"/>
              </a:rPr>
              <a:t>    return 0;</a:t>
            </a:r>
            <a:endParaRPr lang="zh-CN" altLang="zh-CN" sz="1000">
              <a:sym typeface="+mn-ea"/>
            </a:endParaRPr>
          </a:p>
          <a:p>
            <a:pPr marL="457200" indent="-457200">
              <a:buFont typeface="Arial" panose="020B0604020202020204" pitchFamily="34" charset="0"/>
              <a:buChar char="•"/>
            </a:pPr>
            <a:r>
              <a:rPr lang="zh-CN" altLang="zh-CN" sz="1000">
                <a:sym typeface="+mn-ea"/>
              </a:rPr>
              <a:t>}</a:t>
            </a:r>
            <a:endParaRPr lang="zh-CN" altLang="zh-CN" sz="1000">
              <a:sym typeface="+mn-ea"/>
            </a:endParaRPr>
          </a:p>
          <a:p>
            <a:pPr marL="457200" indent="-457200">
              <a:buFont typeface="Arial" panose="020B0604020202020204" pitchFamily="34" charset="0"/>
              <a:buChar char="•"/>
            </a:pPr>
            <a:endParaRPr lang="zh-CN" altLang="zh-CN" sz="1000">
              <a:sym typeface="+mn-ea"/>
            </a:endParaRPr>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zh-CN"/>
              <a:t>五</a:t>
            </a:r>
            <a:r>
              <a:rPr lang="en-US" altLang="zh-CN"/>
              <a:t>.</a:t>
            </a:r>
            <a:r>
              <a:rPr lang="zh-CN" altLang="en-US"/>
              <a:t>提问时间</a:t>
            </a:r>
            <a:endParaRPr lang="zh-CN" altLang="en-US"/>
          </a:p>
        </p:txBody>
      </p:sp>
      <p:sp>
        <p:nvSpPr>
          <p:cNvPr id="3" name="矩形 2"/>
          <p:cNvSpPr/>
          <p:nvPr/>
        </p:nvSpPr>
        <p:spPr>
          <a:xfrm>
            <a:off x="1715770" y="2887345"/>
            <a:ext cx="7853680" cy="1198880"/>
          </a:xfrm>
          <a:prstGeom prst="rect">
            <a:avLst/>
          </a:prstGeom>
          <a:noFill/>
          <a:ln>
            <a:noFill/>
          </a:ln>
        </p:spPr>
        <p:txBody>
          <a:bodyPr wrap="none" rtlCol="0" anchor="t">
            <a:spAutoFit/>
          </a:bodyPr>
          <a:p>
            <a:pPr lvl="1" algn="ctr"/>
            <a:r>
              <a:rPr lang="en-US" altLang="zh-CN" sz="7200" b="1">
                <a:solidFill>
                  <a:schemeClr val="bg1"/>
                </a:solidFill>
                <a:effectLst>
                  <a:glow rad="139700">
                    <a:srgbClr val="70AD47">
                      <a:alpha val="40000"/>
                      <a:satMod val="175000"/>
                    </a:srgbClr>
                  </a:glow>
                </a:effectLst>
              </a:rPr>
              <a:t>QUESTION TIME</a:t>
            </a:r>
            <a:endParaRPr lang="en-US" altLang="zh-CN" sz="7200" b="1">
              <a:solidFill>
                <a:schemeClr val="bg1"/>
              </a:solidFill>
              <a:effectLst>
                <a:glow rad="139700">
                  <a:srgbClr val="70AD47">
                    <a:alpha val="40000"/>
                    <a:satMod val="175000"/>
                  </a:srgbClr>
                </a:glow>
              </a:effectLst>
            </a:endParaRPr>
          </a:p>
        </p:txBody>
      </p:sp>
    </p:spTree>
    <p:custDataLst>
      <p:tags r:id="rId1"/>
    </p:custDataLst>
  </p:cSld>
  <p:clrMapOvr>
    <a:masterClrMapping/>
  </p:clrMapOvr>
</p:sld>
</file>

<file path=ppt/tags/tag1.xml><?xml version="1.0" encoding="utf-8"?>
<p:tagLst xmlns:p="http://schemas.openxmlformats.org/presentationml/2006/main">
  <p:tag name="MH" val="20151210175510"/>
  <p:tag name="MH_LIBRARY" val="GRAPHIC"/>
  <p:tag name="MH_ORDER" val="Rectangle 28"/>
</p:tagLst>
</file>

<file path=ppt/tags/tag2.xml><?xml version="1.0" encoding="utf-8"?>
<p:tagLst xmlns:p="http://schemas.openxmlformats.org/presentationml/2006/main">
  <p:tag name="MH" val="20151210175510"/>
  <p:tag name="MH_LIBRARY" val="GRAPHIC"/>
  <p:tag name="MH_ORDER" val="Rectangle 117"/>
</p:tagLst>
</file>

<file path=ppt/tags/tag3.xml><?xml version="1.0" encoding="utf-8"?>
<p:tagLst xmlns:p="http://schemas.openxmlformats.org/presentationml/2006/main">
  <p:tag name="KSO_WM_TAG_VERSION" val="1.0"/>
  <p:tag name="KSO_WM_TEMPLATE_CATEGORY" val="custom"/>
  <p:tag name="KSO_WM_TEMPLATE_INDEX" val="160501"/>
</p:tagLst>
</file>

<file path=ppt/tags/tag4.xml><?xml version="1.0" encoding="utf-8"?>
<p:tagLst xmlns:p="http://schemas.openxmlformats.org/presentationml/2006/main">
  <p:tag name="KSO_WM_TAG_VERSION" val="1.0"/>
  <p:tag name="KSO_WM_TEMPLATE_CATEGORY" val="custom"/>
  <p:tag name="KSO_WM_TEMPLATE_INDEX" val="160501"/>
</p:tagLst>
</file>

<file path=ppt/tags/tag5.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1*a*1"/>
  <p:tag name="KSO_WM_UNIT_CLEAR" val="1"/>
  <p:tag name="KSO_WM_UNIT_LAYERLEVEL" val="1"/>
  <p:tag name="KSO_WM_UNIT_VALUE" val="22"/>
  <p:tag name="KSO_WM_UNIT_ISCONTENTSTITLE" val="0"/>
  <p:tag name="KSO_WM_UNIT_HIGHLIGHT" val="0"/>
  <p:tag name="KSO_WM_UNIT_COMPATIBLE" val="0"/>
  <p:tag name="KSO_WM_UNIT_PRESET_TEXT_INDEX" val="3"/>
  <p:tag name="KSO_WM_UNIT_PRESET_TEXT_LEN" val="12"/>
</p:tagLst>
</file>

<file path=ppt/tags/tag6.xml><?xml version="1.0" encoding="utf-8"?>
<p:tagLst xmlns:p="http://schemas.openxmlformats.org/presentationml/2006/main">
  <p:tag name="KSO_WM_TAG_VERSION" val="1.0"/>
  <p:tag name="KSO_WM_BEAUTIFY_FLAG" val="#wm#"/>
  <p:tag name="KSO_WM_TEMPLATE_CATEGORY" val="custom"/>
  <p:tag name="KSO_WM_TEMPLATE_INDEX" val="160501"/>
  <p:tag name="KSO_WM_UNIT_TYPE" val="b"/>
  <p:tag name="KSO_WM_UNIT_INDEX" val="1"/>
  <p:tag name="KSO_WM_UNIT_ID" val="custom160501_1*b*1"/>
  <p:tag name="KSO_WM_UNIT_CLEAR" val="1"/>
  <p:tag name="KSO_WM_UNIT_LAYERLEVEL" val="1"/>
  <p:tag name="KSO_WM_UNIT_VALUE" val="25"/>
  <p:tag name="KSO_WM_UNIT_ISCONTENTSTITLE" val="0"/>
  <p:tag name="KSO_WM_UNIT_HIGHLIGHT" val="0"/>
  <p:tag name="KSO_WM_UNIT_COMPATIBLE" val="0"/>
  <p:tag name="KSO_WM_UNIT_PRESET_TEXT_INDEX" val="3"/>
  <p:tag name="KSO_WM_UNIT_PRESET_TEXT_LEN" val="17"/>
</p:tagLst>
</file>

<file path=ppt/tags/tag7.xml><?xml version="1.0" encoding="utf-8"?>
<p:tagLst xmlns:p="http://schemas.openxmlformats.org/presentationml/2006/main">
  <p:tag name="KSO_WM_TEMPLATE_CATEGORY" val="custom"/>
  <p:tag name="KSO_WM_TEMPLATE_INDEX" val="160501"/>
  <p:tag name="KSO_WM_TAG_VERSION" val="1.0"/>
  <p:tag name="KSO_WM_SLIDE_ID" val="custom160501_1"/>
  <p:tag name="KSO_WM_SLIDE_INDEX" val="1"/>
  <p:tag name="KSO_WM_SLIDE_ITEM_CNT" val="2"/>
  <p:tag name="KSO_WM_SLIDE_LAYOUT" val="a_b"/>
  <p:tag name="KSO_WM_SLIDE_LAYOUT_CNT" val="1_1"/>
  <p:tag name="KSO_WM_SLIDE_TYPE" val="title"/>
  <p:tag name="KSO_WM_TEMPLATE_THUMBS_INDEX" val="1、10、12、18、24、25、26、27"/>
  <p:tag name="KSO_WM_BEAUTIFY_FLAG" val="#wm#"/>
</p:tagLst>
</file>

<file path=ppt/tags/tag8.xml><?xml version="1.0" encoding="utf-8"?>
<p:tagLst xmlns:p="http://schemas.openxmlformats.org/presentationml/2006/main">
  <p:tag name="KSO_WM_BEAUTIFY_FLAG" val="#wm#"/>
  <p:tag name="KSO_WM_TEMPLATE_CATEGORY" val="custom"/>
  <p:tag name="KSO_WM_TEMPLATE_INDEX" val="160501"/>
</p:tagLst>
</file>

<file path=ppt/tags/tag9.xml><?xml version="1.0" encoding="utf-8"?>
<p:tagLst xmlns:p="http://schemas.openxmlformats.org/presentationml/2006/main">
  <p:tag name="KSO_WM_BEAUTIFY_FLAG" val="#wm#"/>
  <p:tag name="KSO_WM_TEMPLATE_CATEGORY" val="custom"/>
  <p:tag name="KSO_WM_TEMPLATE_INDEX" val="160501"/>
</p:tagLst>
</file>

<file path=ppt/tags/tag10.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11.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12.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13.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14.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15.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16.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17.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18.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19.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20.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21.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22.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23.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24.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25.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26.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27.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28.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29.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30.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31.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32.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33.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34.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35.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36.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37.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38.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39.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40.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41.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42.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43.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44.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45.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46.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47.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48.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49.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50.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51.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52.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53.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54.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55.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56.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57.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58.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59.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60.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61.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62.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63.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64.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65.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66.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67.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68.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69.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70.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71.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72.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73.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74.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75.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76.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77.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78.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79.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80.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81.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82.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83.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84.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85.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86.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87.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88.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89.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90.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91.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92.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93.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94.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95.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96.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97.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98.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99.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100.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101.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102.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103.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104.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105.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106.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107.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108.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109.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110.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111.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112.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113.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114.xml><?xml version="1.0" encoding="utf-8"?>
<p:tagLst xmlns:p="http://schemas.openxmlformats.org/presentationml/2006/main">
  <p:tag name="KSO_WM_BEAUTIFY_FLAG" val="#wm#"/>
  <p:tag name="KSO_WM_TEMPLATE_CATEGORY" val="custom"/>
  <p:tag name="KSO_WM_TEMPLATE_INDEX" val="160501"/>
</p:tagLst>
</file>

<file path=ppt/tags/tag115.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116.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117.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118.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119.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120.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121.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122.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123.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124.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125.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126.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127.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128.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129.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130.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131.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132.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133.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134.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135.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136.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137.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138.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139.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140.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141.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142.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143.xml><?xml version="1.0" encoding="utf-8"?>
<p:tagLst xmlns:p="http://schemas.openxmlformats.org/presentationml/2006/main">
  <p:tag name="KSO_WM_TAG_VERSION" val="1.0"/>
  <p:tag name="KSO_WM_BEAUTIFY_FLAG" val="#wm#"/>
  <p:tag name="KSO_WM_TEMPLATE_CATEGORY" val="custom"/>
  <p:tag name="KSO_WM_TEMPLATE_INDEX" val="160501"/>
  <p:tag name="KSO_WM_UNIT_TYPE" val="a"/>
  <p:tag name="KSO_WM_UNIT_INDEX" val="1"/>
  <p:tag name="KSO_WM_UNIT_ID" val="custom160501_2*a*1"/>
  <p:tag name="KSO_WM_UNIT_CLEAR" val="1"/>
  <p:tag name="KSO_WM_UNIT_LAYERLEVEL" val="1"/>
  <p:tag name="KSO_WM_UNIT_VALUE" val="14"/>
  <p:tag name="KSO_WM_UNIT_ISCONTENTSTITLE" val="0"/>
  <p:tag name="KSO_WM_UNIT_HIGHLIGHT" val="0"/>
  <p:tag name="KSO_WM_UNIT_COMPATIBLE" val="0"/>
  <p:tag name="KSO_WM_UNIT_PRESET_TEXT_INDEX" val="3"/>
  <p:tag name="KSO_WM_UNIT_PRESET_TEXT_LEN" val="17"/>
</p:tagLst>
</file>

<file path=ppt/tags/tag144.xml><?xml version="1.0" encoding="utf-8"?>
<p:tagLst xmlns:p="http://schemas.openxmlformats.org/presentationml/2006/main">
  <p:tag name="KSO_WM_TAG_VERSION" val="1.0"/>
  <p:tag name="KSO_WM_BEAUTIFY_FLAG" val="#wm#"/>
  <p:tag name="KSO_WM_UNIT_TYPE" val="i"/>
  <p:tag name="KSO_WM_UNIT_ID" val="custom160501_2*i*2"/>
  <p:tag name="KSO_WM_TEMPLATE_CATEGORY" val="custom"/>
  <p:tag name="KSO_WM_TEMPLATE_INDEX" val="160501"/>
  <p:tag name="KSO_WM_UNIT_INDEX" val="2"/>
</p:tagLst>
</file>

<file path=ppt/tags/tag145.xml><?xml version="1.0" encoding="utf-8"?>
<p:tagLst xmlns:p="http://schemas.openxmlformats.org/presentationml/2006/main">
  <p:tag name="KSO_WM_TAG_VERSION" val="1.0"/>
  <p:tag name="KSO_WM_BEAUTIFY_FLAG" val="#wm#"/>
  <p:tag name="KSO_WM_UNIT_TYPE" val="i"/>
  <p:tag name="KSO_WM_UNIT_ID" val="custom160501_2*i*3"/>
  <p:tag name="KSO_WM_TEMPLATE_CATEGORY" val="custom"/>
  <p:tag name="KSO_WM_TEMPLATE_INDEX" val="160501"/>
  <p:tag name="KSO_WM_UNIT_INDEX" val="3"/>
</p:tagLst>
</file>

<file path=ppt/tags/tag146.xml><?xml version="1.0" encoding="utf-8"?>
<p:tagLst xmlns:p="http://schemas.openxmlformats.org/presentationml/2006/main">
  <p:tag name="KSO_WM_TEMPLATE_CATEGORY" val="custom"/>
  <p:tag name="KSO_WM_TEMPLATE_INDEX" val="160501"/>
  <p:tag name="KSO_WM_TAG_VERSION" val="1.0"/>
  <p:tag name="KSO_WM_SLIDE_ID" val="custom160501_2"/>
  <p:tag name="KSO_WM_SLIDE_INDEX" val="2"/>
  <p:tag name="KSO_WM_SLIDE_ITEM_CNT" val="1"/>
  <p:tag name="KSO_WM_SLIDE_LAYOUT" val="a_f"/>
  <p:tag name="KSO_WM_SLIDE_LAYOUT_CNT" val="1_1"/>
  <p:tag name="KSO_WM_SLIDE_TYPE" val="text"/>
  <p:tag name="KSO_WM_BEAUTIFY_FLAG" val="#wm#"/>
  <p:tag name="KSO_WM_SLIDE_POSITION" val="77*137"/>
  <p:tag name="KSO_WM_SLIDE_SIZE" val="805*317"/>
</p:tagLst>
</file>

<file path=ppt/tags/tag147.xml><?xml version="1.0" encoding="utf-8"?>
<p:tagLst xmlns:p="http://schemas.openxmlformats.org/presentationml/2006/main">
  <p:tag name="KSO_WM_BEAUTIFY_FLAG" val="#wm#"/>
  <p:tag name="KSO_WM_TEMPLATE_CATEGORY" val="custom"/>
  <p:tag name="KSO_WM_TEMPLATE_INDEX" val="160501"/>
</p:tagLst>
</file>

<file path=ppt/tags/tag148.xml><?xml version="1.0" encoding="utf-8"?>
<p:tagLst xmlns:p="http://schemas.openxmlformats.org/presentationml/2006/main">
  <p:tag name="KSO_WM_BEAUTIFY_FLAG" val="#wm#"/>
  <p:tag name="KSO_WM_TEMPLATE_CATEGORY" val="custom"/>
  <p:tag name="KSO_WM_TEMPLATE_INDEX" val="160501"/>
</p:tagLst>
</file>

<file path=ppt/tags/tag149.xml><?xml version="1.0" encoding="utf-8"?>
<p:tagLst xmlns:p="http://schemas.openxmlformats.org/presentationml/2006/main">
  <p:tag name="KSO_WM_BEAUTIFY_FLAG" val="#wm#"/>
  <p:tag name="KSO_WM_TEMPLATE_CATEGORY" val="custom"/>
  <p:tag name="KSO_WM_TEMPLATE_INDEX" val="160501"/>
</p:tagLst>
</file>

<file path=ppt/tags/tag150.xml><?xml version="1.0" encoding="utf-8"?>
<p:tagLst xmlns:p="http://schemas.openxmlformats.org/presentationml/2006/main">
  <p:tag name="KSO_WM_BEAUTIFY_FLAG" val="#wm#"/>
  <p:tag name="KSO_WM_TEMPLATE_CATEGORY" val="custom"/>
  <p:tag name="KSO_WM_TEMPLATE_INDEX" val="160501"/>
</p:tagLst>
</file>

<file path=ppt/theme/theme1.xml><?xml version="1.0" encoding="utf-8"?>
<a:theme xmlns:a="http://schemas.openxmlformats.org/drawingml/2006/main" name="1_Office 主题">
  <a:themeElements>
    <a:clrScheme name="自定义 225">
      <a:dk1>
        <a:sysClr val="windowText" lastClr="000000"/>
      </a:dk1>
      <a:lt1>
        <a:sysClr val="window" lastClr="FFFFFF"/>
      </a:lt1>
      <a:dk2>
        <a:srgbClr val="44546A"/>
      </a:dk2>
      <a:lt2>
        <a:srgbClr val="E7E6E6"/>
      </a:lt2>
      <a:accent1>
        <a:srgbClr val="FCAC1F"/>
      </a:accent1>
      <a:accent2>
        <a:srgbClr val="2C91CE"/>
      </a:accent2>
      <a:accent3>
        <a:srgbClr val="A5A5A5"/>
      </a:accent3>
      <a:accent4>
        <a:srgbClr val="FFC000"/>
      </a:accent4>
      <a:accent5>
        <a:srgbClr val="4472C4"/>
      </a:accent5>
      <a:accent6>
        <a:srgbClr val="70AD47"/>
      </a:accent6>
      <a:hlink>
        <a:srgbClr val="0563C1"/>
      </a:hlink>
      <a:folHlink>
        <a:srgbClr val="954F72"/>
      </a:folHlink>
    </a:clrScheme>
    <a:fontScheme name="自定义 7">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92D05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marL="457200" indent="-457200">
          <a:buFont typeface="Arial" panose="020B0604020202020204" pitchFamily="34" charset="0"/>
          <a:buChar char="•"/>
          <a:defRPr lang="zh-CN" altLang="zh-CN" sz="2800">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8239</Words>
  <Application>WPS 演示</Application>
  <PresentationFormat>宽屏</PresentationFormat>
  <Paragraphs>601</Paragraphs>
  <Slides>42</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5</vt:i4>
      </vt:variant>
      <vt:variant>
        <vt:lpstr>幻灯片标题</vt:lpstr>
      </vt:variant>
      <vt:variant>
        <vt:i4>42</vt:i4>
      </vt:variant>
    </vt:vector>
  </HeadingPairs>
  <TitlesOfParts>
    <vt:vector size="55" baseType="lpstr">
      <vt:lpstr>Arial</vt:lpstr>
      <vt:lpstr>宋体</vt:lpstr>
      <vt:lpstr>Wingdings</vt:lpstr>
      <vt:lpstr>黑体</vt:lpstr>
      <vt:lpstr>微软雅黑</vt:lpstr>
      <vt:lpstr>Arial Unicode MS</vt:lpstr>
      <vt:lpstr>Calibri</vt:lpstr>
      <vt:lpstr>1_Office 主题</vt:lpstr>
      <vt:lpstr>Equation.KSEE3</vt:lpstr>
      <vt:lpstr>Equation.KSEE3</vt:lpstr>
      <vt:lpstr>Equation.KSEE3</vt:lpstr>
      <vt:lpstr>Equation.KSEE3</vt:lpstr>
      <vt:lpstr>Equation.KSEE3</vt:lpstr>
      <vt:lpstr>可持久化数据结构</vt:lpstr>
      <vt:lpstr>一.什么是可持久化数据结构?</vt:lpstr>
      <vt:lpstr>二.主席树</vt:lpstr>
      <vt:lpstr>二.主席树</vt:lpstr>
      <vt:lpstr>二.主席树</vt:lpstr>
      <vt:lpstr>二.主席树</vt:lpstr>
      <vt:lpstr>二.主席树</vt:lpstr>
      <vt:lpstr>二.主席树</vt:lpstr>
      <vt:lpstr>二.主席树</vt:lpstr>
      <vt:lpstr>二.主席树</vt:lpstr>
      <vt:lpstr>二.主席树</vt:lpstr>
      <vt:lpstr>二.主席树</vt:lpstr>
      <vt:lpstr>二.主席树</vt:lpstr>
      <vt:lpstr>二.主席树</vt:lpstr>
      <vt:lpstr>二.主席树</vt:lpstr>
      <vt:lpstr>二.主席树</vt:lpstr>
      <vt:lpstr>二.主席树</vt:lpstr>
      <vt:lpstr>二.主席树</vt:lpstr>
      <vt:lpstr>二.主席树</vt:lpstr>
      <vt:lpstr>二.主席树</vt:lpstr>
      <vt:lpstr>二.主席树</vt:lpstr>
      <vt:lpstr>二.主席树</vt:lpstr>
      <vt:lpstr>二.主席树</vt:lpstr>
      <vt:lpstr>二.主席树</vt:lpstr>
      <vt:lpstr>二.主席树</vt:lpstr>
      <vt:lpstr>二.主席树</vt:lpstr>
      <vt:lpstr>二.主席树</vt:lpstr>
      <vt:lpstr>二.主席树</vt:lpstr>
      <vt:lpstr>二.主席树</vt:lpstr>
      <vt:lpstr>三.可持久化trie树</vt:lpstr>
      <vt:lpstr>三.可持久化trie树</vt:lpstr>
      <vt:lpstr>三.可持久化trie树</vt:lpstr>
      <vt:lpstr>三.可持久化trie树</vt:lpstr>
      <vt:lpstr>三.可持久化trie树</vt:lpstr>
      <vt:lpstr>三.可持久化trie树</vt:lpstr>
      <vt:lpstr>三.可持久化trie树</vt:lpstr>
      <vt:lpstr>三.可持久化trie树</vt:lpstr>
      <vt:lpstr>三.可持久化trie树</vt:lpstr>
      <vt:lpstr>四.可持久化并查集</vt:lpstr>
      <vt:lpstr>四.可持久化并查集</vt:lpstr>
      <vt:lpstr>四.可持久化并查集</vt:lpstr>
      <vt:lpstr>四.可持久化并查集</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lenovo</cp:lastModifiedBy>
  <cp:revision>11</cp:revision>
  <dcterms:created xsi:type="dcterms:W3CDTF">2017-07-30T02:30:00Z</dcterms:created>
  <dcterms:modified xsi:type="dcterms:W3CDTF">2017-07-30T23:08:20Z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2052-10.1.0.6690</vt:lpwstr>
  </property>
</Properties>
</file>