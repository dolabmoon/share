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9" r:id="rId2"/>
    <p:sldId id="317" r:id="rId3"/>
    <p:sldId id="273" r:id="rId4"/>
    <p:sldId id="274" r:id="rId5"/>
    <p:sldId id="275" r:id="rId6"/>
    <p:sldId id="320" r:id="rId7"/>
    <p:sldId id="279" r:id="rId8"/>
    <p:sldId id="281" r:id="rId9"/>
    <p:sldId id="282" r:id="rId10"/>
    <p:sldId id="283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28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edo jj" initials="yj" lastIdx="2" clrIdx="0">
    <p:extLst>
      <p:ext uri="{19B8F6BF-5375-455C-9EA6-DF929625EA0E}">
        <p15:presenceInfo xmlns="" xmlns:p15="http://schemas.microsoft.com/office/powerpoint/2012/main" userId="9c6be568d7b430d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8781" autoAdjust="0"/>
    <p:restoredTop sz="96256" autoAdjust="0"/>
  </p:normalViewPr>
  <p:slideViewPr>
    <p:cSldViewPr snapToGrid="0">
      <p:cViewPr varScale="1">
        <p:scale>
          <a:sx n="70" d="100"/>
          <a:sy n="70" d="100"/>
        </p:scale>
        <p:origin x="-396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331984-DD9D-4D75-9AAE-C390D60C659E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EBFA7-16B6-48AF-AC39-1D42A870352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3602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2016/12/23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=""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文本框 2051"/>
          <p:cNvSpPr txBox="1"/>
          <p:nvPr/>
        </p:nvSpPr>
        <p:spPr>
          <a:xfrm>
            <a:off x="4393382" y="2644665"/>
            <a:ext cx="3846975" cy="92333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/>
            <a:r>
              <a:rPr lang="zh-CN" altLang="en-US" sz="5400" b="1" dirty="0" smtClean="0">
                <a:latin typeface="Arial" charset="0"/>
                <a:ea typeface="楷体" pitchFamily="49" charset="-122"/>
              </a:rPr>
              <a:t>树套树</a:t>
            </a:r>
            <a:endParaRPr lang="zh-CN" altLang="en-US" sz="5400" b="1" dirty="0">
              <a:latin typeface="Arial" charset="0"/>
              <a:ea typeface="楷体" pitchFamily="49" charset="-122"/>
            </a:endParaRPr>
          </a:p>
        </p:txBody>
      </p:sp>
      <p:sp>
        <p:nvSpPr>
          <p:cNvPr id="2053" name="文本框 2052"/>
          <p:cNvSpPr txBox="1"/>
          <p:nvPr/>
        </p:nvSpPr>
        <p:spPr>
          <a:xfrm>
            <a:off x="8301289" y="4888483"/>
            <a:ext cx="3185487" cy="646331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none" anchor="t">
            <a:spAutoFit/>
          </a:bodyPr>
          <a:lstStyle/>
          <a:p>
            <a:pPr lvl="0"/>
            <a:r>
              <a:rPr lang="en-US" altLang="zh-CN" sz="3600" b="1" dirty="0" err="1" smtClean="0">
                <a:latin typeface="Arial" charset="0"/>
                <a:ea typeface="宋体" pitchFamily="2" charset="-122"/>
              </a:rPr>
              <a:t>NationalNight</a:t>
            </a:r>
            <a:endParaRPr lang="en-US" altLang="zh-CN" sz="3600" b="1" dirty="0"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4919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7772400" cy="1143000"/>
          </a:xfrm>
        </p:spPr>
        <p:txBody>
          <a:bodyPr/>
          <a:lstStyle/>
          <a:p>
            <a:pPr eaLnBrk="1" hangingPunct="1"/>
            <a:r>
              <a:rPr lang="zh-CN" altLang="en-US" b="1" dirty="0" smtClean="0"/>
              <a:t>树套树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9750" y="914400"/>
            <a:ext cx="9478458" cy="5943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zh-CN" altLang="en-US" dirty="0" smtClean="0"/>
              <a:t>顾名思义，就是一个树套着另外的一些树</a:t>
            </a:r>
            <a:endParaRPr lang="en-US" altLang="zh-CN" dirty="0" smtClean="0"/>
          </a:p>
          <a:p>
            <a:pPr>
              <a:buFontTx/>
              <a:buNone/>
            </a:pP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具体来说，外层的树状结构中每个节点都需要维护一颗树</a:t>
            </a:r>
            <a:endParaRPr lang="en-US" altLang="zh-CN" dirty="0" smtClean="0"/>
          </a:p>
          <a:p>
            <a:pPr>
              <a:buFontTx/>
              <a:buNone/>
            </a:pP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在外层的每个节点上存</a:t>
            </a:r>
            <a:endParaRPr lang="en-US" altLang="zh-CN" dirty="0" smtClean="0"/>
          </a:p>
          <a:p>
            <a:pPr>
              <a:buFontTx/>
              <a:buNone/>
            </a:pPr>
            <a:r>
              <a:rPr lang="zh-CN" altLang="en-US" dirty="0" smtClean="0"/>
              <a:t>储其内部套着的树的树根</a:t>
            </a:r>
            <a:endParaRPr lang="en-US" altLang="zh-CN" dirty="0" smtClean="0"/>
          </a:p>
          <a:p>
            <a:pPr>
              <a:buFontTx/>
              <a:buNone/>
            </a:pPr>
            <a:endParaRPr lang="en-US" altLang="zh-CN" dirty="0" smtClean="0"/>
          </a:p>
          <a:p>
            <a:pPr>
              <a:buFontTx/>
              <a:buNone/>
            </a:pPr>
            <a:r>
              <a:rPr lang="zh-CN" altLang="en-US" b="1" dirty="0" smtClean="0"/>
              <a:t>线段树套平衡树</a:t>
            </a:r>
            <a:endParaRPr lang="en-US" altLang="zh-CN" b="1" dirty="0" smtClean="0"/>
          </a:p>
          <a:p>
            <a:pPr>
              <a:buFontTx/>
              <a:buNone/>
            </a:pPr>
            <a:r>
              <a:rPr lang="zh-CN" altLang="en-US" b="1" dirty="0" smtClean="0"/>
              <a:t>线段树套线段树</a:t>
            </a:r>
            <a:endParaRPr lang="en-US" altLang="zh-CN" b="1" dirty="0" smtClean="0"/>
          </a:p>
          <a:p>
            <a:pPr>
              <a:buFontTx/>
              <a:buNone/>
            </a:pPr>
            <a:r>
              <a:rPr lang="zh-CN" altLang="en-US" dirty="0" smtClean="0">
                <a:solidFill>
                  <a:srgbClr val="7030A0"/>
                </a:solidFill>
              </a:rPr>
              <a:t>替罪羊树套线段树</a:t>
            </a:r>
            <a:endParaRPr lang="en-US" altLang="zh-CN" dirty="0" smtClean="0">
              <a:solidFill>
                <a:srgbClr val="7030A0"/>
              </a:solidFill>
            </a:endParaRPr>
          </a:p>
          <a:p>
            <a:pPr>
              <a:buFontTx/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平衡树套线段树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平衡树套平衡树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buFontTx/>
              <a:buNone/>
            </a:pPr>
            <a:endParaRPr lang="en-US" altLang="zh-CN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15031" y="2609523"/>
            <a:ext cx="7576970" cy="4270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6765" y="3106934"/>
            <a:ext cx="846490" cy="65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2208" y="4634520"/>
            <a:ext cx="846490" cy="65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74209" y="4387094"/>
            <a:ext cx="846490" cy="65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6623" y="5839377"/>
            <a:ext cx="846490" cy="65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11339" y="5893165"/>
            <a:ext cx="846490" cy="657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3128924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7169"/>
          <p:cNvSpPr>
            <a:spLocks noGrp="1"/>
          </p:cNvSpPr>
          <p:nvPr>
            <p:ph type="title"/>
          </p:nvPr>
        </p:nvSpPr>
        <p:spPr>
          <a:xfrm>
            <a:off x="838200" y="244356"/>
            <a:ext cx="10515600" cy="1325563"/>
          </a:xfrm>
          <a:ln/>
        </p:spPr>
        <p:txBody>
          <a:bodyPr anchor="ctr"/>
          <a:lstStyle/>
          <a:p>
            <a:r>
              <a:rPr lang="zh-CN" altLang="en-US" b="1" dirty="0" smtClean="0">
                <a:ea typeface="楷体" pitchFamily="49" charset="-122"/>
              </a:rPr>
              <a:t>树套树能干什么？</a:t>
            </a:r>
            <a:endParaRPr lang="zh-CN" altLang="en-US" b="1" dirty="0">
              <a:ea typeface="楷体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42127" y="1825625"/>
            <a:ext cx="10911673" cy="4351338"/>
          </a:xfrm>
        </p:spPr>
        <p:txBody>
          <a:bodyPr/>
          <a:lstStyle/>
          <a:p>
            <a:r>
              <a:rPr lang="zh-CN" altLang="en-US" dirty="0" smtClean="0"/>
              <a:t>这种算法被发明出来显然是有用的</a:t>
            </a:r>
            <a:endParaRPr lang="en-US" altLang="zh-CN" dirty="0" smtClean="0"/>
          </a:p>
          <a:p>
            <a:r>
              <a:rPr lang="zh-CN" altLang="en-US" dirty="0" smtClean="0"/>
              <a:t>有的问题我们一棵树解决不了</a:t>
            </a:r>
            <a:endParaRPr lang="en-US" altLang="zh-CN" dirty="0" smtClean="0"/>
          </a:p>
          <a:p>
            <a:r>
              <a:rPr lang="zh-CN" altLang="en-US" dirty="0" smtClean="0"/>
              <a:t>那我们就用树套树来解决！</a:t>
            </a:r>
            <a:endParaRPr lang="en-US" altLang="zh-CN" dirty="0" smtClean="0"/>
          </a:p>
          <a:p>
            <a:r>
              <a:rPr lang="zh-CN" altLang="en-US" dirty="0" smtClean="0"/>
              <a:t>例如</a:t>
            </a:r>
            <a:r>
              <a:rPr lang="en-US" altLang="zh-CN" dirty="0" smtClean="0"/>
              <a:t>…</a:t>
            </a:r>
          </a:p>
        </p:txBody>
      </p:sp>
    </p:spTree>
    <p:extLst>
      <p:ext uri="{BB962C8B-B14F-4D97-AF65-F5344CB8AC3E}">
        <p14:creationId xmlns="" xmlns:p14="http://schemas.microsoft.com/office/powerpoint/2010/main" val="124377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lang="en-US" altLang="zh-CN" b="1" dirty="0" err="1" smtClean="0"/>
              <a:t>Tyvj</a:t>
            </a:r>
            <a:r>
              <a:rPr lang="en-US" altLang="zh-CN" b="1" dirty="0" smtClean="0"/>
              <a:t> 1730 </a:t>
            </a:r>
            <a:r>
              <a:rPr lang="zh-CN" altLang="en-US" b="1" dirty="0" smtClean="0"/>
              <a:t>二逼平衡树</a:t>
            </a:r>
            <a:endParaRPr lang="en-US" altLang="zh-CN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195" name="文本占位符 8194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747549" cy="4351338"/>
          </a:xfrm>
          <a:ln/>
        </p:spPr>
        <p:txBody>
          <a:bodyPr/>
          <a:lstStyle/>
          <a:p>
            <a:r>
              <a:rPr lang="zh-CN" altLang="en-US" dirty="0" smtClean="0"/>
              <a:t>您需要写一种数据结构（可参考题目标题），来维护一个有序数列，其中需要提供以下操作：</a:t>
            </a:r>
            <a:br>
              <a:rPr lang="zh-CN" altLang="en-US" dirty="0" smtClean="0"/>
            </a:br>
            <a:r>
              <a:rPr lang="en-US" altLang="zh-CN" dirty="0" smtClean="0"/>
              <a:t>1.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在区间内的排名</a:t>
            </a:r>
            <a:br>
              <a:rPr lang="zh-CN" altLang="en-US" dirty="0" smtClean="0"/>
            </a:br>
            <a:r>
              <a:rPr lang="en-US" altLang="zh-CN" dirty="0" smtClean="0"/>
              <a:t>2.</a:t>
            </a:r>
            <a:r>
              <a:rPr lang="zh-CN" altLang="en-US" dirty="0" smtClean="0"/>
              <a:t>查询区间内排名为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的值</a:t>
            </a:r>
            <a:br>
              <a:rPr lang="zh-CN" altLang="en-US" dirty="0" smtClean="0"/>
            </a:br>
            <a:r>
              <a:rPr lang="en-US" altLang="zh-CN" dirty="0" smtClean="0"/>
              <a:t>3.</a:t>
            </a:r>
            <a:r>
              <a:rPr lang="zh-CN" altLang="en-US" dirty="0" smtClean="0"/>
              <a:t>修改某一位值上的数值</a:t>
            </a:r>
            <a:br>
              <a:rPr lang="zh-CN" altLang="en-US" dirty="0" smtClean="0"/>
            </a:br>
            <a:r>
              <a:rPr lang="en-US" altLang="zh-CN" dirty="0" smtClean="0"/>
              <a:t>4.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在区间内的前驱</a:t>
            </a:r>
            <a:r>
              <a:rPr lang="en-US" altLang="zh-CN" dirty="0" smtClean="0"/>
              <a:t>(</a:t>
            </a:r>
            <a:r>
              <a:rPr lang="zh-CN" altLang="en-US" dirty="0" smtClean="0"/>
              <a:t>前驱定义为小于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，且最大的数</a:t>
            </a:r>
            <a:r>
              <a:rPr lang="en-US" altLang="zh-CN" dirty="0" smtClean="0"/>
              <a:t>)</a:t>
            </a:r>
            <a:br>
              <a:rPr lang="en-US" altLang="zh-CN" dirty="0" smtClean="0"/>
            </a:br>
            <a:r>
              <a:rPr lang="en-US" altLang="zh-CN" dirty="0" smtClean="0"/>
              <a:t>5.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在区间内的后继</a:t>
            </a:r>
            <a:r>
              <a:rPr lang="en-US" altLang="zh-CN" dirty="0" smtClean="0"/>
              <a:t>(</a:t>
            </a:r>
            <a:r>
              <a:rPr lang="zh-CN" altLang="en-US" dirty="0" smtClean="0"/>
              <a:t>后继定义为大于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，且最小的数</a:t>
            </a:r>
            <a:r>
              <a:rPr lang="en-US" altLang="zh-CN" dirty="0" smtClean="0"/>
              <a:t>)</a:t>
            </a:r>
          </a:p>
          <a:p>
            <a:endParaRPr lang="zh-CN" altLang="en-US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 rot="20510159">
            <a:off x="914401" y="5131397"/>
            <a:ext cx="33628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直接上线段树？</a:t>
            </a:r>
            <a:endParaRPr lang="zh-CN" alt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矩形 5"/>
          <p:cNvSpPr/>
          <p:nvPr/>
        </p:nvSpPr>
        <p:spPr>
          <a:xfrm rot="1099369">
            <a:off x="7037295" y="5068645"/>
            <a:ext cx="33628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直接上平衡树？</a:t>
            </a:r>
            <a:endParaRPr lang="zh-CN" alt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09827" y="5457713"/>
            <a:ext cx="3362804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zh-CN" altLang="en-US" sz="28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都不行！</a:t>
            </a:r>
            <a:endParaRPr lang="zh-CN" altLang="en-US" sz="28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61477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836929"/>
            <a:ext cx="9826869" cy="435133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平衡树可以查全局前驱后继、排名</a:t>
            </a:r>
            <a:r>
              <a:rPr lang="en-US" altLang="zh-CN" dirty="0" smtClean="0"/>
              <a:t>…</a:t>
            </a:r>
            <a:r>
              <a:rPr lang="zh-CN" altLang="en-US" dirty="0" smtClean="0"/>
              <a:t>但是查不了区间内的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线段树可以维护某些关于区间的问题，但是他不同时拥有查前驱后继排名的能力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所以我们要把这二者结合</a:t>
            </a:r>
            <a:endParaRPr lang="zh-CN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为什么一棵树解决不了这个问题？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790998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我会带修改的主席树！</a:t>
            </a:r>
            <a:endParaRPr lang="zh-CN" altLang="en-US" b="1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838199" y="1825625"/>
            <a:ext cx="11145820" cy="4351338"/>
          </a:xfrm>
        </p:spPr>
        <p:txBody>
          <a:bodyPr/>
          <a:lstStyle/>
          <a:p>
            <a:r>
              <a:rPr lang="zh-CN" altLang="en-US" dirty="0" smtClean="0"/>
              <a:t>事实上，在我的理解中，带修改的主席树本质上是树状数组套主席树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而且，带修改主席树空间复杂度为</a:t>
            </a:r>
            <a:r>
              <a:rPr lang="en-US" altLang="zh-CN" dirty="0" smtClean="0"/>
              <a:t>O(NlogN^2)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在有些题中是接受不了的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45030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3313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树套树</a:t>
            </a:r>
            <a:endParaRPr lang="zh-CN" alt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38200" y="1837592"/>
            <a:ext cx="10515600" cy="4269910"/>
          </a:xfrm>
        </p:spPr>
        <p:txBody>
          <a:bodyPr/>
          <a:lstStyle/>
          <a:p>
            <a:r>
              <a:rPr lang="zh-CN" altLang="en-US" dirty="0" smtClean="0"/>
              <a:t>我们首先在外层建立一颗线段树</a:t>
            </a:r>
            <a:endParaRPr lang="en-US" altLang="zh-CN" dirty="0" smtClean="0"/>
          </a:p>
          <a:p>
            <a:r>
              <a:rPr lang="zh-CN" altLang="en-US" dirty="0" smtClean="0"/>
              <a:t>然后对于线段树上的每个节点，我们建立一颗平衡树</a:t>
            </a:r>
            <a:endParaRPr lang="en-US" altLang="zh-CN" dirty="0" smtClean="0"/>
          </a:p>
          <a:p>
            <a:r>
              <a:rPr lang="zh-CN" altLang="en-US" dirty="0" smtClean="0"/>
              <a:t>这颗平衡树包含这个线段对应的区间内所有的点</a:t>
            </a:r>
            <a:endParaRPr lang="en-US" altLang="zh-CN" dirty="0" smtClean="0"/>
          </a:p>
          <a:p>
            <a:r>
              <a:rPr lang="zh-CN" altLang="en-US" dirty="0" smtClean="0"/>
              <a:t>例如：</a:t>
            </a:r>
            <a:endParaRPr lang="en-US" altLang="zh-CN" dirty="0" smtClean="0"/>
          </a:p>
          <a:p>
            <a:r>
              <a:rPr lang="en-US" altLang="zh-CN" dirty="0" smtClean="0"/>
              <a:t>[1,2,3,4,5]</a:t>
            </a:r>
          </a:p>
          <a:p>
            <a:r>
              <a:rPr lang="en-US" altLang="zh-CN" dirty="0" smtClean="0"/>
              <a:t>[1,2,3]  [4,5]</a:t>
            </a:r>
          </a:p>
          <a:p>
            <a:r>
              <a:rPr lang="en-US" altLang="zh-CN" dirty="0" smtClean="0"/>
              <a:t>[1,2] [3]  [4] [5]</a:t>
            </a:r>
          </a:p>
          <a:p>
            <a:r>
              <a:rPr lang="en-US" altLang="zh-CN" dirty="0" smtClean="0"/>
              <a:t>[1] [2]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629572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文本占位符 15362"/>
          <p:cNvSpPr>
            <a:spLocks noGrp="1"/>
          </p:cNvSpPr>
          <p:nvPr>
            <p:ph type="body" idx="1"/>
          </p:nvPr>
        </p:nvSpPr>
        <p:spPr>
          <a:xfrm>
            <a:off x="846992" y="817685"/>
            <a:ext cx="10515600" cy="5794129"/>
          </a:xfrm>
          <a:ln/>
        </p:spPr>
        <p:txBody>
          <a:bodyPr>
            <a:normAutofit/>
          </a:bodyPr>
          <a:lstStyle/>
          <a:p>
            <a:endParaRPr lang="en-US" altLang="zh-CN" dirty="0" smtClean="0">
              <a:ea typeface="楷体" pitchFamily="49" charset="-122"/>
            </a:endParaRPr>
          </a:p>
          <a:p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我们再来想一下这</a:t>
            </a:r>
            <a:r>
              <a:rPr lang="en-US" altLang="zh-CN" dirty="0" smtClean="0">
                <a:ea typeface="楷体" pitchFamily="49" charset="-122"/>
              </a:rPr>
              <a:t>5</a:t>
            </a:r>
            <a:r>
              <a:rPr lang="zh-CN" altLang="en-US" dirty="0" smtClean="0">
                <a:ea typeface="楷体" pitchFamily="49" charset="-122"/>
              </a:rPr>
              <a:t>个操作怎么做</a:t>
            </a:r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操作</a:t>
            </a:r>
            <a:r>
              <a:rPr lang="en-US" altLang="zh-CN" dirty="0" smtClean="0">
                <a:ea typeface="楷体" pitchFamily="49" charset="-122"/>
              </a:rPr>
              <a:t>1</a:t>
            </a:r>
            <a:r>
              <a:rPr lang="zh-CN" altLang="en-US" dirty="0" smtClean="0">
                <a:ea typeface="楷体" pitchFamily="49" charset="-122"/>
              </a:rPr>
              <a:t>：先在线段树上找出这个区间对应的那些节点，然后分别在这些节点代表的平衡树内查找比</a:t>
            </a:r>
            <a:r>
              <a:rPr lang="en-US" altLang="zh-CN" dirty="0" smtClean="0">
                <a:ea typeface="楷体" pitchFamily="49" charset="-122"/>
              </a:rPr>
              <a:t>k</a:t>
            </a:r>
            <a:r>
              <a:rPr lang="zh-CN" altLang="en-US" dirty="0" smtClean="0">
                <a:ea typeface="楷体" pitchFamily="49" charset="-122"/>
              </a:rPr>
              <a:t>小的个数，最后加起来即可</a:t>
            </a:r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操作</a:t>
            </a:r>
            <a:r>
              <a:rPr lang="en-US" altLang="zh-CN" dirty="0" smtClean="0">
                <a:ea typeface="楷体" pitchFamily="49" charset="-122"/>
              </a:rPr>
              <a:t>2</a:t>
            </a:r>
            <a:r>
              <a:rPr lang="zh-CN" altLang="en-US" dirty="0" smtClean="0">
                <a:ea typeface="楷体" pitchFamily="49" charset="-122"/>
              </a:rPr>
              <a:t>：先二分答案，然后像操作</a:t>
            </a:r>
            <a:r>
              <a:rPr lang="en-US" altLang="zh-CN" dirty="0" smtClean="0">
                <a:ea typeface="楷体" pitchFamily="49" charset="-122"/>
              </a:rPr>
              <a:t>1</a:t>
            </a:r>
            <a:r>
              <a:rPr lang="zh-CN" altLang="en-US" dirty="0" smtClean="0">
                <a:ea typeface="楷体" pitchFamily="49" charset="-122"/>
              </a:rPr>
              <a:t>一样判定</a:t>
            </a:r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操作</a:t>
            </a:r>
            <a:r>
              <a:rPr lang="en-US" altLang="zh-CN" dirty="0" smtClean="0">
                <a:ea typeface="楷体" pitchFamily="49" charset="-122"/>
              </a:rPr>
              <a:t>3</a:t>
            </a:r>
            <a:r>
              <a:rPr lang="zh-CN" altLang="en-US" dirty="0" smtClean="0">
                <a:ea typeface="楷体" pitchFamily="49" charset="-122"/>
              </a:rPr>
              <a:t>：把线段树上这个节点到根的路径全部修改，在平衡树中删掉原来的数，加入新的数</a:t>
            </a:r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操作</a:t>
            </a:r>
            <a:r>
              <a:rPr lang="en-US" altLang="zh-CN" dirty="0" smtClean="0">
                <a:ea typeface="楷体" pitchFamily="49" charset="-122"/>
              </a:rPr>
              <a:t>4</a:t>
            </a:r>
            <a:r>
              <a:rPr lang="zh-CN" altLang="en-US" dirty="0" smtClean="0">
                <a:ea typeface="楷体" pitchFamily="49" charset="-122"/>
              </a:rPr>
              <a:t>：先在线段树上找出这个区间对应的那些节点，然后分别查找前驱，最后将这些前驱取</a:t>
            </a:r>
            <a:r>
              <a:rPr lang="en-US" altLang="zh-CN" dirty="0" smtClean="0">
                <a:ea typeface="楷体" pitchFamily="49" charset="-122"/>
              </a:rPr>
              <a:t>max</a:t>
            </a:r>
            <a:r>
              <a:rPr lang="zh-CN" altLang="en-US" dirty="0" smtClean="0">
                <a:ea typeface="楷体" pitchFamily="49" charset="-122"/>
              </a:rPr>
              <a:t>即可</a:t>
            </a:r>
            <a:endParaRPr lang="en-US" altLang="zh-CN" dirty="0" smtClean="0">
              <a:ea typeface="楷体" pitchFamily="49" charset="-122"/>
            </a:endParaRPr>
          </a:p>
          <a:p>
            <a:r>
              <a:rPr lang="zh-CN" altLang="en-US" dirty="0" smtClean="0">
                <a:ea typeface="楷体" pitchFamily="49" charset="-122"/>
              </a:rPr>
              <a:t>操作</a:t>
            </a:r>
            <a:r>
              <a:rPr lang="en-US" altLang="zh-CN" dirty="0" smtClean="0">
                <a:ea typeface="楷体" pitchFamily="49" charset="-122"/>
              </a:rPr>
              <a:t>5</a:t>
            </a:r>
            <a:r>
              <a:rPr lang="zh-CN" altLang="en-US" dirty="0" smtClean="0">
                <a:ea typeface="楷体" pitchFamily="49" charset="-122"/>
              </a:rPr>
              <a:t>：与操作</a:t>
            </a:r>
            <a:r>
              <a:rPr lang="en-US" altLang="zh-CN" dirty="0" smtClean="0">
                <a:ea typeface="楷体" pitchFamily="49" charset="-122"/>
              </a:rPr>
              <a:t>4</a:t>
            </a:r>
            <a:r>
              <a:rPr lang="zh-CN" altLang="en-US" dirty="0" smtClean="0">
                <a:ea typeface="楷体" pitchFamily="49" charset="-122"/>
              </a:rPr>
              <a:t>类似</a:t>
            </a:r>
            <a:endParaRPr lang="en-US" altLang="zh-CN" dirty="0" smtClean="0">
              <a:ea typeface="楷体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09534" y="22683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在区间内的排名</a:t>
            </a:r>
            <a:br>
              <a:rPr lang="zh-CN" altLang="en-US" dirty="0" smtClean="0"/>
            </a:br>
            <a:r>
              <a:rPr lang="en-US" altLang="zh-CN" dirty="0" smtClean="0"/>
              <a:t>2.</a:t>
            </a:r>
            <a:r>
              <a:rPr lang="zh-CN" altLang="en-US" dirty="0" smtClean="0"/>
              <a:t>查询区间内排名为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的值</a:t>
            </a:r>
            <a:br>
              <a:rPr lang="zh-CN" altLang="en-US" dirty="0" smtClean="0"/>
            </a:br>
            <a:r>
              <a:rPr lang="en-US" altLang="zh-CN" dirty="0" smtClean="0"/>
              <a:t>3.</a:t>
            </a:r>
            <a:r>
              <a:rPr lang="zh-CN" altLang="en-US" dirty="0" smtClean="0"/>
              <a:t>修改某一位值上的数值</a:t>
            </a:r>
            <a:br>
              <a:rPr lang="zh-CN" altLang="en-US" dirty="0" smtClean="0"/>
            </a:br>
            <a:r>
              <a:rPr lang="en-US" altLang="zh-CN" dirty="0" smtClean="0"/>
              <a:t>4.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在区间内的前驱</a:t>
            </a:r>
            <a:r>
              <a:rPr lang="en-US" altLang="zh-CN" dirty="0" smtClean="0"/>
              <a:t>(</a:t>
            </a:r>
            <a:r>
              <a:rPr lang="zh-CN" altLang="en-US" dirty="0" smtClean="0"/>
              <a:t>前驱定义为小于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，且最大的数</a:t>
            </a:r>
            <a:r>
              <a:rPr lang="en-US" altLang="zh-CN" dirty="0" smtClean="0"/>
              <a:t>)</a:t>
            </a:r>
            <a:br>
              <a:rPr lang="en-US" altLang="zh-CN" dirty="0" smtClean="0"/>
            </a:br>
            <a:r>
              <a:rPr lang="en-US" altLang="zh-CN" dirty="0" smtClean="0"/>
              <a:t>5.</a:t>
            </a:r>
            <a:r>
              <a:rPr lang="zh-CN" altLang="en-US" dirty="0" smtClean="0"/>
              <a:t>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在区间内的后继</a:t>
            </a:r>
            <a:r>
              <a:rPr lang="en-US" altLang="zh-CN" dirty="0" smtClean="0"/>
              <a:t>(</a:t>
            </a:r>
            <a:r>
              <a:rPr lang="zh-CN" altLang="en-US" dirty="0" smtClean="0"/>
              <a:t>后继定义为大于</a:t>
            </a:r>
            <a:r>
              <a:rPr lang="en-US" altLang="zh-CN" dirty="0" smtClean="0"/>
              <a:t>x</a:t>
            </a:r>
            <a:r>
              <a:rPr lang="zh-CN" altLang="en-US" dirty="0" smtClean="0"/>
              <a:t>，且最小的数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99355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复杂度分析</a:t>
            </a:r>
            <a:endParaRPr lang="zh-CN" altLang="en-US" b="1" dirty="0"/>
          </a:p>
        </p:txBody>
      </p:sp>
      <p:sp>
        <p:nvSpPr>
          <p:cNvPr id="5" name="文本占位符 20482"/>
          <p:cNvSpPr txBox="1">
            <a:spLocks/>
          </p:cNvSpPr>
          <p:nvPr/>
        </p:nvSpPr>
        <p:spPr>
          <a:xfrm>
            <a:off x="816686" y="1588956"/>
            <a:ext cx="10515600" cy="4836432"/>
          </a:xfrm>
          <a:prstGeom prst="rect">
            <a:avLst/>
          </a:prstGeom>
          <a:ln/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时间复杂度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，除了操作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多了一个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log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之外，其他的操作均需要在</a:t>
            </a:r>
            <a:r>
              <a:rPr kumimoji="0" lang="en-US" altLang="zh-CN" sz="2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logN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个区间内进行平衡树查询，那么单次操作时间复杂度就为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O(logN^2)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，操作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复杂度为</a:t>
            </a: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O(logN^3)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800" dirty="0" smtClean="0">
              <a:latin typeface="楷体" pitchFamily="49" charset="-122"/>
              <a:ea typeface="楷体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空间复杂度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，对于线段树的每一层，我们发现平衡树节点总个数是</a:t>
            </a:r>
            <a:r>
              <a:rPr kumimoji="0" lang="en-US" alt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O(N)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级别的，而线段树有</a:t>
            </a:r>
            <a:r>
              <a:rPr kumimoji="0" lang="en-US" altLang="zh-CN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logN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层，所以空间复杂度是</a:t>
            </a:r>
            <a:r>
              <a:rPr kumimoji="0" lang="en-US" alt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O(</a:t>
            </a:r>
            <a:r>
              <a:rPr kumimoji="0" lang="en-US" altLang="zh-CN" sz="280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NlogN</a:t>
            </a:r>
            <a:r>
              <a:rPr kumimoji="0" lang="en-US" altLang="zh-CN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)</a:t>
            </a:r>
            <a:r>
              <a:rPr kumimoji="0" lang="zh-CN" altLang="en-US" sz="280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itchFamily="49" charset="-122"/>
                <a:ea typeface="楷体" pitchFamily="49" charset="-122"/>
                <a:cs typeface="+mn-cs"/>
              </a:rPr>
              <a:t>的</a:t>
            </a:r>
            <a:r>
              <a:rPr lang="zh-CN" altLang="en-US" sz="2800" dirty="0" smtClean="0">
                <a:latin typeface="楷体" pitchFamily="49" charset="-122"/>
                <a:ea typeface="楷体" pitchFamily="49" charset="-122"/>
              </a:rPr>
              <a:t>，这比带修改的主席树更省空间</a:t>
            </a:r>
            <a:endParaRPr kumimoji="0" lang="en-US" altLang="zh-CN" sz="2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楷体" pitchFamily="49" charset="-122"/>
              <a:ea typeface="楷体" pitchFamily="49" charset="-122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60841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文本占位符 2048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836432"/>
          </a:xfrm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讲课结束后我会下发两份刚才那道题的代码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..</a:t>
            </a:r>
          </a:p>
          <a:p>
            <a:pPr marL="0" indent="0">
              <a:buNone/>
            </a:pP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一个是平衡树用结构体版的，这个看起来更像是每个节点开了一个平衡树，更有“套”的感觉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另一个是把平衡树拆开写了，这样代码简单“一点”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其实没啥区别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..</a:t>
            </a:r>
            <a:endParaRPr lang="en-US" altLang="zh-CN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具体实现</a:t>
            </a:r>
            <a:endParaRPr lang="zh-CN" altLang="en-US" b="1" dirty="0"/>
          </a:p>
        </p:txBody>
      </p:sp>
    </p:spTree>
    <p:extLst>
      <p:ext uri="{BB962C8B-B14F-4D97-AF65-F5344CB8AC3E}">
        <p14:creationId xmlns="" xmlns:p14="http://schemas.microsoft.com/office/powerpoint/2010/main" val="32258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+mn-lt"/>
                <a:cs typeface="Segoe UI Black" pitchFamily="34" charset="0"/>
              </a:rPr>
              <a:t>模型问题</a:t>
            </a:r>
            <a:r>
              <a:rPr lang="en-US" altLang="zh-CN" b="1" dirty="0" smtClean="0">
                <a:latin typeface="+mn-lt"/>
                <a:ea typeface="Segoe UI Black" pitchFamily="34" charset="0"/>
                <a:cs typeface="Segoe UI Black" pitchFamily="34" charset="0"/>
              </a:rPr>
              <a:t>2</a:t>
            </a:r>
            <a:endParaRPr lang="zh-CN" altLang="en-US" b="1" dirty="0">
              <a:latin typeface="+mn-lt"/>
              <a:cs typeface="Segoe UI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只维护上面的操作</a:t>
            </a:r>
            <a:r>
              <a:rPr lang="en-US" altLang="zh-CN" dirty="0" smtClean="0"/>
              <a:t>2</a:t>
            </a:r>
            <a:r>
              <a:rPr lang="zh-CN" altLang="en-US" dirty="0" smtClean="0"/>
              <a:t>和操作</a:t>
            </a:r>
            <a:r>
              <a:rPr lang="en-US" altLang="zh-CN" dirty="0" smtClean="0"/>
              <a:t>3</a:t>
            </a:r>
            <a:r>
              <a:rPr lang="zh-CN" altLang="en-US" dirty="0" smtClean="0"/>
              <a:t>，要求把时间复杂度降成</a:t>
            </a:r>
            <a:r>
              <a:rPr lang="en-US" altLang="zh-CN" dirty="0" smtClean="0"/>
              <a:t>O(NlogN^2)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空间复杂度必须为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，也就是说不能用带修改的主席树</a:t>
            </a: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4552" y="679213"/>
            <a:ext cx="10515600" cy="4351338"/>
          </a:xfrm>
        </p:spPr>
        <p:txBody>
          <a:bodyPr/>
          <a:lstStyle/>
          <a:p>
            <a:r>
              <a:rPr lang="zh-CN" altLang="en-US" dirty="0" smtClean="0"/>
              <a:t>以前是外层对位置建线段树，内层对权值建平衡树</a:t>
            </a:r>
            <a:endParaRPr lang="en-US" altLang="zh-CN" dirty="0" smtClean="0"/>
          </a:p>
          <a:p>
            <a:r>
              <a:rPr lang="zh-CN" altLang="en-US" dirty="0" smtClean="0"/>
              <a:t>这道题我们换一种思路</a:t>
            </a:r>
            <a:endParaRPr lang="en-US" altLang="zh-CN" dirty="0" smtClean="0"/>
          </a:p>
          <a:p>
            <a:r>
              <a:rPr lang="zh-CN" altLang="en-US" dirty="0" smtClean="0"/>
              <a:t>我们在外层对权值建线段树，内层对位置建平衡树</a:t>
            </a:r>
            <a:endParaRPr lang="en-US" altLang="zh-CN" dirty="0" smtClean="0"/>
          </a:p>
          <a:p>
            <a:r>
              <a:rPr lang="zh-CN" altLang="en-US" dirty="0" smtClean="0"/>
              <a:t>这样在权值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],</a:t>
            </a:r>
            <a:r>
              <a:rPr lang="zh-CN" altLang="en-US" dirty="0" smtClean="0"/>
              <a:t>区间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l,r</a:t>
            </a:r>
            <a:r>
              <a:rPr lang="en-US" altLang="zh-CN" dirty="0" smtClean="0"/>
              <a:t>]</a:t>
            </a:r>
            <a:r>
              <a:rPr lang="zh-CN" altLang="en-US" dirty="0" smtClean="0"/>
              <a:t>内查</a:t>
            </a:r>
            <a:r>
              <a:rPr lang="en-US" altLang="zh-CN" dirty="0" smtClean="0"/>
              <a:t>K</a:t>
            </a:r>
            <a:r>
              <a:rPr lang="zh-CN" altLang="en-US" dirty="0" smtClean="0"/>
              <a:t>大，就变成了</a:t>
            </a:r>
            <a:endParaRPr lang="en-US" altLang="zh-CN" dirty="0" smtClean="0"/>
          </a:p>
          <a:p>
            <a:r>
              <a:rPr lang="zh-CN" altLang="en-US" dirty="0" smtClean="0"/>
              <a:t>查询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x,mid</a:t>
            </a:r>
            <a:r>
              <a:rPr lang="en-US" altLang="zh-CN" dirty="0" smtClean="0"/>
              <a:t>](</a:t>
            </a:r>
            <a:r>
              <a:rPr lang="zh-CN" altLang="en-US" dirty="0" smtClean="0"/>
              <a:t>也就是当前节点的左子树</a:t>
            </a:r>
            <a:r>
              <a:rPr lang="en-US" altLang="zh-CN" dirty="0" smtClean="0"/>
              <a:t>)</a:t>
            </a:r>
            <a:r>
              <a:rPr lang="zh-CN" altLang="en-US" dirty="0" smtClean="0"/>
              <a:t>中位置在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l,r</a:t>
            </a:r>
            <a:r>
              <a:rPr lang="en-US" altLang="zh-CN" dirty="0" smtClean="0"/>
              <a:t>]</a:t>
            </a:r>
            <a:r>
              <a:rPr lang="zh-CN" altLang="en-US" dirty="0" smtClean="0"/>
              <a:t>的有几个</a:t>
            </a:r>
            <a:endParaRPr lang="en-US" altLang="zh-CN" dirty="0" smtClean="0"/>
          </a:p>
          <a:p>
            <a:r>
              <a:rPr lang="zh-CN" altLang="en-US" dirty="0" smtClean="0"/>
              <a:t>如果个数</a:t>
            </a:r>
            <a:r>
              <a:rPr lang="en-US" altLang="zh-CN" dirty="0" smtClean="0"/>
              <a:t>&gt;=K</a:t>
            </a:r>
            <a:r>
              <a:rPr lang="zh-CN" altLang="en-US" dirty="0" smtClean="0"/>
              <a:t>，那就说明查询的权值在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x,mid</a:t>
            </a:r>
            <a:r>
              <a:rPr lang="en-US" altLang="zh-CN" dirty="0" smtClean="0"/>
              <a:t>]</a:t>
            </a:r>
            <a:r>
              <a:rPr lang="zh-CN" altLang="en-US" dirty="0" smtClean="0"/>
              <a:t>之间</a:t>
            </a:r>
            <a:endParaRPr lang="en-US" altLang="zh-CN" dirty="0" smtClean="0"/>
          </a:p>
          <a:p>
            <a:r>
              <a:rPr lang="zh-CN" altLang="en-US" dirty="0" smtClean="0"/>
              <a:t>否则查询右子树</a:t>
            </a:r>
            <a:endParaRPr lang="en-US" altLang="zh-CN" dirty="0" smtClean="0"/>
          </a:p>
          <a:p>
            <a:r>
              <a:rPr lang="zh-CN" altLang="en-US" dirty="0" smtClean="0"/>
              <a:t>这样时间复杂度就变成了</a:t>
            </a:r>
            <a:r>
              <a:rPr lang="en-US" altLang="zh-CN" dirty="0" smtClean="0"/>
              <a:t>O(QlogN^2)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+mn-lt"/>
                <a:cs typeface="Segoe UI Black" pitchFamily="34" charset="0"/>
              </a:rPr>
              <a:t>模型问题</a:t>
            </a:r>
            <a:r>
              <a:rPr lang="en-US" altLang="zh-CN" b="1" dirty="0" smtClean="0">
                <a:latin typeface="+mn-lt"/>
                <a:ea typeface="Segoe UI Black" pitchFamily="34" charset="0"/>
                <a:cs typeface="Segoe UI Black" pitchFamily="34" charset="0"/>
              </a:rPr>
              <a:t>3</a:t>
            </a:r>
            <a:endParaRPr lang="zh-CN" altLang="en-US" b="1" dirty="0">
              <a:latin typeface="+mn-lt"/>
              <a:cs typeface="Segoe UI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给出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个点的坐标，每个点有一个权值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有</a:t>
            </a:r>
            <a:r>
              <a:rPr lang="en-US" altLang="zh-CN" dirty="0" smtClean="0"/>
              <a:t>Q</a:t>
            </a:r>
            <a:r>
              <a:rPr lang="zh-CN" altLang="en-US" dirty="0" smtClean="0"/>
              <a:t>组询问，每次询问一个点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</a:t>
            </a:r>
            <a:r>
              <a:rPr lang="zh-CN" altLang="en-US" dirty="0" smtClean="0"/>
              <a:t>左下角的矩形中权值第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小的值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可以离线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4552" y="679212"/>
            <a:ext cx="10515600" cy="5830769"/>
          </a:xfrm>
        </p:spPr>
        <p:txBody>
          <a:bodyPr/>
          <a:lstStyle/>
          <a:p>
            <a:r>
              <a:rPr lang="zh-CN" altLang="en-US" dirty="0" smtClean="0"/>
              <a:t>我们先把给出的点排序，先按</a:t>
            </a:r>
            <a:r>
              <a:rPr lang="en-US" altLang="zh-CN" dirty="0" smtClean="0"/>
              <a:t>x</a:t>
            </a:r>
            <a:r>
              <a:rPr lang="zh-CN" altLang="en-US" dirty="0" smtClean="0"/>
              <a:t>坐标，再按</a:t>
            </a:r>
            <a:r>
              <a:rPr lang="en-US" altLang="zh-CN" dirty="0" smtClean="0"/>
              <a:t>y</a:t>
            </a:r>
            <a:r>
              <a:rPr lang="zh-CN" altLang="en-US" dirty="0" smtClean="0"/>
              <a:t>坐标</a:t>
            </a:r>
            <a:endParaRPr lang="en-US" altLang="zh-CN" dirty="0" smtClean="0"/>
          </a:p>
          <a:p>
            <a:r>
              <a:rPr lang="zh-CN" altLang="en-US" dirty="0" smtClean="0"/>
              <a:t>接着我们再把询问的点也这么排序</a:t>
            </a:r>
            <a:endParaRPr lang="en-US" altLang="zh-CN" dirty="0" smtClean="0"/>
          </a:p>
          <a:p>
            <a:r>
              <a:rPr lang="zh-CN" altLang="en-US" dirty="0" smtClean="0"/>
              <a:t>每次询问相当于查询</a:t>
            </a:r>
            <a:r>
              <a:rPr lang="en-US" altLang="zh-CN" dirty="0" err="1" smtClean="0"/>
              <a:t>x,y</a:t>
            </a:r>
            <a:r>
              <a:rPr lang="zh-CN" altLang="en-US" dirty="0" smtClean="0"/>
              <a:t>坐标小于等于自己的点的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小值</a:t>
            </a:r>
            <a:endParaRPr lang="en-US" altLang="zh-CN" dirty="0" smtClean="0"/>
          </a:p>
          <a:p>
            <a:r>
              <a:rPr lang="zh-CN" altLang="en-US" dirty="0" smtClean="0"/>
              <a:t>然后用类似扫描线的思想，逐个询问进行回答</a:t>
            </a:r>
            <a:endParaRPr lang="en-US" altLang="zh-CN" dirty="0" smtClean="0"/>
          </a:p>
          <a:p>
            <a:r>
              <a:rPr lang="zh-CN" altLang="en-US" dirty="0" smtClean="0"/>
              <a:t>每当到一个新的询问时，就把</a:t>
            </a:r>
            <a:r>
              <a:rPr lang="en-US" altLang="zh-CN" dirty="0" smtClean="0"/>
              <a:t>x</a:t>
            </a:r>
            <a:r>
              <a:rPr lang="zh-CN" altLang="en-US" dirty="0" smtClean="0"/>
              <a:t>坐标小于等于自己的全都推进去</a:t>
            </a:r>
            <a:endParaRPr lang="en-US" altLang="zh-CN" dirty="0" smtClean="0"/>
          </a:p>
          <a:p>
            <a:r>
              <a:rPr lang="zh-CN" altLang="en-US" dirty="0" smtClean="0"/>
              <a:t>那么现在相当于查询</a:t>
            </a:r>
            <a:r>
              <a:rPr lang="en-US" altLang="zh-CN" dirty="0" smtClean="0"/>
              <a:t>y</a:t>
            </a:r>
            <a:r>
              <a:rPr lang="zh-CN" altLang="en-US" dirty="0" smtClean="0"/>
              <a:t>坐标小于等于自己的所有点中，权值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小的那个</a:t>
            </a:r>
            <a:endParaRPr lang="en-US" altLang="zh-CN" dirty="0" smtClean="0"/>
          </a:p>
          <a:p>
            <a:r>
              <a:rPr lang="zh-CN" altLang="en-US" dirty="0" smtClean="0"/>
              <a:t>问题转化为了：单点修改，区间查询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小值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树套树是可以做的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+mn-lt"/>
                <a:cs typeface="Segoe UI Black" pitchFamily="34" charset="0"/>
              </a:rPr>
              <a:t>模型问题</a:t>
            </a:r>
            <a:r>
              <a:rPr lang="en-US" altLang="zh-CN" b="1" dirty="0" smtClean="0">
                <a:latin typeface="+mn-lt"/>
                <a:ea typeface="Segoe UI Black" pitchFamily="34" charset="0"/>
                <a:cs typeface="Segoe UI Black" pitchFamily="34" charset="0"/>
              </a:rPr>
              <a:t>4</a:t>
            </a:r>
            <a:endParaRPr lang="zh-CN" altLang="en-US" b="1" dirty="0">
              <a:latin typeface="+mn-lt"/>
              <a:cs typeface="Segoe UI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个位置，一开始都是空的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先有</a:t>
            </a:r>
            <a:r>
              <a:rPr lang="en-US" altLang="zh-CN" dirty="0" smtClean="0"/>
              <a:t>M</a:t>
            </a:r>
            <a:r>
              <a:rPr lang="zh-CN" altLang="en-US" dirty="0" smtClean="0"/>
              <a:t>次添加操作，每次在一段区间内都放上一个数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接下来有</a:t>
            </a:r>
            <a:r>
              <a:rPr lang="en-US" altLang="zh-CN" dirty="0" smtClean="0"/>
              <a:t>Q</a:t>
            </a:r>
            <a:r>
              <a:rPr lang="zh-CN" altLang="en-US" dirty="0" smtClean="0"/>
              <a:t>组询问，每次询问一个位置上权值第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小的值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可以离线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4552" y="679212"/>
            <a:ext cx="10515600" cy="5830769"/>
          </a:xfrm>
        </p:spPr>
        <p:txBody>
          <a:bodyPr/>
          <a:lstStyle/>
          <a:p>
            <a:r>
              <a:rPr lang="zh-CN" altLang="en-US" dirty="0" smtClean="0"/>
              <a:t>考虑差分，现在每个点代表的是与上一个点的不同之处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查询的时候就由单点查询变为了前缀查询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修改时由区间修改变为了单点修改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树套树是可以做的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>
                <a:latin typeface="+mn-lt"/>
                <a:cs typeface="Segoe UI Black" pitchFamily="34" charset="0"/>
              </a:rPr>
              <a:t>模型问题</a:t>
            </a:r>
            <a:r>
              <a:rPr lang="en-US" altLang="zh-CN" b="1" dirty="0" smtClean="0">
                <a:latin typeface="+mn-lt"/>
                <a:ea typeface="Segoe UI Black" pitchFamily="34" charset="0"/>
                <a:cs typeface="Segoe UI Black" pitchFamily="34" charset="0"/>
              </a:rPr>
              <a:t>5</a:t>
            </a:r>
            <a:endParaRPr lang="zh-CN" altLang="en-US" b="1" dirty="0">
              <a:latin typeface="+mn-lt"/>
              <a:cs typeface="Segoe UI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有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个矩形，每个矩形有一个权值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有</a:t>
            </a:r>
            <a:r>
              <a:rPr lang="en-US" altLang="zh-CN" dirty="0" smtClean="0"/>
              <a:t>Q</a:t>
            </a:r>
            <a:r>
              <a:rPr lang="zh-CN" altLang="en-US" dirty="0" smtClean="0"/>
              <a:t>组询问，每次询问包含一个点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x,y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的所有矩形中权值第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小的值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可以离线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4552" y="679212"/>
            <a:ext cx="10515600" cy="5830769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先把矩形拆成两个事件，左边界为加入事件，右边界为删除事件</a:t>
            </a:r>
            <a:endParaRPr lang="en-US" altLang="zh-CN" dirty="0" smtClean="0"/>
          </a:p>
          <a:p>
            <a:r>
              <a:rPr lang="zh-CN" altLang="en-US" dirty="0" smtClean="0"/>
              <a:t>把事件按</a:t>
            </a:r>
            <a:r>
              <a:rPr lang="en-US" altLang="zh-CN" dirty="0" smtClean="0"/>
              <a:t>x</a:t>
            </a:r>
            <a:r>
              <a:rPr lang="zh-CN" altLang="en-US" dirty="0" smtClean="0"/>
              <a:t>坐标排序，把询问的点也按</a:t>
            </a:r>
            <a:r>
              <a:rPr lang="en-US" altLang="zh-CN" dirty="0" smtClean="0"/>
              <a:t>x</a:t>
            </a:r>
            <a:r>
              <a:rPr lang="zh-CN" altLang="en-US" dirty="0" smtClean="0"/>
              <a:t>坐标排序</a:t>
            </a:r>
            <a:endParaRPr lang="en-US" altLang="zh-CN" dirty="0" smtClean="0"/>
          </a:p>
          <a:p>
            <a:r>
              <a:rPr lang="zh-CN" altLang="en-US" dirty="0" smtClean="0"/>
              <a:t>用模型</a:t>
            </a:r>
            <a:r>
              <a:rPr lang="en-US" altLang="zh-CN" dirty="0" smtClean="0"/>
              <a:t>3</a:t>
            </a:r>
            <a:r>
              <a:rPr lang="zh-CN" altLang="en-US" dirty="0" smtClean="0"/>
              <a:t>的方法，逐个询问，问题转化为了</a:t>
            </a:r>
            <a:r>
              <a:rPr lang="en-US" altLang="zh-CN" dirty="0" smtClean="0"/>
              <a:t>——</a:t>
            </a:r>
          </a:p>
          <a:p>
            <a:r>
              <a:rPr lang="zh-CN" altLang="en-US" dirty="0" smtClean="0"/>
              <a:t>每次区间加入或删除一个数，单点查询某个位置上所有数的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小值</a:t>
            </a:r>
            <a:endParaRPr lang="en-US" altLang="zh-CN" dirty="0" smtClean="0"/>
          </a:p>
          <a:p>
            <a:r>
              <a:rPr lang="zh-CN" altLang="en-US" dirty="0" smtClean="0"/>
              <a:t>这就是模型</a:t>
            </a:r>
            <a:r>
              <a:rPr lang="en-US" altLang="zh-CN" dirty="0" smtClean="0"/>
              <a:t>4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树套树是可以做的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[HNOI2015]</a:t>
            </a:r>
            <a:r>
              <a:rPr lang="zh-CN" altLang="en-US" b="1" dirty="0" smtClean="0"/>
              <a:t>接水果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有一棵树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个点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先给</a:t>
            </a:r>
            <a:r>
              <a:rPr lang="en-US" altLang="zh-CN" dirty="0" smtClean="0"/>
              <a:t>M</a:t>
            </a:r>
            <a:r>
              <a:rPr lang="zh-CN" altLang="en-US" dirty="0" smtClean="0"/>
              <a:t>条路径，每个路径有一个权值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随后</a:t>
            </a:r>
            <a:r>
              <a:rPr lang="en-US" altLang="zh-CN" dirty="0" smtClean="0"/>
              <a:t>Q</a:t>
            </a:r>
            <a:r>
              <a:rPr lang="zh-CN" altLang="en-US" dirty="0" smtClean="0"/>
              <a:t>组询问，每次给出一个链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u,v</a:t>
            </a:r>
            <a:r>
              <a:rPr lang="en-US" altLang="zh-CN" dirty="0" smtClean="0"/>
              <a:t>)</a:t>
            </a:r>
            <a:r>
              <a:rPr lang="zh-CN" altLang="en-US" dirty="0" smtClean="0"/>
              <a:t>求它完全包含的所有路径中第</a:t>
            </a:r>
            <a:r>
              <a:rPr lang="en-US" altLang="zh-CN" dirty="0" smtClean="0"/>
              <a:t>K</a:t>
            </a:r>
            <a:r>
              <a:rPr lang="zh-CN" altLang="en-US" dirty="0" smtClean="0"/>
              <a:t>小权值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N,Q&lt;=40000</a:t>
            </a:r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4552" y="679212"/>
            <a:ext cx="10515600" cy="5830769"/>
          </a:xfrm>
        </p:spPr>
        <p:txBody>
          <a:bodyPr/>
          <a:lstStyle/>
          <a:p>
            <a:r>
              <a:rPr lang="zh-CN" altLang="en-US" dirty="0" smtClean="0"/>
              <a:t>考虑每条路径会被哪些链覆盖</a:t>
            </a:r>
            <a:endParaRPr lang="en-US" altLang="zh-CN" dirty="0" smtClean="0"/>
          </a:p>
          <a:p>
            <a:r>
              <a:rPr lang="zh-CN" altLang="en-US" dirty="0" smtClean="0"/>
              <a:t>若路径为</a:t>
            </a:r>
            <a:r>
              <a:rPr lang="en-US" altLang="zh-CN" dirty="0" smtClean="0"/>
              <a:t>’^’</a:t>
            </a:r>
            <a:r>
              <a:rPr lang="zh-CN" altLang="en-US" dirty="0" smtClean="0"/>
              <a:t>型，则链两个端点需要在两个子树当中</a:t>
            </a:r>
            <a:endParaRPr lang="en-US" altLang="zh-CN" dirty="0" smtClean="0"/>
          </a:p>
          <a:p>
            <a:r>
              <a:rPr lang="zh-CN" altLang="en-US" dirty="0" smtClean="0"/>
              <a:t>也就是说在</a:t>
            </a:r>
            <a:r>
              <a:rPr lang="en-US" altLang="zh-CN" dirty="0" smtClean="0"/>
              <a:t>DFS</a:t>
            </a:r>
            <a:r>
              <a:rPr lang="zh-CN" altLang="en-US" dirty="0" smtClean="0"/>
              <a:t>序中分别对应了一段连续的区间</a:t>
            </a:r>
            <a:endParaRPr lang="en-US" altLang="zh-CN" dirty="0" smtClean="0"/>
          </a:p>
          <a:p>
            <a:r>
              <a:rPr lang="zh-CN" altLang="en-US" dirty="0" smtClean="0"/>
              <a:t>若路径为</a:t>
            </a:r>
            <a:r>
              <a:rPr lang="en-US" altLang="zh-CN" dirty="0" smtClean="0"/>
              <a:t>’/’</a:t>
            </a:r>
            <a:r>
              <a:rPr lang="zh-CN" altLang="en-US" dirty="0" smtClean="0"/>
              <a:t>型，则一段必须在子树中，另一端必须在上端点下方那个点的子树外，同样分别对应了一段或两段连续的区间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假如</a:t>
            </a:r>
            <a:r>
              <a:rPr lang="zh-CN" altLang="en-US" dirty="0" smtClean="0"/>
              <a:t>我们</a:t>
            </a:r>
            <a:r>
              <a:rPr lang="zh-CN" altLang="en-US" dirty="0" smtClean="0"/>
              <a:t>把每个链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u,v</a:t>
            </a:r>
            <a:r>
              <a:rPr lang="en-US" altLang="zh-CN" dirty="0" smtClean="0"/>
              <a:t>)</a:t>
            </a:r>
            <a:r>
              <a:rPr lang="zh-CN" altLang="en-US" dirty="0" smtClean="0"/>
              <a:t>想象成一个点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dfn</a:t>
            </a:r>
            <a:r>
              <a:rPr lang="en-US" altLang="zh-CN" dirty="0" smtClean="0"/>
              <a:t>[u],</a:t>
            </a:r>
            <a:r>
              <a:rPr lang="en-US" altLang="zh-CN" dirty="0" err="1" smtClean="0"/>
              <a:t>dfn</a:t>
            </a:r>
            <a:r>
              <a:rPr lang="en-US" altLang="zh-CN" dirty="0" smtClean="0"/>
              <a:t>[v])</a:t>
            </a:r>
          </a:p>
          <a:p>
            <a:endParaRPr lang="en-US" altLang="zh-CN" b="1" dirty="0" smtClean="0"/>
          </a:p>
          <a:p>
            <a:r>
              <a:rPr lang="zh-CN" altLang="en-US" dirty="0" smtClean="0"/>
              <a:t>那么我们可以把每个初始路径变成一个或者两个矩形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问题变为模型</a:t>
            </a:r>
            <a:r>
              <a:rPr lang="en-US" altLang="zh-CN" dirty="0" smtClean="0"/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[Poi2014]Solar lamps</a:t>
            </a:r>
            <a:endParaRPr lang="zh-CN" altLang="en-US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/>
              <a:t>给</a:t>
            </a:r>
            <a:r>
              <a:rPr lang="en-US" altLang="zh-CN" dirty="0" smtClean="0"/>
              <a:t>N</a:t>
            </a:r>
            <a:r>
              <a:rPr lang="zh-CN" altLang="en-US" dirty="0" smtClean="0"/>
              <a:t>盏灯，灯有一个照射范围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每盏灯能照到的角度范围是相同的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盏灯在第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秒或者被</a:t>
            </a:r>
            <a:r>
              <a:rPr lang="en-US" altLang="zh-CN" dirty="0" err="1" smtClean="0"/>
              <a:t>ki</a:t>
            </a:r>
            <a:r>
              <a:rPr lang="zh-CN" altLang="en-US" dirty="0" smtClean="0"/>
              <a:t>盏灯照到后都会亮起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问所有灯都分别在什么时刻亮起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N,Q&lt;=200000</a:t>
            </a:r>
          </a:p>
        </p:txBody>
      </p:sp>
    </p:spTree>
    <p:extLst>
      <p:ext uri="{BB962C8B-B14F-4D97-AF65-F5344CB8AC3E}">
        <p14:creationId xmlns="" xmlns:p14="http://schemas.microsoft.com/office/powerpoint/2010/main" val="160026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622" y="163773"/>
            <a:ext cx="12031975" cy="6496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21505"/>
          <p:cNvSpPr>
            <a:spLocks noGrp="1"/>
          </p:cNvSpPr>
          <p:nvPr>
            <p:ph type="title"/>
          </p:nvPr>
        </p:nvSpPr>
        <p:spPr>
          <a:ln/>
        </p:spPr>
        <p:txBody>
          <a:bodyPr anchor="ctr"/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进阶的树套树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(?)</a:t>
            </a:r>
            <a:endParaRPr lang="zh-CN" altLang="en-US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21507" name="文本占位符 21506"/>
          <p:cNvSpPr>
            <a:spLocks noGrp="1"/>
          </p:cNvSpPr>
          <p:nvPr>
            <p:ph type="body" idx="1"/>
          </p:nvPr>
        </p:nvSpPr>
        <p:spPr>
          <a:xfrm>
            <a:off x="838199" y="1825625"/>
            <a:ext cx="10885099" cy="4351338"/>
          </a:xfrm>
          <a:ln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严格来讲，应该叫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“树套树套树”、“树套树套树套树”，“树套树套树套树套树”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这种丧心病狂的东西目前我只见过一次，在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WC2016</a:t>
            </a: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的第三题</a:t>
            </a: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endParaRPr lang="en-US" altLang="zh-CN" dirty="0" smtClean="0">
              <a:latin typeface="楷体" pitchFamily="49" charset="-122"/>
              <a:ea typeface="楷体" pitchFamily="49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楷体" pitchFamily="49" charset="-122"/>
                <a:ea typeface="楷体" pitchFamily="49" charset="-122"/>
              </a:rPr>
              <a:t>具体意义大家可以自己摸索，反正我是不会</a:t>
            </a:r>
            <a:r>
              <a:rPr lang="en-US" altLang="zh-CN" dirty="0" smtClean="0">
                <a:latin typeface="楷体" pitchFamily="49" charset="-122"/>
                <a:ea typeface="楷体" pitchFamily="49" charset="-122"/>
              </a:rPr>
              <a:t>..</a:t>
            </a:r>
          </a:p>
        </p:txBody>
      </p:sp>
    </p:spTree>
    <p:extLst>
      <p:ext uri="{BB962C8B-B14F-4D97-AF65-F5344CB8AC3E}">
        <p14:creationId xmlns="" xmlns:p14="http://schemas.microsoft.com/office/powerpoint/2010/main" val="3561630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1781</TotalTime>
  <Words>1426</Words>
  <Application>Microsoft Office PowerPoint</Application>
  <PresentationFormat>自定义</PresentationFormat>
  <Paragraphs>159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Office 主题</vt:lpstr>
      <vt:lpstr>幻灯片 1</vt:lpstr>
      <vt:lpstr>树套树</vt:lpstr>
      <vt:lpstr>树套树能干什么？</vt:lpstr>
      <vt:lpstr>Tyvj 1730 二逼平衡树</vt:lpstr>
      <vt:lpstr>为什么一棵树解决不了这个问题？</vt:lpstr>
      <vt:lpstr>我会带修改的主席树！</vt:lpstr>
      <vt:lpstr>树套树</vt:lpstr>
      <vt:lpstr>幻灯片 8</vt:lpstr>
      <vt:lpstr>复杂度分析</vt:lpstr>
      <vt:lpstr>具体实现</vt:lpstr>
      <vt:lpstr>模型问题2</vt:lpstr>
      <vt:lpstr>幻灯片 12</vt:lpstr>
      <vt:lpstr>模型问题3</vt:lpstr>
      <vt:lpstr>幻灯片 14</vt:lpstr>
      <vt:lpstr>模型问题4</vt:lpstr>
      <vt:lpstr>幻灯片 16</vt:lpstr>
      <vt:lpstr>模型问题5</vt:lpstr>
      <vt:lpstr>幻灯片 18</vt:lpstr>
      <vt:lpstr>[HNOI2015]接水果</vt:lpstr>
      <vt:lpstr>幻灯片 20</vt:lpstr>
      <vt:lpstr>[Poi2014]Solar lamps</vt:lpstr>
      <vt:lpstr>幻灯片 22</vt:lpstr>
      <vt:lpstr>进阶的树套树(?)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yedo jj</dc:creator>
  <cp:lastModifiedBy>lenovo</cp:lastModifiedBy>
  <cp:revision>124</cp:revision>
  <dcterms:created xsi:type="dcterms:W3CDTF">2015-05-05T08:02:14Z</dcterms:created>
  <dcterms:modified xsi:type="dcterms:W3CDTF">2016-12-23T05:05:20Z</dcterms:modified>
</cp:coreProperties>
</file>