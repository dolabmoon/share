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7"/>
  </p:notesMasterIdLst>
  <p:handoutMasterIdLst>
    <p:handoutMasterId r:id="rId38"/>
  </p:handoutMasterIdLst>
  <p:sldIdLst>
    <p:sldId id="256" r:id="rId3"/>
    <p:sldId id="260" r:id="rId4"/>
    <p:sldId id="279" r:id="rId5"/>
    <p:sldId id="281" r:id="rId6"/>
    <p:sldId id="282" r:id="rId8"/>
    <p:sldId id="283" r:id="rId9"/>
    <p:sldId id="285" r:id="rId10"/>
    <p:sldId id="286" r:id="rId11"/>
    <p:sldId id="284" r:id="rId12"/>
    <p:sldId id="287" r:id="rId13"/>
    <p:sldId id="288" r:id="rId14"/>
    <p:sldId id="298" r:id="rId15"/>
    <p:sldId id="295" r:id="rId16"/>
    <p:sldId id="297" r:id="rId17"/>
    <p:sldId id="296" r:id="rId18"/>
    <p:sldId id="294" r:id="rId19"/>
    <p:sldId id="293" r:id="rId20"/>
    <p:sldId id="292" r:id="rId21"/>
    <p:sldId id="291" r:id="rId22"/>
    <p:sldId id="301" r:id="rId23"/>
    <p:sldId id="303" r:id="rId24"/>
    <p:sldId id="302" r:id="rId25"/>
    <p:sldId id="300" r:id="rId26"/>
    <p:sldId id="305" r:id="rId27"/>
    <p:sldId id="306" r:id="rId28"/>
    <p:sldId id="307" r:id="rId29"/>
    <p:sldId id="318" r:id="rId30"/>
    <p:sldId id="319" r:id="rId31"/>
    <p:sldId id="320" r:id="rId32"/>
    <p:sldId id="321" r:id="rId33"/>
    <p:sldId id="310" r:id="rId34"/>
    <p:sldId id="312" r:id="rId35"/>
    <p:sldId id="313" r:id="rId36"/>
    <p:sldId id="308" r:id="rId37"/>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30" autoAdjust="0"/>
    <p:restoredTop sz="88050" autoAdjust="0"/>
  </p:normalViewPr>
  <p:slideViewPr>
    <p:cSldViewPr snapToGrid="0" showGuides="1">
      <p:cViewPr varScale="1">
        <p:scale>
          <a:sx n="74" d="100"/>
          <a:sy n="74" d="100"/>
        </p:scale>
        <p:origin x="283" y="58"/>
      </p:cViewPr>
      <p:guideLst>
        <p:guide orient="horz" pos="2124"/>
        <p:guide pos="3812"/>
      </p:guideLst>
    </p:cSldViewPr>
  </p:slideViewPr>
  <p:notesTextViewPr>
    <p:cViewPr>
      <p:scale>
        <a:sx n="1" d="1"/>
        <a:sy n="1" d="1"/>
      </p:scale>
      <p:origin x="0" y="0"/>
    </p:cViewPr>
  </p:notesTextViewPr>
  <p:notesViewPr>
    <p:cSldViewPr snapToGrid="0">
      <p:cViewPr varScale="1">
        <p:scale>
          <a:sx n="63" d="100"/>
          <a:sy n="63" d="100"/>
        </p:scale>
        <p:origin x="2808"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437B92A-3B32-4318-803B-19C67201C7D4}"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zh-CN" altLang="en-US"/>
        </a:p>
      </dgm:t>
    </dgm:pt>
    <dgm:pt modelId="{EA8D5DDD-D0DE-4C4F-9A5D-054263F94B41}">
      <dgm:prSet phldrT="[文本]"/>
      <dgm:spPr/>
      <dgm:t>
        <a:bodyPr/>
        <a:lstStyle/>
        <a:p>
          <a:r>
            <a:rPr lang="en-US" altLang="zh-CN" dirty="0"/>
            <a:t>A</a:t>
          </a:r>
          <a:endParaRPr lang="zh-CN" altLang="en-US" dirty="0"/>
        </a:p>
      </dgm:t>
    </dgm:pt>
    <dgm:pt modelId="{ECDB16E9-E5C2-493C-BBBC-53AA8F69DB55}" cxnId="{463A1008-6744-4172-8707-39A94CEBEBA8}" type="parTrans">
      <dgm:prSet/>
      <dgm:spPr/>
      <dgm:t>
        <a:bodyPr/>
        <a:lstStyle/>
        <a:p>
          <a:endParaRPr lang="zh-CN" altLang="en-US"/>
        </a:p>
      </dgm:t>
    </dgm:pt>
    <dgm:pt modelId="{F9F5B1FE-7321-4ED6-A19A-CADE1D95A546}" cxnId="{463A1008-6744-4172-8707-39A94CEBEBA8}" type="sibTrans">
      <dgm:prSet/>
      <dgm:spPr/>
      <dgm:t>
        <a:bodyPr/>
        <a:lstStyle/>
        <a:p>
          <a:endParaRPr lang="zh-CN" altLang="en-US"/>
        </a:p>
      </dgm:t>
    </dgm:pt>
    <dgm:pt modelId="{3C95BB80-5171-4004-844D-F778C7121413}">
      <dgm:prSet phldrT="[文本]"/>
      <dgm:spPr/>
      <dgm:t>
        <a:bodyPr/>
        <a:lstStyle/>
        <a:p>
          <a:r>
            <a:rPr lang="en-US" altLang="zh-CN" dirty="0"/>
            <a:t>B</a:t>
          </a:r>
          <a:endParaRPr lang="zh-CN" altLang="en-US" dirty="0"/>
        </a:p>
      </dgm:t>
    </dgm:pt>
    <dgm:pt modelId="{B7CF5517-DEE7-41B1-8E33-09A3E64FEA10}" cxnId="{82DC5FF4-E434-4A33-8C59-123231B1E71B}" type="parTrans">
      <dgm:prSet/>
      <dgm:spPr>
        <a:solidFill>
          <a:srgbClr val="0070C0"/>
        </a:solidFill>
      </dgm:spPr>
      <dgm:t>
        <a:bodyPr/>
        <a:lstStyle/>
        <a:p>
          <a:endParaRPr lang="zh-CN" altLang="en-US"/>
        </a:p>
      </dgm:t>
    </dgm:pt>
    <dgm:pt modelId="{15770A93-6A91-4C9A-95FD-6BAD1CAE727D}" cxnId="{82DC5FF4-E434-4A33-8C59-123231B1E71B}" type="sibTrans">
      <dgm:prSet/>
      <dgm:spPr/>
      <dgm:t>
        <a:bodyPr/>
        <a:lstStyle/>
        <a:p>
          <a:endParaRPr lang="zh-CN" altLang="en-US"/>
        </a:p>
      </dgm:t>
    </dgm:pt>
    <dgm:pt modelId="{37ECA0EE-1742-4F99-994E-968C22510B6A}">
      <dgm:prSet phldrT="[文本]"/>
      <dgm:spPr/>
      <dgm:t>
        <a:bodyPr/>
        <a:lstStyle/>
        <a:p>
          <a:r>
            <a:rPr lang="en-US" altLang="zh-CN" dirty="0"/>
            <a:t>B</a:t>
          </a:r>
          <a:endParaRPr lang="zh-CN" altLang="en-US" dirty="0"/>
        </a:p>
      </dgm:t>
    </dgm:pt>
    <dgm:pt modelId="{6ADDE267-CAAA-47A9-92BA-ECF42B646CF4}" cxnId="{89A4CD1F-5E3A-438B-8AD7-AF72E84C2B77}" type="parTrans">
      <dgm:prSet/>
      <dgm:spPr>
        <a:solidFill>
          <a:srgbClr val="FF0000"/>
        </a:solidFill>
      </dgm:spPr>
      <dgm:t>
        <a:bodyPr/>
        <a:lstStyle/>
        <a:p>
          <a:endParaRPr lang="zh-CN" altLang="en-US"/>
        </a:p>
      </dgm:t>
    </dgm:pt>
    <dgm:pt modelId="{C4916715-63D9-484E-9238-F44ED7588AA5}" cxnId="{89A4CD1F-5E3A-438B-8AD7-AF72E84C2B77}" type="sibTrans">
      <dgm:prSet/>
      <dgm:spPr/>
      <dgm:t>
        <a:bodyPr/>
        <a:lstStyle/>
        <a:p>
          <a:endParaRPr lang="zh-CN" altLang="en-US"/>
        </a:p>
      </dgm:t>
    </dgm:pt>
    <dgm:pt modelId="{4EA39A6A-CCF9-4C7A-8F07-A3629229A8DC}">
      <dgm:prSet phldrT="[文本]"/>
      <dgm:spPr/>
      <dgm:t>
        <a:bodyPr/>
        <a:lstStyle/>
        <a:p>
          <a:r>
            <a:rPr lang="en-US" altLang="zh-CN" dirty="0"/>
            <a:t>B</a:t>
          </a:r>
          <a:endParaRPr lang="zh-CN" altLang="en-US" dirty="0"/>
        </a:p>
      </dgm:t>
    </dgm:pt>
    <dgm:pt modelId="{0B8A66D2-8BD2-4D28-82B7-3D416D6F0B8C}" cxnId="{DEED221B-D299-4827-BFEB-E63186B7833C}" type="parTrans">
      <dgm:prSet/>
      <dgm:spPr>
        <a:solidFill>
          <a:srgbClr val="0070C0"/>
        </a:solidFill>
      </dgm:spPr>
      <dgm:t>
        <a:bodyPr/>
        <a:lstStyle/>
        <a:p>
          <a:endParaRPr lang="zh-CN" altLang="en-US"/>
        </a:p>
      </dgm:t>
    </dgm:pt>
    <dgm:pt modelId="{391FAD54-527D-4D02-BF82-3DA030BBDB16}" cxnId="{DEED221B-D299-4827-BFEB-E63186B7833C}" type="sibTrans">
      <dgm:prSet/>
      <dgm:spPr/>
      <dgm:t>
        <a:bodyPr/>
        <a:lstStyle/>
        <a:p>
          <a:endParaRPr lang="zh-CN" altLang="en-US"/>
        </a:p>
      </dgm:t>
    </dgm:pt>
    <dgm:pt modelId="{470CB088-2868-4780-896B-CF4FE88B1214}">
      <dgm:prSet phldrT="[文本]"/>
      <dgm:spPr/>
      <dgm:t>
        <a:bodyPr/>
        <a:lstStyle/>
        <a:p>
          <a:r>
            <a:rPr lang="en-US" altLang="zh-CN" dirty="0"/>
            <a:t>B</a:t>
          </a:r>
          <a:endParaRPr lang="zh-CN" altLang="en-US" dirty="0"/>
        </a:p>
      </dgm:t>
    </dgm:pt>
    <dgm:pt modelId="{A8637B26-96D1-4C0B-A285-933F02BAD3E5}" cxnId="{89A10183-0C93-4ECB-A637-648E524BD11D}" type="parTrans">
      <dgm:prSet/>
      <dgm:spPr>
        <a:solidFill>
          <a:srgbClr val="FF0000"/>
        </a:solidFill>
      </dgm:spPr>
      <dgm:t>
        <a:bodyPr/>
        <a:lstStyle/>
        <a:p>
          <a:endParaRPr lang="zh-CN" altLang="en-US"/>
        </a:p>
      </dgm:t>
    </dgm:pt>
    <dgm:pt modelId="{E4B06966-A9BA-46DC-9607-849249D542DD}" cxnId="{89A10183-0C93-4ECB-A637-648E524BD11D}" type="sibTrans">
      <dgm:prSet/>
      <dgm:spPr/>
      <dgm:t>
        <a:bodyPr/>
        <a:lstStyle/>
        <a:p>
          <a:endParaRPr lang="zh-CN" altLang="en-US"/>
        </a:p>
      </dgm:t>
    </dgm:pt>
    <dgm:pt modelId="{99BAA227-5D78-43B1-A5ED-444622D8936A}" type="pres">
      <dgm:prSet presAssocID="{7437B92A-3B32-4318-803B-19C67201C7D4}" presName="Name0" presStyleCnt="0">
        <dgm:presLayoutVars>
          <dgm:chMax val="1"/>
          <dgm:dir/>
          <dgm:animLvl val="ctr"/>
          <dgm:resizeHandles val="exact"/>
        </dgm:presLayoutVars>
      </dgm:prSet>
      <dgm:spPr/>
    </dgm:pt>
    <dgm:pt modelId="{ECB2513A-3512-4D0F-BE0D-46C3131C87BB}" type="pres">
      <dgm:prSet presAssocID="{EA8D5DDD-D0DE-4C4F-9A5D-054263F94B41}" presName="centerShape" presStyleLbl="node0" presStyleIdx="0" presStyleCnt="1"/>
      <dgm:spPr/>
    </dgm:pt>
    <dgm:pt modelId="{64F9BA52-AA83-4FF3-A602-809670090D01}" type="pres">
      <dgm:prSet presAssocID="{B7CF5517-DEE7-41B1-8E33-09A3E64FEA10}" presName="parTrans" presStyleLbl="sibTrans2D1" presStyleIdx="0" presStyleCnt="4"/>
      <dgm:spPr/>
    </dgm:pt>
    <dgm:pt modelId="{C422C648-E5E9-47F7-BD6B-0F10C4067044}" type="pres">
      <dgm:prSet presAssocID="{B7CF5517-DEE7-41B1-8E33-09A3E64FEA10}" presName="connectorText" presStyleLbl="sibTrans2D1" presStyleIdx="0" presStyleCnt="4"/>
      <dgm:spPr/>
    </dgm:pt>
    <dgm:pt modelId="{6AD47415-9981-4E3C-86DC-46BF8EF8BA8C}" type="pres">
      <dgm:prSet presAssocID="{3C95BB80-5171-4004-844D-F778C7121413}" presName="node" presStyleLbl="node1" presStyleIdx="0" presStyleCnt="4">
        <dgm:presLayoutVars>
          <dgm:bulletEnabled val="1"/>
        </dgm:presLayoutVars>
      </dgm:prSet>
      <dgm:spPr/>
    </dgm:pt>
    <dgm:pt modelId="{35C0411A-5A4C-4D44-822D-C41EACCDF81E}" type="pres">
      <dgm:prSet presAssocID="{6ADDE267-CAAA-47A9-92BA-ECF42B646CF4}" presName="parTrans" presStyleLbl="sibTrans2D1" presStyleIdx="1" presStyleCnt="4" custAng="10800000"/>
      <dgm:spPr/>
    </dgm:pt>
    <dgm:pt modelId="{1EB3A096-7BF0-40CC-9DAB-9C6120306866}" type="pres">
      <dgm:prSet presAssocID="{6ADDE267-CAAA-47A9-92BA-ECF42B646CF4}" presName="connectorText" presStyleLbl="sibTrans2D1" presStyleIdx="1" presStyleCnt="4"/>
      <dgm:spPr/>
    </dgm:pt>
    <dgm:pt modelId="{68D722A6-8420-46E2-93BC-506918C8618B}" type="pres">
      <dgm:prSet presAssocID="{37ECA0EE-1742-4F99-994E-968C22510B6A}" presName="node" presStyleLbl="node1" presStyleIdx="1" presStyleCnt="4">
        <dgm:presLayoutVars>
          <dgm:bulletEnabled val="1"/>
        </dgm:presLayoutVars>
      </dgm:prSet>
      <dgm:spPr/>
    </dgm:pt>
    <dgm:pt modelId="{58B55C56-2FDE-4DA9-B035-E17D0E552725}" type="pres">
      <dgm:prSet presAssocID="{0B8A66D2-8BD2-4D28-82B7-3D416D6F0B8C}" presName="parTrans" presStyleLbl="sibTrans2D1" presStyleIdx="2" presStyleCnt="4"/>
      <dgm:spPr/>
    </dgm:pt>
    <dgm:pt modelId="{1CFD4E86-2A28-4F6F-824C-61AE15F1663E}" type="pres">
      <dgm:prSet presAssocID="{0B8A66D2-8BD2-4D28-82B7-3D416D6F0B8C}" presName="connectorText" presStyleLbl="sibTrans2D1" presStyleIdx="2" presStyleCnt="4"/>
      <dgm:spPr/>
    </dgm:pt>
    <dgm:pt modelId="{2E0B3A3D-FD69-4B00-971D-35E536308042}" type="pres">
      <dgm:prSet presAssocID="{4EA39A6A-CCF9-4C7A-8F07-A3629229A8DC}" presName="node" presStyleLbl="node1" presStyleIdx="2" presStyleCnt="4">
        <dgm:presLayoutVars>
          <dgm:bulletEnabled val="1"/>
        </dgm:presLayoutVars>
      </dgm:prSet>
      <dgm:spPr/>
    </dgm:pt>
    <dgm:pt modelId="{5E2A5196-7187-4938-B8EA-D08458595CCA}" type="pres">
      <dgm:prSet presAssocID="{A8637B26-96D1-4C0B-A285-933F02BAD3E5}" presName="parTrans" presStyleLbl="sibTrans2D1" presStyleIdx="3" presStyleCnt="4" custAng="10800000"/>
      <dgm:spPr/>
    </dgm:pt>
    <dgm:pt modelId="{8BE4DAB3-1322-42AA-B6B9-A2B2FBA5A008}" type="pres">
      <dgm:prSet presAssocID="{A8637B26-96D1-4C0B-A285-933F02BAD3E5}" presName="connectorText" presStyleLbl="sibTrans2D1" presStyleIdx="3" presStyleCnt="4"/>
      <dgm:spPr/>
    </dgm:pt>
    <dgm:pt modelId="{EDDA9392-2743-45DD-995C-86F946D99578}" type="pres">
      <dgm:prSet presAssocID="{470CB088-2868-4780-896B-CF4FE88B1214}" presName="node" presStyleLbl="node1" presStyleIdx="3" presStyleCnt="4">
        <dgm:presLayoutVars>
          <dgm:bulletEnabled val="1"/>
        </dgm:presLayoutVars>
      </dgm:prSet>
      <dgm:spPr/>
    </dgm:pt>
  </dgm:ptLst>
  <dgm:cxnLst>
    <dgm:cxn modelId="{2FE4F801-E632-4F65-B2B3-F2A273B53095}" type="presOf" srcId="{0B8A66D2-8BD2-4D28-82B7-3D416D6F0B8C}" destId="{58B55C56-2FDE-4DA9-B035-E17D0E552725}" srcOrd="0" destOrd="0" presId="urn:microsoft.com/office/officeart/2005/8/layout/radial5"/>
    <dgm:cxn modelId="{463A1008-6744-4172-8707-39A94CEBEBA8}" srcId="{7437B92A-3B32-4318-803B-19C67201C7D4}" destId="{EA8D5DDD-D0DE-4C4F-9A5D-054263F94B41}" srcOrd="0" destOrd="0" parTransId="{ECDB16E9-E5C2-493C-BBBC-53AA8F69DB55}" sibTransId="{F9F5B1FE-7321-4ED6-A19A-CADE1D95A546}"/>
    <dgm:cxn modelId="{DEED221B-D299-4827-BFEB-E63186B7833C}" srcId="{EA8D5DDD-D0DE-4C4F-9A5D-054263F94B41}" destId="{4EA39A6A-CCF9-4C7A-8F07-A3629229A8DC}" srcOrd="2" destOrd="0" parTransId="{0B8A66D2-8BD2-4D28-82B7-3D416D6F0B8C}" sibTransId="{391FAD54-527D-4D02-BF82-3DA030BBDB16}"/>
    <dgm:cxn modelId="{89A4CD1F-5E3A-438B-8AD7-AF72E84C2B77}" srcId="{EA8D5DDD-D0DE-4C4F-9A5D-054263F94B41}" destId="{37ECA0EE-1742-4F99-994E-968C22510B6A}" srcOrd="1" destOrd="0" parTransId="{6ADDE267-CAAA-47A9-92BA-ECF42B646CF4}" sibTransId="{C4916715-63D9-484E-9238-F44ED7588AA5}"/>
    <dgm:cxn modelId="{C52CD726-BA1F-4EFA-8357-1AC40911D0DE}" type="presOf" srcId="{7437B92A-3B32-4318-803B-19C67201C7D4}" destId="{99BAA227-5D78-43B1-A5ED-444622D8936A}" srcOrd="0" destOrd="0" presId="urn:microsoft.com/office/officeart/2005/8/layout/radial5"/>
    <dgm:cxn modelId="{E862812C-671C-499D-867D-726B90C32675}" type="presOf" srcId="{3C95BB80-5171-4004-844D-F778C7121413}" destId="{6AD47415-9981-4E3C-86DC-46BF8EF8BA8C}" srcOrd="0" destOrd="0" presId="urn:microsoft.com/office/officeart/2005/8/layout/radial5"/>
    <dgm:cxn modelId="{A6ACA55B-A8F9-403E-8AD1-AF0FB4135561}" type="presOf" srcId="{0B8A66D2-8BD2-4D28-82B7-3D416D6F0B8C}" destId="{1CFD4E86-2A28-4F6F-824C-61AE15F1663E}" srcOrd="1" destOrd="0" presId="urn:microsoft.com/office/officeart/2005/8/layout/radial5"/>
    <dgm:cxn modelId="{5895CF41-52E1-43E4-AFE0-5278A711C87C}" type="presOf" srcId="{EA8D5DDD-D0DE-4C4F-9A5D-054263F94B41}" destId="{ECB2513A-3512-4D0F-BE0D-46C3131C87BB}" srcOrd="0" destOrd="0" presId="urn:microsoft.com/office/officeart/2005/8/layout/radial5"/>
    <dgm:cxn modelId="{DE6B7C65-1578-425C-8A91-2C2F797966AF}" type="presOf" srcId="{37ECA0EE-1742-4F99-994E-968C22510B6A}" destId="{68D722A6-8420-46E2-93BC-506918C8618B}" srcOrd="0" destOrd="0" presId="urn:microsoft.com/office/officeart/2005/8/layout/radial5"/>
    <dgm:cxn modelId="{F2B56C6A-B7A4-4EC8-9D5D-CC5F4468EEF5}" type="presOf" srcId="{B7CF5517-DEE7-41B1-8E33-09A3E64FEA10}" destId="{C422C648-E5E9-47F7-BD6B-0F10C4067044}" srcOrd="1" destOrd="0" presId="urn:microsoft.com/office/officeart/2005/8/layout/radial5"/>
    <dgm:cxn modelId="{89A10183-0C93-4ECB-A637-648E524BD11D}" srcId="{EA8D5DDD-D0DE-4C4F-9A5D-054263F94B41}" destId="{470CB088-2868-4780-896B-CF4FE88B1214}" srcOrd="3" destOrd="0" parTransId="{A8637B26-96D1-4C0B-A285-933F02BAD3E5}" sibTransId="{E4B06966-A9BA-46DC-9607-849249D542DD}"/>
    <dgm:cxn modelId="{055B2F9E-F60A-4AC2-AAD5-C0B9E8C21A0B}" type="presOf" srcId="{A8637B26-96D1-4C0B-A285-933F02BAD3E5}" destId="{5E2A5196-7187-4938-B8EA-D08458595CCA}" srcOrd="0" destOrd="0" presId="urn:microsoft.com/office/officeart/2005/8/layout/radial5"/>
    <dgm:cxn modelId="{2ADB43A7-6AF2-488A-B27D-5CEF781B8E8B}" type="presOf" srcId="{A8637B26-96D1-4C0B-A285-933F02BAD3E5}" destId="{8BE4DAB3-1322-42AA-B6B9-A2B2FBA5A008}" srcOrd="1" destOrd="0" presId="urn:microsoft.com/office/officeart/2005/8/layout/radial5"/>
    <dgm:cxn modelId="{F2B4ADB1-4B31-442A-B13B-40083818BDC4}" type="presOf" srcId="{B7CF5517-DEE7-41B1-8E33-09A3E64FEA10}" destId="{64F9BA52-AA83-4FF3-A602-809670090D01}" srcOrd="0" destOrd="0" presId="urn:microsoft.com/office/officeart/2005/8/layout/radial5"/>
    <dgm:cxn modelId="{DDAC21CC-C44C-4F39-AA55-5D4077E116C0}" type="presOf" srcId="{470CB088-2868-4780-896B-CF4FE88B1214}" destId="{EDDA9392-2743-45DD-995C-86F946D99578}" srcOrd="0" destOrd="0" presId="urn:microsoft.com/office/officeart/2005/8/layout/radial5"/>
    <dgm:cxn modelId="{56F633CC-F17A-423D-8DBF-E37E89C39CE9}" type="presOf" srcId="{6ADDE267-CAAA-47A9-92BA-ECF42B646CF4}" destId="{35C0411A-5A4C-4D44-822D-C41EACCDF81E}" srcOrd="0" destOrd="0" presId="urn:microsoft.com/office/officeart/2005/8/layout/radial5"/>
    <dgm:cxn modelId="{82DC5FF4-E434-4A33-8C59-123231B1E71B}" srcId="{EA8D5DDD-D0DE-4C4F-9A5D-054263F94B41}" destId="{3C95BB80-5171-4004-844D-F778C7121413}" srcOrd="0" destOrd="0" parTransId="{B7CF5517-DEE7-41B1-8E33-09A3E64FEA10}" sibTransId="{15770A93-6A91-4C9A-95FD-6BAD1CAE727D}"/>
    <dgm:cxn modelId="{73AD52FF-CDDF-4952-9920-1D4FAFADE936}" type="presOf" srcId="{4EA39A6A-CCF9-4C7A-8F07-A3629229A8DC}" destId="{2E0B3A3D-FD69-4B00-971D-35E536308042}" srcOrd="0" destOrd="0" presId="urn:microsoft.com/office/officeart/2005/8/layout/radial5"/>
    <dgm:cxn modelId="{6C12B4FF-EB40-4ACA-BAFF-F1F15C1AE0DD}" type="presOf" srcId="{6ADDE267-CAAA-47A9-92BA-ECF42B646CF4}" destId="{1EB3A096-7BF0-40CC-9DAB-9C6120306866}" srcOrd="1" destOrd="0" presId="urn:microsoft.com/office/officeart/2005/8/layout/radial5"/>
    <dgm:cxn modelId="{25BA868C-5FDE-4A9A-81D6-9D714D0DE4D5}" type="presParOf" srcId="{99BAA227-5D78-43B1-A5ED-444622D8936A}" destId="{ECB2513A-3512-4D0F-BE0D-46C3131C87BB}" srcOrd="0" destOrd="0" presId="urn:microsoft.com/office/officeart/2005/8/layout/radial5"/>
    <dgm:cxn modelId="{236789A8-6158-4959-BA52-9DC8E49BD318}" type="presParOf" srcId="{99BAA227-5D78-43B1-A5ED-444622D8936A}" destId="{64F9BA52-AA83-4FF3-A602-809670090D01}" srcOrd="1" destOrd="0" presId="urn:microsoft.com/office/officeart/2005/8/layout/radial5"/>
    <dgm:cxn modelId="{62671FE0-C6D5-4D5E-9B29-6A25191453B5}" type="presParOf" srcId="{64F9BA52-AA83-4FF3-A602-809670090D01}" destId="{C422C648-E5E9-47F7-BD6B-0F10C4067044}" srcOrd="0" destOrd="0" presId="urn:microsoft.com/office/officeart/2005/8/layout/radial5"/>
    <dgm:cxn modelId="{EEC77C73-3B21-42AB-A385-B8D8A922C2C4}" type="presParOf" srcId="{99BAA227-5D78-43B1-A5ED-444622D8936A}" destId="{6AD47415-9981-4E3C-86DC-46BF8EF8BA8C}" srcOrd="2" destOrd="0" presId="urn:microsoft.com/office/officeart/2005/8/layout/radial5"/>
    <dgm:cxn modelId="{50A2ACDB-4C33-4F0B-8039-A0822123EA05}" type="presParOf" srcId="{99BAA227-5D78-43B1-A5ED-444622D8936A}" destId="{35C0411A-5A4C-4D44-822D-C41EACCDF81E}" srcOrd="3" destOrd="0" presId="urn:microsoft.com/office/officeart/2005/8/layout/radial5"/>
    <dgm:cxn modelId="{7922F248-C3A1-433C-86C9-12F6D7EF7B30}" type="presParOf" srcId="{35C0411A-5A4C-4D44-822D-C41EACCDF81E}" destId="{1EB3A096-7BF0-40CC-9DAB-9C6120306866}" srcOrd="0" destOrd="0" presId="urn:microsoft.com/office/officeart/2005/8/layout/radial5"/>
    <dgm:cxn modelId="{BD6979A9-F1DD-49BF-B73A-03F5DA8DD27B}" type="presParOf" srcId="{99BAA227-5D78-43B1-A5ED-444622D8936A}" destId="{68D722A6-8420-46E2-93BC-506918C8618B}" srcOrd="4" destOrd="0" presId="urn:microsoft.com/office/officeart/2005/8/layout/radial5"/>
    <dgm:cxn modelId="{B63CE7D5-B5E7-4B85-8224-B2EFA1239CC9}" type="presParOf" srcId="{99BAA227-5D78-43B1-A5ED-444622D8936A}" destId="{58B55C56-2FDE-4DA9-B035-E17D0E552725}" srcOrd="5" destOrd="0" presId="urn:microsoft.com/office/officeart/2005/8/layout/radial5"/>
    <dgm:cxn modelId="{C554890B-DE87-436D-9AA8-F20AFED6826C}" type="presParOf" srcId="{58B55C56-2FDE-4DA9-B035-E17D0E552725}" destId="{1CFD4E86-2A28-4F6F-824C-61AE15F1663E}" srcOrd="0" destOrd="0" presId="urn:microsoft.com/office/officeart/2005/8/layout/radial5"/>
    <dgm:cxn modelId="{9F6C1AC7-2222-4716-B084-B7AA422F56B1}" type="presParOf" srcId="{99BAA227-5D78-43B1-A5ED-444622D8936A}" destId="{2E0B3A3D-FD69-4B00-971D-35E536308042}" srcOrd="6" destOrd="0" presId="urn:microsoft.com/office/officeart/2005/8/layout/radial5"/>
    <dgm:cxn modelId="{F8192774-CB5F-4CB7-A94A-3AFB5B53CD43}" type="presParOf" srcId="{99BAA227-5D78-43B1-A5ED-444622D8936A}" destId="{5E2A5196-7187-4938-B8EA-D08458595CCA}" srcOrd="7" destOrd="0" presId="urn:microsoft.com/office/officeart/2005/8/layout/radial5"/>
    <dgm:cxn modelId="{F0209DE4-700D-4728-AFD5-244AA64D9B74}" type="presParOf" srcId="{5E2A5196-7187-4938-B8EA-D08458595CCA}" destId="{8BE4DAB3-1322-42AA-B6B9-A2B2FBA5A008}" srcOrd="0" destOrd="0" presId="urn:microsoft.com/office/officeart/2005/8/layout/radial5"/>
    <dgm:cxn modelId="{40478B6B-A02C-40DF-AF7E-B6911A6D9C8A}" type="presParOf" srcId="{99BAA227-5D78-43B1-A5ED-444622D8936A}" destId="{EDDA9392-2743-45DD-995C-86F946D99578}" srcOrd="8"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37B92A-3B32-4318-803B-19C67201C7D4}"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zh-CN" altLang="en-US"/>
        </a:p>
      </dgm:t>
    </dgm:pt>
    <dgm:pt modelId="{EA8D5DDD-D0DE-4C4F-9A5D-054263F94B41}">
      <dgm:prSet phldrT="[文本]"/>
      <dgm:spPr/>
      <dgm:t>
        <a:bodyPr/>
        <a:lstStyle/>
        <a:p>
          <a:r>
            <a:rPr lang="en-US" altLang="zh-CN" dirty="0"/>
            <a:t>A</a:t>
          </a:r>
          <a:endParaRPr lang="zh-CN" altLang="en-US" dirty="0"/>
        </a:p>
      </dgm:t>
    </dgm:pt>
    <dgm:pt modelId="{ECDB16E9-E5C2-493C-BBBC-53AA8F69DB55}" cxnId="{463A1008-6744-4172-8707-39A94CEBEBA8}" type="parTrans">
      <dgm:prSet/>
      <dgm:spPr/>
      <dgm:t>
        <a:bodyPr/>
        <a:lstStyle/>
        <a:p>
          <a:endParaRPr lang="zh-CN" altLang="en-US"/>
        </a:p>
      </dgm:t>
    </dgm:pt>
    <dgm:pt modelId="{F9F5B1FE-7321-4ED6-A19A-CADE1D95A546}" cxnId="{463A1008-6744-4172-8707-39A94CEBEBA8}" type="sibTrans">
      <dgm:prSet/>
      <dgm:spPr/>
      <dgm:t>
        <a:bodyPr/>
        <a:lstStyle/>
        <a:p>
          <a:endParaRPr lang="zh-CN" altLang="en-US"/>
        </a:p>
      </dgm:t>
    </dgm:pt>
    <dgm:pt modelId="{3C95BB80-5171-4004-844D-F778C7121413}">
      <dgm:prSet phldrT="[文本]"/>
      <dgm:spPr/>
      <dgm:t>
        <a:bodyPr/>
        <a:lstStyle/>
        <a:p>
          <a:r>
            <a:rPr lang="en-US" altLang="zh-CN" dirty="0"/>
            <a:t>B</a:t>
          </a:r>
          <a:endParaRPr lang="zh-CN" altLang="en-US" dirty="0"/>
        </a:p>
      </dgm:t>
    </dgm:pt>
    <dgm:pt modelId="{B7CF5517-DEE7-41B1-8E33-09A3E64FEA10}" cxnId="{82DC5FF4-E434-4A33-8C59-123231B1E71B}" type="parTrans">
      <dgm:prSet/>
      <dgm:spPr>
        <a:solidFill>
          <a:srgbClr val="0070C0"/>
        </a:solidFill>
      </dgm:spPr>
      <dgm:t>
        <a:bodyPr/>
        <a:lstStyle/>
        <a:p>
          <a:endParaRPr lang="zh-CN" altLang="en-US"/>
        </a:p>
      </dgm:t>
    </dgm:pt>
    <dgm:pt modelId="{15770A93-6A91-4C9A-95FD-6BAD1CAE727D}" cxnId="{82DC5FF4-E434-4A33-8C59-123231B1E71B}" type="sibTrans">
      <dgm:prSet/>
      <dgm:spPr/>
      <dgm:t>
        <a:bodyPr/>
        <a:lstStyle/>
        <a:p>
          <a:endParaRPr lang="zh-CN" altLang="en-US"/>
        </a:p>
      </dgm:t>
    </dgm:pt>
    <dgm:pt modelId="{37ECA0EE-1742-4F99-994E-968C22510B6A}">
      <dgm:prSet phldrT="[文本]"/>
      <dgm:spPr/>
      <dgm:t>
        <a:bodyPr/>
        <a:lstStyle/>
        <a:p>
          <a:r>
            <a:rPr lang="en-US" altLang="zh-CN" dirty="0"/>
            <a:t>B</a:t>
          </a:r>
          <a:endParaRPr lang="zh-CN" altLang="en-US" dirty="0"/>
        </a:p>
      </dgm:t>
    </dgm:pt>
    <dgm:pt modelId="{6ADDE267-CAAA-47A9-92BA-ECF42B646CF4}" cxnId="{89A4CD1F-5E3A-438B-8AD7-AF72E84C2B77}" type="parTrans">
      <dgm:prSet/>
      <dgm:spPr>
        <a:solidFill>
          <a:srgbClr val="FF0000"/>
        </a:solidFill>
      </dgm:spPr>
      <dgm:t>
        <a:bodyPr/>
        <a:lstStyle/>
        <a:p>
          <a:endParaRPr lang="zh-CN" altLang="en-US"/>
        </a:p>
      </dgm:t>
    </dgm:pt>
    <dgm:pt modelId="{C4916715-63D9-484E-9238-F44ED7588AA5}" cxnId="{89A4CD1F-5E3A-438B-8AD7-AF72E84C2B77}" type="sibTrans">
      <dgm:prSet/>
      <dgm:spPr/>
      <dgm:t>
        <a:bodyPr/>
        <a:lstStyle/>
        <a:p>
          <a:endParaRPr lang="zh-CN" altLang="en-US"/>
        </a:p>
      </dgm:t>
    </dgm:pt>
    <dgm:pt modelId="{4EA39A6A-CCF9-4C7A-8F07-A3629229A8DC}">
      <dgm:prSet phldrT="[文本]"/>
      <dgm:spPr/>
      <dgm:t>
        <a:bodyPr/>
        <a:lstStyle/>
        <a:p>
          <a:r>
            <a:rPr lang="en-US" altLang="zh-CN" dirty="0"/>
            <a:t>B</a:t>
          </a:r>
          <a:endParaRPr lang="zh-CN" altLang="en-US" dirty="0"/>
        </a:p>
      </dgm:t>
    </dgm:pt>
    <dgm:pt modelId="{0B8A66D2-8BD2-4D28-82B7-3D416D6F0B8C}" cxnId="{DEED221B-D299-4827-BFEB-E63186B7833C}" type="parTrans">
      <dgm:prSet/>
      <dgm:spPr>
        <a:solidFill>
          <a:srgbClr val="0070C0"/>
        </a:solidFill>
      </dgm:spPr>
      <dgm:t>
        <a:bodyPr/>
        <a:lstStyle/>
        <a:p>
          <a:endParaRPr lang="zh-CN" altLang="en-US"/>
        </a:p>
      </dgm:t>
    </dgm:pt>
    <dgm:pt modelId="{391FAD54-527D-4D02-BF82-3DA030BBDB16}" cxnId="{DEED221B-D299-4827-BFEB-E63186B7833C}" type="sibTrans">
      <dgm:prSet/>
      <dgm:spPr/>
      <dgm:t>
        <a:bodyPr/>
        <a:lstStyle/>
        <a:p>
          <a:endParaRPr lang="zh-CN" altLang="en-US"/>
        </a:p>
      </dgm:t>
    </dgm:pt>
    <dgm:pt modelId="{470CB088-2868-4780-896B-CF4FE88B1214}">
      <dgm:prSet phldrT="[文本]"/>
      <dgm:spPr/>
      <dgm:t>
        <a:bodyPr/>
        <a:lstStyle/>
        <a:p>
          <a:r>
            <a:rPr lang="en-US" altLang="zh-CN" dirty="0"/>
            <a:t>B</a:t>
          </a:r>
          <a:endParaRPr lang="zh-CN" altLang="en-US" dirty="0"/>
        </a:p>
      </dgm:t>
    </dgm:pt>
    <dgm:pt modelId="{A8637B26-96D1-4C0B-A285-933F02BAD3E5}" cxnId="{89A10183-0C93-4ECB-A637-648E524BD11D}" type="parTrans">
      <dgm:prSet/>
      <dgm:spPr>
        <a:solidFill>
          <a:srgbClr val="FF0000"/>
        </a:solidFill>
      </dgm:spPr>
      <dgm:t>
        <a:bodyPr/>
        <a:lstStyle/>
        <a:p>
          <a:endParaRPr lang="zh-CN" altLang="en-US"/>
        </a:p>
      </dgm:t>
    </dgm:pt>
    <dgm:pt modelId="{E4B06966-A9BA-46DC-9607-849249D542DD}" cxnId="{89A10183-0C93-4ECB-A637-648E524BD11D}" type="sibTrans">
      <dgm:prSet/>
      <dgm:spPr/>
      <dgm:t>
        <a:bodyPr/>
        <a:lstStyle/>
        <a:p>
          <a:endParaRPr lang="zh-CN" altLang="en-US"/>
        </a:p>
      </dgm:t>
    </dgm:pt>
    <dgm:pt modelId="{99BAA227-5D78-43B1-A5ED-444622D8936A}" type="pres">
      <dgm:prSet presAssocID="{7437B92A-3B32-4318-803B-19C67201C7D4}" presName="Name0" presStyleCnt="0">
        <dgm:presLayoutVars>
          <dgm:chMax val="1"/>
          <dgm:dir/>
          <dgm:animLvl val="ctr"/>
          <dgm:resizeHandles val="exact"/>
        </dgm:presLayoutVars>
      </dgm:prSet>
      <dgm:spPr/>
    </dgm:pt>
    <dgm:pt modelId="{ECB2513A-3512-4D0F-BE0D-46C3131C87BB}" type="pres">
      <dgm:prSet presAssocID="{EA8D5DDD-D0DE-4C4F-9A5D-054263F94B41}" presName="centerShape" presStyleLbl="node0" presStyleIdx="0" presStyleCnt="1"/>
      <dgm:spPr/>
    </dgm:pt>
    <dgm:pt modelId="{64F9BA52-AA83-4FF3-A602-809670090D01}" type="pres">
      <dgm:prSet presAssocID="{B7CF5517-DEE7-41B1-8E33-09A3E64FEA10}" presName="parTrans" presStyleLbl="sibTrans2D1" presStyleIdx="0" presStyleCnt="4" custAng="10800000"/>
      <dgm:spPr/>
    </dgm:pt>
    <dgm:pt modelId="{C422C648-E5E9-47F7-BD6B-0F10C4067044}" type="pres">
      <dgm:prSet presAssocID="{B7CF5517-DEE7-41B1-8E33-09A3E64FEA10}" presName="connectorText" presStyleLbl="sibTrans2D1" presStyleIdx="0" presStyleCnt="4"/>
      <dgm:spPr/>
    </dgm:pt>
    <dgm:pt modelId="{6AD47415-9981-4E3C-86DC-46BF8EF8BA8C}" type="pres">
      <dgm:prSet presAssocID="{3C95BB80-5171-4004-844D-F778C7121413}" presName="node" presStyleLbl="node1" presStyleIdx="0" presStyleCnt="4">
        <dgm:presLayoutVars>
          <dgm:bulletEnabled val="1"/>
        </dgm:presLayoutVars>
      </dgm:prSet>
      <dgm:spPr/>
    </dgm:pt>
    <dgm:pt modelId="{35C0411A-5A4C-4D44-822D-C41EACCDF81E}" type="pres">
      <dgm:prSet presAssocID="{6ADDE267-CAAA-47A9-92BA-ECF42B646CF4}" presName="parTrans" presStyleLbl="sibTrans2D1" presStyleIdx="1" presStyleCnt="4" custAng="0"/>
      <dgm:spPr/>
    </dgm:pt>
    <dgm:pt modelId="{1EB3A096-7BF0-40CC-9DAB-9C6120306866}" type="pres">
      <dgm:prSet presAssocID="{6ADDE267-CAAA-47A9-92BA-ECF42B646CF4}" presName="connectorText" presStyleLbl="sibTrans2D1" presStyleIdx="1" presStyleCnt="4"/>
      <dgm:spPr/>
    </dgm:pt>
    <dgm:pt modelId="{68D722A6-8420-46E2-93BC-506918C8618B}" type="pres">
      <dgm:prSet presAssocID="{37ECA0EE-1742-4F99-994E-968C22510B6A}" presName="node" presStyleLbl="node1" presStyleIdx="1" presStyleCnt="4">
        <dgm:presLayoutVars>
          <dgm:bulletEnabled val="1"/>
        </dgm:presLayoutVars>
      </dgm:prSet>
      <dgm:spPr/>
    </dgm:pt>
    <dgm:pt modelId="{58B55C56-2FDE-4DA9-B035-E17D0E552725}" type="pres">
      <dgm:prSet presAssocID="{0B8A66D2-8BD2-4D28-82B7-3D416D6F0B8C}" presName="parTrans" presStyleLbl="sibTrans2D1" presStyleIdx="2" presStyleCnt="4" custAng="10800000"/>
      <dgm:spPr/>
    </dgm:pt>
    <dgm:pt modelId="{1CFD4E86-2A28-4F6F-824C-61AE15F1663E}" type="pres">
      <dgm:prSet presAssocID="{0B8A66D2-8BD2-4D28-82B7-3D416D6F0B8C}" presName="connectorText" presStyleLbl="sibTrans2D1" presStyleIdx="2" presStyleCnt="4"/>
      <dgm:spPr/>
    </dgm:pt>
    <dgm:pt modelId="{2E0B3A3D-FD69-4B00-971D-35E536308042}" type="pres">
      <dgm:prSet presAssocID="{4EA39A6A-CCF9-4C7A-8F07-A3629229A8DC}" presName="node" presStyleLbl="node1" presStyleIdx="2" presStyleCnt="4">
        <dgm:presLayoutVars>
          <dgm:bulletEnabled val="1"/>
        </dgm:presLayoutVars>
      </dgm:prSet>
      <dgm:spPr/>
    </dgm:pt>
    <dgm:pt modelId="{5E2A5196-7187-4938-B8EA-D08458595CCA}" type="pres">
      <dgm:prSet presAssocID="{A8637B26-96D1-4C0B-A285-933F02BAD3E5}" presName="parTrans" presStyleLbl="sibTrans2D1" presStyleIdx="3" presStyleCnt="4" custAng="0"/>
      <dgm:spPr/>
    </dgm:pt>
    <dgm:pt modelId="{8BE4DAB3-1322-42AA-B6B9-A2B2FBA5A008}" type="pres">
      <dgm:prSet presAssocID="{A8637B26-96D1-4C0B-A285-933F02BAD3E5}" presName="connectorText" presStyleLbl="sibTrans2D1" presStyleIdx="3" presStyleCnt="4"/>
      <dgm:spPr/>
    </dgm:pt>
    <dgm:pt modelId="{EDDA9392-2743-45DD-995C-86F946D99578}" type="pres">
      <dgm:prSet presAssocID="{470CB088-2868-4780-896B-CF4FE88B1214}" presName="node" presStyleLbl="node1" presStyleIdx="3" presStyleCnt="4">
        <dgm:presLayoutVars>
          <dgm:bulletEnabled val="1"/>
        </dgm:presLayoutVars>
      </dgm:prSet>
      <dgm:spPr/>
    </dgm:pt>
  </dgm:ptLst>
  <dgm:cxnLst>
    <dgm:cxn modelId="{2FE4F801-E632-4F65-B2B3-F2A273B53095}" type="presOf" srcId="{0B8A66D2-8BD2-4D28-82B7-3D416D6F0B8C}" destId="{58B55C56-2FDE-4DA9-B035-E17D0E552725}" srcOrd="0" destOrd="0" presId="urn:microsoft.com/office/officeart/2005/8/layout/radial5"/>
    <dgm:cxn modelId="{463A1008-6744-4172-8707-39A94CEBEBA8}" srcId="{7437B92A-3B32-4318-803B-19C67201C7D4}" destId="{EA8D5DDD-D0DE-4C4F-9A5D-054263F94B41}" srcOrd="0" destOrd="0" parTransId="{ECDB16E9-E5C2-493C-BBBC-53AA8F69DB55}" sibTransId="{F9F5B1FE-7321-4ED6-A19A-CADE1D95A546}"/>
    <dgm:cxn modelId="{DEED221B-D299-4827-BFEB-E63186B7833C}" srcId="{EA8D5DDD-D0DE-4C4F-9A5D-054263F94B41}" destId="{4EA39A6A-CCF9-4C7A-8F07-A3629229A8DC}" srcOrd="2" destOrd="0" parTransId="{0B8A66D2-8BD2-4D28-82B7-3D416D6F0B8C}" sibTransId="{391FAD54-527D-4D02-BF82-3DA030BBDB16}"/>
    <dgm:cxn modelId="{89A4CD1F-5E3A-438B-8AD7-AF72E84C2B77}" srcId="{EA8D5DDD-D0DE-4C4F-9A5D-054263F94B41}" destId="{37ECA0EE-1742-4F99-994E-968C22510B6A}" srcOrd="1" destOrd="0" parTransId="{6ADDE267-CAAA-47A9-92BA-ECF42B646CF4}" sibTransId="{C4916715-63D9-484E-9238-F44ED7588AA5}"/>
    <dgm:cxn modelId="{C52CD726-BA1F-4EFA-8357-1AC40911D0DE}" type="presOf" srcId="{7437B92A-3B32-4318-803B-19C67201C7D4}" destId="{99BAA227-5D78-43B1-A5ED-444622D8936A}" srcOrd="0" destOrd="0" presId="urn:microsoft.com/office/officeart/2005/8/layout/radial5"/>
    <dgm:cxn modelId="{E862812C-671C-499D-867D-726B90C32675}" type="presOf" srcId="{3C95BB80-5171-4004-844D-F778C7121413}" destId="{6AD47415-9981-4E3C-86DC-46BF8EF8BA8C}" srcOrd="0" destOrd="0" presId="urn:microsoft.com/office/officeart/2005/8/layout/radial5"/>
    <dgm:cxn modelId="{A6ACA55B-A8F9-403E-8AD1-AF0FB4135561}" type="presOf" srcId="{0B8A66D2-8BD2-4D28-82B7-3D416D6F0B8C}" destId="{1CFD4E86-2A28-4F6F-824C-61AE15F1663E}" srcOrd="1" destOrd="0" presId="urn:microsoft.com/office/officeart/2005/8/layout/radial5"/>
    <dgm:cxn modelId="{5895CF41-52E1-43E4-AFE0-5278A711C87C}" type="presOf" srcId="{EA8D5DDD-D0DE-4C4F-9A5D-054263F94B41}" destId="{ECB2513A-3512-4D0F-BE0D-46C3131C87BB}" srcOrd="0" destOrd="0" presId="urn:microsoft.com/office/officeart/2005/8/layout/radial5"/>
    <dgm:cxn modelId="{DE6B7C65-1578-425C-8A91-2C2F797966AF}" type="presOf" srcId="{37ECA0EE-1742-4F99-994E-968C22510B6A}" destId="{68D722A6-8420-46E2-93BC-506918C8618B}" srcOrd="0" destOrd="0" presId="urn:microsoft.com/office/officeart/2005/8/layout/radial5"/>
    <dgm:cxn modelId="{F2B56C6A-B7A4-4EC8-9D5D-CC5F4468EEF5}" type="presOf" srcId="{B7CF5517-DEE7-41B1-8E33-09A3E64FEA10}" destId="{C422C648-E5E9-47F7-BD6B-0F10C4067044}" srcOrd="1" destOrd="0" presId="urn:microsoft.com/office/officeart/2005/8/layout/radial5"/>
    <dgm:cxn modelId="{89A10183-0C93-4ECB-A637-648E524BD11D}" srcId="{EA8D5DDD-D0DE-4C4F-9A5D-054263F94B41}" destId="{470CB088-2868-4780-896B-CF4FE88B1214}" srcOrd="3" destOrd="0" parTransId="{A8637B26-96D1-4C0B-A285-933F02BAD3E5}" sibTransId="{E4B06966-A9BA-46DC-9607-849249D542DD}"/>
    <dgm:cxn modelId="{055B2F9E-F60A-4AC2-AAD5-C0B9E8C21A0B}" type="presOf" srcId="{A8637B26-96D1-4C0B-A285-933F02BAD3E5}" destId="{5E2A5196-7187-4938-B8EA-D08458595CCA}" srcOrd="0" destOrd="0" presId="urn:microsoft.com/office/officeart/2005/8/layout/radial5"/>
    <dgm:cxn modelId="{2ADB43A7-6AF2-488A-B27D-5CEF781B8E8B}" type="presOf" srcId="{A8637B26-96D1-4C0B-A285-933F02BAD3E5}" destId="{8BE4DAB3-1322-42AA-B6B9-A2B2FBA5A008}" srcOrd="1" destOrd="0" presId="urn:microsoft.com/office/officeart/2005/8/layout/radial5"/>
    <dgm:cxn modelId="{F2B4ADB1-4B31-442A-B13B-40083818BDC4}" type="presOf" srcId="{B7CF5517-DEE7-41B1-8E33-09A3E64FEA10}" destId="{64F9BA52-AA83-4FF3-A602-809670090D01}" srcOrd="0" destOrd="0" presId="urn:microsoft.com/office/officeart/2005/8/layout/radial5"/>
    <dgm:cxn modelId="{DDAC21CC-C44C-4F39-AA55-5D4077E116C0}" type="presOf" srcId="{470CB088-2868-4780-896B-CF4FE88B1214}" destId="{EDDA9392-2743-45DD-995C-86F946D99578}" srcOrd="0" destOrd="0" presId="urn:microsoft.com/office/officeart/2005/8/layout/radial5"/>
    <dgm:cxn modelId="{56F633CC-F17A-423D-8DBF-E37E89C39CE9}" type="presOf" srcId="{6ADDE267-CAAA-47A9-92BA-ECF42B646CF4}" destId="{35C0411A-5A4C-4D44-822D-C41EACCDF81E}" srcOrd="0" destOrd="0" presId="urn:microsoft.com/office/officeart/2005/8/layout/radial5"/>
    <dgm:cxn modelId="{82DC5FF4-E434-4A33-8C59-123231B1E71B}" srcId="{EA8D5DDD-D0DE-4C4F-9A5D-054263F94B41}" destId="{3C95BB80-5171-4004-844D-F778C7121413}" srcOrd="0" destOrd="0" parTransId="{B7CF5517-DEE7-41B1-8E33-09A3E64FEA10}" sibTransId="{15770A93-6A91-4C9A-95FD-6BAD1CAE727D}"/>
    <dgm:cxn modelId="{73AD52FF-CDDF-4952-9920-1D4FAFADE936}" type="presOf" srcId="{4EA39A6A-CCF9-4C7A-8F07-A3629229A8DC}" destId="{2E0B3A3D-FD69-4B00-971D-35E536308042}" srcOrd="0" destOrd="0" presId="urn:microsoft.com/office/officeart/2005/8/layout/radial5"/>
    <dgm:cxn modelId="{6C12B4FF-EB40-4ACA-BAFF-F1F15C1AE0DD}" type="presOf" srcId="{6ADDE267-CAAA-47A9-92BA-ECF42B646CF4}" destId="{1EB3A096-7BF0-40CC-9DAB-9C6120306866}" srcOrd="1" destOrd="0" presId="urn:microsoft.com/office/officeart/2005/8/layout/radial5"/>
    <dgm:cxn modelId="{25BA868C-5FDE-4A9A-81D6-9D714D0DE4D5}" type="presParOf" srcId="{99BAA227-5D78-43B1-A5ED-444622D8936A}" destId="{ECB2513A-3512-4D0F-BE0D-46C3131C87BB}" srcOrd="0" destOrd="0" presId="urn:microsoft.com/office/officeart/2005/8/layout/radial5"/>
    <dgm:cxn modelId="{236789A8-6158-4959-BA52-9DC8E49BD318}" type="presParOf" srcId="{99BAA227-5D78-43B1-A5ED-444622D8936A}" destId="{64F9BA52-AA83-4FF3-A602-809670090D01}" srcOrd="1" destOrd="0" presId="urn:microsoft.com/office/officeart/2005/8/layout/radial5"/>
    <dgm:cxn modelId="{62671FE0-C6D5-4D5E-9B29-6A25191453B5}" type="presParOf" srcId="{64F9BA52-AA83-4FF3-A602-809670090D01}" destId="{C422C648-E5E9-47F7-BD6B-0F10C4067044}" srcOrd="0" destOrd="0" presId="urn:microsoft.com/office/officeart/2005/8/layout/radial5"/>
    <dgm:cxn modelId="{EEC77C73-3B21-42AB-A385-B8D8A922C2C4}" type="presParOf" srcId="{99BAA227-5D78-43B1-A5ED-444622D8936A}" destId="{6AD47415-9981-4E3C-86DC-46BF8EF8BA8C}" srcOrd="2" destOrd="0" presId="urn:microsoft.com/office/officeart/2005/8/layout/radial5"/>
    <dgm:cxn modelId="{50A2ACDB-4C33-4F0B-8039-A0822123EA05}" type="presParOf" srcId="{99BAA227-5D78-43B1-A5ED-444622D8936A}" destId="{35C0411A-5A4C-4D44-822D-C41EACCDF81E}" srcOrd="3" destOrd="0" presId="urn:microsoft.com/office/officeart/2005/8/layout/radial5"/>
    <dgm:cxn modelId="{7922F248-C3A1-433C-86C9-12F6D7EF7B30}" type="presParOf" srcId="{35C0411A-5A4C-4D44-822D-C41EACCDF81E}" destId="{1EB3A096-7BF0-40CC-9DAB-9C6120306866}" srcOrd="0" destOrd="0" presId="urn:microsoft.com/office/officeart/2005/8/layout/radial5"/>
    <dgm:cxn modelId="{BD6979A9-F1DD-49BF-B73A-03F5DA8DD27B}" type="presParOf" srcId="{99BAA227-5D78-43B1-A5ED-444622D8936A}" destId="{68D722A6-8420-46E2-93BC-506918C8618B}" srcOrd="4" destOrd="0" presId="urn:microsoft.com/office/officeart/2005/8/layout/radial5"/>
    <dgm:cxn modelId="{B63CE7D5-B5E7-4B85-8224-B2EFA1239CC9}" type="presParOf" srcId="{99BAA227-5D78-43B1-A5ED-444622D8936A}" destId="{58B55C56-2FDE-4DA9-B035-E17D0E552725}" srcOrd="5" destOrd="0" presId="urn:microsoft.com/office/officeart/2005/8/layout/radial5"/>
    <dgm:cxn modelId="{C554890B-DE87-436D-9AA8-F20AFED6826C}" type="presParOf" srcId="{58B55C56-2FDE-4DA9-B035-E17D0E552725}" destId="{1CFD4E86-2A28-4F6F-824C-61AE15F1663E}" srcOrd="0" destOrd="0" presId="urn:microsoft.com/office/officeart/2005/8/layout/radial5"/>
    <dgm:cxn modelId="{9F6C1AC7-2222-4716-B084-B7AA422F56B1}" type="presParOf" srcId="{99BAA227-5D78-43B1-A5ED-444622D8936A}" destId="{2E0B3A3D-FD69-4B00-971D-35E536308042}" srcOrd="6" destOrd="0" presId="urn:microsoft.com/office/officeart/2005/8/layout/radial5"/>
    <dgm:cxn modelId="{F8192774-CB5F-4CB7-A94A-3AFB5B53CD43}" type="presParOf" srcId="{99BAA227-5D78-43B1-A5ED-444622D8936A}" destId="{5E2A5196-7187-4938-B8EA-D08458595CCA}" srcOrd="7" destOrd="0" presId="urn:microsoft.com/office/officeart/2005/8/layout/radial5"/>
    <dgm:cxn modelId="{F0209DE4-700D-4728-AFD5-244AA64D9B74}" type="presParOf" srcId="{5E2A5196-7187-4938-B8EA-D08458595CCA}" destId="{8BE4DAB3-1322-42AA-B6B9-A2B2FBA5A008}" srcOrd="0" destOrd="0" presId="urn:microsoft.com/office/officeart/2005/8/layout/radial5"/>
    <dgm:cxn modelId="{40478B6B-A02C-40DF-AF7E-B6911A6D9C8A}" type="presParOf" srcId="{99BAA227-5D78-43B1-A5ED-444622D8936A}" destId="{EDDA9392-2743-45DD-995C-86F946D99578}" srcOrd="8" destOrd="0" presId="urn:microsoft.com/office/officeart/2005/8/layout/radial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B2513A-3512-4D0F-BE0D-46C3131C87BB}">
      <dsp:nvSpPr>
        <dsp:cNvPr id="0" name=""/>
        <dsp:cNvSpPr/>
      </dsp:nvSpPr>
      <dsp:spPr>
        <a:xfrm>
          <a:off x="1577708" y="1173182"/>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A</a:t>
          </a:r>
          <a:endParaRPr lang="zh-CN" altLang="en-US" sz="3500" kern="1200" dirty="0"/>
        </a:p>
      </dsp:txBody>
      <dsp:txXfrm>
        <a:off x="1700154" y="1295628"/>
        <a:ext cx="591225" cy="591225"/>
      </dsp:txXfrm>
    </dsp:sp>
    <dsp:sp modelId="{64F9BA52-AA83-4FF3-A602-809670090D01}">
      <dsp:nvSpPr>
        <dsp:cNvPr id="0" name=""/>
        <dsp:cNvSpPr/>
      </dsp:nvSpPr>
      <dsp:spPr>
        <a:xfrm rot="16200000">
          <a:off x="1907088" y="868743"/>
          <a:ext cx="177357" cy="284279"/>
        </a:xfrm>
        <a:prstGeom prst="rightArrow">
          <a:avLst>
            <a:gd name="adj1" fmla="val 60000"/>
            <a:gd name="adj2" fmla="val 50000"/>
          </a:avLst>
        </a:prstGeom>
        <a:solidFill>
          <a:srgbClr val="0070C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1933692" y="952203"/>
        <a:ext cx="124150" cy="170567"/>
      </dsp:txXfrm>
    </dsp:sp>
    <dsp:sp modelId="{6AD47415-9981-4E3C-86DC-46BF8EF8BA8C}">
      <dsp:nvSpPr>
        <dsp:cNvPr id="0" name=""/>
        <dsp:cNvSpPr/>
      </dsp:nvSpPr>
      <dsp:spPr>
        <a:xfrm>
          <a:off x="1577708" y="2428"/>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1700154" y="124874"/>
        <a:ext cx="591225" cy="591225"/>
      </dsp:txXfrm>
    </dsp:sp>
    <dsp:sp modelId="{35C0411A-5A4C-4D44-822D-C41EACCDF81E}">
      <dsp:nvSpPr>
        <dsp:cNvPr id="0" name=""/>
        <dsp:cNvSpPr/>
      </dsp:nvSpPr>
      <dsp:spPr>
        <a:xfrm rot="10800000">
          <a:off x="2487445" y="1449101"/>
          <a:ext cx="177357" cy="284279"/>
        </a:xfrm>
        <a:prstGeom prst="rightArrow">
          <a:avLst>
            <a:gd name="adj1" fmla="val 600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2540652" y="1505957"/>
        <a:ext cx="124150" cy="170567"/>
      </dsp:txXfrm>
    </dsp:sp>
    <dsp:sp modelId="{68D722A6-8420-46E2-93BC-506918C8618B}">
      <dsp:nvSpPr>
        <dsp:cNvPr id="0" name=""/>
        <dsp:cNvSpPr/>
      </dsp:nvSpPr>
      <dsp:spPr>
        <a:xfrm>
          <a:off x="2748462" y="1173182"/>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2870908" y="1295628"/>
        <a:ext cx="591225" cy="591225"/>
      </dsp:txXfrm>
    </dsp:sp>
    <dsp:sp modelId="{58B55C56-2FDE-4DA9-B035-E17D0E552725}">
      <dsp:nvSpPr>
        <dsp:cNvPr id="0" name=""/>
        <dsp:cNvSpPr/>
      </dsp:nvSpPr>
      <dsp:spPr>
        <a:xfrm rot="5400000">
          <a:off x="1907088" y="2029458"/>
          <a:ext cx="177357" cy="284279"/>
        </a:xfrm>
        <a:prstGeom prst="rightArrow">
          <a:avLst>
            <a:gd name="adj1" fmla="val 60000"/>
            <a:gd name="adj2" fmla="val 50000"/>
          </a:avLst>
        </a:prstGeom>
        <a:solidFill>
          <a:srgbClr val="0070C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1933692" y="2059711"/>
        <a:ext cx="124150" cy="170567"/>
      </dsp:txXfrm>
    </dsp:sp>
    <dsp:sp modelId="{2E0B3A3D-FD69-4B00-971D-35E536308042}">
      <dsp:nvSpPr>
        <dsp:cNvPr id="0" name=""/>
        <dsp:cNvSpPr/>
      </dsp:nvSpPr>
      <dsp:spPr>
        <a:xfrm>
          <a:off x="1577708" y="2343936"/>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1700154" y="2466382"/>
        <a:ext cx="591225" cy="591225"/>
      </dsp:txXfrm>
    </dsp:sp>
    <dsp:sp modelId="{5E2A5196-7187-4938-B8EA-D08458595CCA}">
      <dsp:nvSpPr>
        <dsp:cNvPr id="0" name=""/>
        <dsp:cNvSpPr/>
      </dsp:nvSpPr>
      <dsp:spPr>
        <a:xfrm>
          <a:off x="1326730" y="1449101"/>
          <a:ext cx="177357" cy="284279"/>
        </a:xfrm>
        <a:prstGeom prst="rightArrow">
          <a:avLst>
            <a:gd name="adj1" fmla="val 600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rot="10800000">
        <a:off x="1326730" y="1505957"/>
        <a:ext cx="124150" cy="170567"/>
      </dsp:txXfrm>
    </dsp:sp>
    <dsp:sp modelId="{EDDA9392-2743-45DD-995C-86F946D99578}">
      <dsp:nvSpPr>
        <dsp:cNvPr id="0" name=""/>
        <dsp:cNvSpPr/>
      </dsp:nvSpPr>
      <dsp:spPr>
        <a:xfrm>
          <a:off x="406954" y="1173182"/>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529400" y="1295628"/>
        <a:ext cx="591225" cy="5912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B2513A-3512-4D0F-BE0D-46C3131C87BB}">
      <dsp:nvSpPr>
        <dsp:cNvPr id="0" name=""/>
        <dsp:cNvSpPr/>
      </dsp:nvSpPr>
      <dsp:spPr>
        <a:xfrm>
          <a:off x="1577708" y="1173182"/>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A</a:t>
          </a:r>
          <a:endParaRPr lang="zh-CN" altLang="en-US" sz="3500" kern="1200" dirty="0"/>
        </a:p>
      </dsp:txBody>
      <dsp:txXfrm>
        <a:off x="1700154" y="1295628"/>
        <a:ext cx="591225" cy="591225"/>
      </dsp:txXfrm>
    </dsp:sp>
    <dsp:sp modelId="{64F9BA52-AA83-4FF3-A602-809670090D01}">
      <dsp:nvSpPr>
        <dsp:cNvPr id="0" name=""/>
        <dsp:cNvSpPr/>
      </dsp:nvSpPr>
      <dsp:spPr>
        <a:xfrm rot="5400000">
          <a:off x="1907088" y="868743"/>
          <a:ext cx="177357" cy="284279"/>
        </a:xfrm>
        <a:prstGeom prst="rightArrow">
          <a:avLst>
            <a:gd name="adj1" fmla="val 60000"/>
            <a:gd name="adj2" fmla="val 50000"/>
          </a:avLst>
        </a:prstGeom>
        <a:solidFill>
          <a:srgbClr val="0070C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1933692" y="898996"/>
        <a:ext cx="124150" cy="170567"/>
      </dsp:txXfrm>
    </dsp:sp>
    <dsp:sp modelId="{6AD47415-9981-4E3C-86DC-46BF8EF8BA8C}">
      <dsp:nvSpPr>
        <dsp:cNvPr id="0" name=""/>
        <dsp:cNvSpPr/>
      </dsp:nvSpPr>
      <dsp:spPr>
        <a:xfrm>
          <a:off x="1577708" y="2428"/>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1700154" y="124874"/>
        <a:ext cx="591225" cy="591225"/>
      </dsp:txXfrm>
    </dsp:sp>
    <dsp:sp modelId="{35C0411A-5A4C-4D44-822D-C41EACCDF81E}">
      <dsp:nvSpPr>
        <dsp:cNvPr id="0" name=""/>
        <dsp:cNvSpPr/>
      </dsp:nvSpPr>
      <dsp:spPr>
        <a:xfrm>
          <a:off x="2487445" y="1449101"/>
          <a:ext cx="177357" cy="284279"/>
        </a:xfrm>
        <a:prstGeom prst="rightArrow">
          <a:avLst>
            <a:gd name="adj1" fmla="val 600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2487445" y="1505957"/>
        <a:ext cx="124150" cy="170567"/>
      </dsp:txXfrm>
    </dsp:sp>
    <dsp:sp modelId="{68D722A6-8420-46E2-93BC-506918C8618B}">
      <dsp:nvSpPr>
        <dsp:cNvPr id="0" name=""/>
        <dsp:cNvSpPr/>
      </dsp:nvSpPr>
      <dsp:spPr>
        <a:xfrm>
          <a:off x="2748462" y="1173182"/>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2870908" y="1295628"/>
        <a:ext cx="591225" cy="591225"/>
      </dsp:txXfrm>
    </dsp:sp>
    <dsp:sp modelId="{58B55C56-2FDE-4DA9-B035-E17D0E552725}">
      <dsp:nvSpPr>
        <dsp:cNvPr id="0" name=""/>
        <dsp:cNvSpPr/>
      </dsp:nvSpPr>
      <dsp:spPr>
        <a:xfrm rot="16200000">
          <a:off x="1907088" y="2029458"/>
          <a:ext cx="177357" cy="284279"/>
        </a:xfrm>
        <a:prstGeom prst="rightArrow">
          <a:avLst>
            <a:gd name="adj1" fmla="val 60000"/>
            <a:gd name="adj2" fmla="val 50000"/>
          </a:avLst>
        </a:prstGeom>
        <a:solidFill>
          <a:srgbClr val="0070C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1933692" y="2112918"/>
        <a:ext cx="124150" cy="170567"/>
      </dsp:txXfrm>
    </dsp:sp>
    <dsp:sp modelId="{2E0B3A3D-FD69-4B00-971D-35E536308042}">
      <dsp:nvSpPr>
        <dsp:cNvPr id="0" name=""/>
        <dsp:cNvSpPr/>
      </dsp:nvSpPr>
      <dsp:spPr>
        <a:xfrm>
          <a:off x="1577708" y="2343936"/>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1700154" y="2466382"/>
        <a:ext cx="591225" cy="591225"/>
      </dsp:txXfrm>
    </dsp:sp>
    <dsp:sp modelId="{5E2A5196-7187-4938-B8EA-D08458595CCA}">
      <dsp:nvSpPr>
        <dsp:cNvPr id="0" name=""/>
        <dsp:cNvSpPr/>
      </dsp:nvSpPr>
      <dsp:spPr>
        <a:xfrm rot="10800000">
          <a:off x="1326730" y="1449101"/>
          <a:ext cx="177357" cy="284279"/>
        </a:xfrm>
        <a:prstGeom prst="rightArrow">
          <a:avLst>
            <a:gd name="adj1" fmla="val 600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rot="10800000">
        <a:off x="1379937" y="1505957"/>
        <a:ext cx="124150" cy="170567"/>
      </dsp:txXfrm>
    </dsp:sp>
    <dsp:sp modelId="{EDDA9392-2743-45DD-995C-86F946D99578}">
      <dsp:nvSpPr>
        <dsp:cNvPr id="0" name=""/>
        <dsp:cNvSpPr/>
      </dsp:nvSpPr>
      <dsp:spPr>
        <a:xfrm>
          <a:off x="406954" y="1173182"/>
          <a:ext cx="836117" cy="836117"/>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altLang="zh-CN" sz="3500" kern="1200" dirty="0"/>
            <a:t>B</a:t>
          </a:r>
          <a:endParaRPr lang="zh-CN" altLang="en-US" sz="3500" kern="1200" dirty="0"/>
        </a:p>
      </dsp:txBody>
      <dsp:txXfrm>
        <a:off x="529400" y="1295628"/>
        <a:ext cx="591225" cy="591225"/>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43238" cy="466725"/>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latinLnBrk="0">
              <a:defRPr lang="zh-CN" sz="1200"/>
            </a:lvl1pPr>
          </a:lstStyle>
          <a:p>
            <a:fld id="{E574AC39-44E6-425E-AF49-CF7D189F346F}" type="datetimeFigureOut">
              <a:rPr lang="en-US" altLang="zh-CN" smtClean="0">
                <a:ea typeface="Microsoft YaHei UI" panose="020B0503020204020204" pitchFamily="34" charset="-122"/>
              </a:rPr>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latinLnBrk="0">
              <a:defRPr lang="zh-CN" sz="1200"/>
            </a:lvl1pPr>
          </a:lstStyle>
          <a:p>
            <a:fld id="{6320F472-929B-459B-8D82-2FABCC5B32A0}" type="slidenum">
              <a:rPr lang="zh-CN" smtClean="0">
                <a:ea typeface="Microsoft YaHei UI" panose="020B0503020204020204" pitchFamily="34" charset="-122"/>
              </a:rPr>
            </a:fld>
            <a:endParaRPr lang="zh-CN" dirty="0">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43343" cy="467072"/>
          </a:xfrm>
          <a:prstGeom prst="rect">
            <a:avLst/>
          </a:prstGeom>
        </p:spPr>
        <p:txBody>
          <a:bodyPr vert="horz" lIns="93324" tIns="46662" rIns="93324" bIns="46662"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978132" y="0"/>
            <a:ext cx="3043343" cy="467072"/>
          </a:xfrm>
          <a:prstGeom prst="rect">
            <a:avLst/>
          </a:prstGeom>
        </p:spPr>
        <p:txBody>
          <a:bodyPr vert="horz" lIns="93324" tIns="46662" rIns="93324" bIns="46662" rtlCol="0"/>
          <a:lstStyle>
            <a:lvl1pPr algn="r" latinLnBrk="0">
              <a:defRPr lang="zh-CN" sz="1200">
                <a:ea typeface="Microsoft YaHei UI" panose="020B0503020204020204" pitchFamily="34" charset="-122"/>
              </a:defRPr>
            </a:lvl1pPr>
          </a:lstStyle>
          <a:p>
            <a:fld id="{DF2775BC-6312-42C7-B7C5-EA6783C2D9CA}" type="datetimeFigureOut">
              <a:rPr lang="en-US" altLang="zh-CN" smtClean="0"/>
            </a:fld>
            <a:endParaRPr lang="zh-CN" altLang="en-US" dirty="0"/>
          </a:p>
        </p:txBody>
      </p:sp>
      <p:sp>
        <p:nvSpPr>
          <p:cNvPr id="4" name="幻灯片图像占位符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zh-CN" dirty="0"/>
          </a:p>
        </p:txBody>
      </p:sp>
      <p:sp>
        <p:nvSpPr>
          <p:cNvPr id="5" name="备注占位符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6" name="页脚占位符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latinLnBrk="0">
              <a:defRPr lang="zh-CN" sz="1200">
                <a:ea typeface="Microsoft YaHei UI" panose="020B0503020204020204" pitchFamily="34" charset="-122"/>
              </a:defRPr>
            </a:lvl1pPr>
          </a:lstStyle>
          <a:p>
            <a:fld id="{67F715A1-4ADC-44E0-9587-804FF39D6B22}" type="slidenum">
              <a:rPr lang="en-US" altLang="zh-CN" smtClean="0"/>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F715A1-4ADC-44E0-9587-804FF39D6B22}" type="slidenum">
              <a:rPr lang="en-US" altLang="zh-CN" smtClean="0"/>
            </a:fld>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F715A1-4ADC-44E0-9587-804FF39D6B22}" type="slidenum">
              <a:rPr lang="en-US" altLang="zh-CN" smtClean="0"/>
            </a:fld>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F715A1-4ADC-44E0-9587-804FF39D6B22}" type="slidenum">
              <a:rPr lang="en-US" altLang="zh-CN" smtClean="0"/>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F715A1-4ADC-44E0-9587-804FF39D6B22}" type="slidenum">
              <a:rPr lang="en-US" altLang="zh-CN" smtClean="0"/>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54955" y="1447800"/>
            <a:ext cx="8825658" cy="3329581"/>
          </a:xfrm>
        </p:spPr>
        <p:txBody>
          <a:bodyPr anchor="b"/>
          <a:lstStyle>
            <a:lvl1pPr latinLnBrk="0">
              <a:defRPr lang="zh-CN" sz="7200"/>
            </a:lvl1pPr>
          </a:lstStyle>
          <a:p>
            <a:r>
              <a:rPr lang="zh-CN" altLang="en-US"/>
              <a:t>单击此处编辑母版标题样式</a:t>
            </a:r>
            <a:endParaRPr lang="zh-CN" dirty="0"/>
          </a:p>
        </p:txBody>
      </p:sp>
      <p:sp>
        <p:nvSpPr>
          <p:cNvPr id="3" name="副标题 2"/>
          <p:cNvSpPr>
            <a:spLocks noGrp="1"/>
          </p:cNvSpPr>
          <p:nvPr>
            <p:ph type="subTitle" idx="1" hasCustomPrompt="1"/>
          </p:nvPr>
        </p:nvSpPr>
        <p:spPr>
          <a:xfrm>
            <a:off x="1154955" y="4777380"/>
            <a:ext cx="8825658" cy="861420"/>
          </a:xfrm>
        </p:spPr>
        <p:txBody>
          <a:bodyPr anchor="t"/>
          <a:lstStyle>
            <a:lvl1pPr marL="0" indent="0" algn="l" latinLnBrk="0">
              <a:buNone/>
              <a:defRPr lang="zh-CN" cap="all">
                <a:solidFill>
                  <a:schemeClr val="accent1"/>
                </a:solidFill>
              </a:defRPr>
            </a:lvl1pPr>
            <a:lvl2pPr marL="457200" indent="0" algn="ctr" latinLnBrk="0">
              <a:buNone/>
              <a:defRPr lang="zh-CN">
                <a:solidFill>
                  <a:schemeClr val="tx1">
                    <a:tint val="75000"/>
                  </a:schemeClr>
                </a:solidFill>
              </a:defRPr>
            </a:lvl2pPr>
            <a:lvl3pPr marL="914400" indent="0" algn="ctr" latinLnBrk="0">
              <a:buNone/>
              <a:defRPr lang="zh-CN">
                <a:solidFill>
                  <a:schemeClr val="tx1">
                    <a:tint val="75000"/>
                  </a:schemeClr>
                </a:solidFill>
              </a:defRPr>
            </a:lvl3pPr>
            <a:lvl4pPr marL="1371600" indent="0" algn="ctr" latinLnBrk="0">
              <a:buNone/>
              <a:defRPr lang="zh-CN">
                <a:solidFill>
                  <a:schemeClr val="tx1">
                    <a:tint val="75000"/>
                  </a:schemeClr>
                </a:solidFill>
              </a:defRPr>
            </a:lvl4pPr>
            <a:lvl5pPr marL="1828800" indent="0" algn="ctr" latinLnBrk="0">
              <a:buNone/>
              <a:defRPr lang="zh-CN">
                <a:solidFill>
                  <a:schemeClr val="tx1">
                    <a:tint val="75000"/>
                  </a:schemeClr>
                </a:solidFill>
              </a:defRPr>
            </a:lvl5pPr>
            <a:lvl6pPr marL="2286000" indent="0" algn="ctr" latinLnBrk="0">
              <a:buNone/>
              <a:defRPr lang="zh-CN">
                <a:solidFill>
                  <a:schemeClr val="tx1">
                    <a:tint val="75000"/>
                  </a:schemeClr>
                </a:solidFill>
              </a:defRPr>
            </a:lvl6pPr>
            <a:lvl7pPr marL="2743200" indent="0" algn="ctr" latinLnBrk="0">
              <a:buNone/>
              <a:defRPr lang="zh-CN">
                <a:solidFill>
                  <a:schemeClr val="tx1">
                    <a:tint val="75000"/>
                  </a:schemeClr>
                </a:solidFill>
              </a:defRPr>
            </a:lvl7pPr>
            <a:lvl8pPr marL="3200400" indent="0" algn="ctr" latinLnBrk="0">
              <a:buNone/>
              <a:defRPr lang="zh-CN">
                <a:solidFill>
                  <a:schemeClr val="tx1">
                    <a:tint val="75000"/>
                  </a:schemeClr>
                </a:solidFill>
              </a:defRPr>
            </a:lvl8pPr>
            <a:lvl9pPr marL="3657600" indent="0" algn="ctr" latinLnBrk="0">
              <a:buNone/>
              <a:defRPr lang="zh-CN">
                <a:solidFill>
                  <a:schemeClr val="tx1">
                    <a:tint val="75000"/>
                  </a:schemeClr>
                </a:solidFill>
              </a:defRPr>
            </a:lvl9pPr>
          </a:lstStyle>
          <a:p>
            <a:r>
              <a:rPr lang="zh-CN" altLang="en-US"/>
              <a:t>单击以编辑母版副标题样式</a:t>
            </a:r>
            <a:endParaRPr lang="zh-CN" dirty="0"/>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dirty="0"/>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dirty="0"/>
          </a:p>
        </p:txBody>
      </p:sp>
      <p:sp>
        <p:nvSpPr>
          <p:cNvPr id="7" name="日期占位符 6"/>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54956" y="2861733"/>
            <a:ext cx="8825657" cy="1915647"/>
          </a:xfrm>
        </p:spPr>
        <p:txBody>
          <a:bodyPr anchor="b"/>
          <a:lstStyle>
            <a:lvl1pPr algn="l" latinLnBrk="0">
              <a:defRPr lang="zh-CN" sz="4000" b="0" cap="none"/>
            </a:lvl1pPr>
          </a:lstStyle>
          <a:p>
            <a:r>
              <a:rPr lang="zh-CN" altLang="en-US"/>
              <a:t>单击此处编辑母版标题样式</a:t>
            </a:r>
            <a:endParaRPr lang="zh-CN"/>
          </a:p>
        </p:txBody>
      </p:sp>
      <p:sp>
        <p:nvSpPr>
          <p:cNvPr id="3" name="文本占位符 2"/>
          <p:cNvSpPr>
            <a:spLocks noGrp="1"/>
          </p:cNvSpPr>
          <p:nvPr>
            <p:ph type="body" idx="1" hasCustomPrompt="1"/>
          </p:nvPr>
        </p:nvSpPr>
        <p:spPr>
          <a:xfrm>
            <a:off x="1154955" y="4777381"/>
            <a:ext cx="8825658" cy="860400"/>
          </a:xfrm>
        </p:spPr>
        <p:txBody>
          <a:bodyPr anchor="t"/>
          <a:lstStyle>
            <a:lvl1pPr marL="0" indent="0" algn="l" latinLnBrk="0">
              <a:buNone/>
              <a:defRPr lang="zh-CN" sz="2000" cap="all">
                <a:solidFill>
                  <a:schemeClr val="accent1"/>
                </a:solidFill>
              </a:defRPr>
            </a:lvl1pPr>
            <a:lvl2pPr marL="457200" indent="0" latinLnBrk="0">
              <a:buNone/>
              <a:defRPr lang="zh-CN" sz="1800">
                <a:solidFill>
                  <a:schemeClr val="tx1">
                    <a:tint val="75000"/>
                  </a:schemeClr>
                </a:solidFill>
              </a:defRPr>
            </a:lvl2pPr>
            <a:lvl3pPr marL="914400" indent="0" latinLnBrk="0">
              <a:buNone/>
              <a:defRPr lang="zh-CN" sz="1600">
                <a:solidFill>
                  <a:schemeClr val="tx1">
                    <a:tint val="75000"/>
                  </a:schemeClr>
                </a:solidFill>
              </a:defRPr>
            </a:lvl3pPr>
            <a:lvl4pPr marL="1371600" indent="0" latinLnBrk="0">
              <a:buNone/>
              <a:defRPr lang="zh-CN" sz="1400">
                <a:solidFill>
                  <a:schemeClr val="tx1">
                    <a:tint val="75000"/>
                  </a:schemeClr>
                </a:solidFill>
              </a:defRPr>
            </a:lvl4pPr>
            <a:lvl5pPr marL="1828800" indent="0" latinLnBrk="0">
              <a:buNone/>
              <a:defRPr lang="zh-CN" sz="1400">
                <a:solidFill>
                  <a:schemeClr val="tx1">
                    <a:tint val="75000"/>
                  </a:schemeClr>
                </a:solidFill>
              </a:defRPr>
            </a:lvl5pPr>
            <a:lvl6pPr marL="2286000" indent="0" latinLnBrk="0">
              <a:buNone/>
              <a:defRPr lang="zh-CN" sz="1400">
                <a:solidFill>
                  <a:schemeClr val="tx1">
                    <a:tint val="75000"/>
                  </a:schemeClr>
                </a:solidFill>
              </a:defRPr>
            </a:lvl6pPr>
            <a:lvl7pPr marL="2743200" indent="0" latinLnBrk="0">
              <a:buNone/>
              <a:defRPr lang="zh-CN" sz="1400">
                <a:solidFill>
                  <a:schemeClr val="tx1">
                    <a:tint val="75000"/>
                  </a:schemeClr>
                </a:solidFill>
              </a:defRPr>
            </a:lvl7pPr>
            <a:lvl8pPr marL="3200400" indent="0" latinLnBrk="0">
              <a:buNone/>
              <a:defRPr lang="zh-CN" sz="1400">
                <a:solidFill>
                  <a:schemeClr val="tx1">
                    <a:tint val="75000"/>
                  </a:schemeClr>
                </a:solidFill>
              </a:defRPr>
            </a:lvl8pPr>
            <a:lvl9pPr marL="3657600" indent="0" latinLnBrk="0">
              <a:buNone/>
              <a:defRPr lang="zh-CN" sz="14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内容占位符 2"/>
          <p:cNvSpPr>
            <a:spLocks noGrp="1"/>
          </p:cNvSpPr>
          <p:nvPr>
            <p:ph sz="half" idx="1" hasCustomPrompt="1"/>
          </p:nvPr>
        </p:nvSpPr>
        <p:spPr>
          <a:xfrm>
            <a:off x="1103312" y="2060575"/>
            <a:ext cx="4396339" cy="4195763"/>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dirty="0"/>
          </a:p>
        </p:txBody>
      </p:sp>
      <p:sp>
        <p:nvSpPr>
          <p:cNvPr id="4" name="内容占位符 3"/>
          <p:cNvSpPr>
            <a:spLocks noGrp="1"/>
          </p:cNvSpPr>
          <p:nvPr>
            <p:ph sz="half" idx="2" hasCustomPrompt="1"/>
          </p:nvPr>
        </p:nvSpPr>
        <p:spPr>
          <a:xfrm>
            <a:off x="5654493" y="2056092"/>
            <a:ext cx="4396341" cy="4200245"/>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dirty="0"/>
          </a:p>
        </p:txBody>
      </p:sp>
      <p:sp>
        <p:nvSpPr>
          <p:cNvPr id="5" name="日期占位符 4"/>
          <p:cNvSpPr>
            <a:spLocks noGrp="1"/>
          </p:cNvSpPr>
          <p:nvPr>
            <p:ph type="dt" sz="half" idx="10"/>
          </p:nvPr>
        </p:nvSpPr>
        <p:spPr/>
        <p:txBody>
          <a:bodyPr/>
          <a:lstStyle/>
          <a:p>
            <a:fld id="{40FF0622-75E4-48B8-A617-5428CA5926CE}"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latinLnBrk="0">
              <a:defRPr lang="zh-CN"/>
            </a:lvl1pPr>
          </a:lstStyle>
          <a:p>
            <a:r>
              <a:rPr lang="zh-CN" altLang="en-US"/>
              <a:t>单击此处编辑母版标题样式</a:t>
            </a:r>
            <a:endParaRPr lang="zh-CN"/>
          </a:p>
        </p:txBody>
      </p:sp>
      <p:sp>
        <p:nvSpPr>
          <p:cNvPr id="3" name="文本占位符 2"/>
          <p:cNvSpPr>
            <a:spLocks noGrp="1"/>
          </p:cNvSpPr>
          <p:nvPr>
            <p:ph type="body" idx="1" hasCustomPrompt="1"/>
          </p:nvPr>
        </p:nvSpPr>
        <p:spPr>
          <a:xfrm>
            <a:off x="1103313" y="1905000"/>
            <a:ext cx="4396338"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1103312" y="2514600"/>
            <a:ext cx="4396339" cy="3741738"/>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dirty="0"/>
          </a:p>
        </p:txBody>
      </p:sp>
      <p:sp>
        <p:nvSpPr>
          <p:cNvPr id="5" name="文本占位符 4"/>
          <p:cNvSpPr>
            <a:spLocks noGrp="1"/>
          </p:cNvSpPr>
          <p:nvPr>
            <p:ph type="body" sz="quarter" idx="3" hasCustomPrompt="1"/>
          </p:nvPr>
        </p:nvSpPr>
        <p:spPr>
          <a:xfrm>
            <a:off x="5654495" y="1905000"/>
            <a:ext cx="4396339"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5654495" y="2514600"/>
            <a:ext cx="4396339" cy="3741738"/>
          </a:xfrm>
        </p:spPr>
        <p:txBody>
          <a:bodyPr>
            <a:normAutofit/>
          </a:bodyPr>
          <a:lstStyle>
            <a:lvl1pPr latinLnBrk="0">
              <a:defRPr lang="zh-CN" sz="1800"/>
            </a:lvl1pPr>
            <a:lvl2pPr latinLnBrk="0">
              <a:defRPr lang="zh-CN" sz="1600"/>
            </a:lvl2pPr>
            <a:lvl3pPr latinLnBrk="0">
              <a:defRPr lang="zh-CN" sz="1400"/>
            </a:lvl3pPr>
            <a:lvl4pPr latinLnBrk="0">
              <a:defRPr lang="zh-CN" sz="1200"/>
            </a:lvl4pPr>
            <a:lvl5pPr latinLnBrk="0">
              <a:defRPr lang="zh-CN" sz="1200"/>
            </a:lvl5pPr>
            <a:lvl6pPr latinLnBrk="0">
              <a:defRPr lang="zh-CN" sz="1200"/>
            </a:lvl6pPr>
            <a:lvl7pPr latinLnBrk="0">
              <a:defRPr lang="zh-CN" sz="1200"/>
            </a:lvl7pPr>
            <a:lvl8pPr latinLnBrk="0">
              <a:defRPr lang="zh-CN" sz="1200"/>
            </a:lvl8pPr>
            <a:lvl9pPr latinLnBrk="0">
              <a:defRPr lang="zh-CN" sz="12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dirty="0"/>
          </a:p>
        </p:txBody>
      </p:sp>
      <p:sp>
        <p:nvSpPr>
          <p:cNvPr id="7" name="日期占位符 6"/>
          <p:cNvSpPr>
            <a:spLocks noGrp="1"/>
          </p:cNvSpPr>
          <p:nvPr>
            <p:ph type="dt" sz="half" idx="10"/>
          </p:nvPr>
        </p:nvSpPr>
        <p:spPr/>
        <p:txBody>
          <a:bodyPr/>
          <a:lstStyle/>
          <a:p>
            <a:fld id="{40FF0622-75E4-48B8-A617-5428CA5926CE}" type="datetimeFigureOut">
              <a:rPr/>
            </a:fld>
            <a:endParaRPr lang="zh-CN"/>
          </a:p>
        </p:txBody>
      </p:sp>
      <p:sp>
        <p:nvSpPr>
          <p:cNvPr id="8" name="页脚占位符 7"/>
          <p:cNvSpPr>
            <a:spLocks noGrp="1"/>
          </p:cNvSpPr>
          <p:nvPr>
            <p:ph type="ftr" sz="quarter" idx="11"/>
          </p:nvPr>
        </p:nvSpPr>
        <p:spPr/>
        <p:txBody>
          <a:bodyPr/>
          <a:lstStyle/>
          <a:p>
            <a:endParaRPr lang="zh-CN"/>
          </a:p>
        </p:txBody>
      </p:sp>
      <p:sp>
        <p:nvSpPr>
          <p:cNvPr id="9" name="幻灯片编号占位符 8"/>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7" name="日期占位符 2"/>
          <p:cNvSpPr>
            <a:spLocks noGrp="1"/>
          </p:cNvSpPr>
          <p:nvPr>
            <p:ph type="dt" sz="half" idx="10"/>
          </p:nvPr>
        </p:nvSpPr>
        <p:spPr/>
        <p:txBody>
          <a:bodyPr/>
          <a:lstStyle/>
          <a:p>
            <a:fld id="{40FF0622-75E4-48B8-A617-5428CA5926CE}" type="datetimeFigureOut">
              <a:rPr/>
            </a:fld>
            <a:endParaRPr lang="zh-CN"/>
          </a:p>
        </p:txBody>
      </p:sp>
      <p:sp>
        <p:nvSpPr>
          <p:cNvPr id="5" name="页脚占位符 3"/>
          <p:cNvSpPr>
            <a:spLocks noGrp="1"/>
          </p:cNvSpPr>
          <p:nvPr>
            <p:ph type="ftr" sz="quarter" idx="11"/>
          </p:nvPr>
        </p:nvSpPr>
        <p:spPr/>
        <p:txBody>
          <a:bodyPr/>
          <a:lstStyle/>
          <a:p>
            <a:endParaRPr lang="zh-CN"/>
          </a:p>
        </p:txBody>
      </p:sp>
      <p:sp>
        <p:nvSpPr>
          <p:cNvPr id="6" name="幻灯片编号占位符 4"/>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日期占位符 1"/>
          <p:cNvSpPr>
            <a:spLocks noGrp="1"/>
          </p:cNvSpPr>
          <p:nvPr>
            <p:ph type="dt" sz="half" idx="10"/>
          </p:nvPr>
        </p:nvSpPr>
        <p:spPr/>
        <p:txBody>
          <a:bodyPr/>
          <a:lstStyle/>
          <a:p>
            <a:fld id="{40FF0622-75E4-48B8-A617-5428CA5926CE}" type="datetimeFigureOut">
              <a:rPr/>
            </a:fld>
            <a:endParaRPr lang="zh-CN"/>
          </a:p>
        </p:txBody>
      </p:sp>
      <p:sp>
        <p:nvSpPr>
          <p:cNvPr id="5" name="页脚占位符 2"/>
          <p:cNvSpPr>
            <a:spLocks noGrp="1"/>
          </p:cNvSpPr>
          <p:nvPr>
            <p:ph type="ftr" sz="quarter" idx="11"/>
          </p:nvPr>
        </p:nvSpPr>
        <p:spPr/>
        <p:txBody>
          <a:bodyPr/>
          <a:lstStyle/>
          <a:p>
            <a:endParaRPr lang="zh-CN"/>
          </a:p>
        </p:txBody>
      </p:sp>
      <p:sp>
        <p:nvSpPr>
          <p:cNvPr id="6" name="幻灯片编号占位符 3"/>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题注">
    <p:spTree>
      <p:nvGrpSpPr>
        <p:cNvPr id="1" name=""/>
        <p:cNvGrpSpPr/>
        <p:nvPr/>
      </p:nvGrpSpPr>
      <p:grpSpPr>
        <a:xfrm>
          <a:off x="0" y="0"/>
          <a:ext cx="0" cy="0"/>
          <a:chOff x="0" y="0"/>
          <a:chExt cx="0" cy="0"/>
        </a:xfrm>
      </p:grpSpPr>
      <p:sp>
        <p:nvSpPr>
          <p:cNvPr id="2" name="标题 1"/>
          <p:cNvSpPr>
            <a:spLocks noGrp="1"/>
          </p:cNvSpPr>
          <p:nvPr>
            <p:ph type="title"/>
          </p:nvPr>
        </p:nvSpPr>
        <p:spPr>
          <a:xfrm>
            <a:off x="1154954" y="1447800"/>
            <a:ext cx="3401064" cy="1447800"/>
          </a:xfrm>
        </p:spPr>
        <p:txBody>
          <a:bodyPr anchor="b"/>
          <a:lstStyle>
            <a:lvl1pPr algn="l" latinLnBrk="0">
              <a:defRPr lang="zh-CN" sz="2400" b="0"/>
            </a:lvl1pPr>
          </a:lstStyle>
          <a:p>
            <a:r>
              <a:rPr lang="zh-CN" altLang="en-US"/>
              <a:t>单击此处编辑母版标题样式</a:t>
            </a:r>
            <a:endParaRPr lang="zh-CN"/>
          </a:p>
        </p:txBody>
      </p:sp>
      <p:sp>
        <p:nvSpPr>
          <p:cNvPr id="3" name="内容占位符 2"/>
          <p:cNvSpPr>
            <a:spLocks noGrp="1"/>
          </p:cNvSpPr>
          <p:nvPr>
            <p:ph idx="1" hasCustomPrompt="1"/>
          </p:nvPr>
        </p:nvSpPr>
        <p:spPr>
          <a:xfrm>
            <a:off x="4784616" y="1447800"/>
            <a:ext cx="5195997" cy="4572000"/>
          </a:xfrm>
        </p:spPr>
        <p:txBody>
          <a:bodyPr anchor="ct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400"/>
            </a:lvl6pPr>
            <a:lvl7pPr latinLnBrk="0">
              <a:defRPr lang="zh-CN" sz="1400"/>
            </a:lvl7pPr>
            <a:lvl8pPr latinLnBrk="0">
              <a:defRPr lang="zh-CN" sz="1400"/>
            </a:lvl8pPr>
            <a:lvl9pPr latinLnBrk="0">
              <a:defRPr lang="zh-CN" sz="14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4" name="文本占位符 3"/>
          <p:cNvSpPr>
            <a:spLocks noGrp="1"/>
          </p:cNvSpPr>
          <p:nvPr>
            <p:ph type="body" sz="half" idx="2" hasCustomPrompt="1"/>
          </p:nvPr>
        </p:nvSpPr>
        <p:spPr>
          <a:xfrm>
            <a:off x="1154954" y="3129280"/>
            <a:ext cx="3401063" cy="2895599"/>
          </a:xfrm>
        </p:spPr>
        <p:txBody>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7" name="日期占位符 4"/>
          <p:cNvSpPr>
            <a:spLocks noGrp="1"/>
          </p:cNvSpPr>
          <p:nvPr>
            <p:ph type="dt" sz="half" idx="10"/>
          </p:nvPr>
        </p:nvSpPr>
        <p:spPr/>
        <p:txBody>
          <a:bodyPr/>
          <a:lstStyle/>
          <a:p>
            <a:fld id="{40FF0622-75E4-48B8-A617-5428CA5926CE}" type="datetimeFigureOut">
              <a:rPr/>
            </a:fld>
            <a:endParaRPr lang="zh-CN"/>
          </a:p>
        </p:txBody>
      </p:sp>
      <p:sp>
        <p:nvSpPr>
          <p:cNvPr id="5" name="页脚占位符 5"/>
          <p:cNvSpPr>
            <a:spLocks noGrp="1"/>
          </p:cNvSpPr>
          <p:nvPr>
            <p:ph type="ftr" sz="quarter" idx="11"/>
          </p:nvPr>
        </p:nvSpPr>
        <p:spPr/>
        <p:txBody>
          <a:bodyPr/>
          <a:lstStyle/>
          <a:p>
            <a:endParaRPr lang="zh-CN"/>
          </a:p>
        </p:txBody>
      </p:sp>
      <p:sp>
        <p:nvSpPr>
          <p:cNvPr id="6"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题注">
    <p:spTree>
      <p:nvGrpSpPr>
        <p:cNvPr id="1" name=""/>
        <p:cNvGrpSpPr/>
        <p:nvPr/>
      </p:nvGrpSpPr>
      <p:grpSpPr>
        <a:xfrm>
          <a:off x="0" y="0"/>
          <a:ext cx="0" cy="0"/>
          <a:chOff x="0" y="0"/>
          <a:chExt cx="0" cy="0"/>
        </a:xfrm>
      </p:grpSpPr>
      <p:sp>
        <p:nvSpPr>
          <p:cNvPr id="2" name="标题 1"/>
          <p:cNvSpPr>
            <a:spLocks noGrp="1"/>
          </p:cNvSpPr>
          <p:nvPr>
            <p:ph type="title"/>
          </p:nvPr>
        </p:nvSpPr>
        <p:spPr>
          <a:xfrm>
            <a:off x="1153907" y="1854192"/>
            <a:ext cx="5092906" cy="1574808"/>
          </a:xfrm>
        </p:spPr>
        <p:txBody>
          <a:bodyPr anchor="b">
            <a:normAutofit/>
          </a:bodyPr>
          <a:lstStyle>
            <a:lvl1pPr algn="l" latinLnBrk="0">
              <a:defRPr lang="zh-CN" sz="3600" b="0"/>
            </a:lvl1pPr>
          </a:lstStyle>
          <a:p>
            <a:r>
              <a:rPr lang="zh-CN" altLang="en-US"/>
              <a:t>单击此处编辑母版标题样式</a:t>
            </a:r>
            <a:endParaRPr lang="zh-CN"/>
          </a:p>
        </p:txBody>
      </p:sp>
      <p:sp>
        <p:nvSpPr>
          <p:cNvPr id="3" name="图片占位符 2"/>
          <p:cNvSpPr>
            <a:spLocks noGrp="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a:t>单击图标添加图片</a:t>
            </a:r>
            <a:endParaRPr lang="zh-CN"/>
          </a:p>
        </p:txBody>
      </p:sp>
      <p:sp>
        <p:nvSpPr>
          <p:cNvPr id="4" name="文本占位符 3"/>
          <p:cNvSpPr>
            <a:spLocks noGrp="1"/>
          </p:cNvSpPr>
          <p:nvPr>
            <p:ph type="body" sz="half" idx="2" hasCustomPrompt="1"/>
          </p:nvPr>
        </p:nvSpPr>
        <p:spPr>
          <a:xfrm>
            <a:off x="1154954" y="3657600"/>
            <a:ext cx="5084979" cy="1371600"/>
          </a:xfrm>
        </p:spPr>
        <p:txBody>
          <a:bodyPr>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FF0622-75E4-48B8-A617-5428CA5926CE}"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全景图片与题注">
    <p:spTree>
      <p:nvGrpSpPr>
        <p:cNvPr id="1" name=""/>
        <p:cNvGrpSpPr/>
        <p:nvPr/>
      </p:nvGrpSpPr>
      <p:grpSpPr>
        <a:xfrm>
          <a:off x="0" y="0"/>
          <a:ext cx="0" cy="0"/>
          <a:chOff x="0" y="0"/>
          <a:chExt cx="0" cy="0"/>
        </a:xfrm>
      </p:grpSpPr>
      <p:sp>
        <p:nvSpPr>
          <p:cNvPr id="2" name="标题 1"/>
          <p:cNvSpPr>
            <a:spLocks noGrp="1"/>
          </p:cNvSpPr>
          <p:nvPr>
            <p:ph type="title"/>
          </p:nvPr>
        </p:nvSpPr>
        <p:spPr>
          <a:xfrm>
            <a:off x="1154956" y="4800587"/>
            <a:ext cx="8825657" cy="566738"/>
          </a:xfrm>
        </p:spPr>
        <p:txBody>
          <a:bodyPr anchor="b">
            <a:normAutofit/>
          </a:bodyPr>
          <a:lstStyle>
            <a:lvl1pPr algn="l" latinLnBrk="0">
              <a:defRPr lang="zh-CN" sz="2400" b="0"/>
            </a:lvl1pPr>
          </a:lstStyle>
          <a:p>
            <a:r>
              <a:rPr lang="zh-CN" altLang="en-US"/>
              <a:t>单击此处编辑母版标题样式</a:t>
            </a:r>
            <a:endParaRPr lang="zh-CN"/>
          </a:p>
        </p:txBody>
      </p:sp>
      <p:sp>
        <p:nvSpPr>
          <p:cNvPr id="3" name="图片占位符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a:t>单击图标添加图片</a:t>
            </a:r>
            <a:endParaRPr lang="zh-CN"/>
          </a:p>
        </p:txBody>
      </p:sp>
      <p:sp>
        <p:nvSpPr>
          <p:cNvPr id="4" name="文本占位符 3"/>
          <p:cNvSpPr>
            <a:spLocks noGrp="1"/>
          </p:cNvSpPr>
          <p:nvPr>
            <p:ph type="body" sz="half" idx="2" hasCustomPrompt="1"/>
          </p:nvPr>
        </p:nvSpPr>
        <p:spPr>
          <a:xfrm>
            <a:off x="1154956" y="5367325"/>
            <a:ext cx="8825656" cy="493712"/>
          </a:xfrm>
        </p:spPr>
        <p:txBody>
          <a:bodyPr>
            <a:normAutofit/>
          </a:bodyPr>
          <a:lstStyle>
            <a:lvl1pPr marL="0" indent="0" latinLnBrk="0">
              <a:buNone/>
              <a:defRPr lang="zh-CN" sz="12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FF0622-75E4-48B8-A617-5428CA5926CE}"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题注">
    <p:spTree>
      <p:nvGrpSpPr>
        <p:cNvPr id="1" name=""/>
        <p:cNvGrpSpPr/>
        <p:nvPr/>
      </p:nvGrpSpPr>
      <p:grpSpPr>
        <a:xfrm>
          <a:off x="0" y="0"/>
          <a:ext cx="0" cy="0"/>
          <a:chOff x="0" y="0"/>
          <a:chExt cx="0" cy="0"/>
        </a:xfrm>
      </p:grpSpPr>
      <p:sp>
        <p:nvSpPr>
          <p:cNvPr id="2" name="标题 1"/>
          <p:cNvSpPr>
            <a:spLocks noGrp="1"/>
          </p:cNvSpPr>
          <p:nvPr>
            <p:ph type="title"/>
          </p:nvPr>
        </p:nvSpPr>
        <p:spPr>
          <a:xfrm>
            <a:off x="1154954" y="1447800"/>
            <a:ext cx="8825659" cy="1981200"/>
          </a:xfrm>
        </p:spPr>
        <p:txBody>
          <a:bodyPr/>
          <a:lstStyle>
            <a:lvl1pPr latinLnBrk="0">
              <a:defRPr lang="zh-CN" sz="4800"/>
            </a:lvl1pPr>
          </a:lstStyle>
          <a:p>
            <a:r>
              <a:rPr lang="zh-CN" altLang="en-US"/>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8" name="文本占位符 3"/>
          <p:cNvSpPr>
            <a:spLocks noGrp="1"/>
          </p:cNvSpPr>
          <p:nvPr>
            <p:ph type="body" sz="half" idx="2" hasCustomPrompt="1"/>
          </p:nvPr>
        </p:nvSpPr>
        <p:spPr>
          <a:xfrm>
            <a:off x="1154954" y="3657600"/>
            <a:ext cx="8825659" cy="2362200"/>
          </a:xfrm>
        </p:spPr>
        <p:txBody>
          <a:bodyPr anchor="ctr">
            <a:normAutofit/>
          </a:bodyPr>
          <a:lstStyle>
            <a:lvl1pPr marL="0" indent="0" latinLnBrk="0">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言与题注">
    <p:spTree>
      <p:nvGrpSpPr>
        <p:cNvPr id="1" name=""/>
        <p:cNvGrpSpPr/>
        <p:nvPr/>
      </p:nvGrpSpPr>
      <p:grpSpPr>
        <a:xfrm>
          <a:off x="0" y="0"/>
          <a:ext cx="0" cy="0"/>
          <a:chOff x="0" y="0"/>
          <a:chExt cx="0" cy="0"/>
        </a:xfrm>
      </p:grpSpPr>
      <p:sp>
        <p:nvSpPr>
          <p:cNvPr id="2" name="标题 1"/>
          <p:cNvSpPr>
            <a:spLocks noGrp="1"/>
          </p:cNvSpPr>
          <p:nvPr>
            <p:ph type="title"/>
          </p:nvPr>
        </p:nvSpPr>
        <p:spPr>
          <a:xfrm>
            <a:off x="1574801" y="1447800"/>
            <a:ext cx="7999315" cy="2323374"/>
          </a:xfrm>
        </p:spPr>
        <p:txBody>
          <a:bodyPr/>
          <a:lstStyle>
            <a:lvl1pPr latinLnBrk="0">
              <a:defRPr lang="zh-CN" sz="4800"/>
            </a:lvl1pPr>
          </a:lstStyle>
          <a:p>
            <a:r>
              <a:rPr lang="zh-CN" altLang="en-US"/>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10" name="文本占位符 3"/>
          <p:cNvSpPr>
            <a:spLocks noGrp="1"/>
          </p:cNvSpPr>
          <p:nvPr>
            <p:ph type="body" sz="half" idx="2" hasCustomPrompt="1"/>
          </p:nvPr>
        </p:nvSpPr>
        <p:spPr>
          <a:xfrm>
            <a:off x="1154954" y="4350657"/>
            <a:ext cx="8825659" cy="1676400"/>
          </a:xfrm>
        </p:spPr>
        <p:txBody>
          <a:bodyPr anchor="ctr">
            <a:normAutofit/>
          </a:bodyPr>
          <a:lstStyle>
            <a:lvl1pPr marL="0" indent="0" latinLnBrk="0">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14" name="文本占位符 3"/>
          <p:cNvSpPr>
            <a:spLocks noGrp="1"/>
          </p:cNvSpPr>
          <p:nvPr>
            <p:ph type="body" sz="half" idx="13" hasCustomPrompt="1"/>
          </p:nvPr>
        </p:nvSpPr>
        <p:spPr>
          <a:xfrm>
            <a:off x="1930400" y="3771174"/>
            <a:ext cx="7385828" cy="342174"/>
          </a:xfrm>
        </p:spPr>
        <p:txBody>
          <a:bodyPr anchor="t">
            <a:normAutofit/>
          </a:bodyPr>
          <a:lstStyle>
            <a:lvl1pPr marL="0" indent="0" latinLnBrk="0">
              <a:buNone/>
              <a:defRPr lang="zh-CN" sz="1400" b="0" kern="1200" cap="small">
                <a:solidFill>
                  <a:schemeClr val="accent1"/>
                </a:solidFill>
                <a:latin typeface="+mj-lt"/>
                <a:ea typeface="Microsoft YaHei UI" panose="020B0503020204020204" pitchFamily="34" charset="-122"/>
                <a:cs typeface="+mj-cs"/>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11" name="文本框 10"/>
          <p:cNvSpPr txBox="1"/>
          <p:nvPr/>
        </p:nvSpPr>
        <p:spPr>
          <a:xfrm>
            <a:off x="898295" y="971253"/>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
        <p:nvSpPr>
          <p:cNvPr id="13" name="文本框 12"/>
          <p:cNvSpPr txBox="1"/>
          <p:nvPr/>
        </p:nvSpPr>
        <p:spPr>
          <a:xfrm>
            <a:off x="9330490" y="2613787"/>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名片">
    <p:spTree>
      <p:nvGrpSpPr>
        <p:cNvPr id="1" name=""/>
        <p:cNvGrpSpPr/>
        <p:nvPr/>
      </p:nvGrpSpPr>
      <p:grpSpPr>
        <a:xfrm>
          <a:off x="0" y="0"/>
          <a:ext cx="0" cy="0"/>
          <a:chOff x="0" y="0"/>
          <a:chExt cx="0" cy="0"/>
        </a:xfrm>
      </p:grpSpPr>
      <p:sp>
        <p:nvSpPr>
          <p:cNvPr id="2" name="标题 1"/>
          <p:cNvSpPr>
            <a:spLocks noGrp="1"/>
          </p:cNvSpPr>
          <p:nvPr>
            <p:ph type="title"/>
          </p:nvPr>
        </p:nvSpPr>
        <p:spPr>
          <a:xfrm>
            <a:off x="1154954" y="3124201"/>
            <a:ext cx="8825659" cy="1653180"/>
          </a:xfrm>
        </p:spPr>
        <p:txBody>
          <a:bodyPr anchor="b"/>
          <a:lstStyle>
            <a:lvl1pPr algn="l" latinLnBrk="0">
              <a:defRPr lang="zh-CN" sz="4000" b="0" cap="none"/>
            </a:lvl1pPr>
          </a:lstStyle>
          <a:p>
            <a:r>
              <a:rPr lang="zh-CN" altLang="en-US"/>
              <a:t>单击此处编辑母版标题样式</a:t>
            </a:r>
            <a:endParaRPr lang="zh-CN"/>
          </a:p>
        </p:txBody>
      </p:sp>
      <p:sp>
        <p:nvSpPr>
          <p:cNvPr id="3" name="文本占位符 2"/>
          <p:cNvSpPr>
            <a:spLocks noGrp="1"/>
          </p:cNvSpPr>
          <p:nvPr>
            <p:ph type="body" idx="1" hasCustomPrompt="1"/>
          </p:nvPr>
        </p:nvSpPr>
        <p:spPr>
          <a:xfrm>
            <a:off x="1154955" y="4777381"/>
            <a:ext cx="8825658" cy="860400"/>
          </a:xfrm>
        </p:spPr>
        <p:txBody>
          <a:bodyPr anchor="t"/>
          <a:lstStyle>
            <a:lvl1pPr marL="0" indent="0" algn="l" latinLnBrk="0">
              <a:buNone/>
              <a:defRPr lang="zh-CN" sz="2000" cap="none">
                <a:solidFill>
                  <a:schemeClr val="accent1"/>
                </a:solidFill>
              </a:defRPr>
            </a:lvl1pPr>
            <a:lvl2pPr marL="457200" indent="0" latinLnBrk="0">
              <a:buNone/>
              <a:defRPr lang="zh-CN" sz="1800">
                <a:solidFill>
                  <a:schemeClr val="tx1">
                    <a:tint val="75000"/>
                  </a:schemeClr>
                </a:solidFill>
              </a:defRPr>
            </a:lvl2pPr>
            <a:lvl3pPr marL="914400" indent="0" latinLnBrk="0">
              <a:buNone/>
              <a:defRPr lang="zh-CN" sz="1600">
                <a:solidFill>
                  <a:schemeClr val="tx1">
                    <a:tint val="75000"/>
                  </a:schemeClr>
                </a:solidFill>
              </a:defRPr>
            </a:lvl3pPr>
            <a:lvl4pPr marL="1371600" indent="0" latinLnBrk="0">
              <a:buNone/>
              <a:defRPr lang="zh-CN" sz="1400">
                <a:solidFill>
                  <a:schemeClr val="tx1">
                    <a:tint val="75000"/>
                  </a:schemeClr>
                </a:solidFill>
              </a:defRPr>
            </a:lvl4pPr>
            <a:lvl5pPr marL="1828800" indent="0" latinLnBrk="0">
              <a:buNone/>
              <a:defRPr lang="zh-CN" sz="1400">
                <a:solidFill>
                  <a:schemeClr val="tx1">
                    <a:tint val="75000"/>
                  </a:schemeClr>
                </a:solidFill>
              </a:defRPr>
            </a:lvl5pPr>
            <a:lvl6pPr marL="2286000" indent="0" latinLnBrk="0">
              <a:buNone/>
              <a:defRPr lang="zh-CN" sz="1400">
                <a:solidFill>
                  <a:schemeClr val="tx1">
                    <a:tint val="75000"/>
                  </a:schemeClr>
                </a:solidFill>
              </a:defRPr>
            </a:lvl6pPr>
            <a:lvl7pPr marL="2743200" indent="0" latinLnBrk="0">
              <a:buNone/>
              <a:defRPr lang="zh-CN" sz="1400">
                <a:solidFill>
                  <a:schemeClr val="tx1">
                    <a:tint val="75000"/>
                  </a:schemeClr>
                </a:solidFill>
              </a:defRPr>
            </a:lvl7pPr>
            <a:lvl8pPr marL="3200400" indent="0" latinLnBrk="0">
              <a:buNone/>
              <a:defRPr lang="zh-CN" sz="1400">
                <a:solidFill>
                  <a:schemeClr val="tx1">
                    <a:tint val="75000"/>
                  </a:schemeClr>
                </a:solidFill>
              </a:defRPr>
            </a:lvl8pPr>
            <a:lvl9pPr marL="3657600" indent="0" latinLnBrk="0">
              <a:buNone/>
              <a:defRPr lang="zh-CN" sz="14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标题 1"/>
          <p:cNvSpPr>
            <a:spLocks noGrp="1"/>
          </p:cNvSpPr>
          <p:nvPr>
            <p:ph type="title"/>
          </p:nvPr>
        </p:nvSpPr>
        <p:spPr>
          <a:xfrm>
            <a:off x="1574801" y="1447800"/>
            <a:ext cx="7999315" cy="3163026"/>
          </a:xfrm>
        </p:spPr>
        <p:txBody>
          <a:bodyPr/>
          <a:lstStyle>
            <a:lvl1pPr latinLnBrk="0">
              <a:defRPr lang="zh-CN" sz="4800"/>
            </a:lvl1pPr>
          </a:lstStyle>
          <a:p>
            <a:r>
              <a:rPr lang="zh-CN" altLang="en-US"/>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8" name="文本占位符 3"/>
          <p:cNvSpPr>
            <a:spLocks noGrp="1"/>
          </p:cNvSpPr>
          <p:nvPr>
            <p:ph type="body" sz="half" idx="2" hasCustomPrompt="1"/>
          </p:nvPr>
        </p:nvSpPr>
        <p:spPr>
          <a:xfrm>
            <a:off x="1574801" y="4953000"/>
            <a:ext cx="7999315" cy="1074057"/>
          </a:xfrm>
        </p:spPr>
        <p:txBody>
          <a:bodyPr anchor="t">
            <a:normAutofit/>
          </a:bodyPr>
          <a:lstStyle>
            <a:lvl1pPr marL="0" indent="0" latinLnBrk="0">
              <a:buNone/>
              <a:defRPr lang="zh-CN" sz="1800" b="0" kern="1200">
                <a:solidFill>
                  <a:schemeClr val="accent1"/>
                </a:solidFill>
                <a:latin typeface="+mj-lt"/>
                <a:ea typeface="Microsoft YaHei UI" panose="020B0503020204020204" pitchFamily="34" charset="-122"/>
                <a:cs typeface="+mj-cs"/>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11" name="文本框 10"/>
          <p:cNvSpPr txBox="1"/>
          <p:nvPr/>
        </p:nvSpPr>
        <p:spPr>
          <a:xfrm>
            <a:off x="9334033" y="3316513"/>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
        <p:nvSpPr>
          <p:cNvPr id="14" name="文本框 13"/>
          <p:cNvSpPr txBox="1"/>
          <p:nvPr/>
        </p:nvSpPr>
        <p:spPr>
          <a:xfrm>
            <a:off x="898295" y="971253"/>
            <a:ext cx="801912" cy="1969770"/>
          </a:xfrm>
          <a:prstGeom prst="rect">
            <a:avLst/>
          </a:prstGeom>
          <a:noFill/>
        </p:spPr>
        <p:txBody>
          <a:bodyPr wrap="square" rtlCol="0">
            <a:spAutoFit/>
          </a:bodyPr>
          <a:lstStyle>
            <a:defPPr>
              <a:defRPr lang="zh-CN"/>
            </a:defPPr>
            <a:lvl1pPr algn="r" latinLnBrk="0">
              <a:defRPr lang="zh-CN" sz="12200" b="0">
                <a:solidFill>
                  <a:schemeClr val="accent1"/>
                </a:solidFill>
                <a:latin typeface="Arial" panose="020B0604020202020204"/>
                <a:ea typeface="+mj-ea"/>
                <a:cs typeface="+mj-cs"/>
              </a:defRPr>
            </a:lvl1pPr>
          </a:lstStyle>
          <a:p>
            <a:pPr lvl="0"/>
            <a:r>
              <a:rPr lang="zh-CN" dirty="0">
                <a:ea typeface="Microsoft YaHei UI" panose="020B0503020204020204" pitchFamily="34" charset="-122"/>
              </a:rPr>
              <a:t>“</a:t>
            </a:r>
            <a:endParaRPr lang="zh-CN" dirty="0">
              <a:ea typeface="Microsoft YaHei UI" panose="020B0503020204020204" pitchFamily="3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标题 1"/>
          <p:cNvSpPr>
            <a:spLocks noGrp="1"/>
          </p:cNvSpPr>
          <p:nvPr>
            <p:ph type="title"/>
          </p:nvPr>
        </p:nvSpPr>
        <p:spPr>
          <a:xfrm>
            <a:off x="1154954" y="1447800"/>
            <a:ext cx="8825659" cy="1981200"/>
          </a:xfrm>
        </p:spPr>
        <p:txBody>
          <a:bodyPr/>
          <a:lstStyle>
            <a:lvl1pPr latinLnBrk="0">
              <a:defRPr lang="zh-CN" sz="4800"/>
            </a:lvl1pPr>
          </a:lstStyle>
          <a:p>
            <a:r>
              <a:rPr lang="zh-CN" altLang="en-US"/>
              <a:t>单击此处编辑母版标题样式</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
        <p:nvSpPr>
          <p:cNvPr id="10" name="文本占位符 3"/>
          <p:cNvSpPr>
            <a:spLocks noGrp="1"/>
          </p:cNvSpPr>
          <p:nvPr>
            <p:ph type="body" sz="half" idx="2" hasCustomPrompt="1"/>
          </p:nvPr>
        </p:nvSpPr>
        <p:spPr>
          <a:xfrm>
            <a:off x="1154954" y="4350657"/>
            <a:ext cx="8825659" cy="1676400"/>
          </a:xfrm>
        </p:spPr>
        <p:txBody>
          <a:bodyPr anchor="t">
            <a:normAutofit/>
          </a:bodyPr>
          <a:lstStyle>
            <a:lvl1pPr marL="0" indent="0" latinLnBrk="0">
              <a:buNone/>
              <a:defRPr lang="zh-CN" sz="18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13" name="文本占位符 3"/>
          <p:cNvSpPr>
            <a:spLocks noGrp="1"/>
          </p:cNvSpPr>
          <p:nvPr>
            <p:ph type="body" sz="half" idx="13" hasCustomPrompt="1"/>
          </p:nvPr>
        </p:nvSpPr>
        <p:spPr>
          <a:xfrm>
            <a:off x="1154953" y="3848610"/>
            <a:ext cx="8825659" cy="588517"/>
          </a:xfrm>
        </p:spPr>
        <p:txBody>
          <a:bodyPr anchor="b">
            <a:normAutofit/>
          </a:bodyPr>
          <a:lstStyle>
            <a:lvl1pPr marL="0" indent="0" algn="l" defTabSz="457200" rtl="0" eaLnBrk="1" latinLnBrk="0" hangingPunct="1">
              <a:buNone/>
              <a:defRPr lang="zh-CN" sz="3600" b="0" kern="1200" cap="none">
                <a:solidFill>
                  <a:schemeClr val="accent1"/>
                </a:solidFill>
                <a:latin typeface="+mj-lt"/>
                <a:ea typeface="Microsoft YaHei UI" panose="020B0503020204020204" pitchFamily="34" charset="-122"/>
                <a:cs typeface="+mj-cs"/>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latinLnBrk="0">
              <a:defRPr lang="zh-CN" sz="4000"/>
            </a:lvl1pPr>
          </a:lstStyle>
          <a:p>
            <a:r>
              <a:rPr lang="zh-CN" altLang="en-US"/>
              <a:t>单击此处编辑母版标题样式</a:t>
            </a:r>
            <a:endParaRPr lang="zh-CN"/>
          </a:p>
        </p:txBody>
      </p:sp>
      <p:sp>
        <p:nvSpPr>
          <p:cNvPr id="3" name="文本占位符 2"/>
          <p:cNvSpPr>
            <a:spLocks noGrp="1"/>
          </p:cNvSpPr>
          <p:nvPr>
            <p:ph type="body" idx="1" hasCustomPrompt="1"/>
          </p:nvPr>
        </p:nvSpPr>
        <p:spPr>
          <a:xfrm>
            <a:off x="632947" y="1981200"/>
            <a:ext cx="2946866"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5" name="文本占位符 4"/>
          <p:cNvSpPr>
            <a:spLocks noGrp="1"/>
          </p:cNvSpPr>
          <p:nvPr>
            <p:ph type="body" sz="quarter" idx="3" hasCustomPrompt="1"/>
          </p:nvPr>
        </p:nvSpPr>
        <p:spPr>
          <a:xfrm>
            <a:off x="3883659" y="1981200"/>
            <a:ext cx="2936241"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14" name="文本占位符 4"/>
          <p:cNvSpPr>
            <a:spLocks noGrp="1"/>
          </p:cNvSpPr>
          <p:nvPr>
            <p:ph type="body" sz="quarter" idx="13" hasCustomPrompt="1"/>
          </p:nvPr>
        </p:nvSpPr>
        <p:spPr>
          <a:xfrm>
            <a:off x="7124700" y="1981200"/>
            <a:ext cx="2932113"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cxnSp>
        <p:nvCxnSpPr>
          <p:cNvPr id="17" name="直线连接线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直线连接线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文本占位符 3"/>
          <p:cNvSpPr>
            <a:spLocks noGrp="1"/>
          </p:cNvSpPr>
          <p:nvPr>
            <p:ph type="body" sz="half" idx="15" hasCustomPrompt="1"/>
          </p:nvPr>
        </p:nvSpPr>
        <p:spPr>
          <a:xfrm>
            <a:off x="652463" y="2667000"/>
            <a:ext cx="2927350" cy="3589338"/>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19" name="文本占位符 3"/>
          <p:cNvSpPr>
            <a:spLocks noGrp="1"/>
          </p:cNvSpPr>
          <p:nvPr>
            <p:ph type="body" sz="half" idx="16" hasCustomPrompt="1"/>
          </p:nvPr>
        </p:nvSpPr>
        <p:spPr>
          <a:xfrm>
            <a:off x="3873106" y="2667000"/>
            <a:ext cx="2946794" cy="3589338"/>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20" name="文本占位符 3"/>
          <p:cNvSpPr>
            <a:spLocks noGrp="1"/>
          </p:cNvSpPr>
          <p:nvPr>
            <p:ph type="body" sz="half" idx="17" hasCustomPrompt="1"/>
          </p:nvPr>
        </p:nvSpPr>
        <p:spPr>
          <a:xfrm>
            <a:off x="7124700" y="2667000"/>
            <a:ext cx="2932113" cy="3589338"/>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7" name="日期占位符 3"/>
          <p:cNvSpPr>
            <a:spLocks noGrp="1"/>
          </p:cNvSpPr>
          <p:nvPr>
            <p:ph type="dt" sz="half" idx="10"/>
          </p:nvPr>
        </p:nvSpPr>
        <p:spPr/>
        <p:txBody>
          <a:bodyPr/>
          <a:lstStyle/>
          <a:p>
            <a:fld id="{40FF0622-75E4-48B8-A617-5428CA5926CE}" type="datetimeFigureOut">
              <a:rPr/>
            </a:fld>
            <a:endParaRPr lang="zh-CN"/>
          </a:p>
        </p:txBody>
      </p:sp>
      <p:sp>
        <p:nvSpPr>
          <p:cNvPr id="4"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latinLnBrk="0">
              <a:defRPr lang="zh-CN" sz="4000"/>
            </a:lvl1pPr>
          </a:lstStyle>
          <a:p>
            <a:r>
              <a:rPr lang="zh-CN" altLang="en-US"/>
              <a:t>单击此处编辑母版标题样式</a:t>
            </a:r>
            <a:endParaRPr lang="zh-CN"/>
          </a:p>
        </p:txBody>
      </p:sp>
      <p:sp>
        <p:nvSpPr>
          <p:cNvPr id="3" name="文本占位符 2"/>
          <p:cNvSpPr>
            <a:spLocks noGrp="1"/>
          </p:cNvSpPr>
          <p:nvPr>
            <p:ph type="body" idx="1" hasCustomPrompt="1"/>
          </p:nvPr>
        </p:nvSpPr>
        <p:spPr>
          <a:xfrm>
            <a:off x="652463" y="4250949"/>
            <a:ext cx="2940050"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5" name="文本占位符 4"/>
          <p:cNvSpPr>
            <a:spLocks noGrp="1"/>
          </p:cNvSpPr>
          <p:nvPr>
            <p:ph type="body" sz="quarter" idx="3" hasCustomPrompt="1"/>
          </p:nvPr>
        </p:nvSpPr>
        <p:spPr>
          <a:xfrm>
            <a:off x="3889375" y="4250949"/>
            <a:ext cx="2930525"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14" name="文本占位符 4"/>
          <p:cNvSpPr>
            <a:spLocks noGrp="1"/>
          </p:cNvSpPr>
          <p:nvPr>
            <p:ph type="body" sz="quarter" idx="13" hasCustomPrompt="1"/>
          </p:nvPr>
        </p:nvSpPr>
        <p:spPr>
          <a:xfrm>
            <a:off x="7124700" y="4250949"/>
            <a:ext cx="2932113" cy="576262"/>
          </a:xfrm>
        </p:spPr>
        <p:txBody>
          <a:bodyPr anchor="b">
            <a:noAutofit/>
          </a:bodyPr>
          <a:lstStyle>
            <a:lvl1pPr marL="0" indent="0" latinLnBrk="0">
              <a:buNone/>
              <a:defRPr lang="zh-CN" sz="24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22" name="文本占位符 3"/>
          <p:cNvSpPr>
            <a:spLocks noGrp="1"/>
          </p:cNvSpPr>
          <p:nvPr>
            <p:ph type="body" sz="half" idx="18" hasCustomPrompt="1"/>
          </p:nvPr>
        </p:nvSpPr>
        <p:spPr>
          <a:xfrm>
            <a:off x="652463" y="4827211"/>
            <a:ext cx="2940050" cy="659189"/>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23" name="文本占位符 3"/>
          <p:cNvSpPr>
            <a:spLocks noGrp="1"/>
          </p:cNvSpPr>
          <p:nvPr>
            <p:ph type="body" sz="half" idx="19" hasCustomPrompt="1"/>
          </p:nvPr>
        </p:nvSpPr>
        <p:spPr>
          <a:xfrm>
            <a:off x="3888022" y="4827210"/>
            <a:ext cx="2934406" cy="659189"/>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24" name="文本占位符 3"/>
          <p:cNvSpPr>
            <a:spLocks noGrp="1"/>
          </p:cNvSpPr>
          <p:nvPr>
            <p:ph type="body" sz="half" idx="20" hasCustomPrompt="1"/>
          </p:nvPr>
        </p:nvSpPr>
        <p:spPr>
          <a:xfrm>
            <a:off x="7124575" y="4827208"/>
            <a:ext cx="2935997" cy="659189"/>
          </a:xfrm>
        </p:spPr>
        <p:txBody>
          <a:bodyPr anchor="t">
            <a:normAutofit/>
          </a:bodyPr>
          <a:lstStyle>
            <a:lvl1pPr marL="0" indent="0" latinLnBrk="0">
              <a:buNone/>
              <a:defRPr lang="zh-CN" sz="1400"/>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29" name="图片占位符 2"/>
          <p:cNvSpPr>
            <a:spLocks noGrp="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a:t>单击图标添加图片</a:t>
            </a:r>
            <a:endParaRPr lang="zh-CN"/>
          </a:p>
        </p:txBody>
      </p:sp>
      <p:sp>
        <p:nvSpPr>
          <p:cNvPr id="30" name="图片占位符 2"/>
          <p:cNvSpPr>
            <a:spLocks noGrp="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a:t>单击图标添加图片</a:t>
            </a:r>
            <a:endParaRPr lang="zh-CN"/>
          </a:p>
        </p:txBody>
      </p:sp>
      <p:sp>
        <p:nvSpPr>
          <p:cNvPr id="31" name="图片占位符 2"/>
          <p:cNvSpPr>
            <a:spLocks noGrp="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ctr">
            <a:normAutofit/>
          </a:bodyPr>
          <a:lstStyle>
            <a:lvl1pPr marL="0" indent="0" algn="ctr" latinLnBrk="0">
              <a:buNone/>
              <a:defRPr lang="zh-CN" sz="16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a:t>单击图标添加图片</a:t>
            </a:r>
            <a:endParaRPr lang="zh-CN"/>
          </a:p>
        </p:txBody>
      </p:sp>
      <p:cxnSp>
        <p:nvCxnSpPr>
          <p:cNvPr id="17" name="直线连接线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直线连接线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日期占位符 3"/>
          <p:cNvSpPr>
            <a:spLocks noGrp="1"/>
          </p:cNvSpPr>
          <p:nvPr>
            <p:ph type="dt" sz="half" idx="10"/>
          </p:nvPr>
        </p:nvSpPr>
        <p:spPr/>
        <p:txBody>
          <a:bodyPr/>
          <a:lstStyle/>
          <a:p>
            <a:fld id="{40FF0622-75E4-48B8-A617-5428CA5926CE}" type="datetimeFigureOut">
              <a:rPr/>
            </a:fld>
            <a:endParaRPr lang="zh-CN"/>
          </a:p>
        </p:txBody>
      </p:sp>
      <p:sp>
        <p:nvSpPr>
          <p:cNvPr id="4"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竖排文字占位符 2"/>
          <p:cNvSpPr>
            <a:spLocks noGrp="1"/>
          </p:cNvSpPr>
          <p:nvPr>
            <p:ph type="body" orient="vert" idx="1" hasCustomPrompt="1"/>
          </p:nvPr>
        </p:nvSpPr>
        <p:spPr/>
        <p:txBody>
          <a:bodyPr vert="eaVert" anchor="b" anchorCtr="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4" name="日期占位符 3"/>
          <p:cNvSpPr>
            <a:spLocks noGrp="1"/>
          </p:cNvSpPr>
          <p:nvPr>
            <p:ph type="dt" sz="half" idx="10"/>
          </p:nvPr>
        </p:nvSpPr>
        <p:spPr/>
        <p:txBody>
          <a:bodyPr/>
          <a:lstStyle/>
          <a:p>
            <a:fld id="{40FF0622-75E4-48B8-A617-5428CA5926CE}"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164151" y="1447799"/>
            <a:ext cx="1409965" cy="4413251"/>
          </a:xfrm>
        </p:spPr>
        <p:txBody>
          <a:bodyPr vert="eaVert" anchor="b" anchorCtr="0"/>
          <a:lstStyle/>
          <a:p>
            <a:r>
              <a:rPr lang="zh-CN" altLang="en-US"/>
              <a:t>单击此处编辑母版标题样式</a:t>
            </a:r>
            <a:endParaRPr lang="zh-CN" dirty="0"/>
          </a:p>
        </p:txBody>
      </p:sp>
      <p:sp>
        <p:nvSpPr>
          <p:cNvPr id="3" name="竖排文字占位符 2"/>
          <p:cNvSpPr>
            <a:spLocks noGrp="1"/>
          </p:cNvSpPr>
          <p:nvPr>
            <p:ph type="body" orient="vert" idx="1" hasCustomPrompt="1"/>
          </p:nvPr>
        </p:nvSpPr>
        <p:spPr>
          <a:xfrm>
            <a:off x="1154954" y="1447799"/>
            <a:ext cx="6776630" cy="4413251"/>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dirty="0"/>
          </a:p>
        </p:txBody>
      </p:sp>
      <p:sp>
        <p:nvSpPr>
          <p:cNvPr id="4" name="日期占位符 3"/>
          <p:cNvSpPr>
            <a:spLocks noGrp="1"/>
          </p:cNvSpPr>
          <p:nvPr>
            <p:ph type="dt" sz="half" idx="10"/>
          </p:nvPr>
        </p:nvSpPr>
        <p:spPr/>
        <p:txBody>
          <a:bodyPr/>
          <a:lstStyle/>
          <a:p>
            <a:fld id="{40FF0622-75E4-48B8-A617-5428CA5926CE}" type="datetimeFigureOut">
              <a:rPr/>
            </a:fld>
            <a:endParaRPr lang="zh-CN" dirty="0"/>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BA875541-8164-4CC7-9F2F-6F0C49BB858D}" type="slidenum">
              <a:rPr/>
            </a:fld>
            <a:endParaRPr 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gs>
            <a:gs pos="48000">
              <a:schemeClr val="accent1">
                <a:lumMod val="60000"/>
                <a:lumOff val="40000"/>
              </a:schemeClr>
            </a:gs>
            <a:gs pos="100000">
              <a:schemeClr val="accent1">
                <a:lumMod val="75000"/>
              </a:schemeClr>
            </a:gs>
          </a:gsLst>
          <a:lin ang="2700000" scaled="1"/>
          <a:tileRect/>
        </a:gradFill>
        <a:effectLst/>
      </p:bgPr>
    </p:bg>
    <p:spTree>
      <p:nvGrpSpPr>
        <p:cNvPr id="1" name=""/>
        <p:cNvGrpSpPr/>
        <p:nvPr/>
      </p:nvGrpSpPr>
      <p:grpSpPr>
        <a:xfrm>
          <a:off x="0" y="0"/>
          <a:ext cx="0" cy="0"/>
          <a:chOff x="0" y="0"/>
          <a:chExt cx="0" cy="0"/>
        </a:xfrm>
      </p:grpSpPr>
      <p:sp>
        <p:nvSpPr>
          <p:cNvPr id="13" name="椭圆 12"/>
          <p:cNvSpPr/>
          <p:nvPr/>
        </p:nvSpPr>
        <p:spPr>
          <a:xfrm>
            <a:off x="-153988"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5" name="椭圆 14"/>
          <p:cNvSpPr/>
          <p:nvPr/>
        </p:nvSpPr>
        <p:spPr>
          <a:xfrm>
            <a:off x="-839788" y="2895600"/>
            <a:ext cx="2362200" cy="2362200"/>
          </a:xfrm>
          <a:prstGeom prst="ellipse">
            <a:avLst/>
          </a:prstGeom>
          <a:gradFill flip="none" rotWithShape="1">
            <a:gsLst>
              <a:gs pos="0">
                <a:schemeClr val="accent1">
                  <a:lumMod val="60000"/>
                  <a:lumOff val="40000"/>
                  <a:alpha val="8000"/>
                </a:schemeClr>
              </a:gs>
              <a:gs pos="71000">
                <a:schemeClr val="bg2">
                  <a:lumMod val="60000"/>
                  <a:lumOff val="40000"/>
                  <a:alpha val="0"/>
                </a:schemeClr>
              </a:gs>
              <a:gs pos="36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6" name="椭圆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7" name="椭圆 16"/>
          <p:cNvSpPr/>
          <p:nvPr/>
        </p:nvSpPr>
        <p:spPr>
          <a:xfrm>
            <a:off x="7999412" y="-457200"/>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8" name="椭圆 17"/>
          <p:cNvSpPr/>
          <p:nvPr/>
        </p:nvSpPr>
        <p:spPr>
          <a:xfrm>
            <a:off x="8609012" y="6096000"/>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14" name="矩形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dirty="0">
              <a:ea typeface="Microsoft YaHei UI" panose="020B0503020204020204" pitchFamily="34" charset="-122"/>
            </a:endParaRPr>
          </a:p>
        </p:txBody>
      </p:sp>
      <p:sp>
        <p:nvSpPr>
          <p:cNvPr id="2" name="标题占位符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dirty="0"/>
              <a:t>单击此处编辑母版标题样式</a:t>
            </a:r>
            <a:endParaRPr lang="zh-CN" dirty="0"/>
          </a:p>
        </p:txBody>
      </p:sp>
      <p:sp>
        <p:nvSpPr>
          <p:cNvPr id="3" name="文本占位符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4" name="日期占位符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latinLnBrk="0">
              <a:defRPr lang="zh-CN" sz="1100" b="0">
                <a:solidFill>
                  <a:schemeClr val="tx1">
                    <a:tint val="75000"/>
                    <a:alpha val="60000"/>
                  </a:schemeClr>
                </a:solidFill>
                <a:ea typeface="Microsoft YaHei UI" panose="020B0503020204020204" pitchFamily="34" charset="-122"/>
              </a:defRPr>
            </a:lvl1pPr>
          </a:lstStyle>
          <a:p>
            <a:fld id="{40FF0622-75E4-48B8-A617-5428CA5926CE}" type="datetimeFigureOut">
              <a:rPr lang="en-US" altLang="zh-CN" smtClean="0"/>
            </a:fld>
            <a:endParaRPr lang="zh-CN" altLang="en-US" dirty="0"/>
          </a:p>
        </p:txBody>
      </p:sp>
      <p:sp>
        <p:nvSpPr>
          <p:cNvPr id="5" name="页脚占位符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latinLnBrk="0">
              <a:defRPr lang="zh-CN" sz="1100" b="0">
                <a:solidFill>
                  <a:schemeClr val="tx1">
                    <a:tint val="75000"/>
                    <a:alpha val="60000"/>
                  </a:schemeClr>
                </a:solidFill>
                <a:ea typeface="Microsoft YaHei UI" panose="020B0503020204020204" pitchFamily="34" charset="-122"/>
              </a:defRPr>
            </a:lvl1pPr>
          </a:lstStyle>
          <a:p>
            <a:endParaRPr lang="zh-CN" altLang="en-US" dirty="0"/>
          </a:p>
        </p:txBody>
      </p:sp>
      <p:sp>
        <p:nvSpPr>
          <p:cNvPr id="6" name="幻灯片编号占位符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latinLnBrk="0">
              <a:defRPr lang="zh-CN" sz="2800" b="0">
                <a:solidFill>
                  <a:schemeClr val="tx1">
                    <a:tint val="75000"/>
                  </a:schemeClr>
                </a:solidFill>
                <a:ea typeface="Microsoft YaHei UI" panose="020B0503020204020204" pitchFamily="34" charset="-122"/>
              </a:defRPr>
            </a:lvl1pPr>
          </a:lstStyle>
          <a:p>
            <a:fld id="{BA875541-8164-4CC7-9F2F-6F0C49BB858D}" type="slidenum">
              <a:rPr lang="en-US" altLang="zh-CN" smtClean="0"/>
            </a:fld>
            <a:endParaRPr lang="en-US" altLang="zh-CN"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457200" rtl="0" eaLnBrk="1" latinLnBrk="0" hangingPunct="1">
        <a:spcBef>
          <a:spcPct val="0"/>
        </a:spcBef>
        <a:buNone/>
        <a:defRPr lang="zh-CN" sz="4200" b="0" kern="1200">
          <a:solidFill>
            <a:schemeClr val="tx2"/>
          </a:solidFill>
          <a:latin typeface="+mj-lt"/>
          <a:ea typeface="Microsoft YaHei UI" panose="020B0503020204020204" pitchFamily="34" charset="-122"/>
          <a:cs typeface="+mj-cs"/>
        </a:defRPr>
      </a:lvl1pPr>
      <a:lvl2pPr eaLnBrk="1" latinLnBrk="0" hangingPunct="1">
        <a:defRPr lang="zh-CN">
          <a:solidFill>
            <a:schemeClr val="tx2"/>
          </a:solidFill>
        </a:defRPr>
      </a:lvl2pPr>
      <a:lvl3pPr eaLnBrk="1" latinLnBrk="0" hangingPunct="1">
        <a:defRPr lang="zh-CN">
          <a:solidFill>
            <a:schemeClr val="tx2"/>
          </a:solidFill>
        </a:defRPr>
      </a:lvl3pPr>
      <a:lvl4pPr eaLnBrk="1" latinLnBrk="0" hangingPunct="1">
        <a:defRPr lang="zh-CN">
          <a:solidFill>
            <a:schemeClr val="tx2"/>
          </a:solidFill>
        </a:defRPr>
      </a:lvl4pPr>
      <a:lvl5pPr eaLnBrk="1" latinLnBrk="0" hangingPunct="1">
        <a:defRPr lang="zh-CN">
          <a:solidFill>
            <a:schemeClr val="tx2"/>
          </a:solidFill>
        </a:defRPr>
      </a:lvl5pPr>
      <a:lvl6pPr eaLnBrk="1" latinLnBrk="0" hangingPunct="1">
        <a:defRPr lang="zh-CN">
          <a:solidFill>
            <a:schemeClr val="tx2"/>
          </a:solidFill>
        </a:defRPr>
      </a:lvl6pPr>
      <a:lvl7pPr eaLnBrk="1" latinLnBrk="0" hangingPunct="1">
        <a:defRPr lang="zh-CN">
          <a:solidFill>
            <a:schemeClr val="tx2"/>
          </a:solidFill>
        </a:defRPr>
      </a:lvl7pPr>
      <a:lvl8pPr eaLnBrk="1" latinLnBrk="0" hangingPunct="1">
        <a:defRPr lang="zh-CN">
          <a:solidFill>
            <a:schemeClr val="tx2"/>
          </a:solidFill>
        </a:defRPr>
      </a:lvl8pPr>
      <a:lvl9pPr eaLnBrk="1" latinLnBrk="0" hangingPunct="1">
        <a:defRPr lang="zh-CN">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3" panose="05040102010807070707" charset="2"/>
        <a:buChar char=""/>
        <a:defRPr lang="zh-CN" sz="2000" b="0" kern="1200">
          <a:solidFill>
            <a:schemeClr val="tx1"/>
          </a:solidFill>
          <a:latin typeface="+mj-lt"/>
          <a:ea typeface="Microsoft YaHei UI" panose="020B0503020204020204" pitchFamily="34" charset="-122"/>
          <a:cs typeface="+mj-cs"/>
        </a:defRPr>
      </a:lvl1pPr>
      <a:lvl2pPr marL="742950" indent="-285750" algn="l" defTabSz="457200" rtl="0" eaLnBrk="1" latinLnBrk="0" hangingPunct="1">
        <a:spcBef>
          <a:spcPct val="20000"/>
        </a:spcBef>
        <a:spcAft>
          <a:spcPts val="600"/>
        </a:spcAft>
        <a:buClr>
          <a:schemeClr val="accent1"/>
        </a:buClr>
        <a:buSzPct val="80000"/>
        <a:buFont typeface="Wingdings 3" panose="05040102010807070707" charset="2"/>
        <a:buChar char=""/>
        <a:defRPr lang="zh-CN" sz="1800" b="0" kern="1200">
          <a:solidFill>
            <a:schemeClr val="tx1"/>
          </a:solidFill>
          <a:latin typeface="+mj-lt"/>
          <a:ea typeface="Microsoft YaHei UI" panose="020B0503020204020204" pitchFamily="34" charset="-122"/>
          <a:cs typeface="+mj-cs"/>
        </a:defRPr>
      </a:lvl2pPr>
      <a:lvl3pPr marL="11430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600" b="0" kern="1200">
          <a:solidFill>
            <a:schemeClr val="tx1"/>
          </a:solidFill>
          <a:latin typeface="+mj-lt"/>
          <a:ea typeface="Microsoft YaHei UI" panose="020B0503020204020204" pitchFamily="34" charset="-122"/>
          <a:cs typeface="+mj-cs"/>
        </a:defRPr>
      </a:lvl3pPr>
      <a:lvl4pPr marL="16002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400" b="0" kern="1200">
          <a:solidFill>
            <a:schemeClr val="tx1"/>
          </a:solidFill>
          <a:latin typeface="+mj-lt"/>
          <a:ea typeface="Microsoft YaHei UI" panose="020B0503020204020204" pitchFamily="34" charset="-122"/>
          <a:cs typeface="+mj-cs"/>
        </a:defRPr>
      </a:lvl4pPr>
      <a:lvl5pPr marL="20574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400" b="0" kern="1200">
          <a:solidFill>
            <a:schemeClr val="tx1"/>
          </a:solidFill>
          <a:latin typeface="+mj-lt"/>
          <a:ea typeface="Microsoft YaHei UI" panose="020B0503020204020204" pitchFamily="34" charset="-122"/>
          <a:cs typeface="+mj-cs"/>
        </a:defRPr>
      </a:lvl5pPr>
      <a:lvl6pPr marL="25146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6pPr>
      <a:lvl7pPr marL="29718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7pPr>
      <a:lvl8pPr marL="34290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8pPr>
      <a:lvl9pPr marL="3886200" indent="-228600" algn="l" defTabSz="457200" rtl="0" eaLnBrk="1" latinLnBrk="0" hangingPunct="1">
        <a:spcBef>
          <a:spcPct val="20000"/>
        </a:spcBef>
        <a:spcAft>
          <a:spcPts val="600"/>
        </a:spcAft>
        <a:buClr>
          <a:schemeClr val="accent1"/>
        </a:buClr>
        <a:buSzPct val="80000"/>
        <a:buFont typeface="Wingdings 3" panose="05040102010807070707" charset="2"/>
        <a:buChar char=""/>
        <a:defRPr lang="zh-CN" sz="1200" b="0" kern="1200">
          <a:solidFill>
            <a:schemeClr val="tx1"/>
          </a:solidFill>
          <a:latin typeface="+mj-lt"/>
          <a:ea typeface="+mj-ea"/>
          <a:cs typeface="+mj-cs"/>
        </a:defRPr>
      </a:lvl9pPr>
    </p:bodyStyle>
    <p:other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800" kern="1200">
          <a:solidFill>
            <a:schemeClr val="tx1"/>
          </a:solidFill>
          <a:latin typeface="+mn-lt"/>
          <a:ea typeface="+mn-ea"/>
          <a:cs typeface="+mn-cs"/>
        </a:defRPr>
      </a:lvl2pPr>
      <a:lvl3pPr marL="914400" algn="l" defTabSz="457200" rtl="0" eaLnBrk="1" latinLnBrk="0" hangingPunct="1">
        <a:defRPr lang="zh-CN" sz="1800" kern="1200">
          <a:solidFill>
            <a:schemeClr val="tx1"/>
          </a:solidFill>
          <a:latin typeface="+mn-lt"/>
          <a:ea typeface="+mn-ea"/>
          <a:cs typeface="+mn-cs"/>
        </a:defRPr>
      </a:lvl3pPr>
      <a:lvl4pPr marL="1371600" algn="l" defTabSz="457200" rtl="0" eaLnBrk="1" latinLnBrk="0" hangingPunct="1">
        <a:defRPr lang="zh-CN" sz="180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800" kern="1200">
          <a:solidFill>
            <a:schemeClr val="tx1"/>
          </a:solidFill>
          <a:latin typeface="+mn-lt"/>
          <a:ea typeface="+mn-ea"/>
          <a:cs typeface="+mn-cs"/>
        </a:defRPr>
      </a:lvl6pPr>
      <a:lvl7pPr marL="2743200" algn="l" defTabSz="457200" rtl="0" eaLnBrk="1" latinLnBrk="0" hangingPunct="1">
        <a:defRPr lang="zh-CN" sz="1800" kern="1200">
          <a:solidFill>
            <a:schemeClr val="tx1"/>
          </a:solidFill>
          <a:latin typeface="+mn-lt"/>
          <a:ea typeface="+mn-ea"/>
          <a:cs typeface="+mn-cs"/>
        </a:defRPr>
      </a:lvl7pPr>
      <a:lvl8pPr marL="3200400" algn="l" defTabSz="457200" rtl="0" eaLnBrk="1" latinLnBrk="0" hangingPunct="1">
        <a:defRPr lang="zh-CN" sz="1800" kern="1200">
          <a:solidFill>
            <a:schemeClr val="tx1"/>
          </a:solidFill>
          <a:latin typeface="+mn-lt"/>
          <a:ea typeface="+mn-ea"/>
          <a:cs typeface="+mn-cs"/>
        </a:defRPr>
      </a:lvl8pPr>
      <a:lvl9pPr marL="3657600" algn="l" defTabSz="4572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 Target="slide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slide" Target="slide5.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 Target="slide7.xml"/><Relationship Id="rId1" Type="http://schemas.openxmlformats.org/officeDocument/2006/relationships/slide" Target="slide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slide" Target="slide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 Target="slide8.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 Target="slide9.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slide" Target="slide12.xml"/><Relationship Id="rId2" Type="http://schemas.openxmlformats.org/officeDocument/2006/relationships/slide" Target="slide11.xml"/><Relationship Id="rId1" Type="http://schemas.openxmlformats.org/officeDocument/2006/relationships/slide" Target="slide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slide" Target="slide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slide" Target="slide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http://cogs.pro/cogs/problem/problem.php?pid=14" TargetMode="Externa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hyperlink" Target="http://www.lydsy.com/JudgeOnline/problem.php?id=145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6.xml"/><Relationship Id="rId10" Type="http://schemas.microsoft.com/office/2007/relationships/diagramDrawing" Target="../diagrams/drawing2.xml"/><Relationship Id="rId1"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hyperlink" Target="http://www.lydsy.com/JudgeOnline/problem.php?id=1189"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http://cogs.pro/cogs/problem/problem.php?pid=2051"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hyperlink" Target="http://www.lydsy.com/JudgeOnline/problem.php?id=2127"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http://www.lydsy.com/JudgeOnline/problem.php?id=2039"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http://www.lydsy.com/JudgeOnline/problem.php?id=314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hyperlink" Target="http://www.lydsy.com/JudgeOnline/problem.php?id=179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6.xml"/><Relationship Id="rId4" Type="http://schemas.openxmlformats.org/officeDocument/2006/relationships/oleObject" Target="../embeddings/oleObject2.bin"/><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http://cogs.pro/cogs/problem/problem.php?pid=461" TargetMode="Externa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http://www.lydsy.com/JudgeOnline/problem.php?id=1449" TargetMode="Externa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0.png"/><Relationship Id="rId1" Type="http://schemas.openxmlformats.org/officeDocument/2006/relationships/hyperlink" Target="http://www.lydsy.com/JudgeOnline/problem.php?id=2597"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55801" y="3130671"/>
            <a:ext cx="5476957" cy="1782973"/>
          </a:xfrm>
        </p:spPr>
        <p:txBody>
          <a:bodyPr/>
          <a:lstStyle/>
          <a:p>
            <a:r>
              <a:rPr lang="zh-CN" altLang="en-US" sz="11500" dirty="0"/>
              <a:t>网络流</a:t>
            </a:r>
            <a:endParaRPr lang="zh-CN" sz="11500" dirty="0"/>
          </a:p>
        </p:txBody>
      </p:sp>
      <p:sp>
        <p:nvSpPr>
          <p:cNvPr id="3" name="副标题 2"/>
          <p:cNvSpPr>
            <a:spLocks noGrp="1"/>
          </p:cNvSpPr>
          <p:nvPr>
            <p:ph type="subTitle" idx="1"/>
          </p:nvPr>
        </p:nvSpPr>
        <p:spPr>
          <a:xfrm>
            <a:off x="8098367" y="4913644"/>
            <a:ext cx="2096942" cy="861420"/>
          </a:xfrm>
        </p:spPr>
        <p:txBody>
          <a:bodyPr>
            <a:normAutofit/>
          </a:bodyPr>
          <a:lstStyle/>
          <a:p>
            <a:r>
              <a:rPr lang="en-US" altLang="zh-CN" sz="3600" dirty="0">
                <a:solidFill>
                  <a:schemeClr val="bg1"/>
                </a:solidFill>
              </a:rPr>
              <a:t>By </a:t>
            </a:r>
            <a:r>
              <a:rPr lang="en-US" altLang="zh-CN" sz="3600" dirty="0" err="1">
                <a:solidFill>
                  <a:schemeClr val="bg1"/>
                </a:solidFill>
              </a:rPr>
              <a:t>lyc</a:t>
            </a:r>
            <a:endParaRPr lang="zh-CN" sz="3600" dirty="0">
              <a:solidFill>
                <a:schemeClr val="bg1"/>
              </a:solidFill>
            </a:endParaRPr>
          </a:p>
        </p:txBody>
      </p:sp>
      <p:cxnSp>
        <p:nvCxnSpPr>
          <p:cNvPr id="5" name="直接连接符 4"/>
          <p:cNvCxnSpPr/>
          <p:nvPr/>
        </p:nvCxnSpPr>
        <p:spPr>
          <a:xfrm>
            <a:off x="1587639" y="4821987"/>
            <a:ext cx="804873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箭头: V 形 5">
            <a:hlinkClick r:id="rId1"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一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网络流的基本定义</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22996" y="1049481"/>
            <a:ext cx="9933709" cy="3046988"/>
          </a:xfrm>
          <a:prstGeom prst="rect">
            <a:avLst/>
          </a:prstGeom>
          <a:noFill/>
        </p:spPr>
        <p:txBody>
          <a:bodyPr wrap="square" rtlCol="0">
            <a:spAutoFit/>
          </a:bodyPr>
          <a:lstStyle/>
          <a:p>
            <a:pPr marL="342900" indent="-342900">
              <a:buAutoNum type="arabicPeriod"/>
            </a:pPr>
            <a:r>
              <a:rPr lang="zh-CN" altLang="en-US" sz="2400" dirty="0">
                <a:solidFill>
                  <a:schemeClr val="bg1"/>
                </a:solidFill>
              </a:rPr>
              <a:t>有</a:t>
            </a:r>
            <a:r>
              <a:rPr lang="en-US" altLang="zh-CN" sz="2400" dirty="0">
                <a:solidFill>
                  <a:schemeClr val="bg1"/>
                </a:solidFill>
              </a:rPr>
              <a:t>n</a:t>
            </a:r>
            <a:r>
              <a:rPr lang="zh-CN" altLang="en-US" sz="2400" dirty="0">
                <a:solidFill>
                  <a:schemeClr val="bg1"/>
                </a:solidFill>
              </a:rPr>
              <a:t>个点，</a:t>
            </a:r>
            <a:r>
              <a:rPr lang="en-US" altLang="zh-CN" sz="2400" dirty="0">
                <a:solidFill>
                  <a:schemeClr val="bg1"/>
                </a:solidFill>
              </a:rPr>
              <a:t>m</a:t>
            </a:r>
            <a:r>
              <a:rPr lang="zh-CN" altLang="en-US" sz="2400" dirty="0">
                <a:solidFill>
                  <a:schemeClr val="bg1"/>
                </a:solidFill>
              </a:rPr>
              <a:t>条有向边，其中源点</a:t>
            </a:r>
            <a:r>
              <a:rPr lang="en-US" altLang="zh-CN" sz="2400" dirty="0">
                <a:solidFill>
                  <a:schemeClr val="bg1"/>
                </a:solidFill>
              </a:rPr>
              <a:t> s </a:t>
            </a:r>
            <a:r>
              <a:rPr lang="zh-CN" altLang="en-US" sz="2400" dirty="0">
                <a:solidFill>
                  <a:schemeClr val="bg1"/>
                </a:solidFill>
              </a:rPr>
              <a:t>只有出边，没有入边。汇点 </a:t>
            </a:r>
            <a:r>
              <a:rPr lang="en-US" altLang="zh-CN" sz="2400" dirty="0">
                <a:solidFill>
                  <a:schemeClr val="bg1"/>
                </a:solidFill>
              </a:rPr>
              <a:t>t </a:t>
            </a:r>
            <a:r>
              <a:rPr lang="zh-CN" altLang="en-US" sz="2400" dirty="0">
                <a:solidFill>
                  <a:schemeClr val="bg1"/>
                </a:solidFill>
              </a:rPr>
              <a:t>只有入边，没有出边。</a:t>
            </a:r>
            <a:endParaRPr lang="en-US" altLang="zh-CN" sz="2400" dirty="0">
              <a:solidFill>
                <a:schemeClr val="bg1"/>
              </a:solidFill>
            </a:endParaRPr>
          </a:p>
          <a:p>
            <a:pPr marL="342900" indent="-342900">
              <a:buAutoNum type="arabicPeriod"/>
            </a:pPr>
            <a:r>
              <a:rPr lang="zh-CN" altLang="en-US" sz="2400" dirty="0">
                <a:solidFill>
                  <a:schemeClr val="bg1"/>
                </a:solidFill>
              </a:rPr>
              <a:t>每条边都有一个容量和流量，通常用</a:t>
            </a:r>
            <a:r>
              <a:rPr lang="en-US" altLang="zh-CN" sz="2400" dirty="0">
                <a:solidFill>
                  <a:schemeClr val="bg1"/>
                </a:solidFill>
              </a:rPr>
              <a:t>c(</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表示从</a:t>
            </a:r>
            <a:r>
              <a:rPr lang="en-US" altLang="zh-CN" sz="2400" dirty="0">
                <a:solidFill>
                  <a:schemeClr val="bg1"/>
                </a:solidFill>
              </a:rPr>
              <a:t>u</a:t>
            </a:r>
            <a:r>
              <a:rPr lang="zh-CN" altLang="en-US" sz="2400" dirty="0">
                <a:solidFill>
                  <a:schemeClr val="bg1"/>
                </a:solidFill>
              </a:rPr>
              <a:t>到</a:t>
            </a:r>
            <a:r>
              <a:rPr lang="en-US" altLang="zh-CN" sz="2400" dirty="0">
                <a:solidFill>
                  <a:schemeClr val="bg1"/>
                </a:solidFill>
              </a:rPr>
              <a:t>v</a:t>
            </a:r>
            <a:r>
              <a:rPr lang="zh-CN" altLang="en-US" sz="2400" dirty="0">
                <a:solidFill>
                  <a:schemeClr val="bg1"/>
                </a:solidFill>
              </a:rPr>
              <a:t>的容量，</a:t>
            </a:r>
            <a:r>
              <a:rPr lang="en-US" altLang="zh-CN" sz="2400" dirty="0">
                <a:solidFill>
                  <a:schemeClr val="bg1"/>
                </a:solidFill>
              </a:rPr>
              <a:t>f(</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代表流量。</a:t>
            </a:r>
            <a:endParaRPr lang="en-US" altLang="zh-CN" sz="2400" dirty="0">
              <a:solidFill>
                <a:schemeClr val="bg1"/>
              </a:solidFill>
            </a:endParaRPr>
          </a:p>
          <a:p>
            <a:endParaRPr lang="en-US" altLang="zh-CN" sz="2400" dirty="0">
              <a:solidFill>
                <a:schemeClr val="bg1"/>
              </a:solidFill>
            </a:endParaRPr>
          </a:p>
          <a:p>
            <a:r>
              <a:rPr lang="en-US" altLang="zh-CN" sz="2400" dirty="0">
                <a:solidFill>
                  <a:schemeClr val="bg1"/>
                </a:solidFill>
              </a:rPr>
              <a:t>    </a:t>
            </a:r>
            <a:r>
              <a:rPr lang="zh-CN" altLang="en-US" sz="2400" dirty="0">
                <a:solidFill>
                  <a:schemeClr val="bg1"/>
                </a:solidFill>
              </a:rPr>
              <a:t>我们可以把这些有向边想象成运输管道，有一定数量的物品，从源点 </a:t>
            </a:r>
            <a:r>
              <a:rPr lang="en-US" altLang="zh-CN" sz="2400" dirty="0">
                <a:solidFill>
                  <a:schemeClr val="bg1"/>
                </a:solidFill>
              </a:rPr>
              <a:t>s </a:t>
            </a:r>
            <a:r>
              <a:rPr lang="zh-CN" altLang="en-US" sz="2400" dirty="0">
                <a:solidFill>
                  <a:schemeClr val="bg1"/>
                </a:solidFill>
              </a:rPr>
              <a:t>出发，经过这些管道，最终流入汇点</a:t>
            </a:r>
            <a:r>
              <a:rPr lang="en-US" altLang="zh-CN" sz="2400" dirty="0">
                <a:solidFill>
                  <a:schemeClr val="bg1"/>
                </a:solidFill>
              </a:rPr>
              <a:t>t</a:t>
            </a:r>
            <a:r>
              <a:rPr lang="zh-CN" altLang="en-US" sz="2400" dirty="0">
                <a:solidFill>
                  <a:schemeClr val="bg1"/>
                </a:solidFill>
              </a:rPr>
              <a:t>，而每条管道的运输单个物品的次数是有限的。</a:t>
            </a:r>
            <a:endParaRPr lang="en-US" altLang="zh-CN" sz="2400" dirty="0">
              <a:solidFill>
                <a:schemeClr val="bg1"/>
              </a:solidFill>
            </a:endParaRPr>
          </a:p>
        </p:txBody>
      </p:sp>
      <p:sp>
        <p:nvSpPr>
          <p:cNvPr id="11" name="流程图: 接点 10"/>
          <p:cNvSpPr/>
          <p:nvPr/>
        </p:nvSpPr>
        <p:spPr>
          <a:xfrm>
            <a:off x="2476929" y="4671194"/>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14" name="箭头: 右 13"/>
          <p:cNvSpPr/>
          <p:nvPr/>
        </p:nvSpPr>
        <p:spPr>
          <a:xfrm rot="20800407">
            <a:off x="2981855" y="4292797"/>
            <a:ext cx="2095776" cy="5093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1/2</a:t>
            </a:r>
            <a:endParaRPr lang="zh-CN" altLang="en-US" dirty="0"/>
          </a:p>
        </p:txBody>
      </p:sp>
      <p:sp>
        <p:nvSpPr>
          <p:cNvPr id="15" name="流程图: 接点 14"/>
          <p:cNvSpPr/>
          <p:nvPr/>
        </p:nvSpPr>
        <p:spPr>
          <a:xfrm>
            <a:off x="5127192" y="4057120"/>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16" name="箭头: 右 15"/>
          <p:cNvSpPr/>
          <p:nvPr/>
        </p:nvSpPr>
        <p:spPr>
          <a:xfrm rot="691438">
            <a:off x="5809773" y="4263203"/>
            <a:ext cx="1980500" cy="4821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1/3</a:t>
            </a:r>
            <a:endParaRPr lang="zh-CN" altLang="en-US" dirty="0"/>
          </a:p>
        </p:txBody>
      </p:sp>
      <p:sp>
        <p:nvSpPr>
          <p:cNvPr id="17" name="流程图: 接点 16"/>
          <p:cNvSpPr/>
          <p:nvPr/>
        </p:nvSpPr>
        <p:spPr>
          <a:xfrm>
            <a:off x="7849997" y="4624458"/>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18" name="文本框 17"/>
          <p:cNvSpPr txBox="1"/>
          <p:nvPr/>
        </p:nvSpPr>
        <p:spPr>
          <a:xfrm>
            <a:off x="1707090" y="6084433"/>
            <a:ext cx="7488865" cy="461665"/>
          </a:xfrm>
          <a:prstGeom prst="rect">
            <a:avLst/>
          </a:prstGeom>
          <a:noFill/>
        </p:spPr>
        <p:txBody>
          <a:bodyPr wrap="square" rtlCol="0">
            <a:spAutoFit/>
          </a:bodyPr>
          <a:lstStyle/>
          <a:p>
            <a:r>
              <a:rPr lang="zh-CN" altLang="en-US" sz="2400" dirty="0">
                <a:solidFill>
                  <a:schemeClr val="bg1"/>
                </a:solidFill>
              </a:rPr>
              <a:t>例：如图，有</a:t>
            </a:r>
            <a:r>
              <a:rPr lang="en-US" altLang="zh-CN" sz="2400" dirty="0">
                <a:solidFill>
                  <a:schemeClr val="bg1"/>
                </a:solidFill>
              </a:rPr>
              <a:t>1</a:t>
            </a:r>
            <a:r>
              <a:rPr lang="zh-CN" altLang="en-US" sz="2400" dirty="0">
                <a:solidFill>
                  <a:schemeClr val="bg1"/>
                </a:solidFill>
              </a:rPr>
              <a:t>个物品从</a:t>
            </a:r>
            <a:r>
              <a:rPr lang="en-US" altLang="zh-CN" sz="2400" dirty="0">
                <a:solidFill>
                  <a:schemeClr val="bg1"/>
                </a:solidFill>
              </a:rPr>
              <a:t>S</a:t>
            </a:r>
            <a:r>
              <a:rPr lang="zh-CN" altLang="en-US" sz="2400" dirty="0">
                <a:solidFill>
                  <a:schemeClr val="bg1"/>
                </a:solidFill>
              </a:rPr>
              <a:t>经过</a:t>
            </a:r>
            <a:r>
              <a:rPr lang="en-US" altLang="zh-CN" sz="2400" dirty="0">
                <a:solidFill>
                  <a:schemeClr val="bg1"/>
                </a:solidFill>
              </a:rPr>
              <a:t>(S,1)</a:t>
            </a:r>
            <a:r>
              <a:rPr lang="zh-CN" altLang="en-US" sz="2400" dirty="0">
                <a:solidFill>
                  <a:schemeClr val="bg1"/>
                </a:solidFill>
              </a:rPr>
              <a:t>和</a:t>
            </a:r>
            <a:r>
              <a:rPr lang="en-US" altLang="zh-CN" sz="2400" dirty="0">
                <a:solidFill>
                  <a:schemeClr val="bg1"/>
                </a:solidFill>
              </a:rPr>
              <a:t>(1,T)</a:t>
            </a:r>
            <a:r>
              <a:rPr lang="zh-CN" altLang="en-US" sz="2400" dirty="0">
                <a:solidFill>
                  <a:schemeClr val="bg1"/>
                </a:solidFill>
              </a:rPr>
              <a:t>被运送到了</a:t>
            </a:r>
            <a:r>
              <a:rPr lang="en-US" altLang="zh-CN" sz="2400" dirty="0">
                <a:solidFill>
                  <a:schemeClr val="bg1"/>
                </a:solidFill>
              </a:rPr>
              <a:t>T</a:t>
            </a:r>
            <a:r>
              <a:rPr lang="zh-CN" altLang="en-US" sz="2400" dirty="0">
                <a:solidFill>
                  <a:schemeClr val="bg1"/>
                </a:solidFill>
              </a:rPr>
              <a:t>。</a:t>
            </a:r>
            <a:endParaRPr lang="zh-CN" altLang="en-US" sz="2400" dirty="0">
              <a:solidFill>
                <a:schemeClr val="bg1"/>
              </a:solidFill>
            </a:endParaRPr>
          </a:p>
        </p:txBody>
      </p:sp>
      <p:sp>
        <p:nvSpPr>
          <p:cNvPr id="19" name="箭头: 右 18"/>
          <p:cNvSpPr/>
          <p:nvPr/>
        </p:nvSpPr>
        <p:spPr>
          <a:xfrm rot="884992">
            <a:off x="2999663" y="5038678"/>
            <a:ext cx="2092694" cy="5130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sp>
        <p:nvSpPr>
          <p:cNvPr id="20" name="流程图: 接点 19"/>
          <p:cNvSpPr/>
          <p:nvPr/>
        </p:nvSpPr>
        <p:spPr>
          <a:xfrm>
            <a:off x="5148526" y="5465757"/>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21" name="箭头: 右 20"/>
          <p:cNvSpPr/>
          <p:nvPr/>
        </p:nvSpPr>
        <p:spPr>
          <a:xfrm rot="16200000">
            <a:off x="4976092" y="4735815"/>
            <a:ext cx="829501"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sp>
        <p:nvSpPr>
          <p:cNvPr id="22" name="箭头: 右 21"/>
          <p:cNvSpPr/>
          <p:nvPr/>
        </p:nvSpPr>
        <p:spPr>
          <a:xfrm rot="20705397">
            <a:off x="5852099" y="5116091"/>
            <a:ext cx="1966376"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23" name="箭头: V 形 22">
            <a:hlinkClick r:id="rId1"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二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955963"/>
            <a:ext cx="9362209" cy="738664"/>
          </a:xfrm>
          <a:prstGeom prst="rect">
            <a:avLst/>
          </a:prstGeom>
          <a:noFill/>
        </p:spPr>
        <p:txBody>
          <a:bodyPr wrap="square" rtlCol="0">
            <a:spAutoFit/>
          </a:bodyPr>
          <a:lstStyle/>
          <a:p>
            <a:pPr marL="285750" indent="-285750" algn="l">
              <a:buFont typeface="Wingdings" panose="05000000000000000000" pitchFamily="2" charset="2"/>
              <a:buChar char="Ø"/>
            </a:pPr>
            <a:r>
              <a:rPr lang="zh-CN" altLang="en-US" sz="2400" dirty="0">
                <a:solidFill>
                  <a:schemeClr val="bg1"/>
                </a:solidFill>
              </a:rPr>
              <a:t>一个可行流方案</a:t>
            </a:r>
            <a:endParaRPr lang="en-US" altLang="zh-CN" dirty="0">
              <a:solidFill>
                <a:schemeClr val="bg1"/>
              </a:solidFill>
            </a:endParaRPr>
          </a:p>
          <a:p>
            <a:pPr algn="l"/>
            <a:endParaRPr lang="zh-CN" altLang="en-US" dirty="0">
              <a:solidFill>
                <a:schemeClr val="bg1"/>
              </a:solidFill>
            </a:endParaRPr>
          </a:p>
        </p:txBody>
      </p:sp>
      <p:sp>
        <p:nvSpPr>
          <p:cNvPr id="4" name="文本框 3"/>
          <p:cNvSpPr txBox="1"/>
          <p:nvPr/>
        </p:nvSpPr>
        <p:spPr>
          <a:xfrm>
            <a:off x="924790" y="1449434"/>
            <a:ext cx="4395355" cy="945021"/>
          </a:xfrm>
          <a:prstGeom prst="rect">
            <a:avLst/>
          </a:prstGeom>
          <a:noFill/>
        </p:spPr>
        <p:txBody>
          <a:bodyPr wrap="square" rtlCol="0">
            <a:spAutoFit/>
          </a:bodyPr>
          <a:lstStyle/>
          <a:p>
            <a:pPr algn="l"/>
            <a:endParaRPr lang="zh-CN" altLang="en-US" dirty="0">
              <a:solidFill>
                <a:schemeClr val="bg1"/>
              </a:solidFill>
            </a:endParaRPr>
          </a:p>
        </p:txBody>
      </p:sp>
      <p:sp>
        <p:nvSpPr>
          <p:cNvPr id="13" name="文本框 12"/>
          <p:cNvSpPr txBox="1"/>
          <p:nvPr/>
        </p:nvSpPr>
        <p:spPr>
          <a:xfrm>
            <a:off x="924791" y="1471125"/>
            <a:ext cx="6909954" cy="1200329"/>
          </a:xfrm>
          <a:prstGeom prst="rect">
            <a:avLst/>
          </a:prstGeom>
          <a:noFill/>
        </p:spPr>
        <p:txBody>
          <a:bodyPr wrap="square" rtlCol="0">
            <a:spAutoFit/>
          </a:bodyPr>
          <a:lstStyle/>
          <a:p>
            <a:pPr marL="285750" indent="-285750" algn="l">
              <a:buFont typeface="Arial" panose="020B0604020202020204" pitchFamily="34" charset="0"/>
              <a:buChar char="•"/>
            </a:pPr>
            <a:r>
              <a:rPr lang="zh-CN" altLang="en-US" sz="2400" dirty="0">
                <a:solidFill>
                  <a:schemeClr val="bg1"/>
                </a:solidFill>
              </a:rPr>
              <a:t>源点</a:t>
            </a:r>
            <a:r>
              <a:rPr lang="en-US" altLang="zh-CN" sz="2400" dirty="0">
                <a:solidFill>
                  <a:schemeClr val="bg1"/>
                </a:solidFill>
              </a:rPr>
              <a:t>s</a:t>
            </a:r>
            <a:r>
              <a:rPr lang="zh-CN" altLang="en-US" sz="2400" dirty="0">
                <a:solidFill>
                  <a:schemeClr val="bg1"/>
                </a:solidFill>
              </a:rPr>
              <a:t>的总流出量等于汇点</a:t>
            </a:r>
            <a:r>
              <a:rPr lang="en-US" altLang="zh-CN" sz="2400" dirty="0">
                <a:solidFill>
                  <a:schemeClr val="bg1"/>
                </a:solidFill>
              </a:rPr>
              <a:t>t</a:t>
            </a:r>
            <a:r>
              <a:rPr lang="zh-CN" altLang="en-US" sz="2400" dirty="0">
                <a:solidFill>
                  <a:schemeClr val="bg1"/>
                </a:solidFill>
              </a:rPr>
              <a:t>的总流入量</a:t>
            </a:r>
            <a:endParaRPr lang="en-US" altLang="zh-CN" sz="2400" dirty="0">
              <a:solidFill>
                <a:schemeClr val="bg1"/>
              </a:solidFill>
            </a:endParaRPr>
          </a:p>
          <a:p>
            <a:pPr marL="285750" indent="-285750" algn="l">
              <a:buFont typeface="Arial" panose="020B0604020202020204" pitchFamily="34" charset="0"/>
              <a:buChar char="•"/>
            </a:pPr>
            <a:r>
              <a:rPr lang="zh-CN" altLang="en-US" sz="2400" dirty="0">
                <a:solidFill>
                  <a:schemeClr val="bg1"/>
                </a:solidFill>
              </a:rPr>
              <a:t>其它点的总流入量等于总流出量</a:t>
            </a:r>
            <a:endParaRPr lang="en-US" altLang="zh-CN" sz="2400" dirty="0">
              <a:solidFill>
                <a:schemeClr val="bg1"/>
              </a:solidFill>
            </a:endParaRPr>
          </a:p>
          <a:p>
            <a:pPr marL="285750" indent="-285750" algn="l">
              <a:buFont typeface="Arial" panose="020B0604020202020204" pitchFamily="34" charset="0"/>
              <a:buChar char="•"/>
            </a:pPr>
            <a:r>
              <a:rPr lang="zh-CN" altLang="en-US" sz="2400" dirty="0">
                <a:solidFill>
                  <a:schemeClr val="bg1"/>
                </a:solidFill>
              </a:rPr>
              <a:t>每条边的流量不超过容量上限</a:t>
            </a:r>
            <a:endParaRPr lang="en-US" altLang="zh-CN" sz="2400" dirty="0">
              <a:solidFill>
                <a:schemeClr val="bg1"/>
              </a:solidFill>
            </a:endParaRPr>
          </a:p>
        </p:txBody>
      </p:sp>
      <mc:AlternateContent xmlns:mc="http://schemas.openxmlformats.org/markup-compatibility/2006">
        <mc:Choice xmlns:a14="http://schemas.microsoft.com/office/drawing/2010/main" Requires="a14">
          <p:sp>
            <p:nvSpPr>
              <p:cNvPr id="5" name="文本框 4">
                <a:extLst>
                  <a:ext uri="{FF2B5EF4-FFF2-40B4-BE49-F238E27FC236}">
                    <a14:artisticCrisscrossEtching id="{81B72E18-7978-4EA3-BE26-16A0CD40E44C}"/>
                  </a:ext>
                </a:extLst>
              </p:cNvPr>
              <p:cNvSpPr txBox="1"/>
              <p:nvPr/>
            </p:nvSpPr>
            <p:spPr>
              <a:xfrm>
                <a:off x="622996" y="2909617"/>
                <a:ext cx="9185105" cy="875817"/>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最大流问题的目标是将最多的物品从</a:t>
                </a:r>
                <a:r>
                  <a:rPr lang="en-US" altLang="zh-CN" sz="2400" dirty="0">
                    <a:solidFill>
                      <a:schemeClr val="bg1"/>
                    </a:solidFill>
                  </a:rPr>
                  <a:t>s</a:t>
                </a:r>
                <a:r>
                  <a:rPr lang="zh-CN" altLang="en-US" sz="2400" dirty="0">
                    <a:solidFill>
                      <a:schemeClr val="bg1"/>
                    </a:solidFill>
                  </a:rPr>
                  <a:t>运送到</a:t>
                </a:r>
                <a:r>
                  <a:rPr lang="en-US" altLang="zh-CN" sz="2400" dirty="0">
                    <a:solidFill>
                      <a:schemeClr val="bg1"/>
                    </a:solidFill>
                  </a:rPr>
                  <a:t>t</a:t>
                </a:r>
                <a:r>
                  <a:rPr lang="zh-CN" altLang="en-US" sz="2400" dirty="0">
                    <a:solidFill>
                      <a:schemeClr val="bg1"/>
                    </a:solidFill>
                  </a:rPr>
                  <a:t>，也就是在保证合法的基础上，最大化</a:t>
                </a:r>
                <a14:m>
                  <m:oMath xmlns:m="http://schemas.openxmlformats.org/officeDocument/2006/math">
                    <m:d>
                      <m:dPr>
                        <m:begChr m:val="|"/>
                        <m:endChr m:val="|"/>
                        <m:ctrlPr>
                          <a:rPr lang="zh-CN" altLang="en-US" sz="2400" i="1" smtClean="0">
                            <a:solidFill>
                              <a:schemeClr val="bg1"/>
                            </a:solidFill>
                            <a:latin typeface="Cambria Math" panose="02040503050406030204" pitchFamily="18" charset="0"/>
                          </a:rPr>
                        </m:ctrlPr>
                      </m:dPr>
                      <m:e>
                        <m:r>
                          <a:rPr lang="zh-CN" altLang="en-US" sz="2400" i="1" smtClean="0">
                            <a:solidFill>
                              <a:schemeClr val="bg1"/>
                            </a:solidFill>
                            <a:latin typeface="Cambria Math" panose="02040503050406030204" pitchFamily="18" charset="0"/>
                          </a:rPr>
                          <m:t>𝑓</m:t>
                        </m:r>
                      </m:e>
                    </m:d>
                    <m:r>
                      <a:rPr lang="zh-CN" altLang="en-US" sz="2400" i="1" smtClean="0">
                        <a:solidFill>
                          <a:schemeClr val="bg1"/>
                        </a:solidFill>
                        <a:latin typeface="Cambria Math" panose="02040503050406030204" pitchFamily="18" charset="0"/>
                      </a:rPr>
                      <m:t>=</m:t>
                    </m:r>
                    <m:nary>
                      <m:naryPr>
                        <m:chr m:val="∑"/>
                        <m:limLoc m:val="undOvr"/>
                        <m:grow m:val="on"/>
                        <m:supHide m:val="on"/>
                        <m:ctrlPr>
                          <a:rPr lang="zh-CN" altLang="en-US" sz="2400" i="1" smtClean="0">
                            <a:solidFill>
                              <a:schemeClr val="bg1"/>
                            </a:solidFill>
                            <a:latin typeface="Cambria Math" panose="02040503050406030204" pitchFamily="18" charset="0"/>
                          </a:rPr>
                        </m:ctrlPr>
                      </m:naryPr>
                      <m:sub>
                        <m:d>
                          <m:dPr>
                            <m:ctrlPr>
                              <a:rPr lang="zh-CN" altLang="en-US" sz="2400" i="1" smtClean="0">
                                <a:solidFill>
                                  <a:schemeClr val="bg1"/>
                                </a:solidFill>
                                <a:latin typeface="Cambria Math" panose="02040503050406030204" pitchFamily="18" charset="0"/>
                              </a:rPr>
                            </m:ctrlPr>
                          </m:dPr>
                          <m:e>
                            <m:r>
                              <a:rPr lang="zh-CN" altLang="en-US" sz="2400" i="1" smtClean="0">
                                <a:solidFill>
                                  <a:schemeClr val="bg1"/>
                                </a:solidFill>
                                <a:latin typeface="Cambria Math" panose="02040503050406030204" pitchFamily="18" charset="0"/>
                              </a:rPr>
                              <m:t>𝑠</m:t>
                            </m:r>
                            <m:r>
                              <a:rPr lang="zh-CN" altLang="en-US" sz="2400" i="1" smtClean="0">
                                <a:solidFill>
                                  <a:schemeClr val="bg1"/>
                                </a:solidFill>
                                <a:latin typeface="Cambria Math" panose="02040503050406030204" pitchFamily="18" charset="0"/>
                              </a:rPr>
                              <m:t>,</m:t>
                            </m:r>
                            <m:r>
                              <a:rPr lang="zh-CN" altLang="en-US" sz="2400" i="1" smtClean="0">
                                <a:solidFill>
                                  <a:schemeClr val="bg1"/>
                                </a:solidFill>
                                <a:latin typeface="Cambria Math" panose="02040503050406030204" pitchFamily="18" charset="0"/>
                              </a:rPr>
                              <m:t>𝜈</m:t>
                            </m:r>
                          </m:e>
                        </m:d>
                        <m:r>
                          <a:rPr lang="zh-CN" altLang="en-US" sz="2400" i="1" smtClean="0">
                            <a:solidFill>
                              <a:schemeClr val="bg1"/>
                            </a:solidFill>
                            <a:latin typeface="Cambria Math" panose="02040503050406030204" pitchFamily="18" charset="0"/>
                          </a:rPr>
                          <m:t>∈</m:t>
                        </m:r>
                        <m:r>
                          <a:rPr lang="zh-CN" altLang="en-US" sz="2400" i="1" smtClean="0">
                            <a:solidFill>
                              <a:schemeClr val="bg1"/>
                            </a:solidFill>
                            <a:latin typeface="Cambria Math" panose="02040503050406030204" pitchFamily="18" charset="0"/>
                          </a:rPr>
                          <m:t>𝐸</m:t>
                        </m:r>
                      </m:sub>
                      <m:sup/>
                      <m:e>
                        <m:r>
                          <a:rPr lang="zh-CN" altLang="en-US" sz="2400" i="1" smtClean="0">
                            <a:solidFill>
                              <a:schemeClr val="bg1"/>
                            </a:solidFill>
                            <a:latin typeface="Cambria Math" panose="02040503050406030204" pitchFamily="18" charset="0"/>
                          </a:rPr>
                          <m:t>𝑓</m:t>
                        </m:r>
                        <m:d>
                          <m:dPr>
                            <m:ctrlPr>
                              <a:rPr lang="zh-CN" altLang="en-US" sz="2400" i="1" smtClean="0">
                                <a:solidFill>
                                  <a:schemeClr val="bg1"/>
                                </a:solidFill>
                                <a:latin typeface="Cambria Math" panose="02040503050406030204" pitchFamily="18" charset="0"/>
                              </a:rPr>
                            </m:ctrlPr>
                          </m:dPr>
                          <m:e>
                            <m:r>
                              <a:rPr lang="zh-CN" altLang="en-US" sz="2400" i="1" smtClean="0">
                                <a:solidFill>
                                  <a:schemeClr val="bg1"/>
                                </a:solidFill>
                                <a:latin typeface="Cambria Math" panose="02040503050406030204" pitchFamily="18" charset="0"/>
                              </a:rPr>
                              <m:t>𝑠</m:t>
                            </m:r>
                            <m:r>
                              <a:rPr lang="zh-CN" altLang="en-US" sz="2400" i="1" smtClean="0">
                                <a:solidFill>
                                  <a:schemeClr val="bg1"/>
                                </a:solidFill>
                                <a:latin typeface="Cambria Math" panose="02040503050406030204" pitchFamily="18" charset="0"/>
                              </a:rPr>
                              <m:t>,</m:t>
                            </m:r>
                            <m:r>
                              <a:rPr lang="zh-CN" altLang="en-US" sz="2400" i="1" smtClean="0">
                                <a:solidFill>
                                  <a:schemeClr val="bg1"/>
                                </a:solidFill>
                                <a:latin typeface="Cambria Math" panose="02040503050406030204" pitchFamily="18" charset="0"/>
                              </a:rPr>
                              <m:t>𝜈</m:t>
                            </m:r>
                          </m:e>
                        </m:d>
                      </m:e>
                    </m:nary>
                    <m:r>
                      <a:rPr lang="zh-CN" altLang="en-US" sz="2400" i="1" smtClean="0">
                        <a:solidFill>
                          <a:schemeClr val="bg1"/>
                        </a:solidFill>
                        <a:latin typeface="Cambria Math" panose="02040503050406030204" pitchFamily="18" charset="0"/>
                      </a:rPr>
                      <m:t>=</m:t>
                    </m:r>
                    <m:nary>
                      <m:naryPr>
                        <m:chr m:val="∑"/>
                        <m:limLoc m:val="undOvr"/>
                        <m:grow m:val="on"/>
                        <m:supHide m:val="on"/>
                        <m:ctrlPr>
                          <a:rPr lang="zh-CN" altLang="en-US" sz="2400" i="1" smtClean="0">
                            <a:solidFill>
                              <a:schemeClr val="bg1"/>
                            </a:solidFill>
                            <a:latin typeface="Cambria Math" panose="02040503050406030204" pitchFamily="18" charset="0"/>
                          </a:rPr>
                        </m:ctrlPr>
                      </m:naryPr>
                      <m:sub>
                        <m:d>
                          <m:dPr>
                            <m:ctrlPr>
                              <a:rPr lang="zh-CN" altLang="en-US" sz="2400" i="1" smtClean="0">
                                <a:solidFill>
                                  <a:schemeClr val="bg1"/>
                                </a:solidFill>
                                <a:latin typeface="Cambria Math" panose="02040503050406030204" pitchFamily="18" charset="0"/>
                              </a:rPr>
                            </m:ctrlPr>
                          </m:dPr>
                          <m:e>
                            <m:r>
                              <a:rPr lang="zh-CN" altLang="en-US" sz="2400" i="1" smtClean="0">
                                <a:solidFill>
                                  <a:schemeClr val="bg1"/>
                                </a:solidFill>
                                <a:latin typeface="Cambria Math" panose="02040503050406030204" pitchFamily="18" charset="0"/>
                              </a:rPr>
                              <m:t>𝑢</m:t>
                            </m:r>
                            <m:r>
                              <a:rPr lang="zh-CN" altLang="en-US" sz="2400" i="1" smtClean="0">
                                <a:solidFill>
                                  <a:schemeClr val="bg1"/>
                                </a:solidFill>
                                <a:latin typeface="Cambria Math" panose="02040503050406030204" pitchFamily="18" charset="0"/>
                              </a:rPr>
                              <m:t>,</m:t>
                            </m:r>
                            <m:r>
                              <a:rPr lang="zh-CN" altLang="en-US" sz="2400" i="1" smtClean="0">
                                <a:solidFill>
                                  <a:schemeClr val="bg1"/>
                                </a:solidFill>
                                <a:latin typeface="Cambria Math" panose="02040503050406030204" pitchFamily="18" charset="0"/>
                              </a:rPr>
                              <m:t>𝑡</m:t>
                            </m:r>
                          </m:e>
                        </m:d>
                        <m:r>
                          <a:rPr lang="zh-CN" altLang="en-US" sz="2400" i="1" smtClean="0">
                            <a:solidFill>
                              <a:schemeClr val="bg1"/>
                            </a:solidFill>
                            <a:latin typeface="Cambria Math" panose="02040503050406030204" pitchFamily="18" charset="0"/>
                          </a:rPr>
                          <m:t>∈</m:t>
                        </m:r>
                        <m:r>
                          <a:rPr lang="zh-CN" altLang="en-US" sz="2400" i="1" smtClean="0">
                            <a:solidFill>
                              <a:schemeClr val="bg1"/>
                            </a:solidFill>
                            <a:latin typeface="Cambria Math" panose="02040503050406030204" pitchFamily="18" charset="0"/>
                          </a:rPr>
                          <m:t>𝐸</m:t>
                        </m:r>
                      </m:sub>
                      <m:sup/>
                      <m:e>
                        <m:r>
                          <a:rPr lang="zh-CN" altLang="en-US" sz="2400" i="1" smtClean="0">
                            <a:solidFill>
                              <a:schemeClr val="bg1"/>
                            </a:solidFill>
                            <a:latin typeface="Cambria Math" panose="02040503050406030204" pitchFamily="18" charset="0"/>
                          </a:rPr>
                          <m:t>𝑓</m:t>
                        </m:r>
                        <m:d>
                          <m:dPr>
                            <m:ctrlPr>
                              <a:rPr lang="zh-CN" altLang="en-US" sz="2400" i="1" smtClean="0">
                                <a:solidFill>
                                  <a:schemeClr val="bg1"/>
                                </a:solidFill>
                                <a:latin typeface="Cambria Math" panose="02040503050406030204" pitchFamily="18" charset="0"/>
                              </a:rPr>
                            </m:ctrlPr>
                          </m:dPr>
                          <m:e>
                            <m:r>
                              <a:rPr lang="zh-CN" altLang="en-US" sz="2400" i="1" smtClean="0">
                                <a:solidFill>
                                  <a:schemeClr val="bg1"/>
                                </a:solidFill>
                                <a:latin typeface="Cambria Math" panose="02040503050406030204" pitchFamily="18" charset="0"/>
                              </a:rPr>
                              <m:t>𝑢</m:t>
                            </m:r>
                            <m:r>
                              <a:rPr lang="zh-CN" altLang="en-US" sz="2400" i="1" smtClean="0">
                                <a:solidFill>
                                  <a:schemeClr val="bg1"/>
                                </a:solidFill>
                                <a:latin typeface="Cambria Math" panose="02040503050406030204" pitchFamily="18" charset="0"/>
                              </a:rPr>
                              <m:t>,</m:t>
                            </m:r>
                            <m:r>
                              <a:rPr lang="zh-CN" altLang="en-US" sz="2400" i="1" smtClean="0">
                                <a:solidFill>
                                  <a:schemeClr val="bg1"/>
                                </a:solidFill>
                                <a:latin typeface="Cambria Math" panose="02040503050406030204" pitchFamily="18" charset="0"/>
                              </a:rPr>
                              <m:t>𝑡</m:t>
                            </m:r>
                          </m:e>
                        </m:d>
                      </m:e>
                    </m:nary>
                    <m:r>
                      <a:rPr lang="zh-CN" altLang="en-US" sz="2400" i="1">
                        <a:solidFill>
                          <a:schemeClr val="bg1"/>
                        </a:solidFill>
                        <a:latin typeface="Cambria Math" panose="02040503050406030204" pitchFamily="18" charset="0"/>
                      </a:rPr>
                      <m:t>。</m:t>
                    </m:r>
                  </m:oMath>
                </a14:m>
                <a:endParaRPr lang="zh-CN" altLang="en-US" dirty="0">
                  <a:solidFill>
                    <a:schemeClr val="bg1"/>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563245" y="2483485"/>
                <a:ext cx="9185275" cy="1891030"/>
              </a:xfrm>
              <a:prstGeom prst="rect">
                <a:avLst/>
              </a:prstGeom>
              <a:blipFill rotWithShape="1">
                <a:blip r:embed="rId1"/>
                <a:stretch>
                  <a:fillRect l="-863" t="-25694" b="-98611"/>
                </a:stretch>
              </a:blipFill>
            </p:spPr>
            <p:txBody>
              <a:bodyPr/>
              <a:lstStyle/>
              <a:p>
                <a:r>
                  <a:rPr lang="zh-CN" altLang="en-US">
                    <a:noFill/>
                  </a:rPr>
                  <a:t> </a:t>
                </a:r>
                <a:endParaRPr lang="zh-CN" altLang="en-US">
                  <a:noFill/>
                </a:endParaRPr>
              </a:p>
            </p:txBody>
          </p:sp>
        </mc:Fallback>
      </mc:AlternateContent>
      <p:sp>
        <p:nvSpPr>
          <p:cNvPr id="25" name="文本框 24"/>
          <p:cNvSpPr txBox="1"/>
          <p:nvPr/>
        </p:nvSpPr>
        <p:spPr>
          <a:xfrm>
            <a:off x="1723184" y="6194220"/>
            <a:ext cx="7380619" cy="461665"/>
          </a:xfrm>
          <a:prstGeom prst="rect">
            <a:avLst/>
          </a:prstGeom>
          <a:noFill/>
        </p:spPr>
        <p:txBody>
          <a:bodyPr wrap="square" rtlCol="0">
            <a:spAutoFit/>
          </a:bodyPr>
          <a:lstStyle/>
          <a:p>
            <a:r>
              <a:rPr lang="zh-CN" altLang="en-US" sz="2400" dirty="0">
                <a:solidFill>
                  <a:schemeClr val="bg1"/>
                </a:solidFill>
              </a:rPr>
              <a:t>例：图中便是一个最大流方案。</a:t>
            </a:r>
            <a:endParaRPr lang="zh-CN" altLang="en-US" sz="2400" dirty="0">
              <a:solidFill>
                <a:schemeClr val="bg1"/>
              </a:solidFill>
            </a:endParaRPr>
          </a:p>
        </p:txBody>
      </p:sp>
      <p:sp>
        <p:nvSpPr>
          <p:cNvPr id="26" name="流程图: 接点 25"/>
          <p:cNvSpPr/>
          <p:nvPr/>
        </p:nvSpPr>
        <p:spPr>
          <a:xfrm>
            <a:off x="2476929" y="4671194"/>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27" name="箭头: 右 26"/>
          <p:cNvSpPr/>
          <p:nvPr/>
        </p:nvSpPr>
        <p:spPr>
          <a:xfrm rot="20800407">
            <a:off x="2981855" y="4292797"/>
            <a:ext cx="2095776" cy="5093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2/2</a:t>
            </a:r>
            <a:endParaRPr lang="zh-CN" altLang="en-US" dirty="0"/>
          </a:p>
        </p:txBody>
      </p:sp>
      <p:sp>
        <p:nvSpPr>
          <p:cNvPr id="28" name="流程图: 接点 27"/>
          <p:cNvSpPr/>
          <p:nvPr/>
        </p:nvSpPr>
        <p:spPr>
          <a:xfrm>
            <a:off x="5127192" y="4057120"/>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29" name="箭头: 右 28"/>
          <p:cNvSpPr/>
          <p:nvPr/>
        </p:nvSpPr>
        <p:spPr>
          <a:xfrm rot="691438">
            <a:off x="5809773" y="4263203"/>
            <a:ext cx="1980500" cy="4821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3/3</a:t>
            </a:r>
            <a:endParaRPr lang="zh-CN" altLang="en-US" dirty="0"/>
          </a:p>
        </p:txBody>
      </p:sp>
      <p:sp>
        <p:nvSpPr>
          <p:cNvPr id="30" name="流程图: 接点 29"/>
          <p:cNvSpPr/>
          <p:nvPr/>
        </p:nvSpPr>
        <p:spPr>
          <a:xfrm>
            <a:off x="7849997" y="4624458"/>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31" name="箭头: 右 30"/>
          <p:cNvSpPr/>
          <p:nvPr/>
        </p:nvSpPr>
        <p:spPr>
          <a:xfrm rot="884992">
            <a:off x="2999663" y="5038678"/>
            <a:ext cx="2092694" cy="5130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2/2</a:t>
            </a:r>
            <a:endParaRPr lang="zh-CN" altLang="en-US" dirty="0"/>
          </a:p>
        </p:txBody>
      </p:sp>
      <p:sp>
        <p:nvSpPr>
          <p:cNvPr id="32" name="流程图: 接点 31"/>
          <p:cNvSpPr/>
          <p:nvPr/>
        </p:nvSpPr>
        <p:spPr>
          <a:xfrm>
            <a:off x="5148526" y="5465757"/>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33" name="箭头: 右 32"/>
          <p:cNvSpPr/>
          <p:nvPr/>
        </p:nvSpPr>
        <p:spPr>
          <a:xfrm rot="16200000">
            <a:off x="4976092" y="4735815"/>
            <a:ext cx="829501"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1/2</a:t>
            </a:r>
            <a:endParaRPr lang="zh-CN" altLang="en-US" dirty="0"/>
          </a:p>
        </p:txBody>
      </p:sp>
      <p:sp>
        <p:nvSpPr>
          <p:cNvPr id="34" name="箭头: 右 33"/>
          <p:cNvSpPr/>
          <p:nvPr/>
        </p:nvSpPr>
        <p:spPr>
          <a:xfrm rot="20705397">
            <a:off x="5852099" y="5116091"/>
            <a:ext cx="1966376"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17" name="箭头: V 形 16">
            <a:hlinkClick r:id="rId2"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22996" y="896788"/>
            <a:ext cx="7958296" cy="830997"/>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基本概念</a:t>
            </a:r>
            <a:endParaRPr lang="en-US" altLang="zh-CN" sz="2400" dirty="0">
              <a:solidFill>
                <a:schemeClr val="bg1"/>
              </a:solidFill>
            </a:endParaRPr>
          </a:p>
          <a:p>
            <a:pPr algn="l"/>
            <a:r>
              <a:rPr lang="en-US" altLang="zh-CN" sz="2400" dirty="0">
                <a:solidFill>
                  <a:schemeClr val="bg1"/>
                </a:solidFill>
              </a:rPr>
              <a:t>	</a:t>
            </a:r>
            <a:endParaRPr lang="en-US" altLang="zh-CN" sz="2400" dirty="0">
              <a:solidFill>
                <a:schemeClr val="bg1"/>
              </a:solidFill>
            </a:endParaRPr>
          </a:p>
        </p:txBody>
      </p:sp>
      <p:sp>
        <p:nvSpPr>
          <p:cNvPr id="16" name="流程图: 接点 15"/>
          <p:cNvSpPr/>
          <p:nvPr/>
        </p:nvSpPr>
        <p:spPr>
          <a:xfrm>
            <a:off x="1184104" y="4907165"/>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17" name="箭头: 右 16"/>
          <p:cNvSpPr/>
          <p:nvPr/>
        </p:nvSpPr>
        <p:spPr>
          <a:xfrm rot="19997885">
            <a:off x="1647497" y="4384900"/>
            <a:ext cx="1367290" cy="509346"/>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1/2</a:t>
            </a:r>
            <a:endParaRPr lang="zh-CN" altLang="en-US" dirty="0"/>
          </a:p>
        </p:txBody>
      </p:sp>
      <p:sp>
        <p:nvSpPr>
          <p:cNvPr id="18" name="流程图: 接点 17"/>
          <p:cNvSpPr/>
          <p:nvPr/>
        </p:nvSpPr>
        <p:spPr>
          <a:xfrm>
            <a:off x="3046900" y="3938744"/>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20" name="箭头: 右 19"/>
          <p:cNvSpPr/>
          <p:nvPr/>
        </p:nvSpPr>
        <p:spPr>
          <a:xfrm rot="1460714">
            <a:off x="3592062" y="4316417"/>
            <a:ext cx="1480085" cy="4821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1/3</a:t>
            </a:r>
            <a:endParaRPr lang="zh-CN" altLang="en-US" dirty="0"/>
          </a:p>
        </p:txBody>
      </p:sp>
      <p:sp>
        <p:nvSpPr>
          <p:cNvPr id="26" name="流程图: 接点 25"/>
          <p:cNvSpPr/>
          <p:nvPr/>
        </p:nvSpPr>
        <p:spPr>
          <a:xfrm>
            <a:off x="5075000" y="4912035"/>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27" name="箭头: 右 26"/>
          <p:cNvSpPr/>
          <p:nvPr/>
        </p:nvSpPr>
        <p:spPr>
          <a:xfrm rot="1716815">
            <a:off x="1629973" y="5416191"/>
            <a:ext cx="1367978" cy="5130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sp>
        <p:nvSpPr>
          <p:cNvPr id="28" name="流程图: 接点 27"/>
          <p:cNvSpPr/>
          <p:nvPr/>
        </p:nvSpPr>
        <p:spPr>
          <a:xfrm>
            <a:off x="3052826" y="5859542"/>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29" name="箭头: 右 28"/>
          <p:cNvSpPr/>
          <p:nvPr/>
        </p:nvSpPr>
        <p:spPr>
          <a:xfrm rot="16200000">
            <a:off x="2715122" y="4880403"/>
            <a:ext cx="118456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sp>
        <p:nvSpPr>
          <p:cNvPr id="30" name="箭头: 右 29"/>
          <p:cNvSpPr/>
          <p:nvPr/>
        </p:nvSpPr>
        <p:spPr>
          <a:xfrm rot="19999811">
            <a:off x="3648812" y="5416770"/>
            <a:ext cx="1393091"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31" name="流程图: 接点 30"/>
          <p:cNvSpPr/>
          <p:nvPr/>
        </p:nvSpPr>
        <p:spPr>
          <a:xfrm>
            <a:off x="6885251" y="4907166"/>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32" name="箭头: 右 31"/>
          <p:cNvSpPr/>
          <p:nvPr/>
        </p:nvSpPr>
        <p:spPr>
          <a:xfrm rot="19997885">
            <a:off x="7348644" y="4384901"/>
            <a:ext cx="1367290" cy="5093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33" name="流程图: 接点 32"/>
          <p:cNvSpPr/>
          <p:nvPr/>
        </p:nvSpPr>
        <p:spPr>
          <a:xfrm>
            <a:off x="8748047" y="3938745"/>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34" name="箭头: 右 33"/>
          <p:cNvSpPr/>
          <p:nvPr/>
        </p:nvSpPr>
        <p:spPr>
          <a:xfrm rot="1460714">
            <a:off x="9293209" y="4316418"/>
            <a:ext cx="1480085" cy="4821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35" name="流程图: 接点 34"/>
          <p:cNvSpPr/>
          <p:nvPr/>
        </p:nvSpPr>
        <p:spPr>
          <a:xfrm>
            <a:off x="10776147" y="4912036"/>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36" name="箭头: 右 35"/>
          <p:cNvSpPr/>
          <p:nvPr/>
        </p:nvSpPr>
        <p:spPr>
          <a:xfrm rot="1716815">
            <a:off x="7331120" y="5416192"/>
            <a:ext cx="1367978" cy="5130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37" name="流程图: 接点 36"/>
          <p:cNvSpPr/>
          <p:nvPr/>
        </p:nvSpPr>
        <p:spPr>
          <a:xfrm>
            <a:off x="8753973" y="5859543"/>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38" name="箭头: 右 37"/>
          <p:cNvSpPr/>
          <p:nvPr/>
        </p:nvSpPr>
        <p:spPr>
          <a:xfrm rot="16200000">
            <a:off x="8416269" y="4880404"/>
            <a:ext cx="118456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39" name="箭头: 右 38"/>
          <p:cNvSpPr/>
          <p:nvPr/>
        </p:nvSpPr>
        <p:spPr>
          <a:xfrm rot="19999811">
            <a:off x="9349959" y="5416771"/>
            <a:ext cx="1393091"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mc:AlternateContent xmlns:mc="http://schemas.openxmlformats.org/markup-compatibility/2006">
        <mc:Choice xmlns:a14="http://schemas.microsoft.com/office/drawing/2010/main" Requires="a14">
          <p:sp>
            <p:nvSpPr>
              <p:cNvPr id="59" name="文本框 58">
                <a:extLst>
                  <a:ext uri="{FF2B5EF4-FFF2-40B4-BE49-F238E27FC236}">
                    <a14:artisticCrisscrossEtching id="{00AD3CC9-F77D-4BD7-904D-0E711AB7794A}"/>
                  </a:ext>
                </a:extLst>
              </p:cNvPr>
              <p:cNvSpPr txBox="1"/>
              <p:nvPr/>
            </p:nvSpPr>
            <p:spPr>
              <a:xfrm>
                <a:off x="5857992" y="4750626"/>
                <a:ext cx="687353" cy="73866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zh-CN" altLang="en-US" sz="4800" dirty="0" smtClean="0">
                          <a:solidFill>
                            <a:schemeClr val="bg1"/>
                          </a:solidFill>
                          <a:latin typeface="Cambria Math" panose="02040503050406030204" pitchFamily="18" charset="0"/>
                        </a:rPr>
                        <m:t>⇒</m:t>
                      </m:r>
                    </m:oMath>
                  </m:oMathPara>
                </a14:m>
                <a:endParaRPr lang="zh-CN" altLang="en-US" sz="4800" dirty="0">
                  <a:solidFill>
                    <a:schemeClr val="bg1"/>
                  </a:solidFill>
                </a:endParaRPr>
              </a:p>
            </p:txBody>
          </p:sp>
        </mc:Choice>
        <mc:Fallback>
          <p:sp>
            <p:nvSpPr>
              <p:cNvPr id="59" name="文本框 58"/>
              <p:cNvSpPr txBox="1">
                <a:spLocks noRot="1" noChangeAspect="1" noMove="1" noResize="1" noEditPoints="1" noAdjustHandles="1" noChangeArrowheads="1" noChangeShapeType="1" noTextEdit="1"/>
              </p:cNvSpPr>
              <p:nvPr/>
            </p:nvSpPr>
            <p:spPr>
              <a:xfrm>
                <a:off x="5857992" y="4750626"/>
                <a:ext cx="687353" cy="738664"/>
              </a:xfrm>
              <a:prstGeom prst="rect">
                <a:avLst/>
              </a:prstGeom>
              <a:blipFill rotWithShape="1">
                <a:blip r:embed="rId1"/>
                <a:stretch>
                  <a:fillRect/>
                </a:stretch>
              </a:blipFill>
            </p:spPr>
            <p:txBody>
              <a:bodyPr/>
              <a:lstStyle/>
              <a:p>
                <a:r>
                  <a:rPr lang="zh-CN" altLang="en-US">
                    <a:noFill/>
                  </a:rPr>
                  <a:t> </a:t>
                </a:r>
                <a:endParaRPr lang="zh-CN" altLang="en-US">
                  <a:noFill/>
                </a:endParaRPr>
              </a:p>
            </p:txBody>
          </p:sp>
        </mc:Fallback>
      </mc:AlternateContent>
      <p:cxnSp>
        <p:nvCxnSpPr>
          <p:cNvPr id="66" name="直接箭头连接符 65"/>
          <p:cNvCxnSpPr/>
          <p:nvPr/>
        </p:nvCxnSpPr>
        <p:spPr>
          <a:xfrm flipH="1">
            <a:off x="7122472" y="4032782"/>
            <a:ext cx="1470809" cy="71784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flipH="1" flipV="1">
            <a:off x="9378619" y="4032782"/>
            <a:ext cx="1335770" cy="5562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flipH="1" flipV="1">
            <a:off x="7184143" y="5510858"/>
            <a:ext cx="1333815" cy="7617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H="1">
            <a:off x="9555213" y="5611139"/>
            <a:ext cx="1066358" cy="5612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flipH="1">
            <a:off x="9304087" y="4679590"/>
            <a:ext cx="3422" cy="8807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7590414" y="4096863"/>
            <a:ext cx="723306"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80" name="文本框 79"/>
          <p:cNvSpPr txBox="1"/>
          <p:nvPr/>
        </p:nvSpPr>
        <p:spPr>
          <a:xfrm>
            <a:off x="9923772" y="4000118"/>
            <a:ext cx="852375"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81" name="文本框 80"/>
          <p:cNvSpPr txBox="1"/>
          <p:nvPr/>
        </p:nvSpPr>
        <p:spPr>
          <a:xfrm>
            <a:off x="7495769" y="5818079"/>
            <a:ext cx="817951"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82" name="文本框 81"/>
          <p:cNvSpPr txBox="1"/>
          <p:nvPr/>
        </p:nvSpPr>
        <p:spPr>
          <a:xfrm>
            <a:off x="10014048" y="5812481"/>
            <a:ext cx="935640"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83" name="文本框 82"/>
          <p:cNvSpPr txBox="1"/>
          <p:nvPr/>
        </p:nvSpPr>
        <p:spPr>
          <a:xfrm>
            <a:off x="9284396" y="4989616"/>
            <a:ext cx="545153"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84" name="文本框 83"/>
          <p:cNvSpPr txBox="1"/>
          <p:nvPr/>
        </p:nvSpPr>
        <p:spPr>
          <a:xfrm>
            <a:off x="987572" y="1484313"/>
            <a:ext cx="9962116" cy="2308324"/>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solidFill>
                  <a:schemeClr val="bg1"/>
                </a:solidFill>
              </a:rPr>
              <a:t>增广路：假设有这样一条路径，从源点</a:t>
            </a:r>
            <a:r>
              <a:rPr lang="en-US" altLang="zh-CN" sz="2400" dirty="0">
                <a:solidFill>
                  <a:schemeClr val="bg1"/>
                </a:solidFill>
              </a:rPr>
              <a:t>s</a:t>
            </a:r>
            <a:r>
              <a:rPr lang="zh-CN" altLang="en-US" sz="2400" dirty="0">
                <a:solidFill>
                  <a:schemeClr val="bg1"/>
                </a:solidFill>
              </a:rPr>
              <a:t>一直到汇点</a:t>
            </a:r>
            <a:r>
              <a:rPr lang="en-US" altLang="zh-CN" sz="2400" dirty="0">
                <a:solidFill>
                  <a:schemeClr val="bg1"/>
                </a:solidFill>
              </a:rPr>
              <a:t>t</a:t>
            </a:r>
            <a:r>
              <a:rPr lang="zh-CN" altLang="en-US" sz="2400" dirty="0">
                <a:solidFill>
                  <a:schemeClr val="bg1"/>
                </a:solidFill>
              </a:rPr>
              <a:t>每条边的已用流量都小于容量，那我们便能找到在这条路径上能够增加的流量的最大值 </a:t>
            </a:r>
            <a:r>
              <a:rPr lang="en-US" altLang="zh-CN" sz="2400" dirty="0" err="1">
                <a:solidFill>
                  <a:schemeClr val="bg1"/>
                </a:solidFill>
              </a:rPr>
              <a:t>val</a:t>
            </a:r>
            <a:r>
              <a:rPr lang="en-US" altLang="zh-CN" sz="2400" dirty="0">
                <a:solidFill>
                  <a:schemeClr val="bg1"/>
                </a:solidFill>
              </a:rPr>
              <a:t> = min{c(</a:t>
            </a:r>
            <a:r>
              <a:rPr lang="en-US" altLang="zh-CN" sz="2400" dirty="0" err="1">
                <a:solidFill>
                  <a:schemeClr val="bg1"/>
                </a:solidFill>
              </a:rPr>
              <a:t>u,v</a:t>
            </a:r>
            <a:r>
              <a:rPr lang="en-US" altLang="zh-CN" sz="2400" dirty="0">
                <a:solidFill>
                  <a:schemeClr val="bg1"/>
                </a:solidFill>
              </a:rPr>
              <a:t>)-f(</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。加上这个值后，这个流依然是可行流，而这条路径就是增广路。</a:t>
            </a:r>
            <a:endParaRPr lang="en-US" altLang="zh-CN" sz="2400" dirty="0">
              <a:solidFill>
                <a:schemeClr val="bg1"/>
              </a:solidFill>
            </a:endParaRPr>
          </a:p>
          <a:p>
            <a:pPr marL="342900" indent="-342900">
              <a:buFont typeface="Arial" panose="020B0604020202020204" pitchFamily="34" charset="0"/>
              <a:buChar char="•"/>
            </a:pPr>
            <a:r>
              <a:rPr lang="zh-CN" altLang="en-US" sz="2400" dirty="0">
                <a:solidFill>
                  <a:schemeClr val="bg1"/>
                </a:solidFill>
              </a:rPr>
              <a:t>残余网络：每条边减去已用的流量，再在反向边上加上相同的流量。</a:t>
            </a:r>
            <a:endParaRPr lang="en-US" altLang="zh-CN" sz="2400" dirty="0">
              <a:solidFill>
                <a:schemeClr val="bg1"/>
              </a:solidFill>
            </a:endParaRPr>
          </a:p>
          <a:p>
            <a:r>
              <a:rPr lang="en-US" altLang="zh-CN" sz="2400" dirty="0">
                <a:solidFill>
                  <a:schemeClr val="bg1"/>
                </a:solidFill>
              </a:rPr>
              <a:t>    </a:t>
            </a:r>
            <a:r>
              <a:rPr lang="zh-CN" altLang="en-US" sz="2400" dirty="0">
                <a:solidFill>
                  <a:schemeClr val="bg1"/>
                </a:solidFill>
              </a:rPr>
              <a:t>如图：</a:t>
            </a:r>
            <a:endParaRPr lang="en-US" altLang="zh-CN" sz="2400" dirty="0">
              <a:solidFill>
                <a:schemeClr val="bg1"/>
              </a:solidFill>
            </a:endParaRPr>
          </a:p>
        </p:txBody>
      </p:sp>
      <p:sp>
        <p:nvSpPr>
          <p:cNvPr id="40" name="箭头: V 形 39">
            <a:hlinkClick r:id="rId2"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893135"/>
            <a:ext cx="7814930" cy="2308324"/>
          </a:xfrm>
          <a:prstGeom prst="rect">
            <a:avLst/>
          </a:prstGeom>
          <a:noFill/>
        </p:spPr>
        <p:txBody>
          <a:bodyPr wrap="square" rtlCol="0">
            <a:spAutoFit/>
          </a:bodyPr>
          <a:lstStyle/>
          <a:p>
            <a:pPr marL="285750" indent="-285750" algn="l">
              <a:buFont typeface="Wingdings" panose="05000000000000000000" pitchFamily="2" charset="2"/>
              <a:buChar char="Ø"/>
            </a:pPr>
            <a:r>
              <a:rPr lang="zh-CN" altLang="en-US" sz="2400" dirty="0">
                <a:solidFill>
                  <a:schemeClr val="bg1"/>
                </a:solidFill>
              </a:rPr>
              <a:t>思想：从零流开始不断寻找增广路。</a:t>
            </a:r>
            <a:endParaRPr lang="en-US" altLang="zh-CN" sz="2400" dirty="0">
              <a:solidFill>
                <a:schemeClr val="bg1"/>
              </a:solidFill>
            </a:endParaRPr>
          </a:p>
          <a:p>
            <a:pPr marL="285750" indent="-285750" algn="l">
              <a:buFont typeface="Wingdings" panose="05000000000000000000" pitchFamily="2" charset="2"/>
              <a:buChar char="Ø"/>
            </a:pPr>
            <a:r>
              <a:rPr lang="zh-CN" altLang="en-US" sz="2400" dirty="0">
                <a:solidFill>
                  <a:schemeClr val="bg1"/>
                </a:solidFill>
              </a:rPr>
              <a:t>依据：增广路定理：假如当前残余网络中仍能找到一条增广路，那么当前的可行流仍可以增大，不是最大流。反之，如果到了“无路可增”的地步，当前流就是最大流。</a:t>
            </a:r>
            <a:endParaRPr lang="en-US" altLang="zh-CN" sz="2400" dirty="0">
              <a:solidFill>
                <a:schemeClr val="bg1"/>
              </a:solidFill>
            </a:endParaRPr>
          </a:p>
          <a:p>
            <a:pPr marL="285750" indent="-285750" algn="l">
              <a:buFont typeface="Wingdings" panose="05000000000000000000" pitchFamily="2" charset="2"/>
              <a:buChar char="Ø"/>
            </a:pPr>
            <a:r>
              <a:rPr lang="zh-CN" altLang="en-US" sz="2400" dirty="0">
                <a:solidFill>
                  <a:schemeClr val="bg1"/>
                </a:solidFill>
              </a:rPr>
              <a:t>实现过程</a:t>
            </a:r>
            <a:endParaRPr lang="en-US" altLang="zh-CN" sz="2400" dirty="0">
              <a:solidFill>
                <a:schemeClr val="bg1"/>
              </a:solidFill>
            </a:endParaRPr>
          </a:p>
        </p:txBody>
      </p:sp>
      <p:sp>
        <p:nvSpPr>
          <p:cNvPr id="5" name="文本框 4"/>
          <p:cNvSpPr txBox="1"/>
          <p:nvPr/>
        </p:nvSpPr>
        <p:spPr>
          <a:xfrm>
            <a:off x="946298" y="3201459"/>
            <a:ext cx="8559209" cy="3416320"/>
          </a:xfrm>
          <a:prstGeom prst="rect">
            <a:avLst/>
          </a:prstGeom>
          <a:noFill/>
        </p:spPr>
        <p:txBody>
          <a:bodyPr wrap="square" rtlCol="0">
            <a:spAutoFit/>
          </a:bodyPr>
          <a:lstStyle/>
          <a:p>
            <a:pPr marL="285750" indent="-285750" algn="l">
              <a:buFont typeface="Arial" panose="020B0604020202020204" pitchFamily="34" charset="0"/>
              <a:buChar char="•"/>
            </a:pPr>
            <a:r>
              <a:rPr lang="zh-CN" altLang="en-US" sz="2400" dirty="0">
                <a:solidFill>
                  <a:schemeClr val="bg1"/>
                </a:solidFill>
              </a:rPr>
              <a:t>为什么要加反向边？</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首先，假如没有反向边的话，那么找增广路其实是需要              </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按照一定的组合，才能找到最大流。</a:t>
            </a:r>
            <a:r>
              <a:rPr lang="zh-CN" altLang="en-US" sz="2400" dirty="0">
                <a:solidFill>
                  <a:schemeClr val="bg2"/>
                </a:solidFill>
                <a:hlinkClick r:id="rId1" action="ppaction://hlinksldjump"/>
              </a:rPr>
              <a:t>例</a:t>
            </a:r>
            <a:r>
              <a:rPr lang="zh-CN" altLang="en-US" sz="2400" dirty="0">
                <a:solidFill>
                  <a:schemeClr val="bg1"/>
                </a:solidFill>
              </a:rPr>
              <a:t>。也就是说，我们  </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无法在找到一条增广路时，确保这样可能是一种可行的最</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大流的方案。因此，我们需要对前面的方案进行调整，比</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如有的边流量不需要使用，需要“退”回去，反向边就起  </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到这样的作用。</a:t>
            </a:r>
            <a:r>
              <a:rPr lang="zh-CN" altLang="en-US" sz="2400" dirty="0">
                <a:solidFill>
                  <a:schemeClr val="bg1"/>
                </a:solidFill>
                <a:hlinkClick r:id="rId2" action="ppaction://hlinksldjump"/>
              </a:rPr>
              <a:t>例</a:t>
            </a:r>
            <a:r>
              <a:rPr lang="zh-CN" altLang="en-US" sz="2400" dirty="0">
                <a:solidFill>
                  <a:schemeClr val="bg1"/>
                </a:solidFill>
              </a:rPr>
              <a:t>。</a:t>
            </a:r>
            <a:endParaRPr lang="en-US" altLang="zh-CN" sz="2400" dirty="0">
              <a:solidFill>
                <a:schemeClr val="bg2"/>
              </a:solidFill>
            </a:endParaRPr>
          </a:p>
          <a:p>
            <a:pPr marL="342900" indent="-342900">
              <a:buFont typeface="Arial" panose="020B0604020202020204" pitchFamily="34" charset="0"/>
              <a:buChar char="•"/>
            </a:pPr>
            <a:r>
              <a:rPr lang="zh-CN" altLang="en-US" sz="2400" dirty="0">
                <a:solidFill>
                  <a:schemeClr val="bg1"/>
                </a:solidFill>
              </a:rPr>
              <a:t>在实际运行过程中反向边与原来的边是没有区分的，这样一步步找增广路就可以确保最终为最大流。</a:t>
            </a:r>
            <a:endParaRPr lang="en-US" altLang="zh-CN" sz="2400" dirty="0">
              <a:solidFill>
                <a:schemeClr val="bg2"/>
              </a:solidFill>
            </a:endParaRPr>
          </a:p>
        </p:txBody>
      </p:sp>
      <p:sp>
        <p:nvSpPr>
          <p:cNvPr id="6" name="箭头: V 形 5">
            <a:hlinkClick r:id="rId1"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流程图: 接点 2"/>
          <p:cNvSpPr/>
          <p:nvPr/>
        </p:nvSpPr>
        <p:spPr>
          <a:xfrm>
            <a:off x="622996" y="2047006"/>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4" name="箭头: 右 3"/>
          <p:cNvSpPr/>
          <p:nvPr/>
        </p:nvSpPr>
        <p:spPr>
          <a:xfrm rot="19997885">
            <a:off x="1086389" y="1524741"/>
            <a:ext cx="1367290" cy="509346"/>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5" name="流程图: 接点 4"/>
          <p:cNvSpPr/>
          <p:nvPr/>
        </p:nvSpPr>
        <p:spPr>
          <a:xfrm>
            <a:off x="2485792" y="1078585"/>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6" name="箭头: 右 5"/>
          <p:cNvSpPr/>
          <p:nvPr/>
        </p:nvSpPr>
        <p:spPr>
          <a:xfrm rot="1460714">
            <a:off x="3030954" y="1456258"/>
            <a:ext cx="1480085" cy="4821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8" name="流程图: 接点 7"/>
          <p:cNvSpPr/>
          <p:nvPr/>
        </p:nvSpPr>
        <p:spPr>
          <a:xfrm>
            <a:off x="4513892" y="2051876"/>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9" name="箭头: 右 8"/>
          <p:cNvSpPr/>
          <p:nvPr/>
        </p:nvSpPr>
        <p:spPr>
          <a:xfrm rot="1716815">
            <a:off x="1068865" y="2556032"/>
            <a:ext cx="1367978" cy="5130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10" name="流程图: 接点 9"/>
          <p:cNvSpPr/>
          <p:nvPr/>
        </p:nvSpPr>
        <p:spPr>
          <a:xfrm>
            <a:off x="2491718" y="2999383"/>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1" name="箭头: 右 10"/>
          <p:cNvSpPr/>
          <p:nvPr/>
        </p:nvSpPr>
        <p:spPr>
          <a:xfrm rot="16200000">
            <a:off x="2154014" y="2020244"/>
            <a:ext cx="118456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12" name="箭头: 右 11"/>
          <p:cNvSpPr/>
          <p:nvPr/>
        </p:nvSpPr>
        <p:spPr>
          <a:xfrm rot="19999811">
            <a:off x="3087704" y="2556611"/>
            <a:ext cx="1393091"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cxnSp>
        <p:nvCxnSpPr>
          <p:cNvPr id="17" name="直接箭头连接符 16"/>
          <p:cNvCxnSpPr/>
          <p:nvPr/>
        </p:nvCxnSpPr>
        <p:spPr>
          <a:xfrm flipV="1">
            <a:off x="893135" y="946297"/>
            <a:ext cx="1839432" cy="88250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732567" y="946297"/>
            <a:ext cx="2049276" cy="8825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908877" y="2767589"/>
            <a:ext cx="1837418" cy="92190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2825492" y="2594611"/>
            <a:ext cx="1925621" cy="106795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1596860" y="987957"/>
            <a:ext cx="510363" cy="369332"/>
          </a:xfrm>
          <a:prstGeom prst="rect">
            <a:avLst/>
          </a:prstGeom>
          <a:noFill/>
        </p:spPr>
        <p:txBody>
          <a:bodyPr wrap="square" rtlCol="0">
            <a:spAutoFit/>
          </a:bodyPr>
          <a:lstStyle/>
          <a:p>
            <a:pPr algn="l"/>
            <a:r>
              <a:rPr lang="en-US" altLang="zh-CN" dirty="0">
                <a:solidFill>
                  <a:srgbClr val="FF0000"/>
                </a:solidFill>
              </a:rPr>
              <a:t>1</a:t>
            </a:r>
            <a:endParaRPr lang="zh-CN" altLang="en-US" dirty="0">
              <a:solidFill>
                <a:srgbClr val="FF0000"/>
              </a:solidFill>
            </a:endParaRPr>
          </a:p>
        </p:txBody>
      </p:sp>
      <p:sp>
        <p:nvSpPr>
          <p:cNvPr id="41" name="文本框 40"/>
          <p:cNvSpPr txBox="1"/>
          <p:nvPr/>
        </p:nvSpPr>
        <p:spPr>
          <a:xfrm>
            <a:off x="3659159" y="981130"/>
            <a:ext cx="510363" cy="369332"/>
          </a:xfrm>
          <a:prstGeom prst="rect">
            <a:avLst/>
          </a:prstGeom>
          <a:noFill/>
        </p:spPr>
        <p:txBody>
          <a:bodyPr wrap="square" rtlCol="0">
            <a:spAutoFit/>
          </a:bodyPr>
          <a:lstStyle/>
          <a:p>
            <a:pPr algn="l"/>
            <a:r>
              <a:rPr lang="en-US" altLang="zh-CN" dirty="0">
                <a:solidFill>
                  <a:srgbClr val="FF0000"/>
                </a:solidFill>
              </a:rPr>
              <a:t>1</a:t>
            </a:r>
            <a:endParaRPr lang="zh-CN" altLang="en-US" dirty="0">
              <a:solidFill>
                <a:srgbClr val="FF0000"/>
              </a:solidFill>
            </a:endParaRPr>
          </a:p>
        </p:txBody>
      </p:sp>
      <p:sp>
        <p:nvSpPr>
          <p:cNvPr id="46" name="文本框 45"/>
          <p:cNvSpPr txBox="1"/>
          <p:nvPr/>
        </p:nvSpPr>
        <p:spPr>
          <a:xfrm>
            <a:off x="1445116" y="3158079"/>
            <a:ext cx="510363" cy="369332"/>
          </a:xfrm>
          <a:prstGeom prst="rect">
            <a:avLst/>
          </a:prstGeom>
          <a:noFill/>
        </p:spPr>
        <p:txBody>
          <a:bodyPr wrap="square" rtlCol="0">
            <a:spAutoFit/>
          </a:bodyPr>
          <a:lstStyle/>
          <a:p>
            <a:pPr algn="l"/>
            <a:r>
              <a:rPr lang="en-US" altLang="zh-CN" dirty="0">
                <a:solidFill>
                  <a:srgbClr val="00B0F0"/>
                </a:solidFill>
              </a:rPr>
              <a:t>1</a:t>
            </a:r>
            <a:endParaRPr lang="zh-CN" altLang="en-US" dirty="0">
              <a:solidFill>
                <a:srgbClr val="00B0F0"/>
              </a:solidFill>
            </a:endParaRPr>
          </a:p>
        </p:txBody>
      </p:sp>
      <p:sp>
        <p:nvSpPr>
          <p:cNvPr id="47" name="文本框 46"/>
          <p:cNvSpPr txBox="1"/>
          <p:nvPr/>
        </p:nvSpPr>
        <p:spPr>
          <a:xfrm>
            <a:off x="3785643" y="3129719"/>
            <a:ext cx="510363" cy="369332"/>
          </a:xfrm>
          <a:prstGeom prst="rect">
            <a:avLst/>
          </a:prstGeom>
          <a:noFill/>
        </p:spPr>
        <p:txBody>
          <a:bodyPr wrap="square" rtlCol="0">
            <a:spAutoFit/>
          </a:bodyPr>
          <a:lstStyle/>
          <a:p>
            <a:pPr algn="l"/>
            <a:r>
              <a:rPr lang="en-US" altLang="zh-CN" dirty="0">
                <a:solidFill>
                  <a:srgbClr val="00B0F0"/>
                </a:solidFill>
              </a:rPr>
              <a:t>1</a:t>
            </a:r>
            <a:endParaRPr lang="zh-CN" altLang="en-US" dirty="0">
              <a:solidFill>
                <a:srgbClr val="00B0F0"/>
              </a:solidFill>
            </a:endParaRPr>
          </a:p>
        </p:txBody>
      </p:sp>
      <p:sp>
        <p:nvSpPr>
          <p:cNvPr id="48" name="文本框 47"/>
          <p:cNvSpPr txBox="1"/>
          <p:nvPr/>
        </p:nvSpPr>
        <p:spPr>
          <a:xfrm>
            <a:off x="628184" y="4159576"/>
            <a:ext cx="4720856" cy="830997"/>
          </a:xfrm>
          <a:prstGeom prst="rect">
            <a:avLst/>
          </a:prstGeom>
          <a:noFill/>
        </p:spPr>
        <p:txBody>
          <a:bodyPr wrap="square" rtlCol="0">
            <a:spAutoFit/>
          </a:bodyPr>
          <a:lstStyle/>
          <a:p>
            <a:pPr algn="l"/>
            <a:r>
              <a:rPr lang="zh-CN" altLang="en-US" sz="2400" dirty="0">
                <a:solidFill>
                  <a:schemeClr val="bg1"/>
                </a:solidFill>
              </a:rPr>
              <a:t>如图，若是按这两条增广路径，就是最大流。</a:t>
            </a:r>
            <a:endParaRPr lang="zh-CN" altLang="en-US" sz="2400" dirty="0">
              <a:solidFill>
                <a:schemeClr val="bg1"/>
              </a:solidFill>
            </a:endParaRPr>
          </a:p>
        </p:txBody>
      </p:sp>
      <p:sp>
        <p:nvSpPr>
          <p:cNvPr id="49" name="流程图: 接点 48"/>
          <p:cNvSpPr/>
          <p:nvPr/>
        </p:nvSpPr>
        <p:spPr>
          <a:xfrm>
            <a:off x="5821286" y="2047006"/>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50" name="箭头: 右 49"/>
          <p:cNvSpPr/>
          <p:nvPr/>
        </p:nvSpPr>
        <p:spPr>
          <a:xfrm rot="19997885">
            <a:off x="6284679" y="1524741"/>
            <a:ext cx="1367290" cy="509346"/>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51" name="流程图: 接点 50"/>
          <p:cNvSpPr/>
          <p:nvPr/>
        </p:nvSpPr>
        <p:spPr>
          <a:xfrm>
            <a:off x="7684082" y="1078585"/>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52" name="箭头: 右 51"/>
          <p:cNvSpPr/>
          <p:nvPr/>
        </p:nvSpPr>
        <p:spPr>
          <a:xfrm rot="1460714">
            <a:off x="8229244" y="1456258"/>
            <a:ext cx="1480085" cy="48213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53" name="流程图: 接点 52"/>
          <p:cNvSpPr/>
          <p:nvPr/>
        </p:nvSpPr>
        <p:spPr>
          <a:xfrm>
            <a:off x="9712182" y="2051876"/>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54" name="箭头: 右 53"/>
          <p:cNvSpPr/>
          <p:nvPr/>
        </p:nvSpPr>
        <p:spPr>
          <a:xfrm rot="1716815">
            <a:off x="6267155" y="2556032"/>
            <a:ext cx="1367978" cy="51305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55" name="流程图: 接点 54"/>
          <p:cNvSpPr/>
          <p:nvPr/>
        </p:nvSpPr>
        <p:spPr>
          <a:xfrm>
            <a:off x="7690008" y="2999383"/>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56" name="箭头: 右 55"/>
          <p:cNvSpPr/>
          <p:nvPr/>
        </p:nvSpPr>
        <p:spPr>
          <a:xfrm rot="16200000">
            <a:off x="7352304" y="2020244"/>
            <a:ext cx="1184564" cy="48463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57" name="箭头: 右 56"/>
          <p:cNvSpPr/>
          <p:nvPr/>
        </p:nvSpPr>
        <p:spPr>
          <a:xfrm rot="19999811">
            <a:off x="8285994" y="2556611"/>
            <a:ext cx="1393091"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58" name="文本框 57"/>
          <p:cNvSpPr txBox="1"/>
          <p:nvPr/>
        </p:nvSpPr>
        <p:spPr>
          <a:xfrm>
            <a:off x="5885730" y="4161822"/>
            <a:ext cx="4619886" cy="1569660"/>
          </a:xfrm>
          <a:prstGeom prst="rect">
            <a:avLst/>
          </a:prstGeom>
          <a:noFill/>
        </p:spPr>
        <p:txBody>
          <a:bodyPr wrap="square" rtlCol="0">
            <a:spAutoFit/>
          </a:bodyPr>
          <a:lstStyle/>
          <a:p>
            <a:pPr algn="l"/>
            <a:r>
              <a:rPr lang="zh-CN" altLang="en-US" sz="2400" dirty="0">
                <a:solidFill>
                  <a:schemeClr val="bg1"/>
                </a:solidFill>
              </a:rPr>
              <a:t>但如果第一次寻找增广路时，找到的是这样的路径。此时可行流是</a:t>
            </a:r>
            <a:r>
              <a:rPr lang="en-US" altLang="zh-CN" sz="2400" dirty="0">
                <a:solidFill>
                  <a:schemeClr val="bg1"/>
                </a:solidFill>
              </a:rPr>
              <a:t>1</a:t>
            </a:r>
            <a:r>
              <a:rPr lang="zh-CN" altLang="en-US" sz="2400" dirty="0">
                <a:solidFill>
                  <a:schemeClr val="bg1"/>
                </a:solidFill>
              </a:rPr>
              <a:t>，且已没有增广路径，而这样显然不是最大流。</a:t>
            </a:r>
            <a:endParaRPr lang="zh-CN" altLang="en-US" sz="2400" dirty="0">
              <a:solidFill>
                <a:schemeClr val="bg1"/>
              </a:solidFill>
            </a:endParaRPr>
          </a:p>
        </p:txBody>
      </p:sp>
      <p:sp>
        <p:nvSpPr>
          <p:cNvPr id="31" name="箭头: V 形 30">
            <a:hlinkClick r:id="rId1"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13" name="流程图: 接点 12"/>
          <p:cNvSpPr/>
          <p:nvPr/>
        </p:nvSpPr>
        <p:spPr>
          <a:xfrm>
            <a:off x="622996" y="4970320"/>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14" name="箭头: 右 13"/>
          <p:cNvSpPr/>
          <p:nvPr/>
        </p:nvSpPr>
        <p:spPr>
          <a:xfrm rot="19997885">
            <a:off x="1086389" y="4448055"/>
            <a:ext cx="1367290" cy="509346"/>
          </a:xfrm>
          <a:prstGeom prst="righ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15" name="流程图: 接点 14"/>
          <p:cNvSpPr/>
          <p:nvPr/>
        </p:nvSpPr>
        <p:spPr>
          <a:xfrm>
            <a:off x="2485792" y="4001899"/>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16" name="箭头: 右 15"/>
          <p:cNvSpPr/>
          <p:nvPr/>
        </p:nvSpPr>
        <p:spPr>
          <a:xfrm rot="1460714">
            <a:off x="3030954" y="4379572"/>
            <a:ext cx="1480085" cy="4821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17" name="流程图: 接点 16"/>
          <p:cNvSpPr/>
          <p:nvPr/>
        </p:nvSpPr>
        <p:spPr>
          <a:xfrm>
            <a:off x="4513892" y="4975190"/>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18" name="箭头: 右 17"/>
          <p:cNvSpPr/>
          <p:nvPr/>
        </p:nvSpPr>
        <p:spPr>
          <a:xfrm rot="1716815">
            <a:off x="1068865" y="5479346"/>
            <a:ext cx="1367978" cy="5130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19" name="流程图: 接点 18"/>
          <p:cNvSpPr/>
          <p:nvPr/>
        </p:nvSpPr>
        <p:spPr>
          <a:xfrm>
            <a:off x="2491718" y="5922697"/>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20" name="箭头: 右 19"/>
          <p:cNvSpPr/>
          <p:nvPr/>
        </p:nvSpPr>
        <p:spPr>
          <a:xfrm rot="16200000">
            <a:off x="2154014" y="4943558"/>
            <a:ext cx="118456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21" name="箭头: 右 20"/>
          <p:cNvSpPr/>
          <p:nvPr/>
        </p:nvSpPr>
        <p:spPr>
          <a:xfrm rot="19999811">
            <a:off x="3087704" y="5479925"/>
            <a:ext cx="1393091" cy="502323"/>
          </a:xfrm>
          <a:prstGeom prst="righ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22" name="直接箭头连接符 21"/>
          <p:cNvCxnSpPr/>
          <p:nvPr/>
        </p:nvCxnSpPr>
        <p:spPr>
          <a:xfrm flipH="1">
            <a:off x="860217" y="4095936"/>
            <a:ext cx="1470809" cy="71784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3116364" y="4095936"/>
            <a:ext cx="1335770" cy="5562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921888" y="5574012"/>
            <a:ext cx="1333815" cy="7617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3292958" y="5674293"/>
            <a:ext cx="1066358" cy="5612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3041832" y="4742744"/>
            <a:ext cx="3422" cy="880736"/>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328159" y="4160017"/>
            <a:ext cx="723306"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28" name="文本框 27"/>
          <p:cNvSpPr txBox="1"/>
          <p:nvPr/>
        </p:nvSpPr>
        <p:spPr>
          <a:xfrm>
            <a:off x="3661517" y="4063272"/>
            <a:ext cx="852375"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29" name="文本框 28"/>
          <p:cNvSpPr txBox="1"/>
          <p:nvPr/>
        </p:nvSpPr>
        <p:spPr>
          <a:xfrm>
            <a:off x="1233514" y="5881233"/>
            <a:ext cx="817951"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30" name="文本框 29"/>
          <p:cNvSpPr txBox="1"/>
          <p:nvPr/>
        </p:nvSpPr>
        <p:spPr>
          <a:xfrm>
            <a:off x="3751793" y="5875635"/>
            <a:ext cx="935640"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31" name="文本框 30"/>
          <p:cNvSpPr txBox="1"/>
          <p:nvPr/>
        </p:nvSpPr>
        <p:spPr>
          <a:xfrm>
            <a:off x="3022141" y="5052770"/>
            <a:ext cx="545153" cy="369332"/>
          </a:xfrm>
          <a:prstGeom prst="rect">
            <a:avLst/>
          </a:prstGeom>
          <a:noFill/>
        </p:spPr>
        <p:txBody>
          <a:bodyPr wrap="square" rtlCol="0">
            <a:spAutoFit/>
          </a:bodyPr>
          <a:lstStyle/>
          <a:p>
            <a:pPr algn="l"/>
            <a:r>
              <a:rPr lang="en-US" altLang="zh-CN" dirty="0">
                <a:solidFill>
                  <a:schemeClr val="accent5">
                    <a:lumMod val="75000"/>
                  </a:schemeClr>
                </a:solidFill>
              </a:rPr>
              <a:t>1</a:t>
            </a:r>
            <a:endParaRPr lang="zh-CN" altLang="en-US" dirty="0">
              <a:solidFill>
                <a:schemeClr val="accent5">
                  <a:lumMod val="75000"/>
                </a:schemeClr>
              </a:solidFill>
            </a:endParaRPr>
          </a:p>
        </p:txBody>
      </p:sp>
      <mc:AlternateContent xmlns:mc="http://schemas.openxmlformats.org/markup-compatibility/2006">
        <mc:Choice xmlns:a14="http://schemas.microsoft.com/office/drawing/2010/main" Requires="a14">
          <p:sp>
            <p:nvSpPr>
              <p:cNvPr id="32" name="文本框 31">
                <a:extLst>
                  <a:ext uri="{FF2B5EF4-FFF2-40B4-BE49-F238E27FC236}">
                    <a14:artisticCrisscrossEtching id="{919E1B6C-167D-40C5-AE9C-AF3BF181EC1B}"/>
                  </a:ext>
                </a:extLst>
              </p:cNvPr>
              <p:cNvSpPr txBox="1"/>
              <p:nvPr/>
            </p:nvSpPr>
            <p:spPr>
              <a:xfrm rot="5400000">
                <a:off x="2432716" y="3296296"/>
                <a:ext cx="687353" cy="73866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zh-CN" altLang="en-US" sz="4800" dirty="0" smtClean="0">
                          <a:solidFill>
                            <a:schemeClr val="bg1"/>
                          </a:solidFill>
                          <a:latin typeface="Cambria Math" panose="02040503050406030204" pitchFamily="18" charset="0"/>
                        </a:rPr>
                        <m:t>⇒</m:t>
                      </m:r>
                    </m:oMath>
                  </m:oMathPara>
                </a14:m>
                <a:endParaRPr lang="zh-CN" altLang="en-US" sz="4800" dirty="0">
                  <a:solidFill>
                    <a:schemeClr val="bg1"/>
                  </a:solidFill>
                </a:endParaRPr>
              </a:p>
            </p:txBody>
          </p:sp>
        </mc:Choice>
        <mc:Fallback>
          <p:sp>
            <p:nvSpPr>
              <p:cNvPr id="32" name="文本框 31"/>
              <p:cNvSpPr txBox="1">
                <a:spLocks noRot="1" noChangeAspect="1" noMove="1" noResize="1" noEditPoints="1" noAdjustHandles="1" noChangeArrowheads="1" noChangeShapeType="1" noTextEdit="1"/>
              </p:cNvSpPr>
              <p:nvPr/>
            </p:nvSpPr>
            <p:spPr>
              <a:xfrm rot="5400000">
                <a:off x="2432716" y="3296296"/>
                <a:ext cx="687353" cy="738664"/>
              </a:xfrm>
              <a:prstGeom prst="rect">
                <a:avLst/>
              </a:prstGeom>
              <a:blipFill rotWithShape="1">
                <a:blip r:embed="rId1"/>
                <a:stretch>
                  <a:fillRect/>
                </a:stretch>
              </a:blipFill>
            </p:spPr>
            <p:txBody>
              <a:bodyPr/>
              <a:lstStyle/>
              <a:p>
                <a:r>
                  <a:rPr lang="zh-CN" altLang="en-US">
                    <a:noFill/>
                  </a:rPr>
                  <a:t> </a:t>
                </a:r>
                <a:endParaRPr lang="zh-CN" altLang="en-US">
                  <a:noFill/>
                </a:endParaRPr>
              </a:p>
            </p:txBody>
          </p:sp>
        </mc:Fallback>
      </mc:AlternateContent>
      <p:sp>
        <p:nvSpPr>
          <p:cNvPr id="33" name="文本框 32"/>
          <p:cNvSpPr txBox="1"/>
          <p:nvPr/>
        </p:nvSpPr>
        <p:spPr>
          <a:xfrm>
            <a:off x="5824131" y="876567"/>
            <a:ext cx="4752754" cy="2308324"/>
          </a:xfrm>
          <a:prstGeom prst="rect">
            <a:avLst/>
          </a:prstGeom>
          <a:noFill/>
        </p:spPr>
        <p:txBody>
          <a:bodyPr wrap="square" rtlCol="0">
            <a:spAutoFit/>
          </a:bodyPr>
          <a:lstStyle/>
          <a:p>
            <a:pPr algn="l"/>
            <a:r>
              <a:rPr lang="zh-CN" altLang="en-US" sz="2400" dirty="0">
                <a:solidFill>
                  <a:schemeClr val="bg1"/>
                </a:solidFill>
              </a:rPr>
              <a:t>反向边代表着该边已经使用的流量。假设在一条增量为</a:t>
            </a:r>
            <a:r>
              <a:rPr lang="en-US" altLang="zh-CN" sz="2400" dirty="0">
                <a:solidFill>
                  <a:schemeClr val="bg1"/>
                </a:solidFill>
              </a:rPr>
              <a:t>d</a:t>
            </a:r>
            <a:r>
              <a:rPr lang="zh-CN" altLang="en-US" sz="2400" dirty="0">
                <a:solidFill>
                  <a:schemeClr val="bg1"/>
                </a:solidFill>
              </a:rPr>
              <a:t>的增广路中包含一条反向边，就意味着，该边“退”回去</a:t>
            </a:r>
            <a:r>
              <a:rPr lang="en-US" altLang="zh-CN" sz="2400" dirty="0">
                <a:solidFill>
                  <a:schemeClr val="bg1"/>
                </a:solidFill>
              </a:rPr>
              <a:t>d</a:t>
            </a:r>
            <a:r>
              <a:rPr lang="zh-CN" altLang="en-US" sz="2400" dirty="0">
                <a:solidFill>
                  <a:schemeClr val="bg1"/>
                </a:solidFill>
              </a:rPr>
              <a:t>的流量，给原来“走错”的路一个“反悔”的机会。</a:t>
            </a:r>
            <a:endParaRPr lang="en-US" altLang="zh-CN" sz="2400" dirty="0">
              <a:solidFill>
                <a:schemeClr val="bg1"/>
              </a:solidFill>
            </a:endParaRPr>
          </a:p>
        </p:txBody>
      </p:sp>
      <p:sp>
        <p:nvSpPr>
          <p:cNvPr id="34" name="流程图: 接点 33"/>
          <p:cNvSpPr/>
          <p:nvPr/>
        </p:nvSpPr>
        <p:spPr>
          <a:xfrm>
            <a:off x="622996" y="1855872"/>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35" name="箭头: 右 34"/>
          <p:cNvSpPr/>
          <p:nvPr/>
        </p:nvSpPr>
        <p:spPr>
          <a:xfrm rot="19997885">
            <a:off x="1086389" y="1333607"/>
            <a:ext cx="1367290" cy="509346"/>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36" name="流程图: 接点 35"/>
          <p:cNvSpPr/>
          <p:nvPr/>
        </p:nvSpPr>
        <p:spPr>
          <a:xfrm>
            <a:off x="2485792" y="887451"/>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37" name="箭头: 右 36"/>
          <p:cNvSpPr/>
          <p:nvPr/>
        </p:nvSpPr>
        <p:spPr>
          <a:xfrm rot="1460714">
            <a:off x="3030954" y="1265124"/>
            <a:ext cx="1480085" cy="48213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38" name="流程图: 接点 37"/>
          <p:cNvSpPr/>
          <p:nvPr/>
        </p:nvSpPr>
        <p:spPr>
          <a:xfrm>
            <a:off x="4513892" y="1860742"/>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39" name="箭头: 右 38"/>
          <p:cNvSpPr/>
          <p:nvPr/>
        </p:nvSpPr>
        <p:spPr>
          <a:xfrm rot="1716815">
            <a:off x="1068865" y="2364898"/>
            <a:ext cx="1367978" cy="51305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40" name="流程图: 接点 39"/>
          <p:cNvSpPr/>
          <p:nvPr/>
        </p:nvSpPr>
        <p:spPr>
          <a:xfrm>
            <a:off x="2491718" y="2808249"/>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41" name="箭头: 右 40"/>
          <p:cNvSpPr/>
          <p:nvPr/>
        </p:nvSpPr>
        <p:spPr>
          <a:xfrm rot="16200000">
            <a:off x="2154014" y="1829110"/>
            <a:ext cx="1184564" cy="48463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
        <p:nvSpPr>
          <p:cNvPr id="42" name="箭头: 右 41"/>
          <p:cNvSpPr/>
          <p:nvPr/>
        </p:nvSpPr>
        <p:spPr>
          <a:xfrm rot="19999811">
            <a:off x="3087704" y="2365477"/>
            <a:ext cx="1393091"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44" name="文本框 43"/>
          <p:cNvSpPr txBox="1"/>
          <p:nvPr/>
        </p:nvSpPr>
        <p:spPr>
          <a:xfrm>
            <a:off x="5824131" y="3970939"/>
            <a:ext cx="4752754" cy="830997"/>
          </a:xfrm>
          <a:prstGeom prst="rect">
            <a:avLst/>
          </a:prstGeom>
          <a:noFill/>
        </p:spPr>
        <p:txBody>
          <a:bodyPr wrap="square" rtlCol="0">
            <a:spAutoFit/>
          </a:bodyPr>
          <a:lstStyle/>
          <a:p>
            <a:pPr algn="l"/>
            <a:r>
              <a:rPr lang="zh-CN" altLang="en-US" sz="2400" dirty="0">
                <a:solidFill>
                  <a:schemeClr val="bg1"/>
                </a:solidFill>
              </a:rPr>
              <a:t>例如，左图残余网络中，仍有该增广路。</a:t>
            </a:r>
            <a:endParaRPr lang="zh-CN" altLang="en-US" sz="2400" dirty="0">
              <a:solidFill>
                <a:schemeClr val="bg1"/>
              </a:solidFill>
            </a:endParaRPr>
          </a:p>
        </p:txBody>
      </p:sp>
      <p:sp>
        <p:nvSpPr>
          <p:cNvPr id="43" name="箭头: V 形 42">
            <a:hlinkClick r:id="rId2"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13" name="流程图: 接点 12"/>
          <p:cNvSpPr/>
          <p:nvPr/>
        </p:nvSpPr>
        <p:spPr>
          <a:xfrm>
            <a:off x="622996" y="1761161"/>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14" name="箭头: 右 13"/>
          <p:cNvSpPr/>
          <p:nvPr/>
        </p:nvSpPr>
        <p:spPr>
          <a:xfrm rot="19997885">
            <a:off x="1086389" y="1238896"/>
            <a:ext cx="1367290" cy="509346"/>
          </a:xfrm>
          <a:prstGeom prst="righ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15" name="流程图: 接点 14"/>
          <p:cNvSpPr/>
          <p:nvPr/>
        </p:nvSpPr>
        <p:spPr>
          <a:xfrm>
            <a:off x="2485792" y="792740"/>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16" name="箭头: 右 15"/>
          <p:cNvSpPr/>
          <p:nvPr/>
        </p:nvSpPr>
        <p:spPr>
          <a:xfrm rot="1460714">
            <a:off x="3030954" y="1170413"/>
            <a:ext cx="1480085" cy="482137"/>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17" name="流程图: 接点 16"/>
          <p:cNvSpPr/>
          <p:nvPr/>
        </p:nvSpPr>
        <p:spPr>
          <a:xfrm>
            <a:off x="4513892" y="1766031"/>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18" name="箭头: 右 17"/>
          <p:cNvSpPr/>
          <p:nvPr/>
        </p:nvSpPr>
        <p:spPr>
          <a:xfrm rot="1716815">
            <a:off x="1068865" y="2270187"/>
            <a:ext cx="1367978" cy="513059"/>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19" name="流程图: 接点 18"/>
          <p:cNvSpPr/>
          <p:nvPr/>
        </p:nvSpPr>
        <p:spPr>
          <a:xfrm>
            <a:off x="2491718" y="2713538"/>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20" name="箭头: 右 19"/>
          <p:cNvSpPr/>
          <p:nvPr/>
        </p:nvSpPr>
        <p:spPr>
          <a:xfrm rot="16200000">
            <a:off x="2154014" y="1734399"/>
            <a:ext cx="1184564" cy="484632"/>
          </a:xfrm>
          <a:prstGeom prst="rightArrow">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21" name="箭头: 右 20"/>
          <p:cNvSpPr/>
          <p:nvPr/>
        </p:nvSpPr>
        <p:spPr>
          <a:xfrm rot="19999811">
            <a:off x="3087704" y="2270766"/>
            <a:ext cx="1393091" cy="502323"/>
          </a:xfrm>
          <a:prstGeom prst="righ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22" name="直接箭头连接符 21"/>
          <p:cNvCxnSpPr/>
          <p:nvPr/>
        </p:nvCxnSpPr>
        <p:spPr>
          <a:xfrm flipH="1">
            <a:off x="860217" y="886777"/>
            <a:ext cx="1470809" cy="71784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3116364" y="886777"/>
            <a:ext cx="1335770" cy="5562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921888" y="2364853"/>
            <a:ext cx="1333815" cy="7617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3292958" y="2465134"/>
            <a:ext cx="1066358" cy="5612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3041832" y="1533585"/>
            <a:ext cx="3422" cy="880736"/>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328159" y="950858"/>
            <a:ext cx="723306"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28" name="文本框 27"/>
          <p:cNvSpPr txBox="1"/>
          <p:nvPr/>
        </p:nvSpPr>
        <p:spPr>
          <a:xfrm>
            <a:off x="3661517" y="854113"/>
            <a:ext cx="852375"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29" name="文本框 28"/>
          <p:cNvSpPr txBox="1"/>
          <p:nvPr/>
        </p:nvSpPr>
        <p:spPr>
          <a:xfrm>
            <a:off x="1233514" y="2672074"/>
            <a:ext cx="817951"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30" name="文本框 29"/>
          <p:cNvSpPr txBox="1"/>
          <p:nvPr/>
        </p:nvSpPr>
        <p:spPr>
          <a:xfrm>
            <a:off x="3751793" y="2666476"/>
            <a:ext cx="935640"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31" name="文本框 30"/>
          <p:cNvSpPr txBox="1"/>
          <p:nvPr/>
        </p:nvSpPr>
        <p:spPr>
          <a:xfrm>
            <a:off x="3022141" y="1843611"/>
            <a:ext cx="545153" cy="369332"/>
          </a:xfrm>
          <a:prstGeom prst="rect">
            <a:avLst/>
          </a:prstGeom>
          <a:noFill/>
        </p:spPr>
        <p:txBody>
          <a:bodyPr wrap="square" rtlCol="0">
            <a:spAutoFit/>
          </a:bodyPr>
          <a:lstStyle/>
          <a:p>
            <a:pPr algn="l"/>
            <a:r>
              <a:rPr lang="en-US" altLang="zh-CN" dirty="0">
                <a:solidFill>
                  <a:schemeClr val="accent5">
                    <a:lumMod val="75000"/>
                  </a:schemeClr>
                </a:solidFill>
              </a:rPr>
              <a:t>1</a:t>
            </a:r>
            <a:endParaRPr lang="zh-CN" altLang="en-US" dirty="0">
              <a:solidFill>
                <a:schemeClr val="accent5">
                  <a:lumMod val="75000"/>
                </a:schemeClr>
              </a:solidFill>
            </a:endParaRPr>
          </a:p>
        </p:txBody>
      </p:sp>
      <mc:AlternateContent xmlns:mc="http://schemas.openxmlformats.org/markup-compatibility/2006">
        <mc:Choice xmlns:a14="http://schemas.microsoft.com/office/drawing/2010/main" Requires="a14">
          <p:sp>
            <p:nvSpPr>
              <p:cNvPr id="32" name="文本框 31">
                <a:extLst>
                  <a:ext uri="{FF2B5EF4-FFF2-40B4-BE49-F238E27FC236}">
                    <a14:artisticCrisscrossEtching id="{919E1B6C-167D-40C5-AE9C-AF3BF181EC1B}"/>
                  </a:ext>
                </a:extLst>
              </p:cNvPr>
              <p:cNvSpPr txBox="1"/>
              <p:nvPr/>
            </p:nvSpPr>
            <p:spPr>
              <a:xfrm rot="5400000">
                <a:off x="2432716" y="3296296"/>
                <a:ext cx="687353" cy="73866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zh-CN" altLang="en-US" sz="4800" dirty="0" smtClean="0">
                          <a:solidFill>
                            <a:schemeClr val="bg1"/>
                          </a:solidFill>
                          <a:latin typeface="Cambria Math" panose="02040503050406030204" pitchFamily="18" charset="0"/>
                        </a:rPr>
                        <m:t>⇒</m:t>
                      </m:r>
                    </m:oMath>
                  </m:oMathPara>
                </a14:m>
                <a:endParaRPr lang="zh-CN" altLang="en-US" sz="4800" dirty="0">
                  <a:solidFill>
                    <a:schemeClr val="bg1"/>
                  </a:solidFill>
                </a:endParaRPr>
              </a:p>
            </p:txBody>
          </p:sp>
        </mc:Choice>
        <mc:Fallback>
          <p:sp>
            <p:nvSpPr>
              <p:cNvPr id="32" name="文本框 31"/>
              <p:cNvSpPr txBox="1">
                <a:spLocks noRot="1" noChangeAspect="1" noMove="1" noResize="1" noEditPoints="1" noAdjustHandles="1" noChangeArrowheads="1" noChangeShapeType="1" noTextEdit="1"/>
              </p:cNvSpPr>
              <p:nvPr/>
            </p:nvSpPr>
            <p:spPr>
              <a:xfrm rot="5400000">
                <a:off x="2432716" y="3296296"/>
                <a:ext cx="687353" cy="738664"/>
              </a:xfrm>
              <a:prstGeom prst="rect">
                <a:avLst/>
              </a:prstGeom>
              <a:blipFill rotWithShape="1">
                <a:blip r:embed="rId1"/>
                <a:stretch>
                  <a:fillRect/>
                </a:stretch>
              </a:blipFill>
            </p:spPr>
            <p:txBody>
              <a:bodyPr/>
              <a:lstStyle/>
              <a:p>
                <a:r>
                  <a:rPr lang="zh-CN" altLang="en-US">
                    <a:noFill/>
                  </a:rPr>
                  <a:t> </a:t>
                </a:r>
                <a:endParaRPr lang="zh-CN" altLang="en-US">
                  <a:noFill/>
                </a:endParaRPr>
              </a:p>
            </p:txBody>
          </p:sp>
        </mc:Fallback>
      </mc:AlternateContent>
      <p:sp>
        <p:nvSpPr>
          <p:cNvPr id="43" name="流程图: 接点 42"/>
          <p:cNvSpPr/>
          <p:nvPr/>
        </p:nvSpPr>
        <p:spPr>
          <a:xfrm>
            <a:off x="622995" y="5054077"/>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t>
            </a:r>
            <a:endParaRPr lang="zh-CN" altLang="en-US" sz="2400" dirty="0"/>
          </a:p>
        </p:txBody>
      </p:sp>
      <p:sp>
        <p:nvSpPr>
          <p:cNvPr id="45" name="箭头: 右 44"/>
          <p:cNvSpPr/>
          <p:nvPr/>
        </p:nvSpPr>
        <p:spPr>
          <a:xfrm rot="19997885">
            <a:off x="1086388" y="4531812"/>
            <a:ext cx="1367290" cy="50934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46" name="流程图: 接点 45"/>
          <p:cNvSpPr/>
          <p:nvPr/>
        </p:nvSpPr>
        <p:spPr>
          <a:xfrm>
            <a:off x="2485791" y="4085656"/>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1</a:t>
            </a:r>
            <a:endParaRPr lang="zh-CN" altLang="en-US" sz="2400" dirty="0"/>
          </a:p>
        </p:txBody>
      </p:sp>
      <p:sp>
        <p:nvSpPr>
          <p:cNvPr id="47" name="箭头: 右 46"/>
          <p:cNvSpPr/>
          <p:nvPr/>
        </p:nvSpPr>
        <p:spPr>
          <a:xfrm rot="1460714">
            <a:off x="3030953" y="4463329"/>
            <a:ext cx="1480085" cy="48213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48" name="流程图: 接点 47"/>
          <p:cNvSpPr/>
          <p:nvPr/>
        </p:nvSpPr>
        <p:spPr>
          <a:xfrm>
            <a:off x="4513891" y="5058947"/>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T</a:t>
            </a:r>
            <a:endParaRPr lang="zh-CN" altLang="en-US" sz="2400" dirty="0"/>
          </a:p>
        </p:txBody>
      </p:sp>
      <p:sp>
        <p:nvSpPr>
          <p:cNvPr id="49" name="箭头: 右 48"/>
          <p:cNvSpPr/>
          <p:nvPr/>
        </p:nvSpPr>
        <p:spPr>
          <a:xfrm rot="1716815">
            <a:off x="1068864" y="5563103"/>
            <a:ext cx="1367978" cy="51305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50" name="流程图: 接点 49"/>
          <p:cNvSpPr/>
          <p:nvPr/>
        </p:nvSpPr>
        <p:spPr>
          <a:xfrm>
            <a:off x="2491717" y="6006454"/>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51" name="箭头: 右 50"/>
          <p:cNvSpPr/>
          <p:nvPr/>
        </p:nvSpPr>
        <p:spPr>
          <a:xfrm rot="16200000">
            <a:off x="2154013" y="5027315"/>
            <a:ext cx="118456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2" name="箭头: 右 51"/>
          <p:cNvSpPr/>
          <p:nvPr/>
        </p:nvSpPr>
        <p:spPr>
          <a:xfrm rot="19999811">
            <a:off x="3087703" y="5563682"/>
            <a:ext cx="1393091" cy="502323"/>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cxnSp>
        <p:nvCxnSpPr>
          <p:cNvPr id="53" name="直接箭头连接符 52"/>
          <p:cNvCxnSpPr/>
          <p:nvPr/>
        </p:nvCxnSpPr>
        <p:spPr>
          <a:xfrm flipH="1">
            <a:off x="860216" y="4179693"/>
            <a:ext cx="1470809" cy="71784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H="1" flipV="1">
            <a:off x="3116363" y="4179693"/>
            <a:ext cx="1335770" cy="5562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H="1" flipV="1">
            <a:off x="921887" y="5657769"/>
            <a:ext cx="1333815" cy="7617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H="1">
            <a:off x="3292957" y="5758050"/>
            <a:ext cx="1066358" cy="5612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H="1">
            <a:off x="3041831" y="4826501"/>
            <a:ext cx="3422" cy="8807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1328158" y="4243774"/>
            <a:ext cx="723306"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59" name="文本框 58"/>
          <p:cNvSpPr txBox="1"/>
          <p:nvPr/>
        </p:nvSpPr>
        <p:spPr>
          <a:xfrm>
            <a:off x="3661516" y="4147029"/>
            <a:ext cx="852375"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60" name="文本框 59"/>
          <p:cNvSpPr txBox="1"/>
          <p:nvPr/>
        </p:nvSpPr>
        <p:spPr>
          <a:xfrm>
            <a:off x="1233513" y="5964990"/>
            <a:ext cx="817951"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61" name="文本框 60"/>
          <p:cNvSpPr txBox="1"/>
          <p:nvPr/>
        </p:nvSpPr>
        <p:spPr>
          <a:xfrm>
            <a:off x="3751792" y="5959392"/>
            <a:ext cx="935640" cy="369332"/>
          </a:xfrm>
          <a:prstGeom prst="rect">
            <a:avLst/>
          </a:prstGeom>
          <a:noFill/>
        </p:spPr>
        <p:txBody>
          <a:bodyPr wrap="square" rtlCol="0">
            <a:spAutoFit/>
          </a:bodyPr>
          <a:lstStyle/>
          <a:p>
            <a:pPr algn="l"/>
            <a:r>
              <a:rPr lang="en-US" altLang="zh-CN" dirty="0">
                <a:solidFill>
                  <a:schemeClr val="bg1"/>
                </a:solidFill>
              </a:rPr>
              <a:t>1</a:t>
            </a:r>
            <a:endParaRPr lang="zh-CN" altLang="en-US" dirty="0">
              <a:solidFill>
                <a:schemeClr val="bg1"/>
              </a:solidFill>
            </a:endParaRPr>
          </a:p>
        </p:txBody>
      </p:sp>
      <p:sp>
        <p:nvSpPr>
          <p:cNvPr id="62" name="文本框 61"/>
          <p:cNvSpPr txBox="1"/>
          <p:nvPr/>
        </p:nvSpPr>
        <p:spPr>
          <a:xfrm>
            <a:off x="3022140" y="5136527"/>
            <a:ext cx="545153" cy="369332"/>
          </a:xfrm>
          <a:prstGeom prst="rect">
            <a:avLst/>
          </a:prstGeom>
          <a:noFill/>
        </p:spPr>
        <p:txBody>
          <a:bodyPr wrap="square" rtlCol="0">
            <a:spAutoFit/>
          </a:bodyPr>
          <a:lstStyle/>
          <a:p>
            <a:pPr algn="l"/>
            <a:r>
              <a:rPr lang="en-US" altLang="zh-CN" dirty="0">
                <a:solidFill>
                  <a:schemeClr val="bg1"/>
                </a:solidFill>
              </a:rPr>
              <a:t>0</a:t>
            </a:r>
            <a:endParaRPr lang="zh-CN" altLang="en-US" dirty="0">
              <a:solidFill>
                <a:schemeClr val="bg1"/>
              </a:solidFill>
            </a:endParaRPr>
          </a:p>
        </p:txBody>
      </p:sp>
      <p:sp>
        <p:nvSpPr>
          <p:cNvPr id="9" name="文本框 8"/>
          <p:cNvSpPr txBox="1"/>
          <p:nvPr/>
        </p:nvSpPr>
        <p:spPr>
          <a:xfrm>
            <a:off x="5146268" y="2946700"/>
            <a:ext cx="5717512" cy="1200329"/>
          </a:xfrm>
          <a:prstGeom prst="rect">
            <a:avLst/>
          </a:prstGeom>
          <a:noFill/>
        </p:spPr>
        <p:txBody>
          <a:bodyPr wrap="square" rtlCol="0">
            <a:spAutoFit/>
          </a:bodyPr>
          <a:lstStyle/>
          <a:p>
            <a:pPr algn="l"/>
            <a:r>
              <a:rPr lang="zh-CN" altLang="en-US" sz="2400" dirty="0">
                <a:solidFill>
                  <a:schemeClr val="bg1"/>
                </a:solidFill>
              </a:rPr>
              <a:t>更新之后，中间的边被还原，等同于上下两段流。</a:t>
            </a:r>
            <a:endParaRPr lang="en-US" altLang="zh-CN" sz="2400" dirty="0">
              <a:solidFill>
                <a:schemeClr val="bg1"/>
              </a:solidFill>
            </a:endParaRPr>
          </a:p>
          <a:p>
            <a:pPr algn="l"/>
            <a:r>
              <a:rPr lang="zh-CN" altLang="en-US" sz="2400" dirty="0">
                <a:solidFill>
                  <a:schemeClr val="bg1"/>
                </a:solidFill>
              </a:rPr>
              <a:t>这样与找到上下两条增广路是相通的。</a:t>
            </a:r>
            <a:endParaRPr lang="zh-CN" altLang="en-US" sz="2400" dirty="0">
              <a:solidFill>
                <a:schemeClr val="bg1"/>
              </a:solidFill>
            </a:endParaRPr>
          </a:p>
        </p:txBody>
      </p:sp>
      <p:sp>
        <p:nvSpPr>
          <p:cNvPr id="44" name="箭头: V 形 43">
            <a:hlinkClick r:id="rId2"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13432" y="854110"/>
            <a:ext cx="7777424" cy="461665"/>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接下来介绍两种实际应</a:t>
            </a:r>
            <a:r>
              <a:rPr lang="en-US" altLang="zh-CN" sz="2400" dirty="0">
                <a:solidFill>
                  <a:schemeClr val="bg1"/>
                </a:solidFill>
              </a:rPr>
              <a:t>(</a:t>
            </a:r>
            <a:r>
              <a:rPr lang="en-US" altLang="zh-CN" sz="2400" dirty="0" err="1">
                <a:solidFill>
                  <a:schemeClr val="bg1"/>
                </a:solidFill>
              </a:rPr>
              <a:t>zuo</a:t>
            </a:r>
            <a:r>
              <a:rPr lang="en-US" altLang="zh-CN" sz="2400" dirty="0">
                <a:solidFill>
                  <a:schemeClr val="bg1"/>
                </a:solidFill>
              </a:rPr>
              <a:t>)</a:t>
            </a:r>
            <a:r>
              <a:rPr lang="zh-CN" altLang="en-US" sz="2400" dirty="0">
                <a:solidFill>
                  <a:schemeClr val="bg1"/>
                </a:solidFill>
              </a:rPr>
              <a:t>用</a:t>
            </a:r>
            <a:r>
              <a:rPr lang="en-US" altLang="zh-CN" sz="2400" dirty="0">
                <a:solidFill>
                  <a:schemeClr val="bg1"/>
                </a:solidFill>
              </a:rPr>
              <a:t>(</a:t>
            </a:r>
            <a:r>
              <a:rPr lang="en-US" altLang="zh-CN" sz="2400" dirty="0" err="1">
                <a:solidFill>
                  <a:schemeClr val="bg1"/>
                </a:solidFill>
              </a:rPr>
              <a:t>ti</a:t>
            </a:r>
            <a:r>
              <a:rPr lang="en-US" altLang="zh-CN" sz="2400" dirty="0">
                <a:solidFill>
                  <a:schemeClr val="bg1"/>
                </a:solidFill>
              </a:rPr>
              <a:t>)</a:t>
            </a:r>
            <a:r>
              <a:rPr lang="zh-CN" altLang="en-US" sz="2400" dirty="0">
                <a:solidFill>
                  <a:schemeClr val="bg1"/>
                </a:solidFill>
              </a:rPr>
              <a:t>时的算法</a:t>
            </a:r>
            <a:endParaRPr lang="zh-CN" altLang="en-US" sz="2400" dirty="0">
              <a:solidFill>
                <a:schemeClr val="bg1"/>
              </a:solidFill>
            </a:endParaRPr>
          </a:p>
        </p:txBody>
      </p:sp>
      <p:sp>
        <p:nvSpPr>
          <p:cNvPr id="4" name="文本框 3"/>
          <p:cNvSpPr txBox="1"/>
          <p:nvPr/>
        </p:nvSpPr>
        <p:spPr>
          <a:xfrm>
            <a:off x="1045028" y="1315775"/>
            <a:ext cx="8882743"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solidFill>
                  <a:schemeClr val="bg1"/>
                </a:solidFill>
                <a:hlinkClick r:id="rId1" action="ppaction://hlinksldjump"/>
              </a:rPr>
              <a:t>Edmond</a:t>
            </a:r>
            <a:r>
              <a:rPr lang="en-US" altLang="zh-CN" sz="2400" dirty="0">
                <a:solidFill>
                  <a:schemeClr val="bg2"/>
                </a:solidFill>
                <a:hlinkClick r:id="rId1" action="ppaction://hlinksldjump"/>
              </a:rPr>
              <a:t>sKarp</a:t>
            </a:r>
            <a:r>
              <a:rPr lang="zh-CN" altLang="en-US" sz="2400" dirty="0">
                <a:solidFill>
                  <a:schemeClr val="bg1"/>
                </a:solidFill>
                <a:hlinkClick r:id="rId1" action="ppaction://hlinksldjump"/>
              </a:rPr>
              <a:t>（简称</a:t>
            </a:r>
            <a:r>
              <a:rPr lang="en-US" altLang="zh-CN" sz="2400" dirty="0">
                <a:solidFill>
                  <a:schemeClr val="bg1"/>
                </a:solidFill>
                <a:hlinkClick r:id="rId1" action="ppaction://hlinksldjump"/>
              </a:rPr>
              <a:t>EK</a:t>
            </a:r>
            <a:r>
              <a:rPr lang="zh-CN" altLang="en-US" sz="2400" dirty="0">
                <a:solidFill>
                  <a:schemeClr val="bg1"/>
                </a:solidFill>
                <a:hlinkClick r:id="rId1" action="ppaction://hlinksldjump"/>
              </a:rPr>
              <a:t>）算法</a:t>
            </a:r>
            <a:endParaRPr lang="en-US" altLang="zh-CN" sz="2400" dirty="0">
              <a:solidFill>
                <a:schemeClr val="bg1"/>
              </a:solidFill>
            </a:endParaRPr>
          </a:p>
          <a:p>
            <a:pPr marL="342900" indent="-342900">
              <a:buFont typeface="Arial" panose="020B0604020202020204" pitchFamily="34" charset="0"/>
              <a:buChar char="•"/>
            </a:pPr>
            <a:r>
              <a:rPr lang="en-US" altLang="zh-CN" sz="2400" dirty="0">
                <a:solidFill>
                  <a:schemeClr val="bg1"/>
                </a:solidFill>
                <a:hlinkClick r:id="rId2" action="ppaction://hlinksldjump"/>
              </a:rPr>
              <a:t>Dinic</a:t>
            </a:r>
            <a:r>
              <a:rPr lang="zh-CN" altLang="en-US" sz="2400" dirty="0">
                <a:solidFill>
                  <a:schemeClr val="bg1"/>
                </a:solidFill>
                <a:hlinkClick r:id="rId2" action="ppaction://hlinksldjump"/>
              </a:rPr>
              <a:t>算法</a:t>
            </a:r>
            <a:endParaRPr lang="zh-CN" altLang="en-US" sz="2400" dirty="0">
              <a:solidFill>
                <a:schemeClr val="bg1"/>
              </a:solidFill>
            </a:endParaRPr>
          </a:p>
        </p:txBody>
      </p:sp>
      <p:sp>
        <p:nvSpPr>
          <p:cNvPr id="2" name="文本框 1"/>
          <p:cNvSpPr txBox="1"/>
          <p:nvPr/>
        </p:nvSpPr>
        <p:spPr>
          <a:xfrm>
            <a:off x="713432" y="2146772"/>
            <a:ext cx="6889172" cy="1938992"/>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上述算法其实适用于除费用流以外的所有网络流问题，因为其它问题都会通过建边或原理转化为最大流。</a:t>
            </a:r>
            <a:endParaRPr lang="en-US" altLang="zh-CN" sz="2400" dirty="0">
              <a:solidFill>
                <a:schemeClr val="bg1"/>
              </a:solidFill>
            </a:endParaRPr>
          </a:p>
          <a:p>
            <a:pPr marL="342900" indent="-342900" algn="l">
              <a:buFont typeface="Wingdings" panose="05000000000000000000" pitchFamily="2" charset="2"/>
              <a:buChar char="Ø"/>
            </a:pPr>
            <a:r>
              <a:rPr lang="zh-CN" altLang="en-US" sz="2400" dirty="0">
                <a:solidFill>
                  <a:schemeClr val="bg1"/>
                </a:solidFill>
              </a:rPr>
              <a:t>网络流最核心的部分就是在于建边，边建好以后套模板即可。</a:t>
            </a:r>
            <a:endParaRPr lang="en-US" altLang="zh-CN" sz="2400" dirty="0">
              <a:solidFill>
                <a:schemeClr val="bg1"/>
              </a:solidFill>
            </a:endParaRPr>
          </a:p>
        </p:txBody>
      </p:sp>
      <p:sp>
        <p:nvSpPr>
          <p:cNvPr id="5" name="文本框 4"/>
          <p:cNvSpPr txBox="1"/>
          <p:nvPr/>
        </p:nvSpPr>
        <p:spPr>
          <a:xfrm>
            <a:off x="713432" y="4197926"/>
            <a:ext cx="6504709" cy="1569660"/>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开始讲题</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2"/>
                </a:solidFill>
                <a:hlinkClick r:id="rId3" action="ppaction://hlinksldjump"/>
              </a:rPr>
              <a:t>最大流</a:t>
            </a:r>
            <a:endParaRPr lang="en-US" altLang="zh-CN" sz="2400" dirty="0">
              <a:solidFill>
                <a:schemeClr val="bg2"/>
              </a:solidFill>
            </a:endParaRPr>
          </a:p>
          <a:p>
            <a:pPr algn="l"/>
            <a:r>
              <a:rPr lang="en-US" altLang="zh-CN" sz="2400" dirty="0">
                <a:solidFill>
                  <a:schemeClr val="bg1"/>
                </a:solidFill>
              </a:rPr>
              <a:t>      </a:t>
            </a:r>
            <a:r>
              <a:rPr lang="zh-CN" altLang="en-US" sz="2400" dirty="0">
                <a:solidFill>
                  <a:schemeClr val="bg1"/>
                </a:solidFill>
              </a:rPr>
              <a:t>最小割</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费用流</a:t>
            </a:r>
            <a:endParaRPr lang="zh-CN" altLang="en-US" sz="24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79709" y="1063039"/>
            <a:ext cx="6918295" cy="6001643"/>
          </a:xfrm>
          <a:prstGeom prst="rect">
            <a:avLst/>
          </a:prstGeom>
          <a:noFill/>
        </p:spPr>
        <p:txBody>
          <a:bodyPr wrap="square" rtlCol="0">
            <a:spAutoFit/>
          </a:bodyPr>
          <a:lstStyle/>
          <a:p>
            <a:r>
              <a:rPr lang="en-US" altLang="zh-CN" sz="1200" dirty="0">
                <a:solidFill>
                  <a:schemeClr val="bg1"/>
                </a:solidFill>
              </a:rPr>
              <a:t>int </a:t>
            </a:r>
            <a:r>
              <a:rPr lang="en-US" altLang="zh-CN" sz="1200" dirty="0" err="1">
                <a:solidFill>
                  <a:schemeClr val="bg1"/>
                </a:solidFill>
              </a:rPr>
              <a:t>Bfs</a:t>
            </a:r>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a:t>
            </a:r>
            <a:r>
              <a:rPr lang="en-US" altLang="zh-CN" sz="1200" dirty="0" err="1">
                <a:solidFill>
                  <a:schemeClr val="bg1"/>
                </a:solidFill>
              </a:rPr>
              <a:t>memset</a:t>
            </a:r>
            <a:r>
              <a:rPr lang="en-US" altLang="zh-CN" sz="1200" dirty="0">
                <a:solidFill>
                  <a:schemeClr val="bg1"/>
                </a:solidFill>
              </a:rPr>
              <a:t>(pre, -1, </a:t>
            </a:r>
            <a:r>
              <a:rPr lang="en-US" altLang="zh-CN" sz="1200" dirty="0" err="1">
                <a:solidFill>
                  <a:schemeClr val="bg1"/>
                </a:solidFill>
              </a:rPr>
              <a:t>sizeof</a:t>
            </a:r>
            <a:r>
              <a:rPr lang="en-US" altLang="zh-CN" sz="1200" dirty="0">
                <a:solidFill>
                  <a:schemeClr val="bg1"/>
                </a:solidFill>
              </a:rPr>
              <a:t>(pre));</a:t>
            </a:r>
            <a:endParaRPr lang="en-US" altLang="zh-CN" sz="1200" dirty="0">
              <a:solidFill>
                <a:schemeClr val="bg1"/>
              </a:solidFill>
            </a:endParaRPr>
          </a:p>
          <a:p>
            <a:r>
              <a:rPr lang="en-US" altLang="zh-CN" sz="1200" dirty="0">
                <a:solidFill>
                  <a:schemeClr val="bg1"/>
                </a:solidFill>
              </a:rPr>
              <a:t>	for(int </a:t>
            </a:r>
            <a:r>
              <a:rPr lang="en-US" altLang="zh-CN" sz="1200" dirty="0" err="1">
                <a:solidFill>
                  <a:schemeClr val="bg1"/>
                </a:solidFill>
              </a:rPr>
              <a:t>i</a:t>
            </a:r>
            <a:r>
              <a:rPr lang="en-US" altLang="zh-CN" sz="1200" dirty="0">
                <a:solidFill>
                  <a:schemeClr val="bg1"/>
                </a:solidFill>
              </a:rPr>
              <a:t> = 1 ; </a:t>
            </a:r>
            <a:r>
              <a:rPr lang="en-US" altLang="zh-CN" sz="1200" dirty="0" err="1">
                <a:solidFill>
                  <a:schemeClr val="bg1"/>
                </a:solidFill>
              </a:rPr>
              <a:t>i</a:t>
            </a:r>
            <a:r>
              <a:rPr lang="en-US" altLang="zh-CN" sz="1200" dirty="0">
                <a:solidFill>
                  <a:schemeClr val="bg1"/>
                </a:solidFill>
              </a:rPr>
              <a:t> &lt;= n ; ++ </a:t>
            </a:r>
            <a:r>
              <a:rPr lang="en-US" altLang="zh-CN" sz="1200" dirty="0" err="1">
                <a:solidFill>
                  <a:schemeClr val="bg1"/>
                </a:solidFill>
              </a:rPr>
              <a:t>i</a:t>
            </a:r>
            <a:r>
              <a:rPr lang="en-US" altLang="zh-CN" sz="1200" dirty="0">
                <a:solidFill>
                  <a:schemeClr val="bg1"/>
                </a:solidFill>
              </a:rPr>
              <a:t>) flow[</a:t>
            </a:r>
            <a:r>
              <a:rPr lang="en-US" altLang="zh-CN" sz="1200" dirty="0" err="1">
                <a:solidFill>
                  <a:schemeClr val="bg1"/>
                </a:solidFill>
              </a:rPr>
              <a:t>i</a:t>
            </a:r>
            <a:r>
              <a:rPr lang="en-US" altLang="zh-CN" sz="1200" dirty="0">
                <a:solidFill>
                  <a:schemeClr val="bg1"/>
                </a:solidFill>
              </a:rPr>
              <a:t>] = INF;</a:t>
            </a:r>
            <a:endParaRPr lang="en-US" altLang="zh-CN" sz="1200" dirty="0">
              <a:solidFill>
                <a:schemeClr val="bg1"/>
              </a:solidFill>
            </a:endParaRPr>
          </a:p>
          <a:p>
            <a:r>
              <a:rPr lang="en-US" altLang="zh-CN" sz="1200" dirty="0">
                <a:solidFill>
                  <a:schemeClr val="bg1"/>
                </a:solidFill>
              </a:rPr>
              <a:t>	queue &lt;int&gt; q;</a:t>
            </a:r>
            <a:endParaRPr lang="en-US" altLang="zh-CN" sz="1200" dirty="0">
              <a:solidFill>
                <a:schemeClr val="bg1"/>
              </a:solidFill>
            </a:endParaRPr>
          </a:p>
          <a:p>
            <a:r>
              <a:rPr lang="en-US" altLang="zh-CN" sz="1200" dirty="0">
                <a:solidFill>
                  <a:schemeClr val="bg1"/>
                </a:solidFill>
              </a:rPr>
              <a:t>	pre[S] = 0, </a:t>
            </a:r>
            <a:r>
              <a:rPr lang="en-US" altLang="zh-CN" sz="1200" dirty="0" err="1">
                <a:solidFill>
                  <a:schemeClr val="bg1"/>
                </a:solidFill>
              </a:rPr>
              <a:t>q.push</a:t>
            </a:r>
            <a:r>
              <a:rPr lang="en-US" altLang="zh-CN" sz="1200" dirty="0">
                <a:solidFill>
                  <a:schemeClr val="bg1"/>
                </a:solidFill>
              </a:rPr>
              <a:t>(S);</a:t>
            </a:r>
            <a:endParaRPr lang="en-US" altLang="zh-CN" sz="1200" dirty="0">
              <a:solidFill>
                <a:schemeClr val="bg1"/>
              </a:solidFill>
            </a:endParaRPr>
          </a:p>
          <a:p>
            <a:r>
              <a:rPr lang="en-US" altLang="zh-CN" sz="1200" dirty="0">
                <a:solidFill>
                  <a:schemeClr val="bg1"/>
                </a:solidFill>
              </a:rPr>
              <a:t>	while(!</a:t>
            </a:r>
            <a:r>
              <a:rPr lang="en-US" altLang="zh-CN" sz="1200" dirty="0" err="1">
                <a:solidFill>
                  <a:schemeClr val="bg1"/>
                </a:solidFill>
              </a:rPr>
              <a:t>q.empty</a:t>
            </a:r>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int op = </a:t>
            </a:r>
            <a:r>
              <a:rPr lang="en-US" altLang="zh-CN" sz="1200" dirty="0" err="1">
                <a:solidFill>
                  <a:schemeClr val="bg1"/>
                </a:solidFill>
              </a:rPr>
              <a:t>q.front</a:t>
            </a:r>
            <a:r>
              <a:rPr lang="en-US" altLang="zh-CN" sz="1200" dirty="0">
                <a:solidFill>
                  <a:schemeClr val="bg1"/>
                </a:solidFill>
              </a:rPr>
              <a:t>(); </a:t>
            </a:r>
            <a:r>
              <a:rPr lang="en-US" altLang="zh-CN" sz="1200" dirty="0" err="1">
                <a:solidFill>
                  <a:schemeClr val="bg1"/>
                </a:solidFill>
              </a:rPr>
              <a:t>q.pop</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for(int </a:t>
            </a:r>
            <a:r>
              <a:rPr lang="en-US" altLang="zh-CN" sz="1200" dirty="0" err="1">
                <a:solidFill>
                  <a:schemeClr val="bg1"/>
                </a:solidFill>
              </a:rPr>
              <a:t>i</a:t>
            </a:r>
            <a:r>
              <a:rPr lang="en-US" altLang="zh-CN" sz="1200" dirty="0">
                <a:solidFill>
                  <a:schemeClr val="bg1"/>
                </a:solidFill>
              </a:rPr>
              <a:t> = 1 ; </a:t>
            </a:r>
            <a:r>
              <a:rPr lang="en-US" altLang="zh-CN" sz="1200" dirty="0" err="1">
                <a:solidFill>
                  <a:schemeClr val="bg1"/>
                </a:solidFill>
              </a:rPr>
              <a:t>i</a:t>
            </a:r>
            <a:r>
              <a:rPr lang="en-US" altLang="zh-CN" sz="1200" dirty="0">
                <a:solidFill>
                  <a:schemeClr val="bg1"/>
                </a:solidFill>
              </a:rPr>
              <a:t> &lt;= n ; ++ </a:t>
            </a:r>
            <a:r>
              <a:rPr lang="en-US" altLang="zh-CN" sz="1200" dirty="0" err="1">
                <a:solidFill>
                  <a:schemeClr val="bg1"/>
                </a:solidFill>
              </a:rPr>
              <a:t>i</a:t>
            </a:r>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if(</a:t>
            </a:r>
            <a:r>
              <a:rPr lang="en-US" altLang="zh-CN" sz="1200" dirty="0" err="1">
                <a:solidFill>
                  <a:schemeClr val="bg1"/>
                </a:solidFill>
              </a:rPr>
              <a:t>i</a:t>
            </a:r>
            <a:r>
              <a:rPr lang="en-US" altLang="zh-CN" sz="1200" dirty="0">
                <a:solidFill>
                  <a:schemeClr val="bg1"/>
                </a:solidFill>
              </a:rPr>
              <a:t>==S||pre[</a:t>
            </a:r>
            <a:r>
              <a:rPr lang="en-US" altLang="zh-CN" sz="1200" dirty="0" err="1">
                <a:solidFill>
                  <a:schemeClr val="bg1"/>
                </a:solidFill>
              </a:rPr>
              <a:t>i</a:t>
            </a:r>
            <a:r>
              <a:rPr lang="en-US" altLang="zh-CN" sz="1200" dirty="0">
                <a:solidFill>
                  <a:schemeClr val="bg1"/>
                </a:solidFill>
              </a:rPr>
              <a:t>]!=-1||c[op][</a:t>
            </a:r>
            <a:r>
              <a:rPr lang="en-US" altLang="zh-CN" sz="1200" dirty="0" err="1">
                <a:solidFill>
                  <a:schemeClr val="bg1"/>
                </a:solidFill>
              </a:rPr>
              <a:t>i</a:t>
            </a:r>
            <a:r>
              <a:rPr lang="en-US" altLang="zh-CN" sz="1200" dirty="0">
                <a:solidFill>
                  <a:schemeClr val="bg1"/>
                </a:solidFill>
              </a:rPr>
              <a:t>]==0) continue;</a:t>
            </a:r>
            <a:endParaRPr lang="en-US" altLang="zh-CN" sz="1200" dirty="0">
              <a:solidFill>
                <a:schemeClr val="bg1"/>
              </a:solidFill>
            </a:endParaRPr>
          </a:p>
          <a:p>
            <a:r>
              <a:rPr lang="en-US" altLang="zh-CN" sz="1200" dirty="0">
                <a:solidFill>
                  <a:schemeClr val="bg1"/>
                </a:solidFill>
              </a:rPr>
              <a:t>			pre[</a:t>
            </a:r>
            <a:r>
              <a:rPr lang="en-US" altLang="zh-CN" sz="1200" dirty="0" err="1">
                <a:solidFill>
                  <a:schemeClr val="bg1"/>
                </a:solidFill>
              </a:rPr>
              <a:t>i</a:t>
            </a:r>
            <a:r>
              <a:rPr lang="en-US" altLang="zh-CN" sz="1200" dirty="0">
                <a:solidFill>
                  <a:schemeClr val="bg1"/>
                </a:solidFill>
              </a:rPr>
              <a:t>] = op; //</a:t>
            </a:r>
            <a:r>
              <a:rPr lang="zh-CN" altLang="en-US" sz="1200" dirty="0">
                <a:solidFill>
                  <a:schemeClr val="bg1"/>
                </a:solidFill>
              </a:rPr>
              <a:t>找到未遍历过的点</a:t>
            </a:r>
            <a:endParaRPr lang="zh-CN" altLang="en-US" sz="1200" dirty="0">
              <a:solidFill>
                <a:schemeClr val="bg1"/>
              </a:solidFill>
            </a:endParaRPr>
          </a:p>
          <a:p>
            <a:r>
              <a:rPr lang="zh-CN" altLang="en-US" sz="1200" dirty="0">
                <a:solidFill>
                  <a:schemeClr val="bg1"/>
                </a:solidFill>
              </a:rPr>
              <a:t>			</a:t>
            </a:r>
            <a:r>
              <a:rPr lang="en-US" altLang="zh-CN" sz="1200" dirty="0">
                <a:solidFill>
                  <a:schemeClr val="bg1"/>
                </a:solidFill>
              </a:rPr>
              <a:t>flow[</a:t>
            </a:r>
            <a:r>
              <a:rPr lang="en-US" altLang="zh-CN" sz="1200" dirty="0" err="1">
                <a:solidFill>
                  <a:schemeClr val="bg1"/>
                </a:solidFill>
              </a:rPr>
              <a:t>i</a:t>
            </a:r>
            <a:r>
              <a:rPr lang="en-US" altLang="zh-CN" sz="1200" dirty="0">
                <a:solidFill>
                  <a:schemeClr val="bg1"/>
                </a:solidFill>
              </a:rPr>
              <a:t>] = min(flow[op], c[op][</a:t>
            </a:r>
            <a:r>
              <a:rPr lang="en-US" altLang="zh-CN" sz="1200" dirty="0" err="1">
                <a:solidFill>
                  <a:schemeClr val="bg1"/>
                </a:solidFill>
              </a:rPr>
              <a:t>i</a:t>
            </a:r>
            <a:r>
              <a:rPr lang="en-US" altLang="zh-CN" sz="1200" dirty="0">
                <a:solidFill>
                  <a:schemeClr val="bg1"/>
                </a:solidFill>
              </a:rPr>
              <a:t>]); // </a:t>
            </a:r>
            <a:r>
              <a:rPr lang="zh-CN" altLang="en-US" sz="1200" dirty="0">
                <a:solidFill>
                  <a:schemeClr val="bg1"/>
                </a:solidFill>
              </a:rPr>
              <a:t>更行路径上的最小值 </a:t>
            </a:r>
            <a:endParaRPr lang="zh-CN" altLang="en-US" sz="1200" dirty="0">
              <a:solidFill>
                <a:schemeClr val="bg1"/>
              </a:solidFill>
            </a:endParaRPr>
          </a:p>
          <a:p>
            <a:r>
              <a:rPr lang="zh-CN" altLang="en-US" sz="1200" dirty="0">
                <a:solidFill>
                  <a:schemeClr val="bg1"/>
                </a:solidFill>
              </a:rPr>
              <a:t>			</a:t>
            </a:r>
            <a:r>
              <a:rPr lang="en-US" altLang="zh-CN" sz="1200" dirty="0" err="1">
                <a:solidFill>
                  <a:schemeClr val="bg1"/>
                </a:solidFill>
              </a:rPr>
              <a:t>q.push</a:t>
            </a:r>
            <a:r>
              <a:rPr lang="en-US" altLang="zh-CN" sz="1200" dirty="0">
                <a:solidFill>
                  <a:schemeClr val="bg1"/>
                </a:solidFill>
              </a:rPr>
              <a:t>(</a:t>
            </a:r>
            <a:r>
              <a:rPr lang="en-US" altLang="zh-CN" sz="1200" dirty="0" err="1">
                <a:solidFill>
                  <a:schemeClr val="bg1"/>
                </a:solidFill>
              </a:rPr>
              <a:t>i</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if(flow[T]==INF) return -1;</a:t>
            </a:r>
            <a:endParaRPr lang="en-US" altLang="zh-CN" sz="1200" dirty="0">
              <a:solidFill>
                <a:schemeClr val="bg1"/>
              </a:solidFill>
            </a:endParaRPr>
          </a:p>
          <a:p>
            <a:r>
              <a:rPr lang="en-US" altLang="zh-CN" sz="1200" dirty="0">
                <a:solidFill>
                  <a:schemeClr val="bg1"/>
                </a:solidFill>
              </a:rPr>
              <a:t>	return flow[T];</a:t>
            </a:r>
            <a:endParaRPr lang="en-US" altLang="zh-CN" sz="1200" dirty="0">
              <a:solidFill>
                <a:schemeClr val="bg1"/>
              </a:solidFill>
            </a:endParaRPr>
          </a:p>
          <a:p>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int Solve() {</a:t>
            </a:r>
            <a:endParaRPr lang="en-US" altLang="zh-CN" sz="1200" dirty="0">
              <a:solidFill>
                <a:schemeClr val="bg1"/>
              </a:solidFill>
            </a:endParaRPr>
          </a:p>
          <a:p>
            <a:r>
              <a:rPr lang="en-US" altLang="zh-CN" sz="1200" dirty="0">
                <a:solidFill>
                  <a:schemeClr val="bg1"/>
                </a:solidFill>
              </a:rPr>
              <a:t>	int </a:t>
            </a:r>
            <a:r>
              <a:rPr lang="en-US" altLang="zh-CN" sz="1200" dirty="0" err="1">
                <a:solidFill>
                  <a:schemeClr val="bg1"/>
                </a:solidFill>
              </a:rPr>
              <a:t>ans</a:t>
            </a:r>
            <a:r>
              <a:rPr lang="en-US" altLang="zh-CN" sz="1200" dirty="0">
                <a:solidFill>
                  <a:schemeClr val="bg1"/>
                </a:solidFill>
              </a:rPr>
              <a:t> = 0;</a:t>
            </a:r>
            <a:endParaRPr lang="en-US" altLang="zh-CN" sz="1200" dirty="0">
              <a:solidFill>
                <a:schemeClr val="bg1"/>
              </a:solidFill>
            </a:endParaRPr>
          </a:p>
          <a:p>
            <a:r>
              <a:rPr lang="en-US" altLang="zh-CN" sz="1200" dirty="0">
                <a:solidFill>
                  <a:schemeClr val="bg1"/>
                </a:solidFill>
              </a:rPr>
              <a:t>	while(true) {</a:t>
            </a:r>
            <a:endParaRPr lang="en-US" altLang="zh-CN" sz="1200" dirty="0">
              <a:solidFill>
                <a:schemeClr val="bg1"/>
              </a:solidFill>
            </a:endParaRPr>
          </a:p>
          <a:p>
            <a:r>
              <a:rPr lang="en-US" altLang="zh-CN" sz="1200" dirty="0">
                <a:solidFill>
                  <a:schemeClr val="bg1"/>
                </a:solidFill>
              </a:rPr>
              <a:t>		int k = </a:t>
            </a:r>
            <a:r>
              <a:rPr lang="en-US" altLang="zh-CN" sz="1200" dirty="0" err="1">
                <a:solidFill>
                  <a:schemeClr val="bg1"/>
                </a:solidFill>
              </a:rPr>
              <a:t>Bfs</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if(k==-1) break;</a:t>
            </a:r>
            <a:endParaRPr lang="en-US" altLang="zh-CN" sz="1200" dirty="0">
              <a:solidFill>
                <a:schemeClr val="bg1"/>
              </a:solidFill>
            </a:endParaRPr>
          </a:p>
          <a:p>
            <a:r>
              <a:rPr lang="en-US" altLang="zh-CN" sz="1200" dirty="0">
                <a:solidFill>
                  <a:schemeClr val="bg1"/>
                </a:solidFill>
              </a:rPr>
              <a:t>		</a:t>
            </a:r>
            <a:r>
              <a:rPr lang="en-US" altLang="zh-CN" sz="1200" dirty="0" err="1">
                <a:solidFill>
                  <a:schemeClr val="bg1"/>
                </a:solidFill>
              </a:rPr>
              <a:t>ans</a:t>
            </a:r>
            <a:r>
              <a:rPr lang="en-US" altLang="zh-CN" sz="1200" dirty="0">
                <a:solidFill>
                  <a:schemeClr val="bg1"/>
                </a:solidFill>
              </a:rPr>
              <a:t> += k;</a:t>
            </a:r>
            <a:endParaRPr lang="en-US" altLang="zh-CN" sz="1200" dirty="0">
              <a:solidFill>
                <a:schemeClr val="bg1"/>
              </a:solidFill>
            </a:endParaRPr>
          </a:p>
          <a:p>
            <a:r>
              <a:rPr lang="en-US" altLang="zh-CN" sz="1200" dirty="0">
                <a:solidFill>
                  <a:schemeClr val="bg1"/>
                </a:solidFill>
              </a:rPr>
              <a:t>		int </a:t>
            </a:r>
            <a:r>
              <a:rPr lang="en-US" altLang="zh-CN" sz="1200" dirty="0" err="1">
                <a:solidFill>
                  <a:schemeClr val="bg1"/>
                </a:solidFill>
              </a:rPr>
              <a:t>nw</a:t>
            </a:r>
            <a:r>
              <a:rPr lang="en-US" altLang="zh-CN" sz="1200" dirty="0">
                <a:solidFill>
                  <a:schemeClr val="bg1"/>
                </a:solidFill>
              </a:rPr>
              <a:t> = T;</a:t>
            </a:r>
            <a:endParaRPr lang="en-US" altLang="zh-CN" sz="1200" dirty="0">
              <a:solidFill>
                <a:schemeClr val="bg1"/>
              </a:solidFill>
            </a:endParaRPr>
          </a:p>
          <a:p>
            <a:r>
              <a:rPr lang="en-US" altLang="zh-CN" sz="1200" dirty="0">
                <a:solidFill>
                  <a:schemeClr val="bg1"/>
                </a:solidFill>
              </a:rPr>
              <a:t>		while(</a:t>
            </a:r>
            <a:r>
              <a:rPr lang="en-US" altLang="zh-CN" sz="1200" dirty="0" err="1">
                <a:solidFill>
                  <a:schemeClr val="bg1"/>
                </a:solidFill>
              </a:rPr>
              <a:t>nw</a:t>
            </a:r>
            <a:r>
              <a:rPr lang="en-US" altLang="zh-CN" sz="1200" dirty="0">
                <a:solidFill>
                  <a:schemeClr val="bg1"/>
                </a:solidFill>
              </a:rPr>
              <a:t>!=S) {//</a:t>
            </a:r>
            <a:r>
              <a:rPr lang="zh-CN" altLang="en-US" sz="1200" dirty="0">
                <a:solidFill>
                  <a:schemeClr val="bg1"/>
                </a:solidFill>
              </a:rPr>
              <a:t>更新残余网络 </a:t>
            </a:r>
            <a:endParaRPr lang="zh-CN" altLang="en-US" sz="1200" dirty="0">
              <a:solidFill>
                <a:schemeClr val="bg1"/>
              </a:solidFill>
            </a:endParaRPr>
          </a:p>
          <a:p>
            <a:r>
              <a:rPr lang="zh-CN" altLang="en-US" sz="1200" dirty="0">
                <a:solidFill>
                  <a:schemeClr val="bg1"/>
                </a:solidFill>
              </a:rPr>
              <a:t>			</a:t>
            </a:r>
            <a:r>
              <a:rPr lang="en-US" altLang="zh-CN" sz="1200" dirty="0">
                <a:solidFill>
                  <a:schemeClr val="bg1"/>
                </a:solidFill>
              </a:rPr>
              <a:t>c[pre[</a:t>
            </a:r>
            <a:r>
              <a:rPr lang="en-US" altLang="zh-CN" sz="1200" dirty="0" err="1">
                <a:solidFill>
                  <a:schemeClr val="bg1"/>
                </a:solidFill>
              </a:rPr>
              <a:t>nw</a:t>
            </a:r>
            <a:r>
              <a:rPr lang="en-US" altLang="zh-CN" sz="1200" dirty="0">
                <a:solidFill>
                  <a:schemeClr val="bg1"/>
                </a:solidFill>
              </a:rPr>
              <a:t>]][</a:t>
            </a:r>
            <a:r>
              <a:rPr lang="en-US" altLang="zh-CN" sz="1200" dirty="0" err="1">
                <a:solidFill>
                  <a:schemeClr val="bg1"/>
                </a:solidFill>
              </a:rPr>
              <a:t>nw</a:t>
            </a:r>
            <a:r>
              <a:rPr lang="en-US" altLang="zh-CN" sz="1200" dirty="0">
                <a:solidFill>
                  <a:schemeClr val="bg1"/>
                </a:solidFill>
              </a:rPr>
              <a:t>] -= k, c[</a:t>
            </a:r>
            <a:r>
              <a:rPr lang="en-US" altLang="zh-CN" sz="1200" dirty="0" err="1">
                <a:solidFill>
                  <a:schemeClr val="bg1"/>
                </a:solidFill>
              </a:rPr>
              <a:t>nw</a:t>
            </a:r>
            <a:r>
              <a:rPr lang="en-US" altLang="zh-CN" sz="1200" dirty="0">
                <a:solidFill>
                  <a:schemeClr val="bg1"/>
                </a:solidFill>
              </a:rPr>
              <a:t>][pre[</a:t>
            </a:r>
            <a:r>
              <a:rPr lang="en-US" altLang="zh-CN" sz="1200" dirty="0" err="1">
                <a:solidFill>
                  <a:schemeClr val="bg1"/>
                </a:solidFill>
              </a:rPr>
              <a:t>nw</a:t>
            </a:r>
            <a:r>
              <a:rPr lang="en-US" altLang="zh-CN" sz="1200" dirty="0">
                <a:solidFill>
                  <a:schemeClr val="bg1"/>
                </a:solidFill>
              </a:rPr>
              <a:t>]] += k;</a:t>
            </a:r>
            <a:endParaRPr lang="en-US" altLang="zh-CN" sz="1200" dirty="0">
              <a:solidFill>
                <a:schemeClr val="bg1"/>
              </a:solidFill>
            </a:endParaRPr>
          </a:p>
          <a:p>
            <a:r>
              <a:rPr lang="en-US" altLang="zh-CN" sz="1200" dirty="0">
                <a:solidFill>
                  <a:schemeClr val="bg1"/>
                </a:solidFill>
              </a:rPr>
              <a:t>			</a:t>
            </a:r>
            <a:r>
              <a:rPr lang="en-US" altLang="zh-CN" sz="1200" dirty="0" err="1">
                <a:solidFill>
                  <a:schemeClr val="bg1"/>
                </a:solidFill>
              </a:rPr>
              <a:t>nw</a:t>
            </a:r>
            <a:r>
              <a:rPr lang="en-US" altLang="zh-CN" sz="1200" dirty="0">
                <a:solidFill>
                  <a:schemeClr val="bg1"/>
                </a:solidFill>
              </a:rPr>
              <a:t> = pre[</a:t>
            </a:r>
            <a:r>
              <a:rPr lang="en-US" altLang="zh-CN" sz="1200" dirty="0" err="1">
                <a:solidFill>
                  <a:schemeClr val="bg1"/>
                </a:solidFill>
              </a:rPr>
              <a:t>nw</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return </a:t>
            </a:r>
            <a:r>
              <a:rPr lang="en-US" altLang="zh-CN" sz="1200" dirty="0" err="1">
                <a:solidFill>
                  <a:schemeClr val="bg1"/>
                </a:solidFill>
              </a:rPr>
              <a:t>ans</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a:t>
            </a:r>
            <a:endParaRPr lang="zh-CN" altLang="en-US" sz="2400" dirty="0">
              <a:solidFill>
                <a:schemeClr val="bg1"/>
              </a:solidFill>
            </a:endParaRPr>
          </a:p>
        </p:txBody>
      </p:sp>
      <p:sp>
        <p:nvSpPr>
          <p:cNvPr id="8" name="文本框 7"/>
          <p:cNvSpPr txBox="1"/>
          <p:nvPr/>
        </p:nvSpPr>
        <p:spPr>
          <a:xfrm>
            <a:off x="622996" y="683995"/>
            <a:ext cx="8882743" cy="369332"/>
          </a:xfrm>
          <a:prstGeom prst="rect">
            <a:avLst/>
          </a:prstGeom>
          <a:noFill/>
        </p:spPr>
        <p:txBody>
          <a:bodyPr wrap="square" rtlCol="0">
            <a:spAutoFit/>
          </a:bodyPr>
          <a:lstStyle/>
          <a:p>
            <a:pPr marL="342900" indent="-342900">
              <a:buFont typeface="Wingdings" panose="05000000000000000000" pitchFamily="2" charset="2"/>
              <a:buChar char="Ø"/>
            </a:pPr>
            <a:r>
              <a:rPr lang="en-US" altLang="zh-CN" dirty="0">
                <a:solidFill>
                  <a:schemeClr val="bg1"/>
                </a:solidFill>
              </a:rPr>
              <a:t>EdmondsKarp</a:t>
            </a:r>
            <a:endParaRPr lang="zh-CN" altLang="en-US" dirty="0">
              <a:solidFill>
                <a:schemeClr val="bg1"/>
              </a:solidFill>
            </a:endParaRPr>
          </a:p>
        </p:txBody>
      </p:sp>
      <p:sp>
        <p:nvSpPr>
          <p:cNvPr id="9" name="文本框 8"/>
          <p:cNvSpPr txBox="1"/>
          <p:nvPr/>
        </p:nvSpPr>
        <p:spPr>
          <a:xfrm>
            <a:off x="7898004" y="1053327"/>
            <a:ext cx="3758082" cy="2308324"/>
          </a:xfrm>
          <a:prstGeom prst="rect">
            <a:avLst/>
          </a:prstGeom>
          <a:noFill/>
        </p:spPr>
        <p:txBody>
          <a:bodyPr wrap="square" rtlCol="0">
            <a:spAutoFit/>
          </a:bodyPr>
          <a:lstStyle/>
          <a:p>
            <a:pPr algn="l"/>
            <a:r>
              <a:rPr lang="zh-CN" altLang="en-US" sz="2400" dirty="0">
                <a:solidFill>
                  <a:schemeClr val="bg1"/>
                </a:solidFill>
              </a:rPr>
              <a:t>不断</a:t>
            </a:r>
            <a:r>
              <a:rPr lang="en-US" altLang="zh-CN" sz="2400" dirty="0" err="1">
                <a:solidFill>
                  <a:schemeClr val="bg1"/>
                </a:solidFill>
              </a:rPr>
              <a:t>bfs</a:t>
            </a:r>
            <a:r>
              <a:rPr lang="zh-CN" altLang="en-US" sz="2400" dirty="0">
                <a:solidFill>
                  <a:schemeClr val="bg1"/>
                </a:solidFill>
              </a:rPr>
              <a:t>寻找最短的增广路径，每一次遍历的时间为</a:t>
            </a:r>
            <a:r>
              <a:rPr lang="en-US" altLang="zh-CN" sz="2400" dirty="0">
                <a:solidFill>
                  <a:schemeClr val="bg1"/>
                </a:solidFill>
              </a:rPr>
              <a:t>O(n^2)</a:t>
            </a:r>
            <a:r>
              <a:rPr lang="zh-CN" altLang="en-US" sz="2400" dirty="0">
                <a:solidFill>
                  <a:schemeClr val="bg1"/>
                </a:solidFill>
              </a:rPr>
              <a:t>，最多需要遍历</a:t>
            </a:r>
            <a:r>
              <a:rPr lang="en-US" altLang="zh-CN" sz="2400" dirty="0">
                <a:solidFill>
                  <a:schemeClr val="bg1"/>
                </a:solidFill>
              </a:rPr>
              <a:t>m</a:t>
            </a:r>
            <a:r>
              <a:rPr lang="zh-CN" altLang="en-US" sz="2400" dirty="0">
                <a:solidFill>
                  <a:schemeClr val="bg1"/>
                </a:solidFill>
              </a:rPr>
              <a:t>次（每次遍历），复杂度为</a:t>
            </a:r>
            <a:r>
              <a:rPr lang="en-US" altLang="zh-CN" sz="2400" dirty="0">
                <a:solidFill>
                  <a:schemeClr val="bg1"/>
                </a:solidFill>
              </a:rPr>
              <a:t>O(m*n^2)</a:t>
            </a:r>
            <a:r>
              <a:rPr lang="zh-CN" altLang="en-US" sz="2400" dirty="0">
                <a:solidFill>
                  <a:schemeClr val="bg1"/>
                </a:solidFill>
              </a:rPr>
              <a:t>，证（</a:t>
            </a:r>
            <a:r>
              <a:rPr lang="en-US" altLang="zh-CN" sz="2400" dirty="0" err="1">
                <a:solidFill>
                  <a:schemeClr val="bg1"/>
                </a:solidFill>
              </a:rPr>
              <a:t>bu</a:t>
            </a:r>
            <a:r>
              <a:rPr lang="zh-CN" altLang="en-US" sz="2400" dirty="0">
                <a:solidFill>
                  <a:schemeClr val="bg1"/>
                </a:solidFill>
              </a:rPr>
              <a:t>）明（</a:t>
            </a:r>
            <a:r>
              <a:rPr lang="en-US" altLang="zh-CN" sz="2400" dirty="0">
                <a:solidFill>
                  <a:schemeClr val="bg1"/>
                </a:solidFill>
              </a:rPr>
              <a:t>hui</a:t>
            </a:r>
            <a:r>
              <a:rPr lang="zh-CN" altLang="en-US" sz="2400" dirty="0">
                <a:solidFill>
                  <a:schemeClr val="bg1"/>
                </a:solidFill>
              </a:rPr>
              <a:t>）略（</a:t>
            </a:r>
            <a:r>
              <a:rPr lang="en-US" altLang="zh-CN" sz="2400" dirty="0" err="1">
                <a:solidFill>
                  <a:schemeClr val="bg1"/>
                </a:solidFill>
              </a:rPr>
              <a:t>zheng</a:t>
            </a:r>
            <a:r>
              <a:rPr lang="zh-CN" altLang="en-US" sz="2400" dirty="0">
                <a:solidFill>
                  <a:schemeClr val="bg1"/>
                </a:solidFill>
              </a:rPr>
              <a:t>）。</a:t>
            </a:r>
            <a:r>
              <a:rPr lang="en-US" altLang="zh-CN" sz="2400" dirty="0">
                <a:solidFill>
                  <a:schemeClr val="bg1"/>
                </a:solidFill>
              </a:rPr>
              <a:t>  </a:t>
            </a:r>
            <a:endParaRPr lang="zh-CN" altLang="en-US" sz="2400" dirty="0">
              <a:solidFill>
                <a:schemeClr val="bg1"/>
              </a:solidFill>
            </a:endParaRPr>
          </a:p>
        </p:txBody>
      </p:sp>
      <p:sp>
        <p:nvSpPr>
          <p:cNvPr id="10" name="箭头: V 形 9">
            <a:hlinkClick r:id="rId1"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增广路算法</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79710" y="1063039"/>
            <a:ext cx="4582054" cy="6001643"/>
          </a:xfrm>
          <a:prstGeom prst="rect">
            <a:avLst/>
          </a:prstGeom>
          <a:noFill/>
        </p:spPr>
        <p:txBody>
          <a:bodyPr wrap="square" rtlCol="0">
            <a:spAutoFit/>
          </a:bodyPr>
          <a:lstStyle/>
          <a:p>
            <a:r>
              <a:rPr lang="en-US" altLang="zh-CN" sz="1200" dirty="0">
                <a:solidFill>
                  <a:schemeClr val="bg1"/>
                </a:solidFill>
              </a:rPr>
              <a:t>bool Bfs() { // </a:t>
            </a:r>
            <a:r>
              <a:rPr lang="en-US" altLang="zh-CN" sz="1200" dirty="0" err="1">
                <a:solidFill>
                  <a:schemeClr val="bg1"/>
                </a:solidFill>
              </a:rPr>
              <a:t>bfs</a:t>
            </a:r>
            <a:r>
              <a:rPr lang="zh-CN" altLang="en-US" sz="1200" dirty="0">
                <a:solidFill>
                  <a:schemeClr val="bg1"/>
                </a:solidFill>
              </a:rPr>
              <a:t>建立层次图 </a:t>
            </a:r>
            <a:endParaRPr lang="zh-CN" altLang="en-US" sz="1200" dirty="0">
              <a:solidFill>
                <a:schemeClr val="bg1"/>
              </a:solidFill>
            </a:endParaRPr>
          </a:p>
          <a:p>
            <a:r>
              <a:rPr lang="zh-CN" altLang="en-US" sz="1200" dirty="0">
                <a:solidFill>
                  <a:schemeClr val="bg1"/>
                </a:solidFill>
              </a:rPr>
              <a:t>    </a:t>
            </a:r>
            <a:r>
              <a:rPr lang="en-US" altLang="zh-CN" sz="1200" dirty="0" err="1">
                <a:solidFill>
                  <a:schemeClr val="bg1"/>
                </a:solidFill>
              </a:rPr>
              <a:t>memset</a:t>
            </a:r>
            <a:r>
              <a:rPr lang="en-US" altLang="zh-CN" sz="1200" dirty="0">
                <a:solidFill>
                  <a:schemeClr val="bg1"/>
                </a:solidFill>
              </a:rPr>
              <a:t>(dep, 0, </a:t>
            </a:r>
            <a:r>
              <a:rPr lang="en-US" altLang="zh-CN" sz="1200" dirty="0" err="1">
                <a:solidFill>
                  <a:schemeClr val="bg1"/>
                </a:solidFill>
              </a:rPr>
              <a:t>sizeof</a:t>
            </a:r>
            <a:r>
              <a:rPr lang="en-US" altLang="zh-CN" sz="1200" dirty="0">
                <a:solidFill>
                  <a:schemeClr val="bg1"/>
                </a:solidFill>
              </a:rPr>
              <a:t>(dep));</a:t>
            </a:r>
            <a:endParaRPr lang="en-US" altLang="zh-CN" sz="1200" dirty="0">
              <a:solidFill>
                <a:schemeClr val="bg1"/>
              </a:solidFill>
            </a:endParaRPr>
          </a:p>
          <a:p>
            <a:r>
              <a:rPr lang="en-US" altLang="zh-CN" sz="1200" dirty="0">
                <a:solidFill>
                  <a:schemeClr val="bg1"/>
                </a:solidFill>
              </a:rPr>
              <a:t>    hd = </a:t>
            </a:r>
            <a:r>
              <a:rPr lang="en-US" altLang="zh-CN" sz="1200" dirty="0" err="1">
                <a:solidFill>
                  <a:schemeClr val="bg1"/>
                </a:solidFill>
              </a:rPr>
              <a:t>tl</a:t>
            </a:r>
            <a:r>
              <a:rPr lang="en-US" altLang="zh-CN" sz="1200" dirty="0">
                <a:solidFill>
                  <a:schemeClr val="bg1"/>
                </a:solidFill>
              </a:rPr>
              <a:t> = 0;</a:t>
            </a:r>
            <a:endParaRPr lang="en-US" altLang="zh-CN" sz="1200" dirty="0">
              <a:solidFill>
                <a:schemeClr val="bg1"/>
              </a:solidFill>
            </a:endParaRPr>
          </a:p>
          <a:p>
            <a:r>
              <a:rPr lang="en-US" altLang="zh-CN" sz="1200" dirty="0">
                <a:solidFill>
                  <a:schemeClr val="bg1"/>
                </a:solidFill>
              </a:rPr>
              <a:t>    q[++ </a:t>
            </a:r>
            <a:r>
              <a:rPr lang="en-US" altLang="zh-CN" sz="1200" dirty="0" err="1">
                <a:solidFill>
                  <a:schemeClr val="bg1"/>
                </a:solidFill>
              </a:rPr>
              <a:t>tl</a:t>
            </a:r>
            <a:r>
              <a:rPr lang="en-US" altLang="zh-CN" sz="1200" dirty="0">
                <a:solidFill>
                  <a:schemeClr val="bg1"/>
                </a:solidFill>
              </a:rPr>
              <a:t>] = S, dep[S] = 1;</a:t>
            </a:r>
            <a:endParaRPr lang="en-US" altLang="zh-CN" sz="1200" dirty="0">
              <a:solidFill>
                <a:schemeClr val="bg1"/>
              </a:solidFill>
            </a:endParaRPr>
          </a:p>
          <a:p>
            <a:r>
              <a:rPr lang="en-US" altLang="zh-CN" sz="1200" dirty="0">
                <a:solidFill>
                  <a:schemeClr val="bg1"/>
                </a:solidFill>
              </a:rPr>
              <a:t>    while(hd&lt;</a:t>
            </a:r>
            <a:r>
              <a:rPr lang="en-US" altLang="zh-CN" sz="1200" dirty="0" err="1">
                <a:solidFill>
                  <a:schemeClr val="bg1"/>
                </a:solidFill>
              </a:rPr>
              <a:t>tl</a:t>
            </a:r>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int op = q[++ hd];</a:t>
            </a:r>
            <a:endParaRPr lang="en-US" altLang="zh-CN" sz="1200" dirty="0">
              <a:solidFill>
                <a:schemeClr val="bg1"/>
              </a:solidFill>
            </a:endParaRPr>
          </a:p>
          <a:p>
            <a:r>
              <a:rPr lang="en-US" altLang="zh-CN" sz="1200" dirty="0">
                <a:solidFill>
                  <a:schemeClr val="bg1"/>
                </a:solidFill>
              </a:rPr>
              <a:t>        for(int </a:t>
            </a:r>
            <a:r>
              <a:rPr lang="en-US" altLang="zh-CN" sz="1200" dirty="0" err="1">
                <a:solidFill>
                  <a:schemeClr val="bg1"/>
                </a:solidFill>
              </a:rPr>
              <a:t>i</a:t>
            </a:r>
            <a:r>
              <a:rPr lang="en-US" altLang="zh-CN" sz="1200" dirty="0">
                <a:solidFill>
                  <a:schemeClr val="bg1"/>
                </a:solidFill>
              </a:rPr>
              <a:t> = </a:t>
            </a:r>
            <a:r>
              <a:rPr lang="en-US" altLang="zh-CN" sz="1200" dirty="0" err="1">
                <a:solidFill>
                  <a:schemeClr val="bg1"/>
                </a:solidFill>
              </a:rPr>
              <a:t>headlist</a:t>
            </a:r>
            <a:r>
              <a:rPr lang="en-US" altLang="zh-CN" sz="1200" dirty="0">
                <a:solidFill>
                  <a:schemeClr val="bg1"/>
                </a:solidFill>
              </a:rPr>
              <a:t>[op] ; </a:t>
            </a:r>
            <a:r>
              <a:rPr lang="en-US" altLang="zh-CN" sz="1200" dirty="0" err="1">
                <a:solidFill>
                  <a:schemeClr val="bg1"/>
                </a:solidFill>
              </a:rPr>
              <a:t>i</a:t>
            </a:r>
            <a:r>
              <a:rPr lang="en-US" altLang="zh-CN" sz="1200" dirty="0">
                <a:solidFill>
                  <a:schemeClr val="bg1"/>
                </a:solidFill>
              </a:rPr>
              <a:t> != -1 ; </a:t>
            </a:r>
            <a:r>
              <a:rPr lang="en-US" altLang="zh-CN" sz="1200" dirty="0" err="1">
                <a:solidFill>
                  <a:schemeClr val="bg1"/>
                </a:solidFill>
              </a:rPr>
              <a:t>i</a:t>
            </a:r>
            <a:r>
              <a:rPr lang="en-US" altLang="zh-CN" sz="1200" dirty="0">
                <a:solidFill>
                  <a:schemeClr val="bg1"/>
                </a:solidFill>
              </a:rPr>
              <a:t> = Edge[</a:t>
            </a:r>
            <a:r>
              <a:rPr lang="en-US" altLang="zh-CN" sz="1200" dirty="0" err="1">
                <a:solidFill>
                  <a:schemeClr val="bg1"/>
                </a:solidFill>
              </a:rPr>
              <a:t>i</a:t>
            </a:r>
            <a:r>
              <a:rPr lang="en-US" altLang="zh-CN" sz="1200" dirty="0">
                <a:solidFill>
                  <a:schemeClr val="bg1"/>
                </a:solidFill>
              </a:rPr>
              <a:t>].next) {</a:t>
            </a:r>
            <a:endParaRPr lang="en-US" altLang="zh-CN" sz="1200" dirty="0">
              <a:solidFill>
                <a:schemeClr val="bg1"/>
              </a:solidFill>
            </a:endParaRPr>
          </a:p>
          <a:p>
            <a:r>
              <a:rPr lang="en-US" altLang="zh-CN" sz="1200" dirty="0">
                <a:solidFill>
                  <a:schemeClr val="bg1"/>
                </a:solidFill>
              </a:rPr>
              <a:t>            if(Edge[</a:t>
            </a:r>
            <a:r>
              <a:rPr lang="en-US" altLang="zh-CN" sz="1200" dirty="0" err="1">
                <a:solidFill>
                  <a:schemeClr val="bg1"/>
                </a:solidFill>
              </a:rPr>
              <a:t>i</a:t>
            </a:r>
            <a:r>
              <a:rPr lang="en-US" altLang="zh-CN" sz="1200" dirty="0">
                <a:solidFill>
                  <a:schemeClr val="bg1"/>
                </a:solidFill>
              </a:rPr>
              <a:t>].</a:t>
            </a:r>
            <a:r>
              <a:rPr lang="en-US" altLang="zh-CN" sz="1200" dirty="0" err="1">
                <a:solidFill>
                  <a:schemeClr val="bg1"/>
                </a:solidFill>
              </a:rPr>
              <a:t>val</a:t>
            </a:r>
            <a:r>
              <a:rPr lang="en-US" altLang="zh-CN" sz="1200" dirty="0">
                <a:solidFill>
                  <a:schemeClr val="bg1"/>
                </a:solidFill>
              </a:rPr>
              <a:t>&amp;&amp;(!dep[Edge[</a:t>
            </a:r>
            <a:r>
              <a:rPr lang="en-US" altLang="zh-CN" sz="1200" dirty="0" err="1">
                <a:solidFill>
                  <a:schemeClr val="bg1"/>
                </a:solidFill>
              </a:rPr>
              <a:t>i</a:t>
            </a:r>
            <a:r>
              <a:rPr lang="en-US" altLang="zh-CN" sz="1200" dirty="0">
                <a:solidFill>
                  <a:schemeClr val="bg1"/>
                </a:solidFill>
              </a:rPr>
              <a:t>].v])) {</a:t>
            </a:r>
            <a:endParaRPr lang="en-US" altLang="zh-CN" sz="1200" dirty="0">
              <a:solidFill>
                <a:schemeClr val="bg1"/>
              </a:solidFill>
            </a:endParaRPr>
          </a:p>
          <a:p>
            <a:r>
              <a:rPr lang="en-US" altLang="zh-CN" sz="1200" dirty="0">
                <a:solidFill>
                  <a:schemeClr val="bg1"/>
                </a:solidFill>
              </a:rPr>
              <a:t>                dep[Edge[</a:t>
            </a:r>
            <a:r>
              <a:rPr lang="en-US" altLang="zh-CN" sz="1200" dirty="0" err="1">
                <a:solidFill>
                  <a:schemeClr val="bg1"/>
                </a:solidFill>
              </a:rPr>
              <a:t>i</a:t>
            </a:r>
            <a:r>
              <a:rPr lang="en-US" altLang="zh-CN" sz="1200" dirty="0">
                <a:solidFill>
                  <a:schemeClr val="bg1"/>
                </a:solidFill>
              </a:rPr>
              <a:t>].v] = dep[op]+1;</a:t>
            </a:r>
            <a:endParaRPr lang="en-US" altLang="zh-CN" sz="1200" dirty="0">
              <a:solidFill>
                <a:schemeClr val="bg1"/>
              </a:solidFill>
            </a:endParaRPr>
          </a:p>
          <a:p>
            <a:r>
              <a:rPr lang="en-US" altLang="zh-CN" sz="1200" dirty="0">
                <a:solidFill>
                  <a:schemeClr val="bg1"/>
                </a:solidFill>
              </a:rPr>
              <a:t>                q[++ </a:t>
            </a:r>
            <a:r>
              <a:rPr lang="en-US" altLang="zh-CN" sz="1200" dirty="0" err="1">
                <a:solidFill>
                  <a:schemeClr val="bg1"/>
                </a:solidFill>
              </a:rPr>
              <a:t>tl</a:t>
            </a:r>
            <a:r>
              <a:rPr lang="en-US" altLang="zh-CN" sz="1200" dirty="0">
                <a:solidFill>
                  <a:schemeClr val="bg1"/>
                </a:solidFill>
              </a:rPr>
              <a:t>] = Edge[</a:t>
            </a:r>
            <a:r>
              <a:rPr lang="en-US" altLang="zh-CN" sz="1200" dirty="0" err="1">
                <a:solidFill>
                  <a:schemeClr val="bg1"/>
                </a:solidFill>
              </a:rPr>
              <a:t>i</a:t>
            </a:r>
            <a:r>
              <a:rPr lang="en-US" altLang="zh-CN" sz="1200" dirty="0">
                <a:solidFill>
                  <a:schemeClr val="bg1"/>
                </a:solidFill>
              </a:rPr>
              <a:t>].v;</a:t>
            </a:r>
            <a:endParaRPr lang="en-US" altLang="zh-CN" sz="1200" dirty="0">
              <a:solidFill>
                <a:schemeClr val="bg1"/>
              </a:solidFill>
            </a:endParaRPr>
          </a:p>
          <a:p>
            <a:r>
              <a:rPr lang="en-US" altLang="zh-CN" sz="1200" dirty="0">
                <a:solidFill>
                  <a:schemeClr val="bg1"/>
                </a:solidFill>
              </a:rPr>
              <a:t>                if(Edge[</a:t>
            </a:r>
            <a:r>
              <a:rPr lang="en-US" altLang="zh-CN" sz="1200" dirty="0" err="1">
                <a:solidFill>
                  <a:schemeClr val="bg1"/>
                </a:solidFill>
              </a:rPr>
              <a:t>i</a:t>
            </a:r>
            <a:r>
              <a:rPr lang="en-US" altLang="zh-CN" sz="1200" dirty="0">
                <a:solidFill>
                  <a:schemeClr val="bg1"/>
                </a:solidFill>
              </a:rPr>
              <a:t>].v==T) return true;</a:t>
            </a:r>
            <a:endParaRPr lang="en-US" altLang="zh-CN" sz="1200" dirty="0">
              <a:solidFill>
                <a:schemeClr val="bg1"/>
              </a:solidFill>
            </a:endParaRPr>
          </a:p>
          <a:p>
            <a:r>
              <a:rPr lang="en-US" altLang="zh-CN" sz="1200" dirty="0">
                <a:solidFill>
                  <a:schemeClr val="bg1"/>
                </a:solidFill>
              </a:rPr>
              <a:t>            } // </a:t>
            </a:r>
            <a:r>
              <a:rPr lang="zh-CN" altLang="en-US" sz="1200" dirty="0">
                <a:solidFill>
                  <a:schemeClr val="bg1"/>
                </a:solidFill>
              </a:rPr>
              <a:t>遍历到</a:t>
            </a:r>
            <a:r>
              <a:rPr lang="en-US" altLang="zh-CN" sz="1200" dirty="0">
                <a:solidFill>
                  <a:schemeClr val="bg1"/>
                </a:solidFill>
              </a:rPr>
              <a:t>T</a:t>
            </a:r>
            <a:r>
              <a:rPr lang="zh-CN" altLang="en-US" sz="1200" dirty="0">
                <a:solidFill>
                  <a:schemeClr val="bg1"/>
                </a:solidFill>
              </a:rPr>
              <a:t>就返回，此时该层次图已建好 </a:t>
            </a:r>
            <a:endParaRPr lang="zh-CN" altLang="en-US" sz="1200" dirty="0">
              <a:solidFill>
                <a:schemeClr val="bg1"/>
              </a:solidFill>
            </a:endParaRPr>
          </a:p>
          <a:p>
            <a:r>
              <a:rPr lang="zh-CN" altLang="en-US" sz="1200" dirty="0">
                <a:solidFill>
                  <a:schemeClr val="bg1"/>
                </a:solidFill>
              </a:rPr>
              <a:t>        </a:t>
            </a:r>
            <a:r>
              <a:rPr lang="en-US" altLang="zh-CN" sz="1200" dirty="0">
                <a:solidFill>
                  <a:schemeClr val="bg1"/>
                </a:solidFill>
              </a:rPr>
              <a:t>} // </a:t>
            </a:r>
            <a:r>
              <a:rPr lang="zh-CN" altLang="en-US" sz="1200" dirty="0">
                <a:solidFill>
                  <a:schemeClr val="bg1"/>
                </a:solidFill>
              </a:rPr>
              <a:t>再访问其它的点没有必要 </a:t>
            </a:r>
            <a:endParaRPr lang="zh-CN" altLang="en-US" sz="1200" dirty="0">
              <a:solidFill>
                <a:schemeClr val="bg1"/>
              </a:solidFill>
            </a:endParaRPr>
          </a:p>
          <a:p>
            <a:r>
              <a:rPr lang="zh-CN" altLang="en-US" sz="1200" dirty="0">
                <a:solidFill>
                  <a:schemeClr val="bg1"/>
                </a:solidFill>
              </a:rPr>
              <a:t>    </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return false;</a:t>
            </a:r>
            <a:endParaRPr lang="en-US" altLang="zh-CN" sz="1200" dirty="0">
              <a:solidFill>
                <a:schemeClr val="bg1"/>
              </a:solidFill>
            </a:endParaRPr>
          </a:p>
          <a:p>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int Dfs(int op, int </a:t>
            </a:r>
            <a:r>
              <a:rPr lang="en-US" altLang="zh-CN" sz="1200" dirty="0" err="1">
                <a:solidFill>
                  <a:schemeClr val="bg1"/>
                </a:solidFill>
              </a:rPr>
              <a:t>fw</a:t>
            </a:r>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if(op==T) return </a:t>
            </a:r>
            <a:r>
              <a:rPr lang="en-US" altLang="zh-CN" sz="1200" dirty="0" err="1">
                <a:solidFill>
                  <a:schemeClr val="bg1"/>
                </a:solidFill>
              </a:rPr>
              <a:t>fw</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int </a:t>
            </a:r>
            <a:r>
              <a:rPr lang="en-US" altLang="zh-CN" sz="1200" dirty="0" err="1">
                <a:solidFill>
                  <a:schemeClr val="bg1"/>
                </a:solidFill>
              </a:rPr>
              <a:t>tmp</a:t>
            </a:r>
            <a:r>
              <a:rPr lang="en-US" altLang="zh-CN" sz="1200" dirty="0">
                <a:solidFill>
                  <a:schemeClr val="bg1"/>
                </a:solidFill>
              </a:rPr>
              <a:t> = </a:t>
            </a:r>
            <a:r>
              <a:rPr lang="en-US" altLang="zh-CN" sz="1200" dirty="0" err="1">
                <a:solidFill>
                  <a:schemeClr val="bg1"/>
                </a:solidFill>
              </a:rPr>
              <a:t>fw</a:t>
            </a:r>
            <a:r>
              <a:rPr lang="en-US" altLang="zh-CN" sz="1200" dirty="0">
                <a:solidFill>
                  <a:schemeClr val="bg1"/>
                </a:solidFill>
              </a:rPr>
              <a:t>, k;</a:t>
            </a:r>
            <a:endParaRPr lang="en-US" altLang="zh-CN" sz="1200" dirty="0">
              <a:solidFill>
                <a:schemeClr val="bg1"/>
              </a:solidFill>
            </a:endParaRPr>
          </a:p>
          <a:p>
            <a:r>
              <a:rPr lang="en-US" altLang="zh-CN" sz="1200" dirty="0">
                <a:solidFill>
                  <a:schemeClr val="bg1"/>
                </a:solidFill>
              </a:rPr>
              <a:t>    for(int </a:t>
            </a:r>
            <a:r>
              <a:rPr lang="en-US" altLang="zh-CN" sz="1200" dirty="0" err="1">
                <a:solidFill>
                  <a:schemeClr val="bg1"/>
                </a:solidFill>
              </a:rPr>
              <a:t>i</a:t>
            </a:r>
            <a:r>
              <a:rPr lang="en-US" altLang="zh-CN" sz="1200" dirty="0">
                <a:solidFill>
                  <a:schemeClr val="bg1"/>
                </a:solidFill>
              </a:rPr>
              <a:t> = </a:t>
            </a:r>
            <a:r>
              <a:rPr lang="en-US" altLang="zh-CN" sz="1200" dirty="0" err="1">
                <a:solidFill>
                  <a:schemeClr val="bg1"/>
                </a:solidFill>
              </a:rPr>
              <a:t>headlist</a:t>
            </a:r>
            <a:r>
              <a:rPr lang="en-US" altLang="zh-CN" sz="1200" dirty="0">
                <a:solidFill>
                  <a:schemeClr val="bg1"/>
                </a:solidFill>
              </a:rPr>
              <a:t>[op] ; </a:t>
            </a:r>
            <a:r>
              <a:rPr lang="en-US" altLang="zh-CN" sz="1200" dirty="0" err="1">
                <a:solidFill>
                  <a:schemeClr val="bg1"/>
                </a:solidFill>
              </a:rPr>
              <a:t>i</a:t>
            </a:r>
            <a:r>
              <a:rPr lang="en-US" altLang="zh-CN" sz="1200" dirty="0">
                <a:solidFill>
                  <a:schemeClr val="bg1"/>
                </a:solidFill>
              </a:rPr>
              <a:t> != -1 ; </a:t>
            </a:r>
            <a:r>
              <a:rPr lang="en-US" altLang="zh-CN" sz="1200" dirty="0" err="1">
                <a:solidFill>
                  <a:schemeClr val="bg1"/>
                </a:solidFill>
              </a:rPr>
              <a:t>i</a:t>
            </a:r>
            <a:r>
              <a:rPr lang="en-US" altLang="zh-CN" sz="1200" dirty="0">
                <a:solidFill>
                  <a:schemeClr val="bg1"/>
                </a:solidFill>
              </a:rPr>
              <a:t> = Edge[</a:t>
            </a:r>
            <a:r>
              <a:rPr lang="en-US" altLang="zh-CN" sz="1200" dirty="0" err="1">
                <a:solidFill>
                  <a:schemeClr val="bg1"/>
                </a:solidFill>
              </a:rPr>
              <a:t>i</a:t>
            </a:r>
            <a:r>
              <a:rPr lang="en-US" altLang="zh-CN" sz="1200" dirty="0">
                <a:solidFill>
                  <a:schemeClr val="bg1"/>
                </a:solidFill>
              </a:rPr>
              <a:t>].next) {</a:t>
            </a:r>
            <a:endParaRPr lang="en-US" altLang="zh-CN" sz="1200" dirty="0">
              <a:solidFill>
                <a:schemeClr val="bg1"/>
              </a:solidFill>
            </a:endParaRPr>
          </a:p>
          <a:p>
            <a:r>
              <a:rPr lang="en-US" altLang="zh-CN" sz="1200" dirty="0">
                <a:solidFill>
                  <a:schemeClr val="bg1"/>
                </a:solidFill>
              </a:rPr>
              <a:t>        if(Edge[</a:t>
            </a:r>
            <a:r>
              <a:rPr lang="en-US" altLang="zh-CN" sz="1200" dirty="0" err="1">
                <a:solidFill>
                  <a:schemeClr val="bg1"/>
                </a:solidFill>
              </a:rPr>
              <a:t>i</a:t>
            </a:r>
            <a:r>
              <a:rPr lang="en-US" altLang="zh-CN" sz="1200" dirty="0">
                <a:solidFill>
                  <a:schemeClr val="bg1"/>
                </a:solidFill>
              </a:rPr>
              <a:t>].</a:t>
            </a:r>
            <a:r>
              <a:rPr lang="en-US" altLang="zh-CN" sz="1200" dirty="0" err="1">
                <a:solidFill>
                  <a:schemeClr val="bg1"/>
                </a:solidFill>
              </a:rPr>
              <a:t>val</a:t>
            </a:r>
            <a:r>
              <a:rPr lang="en-US" altLang="zh-CN" sz="1200" dirty="0">
                <a:solidFill>
                  <a:schemeClr val="bg1"/>
                </a:solidFill>
              </a:rPr>
              <a:t>&amp;&amp;</a:t>
            </a:r>
            <a:r>
              <a:rPr lang="en-US" altLang="zh-CN" sz="1200" dirty="0" err="1">
                <a:solidFill>
                  <a:schemeClr val="bg1"/>
                </a:solidFill>
              </a:rPr>
              <a:t>tmp</a:t>
            </a:r>
            <a:r>
              <a:rPr lang="en-US" altLang="zh-CN" sz="1200" dirty="0">
                <a:solidFill>
                  <a:schemeClr val="bg1"/>
                </a:solidFill>
              </a:rPr>
              <a:t>&amp;&amp;dep[Edge[</a:t>
            </a:r>
            <a:r>
              <a:rPr lang="en-US" altLang="zh-CN" sz="1200" dirty="0" err="1">
                <a:solidFill>
                  <a:schemeClr val="bg1"/>
                </a:solidFill>
              </a:rPr>
              <a:t>i</a:t>
            </a:r>
            <a:r>
              <a:rPr lang="en-US" altLang="zh-CN" sz="1200" dirty="0">
                <a:solidFill>
                  <a:schemeClr val="bg1"/>
                </a:solidFill>
              </a:rPr>
              <a:t>].v]==dep[op]+1) {</a:t>
            </a:r>
            <a:endParaRPr lang="en-US" altLang="zh-CN" sz="1200" dirty="0">
              <a:solidFill>
                <a:schemeClr val="bg1"/>
              </a:solidFill>
            </a:endParaRPr>
          </a:p>
          <a:p>
            <a:r>
              <a:rPr lang="en-US" altLang="zh-CN" sz="1200" dirty="0">
                <a:solidFill>
                  <a:schemeClr val="bg1"/>
                </a:solidFill>
              </a:rPr>
              <a:t>            k = </a:t>
            </a:r>
            <a:r>
              <a:rPr lang="en-US" altLang="zh-CN" sz="1200" dirty="0" err="1">
                <a:solidFill>
                  <a:schemeClr val="bg1"/>
                </a:solidFill>
              </a:rPr>
              <a:t>Dfs</a:t>
            </a:r>
            <a:r>
              <a:rPr lang="en-US" altLang="zh-CN" sz="1200" dirty="0">
                <a:solidFill>
                  <a:schemeClr val="bg1"/>
                </a:solidFill>
              </a:rPr>
              <a:t>(Edge[</a:t>
            </a:r>
            <a:r>
              <a:rPr lang="en-US" altLang="zh-CN" sz="1200" dirty="0" err="1">
                <a:solidFill>
                  <a:schemeClr val="bg1"/>
                </a:solidFill>
              </a:rPr>
              <a:t>i</a:t>
            </a:r>
            <a:r>
              <a:rPr lang="en-US" altLang="zh-CN" sz="1200" dirty="0">
                <a:solidFill>
                  <a:schemeClr val="bg1"/>
                </a:solidFill>
              </a:rPr>
              <a:t>].v, min(Edge[</a:t>
            </a:r>
            <a:r>
              <a:rPr lang="en-US" altLang="zh-CN" sz="1200" dirty="0" err="1">
                <a:solidFill>
                  <a:schemeClr val="bg1"/>
                </a:solidFill>
              </a:rPr>
              <a:t>i</a:t>
            </a:r>
            <a:r>
              <a:rPr lang="en-US" altLang="zh-CN" sz="1200" dirty="0">
                <a:solidFill>
                  <a:schemeClr val="bg1"/>
                </a:solidFill>
              </a:rPr>
              <a:t>].</a:t>
            </a:r>
            <a:r>
              <a:rPr lang="en-US" altLang="zh-CN" sz="1200" dirty="0" err="1">
                <a:solidFill>
                  <a:schemeClr val="bg1"/>
                </a:solidFill>
              </a:rPr>
              <a:t>val</a:t>
            </a:r>
            <a:r>
              <a:rPr lang="en-US" altLang="zh-CN" sz="1200" dirty="0">
                <a:solidFill>
                  <a:schemeClr val="bg1"/>
                </a:solidFill>
              </a:rPr>
              <a:t>, </a:t>
            </a:r>
            <a:r>
              <a:rPr lang="en-US" altLang="zh-CN" sz="1200" dirty="0" err="1">
                <a:solidFill>
                  <a:schemeClr val="bg1"/>
                </a:solidFill>
              </a:rPr>
              <a:t>tmp</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if(!k) { //</a:t>
            </a:r>
            <a:r>
              <a:rPr lang="zh-CN" altLang="en-US" sz="1200" dirty="0">
                <a:solidFill>
                  <a:schemeClr val="bg1"/>
                </a:solidFill>
              </a:rPr>
              <a:t>该点后面没有路径，所以要从层次图中删去</a:t>
            </a:r>
            <a:endParaRPr lang="zh-CN" altLang="en-US" sz="1200" dirty="0">
              <a:solidFill>
                <a:schemeClr val="bg1"/>
              </a:solidFill>
            </a:endParaRPr>
          </a:p>
          <a:p>
            <a:r>
              <a:rPr lang="zh-CN" altLang="en-US" sz="1200" dirty="0">
                <a:solidFill>
                  <a:schemeClr val="bg1"/>
                </a:solidFill>
              </a:rPr>
              <a:t>                </a:t>
            </a:r>
            <a:r>
              <a:rPr lang="en-US" altLang="zh-CN" sz="1200" dirty="0">
                <a:solidFill>
                  <a:schemeClr val="bg1"/>
                </a:solidFill>
              </a:rPr>
              <a:t>dep[Edge[</a:t>
            </a:r>
            <a:r>
              <a:rPr lang="en-US" altLang="zh-CN" sz="1200" dirty="0" err="1">
                <a:solidFill>
                  <a:schemeClr val="bg1"/>
                </a:solidFill>
              </a:rPr>
              <a:t>i</a:t>
            </a:r>
            <a:r>
              <a:rPr lang="en-US" altLang="zh-CN" sz="1200" dirty="0">
                <a:solidFill>
                  <a:schemeClr val="bg1"/>
                </a:solidFill>
              </a:rPr>
              <a:t>].v] = 0; // </a:t>
            </a:r>
            <a:r>
              <a:rPr lang="zh-CN" altLang="en-US" sz="1200" dirty="0">
                <a:solidFill>
                  <a:schemeClr val="bg1"/>
                </a:solidFill>
              </a:rPr>
              <a:t>因为和当前点</a:t>
            </a:r>
            <a:r>
              <a:rPr lang="en-US" altLang="zh-CN" sz="1200" dirty="0">
                <a:solidFill>
                  <a:schemeClr val="bg1"/>
                </a:solidFill>
              </a:rPr>
              <a:t>op</a:t>
            </a:r>
            <a:r>
              <a:rPr lang="zh-CN" altLang="en-US" sz="1200" dirty="0">
                <a:solidFill>
                  <a:schemeClr val="bg1"/>
                </a:solidFill>
              </a:rPr>
              <a:t>层次相同的点 </a:t>
            </a:r>
            <a:endParaRPr lang="zh-CN" altLang="en-US" sz="1200" dirty="0">
              <a:solidFill>
                <a:schemeClr val="bg1"/>
              </a:solidFill>
            </a:endParaRPr>
          </a:p>
          <a:p>
            <a:r>
              <a:rPr lang="zh-CN" altLang="en-US" sz="1200" dirty="0">
                <a:solidFill>
                  <a:schemeClr val="bg1"/>
                </a:solidFill>
              </a:rPr>
              <a:t>                </a:t>
            </a:r>
            <a:r>
              <a:rPr lang="en-US" altLang="zh-CN" sz="1200" dirty="0">
                <a:solidFill>
                  <a:schemeClr val="bg1"/>
                </a:solidFill>
              </a:rPr>
              <a:t>continue; // </a:t>
            </a:r>
            <a:r>
              <a:rPr lang="zh-CN" altLang="en-US" sz="1200" dirty="0">
                <a:solidFill>
                  <a:schemeClr val="bg1"/>
                </a:solidFill>
              </a:rPr>
              <a:t>还可能会访问到它 </a:t>
            </a:r>
            <a:endParaRPr lang="zh-CN" altLang="en-US" sz="1200" dirty="0">
              <a:solidFill>
                <a:schemeClr val="bg1"/>
              </a:solidFill>
            </a:endParaRPr>
          </a:p>
          <a:p>
            <a:r>
              <a:rPr lang="zh-CN" altLang="en-US" sz="1200" dirty="0">
                <a:solidFill>
                  <a:schemeClr val="bg1"/>
                </a:solidFill>
              </a:rPr>
              <a:t>            </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            Edge[</a:t>
            </a:r>
            <a:r>
              <a:rPr lang="en-US" altLang="zh-CN" sz="1200" dirty="0" err="1">
                <a:solidFill>
                  <a:schemeClr val="bg1"/>
                </a:solidFill>
              </a:rPr>
              <a:t>i</a:t>
            </a:r>
            <a:r>
              <a:rPr lang="en-US" altLang="zh-CN" sz="1200" dirty="0">
                <a:solidFill>
                  <a:schemeClr val="bg1"/>
                </a:solidFill>
              </a:rPr>
              <a:t>].</a:t>
            </a:r>
            <a:r>
              <a:rPr lang="en-US" altLang="zh-CN" sz="1200" dirty="0" err="1">
                <a:solidFill>
                  <a:schemeClr val="bg1"/>
                </a:solidFill>
              </a:rPr>
              <a:t>val</a:t>
            </a:r>
            <a:r>
              <a:rPr lang="en-US" altLang="zh-CN" sz="1200" dirty="0">
                <a:solidFill>
                  <a:schemeClr val="bg1"/>
                </a:solidFill>
              </a:rPr>
              <a:t> -= k, Edge[i^1].</a:t>
            </a:r>
            <a:r>
              <a:rPr lang="en-US" altLang="zh-CN" sz="1200" dirty="0" err="1">
                <a:solidFill>
                  <a:schemeClr val="bg1"/>
                </a:solidFill>
              </a:rPr>
              <a:t>val</a:t>
            </a:r>
            <a:r>
              <a:rPr lang="en-US" altLang="zh-CN" sz="1200" dirty="0">
                <a:solidFill>
                  <a:schemeClr val="bg1"/>
                </a:solidFill>
              </a:rPr>
              <a:t> += k, </a:t>
            </a:r>
            <a:r>
              <a:rPr lang="en-US" altLang="zh-CN" sz="1200" dirty="0" err="1">
                <a:solidFill>
                  <a:schemeClr val="bg1"/>
                </a:solidFill>
              </a:rPr>
              <a:t>tmp</a:t>
            </a:r>
            <a:r>
              <a:rPr lang="en-US" altLang="zh-CN" sz="1200" dirty="0">
                <a:solidFill>
                  <a:schemeClr val="bg1"/>
                </a:solidFill>
              </a:rPr>
              <a:t> -= k;</a:t>
            </a:r>
            <a:endParaRPr lang="en-US" altLang="zh-CN" sz="1200" dirty="0">
              <a:solidFill>
                <a:schemeClr val="bg1"/>
              </a:solidFill>
            </a:endParaRPr>
          </a:p>
          <a:p>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a:t>
            </a:r>
            <a:endParaRPr lang="en-US" altLang="zh-CN" sz="1200" dirty="0">
              <a:solidFill>
                <a:schemeClr val="bg1"/>
              </a:solidFill>
            </a:endParaRPr>
          </a:p>
          <a:p>
            <a:r>
              <a:rPr lang="en-US" altLang="zh-CN" sz="1200" dirty="0">
                <a:solidFill>
                  <a:schemeClr val="bg1"/>
                </a:solidFill>
              </a:rPr>
              <a:t>    return </a:t>
            </a:r>
            <a:r>
              <a:rPr lang="en-US" altLang="zh-CN" sz="1200" dirty="0" err="1">
                <a:solidFill>
                  <a:schemeClr val="bg1"/>
                </a:solidFill>
              </a:rPr>
              <a:t>fw-tmp</a:t>
            </a:r>
            <a:r>
              <a:rPr lang="en-US" altLang="zh-CN" sz="1200" dirty="0">
                <a:solidFill>
                  <a:schemeClr val="bg1"/>
                </a:solidFill>
              </a:rPr>
              <a:t>;</a:t>
            </a:r>
            <a:endParaRPr lang="en-US" altLang="zh-CN" sz="1200" dirty="0">
              <a:solidFill>
                <a:schemeClr val="bg1"/>
              </a:solidFill>
            </a:endParaRPr>
          </a:p>
          <a:p>
            <a:r>
              <a:rPr lang="en-US" altLang="zh-CN" sz="1200" dirty="0">
                <a:solidFill>
                  <a:schemeClr val="bg1"/>
                </a:solidFill>
              </a:rPr>
              <a:t>}</a:t>
            </a:r>
            <a:endParaRPr lang="zh-CN" altLang="en-US" sz="2400" dirty="0">
              <a:solidFill>
                <a:schemeClr val="bg1"/>
              </a:solidFill>
            </a:endParaRPr>
          </a:p>
        </p:txBody>
      </p:sp>
      <p:sp>
        <p:nvSpPr>
          <p:cNvPr id="8" name="文本框 7"/>
          <p:cNvSpPr txBox="1"/>
          <p:nvPr/>
        </p:nvSpPr>
        <p:spPr>
          <a:xfrm>
            <a:off x="622996" y="683995"/>
            <a:ext cx="8882743" cy="369332"/>
          </a:xfrm>
          <a:prstGeom prst="rect">
            <a:avLst/>
          </a:prstGeom>
          <a:noFill/>
        </p:spPr>
        <p:txBody>
          <a:bodyPr wrap="square" rtlCol="0">
            <a:spAutoFit/>
          </a:bodyPr>
          <a:lstStyle/>
          <a:p>
            <a:pPr marL="342900" indent="-342900">
              <a:buFont typeface="Wingdings" panose="05000000000000000000" pitchFamily="2" charset="2"/>
              <a:buChar char="Ø"/>
            </a:pPr>
            <a:r>
              <a:rPr lang="en-US" altLang="zh-CN" dirty="0">
                <a:solidFill>
                  <a:schemeClr val="bg1"/>
                </a:solidFill>
              </a:rPr>
              <a:t>Dinic</a:t>
            </a:r>
            <a:endParaRPr lang="zh-CN" altLang="en-US" dirty="0">
              <a:solidFill>
                <a:schemeClr val="bg1"/>
              </a:solidFill>
            </a:endParaRPr>
          </a:p>
        </p:txBody>
      </p:sp>
      <p:sp>
        <p:nvSpPr>
          <p:cNvPr id="9" name="文本框 8"/>
          <p:cNvSpPr txBox="1"/>
          <p:nvPr/>
        </p:nvSpPr>
        <p:spPr>
          <a:xfrm>
            <a:off x="5561764" y="1063039"/>
            <a:ext cx="6039057" cy="5632311"/>
          </a:xfrm>
          <a:prstGeom prst="rect">
            <a:avLst/>
          </a:prstGeom>
          <a:noFill/>
        </p:spPr>
        <p:txBody>
          <a:bodyPr wrap="square" rtlCol="0">
            <a:spAutoFit/>
          </a:bodyPr>
          <a:lstStyle/>
          <a:p>
            <a:pPr algn="l"/>
            <a:r>
              <a:rPr lang="zh-CN" altLang="en-US" sz="2000" dirty="0">
                <a:solidFill>
                  <a:schemeClr val="bg1"/>
                </a:solidFill>
              </a:rPr>
              <a:t>过程：</a:t>
            </a:r>
            <a:r>
              <a:rPr lang="en-US" altLang="zh-CN" sz="2000" dirty="0">
                <a:solidFill>
                  <a:schemeClr val="bg1"/>
                </a:solidFill>
              </a:rPr>
              <a:t>1.bfs</a:t>
            </a:r>
            <a:r>
              <a:rPr lang="zh-CN" altLang="en-US" sz="2000" dirty="0">
                <a:solidFill>
                  <a:schemeClr val="bg1"/>
                </a:solidFill>
              </a:rPr>
              <a:t>建立层次图</a:t>
            </a:r>
            <a:endParaRPr lang="en-US" altLang="zh-CN" sz="2000" dirty="0">
              <a:solidFill>
                <a:schemeClr val="bg1"/>
              </a:solidFill>
            </a:endParaRPr>
          </a:p>
          <a:p>
            <a:pPr algn="l"/>
            <a:r>
              <a:rPr lang="en-US" altLang="zh-CN" sz="2000" dirty="0">
                <a:solidFill>
                  <a:schemeClr val="bg1"/>
                </a:solidFill>
              </a:rPr>
              <a:t>           2.</a:t>
            </a:r>
            <a:r>
              <a:rPr lang="zh-CN" altLang="en-US" sz="2000" dirty="0">
                <a:solidFill>
                  <a:schemeClr val="bg1"/>
                </a:solidFill>
              </a:rPr>
              <a:t>在层此图中</a:t>
            </a:r>
            <a:r>
              <a:rPr lang="en-US" altLang="zh-CN" sz="2000" dirty="0">
                <a:solidFill>
                  <a:schemeClr val="bg1"/>
                </a:solidFill>
              </a:rPr>
              <a:t>dfs</a:t>
            </a:r>
            <a:r>
              <a:rPr lang="zh-CN" altLang="en-US" sz="2000" dirty="0">
                <a:solidFill>
                  <a:schemeClr val="bg1"/>
                </a:solidFill>
              </a:rPr>
              <a:t>直到找不到增广路</a:t>
            </a:r>
            <a:endParaRPr lang="en-US" altLang="zh-CN" sz="2000" dirty="0">
              <a:solidFill>
                <a:schemeClr val="bg1"/>
              </a:solidFill>
            </a:endParaRPr>
          </a:p>
          <a:p>
            <a:pPr algn="l"/>
            <a:r>
              <a:rPr lang="en-US" altLang="zh-CN" sz="2000" dirty="0">
                <a:solidFill>
                  <a:schemeClr val="bg1"/>
                </a:solidFill>
              </a:rPr>
              <a:t>           3.</a:t>
            </a:r>
            <a:r>
              <a:rPr lang="zh-CN" altLang="en-US" sz="2000" dirty="0">
                <a:solidFill>
                  <a:schemeClr val="bg1"/>
                </a:solidFill>
              </a:rPr>
              <a:t>重复以上过程直到找不到增广路</a:t>
            </a:r>
            <a:endParaRPr lang="en-US" altLang="zh-CN" sz="2000" dirty="0">
              <a:solidFill>
                <a:schemeClr val="bg1"/>
              </a:solidFill>
            </a:endParaRPr>
          </a:p>
          <a:p>
            <a:pPr algn="l"/>
            <a:endParaRPr lang="en-US" altLang="zh-CN" sz="2000" dirty="0">
              <a:solidFill>
                <a:schemeClr val="bg1"/>
              </a:solidFill>
            </a:endParaRPr>
          </a:p>
          <a:p>
            <a:r>
              <a:rPr lang="zh-CN" altLang="en-US" sz="2000" dirty="0">
                <a:solidFill>
                  <a:schemeClr val="bg1"/>
                </a:solidFill>
              </a:rPr>
              <a:t>      因为在</a:t>
            </a:r>
            <a:r>
              <a:rPr lang="en-US" altLang="zh-CN" sz="2000" dirty="0">
                <a:solidFill>
                  <a:schemeClr val="bg1"/>
                </a:solidFill>
              </a:rPr>
              <a:t>Dinic</a:t>
            </a:r>
            <a:r>
              <a:rPr lang="zh-CN" altLang="en-US" sz="2000" dirty="0">
                <a:solidFill>
                  <a:schemeClr val="bg1"/>
                </a:solidFill>
              </a:rPr>
              <a:t>的执行过程中，每次重新分层，汇点所在的层次是严格递增的。而</a:t>
            </a:r>
            <a:r>
              <a:rPr lang="en-US" altLang="zh-CN" sz="2000" dirty="0">
                <a:solidFill>
                  <a:schemeClr val="bg1"/>
                </a:solidFill>
              </a:rPr>
              <a:t>n</a:t>
            </a:r>
            <a:r>
              <a:rPr lang="zh-CN" altLang="en-US" sz="2000" dirty="0">
                <a:solidFill>
                  <a:schemeClr val="bg1"/>
                </a:solidFill>
              </a:rPr>
              <a:t>个点的层次图最多有</a:t>
            </a:r>
            <a:r>
              <a:rPr lang="en-US" altLang="zh-CN" sz="2000" dirty="0">
                <a:solidFill>
                  <a:schemeClr val="bg1"/>
                </a:solidFill>
              </a:rPr>
              <a:t>n</a:t>
            </a:r>
            <a:r>
              <a:rPr lang="zh-CN" altLang="en-US" sz="2000" dirty="0">
                <a:solidFill>
                  <a:schemeClr val="bg1"/>
                </a:solidFill>
              </a:rPr>
              <a:t>层，所以最多重新分层</a:t>
            </a:r>
            <a:r>
              <a:rPr lang="en-US" altLang="zh-CN" sz="2000" dirty="0">
                <a:solidFill>
                  <a:schemeClr val="bg1"/>
                </a:solidFill>
              </a:rPr>
              <a:t>n</a:t>
            </a:r>
            <a:r>
              <a:rPr lang="zh-CN" altLang="en-US" sz="2000" dirty="0">
                <a:solidFill>
                  <a:schemeClr val="bg1"/>
                </a:solidFill>
              </a:rPr>
              <a:t>次。</a:t>
            </a:r>
            <a:endParaRPr lang="en-US" altLang="zh-CN" sz="2000" dirty="0">
              <a:solidFill>
                <a:schemeClr val="bg1"/>
              </a:solidFill>
            </a:endParaRPr>
          </a:p>
          <a:p>
            <a:r>
              <a:rPr lang="zh-CN" altLang="en-US" sz="2000" dirty="0">
                <a:solidFill>
                  <a:schemeClr val="bg1"/>
                </a:solidFill>
              </a:rPr>
              <a:t>      在同一个层次图中，因为每条增广路都有一个瓶颈，也就是最小值的限制所在边，而两次增广的瓶颈不可能相同，所以增广路最多</a:t>
            </a:r>
            <a:r>
              <a:rPr lang="en-US" altLang="zh-CN" sz="2000" dirty="0">
                <a:solidFill>
                  <a:schemeClr val="bg1"/>
                </a:solidFill>
              </a:rPr>
              <a:t>m</a:t>
            </a:r>
            <a:r>
              <a:rPr lang="zh-CN" altLang="en-US" sz="2000" dirty="0">
                <a:solidFill>
                  <a:schemeClr val="bg1"/>
                </a:solidFill>
              </a:rPr>
              <a:t>条。</a:t>
            </a:r>
            <a:endParaRPr lang="en-US" altLang="zh-CN" sz="2000" dirty="0">
              <a:solidFill>
                <a:schemeClr val="bg1"/>
              </a:solidFill>
            </a:endParaRPr>
          </a:p>
          <a:p>
            <a:r>
              <a:rPr lang="en-US" altLang="zh-CN" sz="2000" dirty="0">
                <a:solidFill>
                  <a:schemeClr val="bg1"/>
                </a:solidFill>
              </a:rPr>
              <a:t>      </a:t>
            </a:r>
            <a:r>
              <a:rPr lang="zh-CN" altLang="en-US" sz="2000" dirty="0">
                <a:solidFill>
                  <a:schemeClr val="bg1"/>
                </a:solidFill>
              </a:rPr>
              <a:t>搜索每一条增广路时，前进和回溯都最多</a:t>
            </a:r>
            <a:r>
              <a:rPr lang="en-US" altLang="zh-CN" sz="2000" dirty="0">
                <a:solidFill>
                  <a:schemeClr val="bg1"/>
                </a:solidFill>
              </a:rPr>
              <a:t>n</a:t>
            </a:r>
            <a:r>
              <a:rPr lang="zh-CN" altLang="en-US" sz="2000" dirty="0">
                <a:solidFill>
                  <a:schemeClr val="bg1"/>
                </a:solidFill>
              </a:rPr>
              <a:t>次（因为最多有</a:t>
            </a:r>
            <a:r>
              <a:rPr lang="en-US" altLang="zh-CN" sz="2000" dirty="0">
                <a:solidFill>
                  <a:schemeClr val="bg1"/>
                </a:solidFill>
              </a:rPr>
              <a:t>n</a:t>
            </a:r>
            <a:r>
              <a:rPr lang="zh-CN" altLang="en-US" sz="2000" dirty="0">
                <a:solidFill>
                  <a:schemeClr val="bg1"/>
                </a:solidFill>
              </a:rPr>
              <a:t>个点），所以一次</a:t>
            </a:r>
            <a:r>
              <a:rPr lang="en-US" altLang="zh-CN" sz="2000" dirty="0">
                <a:solidFill>
                  <a:schemeClr val="bg1"/>
                </a:solidFill>
              </a:rPr>
              <a:t>dfs</a:t>
            </a:r>
            <a:r>
              <a:rPr lang="zh-CN" altLang="en-US" sz="2000" dirty="0">
                <a:solidFill>
                  <a:schemeClr val="bg1"/>
                </a:solidFill>
              </a:rPr>
              <a:t>的时间复杂度是</a:t>
            </a:r>
            <a:r>
              <a:rPr lang="en-US" altLang="zh-CN" sz="2000" dirty="0">
                <a:solidFill>
                  <a:schemeClr val="bg1"/>
                </a:solidFill>
              </a:rPr>
              <a:t>O(nm)</a:t>
            </a:r>
            <a:r>
              <a:rPr lang="zh-CN" altLang="en-US" sz="2000" dirty="0">
                <a:solidFill>
                  <a:schemeClr val="bg1"/>
                </a:solidFill>
              </a:rPr>
              <a:t>；</a:t>
            </a:r>
            <a:endParaRPr lang="en-US" altLang="zh-CN" sz="2000" dirty="0">
              <a:solidFill>
                <a:schemeClr val="bg1"/>
              </a:solidFill>
            </a:endParaRPr>
          </a:p>
          <a:p>
            <a:r>
              <a:rPr lang="en-US" altLang="zh-CN" sz="2000" dirty="0">
                <a:solidFill>
                  <a:schemeClr val="bg1"/>
                </a:solidFill>
              </a:rPr>
              <a:t>      </a:t>
            </a:r>
            <a:r>
              <a:rPr lang="zh-CN" altLang="en-US" sz="2000" dirty="0">
                <a:solidFill>
                  <a:schemeClr val="bg1"/>
                </a:solidFill>
              </a:rPr>
              <a:t>而沿着同一条边</a:t>
            </a:r>
            <a:r>
              <a:rPr lang="en-US" altLang="zh-CN" sz="2000" dirty="0">
                <a:solidFill>
                  <a:schemeClr val="bg1"/>
                </a:solidFill>
              </a:rPr>
              <a:t>(</a:t>
            </a:r>
            <a:r>
              <a:rPr lang="en-US" altLang="zh-CN" sz="2000" dirty="0" err="1">
                <a:solidFill>
                  <a:schemeClr val="bg1"/>
                </a:solidFill>
              </a:rPr>
              <a:t>i,j</a:t>
            </a:r>
            <a:r>
              <a:rPr lang="en-US" altLang="zh-CN" sz="2000" dirty="0">
                <a:solidFill>
                  <a:schemeClr val="bg1"/>
                </a:solidFill>
              </a:rPr>
              <a:t>)</a:t>
            </a:r>
            <a:r>
              <a:rPr lang="zh-CN" altLang="en-US" sz="2000" dirty="0">
                <a:solidFill>
                  <a:schemeClr val="bg1"/>
                </a:solidFill>
              </a:rPr>
              <a:t>不可能枚举两次，因为第一次枚举时要么这条边的容量已经用尽，要么点</a:t>
            </a:r>
            <a:r>
              <a:rPr lang="en-US" altLang="zh-CN" sz="2000" dirty="0">
                <a:solidFill>
                  <a:schemeClr val="bg1"/>
                </a:solidFill>
              </a:rPr>
              <a:t>j</a:t>
            </a:r>
            <a:r>
              <a:rPr lang="zh-CN" altLang="en-US" sz="2000" dirty="0">
                <a:solidFill>
                  <a:schemeClr val="bg1"/>
                </a:solidFill>
              </a:rPr>
              <a:t>到汇不存在通路从而可将其从这一层次图中删除。综上所述，</a:t>
            </a:r>
            <a:r>
              <a:rPr lang="en-US" altLang="zh-CN" sz="2000" dirty="0">
                <a:solidFill>
                  <a:schemeClr val="bg1"/>
                </a:solidFill>
              </a:rPr>
              <a:t>Dinic</a:t>
            </a:r>
            <a:r>
              <a:rPr lang="zh-CN" altLang="en-US" sz="2000" dirty="0">
                <a:solidFill>
                  <a:schemeClr val="bg1"/>
                </a:solidFill>
              </a:rPr>
              <a:t>算法时间复杂度的理论上界</a:t>
            </a:r>
            <a:r>
              <a:rPr lang="en-US" altLang="zh-CN" sz="2000" dirty="0">
                <a:solidFill>
                  <a:schemeClr val="bg1"/>
                </a:solidFill>
              </a:rPr>
              <a:t>O(n^2*m)</a:t>
            </a:r>
            <a:r>
              <a:rPr lang="zh-CN" altLang="en-US" sz="2000" dirty="0">
                <a:solidFill>
                  <a:schemeClr val="bg1"/>
                </a:solidFill>
              </a:rPr>
              <a:t>。</a:t>
            </a:r>
            <a:endParaRPr lang="en-US" altLang="zh-CN" sz="2000" dirty="0">
              <a:solidFill>
                <a:schemeClr val="bg1"/>
              </a:solidFill>
            </a:endParaRPr>
          </a:p>
          <a:p>
            <a:r>
              <a:rPr lang="en-US" altLang="zh-CN" sz="2000" dirty="0">
                <a:solidFill>
                  <a:schemeClr val="bg1"/>
                </a:solidFill>
              </a:rPr>
              <a:t>      </a:t>
            </a:r>
            <a:r>
              <a:rPr lang="zh-CN" altLang="en-US" sz="2000" dirty="0">
                <a:solidFill>
                  <a:schemeClr val="bg1"/>
                </a:solidFill>
              </a:rPr>
              <a:t>证明见黑板。</a:t>
            </a:r>
            <a:endParaRPr lang="en-US" altLang="zh-CN" sz="2800" dirty="0">
              <a:solidFill>
                <a:schemeClr val="bg1"/>
              </a:solidFill>
            </a:endParaRPr>
          </a:p>
        </p:txBody>
      </p:sp>
      <p:sp>
        <p:nvSpPr>
          <p:cNvPr id="6" name="箭头: V 形 5">
            <a:hlinkClick r:id="rId1" action="ppaction://hlinksldjump"/>
          </p:cNvPr>
          <p:cNvSpPr/>
          <p:nvPr/>
        </p:nvSpPr>
        <p:spPr>
          <a:xfrm>
            <a:off x="11452038" y="6346040"/>
            <a:ext cx="371789" cy="3114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四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6" y="2015085"/>
            <a:ext cx="10259369" cy="2825389"/>
          </a:xfrm>
          <a:prstGeom prst="rect">
            <a:avLst/>
          </a:prstGeom>
          <a:noFill/>
        </p:spPr>
        <p:txBody>
          <a:bodyPr wrap="square" rtlCol="0">
            <a:spAutoFit/>
          </a:bodyPr>
          <a:lstStyle/>
          <a:p>
            <a:pPr algn="l">
              <a:lnSpc>
                <a:spcPct val="120000"/>
              </a:lnSpc>
            </a:pPr>
            <a:r>
              <a:rPr lang="en-US" altLang="zh-CN" sz="2400" dirty="0">
                <a:solidFill>
                  <a:schemeClr val="bg1"/>
                </a:solidFill>
              </a:rPr>
              <a:t>	                               </a:t>
            </a:r>
            <a:r>
              <a:rPr lang="zh-CN" altLang="en-US" sz="2800" dirty="0">
                <a:solidFill>
                  <a:schemeClr val="bg1"/>
                </a:solidFill>
              </a:rPr>
              <a:t>搭配飞行员</a:t>
            </a:r>
            <a:endParaRPr lang="en-US" altLang="zh-CN" sz="2800" dirty="0">
              <a:solidFill>
                <a:schemeClr val="bg1"/>
              </a:solidFill>
            </a:endParaRPr>
          </a:p>
          <a:p>
            <a:pPr marL="342900" indent="-342900">
              <a:lnSpc>
                <a:spcPct val="120000"/>
              </a:lnSpc>
              <a:buFont typeface="Wingdings" panose="05000000000000000000" pitchFamily="2" charset="2"/>
              <a:buChar char="Ø"/>
            </a:pPr>
            <a:r>
              <a:rPr lang="zh-CN" altLang="en-US" sz="2400" dirty="0">
                <a:solidFill>
                  <a:schemeClr val="bg1"/>
                </a:solidFill>
              </a:rPr>
              <a:t>链接</a:t>
            </a:r>
            <a:r>
              <a:rPr lang="zh-CN" altLang="en-US" sz="2800" dirty="0">
                <a:solidFill>
                  <a:schemeClr val="bg1"/>
                </a:solidFill>
              </a:rPr>
              <a:t>：</a:t>
            </a:r>
            <a:r>
              <a:rPr lang="en-US" altLang="zh-CN" sz="2400" dirty="0">
                <a:solidFill>
                  <a:schemeClr val="bg1"/>
                </a:solidFill>
                <a:hlinkClick r:id="rId1"/>
              </a:rPr>
              <a:t>http://cogs.pro/cogs/problem/problem.php?pid=14</a:t>
            </a:r>
            <a:r>
              <a:rPr lang="en-US" altLang="zh-CN" sz="2400" dirty="0">
                <a:solidFill>
                  <a:schemeClr val="bg1"/>
                </a:solidFill>
              </a:rPr>
              <a:t>                            </a:t>
            </a:r>
            <a:endParaRPr lang="en-US" altLang="zh-CN" sz="2800" dirty="0">
              <a:solidFill>
                <a:schemeClr val="bg1"/>
              </a:solidFill>
            </a:endParaRPr>
          </a:p>
          <a:p>
            <a:pPr marL="342900" indent="-342900">
              <a:lnSpc>
                <a:spcPct val="120000"/>
              </a:lnSpc>
              <a:buFont typeface="Wingdings" panose="05000000000000000000" pitchFamily="2" charset="2"/>
              <a:buChar char="Ø"/>
            </a:pPr>
            <a:r>
              <a:rPr lang="zh-CN" altLang="en-US" sz="2400" dirty="0">
                <a:solidFill>
                  <a:srgbClr val="000000"/>
                </a:solidFill>
                <a:latin typeface="Times New Roman" panose="02020603050405020304" pitchFamily="18" charset="0"/>
              </a:rPr>
              <a:t>题目大意：有</a:t>
            </a:r>
            <a:r>
              <a:rPr lang="en-US" altLang="zh-CN" sz="2400" dirty="0">
                <a:solidFill>
                  <a:srgbClr val="000000"/>
                </a:solidFill>
                <a:latin typeface="Times New Roman" panose="02020603050405020304" pitchFamily="18" charset="0"/>
              </a:rPr>
              <a:t>n(n</a:t>
            </a:r>
            <a:r>
              <a:rPr lang="en-US" altLang="zh-CN" sz="2400" dirty="0">
                <a:solidFill>
                  <a:schemeClr val="bg1"/>
                </a:solidFill>
              </a:rPr>
              <a:t> ≤ </a:t>
            </a:r>
            <a:r>
              <a:rPr lang="en-US" altLang="zh-CN" sz="2400" dirty="0">
                <a:solidFill>
                  <a:srgbClr val="000000"/>
                </a:solidFill>
                <a:latin typeface="Times New Roman" panose="02020603050405020304" pitchFamily="18" charset="0"/>
              </a:rPr>
              <a:t>100)</a:t>
            </a:r>
            <a:r>
              <a:rPr lang="zh-CN" altLang="en-US" sz="2400" dirty="0">
                <a:solidFill>
                  <a:srgbClr val="000000"/>
                </a:solidFill>
                <a:latin typeface="Times New Roman" panose="02020603050405020304" pitchFamily="18" charset="0"/>
              </a:rPr>
              <a:t>个驾驶员（其中包括</a:t>
            </a:r>
            <a:r>
              <a:rPr lang="en-US" altLang="zh-CN" sz="2400" dirty="0">
                <a:solidFill>
                  <a:srgbClr val="000000"/>
                </a:solidFill>
                <a:latin typeface="Times New Roman" panose="02020603050405020304" pitchFamily="18" charset="0"/>
              </a:rPr>
              <a:t>a</a:t>
            </a:r>
            <a:r>
              <a:rPr lang="zh-CN" altLang="en-US" sz="2400" dirty="0">
                <a:solidFill>
                  <a:srgbClr val="000000"/>
                </a:solidFill>
                <a:latin typeface="Times New Roman" panose="02020603050405020304" pitchFamily="18" charset="0"/>
              </a:rPr>
              <a:t>个正驾驶员和</a:t>
            </a:r>
            <a:r>
              <a:rPr lang="en-US" altLang="zh-CN" sz="2400" dirty="0">
                <a:solidFill>
                  <a:srgbClr val="000000"/>
                </a:solidFill>
                <a:latin typeface="Times New Roman" panose="02020603050405020304" pitchFamily="18" charset="0"/>
              </a:rPr>
              <a:t>b</a:t>
            </a:r>
            <a:r>
              <a:rPr lang="zh-CN" altLang="en-US" sz="2400" dirty="0">
                <a:solidFill>
                  <a:srgbClr val="000000"/>
                </a:solidFill>
                <a:latin typeface="Times New Roman" panose="02020603050405020304" pitchFamily="18" charset="0"/>
              </a:rPr>
              <a:t>个副驾驶员）驾驶一种飞机，每架需要一个正驾驶员和一个副驾驶员。有些驾驶员不能在同一架飞机上，问如何搭配驾驶员才能使出航的飞机最多。</a:t>
            </a:r>
            <a:endParaRPr lang="en-US" altLang="zh-CN" sz="2400" dirty="0">
              <a:solidFill>
                <a:schemeClr val="bg1"/>
              </a:solidFill>
            </a:endParaRPr>
          </a:p>
          <a:p>
            <a:r>
              <a:rPr lang="en-US" altLang="zh-CN" sz="2400" dirty="0">
                <a:solidFill>
                  <a:schemeClr val="bg1"/>
                </a:solidFill>
              </a:rPr>
              <a:t>	</a:t>
            </a:r>
            <a:endParaRPr lang="zh-CN" altLang="en-US" sz="2400" dirty="0">
              <a:solidFill>
                <a:schemeClr val="bg1"/>
              </a:solidFill>
            </a:endParaRPr>
          </a:p>
        </p:txBody>
      </p:sp>
      <p:sp>
        <p:nvSpPr>
          <p:cNvPr id="3" name="文本框 2"/>
          <p:cNvSpPr txBox="1"/>
          <p:nvPr/>
        </p:nvSpPr>
        <p:spPr>
          <a:xfrm>
            <a:off x="622995" y="4667584"/>
            <a:ext cx="10259369" cy="1791260"/>
          </a:xfrm>
          <a:prstGeom prst="rect">
            <a:avLst/>
          </a:prstGeom>
          <a:noFill/>
        </p:spPr>
        <p:txBody>
          <a:bodyPr wrap="square" rtlCol="0">
            <a:spAutoFit/>
          </a:bodyPr>
          <a:lstStyle/>
          <a:p>
            <a:pPr marL="342900" indent="-342900" algn="l">
              <a:lnSpc>
                <a:spcPct val="120000"/>
              </a:lnSpc>
              <a:buFont typeface="Wingdings" panose="05000000000000000000" pitchFamily="2" charset="2"/>
              <a:buChar char="Ø"/>
            </a:pPr>
            <a:r>
              <a:rPr lang="zh-CN" altLang="en-US" sz="2400" dirty="0">
                <a:solidFill>
                  <a:schemeClr val="bg1"/>
                </a:solidFill>
              </a:rPr>
              <a:t>题解：题意很明了，将正驾驶员与</a:t>
            </a:r>
            <a:r>
              <a:rPr lang="en-US" altLang="zh-CN" sz="2400" dirty="0">
                <a:solidFill>
                  <a:schemeClr val="bg1"/>
                </a:solidFill>
              </a:rPr>
              <a:t>S</a:t>
            </a:r>
            <a:r>
              <a:rPr lang="zh-CN" altLang="en-US" sz="2400" dirty="0">
                <a:solidFill>
                  <a:schemeClr val="bg1"/>
                </a:solidFill>
              </a:rPr>
              <a:t>相连，容量为</a:t>
            </a:r>
            <a:r>
              <a:rPr lang="en-US" altLang="zh-CN" sz="2400" dirty="0">
                <a:solidFill>
                  <a:schemeClr val="bg1"/>
                </a:solidFill>
              </a:rPr>
              <a:t>1</a:t>
            </a:r>
            <a:r>
              <a:rPr lang="zh-CN" altLang="en-US" sz="2400" dirty="0">
                <a:solidFill>
                  <a:schemeClr val="bg1"/>
                </a:solidFill>
              </a:rPr>
              <a:t>，将副驾驶员与</a:t>
            </a:r>
            <a:r>
              <a:rPr lang="en-US" altLang="zh-CN" sz="2400" dirty="0">
                <a:solidFill>
                  <a:schemeClr val="bg1"/>
                </a:solidFill>
              </a:rPr>
              <a:t>T</a:t>
            </a:r>
            <a:r>
              <a:rPr lang="zh-CN" altLang="en-US" sz="2400" dirty="0">
                <a:solidFill>
                  <a:schemeClr val="bg1"/>
                </a:solidFill>
              </a:rPr>
              <a:t>相连，边容量为</a:t>
            </a:r>
            <a:r>
              <a:rPr lang="en-US" altLang="zh-CN" sz="2400" dirty="0">
                <a:solidFill>
                  <a:schemeClr val="bg1"/>
                </a:solidFill>
              </a:rPr>
              <a:t>1</a:t>
            </a:r>
            <a:r>
              <a:rPr lang="zh-CN" altLang="en-US" sz="2400" dirty="0">
                <a:solidFill>
                  <a:schemeClr val="bg1"/>
                </a:solidFill>
              </a:rPr>
              <a:t>，将可以在一辆飞机上的正驾驶员和副驾驶员相连，边容量</a:t>
            </a:r>
            <a:r>
              <a:rPr lang="en-US" altLang="zh-CN" sz="2400" dirty="0">
                <a:solidFill>
                  <a:schemeClr val="bg1"/>
                </a:solidFill>
              </a:rPr>
              <a:t>&gt;0</a:t>
            </a:r>
            <a:r>
              <a:rPr lang="zh-CN" altLang="en-US" sz="2400" dirty="0">
                <a:solidFill>
                  <a:schemeClr val="bg1"/>
                </a:solidFill>
              </a:rPr>
              <a:t>即可。与</a:t>
            </a:r>
            <a:r>
              <a:rPr lang="en-US" altLang="zh-CN" sz="2400" dirty="0">
                <a:solidFill>
                  <a:schemeClr val="bg1"/>
                </a:solidFill>
              </a:rPr>
              <a:t>S</a:t>
            </a:r>
            <a:r>
              <a:rPr lang="zh-CN" altLang="en-US" sz="2400" dirty="0">
                <a:solidFill>
                  <a:schemeClr val="bg1"/>
                </a:solidFill>
              </a:rPr>
              <a:t>，</a:t>
            </a:r>
            <a:r>
              <a:rPr lang="en-US" altLang="zh-CN" sz="2400" dirty="0">
                <a:solidFill>
                  <a:schemeClr val="bg1"/>
                </a:solidFill>
              </a:rPr>
              <a:t>T</a:t>
            </a:r>
            <a:r>
              <a:rPr lang="zh-CN" altLang="en-US" sz="2400" dirty="0">
                <a:solidFill>
                  <a:schemeClr val="bg1"/>
                </a:solidFill>
              </a:rPr>
              <a:t>相连的边限制了驾驶员的搭配次数，中间的边就无需再限制。</a:t>
            </a:r>
            <a:endParaRPr lang="en-US" altLang="zh-CN" sz="2400" dirty="0">
              <a:solidFill>
                <a:schemeClr val="bg1"/>
              </a:solidFill>
            </a:endParaRPr>
          </a:p>
          <a:p>
            <a:pPr algn="l"/>
            <a:endParaRPr lang="zh-CN" altLang="en-US" sz="2400" dirty="0">
              <a:solidFill>
                <a:schemeClr val="bg1"/>
              </a:solidFill>
            </a:endParaRPr>
          </a:p>
        </p:txBody>
      </p:sp>
      <p:sp>
        <p:nvSpPr>
          <p:cNvPr id="4" name="文本框 3"/>
          <p:cNvSpPr txBox="1"/>
          <p:nvPr/>
        </p:nvSpPr>
        <p:spPr>
          <a:xfrm>
            <a:off x="622996" y="945252"/>
            <a:ext cx="10259369" cy="830997"/>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dirty="0">
                <a:solidFill>
                  <a:schemeClr val="bg1"/>
                </a:solidFill>
              </a:rPr>
              <a:t>网络流中大部分可以分为两种类型的点：与</a:t>
            </a:r>
            <a:r>
              <a:rPr lang="en-US" altLang="zh-CN" sz="2400" dirty="0">
                <a:solidFill>
                  <a:schemeClr val="bg1"/>
                </a:solidFill>
              </a:rPr>
              <a:t>S</a:t>
            </a:r>
            <a:r>
              <a:rPr lang="zh-CN" altLang="en-US" sz="2400" dirty="0">
                <a:solidFill>
                  <a:schemeClr val="bg1"/>
                </a:solidFill>
              </a:rPr>
              <a:t>相连的点和与</a:t>
            </a:r>
            <a:r>
              <a:rPr lang="en-US" altLang="zh-CN" sz="2400" dirty="0">
                <a:solidFill>
                  <a:schemeClr val="bg1"/>
                </a:solidFill>
              </a:rPr>
              <a:t>T</a:t>
            </a:r>
            <a:r>
              <a:rPr lang="zh-CN" altLang="en-US" sz="2400" dirty="0">
                <a:solidFill>
                  <a:schemeClr val="bg1"/>
                </a:solidFill>
              </a:rPr>
              <a:t>相连的点。所以建模的时候也可以向这方面考虑，将点分成两种集合。</a:t>
            </a:r>
            <a:endParaRPr lang="zh-CN" altLang="en-US" sz="2400" dirty="0">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p:bldP spid="3" grpId="3"/>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四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5" y="683995"/>
            <a:ext cx="10430191" cy="2368550"/>
          </a:xfrm>
          <a:prstGeom prst="rect">
            <a:avLst/>
          </a:prstGeom>
          <a:noFill/>
        </p:spPr>
        <p:txBody>
          <a:bodyPr wrap="square" rtlCol="0">
            <a:spAutoFit/>
          </a:bodyPr>
          <a:lstStyle/>
          <a:p>
            <a:pPr algn="l"/>
            <a:r>
              <a:rPr lang="en-US" altLang="zh-CN" sz="2800" dirty="0">
                <a:solidFill>
                  <a:schemeClr val="bg1"/>
                </a:solidFill>
              </a:rPr>
              <a:t>                                        </a:t>
            </a:r>
            <a:r>
              <a:rPr lang="zh-CN" altLang="en-US" sz="2800" dirty="0">
                <a:solidFill>
                  <a:schemeClr val="bg1"/>
                </a:solidFill>
              </a:rPr>
              <a:t>士兵占领</a:t>
            </a:r>
            <a:endParaRPr lang="en-US" altLang="zh-CN" sz="28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http://www.lydsy.com/JudgeOnline/problem.php?id=1458</a:t>
            </a:r>
            <a:endParaRPr lang="en-US" altLang="zh-CN" sz="2400" dirty="0">
              <a:solidFill>
                <a:schemeClr val="bg1"/>
              </a:solidFill>
              <a:hlinkClick r:id="rId1"/>
            </a:endParaRPr>
          </a:p>
          <a:p>
            <a:pPr marL="342900" indent="-342900">
              <a:buFont typeface="Wingdings" panose="05000000000000000000" pitchFamily="2" charset="2"/>
              <a:buChar char="Ø"/>
            </a:pPr>
            <a:r>
              <a:rPr lang="zh-CN" altLang="en-US" sz="2400" dirty="0">
                <a:solidFill>
                  <a:schemeClr val="bg1"/>
                </a:solidFill>
              </a:rPr>
              <a:t>题面：有一个</a:t>
            </a:r>
            <a:r>
              <a:rPr lang="en-US" altLang="zh-CN" sz="2400" dirty="0">
                <a:solidFill>
                  <a:schemeClr val="bg1"/>
                </a:solidFill>
              </a:rPr>
              <a:t>n*m</a:t>
            </a:r>
            <a:r>
              <a:rPr lang="zh-CN" altLang="en-US" sz="2400" dirty="0">
                <a:solidFill>
                  <a:schemeClr val="bg1"/>
                </a:solidFill>
              </a:rPr>
              <a:t>的棋盘，有的格子是障碍。现在你要选择一些格子来放置一些士兵，一个格子里最多可以放置一个士兵，障碍格里不能放置士兵。要求第</a:t>
            </a:r>
            <a:r>
              <a:rPr lang="en-US" altLang="zh-CN" sz="2400" dirty="0">
                <a:solidFill>
                  <a:schemeClr val="bg1"/>
                </a:solidFill>
              </a:rPr>
              <a:t>i</a:t>
            </a:r>
            <a:r>
              <a:rPr lang="zh-CN" altLang="en-US" sz="2400" dirty="0">
                <a:solidFill>
                  <a:schemeClr val="bg1"/>
                </a:solidFill>
              </a:rPr>
              <a:t>行至少放置了</a:t>
            </a:r>
            <a:r>
              <a:rPr lang="en-US" altLang="zh-CN" sz="2400" dirty="0">
                <a:solidFill>
                  <a:schemeClr val="bg1"/>
                </a:solidFill>
              </a:rPr>
              <a:t>ri</a:t>
            </a:r>
            <a:r>
              <a:rPr lang="zh-CN" altLang="en-US" sz="2400" dirty="0">
                <a:solidFill>
                  <a:schemeClr val="bg1"/>
                </a:solidFill>
              </a:rPr>
              <a:t>个士兵，第</a:t>
            </a:r>
            <a:r>
              <a:rPr lang="en-US" altLang="zh-CN" sz="2400" dirty="0">
                <a:solidFill>
                  <a:schemeClr val="bg1"/>
                </a:solidFill>
              </a:rPr>
              <a:t>j</a:t>
            </a:r>
            <a:r>
              <a:rPr lang="zh-CN" altLang="en-US" sz="2400" dirty="0">
                <a:solidFill>
                  <a:schemeClr val="bg1"/>
                </a:solidFill>
              </a:rPr>
              <a:t>列至少放置了</a:t>
            </a:r>
            <a:r>
              <a:rPr lang="en-US" altLang="zh-CN" sz="2400" dirty="0">
                <a:solidFill>
                  <a:schemeClr val="bg1"/>
                </a:solidFill>
              </a:rPr>
              <a:t>cj</a:t>
            </a:r>
            <a:r>
              <a:rPr lang="zh-CN" altLang="en-US" sz="2400" dirty="0">
                <a:solidFill>
                  <a:schemeClr val="bg1"/>
                </a:solidFill>
              </a:rPr>
              <a:t>个士兵。求士兵最少是多少。</a:t>
            </a:r>
            <a:endParaRPr lang="zh-CN" altLang="en-US" sz="2400" dirty="0">
              <a:solidFill>
                <a:schemeClr val="bg1"/>
              </a:solidFill>
            </a:endParaRPr>
          </a:p>
        </p:txBody>
      </p:sp>
      <p:pic>
        <p:nvPicPr>
          <p:cNvPr id="5" name="图片 4"/>
          <p:cNvPicPr>
            <a:picLocks noChangeAspect="1"/>
          </p:cNvPicPr>
          <p:nvPr/>
        </p:nvPicPr>
        <p:blipFill>
          <a:blip r:embed="rId2"/>
          <a:stretch>
            <a:fillRect/>
          </a:stretch>
        </p:blipFill>
        <p:spPr>
          <a:xfrm>
            <a:off x="2989859" y="3701110"/>
            <a:ext cx="1694835" cy="1005927"/>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4:artisticCrisscrossEtching id="{071C2C18-7F63-4AC3-B218-ABA3002A40B9}"/>
                  </a:ext>
                </a:extLst>
              </p:cNvPr>
              <p:cNvSpPr txBox="1"/>
              <p:nvPr/>
            </p:nvSpPr>
            <p:spPr>
              <a:xfrm>
                <a:off x="622991" y="3906790"/>
                <a:ext cx="9797145" cy="216828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dirty="0">
                    <a:solidFill>
                      <a:schemeClr val="bg1"/>
                    </a:solidFill>
                  </a:rPr>
                  <a:t>之后，建图和上一道题类似。将每行作为一个点与</a:t>
                </a:r>
                <a:r>
                  <a:rPr lang="en-US" altLang="zh-CN" sz="2400" dirty="0">
                    <a:solidFill>
                      <a:schemeClr val="bg1"/>
                    </a:solidFill>
                  </a:rPr>
                  <a:t>S</a:t>
                </a:r>
                <a:r>
                  <a:rPr lang="zh-CN" altLang="en-US" sz="2400" dirty="0">
                    <a:solidFill>
                      <a:schemeClr val="bg1"/>
                    </a:solidFill>
                  </a:rPr>
                  <a:t>相连，容量为</a:t>
                </a:r>
                <a14:m>
                  <m:oMath xmlns:m="http://schemas.openxmlformats.org/officeDocument/2006/math">
                    <m:sSub>
                      <m:sSubPr>
                        <m:ctrlPr>
                          <a:rPr lang="zh-CN" altLang="en-US" sz="2400" i="1" dirty="0">
                            <a:solidFill>
                              <a:srgbClr val="000000"/>
                            </a:solidFill>
                            <a:latin typeface="Cambria Math" panose="02040503050406030204" pitchFamily="18" charset="0"/>
                          </a:rPr>
                        </m:ctrlPr>
                      </m:sSubPr>
                      <m:e>
                        <m:r>
                          <a:rPr lang="zh-CN" altLang="en-US" sz="2400" i="1" dirty="0">
                            <a:solidFill>
                              <a:srgbClr val="000000"/>
                            </a:solidFill>
                            <a:latin typeface="Cambria Math" panose="02040503050406030204" pitchFamily="18" charset="0"/>
                          </a:rPr>
                          <m:t>𝑟</m:t>
                        </m:r>
                      </m:e>
                      <m:sub>
                        <m:r>
                          <a:rPr lang="zh-CN" altLang="en-US" sz="2400" i="1" dirty="0">
                            <a:solidFill>
                              <a:srgbClr val="000000"/>
                            </a:solidFill>
                            <a:latin typeface="Cambria Math" panose="02040503050406030204" pitchFamily="18" charset="0"/>
                          </a:rPr>
                          <m:t>𝑖</m:t>
                        </m:r>
                      </m:sub>
                    </m:sSub>
                  </m:oMath>
                </a14:m>
                <a:r>
                  <a:rPr lang="zh-CN" altLang="en-US" sz="2400" dirty="0">
                    <a:solidFill>
                      <a:schemeClr val="bg1"/>
                    </a:solidFill>
                  </a:rPr>
                  <a:t>，每列作为一个点与</a:t>
                </a:r>
                <a:r>
                  <a:rPr lang="en-US" altLang="zh-CN" sz="2400" dirty="0">
                    <a:solidFill>
                      <a:schemeClr val="bg1"/>
                    </a:solidFill>
                  </a:rPr>
                  <a:t>T</a:t>
                </a:r>
                <a:r>
                  <a:rPr lang="zh-CN" altLang="en-US" sz="2400" dirty="0">
                    <a:solidFill>
                      <a:schemeClr val="bg1"/>
                    </a:solidFill>
                  </a:rPr>
                  <a:t>相连，容量为</a:t>
                </a:r>
                <a14:m>
                  <m:oMath xmlns:m="http://schemas.openxmlformats.org/officeDocument/2006/math">
                    <m:sSub>
                      <m:sSubPr>
                        <m:ctrlPr>
                          <a:rPr lang="zh-CN" altLang="en-US" sz="2400" i="1" dirty="0">
                            <a:solidFill>
                              <a:srgbClr val="000000"/>
                            </a:solidFill>
                            <a:latin typeface="Cambria Math" panose="02040503050406030204" pitchFamily="18" charset="0"/>
                          </a:rPr>
                        </m:ctrlPr>
                      </m:sSubPr>
                      <m:e>
                        <m:r>
                          <a:rPr lang="zh-CN" altLang="en-US" sz="2400" i="1" dirty="0">
                            <a:solidFill>
                              <a:srgbClr val="000000"/>
                            </a:solidFill>
                            <a:latin typeface="Cambria Math" panose="02040503050406030204" pitchFamily="18" charset="0"/>
                          </a:rPr>
                          <m:t>𝑐</m:t>
                        </m:r>
                      </m:e>
                      <m:sub>
                        <m:r>
                          <a:rPr lang="zh-CN" altLang="en-US" sz="2400" i="1" dirty="0">
                            <a:solidFill>
                              <a:srgbClr val="000000"/>
                            </a:solidFill>
                            <a:latin typeface="Cambria Math" panose="02040503050406030204" pitchFamily="18" charset="0"/>
                          </a:rPr>
                          <m:t>𝑗</m:t>
                        </m:r>
                      </m:sub>
                    </m:sSub>
                    <m:r>
                      <a:rPr lang="zh-CN" altLang="en-US" sz="2400" i="1" dirty="0">
                        <a:solidFill>
                          <a:srgbClr val="000000"/>
                        </a:solidFill>
                        <a:latin typeface="Cambria Math" panose="02040503050406030204" pitchFamily="18" charset="0"/>
                      </a:rPr>
                      <m:t>。</m:t>
                    </m:r>
                  </m:oMath>
                </a14:m>
                <a:r>
                  <a:rPr lang="zh-CN" altLang="en-US" sz="2400" dirty="0">
                    <a:solidFill>
                      <a:schemeClr val="bg1"/>
                    </a:solidFill>
                  </a:rPr>
                  <a:t>可以放士兵的点行与列相连，容量为</a:t>
                </a:r>
                <a:r>
                  <a:rPr lang="en-US" altLang="zh-CN" sz="2400" dirty="0">
                    <a:solidFill>
                      <a:schemeClr val="bg1"/>
                    </a:solidFill>
                  </a:rPr>
                  <a:t>1</a:t>
                </a:r>
                <a:r>
                  <a:rPr lang="zh-CN" altLang="en-US" sz="2400" dirty="0">
                    <a:solidFill>
                      <a:schemeClr val="bg1"/>
                    </a:solidFill>
                  </a:rPr>
                  <a:t>。跑最大流就可以求出上述点的最大值。</a:t>
                </a:r>
              </a:p>
              <a:p>
                <a:pPr algn="l"/>
                <a:endParaRPr lang="zh-CN" altLang="en-US" sz="2400" dirty="0">
                  <a:solidFill>
                    <a:schemeClr val="bg1"/>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622991" y="5061220"/>
                <a:ext cx="9797145" cy="2168286"/>
              </a:xfrm>
              <a:prstGeom prst="rect">
                <a:avLst/>
              </a:prstGeom>
              <a:blipFill rotWithShape="1">
                <a:blip r:embed="rId3"/>
                <a:stretch>
                  <a:fillRect l="-809" r="-249"/>
                </a:stretch>
              </a:blipFill>
            </p:spPr>
            <p:txBody>
              <a:bodyPr/>
              <a:lstStyle/>
              <a:p>
                <a:r>
                  <a:rPr lang="zh-CN" altLang="en-US">
                    <a:noFill/>
                  </a:rPr>
                  <a:t> </a:t>
                </a:r>
                <a:endParaRPr lang="zh-CN" altLang="en-US">
                  <a:noFill/>
                </a:endParaRPr>
              </a:p>
            </p:txBody>
          </p:sp>
        </mc:Fallback>
      </mc:AlternateContent>
      <p:sp>
        <p:nvSpPr>
          <p:cNvPr id="10" name="文本框 9"/>
          <p:cNvSpPr txBox="1"/>
          <p:nvPr/>
        </p:nvSpPr>
        <p:spPr>
          <a:xfrm>
            <a:off x="622991" y="2926557"/>
            <a:ext cx="9797145" cy="2677656"/>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zh-CN" altLang="en-US" sz="2400" dirty="0">
                <a:solidFill>
                  <a:schemeClr val="bg1"/>
                </a:solidFill>
              </a:rPr>
              <a:t>题解：假设我们不考虑一个位置对它所在行，列两者的贡献。那么答案就是 </a:t>
            </a:r>
            <a:r>
              <a:rPr lang="en-US" altLang="zh-CN" sz="2400" dirty="0">
                <a:solidFill>
                  <a:schemeClr val="bg1"/>
                </a:solidFill>
              </a:rPr>
              <a:t>sum =                     </a:t>
            </a:r>
            <a:r>
              <a:rPr lang="zh-CN" altLang="en-US" sz="2400" dirty="0">
                <a:solidFill>
                  <a:schemeClr val="bg1"/>
                </a:solidFill>
              </a:rPr>
              <a:t>。但实际上，有的点对两者都有贡献，结果为</a:t>
            </a:r>
            <a:r>
              <a:rPr lang="en-US" altLang="zh-CN" sz="2400" dirty="0">
                <a:solidFill>
                  <a:schemeClr val="bg1"/>
                </a:solidFill>
              </a:rPr>
              <a:t>sum</a:t>
            </a:r>
            <a:r>
              <a:rPr lang="zh-CN" altLang="en-US" sz="2400" dirty="0">
                <a:solidFill>
                  <a:schemeClr val="bg1"/>
                </a:solidFill>
              </a:rPr>
              <a:t>减去的点的数量，士兵数量最少即这样的点数量最多。</a:t>
            </a:r>
            <a:endParaRPr lang="en-US" altLang="zh-CN" sz="2400" dirty="0">
              <a:solidFill>
                <a:schemeClr val="bg1"/>
              </a:solidFill>
            </a:endParaRPr>
          </a:p>
          <a:p>
            <a:pPr algn="l"/>
            <a:endParaRPr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四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683995"/>
            <a:ext cx="9797142" cy="3293209"/>
          </a:xfrm>
          <a:prstGeom prst="rect">
            <a:avLst/>
          </a:prstGeom>
          <a:noFill/>
        </p:spPr>
        <p:txBody>
          <a:bodyPr wrap="square" rtlCol="0">
            <a:spAutoFit/>
          </a:bodyPr>
          <a:lstStyle/>
          <a:p>
            <a:pPr algn="l"/>
            <a:r>
              <a:rPr lang="en-US" altLang="zh-CN" sz="2800" dirty="0">
                <a:solidFill>
                  <a:schemeClr val="bg1"/>
                </a:solidFill>
              </a:rPr>
              <a:t>                                        </a:t>
            </a:r>
            <a:r>
              <a:rPr lang="zh-CN" altLang="en-US" sz="2800" dirty="0">
                <a:solidFill>
                  <a:schemeClr val="bg1"/>
                </a:solidFill>
              </a:rPr>
              <a:t>分子切割</a:t>
            </a:r>
            <a:endParaRPr lang="en-US" altLang="zh-CN" sz="2800" dirty="0">
              <a:solidFill>
                <a:schemeClr val="bg1"/>
              </a:solidFill>
            </a:endParaRPr>
          </a:p>
          <a:p>
            <a:pPr marL="342900" indent="-342900" algn="l">
              <a:buFont typeface="Wingdings" panose="05000000000000000000" pitchFamily="2" charset="2"/>
              <a:buChar char="Ø"/>
            </a:pPr>
            <a:r>
              <a:rPr lang="zh-CN" altLang="en-US" sz="2400" dirty="0">
                <a:solidFill>
                  <a:schemeClr val="bg1"/>
                </a:solidFill>
              </a:rPr>
              <a:t>题目描述</a:t>
            </a:r>
            <a:r>
              <a:rPr lang="zh-CN" altLang="en-US" sz="2800" dirty="0">
                <a:solidFill>
                  <a:schemeClr val="bg1"/>
                </a:solidFill>
              </a:rPr>
              <a:t>：</a:t>
            </a:r>
            <a:endParaRPr lang="en-US" altLang="zh-CN" sz="2800" dirty="0">
              <a:solidFill>
                <a:schemeClr val="bg1"/>
              </a:solidFill>
            </a:endParaRPr>
          </a:p>
          <a:p>
            <a:pPr marL="342900" indent="-342900" algn="l">
              <a:buFont typeface="Wingdings" panose="05000000000000000000" pitchFamily="2" charset="2"/>
              <a:buChar char="Ø"/>
            </a:pPr>
            <a:r>
              <a:rPr lang="zh-CN" altLang="en-US" sz="2400" dirty="0">
                <a:solidFill>
                  <a:schemeClr val="bg1"/>
                </a:solidFill>
              </a:rPr>
              <a:t>有一个由</a:t>
            </a:r>
            <a:r>
              <a:rPr lang="en-US" altLang="zh-CN" sz="2400" dirty="0">
                <a:solidFill>
                  <a:schemeClr val="bg1"/>
                </a:solidFill>
              </a:rPr>
              <a:t>n</a:t>
            </a:r>
            <a:r>
              <a:rPr lang="zh-CN" altLang="en-US" sz="2400" dirty="0">
                <a:solidFill>
                  <a:schemeClr val="bg1"/>
                </a:solidFill>
              </a:rPr>
              <a:t>*</a:t>
            </a:r>
            <a:r>
              <a:rPr lang="en-US" altLang="zh-CN" sz="2400" dirty="0">
                <a:solidFill>
                  <a:schemeClr val="bg1"/>
                </a:solidFill>
              </a:rPr>
              <a:t>m</a:t>
            </a:r>
            <a:r>
              <a:rPr lang="zh-CN" altLang="en-US" sz="2400" dirty="0">
                <a:solidFill>
                  <a:schemeClr val="bg1"/>
                </a:solidFill>
              </a:rPr>
              <a:t>个单位放个组成的矩形区域。有两种原子，用</a:t>
            </a:r>
            <a:r>
              <a:rPr lang="en-US" altLang="zh-CN" sz="2400" dirty="0">
                <a:solidFill>
                  <a:schemeClr val="bg1"/>
                </a:solidFill>
              </a:rPr>
              <a:t>A</a:t>
            </a:r>
            <a:r>
              <a:rPr lang="zh-CN" altLang="en-US" sz="2400" dirty="0">
                <a:solidFill>
                  <a:schemeClr val="bg1"/>
                </a:solidFill>
              </a:rPr>
              <a:t>和</a:t>
            </a:r>
            <a:r>
              <a:rPr lang="en-US" altLang="zh-CN" sz="2400" dirty="0">
                <a:solidFill>
                  <a:schemeClr val="bg1"/>
                </a:solidFill>
              </a:rPr>
              <a:t>B</a:t>
            </a:r>
            <a:r>
              <a:rPr lang="zh-CN" altLang="en-US" sz="2400" dirty="0">
                <a:solidFill>
                  <a:schemeClr val="bg1"/>
                </a:solidFill>
              </a:rPr>
              <a:t>表示。有的单位方格中没有原子，有的单位方格中只有一个原子。若两个单位方格有公共边，那么他们是相邻的。如果一个</a:t>
            </a:r>
            <a:r>
              <a:rPr lang="en-US" altLang="zh-CN" sz="2400" dirty="0">
                <a:solidFill>
                  <a:schemeClr val="bg1"/>
                </a:solidFill>
              </a:rPr>
              <a:t>A</a:t>
            </a:r>
            <a:r>
              <a:rPr lang="zh-CN" altLang="en-US" sz="2400" dirty="0">
                <a:solidFill>
                  <a:schemeClr val="bg1"/>
                </a:solidFill>
              </a:rPr>
              <a:t>原子与两个</a:t>
            </a:r>
            <a:r>
              <a:rPr lang="en-US" altLang="zh-CN" sz="2400" dirty="0">
                <a:solidFill>
                  <a:schemeClr val="bg1"/>
                </a:solidFill>
              </a:rPr>
              <a:t>B</a:t>
            </a:r>
            <a:r>
              <a:rPr lang="zh-CN" altLang="en-US" sz="2400" dirty="0">
                <a:solidFill>
                  <a:schemeClr val="bg1"/>
                </a:solidFill>
              </a:rPr>
              <a:t>原子相邻，并且这两个</a:t>
            </a:r>
            <a:r>
              <a:rPr lang="en-US" altLang="zh-CN" sz="2400" dirty="0">
                <a:solidFill>
                  <a:schemeClr val="bg1"/>
                </a:solidFill>
              </a:rPr>
              <a:t>B</a:t>
            </a:r>
            <a:r>
              <a:rPr lang="zh-CN" altLang="en-US" sz="2400" dirty="0">
                <a:solidFill>
                  <a:schemeClr val="bg1"/>
                </a:solidFill>
              </a:rPr>
              <a:t>原子与</a:t>
            </a:r>
            <a:r>
              <a:rPr lang="en-US" altLang="zh-CN" sz="2400" dirty="0">
                <a:solidFill>
                  <a:schemeClr val="bg1"/>
                </a:solidFill>
              </a:rPr>
              <a:t>A</a:t>
            </a:r>
            <a:r>
              <a:rPr lang="zh-CN" altLang="en-US" sz="2400" dirty="0">
                <a:solidFill>
                  <a:schemeClr val="bg1"/>
                </a:solidFill>
              </a:rPr>
              <a:t>原子形成直角，</a:t>
            </a:r>
            <a:r>
              <a:rPr lang="en-US" altLang="zh-CN" sz="2400" dirty="0">
                <a:solidFill>
                  <a:schemeClr val="bg1"/>
                </a:solidFill>
              </a:rPr>
              <a:t>A</a:t>
            </a:r>
            <a:r>
              <a:rPr lang="zh-CN" altLang="en-US" sz="2400" dirty="0">
                <a:solidFill>
                  <a:schemeClr val="bg1"/>
                </a:solidFill>
              </a:rPr>
              <a:t>原子在直角的定点处，那么就可以把这三个原子整体切割下来，得到一个“</a:t>
            </a:r>
            <a:r>
              <a:rPr lang="en-US" altLang="zh-CN" sz="2400" dirty="0">
                <a:solidFill>
                  <a:schemeClr val="bg1"/>
                </a:solidFill>
              </a:rPr>
              <a:t>L</a:t>
            </a:r>
            <a:r>
              <a:rPr lang="zh-CN" altLang="en-US" sz="2400" dirty="0">
                <a:solidFill>
                  <a:schemeClr val="bg1"/>
                </a:solidFill>
              </a:rPr>
              <a:t>”形分子。</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求最多切割出多少个“</a:t>
            </a:r>
            <a:r>
              <a:rPr lang="en-US" altLang="zh-CN" sz="2400" dirty="0">
                <a:solidFill>
                  <a:schemeClr val="bg1"/>
                </a:solidFill>
              </a:rPr>
              <a:t>L</a:t>
            </a:r>
            <a:r>
              <a:rPr lang="zh-CN" altLang="en-US" sz="2400" dirty="0">
                <a:solidFill>
                  <a:schemeClr val="bg1"/>
                </a:solidFill>
              </a:rPr>
              <a:t>”形分子。（</a:t>
            </a:r>
            <a:r>
              <a:rPr lang="en-US" altLang="zh-CN" sz="2400" dirty="0">
                <a:solidFill>
                  <a:schemeClr val="bg1"/>
                </a:solidFill>
              </a:rPr>
              <a:t>n</a:t>
            </a:r>
            <a:r>
              <a:rPr lang="zh-CN" altLang="en-US" sz="2400" dirty="0">
                <a:solidFill>
                  <a:schemeClr val="bg1"/>
                </a:solidFill>
              </a:rPr>
              <a:t>，</a:t>
            </a:r>
            <a:r>
              <a:rPr lang="en-US" altLang="zh-CN" sz="2400" dirty="0">
                <a:solidFill>
                  <a:schemeClr val="bg1"/>
                </a:solidFill>
              </a:rPr>
              <a:t>m ≤ 500</a:t>
            </a:r>
            <a:r>
              <a:rPr lang="zh-CN" altLang="en-US" sz="2400" dirty="0">
                <a:solidFill>
                  <a:schemeClr val="bg1"/>
                </a:solidFill>
              </a:rPr>
              <a:t>）</a:t>
            </a:r>
            <a:endParaRPr lang="en-US" altLang="zh-CN" sz="2400" dirty="0">
              <a:solidFill>
                <a:schemeClr val="bg1"/>
              </a:solidFill>
            </a:endParaRPr>
          </a:p>
        </p:txBody>
      </p:sp>
      <p:sp>
        <p:nvSpPr>
          <p:cNvPr id="2" name="文本框 1"/>
          <p:cNvSpPr txBox="1"/>
          <p:nvPr/>
        </p:nvSpPr>
        <p:spPr>
          <a:xfrm>
            <a:off x="622996" y="4038759"/>
            <a:ext cx="9797142" cy="461665"/>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提示：此题需黑白染色</a:t>
            </a:r>
            <a:endParaRPr lang="zh-CN" altLang="en-US" sz="2400" dirty="0">
              <a:solidFill>
                <a:schemeClr val="bg1"/>
              </a:solidFill>
            </a:endParaRPr>
          </a:p>
        </p:txBody>
      </p:sp>
      <p:sp>
        <p:nvSpPr>
          <p:cNvPr id="5" name="文本框 4"/>
          <p:cNvSpPr txBox="1"/>
          <p:nvPr/>
        </p:nvSpPr>
        <p:spPr>
          <a:xfrm>
            <a:off x="622997" y="4561979"/>
            <a:ext cx="9797141" cy="1938992"/>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题解：我们可以想到肯定是由</a:t>
            </a:r>
            <a:r>
              <a:rPr lang="en-US" altLang="zh-CN" sz="2400" dirty="0">
                <a:solidFill>
                  <a:schemeClr val="bg1"/>
                </a:solidFill>
              </a:rPr>
              <a:t>S-B-A-B-T</a:t>
            </a:r>
            <a:r>
              <a:rPr lang="zh-CN" altLang="en-US" sz="2400" dirty="0">
                <a:solidFill>
                  <a:schemeClr val="bg1"/>
                </a:solidFill>
              </a:rPr>
              <a:t>这样一条路径代表一个“</a:t>
            </a:r>
            <a:r>
              <a:rPr lang="en-US" altLang="zh-CN" sz="2400" dirty="0">
                <a:solidFill>
                  <a:schemeClr val="bg1"/>
                </a:solidFill>
              </a:rPr>
              <a:t>L</a:t>
            </a:r>
            <a:r>
              <a:rPr lang="zh-CN" altLang="en-US" sz="2400" dirty="0">
                <a:solidFill>
                  <a:schemeClr val="bg1"/>
                </a:solidFill>
              </a:rPr>
              <a:t>”形分子。之后便是建模限制每个点的使用次数以及</a:t>
            </a:r>
            <a:r>
              <a:rPr lang="en-US" altLang="zh-CN" sz="2400" dirty="0">
                <a:solidFill>
                  <a:schemeClr val="bg1"/>
                </a:solidFill>
              </a:rPr>
              <a:t>B-A-B</a:t>
            </a:r>
            <a:r>
              <a:rPr lang="zh-CN" altLang="en-US" sz="2400" dirty="0">
                <a:solidFill>
                  <a:schemeClr val="bg1"/>
                </a:solidFill>
              </a:rPr>
              <a:t>是直角。由此可以看出如果所有的</a:t>
            </a:r>
            <a:r>
              <a:rPr lang="en-US" altLang="zh-CN" sz="2400" dirty="0">
                <a:solidFill>
                  <a:schemeClr val="bg1"/>
                </a:solidFill>
              </a:rPr>
              <a:t>B</a:t>
            </a:r>
            <a:r>
              <a:rPr lang="zh-CN" altLang="en-US" sz="2400" dirty="0">
                <a:solidFill>
                  <a:schemeClr val="bg1"/>
                </a:solidFill>
              </a:rPr>
              <a:t>是一类点肯定是行不通的。但我们注意到一个“</a:t>
            </a:r>
            <a:r>
              <a:rPr lang="en-US" altLang="zh-CN" sz="2400" dirty="0">
                <a:solidFill>
                  <a:schemeClr val="bg1"/>
                </a:solidFill>
              </a:rPr>
              <a:t>L</a:t>
            </a:r>
            <a:r>
              <a:rPr lang="zh-CN" altLang="en-US" sz="2400" dirty="0">
                <a:solidFill>
                  <a:schemeClr val="bg1"/>
                </a:solidFill>
              </a:rPr>
              <a:t>”形分子的两个</a:t>
            </a:r>
            <a:r>
              <a:rPr lang="en-US" altLang="zh-CN" sz="2400" dirty="0">
                <a:solidFill>
                  <a:schemeClr val="bg1"/>
                </a:solidFill>
              </a:rPr>
              <a:t>B</a:t>
            </a:r>
            <a:r>
              <a:rPr lang="zh-CN" altLang="en-US" sz="2400" dirty="0">
                <a:solidFill>
                  <a:schemeClr val="bg1"/>
                </a:solidFill>
              </a:rPr>
              <a:t>原子必在相邻的两列（行）上，就可以按列（行）染色了。</a:t>
            </a:r>
            <a:endParaRPr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四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683995"/>
            <a:ext cx="9637423" cy="830997"/>
          </a:xfrm>
          <a:prstGeom prst="rect">
            <a:avLst/>
          </a:prstGeom>
          <a:noFill/>
        </p:spPr>
        <p:txBody>
          <a:bodyPr wrap="square" rtlCol="0">
            <a:spAutoFit/>
          </a:bodyPr>
          <a:lstStyle/>
          <a:p>
            <a:pPr marL="342900" indent="-342900" algn="l">
              <a:buFont typeface="Wingdings" panose="05000000000000000000" pitchFamily="2" charset="2"/>
              <a:buChar char="Ø"/>
            </a:pPr>
            <a:r>
              <a:rPr lang="en-US" altLang="zh-CN" sz="2400" dirty="0">
                <a:solidFill>
                  <a:schemeClr val="bg1"/>
                </a:solidFill>
              </a:rPr>
              <a:t>S</a:t>
            </a:r>
            <a:r>
              <a:rPr lang="zh-CN" altLang="en-US" sz="2400" dirty="0">
                <a:solidFill>
                  <a:schemeClr val="bg1"/>
                </a:solidFill>
              </a:rPr>
              <a:t>向奇数列的</a:t>
            </a:r>
            <a:r>
              <a:rPr lang="en-US" altLang="zh-CN" sz="2400" dirty="0">
                <a:solidFill>
                  <a:schemeClr val="bg1"/>
                </a:solidFill>
              </a:rPr>
              <a:t>B</a:t>
            </a:r>
            <a:r>
              <a:rPr lang="zh-CN" altLang="en-US" sz="2400" dirty="0">
                <a:solidFill>
                  <a:schemeClr val="bg1"/>
                </a:solidFill>
              </a:rPr>
              <a:t>点建边容量为</a:t>
            </a:r>
            <a:r>
              <a:rPr lang="en-US" altLang="zh-CN" sz="2400" dirty="0">
                <a:solidFill>
                  <a:schemeClr val="bg1"/>
                </a:solidFill>
              </a:rPr>
              <a:t>1</a:t>
            </a:r>
            <a:r>
              <a:rPr lang="zh-CN" altLang="en-US" sz="2400" dirty="0">
                <a:solidFill>
                  <a:schemeClr val="bg1"/>
                </a:solidFill>
              </a:rPr>
              <a:t>，奇数列的</a:t>
            </a:r>
            <a:r>
              <a:rPr lang="en-US" altLang="zh-CN" sz="2400" dirty="0">
                <a:solidFill>
                  <a:schemeClr val="bg1"/>
                </a:solidFill>
              </a:rPr>
              <a:t>B</a:t>
            </a:r>
            <a:r>
              <a:rPr lang="zh-CN" altLang="en-US" sz="2400" dirty="0">
                <a:solidFill>
                  <a:schemeClr val="bg1"/>
                </a:solidFill>
              </a:rPr>
              <a:t>点只能流向周围的</a:t>
            </a:r>
            <a:r>
              <a:rPr lang="en-US" altLang="zh-CN" sz="2400" dirty="0">
                <a:solidFill>
                  <a:schemeClr val="bg1"/>
                </a:solidFill>
              </a:rPr>
              <a:t>A</a:t>
            </a:r>
            <a:r>
              <a:rPr lang="zh-CN" altLang="en-US" sz="2400" dirty="0">
                <a:solidFill>
                  <a:schemeClr val="bg1"/>
                </a:solidFill>
              </a:rPr>
              <a:t>点。偶数列的</a:t>
            </a:r>
            <a:r>
              <a:rPr lang="en-US" altLang="zh-CN" sz="2400" dirty="0">
                <a:solidFill>
                  <a:schemeClr val="bg1"/>
                </a:solidFill>
              </a:rPr>
              <a:t>B</a:t>
            </a:r>
            <a:r>
              <a:rPr lang="zh-CN" altLang="en-US" sz="2400" dirty="0">
                <a:solidFill>
                  <a:schemeClr val="bg1"/>
                </a:solidFill>
              </a:rPr>
              <a:t>点向</a:t>
            </a:r>
            <a:r>
              <a:rPr lang="en-US" altLang="zh-CN" sz="2400" dirty="0">
                <a:solidFill>
                  <a:schemeClr val="bg1"/>
                </a:solidFill>
              </a:rPr>
              <a:t>T</a:t>
            </a:r>
            <a:r>
              <a:rPr lang="zh-CN" altLang="en-US" sz="2400" dirty="0">
                <a:solidFill>
                  <a:schemeClr val="bg1"/>
                </a:solidFill>
              </a:rPr>
              <a:t>建边容量为</a:t>
            </a:r>
            <a:r>
              <a:rPr lang="en-US" altLang="zh-CN" sz="2400" dirty="0">
                <a:solidFill>
                  <a:schemeClr val="bg1"/>
                </a:solidFill>
              </a:rPr>
              <a:t>1</a:t>
            </a:r>
            <a:r>
              <a:rPr lang="zh-CN" altLang="en-US" sz="2400" dirty="0">
                <a:solidFill>
                  <a:schemeClr val="bg1"/>
                </a:solidFill>
              </a:rPr>
              <a:t>，且只能由周围的</a:t>
            </a:r>
            <a:r>
              <a:rPr lang="en-US" altLang="zh-CN" sz="2400" dirty="0">
                <a:solidFill>
                  <a:schemeClr val="bg1"/>
                </a:solidFill>
              </a:rPr>
              <a:t>A</a:t>
            </a:r>
            <a:r>
              <a:rPr lang="zh-CN" altLang="en-US" sz="2400" dirty="0">
                <a:solidFill>
                  <a:schemeClr val="bg1"/>
                </a:solidFill>
              </a:rPr>
              <a:t>点流向偶数列的</a:t>
            </a:r>
            <a:r>
              <a:rPr lang="en-US" altLang="zh-CN" sz="2400" dirty="0">
                <a:solidFill>
                  <a:schemeClr val="bg1"/>
                </a:solidFill>
              </a:rPr>
              <a:t>B</a:t>
            </a:r>
            <a:r>
              <a:rPr lang="zh-CN" altLang="en-US" sz="2400" dirty="0">
                <a:solidFill>
                  <a:schemeClr val="bg1"/>
                </a:solidFill>
              </a:rPr>
              <a:t>点</a:t>
            </a:r>
            <a:endParaRPr lang="zh-CN" altLang="en-US" sz="2400" dirty="0">
              <a:solidFill>
                <a:schemeClr val="bg1"/>
              </a:solidFill>
            </a:endParaRPr>
          </a:p>
        </p:txBody>
      </p:sp>
      <p:graphicFrame>
        <p:nvGraphicFramePr>
          <p:cNvPr id="6" name="图示 5"/>
          <p:cNvGraphicFramePr/>
          <p:nvPr/>
        </p:nvGraphicFramePr>
        <p:xfrm>
          <a:off x="610610" y="1976657"/>
          <a:ext cx="3991534" cy="318248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文本框 7"/>
          <p:cNvSpPr txBox="1"/>
          <p:nvPr/>
        </p:nvSpPr>
        <p:spPr>
          <a:xfrm>
            <a:off x="622996" y="1514992"/>
            <a:ext cx="9637423" cy="461665"/>
          </a:xfrm>
          <a:prstGeom prst="rect">
            <a:avLst/>
          </a:prstGeom>
          <a:noFill/>
        </p:spPr>
        <p:txBody>
          <a:bodyPr wrap="square" rtlCol="0">
            <a:spAutoFit/>
          </a:bodyPr>
          <a:lstStyle/>
          <a:p>
            <a:pPr algn="l"/>
            <a:r>
              <a:rPr lang="en-US" altLang="zh-CN" sz="2400" dirty="0">
                <a:solidFill>
                  <a:schemeClr val="bg1"/>
                </a:solidFill>
              </a:rPr>
              <a:t>             A</a:t>
            </a:r>
            <a:r>
              <a:rPr lang="zh-CN" altLang="en-US" sz="2400" dirty="0">
                <a:solidFill>
                  <a:schemeClr val="bg1"/>
                </a:solidFill>
              </a:rPr>
              <a:t>在偶数列时                               </a:t>
            </a:r>
            <a:r>
              <a:rPr lang="en-US" altLang="zh-CN" sz="2400" dirty="0">
                <a:solidFill>
                  <a:schemeClr val="bg1"/>
                </a:solidFill>
              </a:rPr>
              <a:t>A</a:t>
            </a:r>
            <a:r>
              <a:rPr lang="zh-CN" altLang="en-US" sz="2400" dirty="0">
                <a:solidFill>
                  <a:schemeClr val="bg1"/>
                </a:solidFill>
              </a:rPr>
              <a:t>在奇数列时</a:t>
            </a:r>
            <a:endParaRPr lang="zh-CN" altLang="en-US" sz="2400" dirty="0">
              <a:solidFill>
                <a:schemeClr val="bg1"/>
              </a:solidFill>
            </a:endParaRPr>
          </a:p>
        </p:txBody>
      </p:sp>
      <p:graphicFrame>
        <p:nvGraphicFramePr>
          <p:cNvPr id="9" name="图示 8"/>
          <p:cNvGraphicFramePr/>
          <p:nvPr/>
        </p:nvGraphicFramePr>
        <p:xfrm>
          <a:off x="5039052" y="1976657"/>
          <a:ext cx="3991534" cy="318248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0" name="文本框 9"/>
          <p:cNvSpPr txBox="1"/>
          <p:nvPr/>
        </p:nvSpPr>
        <p:spPr>
          <a:xfrm>
            <a:off x="9467494" y="2967733"/>
            <a:ext cx="2200940" cy="1569660"/>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400" dirty="0">
                <a:solidFill>
                  <a:schemeClr val="bg1"/>
                </a:solidFill>
              </a:rPr>
              <a:t>这样就可以保证流过的</a:t>
            </a:r>
            <a:r>
              <a:rPr lang="en-US" altLang="zh-CN" sz="2400" dirty="0">
                <a:solidFill>
                  <a:schemeClr val="bg1"/>
                </a:solidFill>
              </a:rPr>
              <a:t>B-A-B</a:t>
            </a:r>
            <a:r>
              <a:rPr lang="zh-CN" altLang="en-US" sz="2400" dirty="0">
                <a:solidFill>
                  <a:schemeClr val="bg1"/>
                </a:solidFill>
              </a:rPr>
              <a:t>一定是直角。</a:t>
            </a:r>
            <a:endParaRPr lang="zh-CN" altLang="en-US" sz="2400" dirty="0">
              <a:solidFill>
                <a:schemeClr val="bg1"/>
              </a:solidFill>
            </a:endParaRPr>
          </a:p>
        </p:txBody>
      </p:sp>
      <p:sp>
        <p:nvSpPr>
          <p:cNvPr id="12" name="文本框 11"/>
          <p:cNvSpPr txBox="1"/>
          <p:nvPr/>
        </p:nvSpPr>
        <p:spPr>
          <a:xfrm>
            <a:off x="622996" y="5358809"/>
            <a:ext cx="9637424" cy="1200329"/>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但这样并不能保证</a:t>
            </a:r>
            <a:r>
              <a:rPr lang="en-US" altLang="zh-CN" sz="2400" dirty="0">
                <a:solidFill>
                  <a:schemeClr val="bg1"/>
                </a:solidFill>
              </a:rPr>
              <a:t>A</a:t>
            </a:r>
            <a:r>
              <a:rPr lang="zh-CN" altLang="en-US" sz="2400" dirty="0">
                <a:solidFill>
                  <a:schemeClr val="bg1"/>
                </a:solidFill>
              </a:rPr>
              <a:t>的使用次数，如上图所示，</a:t>
            </a:r>
            <a:r>
              <a:rPr lang="en-US" altLang="zh-CN" sz="2400" dirty="0">
                <a:solidFill>
                  <a:schemeClr val="bg1"/>
                </a:solidFill>
              </a:rPr>
              <a:t>A</a:t>
            </a:r>
            <a:r>
              <a:rPr lang="zh-CN" altLang="en-US" sz="2400" dirty="0">
                <a:solidFill>
                  <a:schemeClr val="bg1"/>
                </a:solidFill>
              </a:rPr>
              <a:t>会重复使用。为了限制</a:t>
            </a:r>
            <a:r>
              <a:rPr lang="en-US" altLang="zh-CN" sz="2400" dirty="0">
                <a:solidFill>
                  <a:schemeClr val="bg1"/>
                </a:solidFill>
              </a:rPr>
              <a:t>A</a:t>
            </a:r>
            <a:r>
              <a:rPr lang="zh-CN" altLang="en-US" sz="2400" dirty="0">
                <a:solidFill>
                  <a:schemeClr val="bg1"/>
                </a:solidFill>
              </a:rPr>
              <a:t>的使用次数，我们可以拆点，将</a:t>
            </a:r>
            <a:r>
              <a:rPr lang="en-US" altLang="zh-CN" sz="2400" dirty="0">
                <a:solidFill>
                  <a:schemeClr val="bg1"/>
                </a:solidFill>
              </a:rPr>
              <a:t>A</a:t>
            </a:r>
            <a:r>
              <a:rPr lang="zh-CN" altLang="en-US" sz="2400" dirty="0">
                <a:solidFill>
                  <a:schemeClr val="bg1"/>
                </a:solidFill>
              </a:rPr>
              <a:t>拆成两个点</a:t>
            </a:r>
            <a:r>
              <a:rPr lang="en-US" altLang="zh-CN" sz="2400" dirty="0">
                <a:solidFill>
                  <a:schemeClr val="bg1"/>
                </a:solidFill>
              </a:rPr>
              <a:t>A1</a:t>
            </a:r>
            <a:r>
              <a:rPr lang="zh-CN" altLang="en-US" sz="2400" dirty="0">
                <a:solidFill>
                  <a:schemeClr val="bg1"/>
                </a:solidFill>
              </a:rPr>
              <a:t>和</a:t>
            </a:r>
            <a:r>
              <a:rPr lang="en-US" altLang="zh-CN" sz="2400" dirty="0">
                <a:solidFill>
                  <a:schemeClr val="bg1"/>
                </a:solidFill>
              </a:rPr>
              <a:t>A2</a:t>
            </a:r>
            <a:r>
              <a:rPr lang="zh-CN" altLang="en-US" sz="2400" dirty="0">
                <a:solidFill>
                  <a:schemeClr val="bg1"/>
                </a:solidFill>
              </a:rPr>
              <a:t>，同时在</a:t>
            </a:r>
            <a:r>
              <a:rPr lang="en-US" altLang="zh-CN" sz="2400" dirty="0">
                <a:solidFill>
                  <a:schemeClr val="bg1"/>
                </a:solidFill>
              </a:rPr>
              <a:t>A1A2</a:t>
            </a:r>
            <a:r>
              <a:rPr lang="zh-CN" altLang="en-US" sz="2400" dirty="0">
                <a:solidFill>
                  <a:schemeClr val="bg1"/>
                </a:solidFill>
              </a:rPr>
              <a:t>间连一条容量为</a:t>
            </a:r>
            <a:r>
              <a:rPr lang="en-US" altLang="zh-CN" sz="2400" dirty="0">
                <a:solidFill>
                  <a:schemeClr val="bg1"/>
                </a:solidFill>
              </a:rPr>
              <a:t>1</a:t>
            </a:r>
            <a:r>
              <a:rPr lang="zh-CN" altLang="en-US" sz="2400" dirty="0">
                <a:solidFill>
                  <a:schemeClr val="bg1"/>
                </a:solidFill>
              </a:rPr>
              <a:t>的边，流入</a:t>
            </a:r>
            <a:r>
              <a:rPr lang="en-US" altLang="zh-CN" sz="2400" dirty="0">
                <a:solidFill>
                  <a:schemeClr val="bg1"/>
                </a:solidFill>
              </a:rPr>
              <a:t>A</a:t>
            </a:r>
            <a:r>
              <a:rPr lang="zh-CN" altLang="en-US" sz="2400" dirty="0">
                <a:solidFill>
                  <a:schemeClr val="bg1"/>
                </a:solidFill>
              </a:rPr>
              <a:t>的连</a:t>
            </a:r>
            <a:r>
              <a:rPr lang="en-US" altLang="zh-CN" sz="2400" dirty="0">
                <a:solidFill>
                  <a:schemeClr val="bg1"/>
                </a:solidFill>
              </a:rPr>
              <a:t>A1</a:t>
            </a:r>
            <a:r>
              <a:rPr lang="zh-CN" altLang="en-US" sz="2400" dirty="0">
                <a:solidFill>
                  <a:schemeClr val="bg1"/>
                </a:solidFill>
              </a:rPr>
              <a:t>，流出</a:t>
            </a:r>
            <a:r>
              <a:rPr lang="en-US" altLang="zh-CN" sz="2400" dirty="0">
                <a:solidFill>
                  <a:schemeClr val="bg1"/>
                </a:solidFill>
              </a:rPr>
              <a:t>A</a:t>
            </a:r>
            <a:r>
              <a:rPr lang="zh-CN" altLang="en-US" sz="2400" dirty="0">
                <a:solidFill>
                  <a:schemeClr val="bg1"/>
                </a:solidFill>
              </a:rPr>
              <a:t>的连</a:t>
            </a:r>
            <a:r>
              <a:rPr lang="en-US" altLang="zh-CN" sz="2400" dirty="0">
                <a:solidFill>
                  <a:schemeClr val="bg1"/>
                </a:solidFill>
              </a:rPr>
              <a:t>A2</a:t>
            </a:r>
            <a:r>
              <a:rPr lang="zh-CN" altLang="en-US" sz="2400" dirty="0">
                <a:solidFill>
                  <a:schemeClr val="bg1"/>
                </a:solidFill>
              </a:rPr>
              <a:t>。</a:t>
            </a:r>
            <a:endParaRPr lang="zh-CN" altLang="en-US" sz="24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四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683995"/>
            <a:ext cx="10359852" cy="892552"/>
          </a:xfrm>
          <a:prstGeom prst="rect">
            <a:avLst/>
          </a:prstGeom>
          <a:noFill/>
        </p:spPr>
        <p:txBody>
          <a:bodyPr wrap="square" rtlCol="0">
            <a:spAutoFit/>
          </a:bodyPr>
          <a:lstStyle/>
          <a:p>
            <a:r>
              <a:rPr lang="en-US" altLang="zh-CN" sz="2800" dirty="0">
                <a:solidFill>
                  <a:schemeClr val="bg1"/>
                </a:solidFill>
              </a:rPr>
              <a:t>                                    </a:t>
            </a:r>
            <a:r>
              <a:rPr lang="zh-CN" altLang="en-US" sz="2800" dirty="0">
                <a:solidFill>
                  <a:schemeClr val="bg1"/>
                </a:solidFill>
              </a:rPr>
              <a:t>紧急疏散</a:t>
            </a:r>
            <a:r>
              <a:rPr lang="en-US" altLang="zh-CN" sz="2400" b="1" dirty="0">
                <a:solidFill>
                  <a:schemeClr val="bg1"/>
                </a:solidFill>
              </a:rPr>
              <a:t>evacuate</a:t>
            </a:r>
            <a:endParaRPr lang="en-US" altLang="zh-CN" sz="28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http://www.lydsy.com/JudgeOnline/problem.php?id=1189</a:t>
            </a:r>
            <a:endParaRPr lang="en-US" altLang="zh-CN" sz="2400" dirty="0">
              <a:solidFill>
                <a:schemeClr val="bg1"/>
              </a:solidFill>
            </a:endParaRPr>
          </a:p>
        </p:txBody>
      </p:sp>
      <p:sp>
        <p:nvSpPr>
          <p:cNvPr id="4" name="文本框 3"/>
          <p:cNvSpPr txBox="1"/>
          <p:nvPr/>
        </p:nvSpPr>
        <p:spPr>
          <a:xfrm>
            <a:off x="622995" y="1692795"/>
            <a:ext cx="10832125" cy="2308324"/>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题解：显然肯定有一个时间，在此之前不能完全逃离，在此之后可以完全逃离。这样我们就可以二分了。</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每个位置上人数不限，所以除去到门上时，每个人可以单独考虑。</a:t>
            </a:r>
            <a:endParaRPr lang="en-US" altLang="zh-CN" sz="2400" dirty="0">
              <a:solidFill>
                <a:schemeClr val="bg1"/>
              </a:solidFill>
            </a:endParaRPr>
          </a:p>
          <a:p>
            <a:pPr algn="l"/>
            <a:r>
              <a:rPr lang="zh-CN" altLang="en-US" sz="2400" dirty="0">
                <a:solidFill>
                  <a:schemeClr val="bg1"/>
                </a:solidFill>
              </a:rPr>
              <a:t>    对一扇门来说，每个人到门前的时间可能不同，即每个人可以利用门逃离的   </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时间段不同，我们要限制每个人可使用的时间，可以每扇门每个时间单独一 </a:t>
            </a:r>
            <a:endParaRPr lang="en-US" altLang="zh-CN" sz="2400" dirty="0">
              <a:solidFill>
                <a:schemeClr val="bg1"/>
              </a:solidFill>
            </a:endParaRPr>
          </a:p>
          <a:p>
            <a:pPr algn="l"/>
            <a:r>
              <a:rPr lang="zh-CN" altLang="en-US" sz="2400" dirty="0">
                <a:solidFill>
                  <a:schemeClr val="bg1"/>
                </a:solidFill>
              </a:rPr>
              <a:t>   个点。</a:t>
            </a:r>
            <a:endParaRPr lang="en-US" altLang="zh-CN" sz="2400" dirty="0">
              <a:solidFill>
                <a:schemeClr val="bg1"/>
              </a:solidFill>
            </a:endParaRPr>
          </a:p>
        </p:txBody>
      </p:sp>
      <p:sp>
        <p:nvSpPr>
          <p:cNvPr id="5" name="文本框 4"/>
          <p:cNvSpPr txBox="1"/>
          <p:nvPr/>
        </p:nvSpPr>
        <p:spPr>
          <a:xfrm>
            <a:off x="622995" y="4001119"/>
            <a:ext cx="10832125" cy="1569660"/>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具体建模：</a:t>
            </a:r>
            <a:r>
              <a:rPr lang="en-US" altLang="zh-CN" sz="2400" dirty="0">
                <a:solidFill>
                  <a:schemeClr val="bg1"/>
                </a:solidFill>
              </a:rPr>
              <a:t>S</a:t>
            </a:r>
            <a:r>
              <a:rPr lang="zh-CN" altLang="en-US" sz="2400" dirty="0">
                <a:solidFill>
                  <a:schemeClr val="bg1"/>
                </a:solidFill>
              </a:rPr>
              <a:t>向每个人连边，容量为</a:t>
            </a:r>
            <a:r>
              <a:rPr lang="en-US" altLang="zh-CN" sz="2400" dirty="0">
                <a:solidFill>
                  <a:schemeClr val="bg1"/>
                </a:solidFill>
              </a:rPr>
              <a:t>1</a:t>
            </a:r>
            <a:r>
              <a:rPr lang="zh-CN" altLang="en-US" sz="2400" dirty="0">
                <a:solidFill>
                  <a:schemeClr val="bg1"/>
                </a:solidFill>
              </a:rPr>
              <a:t>。每个人向每扇门可以使用的时间的一系列点连边，容量为</a:t>
            </a:r>
            <a:r>
              <a:rPr lang="en-US" altLang="zh-CN" sz="2400" dirty="0">
                <a:solidFill>
                  <a:schemeClr val="bg1"/>
                </a:solidFill>
              </a:rPr>
              <a:t>1</a:t>
            </a:r>
            <a:r>
              <a:rPr lang="zh-CN" altLang="en-US" sz="2400" dirty="0">
                <a:solidFill>
                  <a:schemeClr val="bg1"/>
                </a:solidFill>
              </a:rPr>
              <a:t>，每扇门的每个时间点向</a:t>
            </a:r>
            <a:r>
              <a:rPr lang="en-US" altLang="zh-CN" sz="2400" dirty="0">
                <a:solidFill>
                  <a:schemeClr val="bg1"/>
                </a:solidFill>
              </a:rPr>
              <a:t>T</a:t>
            </a:r>
            <a:r>
              <a:rPr lang="zh-CN" altLang="en-US" sz="2400" dirty="0">
                <a:solidFill>
                  <a:schemeClr val="bg1"/>
                </a:solidFill>
              </a:rPr>
              <a:t>连边，容量为</a:t>
            </a:r>
            <a:r>
              <a:rPr lang="en-US" altLang="zh-CN" sz="2400" dirty="0">
                <a:solidFill>
                  <a:schemeClr val="bg1"/>
                </a:solidFill>
              </a:rPr>
              <a:t>1</a:t>
            </a:r>
            <a:r>
              <a:rPr lang="zh-CN" altLang="en-US" sz="2400" dirty="0">
                <a:solidFill>
                  <a:schemeClr val="bg1"/>
                </a:solidFill>
              </a:rPr>
              <a:t>。</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每个人每扇门可以使用的时间即这个人到这扇门最短时间及以后，所以要先</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跑一遍最短路。</a:t>
            </a:r>
            <a:endParaRPr lang="en-US" altLang="zh-CN" sz="2400" dirty="0">
              <a:solidFill>
                <a:schemeClr val="bg1"/>
              </a:solidFill>
            </a:endParaRPr>
          </a:p>
        </p:txBody>
      </p:sp>
      <p:sp>
        <p:nvSpPr>
          <p:cNvPr id="6" name="文本框 5"/>
          <p:cNvSpPr txBox="1"/>
          <p:nvPr/>
        </p:nvSpPr>
        <p:spPr>
          <a:xfrm>
            <a:off x="622995" y="5570779"/>
            <a:ext cx="10832124" cy="461665"/>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这样，当最大流等于人的数量时，就可以完全逃离。</a:t>
            </a:r>
            <a:endParaRPr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四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5" y="683995"/>
            <a:ext cx="10671352" cy="5439181"/>
          </a:xfrm>
          <a:prstGeom prst="rect">
            <a:avLst/>
          </a:prstGeom>
          <a:noFill/>
        </p:spPr>
        <p:txBody>
          <a:bodyPr wrap="square" rtlCol="0">
            <a:spAutoFit/>
          </a:bodyPr>
          <a:lstStyle/>
          <a:p>
            <a:pPr algn="l">
              <a:lnSpc>
                <a:spcPct val="120000"/>
              </a:lnSpc>
            </a:pPr>
            <a:r>
              <a:rPr lang="en-US" altLang="zh-CN" sz="2400" dirty="0">
                <a:solidFill>
                  <a:schemeClr val="bg1"/>
                </a:solidFill>
              </a:rPr>
              <a:t>                                      </a:t>
            </a:r>
            <a:r>
              <a:rPr lang="en-US" altLang="zh-CN" sz="2800" dirty="0">
                <a:solidFill>
                  <a:schemeClr val="bg1"/>
                </a:solidFill>
              </a:rPr>
              <a:t>Collector’s Problem</a:t>
            </a:r>
            <a:endParaRPr lang="en-US" altLang="zh-CN" sz="2400" dirty="0">
              <a:solidFill>
                <a:schemeClr val="bg1"/>
              </a:solidFill>
            </a:endParaRPr>
          </a:p>
          <a:p>
            <a:pPr marL="342900" indent="-342900" algn="l">
              <a:lnSpc>
                <a:spcPct val="120000"/>
              </a:lnSpc>
              <a:buFont typeface="Wingdings" panose="05000000000000000000" pitchFamily="2" charset="2"/>
              <a:buChar char="Ø"/>
            </a:pPr>
            <a:r>
              <a:rPr lang="zh-CN" altLang="en-US" sz="2400" dirty="0">
                <a:solidFill>
                  <a:schemeClr val="bg1"/>
                </a:solidFill>
              </a:rPr>
              <a:t>题目描述：</a:t>
            </a:r>
            <a:endParaRPr lang="en-US" altLang="zh-CN" sz="2400" dirty="0">
              <a:solidFill>
                <a:schemeClr val="bg1"/>
              </a:solidFill>
            </a:endParaRPr>
          </a:p>
          <a:p>
            <a:pPr algn="l">
              <a:lnSpc>
                <a:spcPct val="120000"/>
              </a:lnSpc>
            </a:pPr>
            <a:r>
              <a:rPr lang="en-US" altLang="zh-CN" sz="2400" dirty="0">
                <a:solidFill>
                  <a:schemeClr val="bg1"/>
                </a:solidFill>
              </a:rPr>
              <a:t>      Bob</a:t>
            </a:r>
            <a:r>
              <a:rPr lang="zh-CN" altLang="en-US" sz="2400" dirty="0">
                <a:solidFill>
                  <a:schemeClr val="bg1"/>
                </a:solidFill>
              </a:rPr>
              <a:t>和他的朋友从糖果包装里收集贴纸。</a:t>
            </a:r>
            <a:r>
              <a:rPr lang="en-US" altLang="zh-CN" sz="2400" dirty="0">
                <a:solidFill>
                  <a:schemeClr val="bg1"/>
                </a:solidFill>
              </a:rPr>
              <a:t>Bob</a:t>
            </a:r>
            <a:r>
              <a:rPr lang="zh-CN" altLang="en-US" sz="2400" dirty="0">
                <a:solidFill>
                  <a:schemeClr val="bg1"/>
                </a:solidFill>
              </a:rPr>
              <a:t>和他的朋友总共</a:t>
            </a:r>
            <a:r>
              <a:rPr lang="en-US" altLang="zh-CN" sz="2400" dirty="0">
                <a:solidFill>
                  <a:schemeClr val="bg1"/>
                </a:solidFill>
              </a:rPr>
              <a:t>n</a:t>
            </a:r>
            <a:r>
              <a:rPr lang="zh-CN" altLang="en-US" sz="2400" dirty="0">
                <a:solidFill>
                  <a:schemeClr val="bg1"/>
                </a:solidFill>
              </a:rPr>
              <a:t>人。共有</a:t>
            </a:r>
            <a:r>
              <a:rPr lang="en-US" altLang="zh-CN" sz="2400" dirty="0">
                <a:solidFill>
                  <a:schemeClr val="bg1"/>
                </a:solidFill>
              </a:rPr>
              <a:t>m</a:t>
            </a:r>
            <a:r>
              <a:rPr lang="zh-CN" altLang="en-US" sz="2400" dirty="0">
                <a:solidFill>
                  <a:schemeClr val="bg1"/>
                </a:solidFill>
              </a:rPr>
              <a:t>种不同的贴纸。</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每人手里都有一些（可能有重复的）贴纸，并且只跟别人交换他所没有的贴纸。贴纸总是一对一交换。</a:t>
            </a:r>
            <a:endParaRPr lang="en-US" altLang="zh-CN" sz="2400" dirty="0">
              <a:solidFill>
                <a:schemeClr val="bg1"/>
              </a:solidFill>
            </a:endParaRPr>
          </a:p>
          <a:p>
            <a:pPr algn="l">
              <a:lnSpc>
                <a:spcPct val="120000"/>
              </a:lnSpc>
            </a:pPr>
            <a:r>
              <a:rPr lang="en-US" altLang="zh-CN" sz="2400" dirty="0">
                <a:solidFill>
                  <a:schemeClr val="bg1"/>
                </a:solidFill>
              </a:rPr>
              <a:t>      Bob</a:t>
            </a:r>
            <a:r>
              <a:rPr lang="zh-CN" altLang="en-US" sz="2400" dirty="0">
                <a:solidFill>
                  <a:schemeClr val="bg1"/>
                </a:solidFill>
              </a:rPr>
              <a:t>比这些朋友更聪明，因为他意识到只跟别人交换自己没有的贴纸并不总是最优的。在某些情况下，换来一张重复的贴纸更划算。</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假设</a:t>
            </a:r>
            <a:r>
              <a:rPr lang="en-US" altLang="zh-CN" sz="2400" dirty="0">
                <a:solidFill>
                  <a:schemeClr val="bg1"/>
                </a:solidFill>
              </a:rPr>
              <a:t>Bob</a:t>
            </a:r>
            <a:r>
              <a:rPr lang="zh-CN" altLang="en-US" sz="2400" dirty="0">
                <a:solidFill>
                  <a:schemeClr val="bg1"/>
                </a:solidFill>
              </a:rPr>
              <a:t>的朋友只跟</a:t>
            </a:r>
            <a:r>
              <a:rPr lang="en-US" altLang="zh-CN" sz="2400" dirty="0">
                <a:solidFill>
                  <a:schemeClr val="bg1"/>
                </a:solidFill>
              </a:rPr>
              <a:t>Bob</a:t>
            </a:r>
            <a:r>
              <a:rPr lang="zh-CN" altLang="en-US" sz="2400" dirty="0">
                <a:solidFill>
                  <a:schemeClr val="bg1"/>
                </a:solidFill>
              </a:rPr>
              <a:t>交换（他们之间不交换），并且这些朋友只会出让手里的重复贴纸来交换他们没有的不同贴纸。你的任务是帮助</a:t>
            </a:r>
            <a:r>
              <a:rPr lang="en-US" altLang="zh-CN" sz="2400" dirty="0">
                <a:solidFill>
                  <a:schemeClr val="bg1"/>
                </a:solidFill>
              </a:rPr>
              <a:t>Bob</a:t>
            </a:r>
            <a:r>
              <a:rPr lang="zh-CN" altLang="en-US" sz="2400" dirty="0">
                <a:solidFill>
                  <a:schemeClr val="bg1"/>
                </a:solidFill>
              </a:rPr>
              <a:t>算出他最终可以得到的不同贴纸的最大数量。</a:t>
            </a:r>
            <a:endParaRPr lang="en-US" altLang="zh-CN" sz="2400" dirty="0">
              <a:solidFill>
                <a:schemeClr val="bg1"/>
              </a:solidFill>
            </a:endParaRPr>
          </a:p>
          <a:p>
            <a:pPr>
              <a:lnSpc>
                <a:spcPct val="120000"/>
              </a:lnSpc>
            </a:pPr>
            <a:r>
              <a:rPr lang="en-US" altLang="zh-CN" sz="2400" dirty="0">
                <a:solidFill>
                  <a:schemeClr val="bg1"/>
                </a:solidFill>
              </a:rPr>
              <a:t>      2 ≤ n ≤ 10</a:t>
            </a:r>
            <a:r>
              <a:rPr lang="zh-CN" altLang="en-US" sz="2400" dirty="0">
                <a:solidFill>
                  <a:schemeClr val="bg1"/>
                </a:solidFill>
              </a:rPr>
              <a:t>， </a:t>
            </a:r>
            <a:r>
              <a:rPr lang="en-US" altLang="zh-CN" sz="2400" dirty="0">
                <a:solidFill>
                  <a:schemeClr val="bg1"/>
                </a:solidFill>
              </a:rPr>
              <a:t>5 ≤ m ≤ 25</a:t>
            </a:r>
            <a:endParaRPr lang="zh-CN" altLang="en-US" sz="24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四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最大流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6" y="683995"/>
            <a:ext cx="10590963" cy="6186309"/>
          </a:xfrm>
          <a:prstGeom prst="rect">
            <a:avLst/>
          </a:prstGeom>
          <a:noFill/>
        </p:spPr>
        <p:txBody>
          <a:bodyPr wrap="square" rtlCol="0">
            <a:spAutoFit/>
          </a:bodyPr>
          <a:lstStyle/>
          <a:p>
            <a:pPr marL="342900" indent="-342900" algn="l">
              <a:lnSpc>
                <a:spcPct val="150000"/>
              </a:lnSpc>
              <a:buFont typeface="Wingdings" panose="05000000000000000000" pitchFamily="2" charset="2"/>
              <a:buChar char="Ø"/>
            </a:pPr>
            <a:r>
              <a:rPr lang="zh-CN" altLang="en-US" sz="2400" dirty="0">
                <a:solidFill>
                  <a:schemeClr val="bg1"/>
                </a:solidFill>
              </a:rPr>
              <a:t>题解：</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对于</a:t>
            </a:r>
            <a:r>
              <a:rPr lang="en-US" altLang="zh-CN" sz="2400" dirty="0">
                <a:solidFill>
                  <a:schemeClr val="bg1"/>
                </a:solidFill>
              </a:rPr>
              <a:t>Bob</a:t>
            </a:r>
            <a:r>
              <a:rPr lang="zh-CN" altLang="en-US" sz="2400" dirty="0">
                <a:solidFill>
                  <a:schemeClr val="bg1"/>
                </a:solidFill>
              </a:rPr>
              <a:t>的每个朋友，</a:t>
            </a:r>
            <a:r>
              <a:rPr lang="en-US" altLang="zh-CN" sz="2400" dirty="0">
                <a:solidFill>
                  <a:schemeClr val="bg1"/>
                </a:solidFill>
              </a:rPr>
              <a:t>Bob</a:t>
            </a:r>
            <a:r>
              <a:rPr lang="zh-CN" altLang="en-US" sz="2400" dirty="0">
                <a:solidFill>
                  <a:schemeClr val="bg1"/>
                </a:solidFill>
              </a:rPr>
              <a:t>最多只能与他交换</a:t>
            </a:r>
            <a:r>
              <a:rPr lang="en-US" altLang="zh-CN" sz="2400" dirty="0">
                <a:solidFill>
                  <a:schemeClr val="bg1"/>
                </a:solidFill>
              </a:rPr>
              <a:t>x</a:t>
            </a:r>
            <a:r>
              <a:rPr lang="zh-CN" altLang="en-US" sz="2400" dirty="0">
                <a:solidFill>
                  <a:schemeClr val="bg1"/>
                </a:solidFill>
              </a:rPr>
              <a:t>次（这个朋友没有的贴纸的种数与他拥有的重复贴纸数量的较小值）。</a:t>
            </a:r>
            <a:r>
              <a:rPr lang="en-US" altLang="zh-CN" sz="2400" dirty="0">
                <a:solidFill>
                  <a:schemeClr val="bg1"/>
                </a:solidFill>
              </a:rPr>
              <a:t>Bob</a:t>
            </a:r>
            <a:r>
              <a:rPr lang="zh-CN" altLang="en-US" sz="2400" dirty="0">
                <a:solidFill>
                  <a:schemeClr val="bg1"/>
                </a:solidFill>
              </a:rPr>
              <a:t>朋友的作用就是将</a:t>
            </a:r>
            <a:r>
              <a:rPr lang="en-US" altLang="zh-CN" sz="2400" dirty="0">
                <a:solidFill>
                  <a:schemeClr val="bg1"/>
                </a:solidFill>
              </a:rPr>
              <a:t>Bob</a:t>
            </a:r>
            <a:r>
              <a:rPr lang="zh-CN" altLang="en-US" sz="2400" dirty="0">
                <a:solidFill>
                  <a:schemeClr val="bg1"/>
                </a:solidFill>
              </a:rPr>
              <a:t>手中的一种贴纸</a:t>
            </a:r>
            <a:r>
              <a:rPr lang="en-US" altLang="zh-CN" sz="2400" dirty="0">
                <a:solidFill>
                  <a:schemeClr val="bg1"/>
                </a:solidFill>
              </a:rPr>
              <a:t>X</a:t>
            </a:r>
            <a:r>
              <a:rPr lang="zh-CN" altLang="en-US" sz="2400" dirty="0">
                <a:solidFill>
                  <a:schemeClr val="bg1"/>
                </a:solidFill>
              </a:rPr>
              <a:t>换成另一种贴纸</a:t>
            </a:r>
            <a:r>
              <a:rPr lang="en-US" altLang="zh-CN" sz="2400" dirty="0">
                <a:solidFill>
                  <a:schemeClr val="bg1"/>
                </a:solidFill>
              </a:rPr>
              <a:t>Y</a:t>
            </a:r>
            <a:r>
              <a:rPr lang="zh-CN" altLang="en-US" sz="2400" dirty="0">
                <a:solidFill>
                  <a:schemeClr val="bg1"/>
                </a:solidFill>
              </a:rPr>
              <a:t>。</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所以将每种贴纸作为一个结点，由</a:t>
            </a:r>
            <a:r>
              <a:rPr lang="en-US" altLang="zh-CN" sz="2400" dirty="0">
                <a:solidFill>
                  <a:schemeClr val="bg1"/>
                </a:solidFill>
              </a:rPr>
              <a:t>S</a:t>
            </a:r>
            <a:r>
              <a:rPr lang="zh-CN" altLang="en-US" sz="2400" dirty="0">
                <a:solidFill>
                  <a:schemeClr val="bg1"/>
                </a:solidFill>
              </a:rPr>
              <a:t>向其连边，容量为</a:t>
            </a:r>
            <a:r>
              <a:rPr lang="en-US" altLang="zh-CN" sz="2400" dirty="0">
                <a:solidFill>
                  <a:schemeClr val="bg1"/>
                </a:solidFill>
              </a:rPr>
              <a:t>Bob</a:t>
            </a:r>
            <a:r>
              <a:rPr lang="zh-CN" altLang="en-US" sz="2400" dirty="0">
                <a:solidFill>
                  <a:schemeClr val="bg1"/>
                </a:solidFill>
              </a:rPr>
              <a:t>拥有的没中贴纸的数量，并且向</a:t>
            </a:r>
            <a:r>
              <a:rPr lang="en-US" altLang="zh-CN" sz="2400" dirty="0">
                <a:solidFill>
                  <a:schemeClr val="bg1"/>
                </a:solidFill>
              </a:rPr>
              <a:t>T</a:t>
            </a:r>
            <a:r>
              <a:rPr lang="zh-CN" altLang="en-US" sz="2400" dirty="0">
                <a:solidFill>
                  <a:schemeClr val="bg1"/>
                </a:solidFill>
              </a:rPr>
              <a:t>连边，容量为</a:t>
            </a:r>
            <a:r>
              <a:rPr lang="en-US" altLang="zh-CN" sz="2400" dirty="0">
                <a:solidFill>
                  <a:schemeClr val="bg1"/>
                </a:solidFill>
              </a:rPr>
              <a:t>1</a:t>
            </a:r>
            <a:r>
              <a:rPr lang="zh-CN" altLang="en-US" sz="2400" dirty="0">
                <a:solidFill>
                  <a:schemeClr val="bg1"/>
                </a:solidFill>
              </a:rPr>
              <a:t>。</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对于每个朋友，其没有的贴纸的点向其连边，容量为</a:t>
            </a:r>
            <a:r>
              <a:rPr lang="en-US" altLang="zh-CN" sz="2400" dirty="0">
                <a:solidFill>
                  <a:schemeClr val="bg1"/>
                </a:solidFill>
              </a:rPr>
              <a:t>1</a:t>
            </a:r>
            <a:r>
              <a:rPr lang="zh-CN" altLang="en-US" sz="2400" dirty="0">
                <a:solidFill>
                  <a:schemeClr val="bg1"/>
                </a:solidFill>
              </a:rPr>
              <a:t>（最多换一次）。并且他向拥有的重复贴纸的点连边，容量为</a:t>
            </a:r>
            <a:r>
              <a:rPr lang="en-US" altLang="zh-CN" sz="2400" dirty="0">
                <a:solidFill>
                  <a:schemeClr val="bg1"/>
                </a:solidFill>
              </a:rPr>
              <a:t>num-1</a:t>
            </a:r>
            <a:r>
              <a:rPr lang="zh-CN" altLang="en-US" sz="2400" dirty="0">
                <a:solidFill>
                  <a:schemeClr val="bg1"/>
                </a:solidFill>
              </a:rPr>
              <a:t>。</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这样从一种贴纸的结点流经一个朋友再流向另一种贴纸，就等于完成了一次交换，而由于又流回了贴纸结点仍然可以用该贴只去做交换。</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这样最大流便是能够拥有的贴纸的最大种数。</a:t>
            </a:r>
            <a:endParaRPr lang="zh-CN" altLang="en-US" sz="240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五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最小割</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6" y="2690440"/>
            <a:ext cx="10791931" cy="461665"/>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求解最小割基于一个事实：最小割等于最大流。</a:t>
            </a:r>
            <a:endParaRPr lang="zh-CN" altLang="en-US" sz="2400" dirty="0">
              <a:solidFill>
                <a:schemeClr val="bg1"/>
              </a:solidFill>
            </a:endParaRPr>
          </a:p>
        </p:txBody>
      </p:sp>
      <p:sp>
        <p:nvSpPr>
          <p:cNvPr id="3" name="文本框 2"/>
          <p:cNvSpPr txBox="1"/>
          <p:nvPr/>
        </p:nvSpPr>
        <p:spPr>
          <a:xfrm>
            <a:off x="622996" y="3399168"/>
            <a:ext cx="10671349" cy="2308324"/>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证明：对于一个割来说，所有从</a:t>
            </a:r>
            <a:r>
              <a:rPr lang="en-US" altLang="zh-CN" sz="2400" dirty="0">
                <a:solidFill>
                  <a:schemeClr val="bg1"/>
                </a:solidFill>
              </a:rPr>
              <a:t>s</a:t>
            </a:r>
            <a:r>
              <a:rPr lang="zh-CN" altLang="en-US" sz="2400" dirty="0">
                <a:solidFill>
                  <a:schemeClr val="bg1"/>
                </a:solidFill>
              </a:rPr>
              <a:t>到</a:t>
            </a:r>
            <a:r>
              <a:rPr lang="en-US" altLang="zh-CN" sz="2400" dirty="0">
                <a:solidFill>
                  <a:schemeClr val="bg1"/>
                </a:solidFill>
              </a:rPr>
              <a:t>t</a:t>
            </a:r>
            <a:r>
              <a:rPr lang="zh-CN" altLang="en-US" sz="2400" dirty="0">
                <a:solidFill>
                  <a:schemeClr val="bg1"/>
                </a:solidFill>
              </a:rPr>
              <a:t>的流量必定经过删除的边，那么</a:t>
            </a:r>
            <a:r>
              <a:rPr lang="en-US" altLang="zh-CN" sz="2400" dirty="0" err="1">
                <a:solidFill>
                  <a:schemeClr val="bg1"/>
                </a:solidFill>
              </a:rPr>
              <a:t>Max_flow</a:t>
            </a:r>
            <a:r>
              <a:rPr lang="zh-CN" altLang="en-US" sz="2400" dirty="0">
                <a:solidFill>
                  <a:schemeClr val="bg1"/>
                </a:solidFill>
              </a:rPr>
              <a:t>一定 ≤ 割的值，同理可以推出</a:t>
            </a:r>
            <a:r>
              <a:rPr lang="en-US" altLang="zh-CN" sz="2400" dirty="0" err="1">
                <a:solidFill>
                  <a:schemeClr val="bg1"/>
                </a:solidFill>
              </a:rPr>
              <a:t>Max_flow</a:t>
            </a:r>
            <a:r>
              <a:rPr lang="en-US" altLang="zh-CN" sz="2400" dirty="0">
                <a:solidFill>
                  <a:schemeClr val="bg1"/>
                </a:solidFill>
              </a:rPr>
              <a:t> ≤ </a:t>
            </a:r>
            <a:r>
              <a:rPr lang="zh-CN" altLang="en-US" sz="2400" dirty="0">
                <a:solidFill>
                  <a:schemeClr val="bg1"/>
                </a:solidFill>
              </a:rPr>
              <a:t>任意割的值。</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下面来看一个已经跑完最大流的残余网络，此时图中已没有从</a:t>
            </a:r>
            <a:r>
              <a:rPr lang="en-US" altLang="zh-CN" sz="2400" dirty="0">
                <a:solidFill>
                  <a:schemeClr val="bg1"/>
                </a:solidFill>
              </a:rPr>
              <a:t>s</a:t>
            </a:r>
            <a:r>
              <a:rPr lang="zh-CN" altLang="en-US" sz="2400" dirty="0">
                <a:solidFill>
                  <a:schemeClr val="bg1"/>
                </a:solidFill>
              </a:rPr>
              <a:t>到</a:t>
            </a:r>
            <a:r>
              <a:rPr lang="en-US" altLang="zh-CN" sz="2400" dirty="0">
                <a:solidFill>
                  <a:schemeClr val="bg1"/>
                </a:solidFill>
              </a:rPr>
              <a:t>t</a:t>
            </a:r>
            <a:r>
              <a:rPr lang="zh-CN" altLang="en-US" sz="2400" dirty="0">
                <a:solidFill>
                  <a:schemeClr val="bg1"/>
                </a:solidFill>
              </a:rPr>
              <a:t>的路径。</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将</a:t>
            </a:r>
            <a:r>
              <a:rPr lang="en-US" altLang="zh-CN" sz="2400" dirty="0">
                <a:solidFill>
                  <a:schemeClr val="bg1"/>
                </a:solidFill>
              </a:rPr>
              <a:t>s</a:t>
            </a:r>
            <a:r>
              <a:rPr lang="zh-CN" altLang="en-US" sz="2400" dirty="0">
                <a:solidFill>
                  <a:schemeClr val="bg1"/>
                </a:solidFill>
              </a:rPr>
              <a:t>和</a:t>
            </a:r>
            <a:r>
              <a:rPr lang="en-US" altLang="zh-CN" sz="2400" dirty="0">
                <a:solidFill>
                  <a:schemeClr val="bg1"/>
                </a:solidFill>
              </a:rPr>
              <a:t>s</a:t>
            </a:r>
            <a:r>
              <a:rPr lang="zh-CN" altLang="en-US" sz="2400" dirty="0">
                <a:solidFill>
                  <a:schemeClr val="bg1"/>
                </a:solidFill>
              </a:rPr>
              <a:t>能到达的所有点划分为</a:t>
            </a:r>
            <a:r>
              <a:rPr lang="en-US" altLang="zh-CN" sz="2400" dirty="0">
                <a:solidFill>
                  <a:schemeClr val="bg1"/>
                </a:solidFill>
              </a:rPr>
              <a:t>S</a:t>
            </a:r>
            <a:r>
              <a:rPr lang="zh-CN" altLang="en-US" sz="2400" dirty="0">
                <a:solidFill>
                  <a:schemeClr val="bg1"/>
                </a:solidFill>
              </a:rPr>
              <a:t>集，剩余点为</a:t>
            </a:r>
            <a:r>
              <a:rPr lang="en-US" altLang="zh-CN" sz="2400" dirty="0">
                <a:solidFill>
                  <a:schemeClr val="bg1"/>
                </a:solidFill>
              </a:rPr>
              <a:t>T</a:t>
            </a:r>
            <a:r>
              <a:rPr lang="zh-CN" altLang="en-US" sz="2400" dirty="0">
                <a:solidFill>
                  <a:schemeClr val="bg1"/>
                </a:solidFill>
              </a:rPr>
              <a:t>集。中间的所有边为一个割，</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且均满载（剩余容量为</a:t>
            </a:r>
            <a:r>
              <a:rPr lang="en-US" altLang="zh-CN" sz="2400" dirty="0">
                <a:solidFill>
                  <a:schemeClr val="bg1"/>
                </a:solidFill>
              </a:rPr>
              <a:t>0</a:t>
            </a:r>
            <a:r>
              <a:rPr lang="zh-CN" altLang="en-US" sz="2400" dirty="0">
                <a:solidFill>
                  <a:schemeClr val="bg1"/>
                </a:solidFill>
              </a:rPr>
              <a:t>），那么当前流也就是最大流等于割的值，又因割</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的值大于等于最大流，所以此时的割即为最小割，且与最大流相等。</a:t>
            </a:r>
            <a:endParaRPr lang="en-US" altLang="zh-CN" sz="2400" dirty="0">
              <a:solidFill>
                <a:schemeClr val="bg1"/>
              </a:solidFill>
            </a:endParaRPr>
          </a:p>
        </p:txBody>
      </p:sp>
      <p:sp>
        <p:nvSpPr>
          <p:cNvPr id="4" name="文本框 3"/>
          <p:cNvSpPr txBox="1"/>
          <p:nvPr/>
        </p:nvSpPr>
        <p:spPr>
          <a:xfrm>
            <a:off x="622996" y="873717"/>
            <a:ext cx="8802358" cy="1569660"/>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最小割定义：把所有的结点分成两个集合</a:t>
            </a:r>
            <a:r>
              <a:rPr lang="en-US" altLang="zh-CN" sz="2400" dirty="0">
                <a:solidFill>
                  <a:schemeClr val="bg1"/>
                </a:solidFill>
              </a:rPr>
              <a:t>S</a:t>
            </a:r>
            <a:r>
              <a:rPr lang="zh-CN" altLang="en-US" sz="2400" dirty="0">
                <a:solidFill>
                  <a:schemeClr val="bg1"/>
                </a:solidFill>
              </a:rPr>
              <a:t>和</a:t>
            </a:r>
            <a:r>
              <a:rPr lang="en-US" altLang="zh-CN" sz="2400" dirty="0">
                <a:solidFill>
                  <a:schemeClr val="bg1"/>
                </a:solidFill>
              </a:rPr>
              <a:t>T</a:t>
            </a:r>
            <a:r>
              <a:rPr lang="zh-CN" altLang="en-US" sz="2400" dirty="0">
                <a:solidFill>
                  <a:schemeClr val="bg1"/>
                </a:solidFill>
              </a:rPr>
              <a:t>，其中</a:t>
            </a:r>
            <a:r>
              <a:rPr lang="en-US" altLang="zh-CN" sz="2400" dirty="0">
                <a:solidFill>
                  <a:schemeClr val="bg1"/>
                </a:solidFill>
              </a:rPr>
              <a:t>s</a:t>
            </a:r>
            <a:r>
              <a:rPr lang="zh-CN" altLang="en-US" sz="2400" dirty="0">
                <a:solidFill>
                  <a:schemeClr val="bg1"/>
                </a:solidFill>
              </a:rPr>
              <a:t>在</a:t>
            </a:r>
            <a:r>
              <a:rPr lang="en-US" altLang="zh-CN" sz="2400" dirty="0">
                <a:solidFill>
                  <a:schemeClr val="bg1"/>
                </a:solidFill>
              </a:rPr>
              <a:t>S</a:t>
            </a:r>
            <a:r>
              <a:rPr lang="zh-CN" altLang="en-US" sz="2400" dirty="0">
                <a:solidFill>
                  <a:schemeClr val="bg1"/>
                </a:solidFill>
              </a:rPr>
              <a:t>中，</a:t>
            </a:r>
            <a:r>
              <a:rPr lang="en-US" altLang="zh-CN" sz="2400" dirty="0">
                <a:solidFill>
                  <a:schemeClr val="bg1"/>
                </a:solidFill>
              </a:rPr>
              <a:t>t</a:t>
            </a:r>
            <a:r>
              <a:rPr lang="zh-CN" altLang="en-US" sz="2400" dirty="0">
                <a:solidFill>
                  <a:schemeClr val="bg1"/>
                </a:solidFill>
              </a:rPr>
              <a:t>在</a:t>
            </a:r>
            <a:r>
              <a:rPr lang="en-US" altLang="zh-CN" sz="2400" dirty="0">
                <a:solidFill>
                  <a:schemeClr val="bg1"/>
                </a:solidFill>
              </a:rPr>
              <a:t>T</a:t>
            </a:r>
            <a:r>
              <a:rPr lang="zh-CN" altLang="en-US" sz="2400" dirty="0">
                <a:solidFill>
                  <a:schemeClr val="bg1"/>
                </a:solidFill>
              </a:rPr>
              <a:t>中。把所有起点在</a:t>
            </a:r>
            <a:r>
              <a:rPr lang="en-US" altLang="zh-CN" sz="2400" dirty="0">
                <a:solidFill>
                  <a:schemeClr val="bg1"/>
                </a:solidFill>
              </a:rPr>
              <a:t>S</a:t>
            </a:r>
            <a:r>
              <a:rPr lang="zh-CN" altLang="en-US" sz="2400" dirty="0">
                <a:solidFill>
                  <a:schemeClr val="bg1"/>
                </a:solidFill>
              </a:rPr>
              <a:t>中，终点在</a:t>
            </a:r>
            <a:r>
              <a:rPr lang="en-US" altLang="zh-CN" sz="2400" dirty="0">
                <a:solidFill>
                  <a:schemeClr val="bg1"/>
                </a:solidFill>
              </a:rPr>
              <a:t>T</a:t>
            </a:r>
            <a:r>
              <a:rPr lang="zh-CN" altLang="en-US" sz="2400" dirty="0">
                <a:solidFill>
                  <a:schemeClr val="bg1"/>
                </a:solidFill>
              </a:rPr>
              <a:t>中的边删除，就无法从</a:t>
            </a:r>
            <a:r>
              <a:rPr lang="en-US" altLang="zh-CN" sz="2400" dirty="0">
                <a:solidFill>
                  <a:schemeClr val="bg1"/>
                </a:solidFill>
              </a:rPr>
              <a:t>s</a:t>
            </a:r>
            <a:r>
              <a:rPr lang="zh-CN" altLang="en-US" sz="2400" dirty="0">
                <a:solidFill>
                  <a:schemeClr val="bg1"/>
                </a:solidFill>
              </a:rPr>
              <a:t>到达</a:t>
            </a:r>
            <a:r>
              <a:rPr lang="en-US" altLang="zh-CN" sz="2400" dirty="0">
                <a:solidFill>
                  <a:schemeClr val="bg1"/>
                </a:solidFill>
              </a:rPr>
              <a:t>t</a:t>
            </a:r>
            <a:r>
              <a:rPr lang="zh-CN" altLang="en-US" sz="2400" dirty="0">
                <a:solidFill>
                  <a:schemeClr val="bg1"/>
                </a:solidFill>
              </a:rPr>
              <a:t>了，这样的一个划分称为</a:t>
            </a:r>
            <a:r>
              <a:rPr lang="en-US" altLang="zh-CN" sz="2400" dirty="0">
                <a:solidFill>
                  <a:schemeClr val="bg1"/>
                </a:solidFill>
              </a:rPr>
              <a:t>s-t</a:t>
            </a:r>
            <a:r>
              <a:rPr lang="zh-CN" altLang="en-US" sz="2400" dirty="0">
                <a:solidFill>
                  <a:schemeClr val="bg1"/>
                </a:solidFill>
              </a:rPr>
              <a:t>割，它的容量为删除的所有边的容量的总值，最小割即为所有</a:t>
            </a:r>
            <a:r>
              <a:rPr lang="en-US" altLang="zh-CN" sz="2400" dirty="0">
                <a:solidFill>
                  <a:schemeClr val="bg1"/>
                </a:solidFill>
              </a:rPr>
              <a:t>s-t</a:t>
            </a:r>
            <a:r>
              <a:rPr lang="zh-CN" altLang="en-US" sz="2400" dirty="0">
                <a:solidFill>
                  <a:schemeClr val="bg1"/>
                </a:solidFill>
              </a:rPr>
              <a:t>割中的最小值。</a:t>
            </a:r>
            <a:endParaRPr lang="zh-CN" altLang="en-US" sz="240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五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最小割</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622996" y="683995"/>
            <a:ext cx="10691448" cy="2368550"/>
          </a:xfrm>
          <a:prstGeom prst="rect">
            <a:avLst/>
          </a:prstGeom>
          <a:noFill/>
        </p:spPr>
        <p:txBody>
          <a:bodyPr wrap="square" rtlCol="0">
            <a:spAutoFit/>
          </a:bodyPr>
          <a:lstStyle/>
          <a:p>
            <a:r>
              <a:rPr lang="en-US" altLang="zh-CN" sz="2400" dirty="0">
                <a:solidFill>
                  <a:srgbClr val="333333"/>
                </a:solidFill>
                <a:latin typeface="Helvetica Neue"/>
              </a:rPr>
              <a:t>                                              </a:t>
            </a:r>
            <a:r>
              <a:rPr lang="en-US" altLang="zh-CN" sz="2800" dirty="0" err="1">
                <a:solidFill>
                  <a:srgbClr val="333333"/>
                </a:solidFill>
                <a:latin typeface="Helvetica Neue"/>
              </a:rPr>
              <a:t>Exca</a:t>
            </a:r>
            <a:r>
              <a:rPr lang="zh-CN" altLang="en-US" sz="2800" dirty="0">
                <a:solidFill>
                  <a:srgbClr val="333333"/>
                </a:solidFill>
                <a:latin typeface="Helvetica Neue"/>
              </a:rPr>
              <a:t>王者之剑</a:t>
            </a:r>
            <a:endParaRPr lang="en-US" altLang="zh-CN" sz="2400" dirty="0">
              <a:solidFill>
                <a:srgbClr val="333333"/>
              </a:solidFill>
              <a:latin typeface="Helvetica Neue"/>
            </a:endParaRPr>
          </a:p>
          <a:p>
            <a:pPr marL="342900" indent="-342900">
              <a:buFont typeface="Wingdings" panose="05000000000000000000" pitchFamily="2" charset="2"/>
              <a:buChar char="Ø"/>
            </a:pPr>
            <a:r>
              <a:rPr lang="zh-CN" altLang="en-US" sz="2400" i="0" dirty="0">
                <a:solidFill>
                  <a:srgbClr val="333333"/>
                </a:solidFill>
                <a:effectLst/>
                <a:latin typeface="Helvetica Neue"/>
              </a:rPr>
              <a:t>链接：</a:t>
            </a:r>
            <a:r>
              <a:rPr lang="en-US" altLang="zh-CN" sz="2400" dirty="0">
                <a:solidFill>
                  <a:srgbClr val="333333"/>
                </a:solidFill>
                <a:latin typeface="Helvetica Neue"/>
                <a:hlinkClick r:id="rId1"/>
              </a:rPr>
              <a:t>http://cogs.pro/cogs/problem/problem.php?pid=2051</a:t>
            </a:r>
            <a:endParaRPr lang="en-US" altLang="zh-CN" sz="2400" dirty="0">
              <a:solidFill>
                <a:srgbClr val="333333"/>
              </a:solidFill>
              <a:latin typeface="Helvetica Neue"/>
              <a:hlinkClick r:id="rId1"/>
            </a:endParaRPr>
          </a:p>
          <a:p>
            <a:pPr marL="342900" indent="-342900">
              <a:buFont typeface="Wingdings" panose="05000000000000000000" pitchFamily="2" charset="2"/>
              <a:buChar char="Ø"/>
            </a:pPr>
            <a:r>
              <a:rPr lang="zh-CN" altLang="en-US" sz="2400" i="0" dirty="0">
                <a:solidFill>
                  <a:srgbClr val="333333"/>
                </a:solidFill>
                <a:effectLst/>
                <a:latin typeface="Helvetica Neue"/>
              </a:rPr>
              <a:t>题意理解：</a:t>
            </a:r>
            <a:r>
              <a:rPr lang="zh-CN" altLang="en-US" sz="2400" dirty="0">
                <a:solidFill>
                  <a:srgbClr val="333333"/>
                </a:solidFill>
                <a:latin typeface="Helvetica Neue"/>
              </a:rPr>
              <a:t>取值时一定在偶数时刻，</a:t>
            </a:r>
            <a:r>
              <a:rPr lang="zh-CN" altLang="en-US" sz="2400" i="0" dirty="0">
                <a:solidFill>
                  <a:srgbClr val="333333"/>
                </a:solidFill>
                <a:effectLst/>
                <a:latin typeface="Helvetica Neue"/>
              </a:rPr>
              <a:t>取走一个格子的值后，就不能取走与其相邻格子的值，也就是相邻格子之间是不相容的。证明：假设取值时在奇数时刻，那么取值前的上一个时刻，必定在这个格子的相邻格子中，而那时又是偶数时刻，所以这个格子的值会消失，无法取到。</a:t>
            </a:r>
            <a:endParaRPr lang="zh-CN" altLang="en-US" sz="2400" i="0" dirty="0">
              <a:solidFill>
                <a:srgbClr val="333333"/>
              </a:solidFill>
              <a:effectLst/>
              <a:latin typeface="Helvetica Neue"/>
            </a:endParaRPr>
          </a:p>
        </p:txBody>
      </p:sp>
      <p:sp>
        <p:nvSpPr>
          <p:cNvPr id="6" name="文本框 5"/>
          <p:cNvSpPr txBox="1"/>
          <p:nvPr/>
        </p:nvSpPr>
        <p:spPr>
          <a:xfrm>
            <a:off x="622996" y="3053875"/>
            <a:ext cx="10691448" cy="1569660"/>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题解：这道题可以从怎样走的思维模式中跳出来，转化到怎样去取上。因为只要取的格子相容，是一定有合法路径的。</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有不容的点就可以转化到最小割上，用总值减去割掉最小的值，就是最 </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优解。</a:t>
            </a:r>
            <a:endParaRPr lang="en-US" altLang="zh-CN" sz="2400" dirty="0">
              <a:solidFill>
                <a:schemeClr val="bg1"/>
              </a:solidFill>
            </a:endParaRPr>
          </a:p>
        </p:txBody>
      </p:sp>
      <p:sp>
        <p:nvSpPr>
          <p:cNvPr id="8" name="文本框 7"/>
          <p:cNvSpPr txBox="1"/>
          <p:nvPr/>
        </p:nvSpPr>
        <p:spPr>
          <a:xfrm>
            <a:off x="622996" y="4634959"/>
            <a:ext cx="10691448" cy="1938992"/>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具体建模：此时是若两者都取不相容，所以需要翻转源汇。将矩阵按黑白棋盘染色，</a:t>
            </a:r>
            <a:r>
              <a:rPr lang="en-US" altLang="zh-CN" sz="2400" dirty="0">
                <a:solidFill>
                  <a:schemeClr val="bg1"/>
                </a:solidFill>
              </a:rPr>
              <a:t>S</a:t>
            </a:r>
            <a:r>
              <a:rPr lang="zh-CN" altLang="en-US" sz="2400" dirty="0">
                <a:solidFill>
                  <a:schemeClr val="bg1"/>
                </a:solidFill>
              </a:rPr>
              <a:t>与白点相连，容量为权值，黑点与</a:t>
            </a:r>
            <a:r>
              <a:rPr lang="en-US" altLang="zh-CN" sz="2400" dirty="0">
                <a:solidFill>
                  <a:schemeClr val="bg1"/>
                </a:solidFill>
              </a:rPr>
              <a:t>T</a:t>
            </a:r>
            <a:r>
              <a:rPr lang="zh-CN" altLang="en-US" sz="2400" dirty="0">
                <a:solidFill>
                  <a:schemeClr val="bg1"/>
                </a:solidFill>
              </a:rPr>
              <a:t>相连，容量为权值。不相容的点之间连边，容量为</a:t>
            </a:r>
            <a:r>
              <a:rPr lang="en-US" altLang="zh-CN" sz="2400" dirty="0">
                <a:solidFill>
                  <a:schemeClr val="bg1"/>
                </a:solidFill>
              </a:rPr>
              <a:t>INF</a:t>
            </a:r>
            <a:r>
              <a:rPr lang="zh-CN" altLang="en-US" sz="2400" dirty="0">
                <a:solidFill>
                  <a:schemeClr val="bg1"/>
                </a:solidFill>
              </a:rPr>
              <a:t>。</a:t>
            </a:r>
            <a:r>
              <a:rPr lang="en-US" altLang="zh-CN" sz="2400" dirty="0">
                <a:solidFill>
                  <a:schemeClr val="bg1"/>
                </a:solidFill>
              </a:rPr>
              <a:t>S</a:t>
            </a:r>
            <a:r>
              <a:rPr lang="zh-CN" altLang="en-US" sz="2400" dirty="0">
                <a:solidFill>
                  <a:schemeClr val="bg1"/>
                </a:solidFill>
              </a:rPr>
              <a:t>对于白点来说为取，</a:t>
            </a:r>
            <a:r>
              <a:rPr lang="en-US" altLang="zh-CN" sz="2400" dirty="0">
                <a:solidFill>
                  <a:schemeClr val="bg1"/>
                </a:solidFill>
              </a:rPr>
              <a:t>T</a:t>
            </a:r>
            <a:r>
              <a:rPr lang="zh-CN" altLang="en-US" sz="2400" dirty="0">
                <a:solidFill>
                  <a:schemeClr val="bg1"/>
                </a:solidFill>
              </a:rPr>
              <a:t>对于黑点来说为取。从一条路径来看，</a:t>
            </a:r>
            <a:r>
              <a:rPr lang="en-US" altLang="zh-CN" sz="2400" dirty="0">
                <a:solidFill>
                  <a:schemeClr val="bg1"/>
                </a:solidFill>
              </a:rPr>
              <a:t>S-</a:t>
            </a:r>
            <a:r>
              <a:rPr lang="zh-CN" altLang="en-US" sz="2400" dirty="0">
                <a:solidFill>
                  <a:schemeClr val="bg1"/>
                </a:solidFill>
              </a:rPr>
              <a:t>白</a:t>
            </a:r>
            <a:r>
              <a:rPr lang="en-US" altLang="zh-CN" sz="2400" dirty="0">
                <a:solidFill>
                  <a:schemeClr val="bg1"/>
                </a:solidFill>
              </a:rPr>
              <a:t>-</a:t>
            </a:r>
            <a:r>
              <a:rPr lang="zh-CN" altLang="en-US" sz="2400" dirty="0">
                <a:solidFill>
                  <a:schemeClr val="bg1"/>
                </a:solidFill>
              </a:rPr>
              <a:t>黑</a:t>
            </a:r>
            <a:r>
              <a:rPr lang="en-US" altLang="zh-CN" sz="2400" dirty="0">
                <a:solidFill>
                  <a:schemeClr val="bg1"/>
                </a:solidFill>
              </a:rPr>
              <a:t>-T</a:t>
            </a:r>
            <a:r>
              <a:rPr lang="zh-CN" altLang="en-US" sz="2400" dirty="0">
                <a:solidFill>
                  <a:schemeClr val="bg1"/>
                </a:solidFill>
              </a:rPr>
              <a:t>，因为中间的边为极大值，所以只能割两边的边，割掉的边即为不取的值。求出最小割即为能使剩余点相容的减去的最小总值。</a:t>
            </a:r>
            <a:endParaRPr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五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最小割</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6" y="683995"/>
            <a:ext cx="10691448" cy="892552"/>
          </a:xfrm>
          <a:prstGeom prst="rect">
            <a:avLst/>
          </a:prstGeom>
          <a:noFill/>
        </p:spPr>
        <p:txBody>
          <a:bodyPr wrap="square" rtlCol="0">
            <a:spAutoFit/>
          </a:bodyPr>
          <a:lstStyle/>
          <a:p>
            <a:pPr algn="l"/>
            <a:r>
              <a:rPr lang="en-US" altLang="zh-CN" sz="2400" dirty="0">
                <a:solidFill>
                  <a:schemeClr val="bg1"/>
                </a:solidFill>
              </a:rPr>
              <a:t>                                                   </a:t>
            </a:r>
            <a:r>
              <a:rPr lang="en-US" altLang="zh-CN" sz="2800" dirty="0">
                <a:solidFill>
                  <a:schemeClr val="bg1"/>
                </a:solidFill>
              </a:rPr>
              <a:t>happiness</a:t>
            </a:r>
            <a:endParaRPr lang="en-US" altLang="zh-CN" sz="28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http://www.lydsy.com/JudgeOnline/problem.php?id=2127</a:t>
            </a:r>
            <a:endParaRPr lang="en-US" altLang="zh-CN" sz="2400" dirty="0">
              <a:solidFill>
                <a:schemeClr val="bg1"/>
              </a:solidFill>
            </a:endParaRPr>
          </a:p>
        </p:txBody>
      </p:sp>
      <p:sp>
        <p:nvSpPr>
          <p:cNvPr id="3" name="文本框 2"/>
          <p:cNvSpPr txBox="1"/>
          <p:nvPr/>
        </p:nvSpPr>
        <p:spPr>
          <a:xfrm>
            <a:off x="622996" y="1576547"/>
            <a:ext cx="10691448" cy="1200329"/>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题解：此题与上一题相似，不过这次是选择不同时不能得到额外的权值，无需翻转源汇，</a:t>
            </a:r>
            <a:r>
              <a:rPr lang="en-US" altLang="zh-CN" sz="2400" dirty="0">
                <a:solidFill>
                  <a:schemeClr val="bg1"/>
                </a:solidFill>
              </a:rPr>
              <a:t>S</a:t>
            </a:r>
            <a:r>
              <a:rPr lang="zh-CN" altLang="en-US" sz="2400" dirty="0">
                <a:solidFill>
                  <a:schemeClr val="bg1"/>
                </a:solidFill>
              </a:rPr>
              <a:t>对所有点来说都是文科，</a:t>
            </a:r>
            <a:r>
              <a:rPr lang="en-US" altLang="zh-CN" sz="2400" dirty="0">
                <a:solidFill>
                  <a:schemeClr val="bg1"/>
                </a:solidFill>
              </a:rPr>
              <a:t>T</a:t>
            </a:r>
            <a:r>
              <a:rPr lang="zh-CN" altLang="en-US" sz="2400" dirty="0">
                <a:solidFill>
                  <a:schemeClr val="bg1"/>
                </a:solidFill>
              </a:rPr>
              <a:t>对所有点来说都是理科。</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对于单独两个点来说，只有两种情况。</a:t>
            </a:r>
            <a:endParaRPr lang="zh-CN" altLang="en-US" sz="2400" dirty="0">
              <a:solidFill>
                <a:schemeClr val="bg1"/>
              </a:solidFill>
            </a:endParaRPr>
          </a:p>
        </p:txBody>
      </p:sp>
      <p:sp>
        <p:nvSpPr>
          <p:cNvPr id="5" name="流程图: 接点 4"/>
          <p:cNvSpPr/>
          <p:nvPr/>
        </p:nvSpPr>
        <p:spPr>
          <a:xfrm>
            <a:off x="1089914" y="3745297"/>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文</a:t>
            </a:r>
            <a:endParaRPr lang="zh-CN" altLang="en-US" sz="2400" dirty="0"/>
          </a:p>
        </p:txBody>
      </p:sp>
      <p:sp>
        <p:nvSpPr>
          <p:cNvPr id="6" name="箭头: 右 5"/>
          <p:cNvSpPr/>
          <p:nvPr/>
        </p:nvSpPr>
        <p:spPr>
          <a:xfrm rot="19997885">
            <a:off x="1553307" y="3223032"/>
            <a:ext cx="1367290" cy="509346"/>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8" name="流程图: 接点 7"/>
          <p:cNvSpPr/>
          <p:nvPr/>
        </p:nvSpPr>
        <p:spPr>
          <a:xfrm>
            <a:off x="2952710" y="2776876"/>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x</a:t>
            </a:r>
            <a:endParaRPr lang="zh-CN" altLang="en-US" sz="2400" dirty="0"/>
          </a:p>
        </p:txBody>
      </p:sp>
      <p:sp>
        <p:nvSpPr>
          <p:cNvPr id="9" name="箭头: 右 8"/>
          <p:cNvSpPr/>
          <p:nvPr/>
        </p:nvSpPr>
        <p:spPr>
          <a:xfrm rot="1460714">
            <a:off x="3497872" y="3154549"/>
            <a:ext cx="1480085" cy="482137"/>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0" name="流程图: 接点 9"/>
          <p:cNvSpPr/>
          <p:nvPr/>
        </p:nvSpPr>
        <p:spPr>
          <a:xfrm>
            <a:off x="4980810" y="3750167"/>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理</a:t>
            </a:r>
            <a:endParaRPr lang="zh-CN" altLang="en-US" sz="2400" dirty="0"/>
          </a:p>
        </p:txBody>
      </p:sp>
      <p:sp>
        <p:nvSpPr>
          <p:cNvPr id="11" name="箭头: 右 10"/>
          <p:cNvSpPr/>
          <p:nvPr/>
        </p:nvSpPr>
        <p:spPr>
          <a:xfrm rot="1716815">
            <a:off x="1535783" y="4254323"/>
            <a:ext cx="1367978" cy="51305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2" name="流程图: 接点 11"/>
          <p:cNvSpPr/>
          <p:nvPr/>
        </p:nvSpPr>
        <p:spPr>
          <a:xfrm>
            <a:off x="2958636" y="4697674"/>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y</a:t>
            </a:r>
            <a:endParaRPr lang="zh-CN" altLang="en-US" sz="2400" dirty="0"/>
          </a:p>
        </p:txBody>
      </p:sp>
      <p:sp>
        <p:nvSpPr>
          <p:cNvPr id="14" name="箭头: 右 13"/>
          <p:cNvSpPr/>
          <p:nvPr/>
        </p:nvSpPr>
        <p:spPr>
          <a:xfrm rot="19999811">
            <a:off x="3554622" y="4254902"/>
            <a:ext cx="1393091"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4" name="文本框 3"/>
          <p:cNvSpPr txBox="1"/>
          <p:nvPr/>
        </p:nvSpPr>
        <p:spPr>
          <a:xfrm>
            <a:off x="5922170" y="2776876"/>
            <a:ext cx="5392274" cy="2677656"/>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若两个人都选文科，需要割掉第</a:t>
            </a:r>
            <a:r>
              <a:rPr lang="en-US" altLang="zh-CN" sz="2400" dirty="0">
                <a:solidFill>
                  <a:schemeClr val="bg1"/>
                </a:solidFill>
              </a:rPr>
              <a:t>2</a:t>
            </a:r>
            <a:r>
              <a:rPr lang="zh-CN" altLang="en-US" sz="2400" dirty="0">
                <a:solidFill>
                  <a:schemeClr val="bg1"/>
                </a:solidFill>
              </a:rPr>
              <a:t>，</a:t>
            </a:r>
            <a:r>
              <a:rPr lang="en-US" altLang="zh-CN" sz="2400" dirty="0">
                <a:solidFill>
                  <a:schemeClr val="bg1"/>
                </a:solidFill>
              </a:rPr>
              <a:t>4</a:t>
            </a:r>
            <a:r>
              <a:rPr lang="zh-CN" altLang="en-US" sz="2400" dirty="0">
                <a:solidFill>
                  <a:schemeClr val="bg1"/>
                </a:solidFill>
              </a:rPr>
              <a:t>条边，代价为两个人选理科分别的贡献，以及他们一起选理科的贡献，因为所有的点都是等价的，</a:t>
            </a:r>
            <a:r>
              <a:rPr lang="en-US" altLang="zh-CN" sz="2400" dirty="0">
                <a:solidFill>
                  <a:schemeClr val="bg1"/>
                </a:solidFill>
              </a:rPr>
              <a:t>2</a:t>
            </a:r>
            <a:r>
              <a:rPr lang="zh-CN" altLang="en-US" sz="2400" dirty="0">
                <a:solidFill>
                  <a:schemeClr val="bg1"/>
                </a:solidFill>
              </a:rPr>
              <a:t>，</a:t>
            </a:r>
            <a:r>
              <a:rPr lang="en-US" altLang="zh-CN" sz="2400" dirty="0">
                <a:solidFill>
                  <a:schemeClr val="bg1"/>
                </a:solidFill>
              </a:rPr>
              <a:t>4</a:t>
            </a:r>
            <a:r>
              <a:rPr lang="zh-CN" altLang="en-US" sz="2400" dirty="0">
                <a:solidFill>
                  <a:schemeClr val="bg1"/>
                </a:solidFill>
              </a:rPr>
              <a:t>边的权值除各自选理科贡献外再加上一半的额外贡献。</a:t>
            </a:r>
            <a:endParaRPr lang="en-US" altLang="zh-CN" sz="2400" dirty="0">
              <a:solidFill>
                <a:schemeClr val="bg1"/>
              </a:solidFill>
            </a:endParaRPr>
          </a:p>
          <a:p>
            <a:pPr algn="l"/>
            <a:r>
              <a:rPr lang="zh-CN" altLang="en-US" sz="2400" dirty="0">
                <a:solidFill>
                  <a:schemeClr val="bg1"/>
                </a:solidFill>
              </a:rPr>
              <a:t>    若两个人都选择理科同理。</a:t>
            </a:r>
            <a:r>
              <a:rPr lang="en-US" altLang="zh-CN" sz="2400" dirty="0">
                <a:solidFill>
                  <a:schemeClr val="bg1"/>
                </a:solidFill>
              </a:rPr>
              <a:t> </a:t>
            </a:r>
            <a:endParaRPr lang="zh-CN" altLang="en-US" sz="2400" dirty="0">
              <a:solidFill>
                <a:schemeClr val="bg1"/>
              </a:solidFill>
            </a:endParaRPr>
          </a:p>
        </p:txBody>
      </p:sp>
      <p:sp>
        <p:nvSpPr>
          <p:cNvPr id="16" name="文本框 15"/>
          <p:cNvSpPr txBox="1"/>
          <p:nvPr/>
        </p:nvSpPr>
        <p:spPr>
          <a:xfrm>
            <a:off x="622996" y="5393967"/>
            <a:ext cx="10691449" cy="1200329"/>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若两个人选择不同，假设</a:t>
            </a:r>
            <a:r>
              <a:rPr lang="en-US" altLang="zh-CN" sz="2400" dirty="0">
                <a:solidFill>
                  <a:schemeClr val="bg1"/>
                </a:solidFill>
              </a:rPr>
              <a:t>x</a:t>
            </a:r>
            <a:r>
              <a:rPr lang="zh-CN" altLang="en-US" sz="2400" dirty="0">
                <a:solidFill>
                  <a:schemeClr val="bg1"/>
                </a:solidFill>
              </a:rPr>
              <a:t>选择文科，</a:t>
            </a:r>
            <a:r>
              <a:rPr lang="en-US" altLang="zh-CN" sz="2400" dirty="0">
                <a:solidFill>
                  <a:schemeClr val="bg1"/>
                </a:solidFill>
              </a:rPr>
              <a:t>y</a:t>
            </a:r>
            <a:r>
              <a:rPr lang="zh-CN" altLang="en-US" sz="2400" dirty="0">
                <a:solidFill>
                  <a:schemeClr val="bg1"/>
                </a:solidFill>
              </a:rPr>
              <a:t>选择理科，那么需要割掉</a:t>
            </a:r>
            <a:r>
              <a:rPr lang="en-US" altLang="zh-CN" sz="2400" dirty="0">
                <a:solidFill>
                  <a:schemeClr val="bg1"/>
                </a:solidFill>
              </a:rPr>
              <a:t>2</a:t>
            </a:r>
            <a:r>
              <a:rPr lang="zh-CN" altLang="en-US" sz="2400" dirty="0">
                <a:solidFill>
                  <a:schemeClr val="bg1"/>
                </a:solidFill>
              </a:rPr>
              <a:t>，</a:t>
            </a:r>
            <a:r>
              <a:rPr lang="en-US" altLang="zh-CN" sz="2400" dirty="0">
                <a:solidFill>
                  <a:schemeClr val="bg1"/>
                </a:solidFill>
              </a:rPr>
              <a:t>3</a:t>
            </a:r>
            <a:r>
              <a:rPr lang="zh-CN" altLang="en-US" sz="2400" dirty="0">
                <a:solidFill>
                  <a:schemeClr val="bg1"/>
                </a:solidFill>
              </a:rPr>
              <a:t>，</a:t>
            </a:r>
            <a:r>
              <a:rPr lang="en-US" altLang="zh-CN" sz="2400" dirty="0">
                <a:solidFill>
                  <a:schemeClr val="bg1"/>
                </a:solidFill>
              </a:rPr>
              <a:t>5</a:t>
            </a:r>
            <a:r>
              <a:rPr lang="zh-CN" altLang="en-US" sz="2400" dirty="0">
                <a:solidFill>
                  <a:schemeClr val="bg1"/>
                </a:solidFill>
              </a:rPr>
              <a:t>。</a:t>
            </a:r>
            <a:endParaRPr lang="en-US" altLang="zh-CN" sz="2400" dirty="0">
              <a:solidFill>
                <a:schemeClr val="bg1"/>
              </a:solidFill>
            </a:endParaRPr>
          </a:p>
          <a:p>
            <a:pPr algn="l"/>
            <a:r>
              <a:rPr lang="zh-CN" altLang="en-US" sz="2400" dirty="0">
                <a:solidFill>
                  <a:schemeClr val="bg1"/>
                </a:solidFill>
              </a:rPr>
              <a:t>    此时</a:t>
            </a:r>
            <a:r>
              <a:rPr lang="en-US" altLang="zh-CN" sz="2400" dirty="0">
                <a:solidFill>
                  <a:schemeClr val="bg1"/>
                </a:solidFill>
              </a:rPr>
              <a:t>2</a:t>
            </a:r>
            <a:r>
              <a:rPr lang="zh-CN" altLang="en-US" sz="2400" dirty="0">
                <a:solidFill>
                  <a:schemeClr val="bg1"/>
                </a:solidFill>
              </a:rPr>
              <a:t>，</a:t>
            </a:r>
            <a:r>
              <a:rPr lang="en-US" altLang="zh-CN" sz="2400" dirty="0">
                <a:solidFill>
                  <a:schemeClr val="bg1"/>
                </a:solidFill>
              </a:rPr>
              <a:t>3</a:t>
            </a:r>
            <a:r>
              <a:rPr lang="zh-CN" altLang="en-US" sz="2400" dirty="0">
                <a:solidFill>
                  <a:schemeClr val="bg1"/>
                </a:solidFill>
              </a:rPr>
              <a:t>权值和为分别选择科目的贡献和一半的同时选择理科和同时选择文  </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科的贡献。还需再减去剩余的一半，即应是</a:t>
            </a:r>
            <a:r>
              <a:rPr lang="en-US" altLang="zh-CN" sz="2400" dirty="0">
                <a:solidFill>
                  <a:schemeClr val="bg1"/>
                </a:solidFill>
              </a:rPr>
              <a:t>5</a:t>
            </a:r>
            <a:r>
              <a:rPr lang="zh-CN" altLang="en-US" sz="2400" dirty="0">
                <a:solidFill>
                  <a:schemeClr val="bg1"/>
                </a:solidFill>
              </a:rPr>
              <a:t>的权值。</a:t>
            </a:r>
            <a:r>
              <a:rPr lang="en-US" altLang="zh-CN" sz="2400" dirty="0">
                <a:solidFill>
                  <a:schemeClr val="bg1"/>
                </a:solidFill>
              </a:rPr>
              <a:t>(x</a:t>
            </a:r>
            <a:r>
              <a:rPr lang="zh-CN" altLang="en-US" sz="2400" dirty="0">
                <a:solidFill>
                  <a:schemeClr val="bg1"/>
                </a:solidFill>
              </a:rPr>
              <a:t>，</a:t>
            </a:r>
            <a:r>
              <a:rPr lang="en-US" altLang="zh-CN" sz="2400" dirty="0">
                <a:solidFill>
                  <a:schemeClr val="bg1"/>
                </a:solidFill>
              </a:rPr>
              <a:t>y</a:t>
            </a:r>
            <a:r>
              <a:rPr lang="zh-CN" altLang="en-US" sz="2400" dirty="0">
                <a:solidFill>
                  <a:schemeClr val="bg1"/>
                </a:solidFill>
              </a:rPr>
              <a:t>间要建双向边。</a:t>
            </a:r>
            <a:r>
              <a:rPr lang="en-US" altLang="zh-CN" sz="2400" dirty="0">
                <a:solidFill>
                  <a:schemeClr val="bg1"/>
                </a:solidFill>
              </a:rPr>
              <a:t>)</a:t>
            </a:r>
            <a:endParaRPr lang="zh-CN" altLang="en-US" sz="2400" dirty="0">
              <a:solidFill>
                <a:schemeClr val="bg1"/>
              </a:solidFill>
            </a:endParaRPr>
          </a:p>
        </p:txBody>
      </p:sp>
      <p:sp>
        <p:nvSpPr>
          <p:cNvPr id="17" name="箭头: 上下 16"/>
          <p:cNvSpPr/>
          <p:nvPr/>
        </p:nvSpPr>
        <p:spPr>
          <a:xfrm>
            <a:off x="2991282" y="3331210"/>
            <a:ext cx="403413" cy="1251089"/>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animBg="1"/>
      <p:bldP spid="8" grpId="0" animBg="1"/>
      <p:bldP spid="9" grpId="0" animBg="1"/>
      <p:bldP spid="10" grpId="0" animBg="1"/>
      <p:bldP spid="11" grpId="0" animBg="1"/>
      <p:bldP spid="12" grpId="0" animBg="1"/>
      <p:bldP spid="14" grpId="0" animBg="1"/>
      <p:bldP spid="17" grpId="0" animBg="1"/>
      <p:bldP spid="4"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五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最小割</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683995"/>
            <a:ext cx="10691448" cy="892552"/>
          </a:xfrm>
          <a:prstGeom prst="rect">
            <a:avLst/>
          </a:prstGeom>
          <a:noFill/>
        </p:spPr>
        <p:txBody>
          <a:bodyPr wrap="square" rtlCol="0">
            <a:spAutoFit/>
          </a:bodyPr>
          <a:lstStyle/>
          <a:p>
            <a:pPr algn="l"/>
            <a:r>
              <a:rPr lang="en-US" altLang="zh-CN" sz="2400" dirty="0">
                <a:solidFill>
                  <a:schemeClr val="bg1"/>
                </a:solidFill>
              </a:rPr>
              <a:t>                                             </a:t>
            </a:r>
            <a:r>
              <a:rPr lang="en-US" altLang="zh-CN" sz="2800" dirty="0">
                <a:solidFill>
                  <a:schemeClr val="bg1"/>
                </a:solidFill>
              </a:rPr>
              <a:t>employ</a:t>
            </a:r>
            <a:r>
              <a:rPr lang="zh-CN" altLang="en-US" sz="2800" dirty="0">
                <a:solidFill>
                  <a:schemeClr val="bg1"/>
                </a:solidFill>
              </a:rPr>
              <a:t>人员雇佣</a:t>
            </a:r>
            <a:endParaRPr lang="en-US" altLang="zh-CN" sz="28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http://www.lydsy.com/JudgeOnline/problem.php?id=2039</a:t>
            </a:r>
            <a:endParaRPr lang="en-US" altLang="zh-CN" sz="2400" dirty="0">
              <a:solidFill>
                <a:schemeClr val="bg1"/>
              </a:solidFill>
            </a:endParaRPr>
          </a:p>
        </p:txBody>
      </p:sp>
      <p:sp>
        <p:nvSpPr>
          <p:cNvPr id="2" name="文本框 1"/>
          <p:cNvSpPr txBox="1"/>
          <p:nvPr/>
        </p:nvSpPr>
        <p:spPr>
          <a:xfrm>
            <a:off x="622996" y="1514992"/>
            <a:ext cx="10761786" cy="461665"/>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题解：这道题与上一道考虑角度相同，首先从两个人的角度考虑</a:t>
            </a:r>
            <a:endParaRPr lang="zh-CN" altLang="en-US" sz="2400" dirty="0">
              <a:solidFill>
                <a:schemeClr val="bg1"/>
              </a:solidFill>
            </a:endParaRPr>
          </a:p>
        </p:txBody>
      </p:sp>
      <p:sp>
        <p:nvSpPr>
          <p:cNvPr id="5" name="流程图: 接点 4"/>
          <p:cNvSpPr/>
          <p:nvPr/>
        </p:nvSpPr>
        <p:spPr>
          <a:xfrm>
            <a:off x="944443" y="3075246"/>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是</a:t>
            </a:r>
            <a:endParaRPr lang="zh-CN" altLang="en-US" sz="2400" dirty="0"/>
          </a:p>
        </p:txBody>
      </p:sp>
      <p:sp>
        <p:nvSpPr>
          <p:cNvPr id="6" name="箭头: 右 5"/>
          <p:cNvSpPr/>
          <p:nvPr/>
        </p:nvSpPr>
        <p:spPr>
          <a:xfrm rot="19997885">
            <a:off x="1407836" y="2552981"/>
            <a:ext cx="1367290" cy="509346"/>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8" name="流程图: 接点 7"/>
          <p:cNvSpPr/>
          <p:nvPr/>
        </p:nvSpPr>
        <p:spPr>
          <a:xfrm>
            <a:off x="2807239" y="2106825"/>
            <a:ext cx="474442" cy="44715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x</a:t>
            </a:r>
            <a:endParaRPr lang="zh-CN" altLang="en-US" sz="2400" dirty="0"/>
          </a:p>
        </p:txBody>
      </p:sp>
      <p:sp>
        <p:nvSpPr>
          <p:cNvPr id="9" name="箭头: 右 8"/>
          <p:cNvSpPr/>
          <p:nvPr/>
        </p:nvSpPr>
        <p:spPr>
          <a:xfrm rot="1460714">
            <a:off x="3352401" y="2484498"/>
            <a:ext cx="1480085" cy="482137"/>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0" name="流程图: 接点 9"/>
          <p:cNvSpPr/>
          <p:nvPr/>
        </p:nvSpPr>
        <p:spPr>
          <a:xfrm>
            <a:off x="4835339" y="3080116"/>
            <a:ext cx="474442" cy="43741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否</a:t>
            </a:r>
            <a:endParaRPr lang="zh-CN" altLang="en-US" sz="2400" dirty="0"/>
          </a:p>
        </p:txBody>
      </p:sp>
      <p:sp>
        <p:nvSpPr>
          <p:cNvPr id="11" name="箭头: 右 10"/>
          <p:cNvSpPr/>
          <p:nvPr/>
        </p:nvSpPr>
        <p:spPr>
          <a:xfrm rot="1716815">
            <a:off x="1390312" y="3584272"/>
            <a:ext cx="1367978" cy="513059"/>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2" name="流程图: 接点 11"/>
          <p:cNvSpPr/>
          <p:nvPr/>
        </p:nvSpPr>
        <p:spPr>
          <a:xfrm>
            <a:off x="2813165" y="4027623"/>
            <a:ext cx="509155" cy="49966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y</a:t>
            </a:r>
            <a:endParaRPr lang="zh-CN" altLang="en-US" sz="2400" dirty="0"/>
          </a:p>
        </p:txBody>
      </p:sp>
      <p:sp>
        <p:nvSpPr>
          <p:cNvPr id="13" name="箭头: 右 12"/>
          <p:cNvSpPr/>
          <p:nvPr/>
        </p:nvSpPr>
        <p:spPr>
          <a:xfrm rot="19999811">
            <a:off x="3409151" y="3584851"/>
            <a:ext cx="1393091" cy="502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14" name="箭头: 上下 13"/>
          <p:cNvSpPr/>
          <p:nvPr/>
        </p:nvSpPr>
        <p:spPr>
          <a:xfrm>
            <a:off x="2845811" y="2661159"/>
            <a:ext cx="403413" cy="1251089"/>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4" name="文本框 3"/>
          <p:cNvSpPr txBox="1"/>
          <p:nvPr/>
        </p:nvSpPr>
        <p:spPr>
          <a:xfrm>
            <a:off x="5589250" y="2513992"/>
            <a:ext cx="5733727" cy="1938992"/>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若两个人都被雇佣，割掉的边为</a:t>
            </a:r>
            <a:r>
              <a:rPr lang="en-US" altLang="zh-CN" sz="2400" dirty="0">
                <a:solidFill>
                  <a:schemeClr val="bg1"/>
                </a:solidFill>
              </a:rPr>
              <a:t>2</a:t>
            </a:r>
            <a:r>
              <a:rPr lang="zh-CN" altLang="en-US" sz="2400" dirty="0">
                <a:solidFill>
                  <a:schemeClr val="bg1"/>
                </a:solidFill>
              </a:rPr>
              <a:t>，</a:t>
            </a:r>
            <a:r>
              <a:rPr lang="en-US" altLang="zh-CN" sz="2400" dirty="0">
                <a:solidFill>
                  <a:schemeClr val="bg1"/>
                </a:solidFill>
              </a:rPr>
              <a:t>4</a:t>
            </a:r>
            <a:r>
              <a:rPr lang="zh-CN" altLang="en-US" sz="2400" dirty="0">
                <a:solidFill>
                  <a:schemeClr val="bg1"/>
                </a:solidFill>
              </a:rPr>
              <a:t>，权值分别为雇佣二人的代价。</a:t>
            </a:r>
            <a:endParaRPr lang="en-US" altLang="zh-CN" sz="2400" dirty="0">
              <a:solidFill>
                <a:schemeClr val="bg1"/>
              </a:solidFill>
            </a:endParaRPr>
          </a:p>
          <a:p>
            <a:pPr marL="342900" indent="-342900" algn="l">
              <a:buFont typeface="Wingdings" panose="05000000000000000000" pitchFamily="2" charset="2"/>
              <a:buChar char="Ø"/>
            </a:pPr>
            <a:r>
              <a:rPr lang="zh-CN" altLang="en-US" sz="2400" dirty="0">
                <a:solidFill>
                  <a:schemeClr val="bg1"/>
                </a:solidFill>
              </a:rPr>
              <a:t>若两个人都不被雇佣，需要割掉</a:t>
            </a:r>
            <a:r>
              <a:rPr lang="en-US" altLang="zh-CN" sz="2400" dirty="0">
                <a:solidFill>
                  <a:schemeClr val="bg1"/>
                </a:solidFill>
              </a:rPr>
              <a:t>1</a:t>
            </a:r>
            <a:r>
              <a:rPr lang="zh-CN" altLang="en-US" sz="2400" dirty="0">
                <a:solidFill>
                  <a:schemeClr val="bg1"/>
                </a:solidFill>
              </a:rPr>
              <a:t>，</a:t>
            </a:r>
            <a:r>
              <a:rPr lang="en-US" altLang="zh-CN" sz="2400" dirty="0">
                <a:solidFill>
                  <a:schemeClr val="bg1"/>
                </a:solidFill>
              </a:rPr>
              <a:t>3</a:t>
            </a:r>
            <a:r>
              <a:rPr lang="zh-CN" altLang="en-US" sz="2400" dirty="0">
                <a:solidFill>
                  <a:schemeClr val="bg1"/>
                </a:solidFill>
              </a:rPr>
              <a:t>，权值均为两人共同的收益。因为共同收益，两人是两份。</a:t>
            </a:r>
            <a:endParaRPr lang="zh-CN" altLang="en-US" sz="2400" dirty="0">
              <a:solidFill>
                <a:schemeClr val="bg1"/>
              </a:solidFill>
            </a:endParaRPr>
          </a:p>
        </p:txBody>
      </p:sp>
      <p:sp>
        <p:nvSpPr>
          <p:cNvPr id="15" name="文本框 14"/>
          <p:cNvSpPr txBox="1"/>
          <p:nvPr/>
        </p:nvSpPr>
        <p:spPr>
          <a:xfrm>
            <a:off x="622996" y="5071971"/>
            <a:ext cx="10277739" cy="1200329"/>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若两人选择不同，假设</a:t>
            </a:r>
            <a:r>
              <a:rPr lang="en-US" altLang="zh-CN" sz="2400" dirty="0">
                <a:solidFill>
                  <a:schemeClr val="bg1"/>
                </a:solidFill>
              </a:rPr>
              <a:t>x</a:t>
            </a:r>
            <a:r>
              <a:rPr lang="zh-CN" altLang="en-US" sz="2400" dirty="0">
                <a:solidFill>
                  <a:schemeClr val="bg1"/>
                </a:solidFill>
              </a:rPr>
              <a:t>被雇佣，</a:t>
            </a:r>
            <a:r>
              <a:rPr lang="en-US" altLang="zh-CN" sz="2400" dirty="0">
                <a:solidFill>
                  <a:schemeClr val="bg1"/>
                </a:solidFill>
              </a:rPr>
              <a:t>y</a:t>
            </a:r>
            <a:r>
              <a:rPr lang="zh-CN" altLang="en-US" sz="2400" dirty="0">
                <a:solidFill>
                  <a:schemeClr val="bg1"/>
                </a:solidFill>
              </a:rPr>
              <a:t>不被雇佣，需要割掉</a:t>
            </a:r>
            <a:r>
              <a:rPr lang="en-US" altLang="zh-CN" sz="2400" dirty="0">
                <a:solidFill>
                  <a:schemeClr val="bg1"/>
                </a:solidFill>
              </a:rPr>
              <a:t>2</a:t>
            </a:r>
            <a:r>
              <a:rPr lang="zh-CN" altLang="en-US" sz="2400" dirty="0">
                <a:solidFill>
                  <a:schemeClr val="bg1"/>
                </a:solidFill>
              </a:rPr>
              <a:t>，</a:t>
            </a:r>
            <a:r>
              <a:rPr lang="en-US" altLang="zh-CN" sz="2400" dirty="0">
                <a:solidFill>
                  <a:schemeClr val="bg1"/>
                </a:solidFill>
              </a:rPr>
              <a:t>3</a:t>
            </a:r>
            <a:r>
              <a:rPr lang="zh-CN" altLang="en-US" sz="2400" dirty="0">
                <a:solidFill>
                  <a:schemeClr val="bg1"/>
                </a:solidFill>
              </a:rPr>
              <a:t>，</a:t>
            </a:r>
            <a:r>
              <a:rPr lang="en-US" altLang="zh-CN" sz="2400" dirty="0">
                <a:solidFill>
                  <a:schemeClr val="bg1"/>
                </a:solidFill>
              </a:rPr>
              <a:t>5</a:t>
            </a:r>
            <a:r>
              <a:rPr lang="zh-CN" altLang="en-US" sz="2400" dirty="0">
                <a:solidFill>
                  <a:schemeClr val="bg1"/>
                </a:solidFill>
              </a:rPr>
              <a:t>。而此时还应减去一份存在于</a:t>
            </a:r>
            <a:r>
              <a:rPr lang="en-US" altLang="zh-CN" sz="2400" dirty="0">
                <a:solidFill>
                  <a:schemeClr val="bg1"/>
                </a:solidFill>
              </a:rPr>
              <a:t>1</a:t>
            </a:r>
            <a:r>
              <a:rPr lang="zh-CN" altLang="en-US" sz="2400" dirty="0">
                <a:solidFill>
                  <a:schemeClr val="bg1"/>
                </a:solidFill>
              </a:rPr>
              <a:t>中的共同受益，再减去两人选择不同的减损。也就是要减去两份共同收益，即为</a:t>
            </a:r>
            <a:r>
              <a:rPr lang="en-US" altLang="zh-CN" sz="2400" dirty="0">
                <a:solidFill>
                  <a:schemeClr val="bg1"/>
                </a:solidFill>
              </a:rPr>
              <a:t>5</a:t>
            </a:r>
            <a:r>
              <a:rPr lang="zh-CN" altLang="en-US" sz="2400" dirty="0">
                <a:solidFill>
                  <a:schemeClr val="bg1"/>
                </a:solidFill>
              </a:rPr>
              <a:t>的权值。</a:t>
            </a:r>
            <a:endParaRPr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animBg="1"/>
      <p:bldP spid="8" grpId="0" animBg="1"/>
      <p:bldP spid="9" grpId="0" animBg="1"/>
      <p:bldP spid="10" grpId="0" animBg="1"/>
      <p:bldP spid="11" grpId="0" animBg="1"/>
      <p:bldP spid="12" grpId="0" animBg="1"/>
      <p:bldP spid="13" grpId="0" animBg="1"/>
      <p:bldP spid="14" grpId="0" animBg="1"/>
      <p:bldP spid="4"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五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最小割</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683995"/>
            <a:ext cx="10691448" cy="892552"/>
          </a:xfrm>
          <a:prstGeom prst="rect">
            <a:avLst/>
          </a:prstGeom>
          <a:noFill/>
        </p:spPr>
        <p:txBody>
          <a:bodyPr wrap="square" rtlCol="0">
            <a:spAutoFit/>
          </a:bodyPr>
          <a:lstStyle/>
          <a:p>
            <a:pPr algn="l"/>
            <a:r>
              <a:rPr lang="en-US" altLang="zh-CN" sz="2400" dirty="0">
                <a:solidFill>
                  <a:schemeClr val="bg1"/>
                </a:solidFill>
              </a:rPr>
              <a:t>                                                     </a:t>
            </a:r>
            <a:r>
              <a:rPr lang="zh-CN" altLang="en-US" sz="2800" dirty="0">
                <a:solidFill>
                  <a:schemeClr val="bg1"/>
                </a:solidFill>
              </a:rPr>
              <a:t>切糕</a:t>
            </a:r>
            <a:endParaRPr lang="en-US" altLang="zh-CN" sz="32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http://www.lydsy.com/JudgeOnline/problem.php?id=3144</a:t>
            </a:r>
            <a:endParaRPr lang="en-US" altLang="zh-CN" sz="2400" dirty="0">
              <a:solidFill>
                <a:schemeClr val="bg1"/>
              </a:solidFill>
            </a:endParaRPr>
          </a:p>
        </p:txBody>
      </p:sp>
      <p:sp>
        <p:nvSpPr>
          <p:cNvPr id="2" name="文本框 1"/>
          <p:cNvSpPr txBox="1"/>
          <p:nvPr/>
        </p:nvSpPr>
        <p:spPr>
          <a:xfrm>
            <a:off x="622995" y="1668026"/>
            <a:ext cx="10691449" cy="1938992"/>
          </a:xfrm>
          <a:prstGeom prst="rect">
            <a:avLst/>
          </a:prstGeom>
          <a:noFill/>
        </p:spPr>
        <p:txBody>
          <a:bodyPr wrap="square" rtlCol="0">
            <a:spAutoFit/>
          </a:bodyPr>
          <a:lstStyle/>
          <a:p>
            <a:pPr algn="l"/>
            <a:endParaRPr lang="zh-CN" altLang="en-US" sz="2400" dirty="0">
              <a:solidFill>
                <a:schemeClr val="bg1"/>
              </a:solidFill>
            </a:endParaRPr>
          </a:p>
        </p:txBody>
      </p:sp>
      <p:sp>
        <p:nvSpPr>
          <p:cNvPr id="4" name="文本框 3"/>
          <p:cNvSpPr txBox="1"/>
          <p:nvPr/>
        </p:nvSpPr>
        <p:spPr>
          <a:xfrm>
            <a:off x="622996" y="1668026"/>
            <a:ext cx="10691448" cy="1938992"/>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题解：由题意得知，显然为最小割模型，将点权转化为边权。由</a:t>
            </a:r>
            <a:r>
              <a:rPr lang="en-US" altLang="zh-CN" sz="2400" dirty="0">
                <a:solidFill>
                  <a:schemeClr val="bg1"/>
                </a:solidFill>
              </a:rPr>
              <a:t>S</a:t>
            </a:r>
            <a:r>
              <a:rPr lang="zh-CN" altLang="en-US" sz="2400" dirty="0">
                <a:solidFill>
                  <a:schemeClr val="bg1"/>
                </a:solidFill>
              </a:rPr>
              <a:t>向</a:t>
            </a:r>
            <a:r>
              <a:rPr lang="en-US" altLang="zh-CN" sz="2400" dirty="0">
                <a:solidFill>
                  <a:schemeClr val="bg1"/>
                </a:solidFill>
              </a:rPr>
              <a:t>(x,y,1)</a:t>
            </a:r>
            <a:r>
              <a:rPr lang="zh-CN" altLang="en-US" sz="2400" dirty="0">
                <a:solidFill>
                  <a:schemeClr val="bg1"/>
                </a:solidFill>
              </a:rPr>
              <a:t>连边，边权为</a:t>
            </a:r>
            <a:r>
              <a:rPr lang="en-US" altLang="zh-CN" sz="2400" dirty="0">
                <a:solidFill>
                  <a:schemeClr val="bg1"/>
                </a:solidFill>
              </a:rPr>
              <a:t>v(x, y,1)</a:t>
            </a:r>
            <a:r>
              <a:rPr lang="zh-CN" altLang="en-US" sz="2400" dirty="0">
                <a:solidFill>
                  <a:schemeClr val="bg1"/>
                </a:solidFill>
              </a:rPr>
              <a:t>。由</a:t>
            </a:r>
            <a:r>
              <a:rPr lang="en-US" altLang="zh-CN" sz="2400" dirty="0">
                <a:solidFill>
                  <a:schemeClr val="bg1"/>
                </a:solidFill>
              </a:rPr>
              <a:t>(x, y, z)</a:t>
            </a:r>
            <a:r>
              <a:rPr lang="zh-CN" altLang="en-US" sz="2400" dirty="0">
                <a:solidFill>
                  <a:schemeClr val="bg1"/>
                </a:solidFill>
              </a:rPr>
              <a:t>向</a:t>
            </a:r>
            <a:r>
              <a:rPr lang="en-US" altLang="zh-CN" sz="2400" dirty="0">
                <a:solidFill>
                  <a:schemeClr val="bg1"/>
                </a:solidFill>
              </a:rPr>
              <a:t>(x, y, z+1)</a:t>
            </a:r>
            <a:r>
              <a:rPr lang="zh-CN" altLang="en-US" sz="2400" dirty="0">
                <a:solidFill>
                  <a:schemeClr val="bg1"/>
                </a:solidFill>
              </a:rPr>
              <a:t>连边，边权为</a:t>
            </a:r>
            <a:r>
              <a:rPr lang="en-US" altLang="zh-CN" sz="2400" dirty="0">
                <a:solidFill>
                  <a:schemeClr val="bg1"/>
                </a:solidFill>
              </a:rPr>
              <a:t>v(x, y, z+1)</a:t>
            </a:r>
            <a:r>
              <a:rPr lang="zh-CN" altLang="en-US" sz="2400" dirty="0">
                <a:solidFill>
                  <a:schemeClr val="bg1"/>
                </a:solidFill>
              </a:rPr>
              <a:t>。</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最后由</a:t>
            </a:r>
            <a:r>
              <a:rPr lang="en-US" altLang="zh-CN" sz="2400" dirty="0">
                <a:solidFill>
                  <a:schemeClr val="bg1"/>
                </a:solidFill>
              </a:rPr>
              <a:t>(x, y, R)</a:t>
            </a:r>
            <a:r>
              <a:rPr lang="zh-CN" altLang="en-US" sz="2400" dirty="0">
                <a:solidFill>
                  <a:schemeClr val="bg1"/>
                </a:solidFill>
              </a:rPr>
              <a:t>向</a:t>
            </a:r>
            <a:r>
              <a:rPr lang="en-US" altLang="zh-CN" sz="2400" dirty="0">
                <a:solidFill>
                  <a:schemeClr val="bg1"/>
                </a:solidFill>
              </a:rPr>
              <a:t>T</a:t>
            </a:r>
            <a:r>
              <a:rPr lang="zh-CN" altLang="en-US" sz="2400" dirty="0">
                <a:solidFill>
                  <a:schemeClr val="bg1"/>
                </a:solidFill>
              </a:rPr>
              <a:t>连边，边权为</a:t>
            </a:r>
            <a:r>
              <a:rPr lang="en-US" altLang="zh-CN" sz="2400" dirty="0">
                <a:solidFill>
                  <a:schemeClr val="bg1"/>
                </a:solidFill>
              </a:rPr>
              <a:t>INF</a:t>
            </a:r>
            <a:r>
              <a:rPr lang="zh-CN" altLang="en-US" sz="2400" dirty="0">
                <a:solidFill>
                  <a:schemeClr val="bg1"/>
                </a:solidFill>
              </a:rPr>
              <a:t>。此题关键为这个选择的距离限制。</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我们可以这样解决：由每个点向它相邻的点的下方的第</a:t>
            </a:r>
            <a:r>
              <a:rPr lang="en-US" altLang="zh-CN" sz="2400" dirty="0">
                <a:solidFill>
                  <a:schemeClr val="bg1"/>
                </a:solidFill>
              </a:rPr>
              <a:t>d</a:t>
            </a:r>
            <a:r>
              <a:rPr lang="zh-CN" altLang="en-US" sz="2400" dirty="0">
                <a:solidFill>
                  <a:schemeClr val="bg1"/>
                </a:solidFill>
              </a:rPr>
              <a:t>个点连边。也就</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由</a:t>
            </a:r>
            <a:r>
              <a:rPr lang="en-US" altLang="zh-CN" sz="2400" dirty="0">
                <a:solidFill>
                  <a:schemeClr val="bg1"/>
                </a:solidFill>
              </a:rPr>
              <a:t>(x, y, z)</a:t>
            </a:r>
            <a:r>
              <a:rPr lang="zh-CN" altLang="en-US" sz="2400" dirty="0">
                <a:solidFill>
                  <a:schemeClr val="bg1"/>
                </a:solidFill>
              </a:rPr>
              <a:t>向</a:t>
            </a:r>
            <a:r>
              <a:rPr lang="en-US" altLang="zh-CN" sz="2400" dirty="0">
                <a:solidFill>
                  <a:schemeClr val="bg1"/>
                </a:solidFill>
              </a:rPr>
              <a:t>(x, y, z-d)</a:t>
            </a:r>
            <a:r>
              <a:rPr lang="zh-CN" altLang="en-US" sz="2400" dirty="0">
                <a:solidFill>
                  <a:schemeClr val="bg1"/>
                </a:solidFill>
              </a:rPr>
              <a:t>连边，边权为</a:t>
            </a:r>
            <a:r>
              <a:rPr lang="en-US" altLang="zh-CN" sz="2400" dirty="0">
                <a:solidFill>
                  <a:schemeClr val="bg1"/>
                </a:solidFill>
              </a:rPr>
              <a:t>INF</a:t>
            </a:r>
            <a:r>
              <a:rPr lang="zh-CN" altLang="en-US" sz="2400" dirty="0">
                <a:solidFill>
                  <a:schemeClr val="bg1"/>
                </a:solidFill>
              </a:rPr>
              <a:t>。</a:t>
            </a:r>
            <a:endParaRPr lang="en-US" altLang="zh-CN" sz="2400" dirty="0">
              <a:solidFill>
                <a:schemeClr val="bg1"/>
              </a:solidFill>
            </a:endParaRPr>
          </a:p>
        </p:txBody>
      </p:sp>
      <p:sp>
        <p:nvSpPr>
          <p:cNvPr id="6" name="箭头: 下 5"/>
          <p:cNvSpPr/>
          <p:nvPr/>
        </p:nvSpPr>
        <p:spPr>
          <a:xfrm rot="10800000">
            <a:off x="1517301" y="3818374"/>
            <a:ext cx="311499" cy="2743200"/>
          </a:xfrm>
          <a:prstGeom prst="down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p:cNvSpPr/>
          <p:nvPr/>
        </p:nvSpPr>
        <p:spPr>
          <a:xfrm rot="10800000">
            <a:off x="2533859" y="3818374"/>
            <a:ext cx="311499" cy="2743200"/>
          </a:xfrm>
          <a:prstGeom prst="down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a:off x="1768349" y="4818356"/>
            <a:ext cx="825962" cy="754049"/>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595176" y="4652102"/>
            <a:ext cx="155750" cy="16134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622125" y="5556454"/>
            <a:ext cx="155750" cy="16134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001974" y="4766119"/>
            <a:ext cx="775901" cy="369332"/>
          </a:xfrm>
          <a:prstGeom prst="rect">
            <a:avLst/>
          </a:prstGeom>
          <a:noFill/>
        </p:spPr>
        <p:txBody>
          <a:bodyPr wrap="square" rtlCol="0">
            <a:spAutoFit/>
          </a:bodyPr>
          <a:lstStyle/>
          <a:p>
            <a:pPr algn="l"/>
            <a:r>
              <a:rPr lang="en-US" altLang="zh-CN" dirty="0">
                <a:solidFill>
                  <a:schemeClr val="bg1"/>
                </a:solidFill>
              </a:rPr>
              <a:t>inf</a:t>
            </a:r>
            <a:endParaRPr lang="zh-CN" altLang="en-US" dirty="0">
              <a:solidFill>
                <a:schemeClr val="bg1"/>
              </a:solidFill>
            </a:endParaRPr>
          </a:p>
        </p:txBody>
      </p:sp>
      <p:sp>
        <p:nvSpPr>
          <p:cNvPr id="16" name="矩形 15"/>
          <p:cNvSpPr/>
          <p:nvPr/>
        </p:nvSpPr>
        <p:spPr>
          <a:xfrm>
            <a:off x="1394232" y="4290203"/>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410789" y="5941840"/>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673484" y="3818374"/>
            <a:ext cx="6899563" cy="1200329"/>
          </a:xfrm>
          <a:prstGeom prst="rect">
            <a:avLst/>
          </a:prstGeom>
          <a:noFill/>
        </p:spPr>
        <p:txBody>
          <a:bodyPr wrap="square" rtlCol="0">
            <a:spAutoFit/>
          </a:bodyPr>
          <a:lstStyle/>
          <a:p>
            <a:pPr algn="l"/>
            <a:r>
              <a:rPr lang="zh-CN" altLang="en-US" sz="2400" dirty="0">
                <a:solidFill>
                  <a:schemeClr val="bg1"/>
                </a:solidFill>
              </a:rPr>
              <a:t>首先，假设每条纵轴只割一条边。若两条边的距离大于</a:t>
            </a:r>
            <a:r>
              <a:rPr lang="en-US" altLang="zh-CN" sz="2400" dirty="0">
                <a:solidFill>
                  <a:schemeClr val="bg1"/>
                </a:solidFill>
              </a:rPr>
              <a:t>d</a:t>
            </a:r>
            <a:r>
              <a:rPr lang="zh-CN" altLang="en-US" sz="2400" dirty="0">
                <a:solidFill>
                  <a:schemeClr val="bg1"/>
                </a:solidFill>
              </a:rPr>
              <a:t>，一定会有图中所示路径，此时仍需要再割一条边。</a:t>
            </a:r>
            <a:endParaRPr lang="zh-CN" altLang="en-US" sz="2400" dirty="0">
              <a:solidFill>
                <a:schemeClr val="bg1"/>
              </a:solidFill>
            </a:endParaRPr>
          </a:p>
        </p:txBody>
      </p:sp>
      <p:cxnSp>
        <p:nvCxnSpPr>
          <p:cNvPr id="20" name="直接箭头连接符 19"/>
          <p:cNvCxnSpPr>
            <a:stCxn id="6" idx="0"/>
            <a:endCxn id="12" idx="4"/>
          </p:cNvCxnSpPr>
          <p:nvPr/>
        </p:nvCxnSpPr>
        <p:spPr>
          <a:xfrm flipV="1">
            <a:off x="1673050" y="4813446"/>
            <a:ext cx="1" cy="1748128"/>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2687019" y="3809782"/>
            <a:ext cx="1" cy="1748128"/>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8" grpId="0" animBg="1"/>
      <p:bldP spid="12" grpId="0" animBg="1"/>
      <p:bldP spid="13" grpId="0" animBg="1"/>
      <p:bldP spid="15" grpId="0"/>
      <p:bldP spid="16" grpId="0" animBg="1"/>
      <p:bldP spid="17" grpId="0" animBg="1"/>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五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最小割</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6" name="箭头: 下 5"/>
          <p:cNvSpPr/>
          <p:nvPr/>
        </p:nvSpPr>
        <p:spPr>
          <a:xfrm rot="10800000">
            <a:off x="1320966" y="683996"/>
            <a:ext cx="262105" cy="2817741"/>
          </a:xfrm>
          <a:prstGeom prst="downArrow">
            <a:avLst>
              <a:gd name="adj1" fmla="val 50000"/>
              <a:gd name="adj2" fmla="val 6000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p:cNvSpPr/>
          <p:nvPr/>
        </p:nvSpPr>
        <p:spPr>
          <a:xfrm rot="10800000">
            <a:off x="2300584" y="683995"/>
            <a:ext cx="284999" cy="2817741"/>
          </a:xfrm>
          <a:prstGeom prst="down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a:off x="1536391" y="2316887"/>
            <a:ext cx="825962" cy="754049"/>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362908" y="2175473"/>
            <a:ext cx="155750" cy="16134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362353" y="2993273"/>
            <a:ext cx="155750" cy="16134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752674" y="2351920"/>
            <a:ext cx="775901" cy="369332"/>
          </a:xfrm>
          <a:prstGeom prst="rect">
            <a:avLst/>
          </a:prstGeom>
          <a:noFill/>
        </p:spPr>
        <p:txBody>
          <a:bodyPr wrap="square" rtlCol="0">
            <a:spAutoFit/>
          </a:bodyPr>
          <a:lstStyle/>
          <a:p>
            <a:pPr algn="l"/>
            <a:r>
              <a:rPr lang="en-US" altLang="zh-CN" dirty="0">
                <a:solidFill>
                  <a:schemeClr val="bg1"/>
                </a:solidFill>
              </a:rPr>
              <a:t>inf</a:t>
            </a:r>
            <a:endParaRPr lang="zh-CN" altLang="en-US" dirty="0">
              <a:solidFill>
                <a:schemeClr val="bg1"/>
              </a:solidFill>
            </a:endParaRPr>
          </a:p>
        </p:txBody>
      </p:sp>
      <p:sp>
        <p:nvSpPr>
          <p:cNvPr id="16" name="矩形 15"/>
          <p:cNvSpPr/>
          <p:nvPr/>
        </p:nvSpPr>
        <p:spPr>
          <a:xfrm>
            <a:off x="1176923" y="2086109"/>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149096" y="3200058"/>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413712" y="803873"/>
            <a:ext cx="6899563" cy="830997"/>
          </a:xfrm>
          <a:prstGeom prst="rect">
            <a:avLst/>
          </a:prstGeom>
          <a:noFill/>
        </p:spPr>
        <p:txBody>
          <a:bodyPr wrap="square" rtlCol="0">
            <a:spAutoFit/>
          </a:bodyPr>
          <a:lstStyle/>
          <a:p>
            <a:pPr algn="l"/>
            <a:r>
              <a:rPr lang="zh-CN" altLang="en-US" sz="2400" dirty="0">
                <a:solidFill>
                  <a:schemeClr val="bg1"/>
                </a:solidFill>
              </a:rPr>
              <a:t>假设再割一条右侧的边，此边与左边割掉的那条边的距离要 ≤ </a:t>
            </a:r>
            <a:r>
              <a:rPr lang="en-US" altLang="zh-CN" sz="2400" dirty="0">
                <a:solidFill>
                  <a:schemeClr val="bg1"/>
                </a:solidFill>
              </a:rPr>
              <a:t>d</a:t>
            </a:r>
            <a:r>
              <a:rPr lang="zh-CN" altLang="en-US" sz="2400" dirty="0">
                <a:solidFill>
                  <a:schemeClr val="bg1"/>
                </a:solidFill>
              </a:rPr>
              <a:t>，否则还会出现这样的路径。</a:t>
            </a:r>
            <a:endParaRPr lang="zh-CN" altLang="en-US" sz="2400" dirty="0">
              <a:solidFill>
                <a:schemeClr val="bg1"/>
              </a:solidFill>
            </a:endParaRPr>
          </a:p>
        </p:txBody>
      </p:sp>
      <p:cxnSp>
        <p:nvCxnSpPr>
          <p:cNvPr id="20" name="直接箭头连接符 19"/>
          <p:cNvCxnSpPr/>
          <p:nvPr/>
        </p:nvCxnSpPr>
        <p:spPr>
          <a:xfrm flipV="1">
            <a:off x="1446204" y="2316888"/>
            <a:ext cx="0" cy="928889"/>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2427915" y="1308117"/>
            <a:ext cx="0" cy="1762820"/>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6" idx="2"/>
          </p:cNvCxnSpPr>
          <p:nvPr/>
        </p:nvCxnSpPr>
        <p:spPr>
          <a:xfrm flipH="1" flipV="1">
            <a:off x="1452018" y="683996"/>
            <a:ext cx="3724" cy="1267120"/>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189070" y="1126902"/>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6"/>
          <p:cNvCxnSpPr/>
          <p:nvPr/>
        </p:nvCxnSpPr>
        <p:spPr>
          <a:xfrm flipH="1">
            <a:off x="1478841" y="1299437"/>
            <a:ext cx="868577" cy="632182"/>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4" name="箭头: 下 33"/>
          <p:cNvSpPr/>
          <p:nvPr/>
        </p:nvSpPr>
        <p:spPr>
          <a:xfrm rot="10800000">
            <a:off x="1320969" y="3621616"/>
            <a:ext cx="262103" cy="3039524"/>
          </a:xfrm>
          <a:prstGeom prst="downArrow">
            <a:avLst>
              <a:gd name="adj1" fmla="val 50000"/>
              <a:gd name="adj2" fmla="val 6000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下 34"/>
          <p:cNvSpPr/>
          <p:nvPr/>
        </p:nvSpPr>
        <p:spPr>
          <a:xfrm rot="10800000">
            <a:off x="2300583" y="3621615"/>
            <a:ext cx="285001" cy="3039524"/>
          </a:xfrm>
          <a:prstGeom prst="down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箭头连接符 35"/>
          <p:cNvCxnSpPr/>
          <p:nvPr/>
        </p:nvCxnSpPr>
        <p:spPr>
          <a:xfrm>
            <a:off x="1536391" y="5254507"/>
            <a:ext cx="825962" cy="754049"/>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1362908" y="5113093"/>
            <a:ext cx="155750" cy="16134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2362353" y="5930893"/>
            <a:ext cx="155750" cy="16134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1752674" y="5289540"/>
            <a:ext cx="775901" cy="369332"/>
          </a:xfrm>
          <a:prstGeom prst="rect">
            <a:avLst/>
          </a:prstGeom>
          <a:noFill/>
        </p:spPr>
        <p:txBody>
          <a:bodyPr wrap="square" rtlCol="0">
            <a:spAutoFit/>
          </a:bodyPr>
          <a:lstStyle/>
          <a:p>
            <a:pPr algn="l"/>
            <a:r>
              <a:rPr lang="en-US" altLang="zh-CN" dirty="0">
                <a:solidFill>
                  <a:schemeClr val="bg1"/>
                </a:solidFill>
              </a:rPr>
              <a:t>inf</a:t>
            </a:r>
            <a:endParaRPr lang="zh-CN" altLang="en-US" dirty="0">
              <a:solidFill>
                <a:schemeClr val="bg1"/>
              </a:solidFill>
            </a:endParaRPr>
          </a:p>
        </p:txBody>
      </p:sp>
      <p:sp>
        <p:nvSpPr>
          <p:cNvPr id="40" name="矩形 39"/>
          <p:cNvSpPr/>
          <p:nvPr/>
        </p:nvSpPr>
        <p:spPr>
          <a:xfrm>
            <a:off x="1176923" y="5023729"/>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2149096" y="6137678"/>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3413712" y="3741493"/>
            <a:ext cx="6899563" cy="1938992"/>
          </a:xfrm>
          <a:prstGeom prst="rect">
            <a:avLst/>
          </a:prstGeom>
          <a:noFill/>
        </p:spPr>
        <p:txBody>
          <a:bodyPr wrap="square" rtlCol="0">
            <a:spAutoFit/>
          </a:bodyPr>
          <a:lstStyle/>
          <a:p>
            <a:pPr algn="l"/>
            <a:r>
              <a:rPr lang="zh-CN" altLang="en-US" sz="2400" dirty="0">
                <a:solidFill>
                  <a:schemeClr val="bg1"/>
                </a:solidFill>
              </a:rPr>
              <a:t>只有距离 ≤ </a:t>
            </a:r>
            <a:r>
              <a:rPr lang="en-US" altLang="zh-CN" sz="2400" dirty="0">
                <a:solidFill>
                  <a:schemeClr val="bg1"/>
                </a:solidFill>
              </a:rPr>
              <a:t>d</a:t>
            </a:r>
            <a:r>
              <a:rPr lang="zh-CN" altLang="en-US" sz="2400" dirty="0">
                <a:solidFill>
                  <a:schemeClr val="bg1"/>
                </a:solidFill>
              </a:rPr>
              <a:t>，才能截断。</a:t>
            </a:r>
            <a:endParaRPr lang="en-US" altLang="zh-CN" sz="2400" dirty="0">
              <a:solidFill>
                <a:schemeClr val="bg1"/>
              </a:solidFill>
            </a:endParaRPr>
          </a:p>
          <a:p>
            <a:pPr algn="l"/>
            <a:r>
              <a:rPr lang="zh-CN" altLang="en-US" sz="2400" dirty="0">
                <a:solidFill>
                  <a:schemeClr val="bg1"/>
                </a:solidFill>
              </a:rPr>
              <a:t>但此时，右边第一次截断的边已经没有必要了。因为只要上面两条边就可以截断了。</a:t>
            </a:r>
            <a:endParaRPr lang="en-US" altLang="zh-CN" sz="2400" dirty="0">
              <a:solidFill>
                <a:schemeClr val="bg1"/>
              </a:solidFill>
            </a:endParaRPr>
          </a:p>
          <a:p>
            <a:r>
              <a:rPr lang="zh-CN" altLang="en-US" sz="2400" dirty="0">
                <a:solidFill>
                  <a:schemeClr val="bg1"/>
                </a:solidFill>
              </a:rPr>
              <a:t>因此，每个纵轴只截断一条边，且相邻截断的边距离一定 ≤ </a:t>
            </a:r>
            <a:r>
              <a:rPr lang="en-US" altLang="zh-CN" sz="2400" dirty="0">
                <a:solidFill>
                  <a:schemeClr val="bg1"/>
                </a:solidFill>
              </a:rPr>
              <a:t>d</a:t>
            </a:r>
            <a:r>
              <a:rPr lang="zh-CN" altLang="en-US" sz="2400" dirty="0">
                <a:solidFill>
                  <a:schemeClr val="bg1"/>
                </a:solidFill>
              </a:rPr>
              <a:t>。</a:t>
            </a:r>
            <a:endParaRPr lang="zh-CN" altLang="en-US" sz="2400" dirty="0">
              <a:solidFill>
                <a:schemeClr val="bg1"/>
              </a:solidFill>
            </a:endParaRPr>
          </a:p>
        </p:txBody>
      </p:sp>
      <p:cxnSp>
        <p:nvCxnSpPr>
          <p:cNvPr id="43" name="直接箭头连接符 42"/>
          <p:cNvCxnSpPr>
            <a:stCxn id="34" idx="0"/>
          </p:cNvCxnSpPr>
          <p:nvPr/>
        </p:nvCxnSpPr>
        <p:spPr>
          <a:xfrm flipH="1" flipV="1">
            <a:off x="1446204" y="5254508"/>
            <a:ext cx="5816" cy="1406632"/>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V="1">
            <a:off x="2427915" y="4245737"/>
            <a:ext cx="0" cy="1762820"/>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133974" y="4553148"/>
            <a:ext cx="557638"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13" grpId="0" animBg="1"/>
      <p:bldP spid="15" grpId="0"/>
      <p:bldP spid="16" grpId="0" animBg="1"/>
      <p:bldP spid="17" grpId="0" animBg="1"/>
      <p:bldP spid="18" grpId="0"/>
      <p:bldP spid="26" grpId="0" animBg="1"/>
      <p:bldP spid="34" grpId="0" animBg="1"/>
      <p:bldP spid="35" grpId="0" animBg="1"/>
      <p:bldP spid="37" grpId="0" animBg="1"/>
      <p:bldP spid="38" grpId="0" animBg="1"/>
      <p:bldP spid="39" grpId="0"/>
      <p:bldP spid="40" grpId="0" animBg="1"/>
      <p:bldP spid="41" grpId="0" animBg="1"/>
      <p:bldP spid="42" grpId="0"/>
      <p:bldP spid="45"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五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最小割</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96" y="683995"/>
            <a:ext cx="10691448" cy="892552"/>
          </a:xfrm>
          <a:prstGeom prst="rect">
            <a:avLst/>
          </a:prstGeom>
          <a:noFill/>
        </p:spPr>
        <p:txBody>
          <a:bodyPr wrap="square" rtlCol="0">
            <a:spAutoFit/>
          </a:bodyPr>
          <a:lstStyle/>
          <a:p>
            <a:r>
              <a:rPr lang="en-US" altLang="zh-CN" sz="2400" dirty="0">
                <a:solidFill>
                  <a:schemeClr val="bg1"/>
                </a:solidFill>
              </a:rPr>
              <a:t>                                     </a:t>
            </a:r>
            <a:r>
              <a:rPr lang="en-US" altLang="zh-CN" sz="2800" dirty="0">
                <a:solidFill>
                  <a:schemeClr val="bg1"/>
                </a:solidFill>
              </a:rPr>
              <a:t>[Ahoi2009]</a:t>
            </a:r>
            <a:r>
              <a:rPr lang="en-US" altLang="zh-CN" sz="2800" dirty="0" err="1">
                <a:solidFill>
                  <a:schemeClr val="bg1"/>
                </a:solidFill>
              </a:rPr>
              <a:t>Mincut</a:t>
            </a:r>
            <a:r>
              <a:rPr lang="en-US" altLang="zh-CN" sz="2800" dirty="0">
                <a:solidFill>
                  <a:schemeClr val="bg1"/>
                </a:solidFill>
              </a:rPr>
              <a:t> </a:t>
            </a:r>
            <a:r>
              <a:rPr lang="zh-CN" altLang="en-US" sz="2800" dirty="0">
                <a:solidFill>
                  <a:schemeClr val="bg1"/>
                </a:solidFill>
              </a:rPr>
              <a:t>最小割</a:t>
            </a:r>
            <a:endParaRPr lang="en-US" altLang="zh-CN" sz="32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http://www.lydsy.com/JudgeOnline/problem.php?id=1797</a:t>
            </a:r>
            <a:endParaRPr lang="en-US" altLang="zh-CN" sz="2400" dirty="0">
              <a:solidFill>
                <a:schemeClr val="bg1"/>
              </a:solidFill>
            </a:endParaRPr>
          </a:p>
        </p:txBody>
      </p:sp>
      <p:sp>
        <p:nvSpPr>
          <p:cNvPr id="2" name="文本框 1"/>
          <p:cNvSpPr txBox="1"/>
          <p:nvPr/>
        </p:nvSpPr>
        <p:spPr>
          <a:xfrm>
            <a:off x="622995" y="1668026"/>
            <a:ext cx="10691449" cy="1938992"/>
          </a:xfrm>
          <a:prstGeom prst="rect">
            <a:avLst/>
          </a:prstGeom>
          <a:noFill/>
        </p:spPr>
        <p:txBody>
          <a:bodyPr wrap="square" rtlCol="0">
            <a:spAutoFit/>
          </a:bodyPr>
          <a:lstStyle/>
          <a:p>
            <a:pPr algn="l"/>
            <a:endParaRPr lang="zh-CN" altLang="en-US" sz="2400" dirty="0">
              <a:solidFill>
                <a:schemeClr val="bg1"/>
              </a:solidFill>
            </a:endParaRPr>
          </a:p>
        </p:txBody>
      </p:sp>
      <p:sp>
        <p:nvSpPr>
          <p:cNvPr id="4" name="文本框 3"/>
          <p:cNvSpPr txBox="1"/>
          <p:nvPr/>
        </p:nvSpPr>
        <p:spPr>
          <a:xfrm>
            <a:off x="622996" y="1668026"/>
            <a:ext cx="10691448" cy="5336846"/>
          </a:xfrm>
          <a:prstGeom prst="rect">
            <a:avLst/>
          </a:prstGeom>
          <a:noFill/>
        </p:spPr>
        <p:txBody>
          <a:bodyPr wrap="square" rtlCol="0">
            <a:spAutoFit/>
          </a:bodyPr>
          <a:lstStyle/>
          <a:p>
            <a:pPr marL="342900" indent="-342900">
              <a:lnSpc>
                <a:spcPct val="110000"/>
              </a:lnSpc>
              <a:buFont typeface="Wingdings" panose="05000000000000000000" pitchFamily="2" charset="2"/>
              <a:buChar char="Ø"/>
            </a:pPr>
            <a:r>
              <a:rPr lang="zh-CN" altLang="en-US" sz="2400" dirty="0">
                <a:solidFill>
                  <a:schemeClr val="bg1"/>
                </a:solidFill>
              </a:rPr>
              <a:t>题解：在残余网络上跑</a:t>
            </a:r>
            <a:r>
              <a:rPr lang="en-US" altLang="zh-CN" sz="2400" dirty="0" err="1">
                <a:solidFill>
                  <a:schemeClr val="bg1"/>
                </a:solidFill>
              </a:rPr>
              <a:t>tarjan</a:t>
            </a:r>
            <a:r>
              <a:rPr lang="zh-CN" altLang="en-US" sz="2400" dirty="0">
                <a:solidFill>
                  <a:schemeClr val="bg1"/>
                </a:solidFill>
              </a:rPr>
              <a:t>求出所有</a:t>
            </a:r>
            <a:r>
              <a:rPr lang="en-US" altLang="zh-CN" sz="2400" dirty="0">
                <a:solidFill>
                  <a:schemeClr val="bg1"/>
                </a:solidFill>
              </a:rPr>
              <a:t>SCC</a:t>
            </a:r>
            <a:r>
              <a:rPr lang="zh-CN" altLang="en-US" sz="2400" dirty="0">
                <a:solidFill>
                  <a:schemeClr val="bg1"/>
                </a:solidFill>
              </a:rPr>
              <a:t>，记</a:t>
            </a:r>
            <a:r>
              <a:rPr lang="en-US" altLang="zh-CN" sz="2400" dirty="0">
                <a:solidFill>
                  <a:schemeClr val="bg1"/>
                </a:solidFill>
              </a:rPr>
              <a:t>id[u]</a:t>
            </a:r>
            <a:r>
              <a:rPr lang="zh-CN" altLang="en-US" sz="2400" dirty="0">
                <a:solidFill>
                  <a:schemeClr val="bg1"/>
                </a:solidFill>
              </a:rPr>
              <a:t>为点</a:t>
            </a:r>
            <a:r>
              <a:rPr lang="en-US" altLang="zh-CN" sz="2400" dirty="0">
                <a:solidFill>
                  <a:schemeClr val="bg1"/>
                </a:solidFill>
              </a:rPr>
              <a:t>u</a:t>
            </a:r>
            <a:r>
              <a:rPr lang="zh-CN" altLang="en-US" sz="2400" dirty="0">
                <a:solidFill>
                  <a:schemeClr val="bg1"/>
                </a:solidFill>
              </a:rPr>
              <a:t>所在</a:t>
            </a:r>
            <a:r>
              <a:rPr lang="en-US" altLang="zh-CN" sz="2400" dirty="0">
                <a:solidFill>
                  <a:schemeClr val="bg1"/>
                </a:solidFill>
              </a:rPr>
              <a:t>SCC</a:t>
            </a:r>
            <a:r>
              <a:rPr lang="zh-CN" altLang="en-US" sz="2400" dirty="0">
                <a:solidFill>
                  <a:schemeClr val="bg1"/>
                </a:solidFill>
              </a:rPr>
              <a:t>的编号。显然有</a:t>
            </a:r>
            <a:r>
              <a:rPr lang="en-US" altLang="zh-CN" sz="2400" dirty="0">
                <a:solidFill>
                  <a:schemeClr val="bg1"/>
                </a:solidFill>
              </a:rPr>
              <a:t>id[s]!=id[t]</a:t>
            </a:r>
            <a:r>
              <a:rPr lang="zh-CN" altLang="en-US" sz="2400" dirty="0">
                <a:solidFill>
                  <a:schemeClr val="bg1"/>
                </a:solidFill>
              </a:rPr>
              <a:t>（否则</a:t>
            </a:r>
            <a:r>
              <a:rPr lang="en-US" altLang="zh-CN" sz="2400" dirty="0">
                <a:solidFill>
                  <a:schemeClr val="bg1"/>
                </a:solidFill>
              </a:rPr>
              <a:t>s</a:t>
            </a:r>
            <a:r>
              <a:rPr lang="zh-CN" altLang="en-US" sz="2400" dirty="0">
                <a:solidFill>
                  <a:schemeClr val="bg1"/>
                </a:solidFill>
              </a:rPr>
              <a:t>到</a:t>
            </a:r>
            <a:r>
              <a:rPr lang="en-US" altLang="zh-CN" sz="2400" dirty="0">
                <a:solidFill>
                  <a:schemeClr val="bg1"/>
                </a:solidFill>
              </a:rPr>
              <a:t>t</a:t>
            </a:r>
            <a:r>
              <a:rPr lang="zh-CN" altLang="en-US" sz="2400" dirty="0">
                <a:solidFill>
                  <a:schemeClr val="bg1"/>
                </a:solidFill>
              </a:rPr>
              <a:t>有通路，能继续增广）。</a:t>
            </a:r>
            <a:endParaRPr lang="zh-CN" altLang="en-US" sz="2400" dirty="0">
              <a:solidFill>
                <a:schemeClr val="bg1"/>
              </a:solidFill>
            </a:endParaRPr>
          </a:p>
          <a:p>
            <a:pPr marL="914400" lvl="1" indent="-457200">
              <a:lnSpc>
                <a:spcPct val="110000"/>
              </a:lnSpc>
              <a:buFont typeface="+mj-lt"/>
              <a:buAutoNum type="arabicPeriod"/>
            </a:pPr>
            <a:r>
              <a:rPr lang="zh-CN" altLang="en-US" sz="2400" dirty="0">
                <a:solidFill>
                  <a:schemeClr val="bg1"/>
                </a:solidFill>
              </a:rPr>
              <a:t>对于任意一条满流边</a:t>
            </a:r>
            <a:r>
              <a:rPr lang="en-US" altLang="zh-CN" sz="2400" dirty="0">
                <a:solidFill>
                  <a:schemeClr val="bg1"/>
                </a:solidFill>
              </a:rPr>
              <a:t>(</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a:t>
            </a:r>
            <a:r>
              <a:rPr lang="en-US" altLang="zh-CN" sz="2400" dirty="0">
                <a:solidFill>
                  <a:schemeClr val="bg1"/>
                </a:solidFill>
              </a:rPr>
              <a:t>(</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能够出现在某个最小割集中，当且仅当</a:t>
            </a:r>
            <a:r>
              <a:rPr lang="en-US" altLang="zh-CN" sz="2400" dirty="0">
                <a:solidFill>
                  <a:schemeClr val="bg1"/>
                </a:solidFill>
              </a:rPr>
              <a:t>id[u]!=id[v]</a:t>
            </a:r>
            <a:r>
              <a:rPr lang="zh-CN" altLang="en-US" sz="2400" dirty="0">
                <a:solidFill>
                  <a:schemeClr val="bg1"/>
                </a:solidFill>
              </a:rPr>
              <a:t>；</a:t>
            </a:r>
            <a:endParaRPr lang="en-US" altLang="zh-CN" sz="2400" dirty="0">
              <a:solidFill>
                <a:schemeClr val="bg1"/>
              </a:solidFill>
            </a:endParaRPr>
          </a:p>
          <a:p>
            <a:pPr marL="914400" lvl="1" indent="-457200">
              <a:lnSpc>
                <a:spcPct val="110000"/>
              </a:lnSpc>
              <a:buFont typeface="+mj-lt"/>
              <a:buAutoNum type="arabicPeriod"/>
            </a:pPr>
            <a:r>
              <a:rPr lang="zh-CN" altLang="en-US" sz="2400" dirty="0">
                <a:solidFill>
                  <a:schemeClr val="bg1"/>
                </a:solidFill>
              </a:rPr>
              <a:t>对于任意一条满流边</a:t>
            </a:r>
            <a:r>
              <a:rPr lang="en-US" altLang="zh-CN" sz="2400" dirty="0">
                <a:solidFill>
                  <a:schemeClr val="bg1"/>
                </a:solidFill>
              </a:rPr>
              <a:t>(</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a:t>
            </a:r>
            <a:r>
              <a:rPr lang="en-US" altLang="zh-CN" sz="2400" dirty="0">
                <a:solidFill>
                  <a:schemeClr val="bg1"/>
                </a:solidFill>
              </a:rPr>
              <a:t>(</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必定出现在最小割集中，当且仅当</a:t>
            </a:r>
            <a:r>
              <a:rPr lang="en-US" altLang="zh-CN" sz="2400" dirty="0">
                <a:solidFill>
                  <a:schemeClr val="bg1"/>
                </a:solidFill>
              </a:rPr>
              <a:t>id[u]==id[s]</a:t>
            </a:r>
            <a:r>
              <a:rPr lang="zh-CN" altLang="en-US" sz="2400" dirty="0">
                <a:solidFill>
                  <a:schemeClr val="bg1"/>
                </a:solidFill>
              </a:rPr>
              <a:t>且</a:t>
            </a:r>
            <a:r>
              <a:rPr lang="en-US" altLang="zh-CN" sz="2400" dirty="0">
                <a:solidFill>
                  <a:schemeClr val="bg1"/>
                </a:solidFill>
              </a:rPr>
              <a:t>id[v]==id[t]</a:t>
            </a:r>
            <a:r>
              <a:rPr lang="zh-CN" altLang="en-US" sz="2400" dirty="0">
                <a:solidFill>
                  <a:schemeClr val="bg1"/>
                </a:solidFill>
              </a:rPr>
              <a:t>。</a:t>
            </a:r>
            <a:endParaRPr lang="zh-CN" altLang="en-US" sz="2400" dirty="0">
              <a:solidFill>
                <a:schemeClr val="bg1"/>
              </a:solidFill>
            </a:endParaRPr>
          </a:p>
          <a:p>
            <a:pPr marL="914400" lvl="1" indent="-457200">
              <a:lnSpc>
                <a:spcPct val="110000"/>
              </a:lnSpc>
              <a:buFont typeface="+mj-ea"/>
              <a:buAutoNum type="circleNumDbPlain"/>
            </a:pPr>
            <a:r>
              <a:rPr lang="zh-CN" altLang="en-US" sz="2400" dirty="0">
                <a:solidFill>
                  <a:schemeClr val="bg1"/>
                </a:solidFill>
              </a:rPr>
              <a:t>将每个</a:t>
            </a:r>
            <a:r>
              <a:rPr lang="en-US" altLang="zh-CN" sz="2400" dirty="0">
                <a:solidFill>
                  <a:schemeClr val="bg1"/>
                </a:solidFill>
              </a:rPr>
              <a:t>SCC</a:t>
            </a:r>
            <a:r>
              <a:rPr lang="zh-CN" altLang="en-US" sz="2400" dirty="0">
                <a:solidFill>
                  <a:schemeClr val="bg1"/>
                </a:solidFill>
              </a:rPr>
              <a:t>缩成一个点，得到的新图就只含有满流边了。那么新图的任一</a:t>
            </a:r>
            <a:r>
              <a:rPr lang="en-US" altLang="zh-CN" sz="2400" dirty="0">
                <a:solidFill>
                  <a:schemeClr val="bg1"/>
                </a:solidFill>
              </a:rPr>
              <a:t>s-t</a:t>
            </a:r>
            <a:r>
              <a:rPr lang="zh-CN" altLang="en-US" sz="2400" dirty="0">
                <a:solidFill>
                  <a:schemeClr val="bg1"/>
                </a:solidFill>
              </a:rPr>
              <a:t>割都对应原图的某个最小割，从中任取一个把</a:t>
            </a:r>
            <a:r>
              <a:rPr lang="en-US" altLang="zh-CN" sz="2400" dirty="0">
                <a:solidFill>
                  <a:schemeClr val="bg1"/>
                </a:solidFill>
              </a:rPr>
              <a:t>id[u]</a:t>
            </a:r>
            <a:r>
              <a:rPr lang="zh-CN" altLang="en-US" sz="2400" dirty="0">
                <a:solidFill>
                  <a:schemeClr val="bg1"/>
                </a:solidFill>
              </a:rPr>
              <a:t>和</a:t>
            </a:r>
            <a:r>
              <a:rPr lang="en-US" altLang="zh-CN" sz="2400" dirty="0">
                <a:solidFill>
                  <a:schemeClr val="bg1"/>
                </a:solidFill>
              </a:rPr>
              <a:t>id[v]</a:t>
            </a:r>
            <a:r>
              <a:rPr lang="zh-CN" altLang="en-US" sz="2400" dirty="0">
                <a:solidFill>
                  <a:schemeClr val="bg1"/>
                </a:solidFill>
              </a:rPr>
              <a:t>割开的割即可证明。</a:t>
            </a:r>
            <a:endParaRPr lang="zh-CN" altLang="en-US" sz="2400" dirty="0">
              <a:solidFill>
                <a:schemeClr val="bg1"/>
              </a:solidFill>
            </a:endParaRPr>
          </a:p>
          <a:p>
            <a:pPr marL="914400" lvl="1" indent="-457200">
              <a:lnSpc>
                <a:spcPct val="110000"/>
              </a:lnSpc>
              <a:buFont typeface="+mj-ea"/>
              <a:buAutoNum type="circleNumDbPlain"/>
            </a:pPr>
            <a:r>
              <a:rPr lang="zh-CN" altLang="en-US" sz="2400" dirty="0">
                <a:solidFill>
                  <a:schemeClr val="bg1"/>
                </a:solidFill>
              </a:rPr>
              <a:t>假设将</a:t>
            </a:r>
            <a:r>
              <a:rPr lang="en-US" altLang="zh-CN" sz="2400" dirty="0">
                <a:solidFill>
                  <a:schemeClr val="bg1"/>
                </a:solidFill>
              </a:rPr>
              <a:t>(</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的边权增大，那么残余网络中会出现</a:t>
            </a:r>
            <a:r>
              <a:rPr lang="en-US" altLang="zh-CN" sz="2400" dirty="0">
                <a:solidFill>
                  <a:schemeClr val="bg1"/>
                </a:solidFill>
              </a:rPr>
              <a:t>s-&gt;u-&gt;v-&gt;t</a:t>
            </a:r>
            <a:r>
              <a:rPr lang="zh-CN" altLang="en-US" sz="2400" dirty="0">
                <a:solidFill>
                  <a:schemeClr val="bg1"/>
                </a:solidFill>
              </a:rPr>
              <a:t>的通路，从而能继续增广，于是最大流流量（也就是最小割容量）会增大。这即说明</a:t>
            </a:r>
            <a:r>
              <a:rPr lang="en-US" altLang="zh-CN" sz="2400" dirty="0">
                <a:solidFill>
                  <a:schemeClr val="bg1"/>
                </a:solidFill>
              </a:rPr>
              <a:t>(</a:t>
            </a:r>
            <a:r>
              <a:rPr lang="en-US" altLang="zh-CN" sz="2400" dirty="0" err="1">
                <a:solidFill>
                  <a:schemeClr val="bg1"/>
                </a:solidFill>
              </a:rPr>
              <a:t>u,v</a:t>
            </a:r>
            <a:r>
              <a:rPr lang="en-US" altLang="zh-CN" sz="2400" dirty="0">
                <a:solidFill>
                  <a:schemeClr val="bg1"/>
                </a:solidFill>
              </a:rPr>
              <a:t>)</a:t>
            </a:r>
            <a:r>
              <a:rPr lang="zh-CN" altLang="en-US" sz="2400" dirty="0">
                <a:solidFill>
                  <a:schemeClr val="bg1"/>
                </a:solidFill>
              </a:rPr>
              <a:t>是最小割集中必须出现的边。</a:t>
            </a:r>
            <a:endParaRPr lang="zh-CN" altLang="en-US" sz="2400" dirty="0">
              <a:solidFill>
                <a:schemeClr val="bg1"/>
              </a:solidFill>
            </a:endParaRPr>
          </a:p>
          <a:p>
            <a:pPr algn="l"/>
            <a:endParaRPr lang="en-US" altLang="zh-CN" sz="2400" dirty="0">
              <a:solidFill>
                <a:schemeClr val="bg1"/>
              </a:solidFil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197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35" y="682625"/>
            <a:ext cx="10714990" cy="2676525"/>
          </a:xfrm>
          <a:prstGeom prst="rect">
            <a:avLst/>
          </a:prstGeom>
          <a:noFill/>
        </p:spPr>
        <p:txBody>
          <a:bodyPr wrap="square" rtlCol="0">
            <a:spAutoFit/>
          </a:bodyPr>
          <a:p>
            <a:pPr marL="342900" indent="-342900" algn="l">
              <a:buFont typeface="Arial" panose="020B0604020202020204" pitchFamily="34" charset="0"/>
              <a:buChar char="•"/>
            </a:pPr>
            <a:r>
              <a:rPr lang="zh-CN" altLang="zh-CN" sz="2400" dirty="0" smtClean="0">
                <a:solidFill>
                  <a:schemeClr val="bg1"/>
                </a:solidFill>
              </a:rPr>
              <a:t>最小费用最大流：在保证最大流的基础上，使总费用最小。</a:t>
            </a:r>
            <a:endParaRPr lang="zh-CN" altLang="zh-CN" sz="2400" dirty="0" smtClean="0">
              <a:solidFill>
                <a:schemeClr val="bg1"/>
              </a:solidFill>
            </a:endParaRPr>
          </a:p>
          <a:p>
            <a:pPr marL="342900" indent="-342900" algn="l">
              <a:buFont typeface="Arial" panose="020B0604020202020204" pitchFamily="34" charset="0"/>
              <a:buChar char="•"/>
            </a:pPr>
            <a:r>
              <a:rPr lang="zh-CN" altLang="zh-CN" sz="2400" dirty="0" smtClean="0">
                <a:solidFill>
                  <a:schemeClr val="bg1"/>
                </a:solidFill>
              </a:rPr>
              <a:t>这类问题中每条边除了容量还有花费，建边时原边为原本花费，反向边为花费的负数。每条边的花费为使用流量乘以单位流量的花费，所有边的花费就是总花费。</a:t>
            </a:r>
            <a:endParaRPr lang="zh-CN" altLang="zh-CN" sz="2400" dirty="0" smtClean="0">
              <a:solidFill>
                <a:schemeClr val="bg1"/>
              </a:solidFill>
            </a:endParaRPr>
          </a:p>
          <a:p>
            <a:pPr marL="342900" indent="-342900" algn="l">
              <a:buFont typeface="Arial" panose="020B0604020202020204" pitchFamily="34" charset="0"/>
              <a:buChar char="•"/>
            </a:pPr>
            <a:r>
              <a:rPr lang="zh-CN" altLang="zh-CN" sz="2400" dirty="0" smtClean="0">
                <a:solidFill>
                  <a:schemeClr val="bg1"/>
                </a:solidFill>
              </a:rPr>
              <a:t>通过前面的最大流定理，我们知道只要不断地寻找增广路，就可以找到最大流。那么为了最小费用，我们只需在找增广路时，贪心找到单位流量费用最小的那条增广路即可。</a:t>
            </a:r>
            <a:endParaRPr lang="zh-CN" altLang="zh-CN" sz="2400" dirty="0" smtClean="0">
              <a:solidFill>
                <a:schemeClr val="bg1"/>
              </a:solidFill>
            </a:endParaRPr>
          </a:p>
        </p:txBody>
      </p:sp>
      <p:sp>
        <p:nvSpPr>
          <p:cNvPr id="3" name="文本框 2"/>
          <p:cNvSpPr txBox="1"/>
          <p:nvPr/>
        </p:nvSpPr>
        <p:spPr>
          <a:xfrm>
            <a:off x="622935" y="3359150"/>
            <a:ext cx="10714990" cy="1568450"/>
          </a:xfrm>
          <a:prstGeom prst="rect">
            <a:avLst/>
          </a:prstGeom>
          <a:noFill/>
        </p:spPr>
        <p:txBody>
          <a:bodyPr wrap="square" rtlCol="0">
            <a:spAutoFit/>
          </a:bodyPr>
          <a:p>
            <a:pPr marL="342900" indent="-342900" algn="l">
              <a:buFont typeface="Arial" panose="020B0604020202020204" pitchFamily="34" charset="0"/>
              <a:buChar char="•"/>
            </a:pPr>
            <a:r>
              <a:rPr lang="zh-CN" altLang="en-US" sz="2400" dirty="0" smtClean="0">
                <a:solidFill>
                  <a:schemeClr val="bg1"/>
                </a:solidFill>
              </a:rPr>
              <a:t>证明：</a:t>
            </a:r>
            <a:endParaRPr lang="zh-CN" altLang="en-US" sz="2400" dirty="0" smtClean="0">
              <a:solidFill>
                <a:schemeClr val="bg1"/>
              </a:solidFill>
            </a:endParaRPr>
          </a:p>
          <a:p>
            <a:pPr marL="800100" lvl="1" indent="-342900" algn="l">
              <a:buFont typeface="Arial" panose="020B0604020202020204" pitchFamily="34" charset="0"/>
              <a:buChar char="•"/>
            </a:pPr>
            <a:r>
              <a:rPr lang="zh-CN" altLang="en-US" sz="2400" dirty="0" smtClean="0">
                <a:solidFill>
                  <a:schemeClr val="bg1"/>
                </a:solidFill>
              </a:rPr>
              <a:t>每次寻找的增广路的单位最小费用一定是不下降的。</a:t>
            </a:r>
            <a:endParaRPr lang="zh-CN" altLang="en-US" sz="2400" dirty="0" smtClean="0">
              <a:solidFill>
                <a:schemeClr val="bg1"/>
              </a:solidFill>
            </a:endParaRPr>
          </a:p>
          <a:p>
            <a:pPr marL="800100" lvl="1" indent="-342900" algn="l">
              <a:buFont typeface="Arial" panose="020B0604020202020204" pitchFamily="34" charset="0"/>
              <a:buChar char="•"/>
            </a:pPr>
            <a:r>
              <a:rPr lang="zh-CN" altLang="en-US" sz="2400" dirty="0" smtClean="0">
                <a:solidFill>
                  <a:schemeClr val="bg1"/>
                </a:solidFill>
              </a:rPr>
              <a:t>寻找增广路的过程中不会出现负环。</a:t>
            </a:r>
            <a:endParaRPr lang="zh-CN" altLang="en-US" sz="2400" dirty="0" smtClean="0">
              <a:solidFill>
                <a:schemeClr val="bg1"/>
              </a:solidFill>
            </a:endParaRPr>
          </a:p>
          <a:p>
            <a:pPr marL="800100" lvl="1" indent="-342900" algn="l">
              <a:buFont typeface="Arial" panose="020B0604020202020204" pitchFamily="34" charset="0"/>
              <a:buChar char="•"/>
            </a:pPr>
            <a:r>
              <a:rPr lang="zh-CN" altLang="en-US" sz="2400" dirty="0" smtClean="0">
                <a:solidFill>
                  <a:schemeClr val="bg1"/>
                </a:solidFill>
              </a:rPr>
              <a:t>局部最优一定是整体最优</a:t>
            </a:r>
            <a:endParaRPr lang="zh-CN" altLang="en-US" sz="2400" dirty="0" smtClean="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197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622935" y="682625"/>
            <a:ext cx="10708640" cy="829945"/>
          </a:xfrm>
          <a:prstGeom prst="rect">
            <a:avLst/>
          </a:prstGeom>
          <a:noFill/>
        </p:spPr>
        <p:txBody>
          <a:bodyPr wrap="square" rtlCol="0">
            <a:spAutoFit/>
          </a:bodyPr>
          <a:p>
            <a:pPr marL="342900" indent="-342900" algn="l">
              <a:buFont typeface="Arial" panose="020B0604020202020204" pitchFamily="34" charset="0"/>
              <a:buChar char="•"/>
            </a:pPr>
            <a:r>
              <a:rPr lang="zh-CN" altLang="en-US" sz="2400" dirty="0" smtClean="0">
                <a:solidFill>
                  <a:schemeClr val="bg1"/>
                </a:solidFill>
              </a:rPr>
              <a:t>首先，若新找到的路径与上一次找到的增广路没有交叉，那么这次的花费一定大于等于上次的花费。</a:t>
            </a:r>
            <a:endParaRPr lang="zh-CN" altLang="en-US" sz="2400" dirty="0" smtClean="0">
              <a:solidFill>
                <a:schemeClr val="bg1"/>
              </a:solidFill>
            </a:endParaRPr>
          </a:p>
        </p:txBody>
      </p:sp>
      <p:pic>
        <p:nvPicPr>
          <p:cNvPr id="13" name="图片 12"/>
          <p:cNvPicPr>
            <a:picLocks noChangeAspect="1"/>
          </p:cNvPicPr>
          <p:nvPr/>
        </p:nvPicPr>
        <p:blipFill>
          <a:blip r:embed="rId1"/>
          <a:stretch>
            <a:fillRect/>
          </a:stretch>
        </p:blipFill>
        <p:spPr>
          <a:xfrm>
            <a:off x="1285240" y="1585595"/>
            <a:ext cx="1714500" cy="2409825"/>
          </a:xfrm>
          <a:prstGeom prst="rect">
            <a:avLst/>
          </a:prstGeom>
        </p:spPr>
      </p:pic>
      <p:sp>
        <p:nvSpPr>
          <p:cNvPr id="14" name="文本框 13"/>
          <p:cNvSpPr txBox="1"/>
          <p:nvPr/>
        </p:nvSpPr>
        <p:spPr>
          <a:xfrm>
            <a:off x="3406775" y="1692275"/>
            <a:ext cx="7924800" cy="2306955"/>
          </a:xfrm>
          <a:prstGeom prst="rect">
            <a:avLst/>
          </a:prstGeom>
          <a:noFill/>
        </p:spPr>
        <p:txBody>
          <a:bodyPr wrap="square" rtlCol="0">
            <a:spAutoFit/>
          </a:bodyPr>
          <a:p>
            <a:pPr marL="342900" indent="-342900" algn="l">
              <a:buFont typeface="Arial" panose="020B0604020202020204" pitchFamily="34" charset="0"/>
              <a:buChar char="•"/>
            </a:pPr>
            <a:r>
              <a:rPr lang="zh-CN" altLang="en-US" sz="2400" dirty="0" smtClean="0">
                <a:solidFill>
                  <a:schemeClr val="bg1"/>
                </a:solidFill>
              </a:rPr>
              <a:t>如果有路径交叉，图示为最简单的一种。</a:t>
            </a:r>
            <a:endParaRPr lang="zh-CN" altLang="en-US" sz="2400" dirty="0" smtClean="0">
              <a:solidFill>
                <a:schemeClr val="bg1"/>
              </a:solidFill>
            </a:endParaRPr>
          </a:p>
          <a:p>
            <a:pPr marL="342900" indent="-342900" algn="l">
              <a:buFont typeface="Arial" panose="020B0604020202020204" pitchFamily="34" charset="0"/>
              <a:buChar char="•"/>
            </a:pPr>
            <a:r>
              <a:rPr lang="zh-CN" altLang="en-US" sz="2400" dirty="0" smtClean="0">
                <a:solidFill>
                  <a:schemeClr val="bg1"/>
                </a:solidFill>
              </a:rPr>
              <a:t>上一次为红色路径，这一次为蓝色路径。                    所以</a:t>
            </a:r>
            <a:r>
              <a:rPr lang="en-US" altLang="zh-CN" sz="2400" dirty="0" smtClean="0">
                <a:solidFill>
                  <a:schemeClr val="bg1"/>
                </a:solidFill>
              </a:rPr>
              <a:t>(4+2+5)&lt;=(1+5)</a:t>
            </a:r>
            <a:r>
              <a:rPr lang="zh-CN" altLang="zh-CN" sz="2400" dirty="0" smtClean="0">
                <a:solidFill>
                  <a:schemeClr val="bg1"/>
                </a:solidFill>
              </a:rPr>
              <a:t>，即</a:t>
            </a:r>
            <a:r>
              <a:rPr lang="en-US" altLang="zh-CN" sz="2400" dirty="0" smtClean="0">
                <a:solidFill>
                  <a:schemeClr val="bg1"/>
                </a:solidFill>
              </a:rPr>
              <a:t>(4+2)&lt;=1</a:t>
            </a:r>
            <a:r>
              <a:rPr lang="zh-CN" altLang="zh-CN" sz="2400" dirty="0" smtClean="0">
                <a:solidFill>
                  <a:schemeClr val="bg1"/>
                </a:solidFill>
              </a:rPr>
              <a:t>。同理</a:t>
            </a:r>
            <a:r>
              <a:rPr lang="en-US" altLang="zh-CN" sz="2400" dirty="0" smtClean="0">
                <a:solidFill>
                  <a:schemeClr val="bg1"/>
                </a:solidFill>
              </a:rPr>
              <a:t>3&gt;=(2+5)</a:t>
            </a:r>
            <a:r>
              <a:rPr lang="zh-CN" altLang="zh-CN" sz="2400" dirty="0" smtClean="0">
                <a:solidFill>
                  <a:schemeClr val="bg1"/>
                </a:solidFill>
              </a:rPr>
              <a:t>。</a:t>
            </a:r>
            <a:endParaRPr lang="zh-CN" altLang="zh-CN" sz="2400" dirty="0" smtClean="0">
              <a:solidFill>
                <a:schemeClr val="bg1"/>
              </a:solidFill>
            </a:endParaRPr>
          </a:p>
          <a:p>
            <a:pPr marL="342900" indent="-342900" algn="l">
              <a:buFont typeface="Arial" panose="020B0604020202020204" pitchFamily="34" charset="0"/>
              <a:buChar char="•"/>
            </a:pPr>
            <a:r>
              <a:rPr lang="en-US" altLang="zh-CN" sz="2400" dirty="0" smtClean="0">
                <a:solidFill>
                  <a:schemeClr val="bg1"/>
                </a:solidFill>
              </a:rPr>
              <a:t>(4+2)&lt;=1      (1-2)&gt;=4      (3+1-2)&gt;=(4+2+5)</a:t>
            </a:r>
            <a:endParaRPr lang="en-US" altLang="zh-CN" sz="2400" dirty="0" smtClean="0">
              <a:solidFill>
                <a:schemeClr val="bg1"/>
              </a:solidFill>
            </a:endParaRPr>
          </a:p>
          <a:p>
            <a:pPr marL="342900" indent="-342900" algn="l">
              <a:buFont typeface="Arial" panose="020B0604020202020204" pitchFamily="34" charset="0"/>
              <a:buChar char="•"/>
            </a:pPr>
            <a:r>
              <a:rPr lang="zh-CN" altLang="zh-CN" sz="2400" dirty="0" smtClean="0">
                <a:solidFill>
                  <a:schemeClr val="bg1"/>
                </a:solidFill>
              </a:rPr>
              <a:t>所以，后来找到路径花费一定大于前面找的的路径。</a:t>
            </a:r>
            <a:endParaRPr lang="zh-CN" altLang="zh-CN" sz="2400" dirty="0" smtClean="0">
              <a:solidFill>
                <a:schemeClr val="bg1"/>
              </a:solidFill>
            </a:endParaRPr>
          </a:p>
          <a:p>
            <a:pPr marL="342900" indent="-342900" algn="l">
              <a:buFont typeface="Arial" panose="020B0604020202020204" pitchFamily="34" charset="0"/>
              <a:buChar char="•"/>
            </a:pPr>
            <a:endParaRPr lang="zh-CN" altLang="en-US" sz="2400" dirty="0" smtClean="0">
              <a:solidFill>
                <a:schemeClr val="bg1"/>
              </a:solidFill>
            </a:endParaRPr>
          </a:p>
        </p:txBody>
      </p:sp>
      <p:graphicFrame>
        <p:nvGraphicFramePr>
          <p:cNvPr id="16" name="对象 15">
            <a:hlinkClick r:id="" action="ppaction://ole?verb="/>
          </p:cNvPr>
          <p:cNvGraphicFramePr>
            <a:graphicFrameLocks noChangeAspect="1"/>
          </p:cNvGraphicFramePr>
          <p:nvPr/>
        </p:nvGraphicFramePr>
        <p:xfrm>
          <a:off x="5177155" y="2870835"/>
          <a:ext cx="480060" cy="335280"/>
        </p:xfrm>
        <a:graphic>
          <a:graphicData uri="http://schemas.openxmlformats.org/presentationml/2006/ole">
            <mc:AlternateContent xmlns:mc="http://schemas.openxmlformats.org/markup-compatibility/2006">
              <mc:Choice xmlns:v="urn:schemas-microsoft-com:vml" Requires="v">
                <p:oleObj spid="_x0000_s1026" name="" r:id="rId2" imgW="190500" imgH="152400" progId="Equation.KSEE3">
                  <p:embed/>
                </p:oleObj>
              </mc:Choice>
              <mc:Fallback>
                <p:oleObj name="" r:id="rId2" imgW="190500" imgH="152400" progId="Equation.KSEE3">
                  <p:embed/>
                  <p:pic>
                    <p:nvPicPr>
                      <p:cNvPr id="0" name="图片 1025"/>
                      <p:cNvPicPr/>
                      <p:nvPr/>
                    </p:nvPicPr>
                    <p:blipFill>
                      <a:blip r:embed="rId3"/>
                      <a:stretch>
                        <a:fillRect/>
                      </a:stretch>
                    </p:blipFill>
                    <p:spPr>
                      <a:xfrm>
                        <a:off x="5177155" y="2870835"/>
                        <a:ext cx="480060" cy="33528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6868160" y="2870835"/>
          <a:ext cx="480060" cy="335280"/>
        </p:xfrm>
        <a:graphic>
          <a:graphicData uri="http://schemas.openxmlformats.org/presentationml/2006/ole">
            <mc:AlternateContent xmlns:mc="http://schemas.openxmlformats.org/markup-compatibility/2006">
              <mc:Choice xmlns:v="urn:schemas-microsoft-com:vml" Requires="v">
                <p:oleObj spid="_x0000_s2" name="" r:id="rId4" imgW="190500" imgH="152400" progId="Equation.KSEE3">
                  <p:embed/>
                </p:oleObj>
              </mc:Choice>
              <mc:Fallback>
                <p:oleObj name="" r:id="rId4" imgW="190500" imgH="152400" progId="Equation.KSEE3">
                  <p:embed/>
                  <p:pic>
                    <p:nvPicPr>
                      <p:cNvPr id="0" name="图片 1025"/>
                      <p:cNvPicPr/>
                      <p:nvPr/>
                    </p:nvPicPr>
                    <p:blipFill>
                      <a:blip r:embed="rId3"/>
                      <a:stretch>
                        <a:fillRect/>
                      </a:stretch>
                    </p:blipFill>
                    <p:spPr>
                      <a:xfrm>
                        <a:off x="6868160" y="2870835"/>
                        <a:ext cx="480060" cy="335280"/>
                      </a:xfrm>
                      <a:prstGeom prst="rect">
                        <a:avLst/>
                      </a:prstGeom>
                    </p:spPr>
                  </p:pic>
                </p:oleObj>
              </mc:Fallback>
            </mc:AlternateContent>
          </a:graphicData>
        </a:graphic>
      </p:graphicFrame>
      <p:sp>
        <p:nvSpPr>
          <p:cNvPr id="20" name=" 20"/>
          <p:cNvSpPr/>
          <p:nvPr/>
        </p:nvSpPr>
        <p:spPr>
          <a:xfrm>
            <a:off x="1814195" y="4114800"/>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1</a:t>
            </a:r>
            <a:endParaRPr lang="en-US" altLang="zh-CN">
              <a:solidFill>
                <a:srgbClr val="FFFFFF"/>
              </a:solidFill>
            </a:endParaRPr>
          </a:p>
        </p:txBody>
      </p:sp>
      <p:sp>
        <p:nvSpPr>
          <p:cNvPr id="21" name=" 20"/>
          <p:cNvSpPr/>
          <p:nvPr/>
        </p:nvSpPr>
        <p:spPr>
          <a:xfrm>
            <a:off x="2219325" y="5623560"/>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4</a:t>
            </a:r>
            <a:endParaRPr lang="en-US" altLang="zh-CN">
              <a:solidFill>
                <a:srgbClr val="FFFFFF"/>
              </a:solidFill>
            </a:endParaRPr>
          </a:p>
        </p:txBody>
      </p:sp>
      <p:sp>
        <p:nvSpPr>
          <p:cNvPr id="22" name=" 20"/>
          <p:cNvSpPr/>
          <p:nvPr/>
        </p:nvSpPr>
        <p:spPr>
          <a:xfrm>
            <a:off x="1367790" y="5623560"/>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3</a:t>
            </a:r>
            <a:endParaRPr lang="en-US" altLang="zh-CN">
              <a:solidFill>
                <a:srgbClr val="FFFFFF"/>
              </a:solidFill>
            </a:endParaRPr>
          </a:p>
        </p:txBody>
      </p:sp>
      <p:sp>
        <p:nvSpPr>
          <p:cNvPr id="24" name=" 20"/>
          <p:cNvSpPr/>
          <p:nvPr/>
        </p:nvSpPr>
        <p:spPr>
          <a:xfrm>
            <a:off x="2653030" y="4745990"/>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5</a:t>
            </a:r>
            <a:endParaRPr lang="en-US" altLang="zh-CN">
              <a:solidFill>
                <a:srgbClr val="FFFFFF"/>
              </a:solidFill>
            </a:endParaRPr>
          </a:p>
        </p:txBody>
      </p:sp>
      <p:sp>
        <p:nvSpPr>
          <p:cNvPr id="25" name=" 20"/>
          <p:cNvSpPr/>
          <p:nvPr/>
        </p:nvSpPr>
        <p:spPr>
          <a:xfrm>
            <a:off x="1021080" y="4745990"/>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2</a:t>
            </a:r>
            <a:endParaRPr lang="en-US" altLang="zh-CN">
              <a:solidFill>
                <a:srgbClr val="FFFFFF"/>
              </a:solidFill>
            </a:endParaRPr>
          </a:p>
        </p:txBody>
      </p:sp>
      <p:cxnSp>
        <p:nvCxnSpPr>
          <p:cNvPr id="26" name="直接箭头连接符 25"/>
          <p:cNvCxnSpPr/>
          <p:nvPr/>
        </p:nvCxnSpPr>
        <p:spPr>
          <a:xfrm flipH="1">
            <a:off x="1285240" y="4347210"/>
            <a:ext cx="528955" cy="477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1217295" y="5022850"/>
            <a:ext cx="255905" cy="6007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1638935" y="5792470"/>
            <a:ext cx="561340" cy="2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2425065" y="5069205"/>
            <a:ext cx="335280" cy="5543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H="1" flipV="1">
            <a:off x="2160905" y="4347210"/>
            <a:ext cx="560070" cy="5499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3406775" y="3999230"/>
            <a:ext cx="7924800" cy="829945"/>
          </a:xfrm>
          <a:prstGeom prst="rect">
            <a:avLst/>
          </a:prstGeom>
          <a:noFill/>
        </p:spPr>
        <p:txBody>
          <a:bodyPr wrap="square" rtlCol="0">
            <a:spAutoFit/>
          </a:bodyPr>
          <a:p>
            <a:pPr marL="342900" indent="-342900" algn="l">
              <a:buFont typeface="Arial" panose="020B0604020202020204" pitchFamily="34" charset="0"/>
              <a:buChar char="•"/>
            </a:pPr>
            <a:r>
              <a:rPr lang="zh-CN" altLang="zh-CN" sz="2400" dirty="0" smtClean="0">
                <a:solidFill>
                  <a:schemeClr val="bg1"/>
                </a:solidFill>
              </a:rPr>
              <a:t>若出现负环，则一定是上次更改残余网络时，变换了环上的一系列连续或不连续的边的方向。</a:t>
            </a:r>
            <a:endParaRPr lang="zh-CN" altLang="zh-CN" sz="2400" dirty="0" smtClean="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197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0" name=" 20"/>
          <p:cNvSpPr/>
          <p:nvPr/>
        </p:nvSpPr>
        <p:spPr>
          <a:xfrm>
            <a:off x="1717675" y="958215"/>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1</a:t>
            </a:r>
            <a:endParaRPr lang="en-US" altLang="zh-CN">
              <a:solidFill>
                <a:srgbClr val="FFFFFF"/>
              </a:solidFill>
            </a:endParaRPr>
          </a:p>
        </p:txBody>
      </p:sp>
      <p:sp>
        <p:nvSpPr>
          <p:cNvPr id="21" name=" 20"/>
          <p:cNvSpPr/>
          <p:nvPr/>
        </p:nvSpPr>
        <p:spPr>
          <a:xfrm>
            <a:off x="2122805" y="2466975"/>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4</a:t>
            </a:r>
            <a:endParaRPr lang="en-US" altLang="zh-CN">
              <a:solidFill>
                <a:srgbClr val="FFFFFF"/>
              </a:solidFill>
            </a:endParaRPr>
          </a:p>
        </p:txBody>
      </p:sp>
      <p:sp>
        <p:nvSpPr>
          <p:cNvPr id="22" name=" 20"/>
          <p:cNvSpPr/>
          <p:nvPr/>
        </p:nvSpPr>
        <p:spPr>
          <a:xfrm>
            <a:off x="1271270" y="2466975"/>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3</a:t>
            </a:r>
            <a:endParaRPr lang="en-US" altLang="zh-CN">
              <a:solidFill>
                <a:srgbClr val="FFFFFF"/>
              </a:solidFill>
            </a:endParaRPr>
          </a:p>
        </p:txBody>
      </p:sp>
      <p:sp>
        <p:nvSpPr>
          <p:cNvPr id="24" name=" 20"/>
          <p:cNvSpPr/>
          <p:nvPr/>
        </p:nvSpPr>
        <p:spPr>
          <a:xfrm>
            <a:off x="2556510" y="1589405"/>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5</a:t>
            </a:r>
            <a:endParaRPr lang="en-US" altLang="zh-CN">
              <a:solidFill>
                <a:srgbClr val="FFFFFF"/>
              </a:solidFill>
            </a:endParaRPr>
          </a:p>
        </p:txBody>
      </p:sp>
      <p:sp>
        <p:nvSpPr>
          <p:cNvPr id="25" name=" 20"/>
          <p:cNvSpPr/>
          <p:nvPr/>
        </p:nvSpPr>
        <p:spPr>
          <a:xfrm>
            <a:off x="924560" y="1589405"/>
            <a:ext cx="346710" cy="3384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2</a:t>
            </a:r>
            <a:endParaRPr lang="en-US" altLang="zh-CN">
              <a:solidFill>
                <a:srgbClr val="FFFFFF"/>
              </a:solidFill>
            </a:endParaRPr>
          </a:p>
        </p:txBody>
      </p:sp>
      <p:cxnSp>
        <p:nvCxnSpPr>
          <p:cNvPr id="26" name="直接箭头连接符 25"/>
          <p:cNvCxnSpPr/>
          <p:nvPr/>
        </p:nvCxnSpPr>
        <p:spPr>
          <a:xfrm flipH="1">
            <a:off x="1188720" y="1190625"/>
            <a:ext cx="528955" cy="477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1120775" y="1866265"/>
            <a:ext cx="255905" cy="6007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1542415" y="2635885"/>
            <a:ext cx="561340" cy="2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2328545" y="1912620"/>
            <a:ext cx="335280" cy="5543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20" idx="5"/>
          </p:cNvCxnSpPr>
          <p:nvPr/>
        </p:nvCxnSpPr>
        <p:spPr>
          <a:xfrm flipH="1" flipV="1">
            <a:off x="2013585" y="1247140"/>
            <a:ext cx="505460" cy="3968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3397250" y="838200"/>
            <a:ext cx="7924800" cy="2306955"/>
          </a:xfrm>
          <a:prstGeom prst="rect">
            <a:avLst/>
          </a:prstGeom>
          <a:noFill/>
        </p:spPr>
        <p:txBody>
          <a:bodyPr wrap="square" rtlCol="0">
            <a:spAutoFit/>
          </a:bodyPr>
          <a:p>
            <a:pPr marL="342900" indent="-342900" algn="l">
              <a:buFont typeface="Arial" panose="020B0604020202020204" pitchFamily="34" charset="0"/>
              <a:buChar char="•"/>
            </a:pPr>
            <a:r>
              <a:rPr lang="zh-CN" altLang="zh-CN" sz="2400" dirty="0" smtClean="0">
                <a:solidFill>
                  <a:schemeClr val="bg1"/>
                </a:solidFill>
              </a:rPr>
              <a:t>先看变了一系列连续的边的情况。</a:t>
            </a:r>
            <a:endParaRPr lang="zh-CN" altLang="zh-CN" sz="2400" dirty="0" smtClean="0">
              <a:solidFill>
                <a:schemeClr val="bg1"/>
              </a:solidFill>
            </a:endParaRPr>
          </a:p>
          <a:p>
            <a:pPr marL="342900" indent="-342900" algn="l">
              <a:buFont typeface="Arial" panose="020B0604020202020204" pitchFamily="34" charset="0"/>
              <a:buChar char="•"/>
            </a:pPr>
            <a:r>
              <a:rPr lang="zh-CN" altLang="zh-CN" sz="2400" dirty="0" smtClean="0">
                <a:solidFill>
                  <a:schemeClr val="bg1"/>
                </a:solidFill>
              </a:rPr>
              <a:t>蓝色为上一次的流，改变后出现了（</a:t>
            </a:r>
            <a:r>
              <a:rPr lang="en-US" altLang="zh-CN" sz="2400" dirty="0" smtClean="0">
                <a:solidFill>
                  <a:schemeClr val="bg1"/>
                </a:solidFill>
              </a:rPr>
              <a:t>1,2,3,4,5</a:t>
            </a:r>
            <a:r>
              <a:rPr lang="zh-CN" altLang="zh-CN" sz="2400" dirty="0" smtClean="0">
                <a:solidFill>
                  <a:schemeClr val="bg1"/>
                </a:solidFill>
              </a:rPr>
              <a:t>）负环。</a:t>
            </a:r>
            <a:endParaRPr lang="zh-CN" altLang="zh-CN" sz="2400" dirty="0" smtClean="0">
              <a:solidFill>
                <a:schemeClr val="bg1"/>
              </a:solidFill>
            </a:endParaRPr>
          </a:p>
          <a:p>
            <a:pPr marL="342900" indent="-342900" algn="l">
              <a:buFont typeface="Arial" panose="020B0604020202020204" pitchFamily="34" charset="0"/>
              <a:buChar char="•"/>
            </a:pPr>
            <a:r>
              <a:rPr lang="en-US" altLang="zh-CN" sz="2400" dirty="0" smtClean="0">
                <a:solidFill>
                  <a:schemeClr val="bg1"/>
                </a:solidFill>
              </a:rPr>
              <a:t>a+b+c-e-d&lt;0, a+b+c&lt;e+d,</a:t>
            </a:r>
            <a:r>
              <a:rPr lang="zh-CN" altLang="en-US" sz="2400" dirty="0" smtClean="0">
                <a:solidFill>
                  <a:schemeClr val="bg1"/>
                </a:solidFill>
              </a:rPr>
              <a:t>也就是上一次找最小花费的时候，应走（</a:t>
            </a:r>
            <a:r>
              <a:rPr lang="en-US" altLang="zh-CN" sz="2400" dirty="0" smtClean="0">
                <a:solidFill>
                  <a:schemeClr val="bg1"/>
                </a:solidFill>
              </a:rPr>
              <a:t>5,1,2,3</a:t>
            </a:r>
            <a:r>
              <a:rPr lang="zh-CN" altLang="en-US" sz="2400" dirty="0" smtClean="0">
                <a:solidFill>
                  <a:schemeClr val="bg1"/>
                </a:solidFill>
              </a:rPr>
              <a:t>），而不是（</a:t>
            </a:r>
            <a:r>
              <a:rPr lang="en-US" altLang="zh-CN" sz="2400" dirty="0" smtClean="0">
                <a:solidFill>
                  <a:schemeClr val="bg1"/>
                </a:solidFill>
              </a:rPr>
              <a:t>5,4,3</a:t>
            </a:r>
            <a:r>
              <a:rPr lang="zh-CN" altLang="en-US" sz="2400" dirty="0" smtClean="0">
                <a:solidFill>
                  <a:schemeClr val="bg1"/>
                </a:solidFill>
              </a:rPr>
              <a:t>），出现矛盾。所以不会出现这种负环。</a:t>
            </a:r>
            <a:endParaRPr lang="zh-CN" altLang="en-US" sz="2400" dirty="0" smtClean="0">
              <a:solidFill>
                <a:schemeClr val="bg1"/>
              </a:solidFill>
            </a:endParaRPr>
          </a:p>
          <a:p>
            <a:pPr marL="342900" indent="-342900" algn="l">
              <a:buFont typeface="Arial" panose="020B0604020202020204" pitchFamily="34" charset="0"/>
              <a:buChar char="•"/>
            </a:pPr>
            <a:endParaRPr lang="zh-CN" altLang="zh-CN" sz="2400" dirty="0" smtClean="0">
              <a:solidFill>
                <a:schemeClr val="bg1"/>
              </a:solidFill>
            </a:endParaRPr>
          </a:p>
        </p:txBody>
      </p:sp>
      <p:cxnSp>
        <p:nvCxnSpPr>
          <p:cNvPr id="3" name="直接箭头连接符 2"/>
          <p:cNvCxnSpPr/>
          <p:nvPr/>
        </p:nvCxnSpPr>
        <p:spPr>
          <a:xfrm flipH="1">
            <a:off x="2921000" y="1367790"/>
            <a:ext cx="476250" cy="30035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H="1">
            <a:off x="2469515" y="1927860"/>
            <a:ext cx="339090" cy="59245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a:off x="1522730" y="2715895"/>
            <a:ext cx="581025" cy="317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a:off x="1119505" y="2805430"/>
            <a:ext cx="216535" cy="344170"/>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188720" y="1090295"/>
            <a:ext cx="221615" cy="368300"/>
          </a:xfrm>
          <a:prstGeom prst="rect">
            <a:avLst/>
          </a:prstGeom>
          <a:noFill/>
        </p:spPr>
        <p:txBody>
          <a:bodyPr wrap="square" rtlCol="0">
            <a:spAutoFit/>
          </a:bodyPr>
          <a:p>
            <a:pPr algn="l"/>
            <a:r>
              <a:rPr lang="en-US" altLang="zh-CN" dirty="0" smtClean="0">
                <a:solidFill>
                  <a:schemeClr val="bg1"/>
                </a:solidFill>
              </a:rPr>
              <a:t>a</a:t>
            </a:r>
            <a:endParaRPr lang="en-US" altLang="zh-CN" dirty="0" smtClean="0">
              <a:solidFill>
                <a:schemeClr val="bg1"/>
              </a:solidFill>
            </a:endParaRPr>
          </a:p>
        </p:txBody>
      </p:sp>
      <p:sp>
        <p:nvSpPr>
          <p:cNvPr id="10" name="文本框 9"/>
          <p:cNvSpPr txBox="1"/>
          <p:nvPr/>
        </p:nvSpPr>
        <p:spPr>
          <a:xfrm>
            <a:off x="2247900" y="1090295"/>
            <a:ext cx="221615" cy="368300"/>
          </a:xfrm>
          <a:prstGeom prst="rect">
            <a:avLst/>
          </a:prstGeom>
          <a:noFill/>
        </p:spPr>
        <p:txBody>
          <a:bodyPr wrap="square" rtlCol="0">
            <a:spAutoFit/>
          </a:bodyPr>
          <a:p>
            <a:pPr algn="l"/>
            <a:r>
              <a:rPr lang="en-US" altLang="zh-CN" dirty="0" smtClean="0">
                <a:solidFill>
                  <a:schemeClr val="bg1"/>
                </a:solidFill>
              </a:rPr>
              <a:t>b</a:t>
            </a:r>
            <a:endParaRPr lang="en-US" altLang="zh-CN" dirty="0" smtClean="0">
              <a:solidFill>
                <a:schemeClr val="bg1"/>
              </a:solidFill>
            </a:endParaRPr>
          </a:p>
        </p:txBody>
      </p:sp>
      <p:sp>
        <p:nvSpPr>
          <p:cNvPr id="11" name="文本框 10"/>
          <p:cNvSpPr txBox="1"/>
          <p:nvPr/>
        </p:nvSpPr>
        <p:spPr>
          <a:xfrm>
            <a:off x="1233170" y="1927860"/>
            <a:ext cx="221615" cy="368300"/>
          </a:xfrm>
          <a:prstGeom prst="rect">
            <a:avLst/>
          </a:prstGeom>
          <a:noFill/>
        </p:spPr>
        <p:txBody>
          <a:bodyPr wrap="square" rtlCol="0">
            <a:spAutoFit/>
          </a:bodyPr>
          <a:p>
            <a:pPr algn="l"/>
            <a:r>
              <a:rPr lang="en-US" altLang="zh-CN" dirty="0" smtClean="0">
                <a:solidFill>
                  <a:schemeClr val="bg1"/>
                </a:solidFill>
              </a:rPr>
              <a:t>c</a:t>
            </a:r>
            <a:endParaRPr lang="en-US" altLang="zh-CN" dirty="0" smtClean="0">
              <a:solidFill>
                <a:schemeClr val="bg1"/>
              </a:solidFill>
            </a:endParaRPr>
          </a:p>
        </p:txBody>
      </p:sp>
      <p:sp>
        <p:nvSpPr>
          <p:cNvPr id="12" name="文本框 11"/>
          <p:cNvSpPr txBox="1"/>
          <p:nvPr/>
        </p:nvSpPr>
        <p:spPr>
          <a:xfrm>
            <a:off x="2247900" y="1927860"/>
            <a:ext cx="221615" cy="368300"/>
          </a:xfrm>
          <a:prstGeom prst="rect">
            <a:avLst/>
          </a:prstGeom>
          <a:noFill/>
        </p:spPr>
        <p:txBody>
          <a:bodyPr wrap="square" rtlCol="0">
            <a:spAutoFit/>
          </a:bodyPr>
          <a:p>
            <a:pPr algn="l"/>
            <a:r>
              <a:rPr lang="en-US" altLang="zh-CN" dirty="0" smtClean="0">
                <a:solidFill>
                  <a:schemeClr val="bg1"/>
                </a:solidFill>
              </a:rPr>
              <a:t>d</a:t>
            </a:r>
            <a:endParaRPr lang="en-US" altLang="zh-CN" dirty="0" smtClean="0">
              <a:solidFill>
                <a:schemeClr val="bg1"/>
              </a:solidFill>
            </a:endParaRPr>
          </a:p>
        </p:txBody>
      </p:sp>
      <p:sp>
        <p:nvSpPr>
          <p:cNvPr id="15" name="文本框 14"/>
          <p:cNvSpPr txBox="1"/>
          <p:nvPr/>
        </p:nvSpPr>
        <p:spPr>
          <a:xfrm>
            <a:off x="1717675" y="2267585"/>
            <a:ext cx="221615" cy="368300"/>
          </a:xfrm>
          <a:prstGeom prst="rect">
            <a:avLst/>
          </a:prstGeom>
          <a:noFill/>
        </p:spPr>
        <p:txBody>
          <a:bodyPr wrap="square" rtlCol="0">
            <a:spAutoFit/>
          </a:bodyPr>
          <a:p>
            <a:pPr algn="l"/>
            <a:r>
              <a:rPr lang="en-US" altLang="zh-CN" dirty="0" smtClean="0">
                <a:solidFill>
                  <a:schemeClr val="bg1"/>
                </a:solidFill>
              </a:rPr>
              <a:t>e</a:t>
            </a:r>
            <a:endParaRPr lang="en-US" altLang="zh-CN" dirty="0" smtClean="0">
              <a:solidFill>
                <a:schemeClr val="bg1"/>
              </a:solidFill>
            </a:endParaRPr>
          </a:p>
        </p:txBody>
      </p:sp>
      <p:pic>
        <p:nvPicPr>
          <p:cNvPr id="50" name="图片 49"/>
          <p:cNvPicPr>
            <a:picLocks noChangeAspect="1"/>
          </p:cNvPicPr>
          <p:nvPr/>
        </p:nvPicPr>
        <p:blipFill>
          <a:blip r:embed="rId1"/>
          <a:stretch>
            <a:fillRect/>
          </a:stretch>
        </p:blipFill>
        <p:spPr>
          <a:xfrm>
            <a:off x="622935" y="3738880"/>
            <a:ext cx="3066415" cy="2952115"/>
          </a:xfrm>
          <a:prstGeom prst="rect">
            <a:avLst/>
          </a:prstGeom>
        </p:spPr>
      </p:pic>
      <p:sp>
        <p:nvSpPr>
          <p:cNvPr id="51" name="文本框 50"/>
          <p:cNvSpPr txBox="1"/>
          <p:nvPr/>
        </p:nvSpPr>
        <p:spPr>
          <a:xfrm>
            <a:off x="3472815" y="3275965"/>
            <a:ext cx="7849235" cy="3415030"/>
          </a:xfrm>
          <a:prstGeom prst="rect">
            <a:avLst/>
          </a:prstGeom>
          <a:noFill/>
        </p:spPr>
        <p:txBody>
          <a:bodyPr wrap="square" rtlCol="0">
            <a:spAutoFit/>
          </a:bodyPr>
          <a:p>
            <a:pPr marL="342900" indent="-342900" algn="l">
              <a:buFont typeface="Arial" panose="020B0604020202020204" pitchFamily="34" charset="0"/>
              <a:buChar char="•"/>
            </a:pPr>
            <a:r>
              <a:rPr lang="zh-CN" altLang="en-US" sz="2400" dirty="0" smtClean="0">
                <a:solidFill>
                  <a:schemeClr val="bg1"/>
                </a:solidFill>
              </a:rPr>
              <a:t>改变的边不连续时。</a:t>
            </a:r>
            <a:endParaRPr lang="zh-CN" altLang="en-US" sz="2400" dirty="0" smtClean="0">
              <a:solidFill>
                <a:schemeClr val="bg1"/>
              </a:solidFill>
            </a:endParaRPr>
          </a:p>
          <a:p>
            <a:pPr marL="342900" indent="-342900" algn="l">
              <a:buFont typeface="Arial" panose="020B0604020202020204" pitchFamily="34" charset="0"/>
              <a:buChar char="•"/>
            </a:pPr>
            <a:r>
              <a:rPr lang="en-US" altLang="zh-CN" sz="2400" dirty="0" smtClean="0">
                <a:solidFill>
                  <a:schemeClr val="bg1"/>
                </a:solidFill>
              </a:rPr>
              <a:t>c+e+b-a-d&lt;0, c+e+b&lt;a+d, b&lt;(a+d)-(c+e)</a:t>
            </a:r>
            <a:endParaRPr lang="en-US" altLang="zh-CN" sz="2400" dirty="0" smtClean="0">
              <a:solidFill>
                <a:schemeClr val="bg1"/>
              </a:solidFill>
            </a:endParaRPr>
          </a:p>
          <a:p>
            <a:pPr marL="342900" indent="-342900" algn="l">
              <a:buFont typeface="Arial" panose="020B0604020202020204" pitchFamily="34" charset="0"/>
              <a:buChar char="•"/>
            </a:pPr>
            <a:r>
              <a:rPr lang="en-US" altLang="zh-CN" sz="2400" dirty="0" smtClean="0">
                <a:solidFill>
                  <a:schemeClr val="bg1"/>
                </a:solidFill>
              </a:rPr>
              <a:t>a+f+d&lt;c+e, f&lt;(c+e)-(a+d)</a:t>
            </a:r>
            <a:endParaRPr lang="en-US" altLang="zh-CN" sz="2400" dirty="0" smtClean="0">
              <a:solidFill>
                <a:schemeClr val="bg1"/>
              </a:solidFill>
            </a:endParaRPr>
          </a:p>
          <a:p>
            <a:pPr marL="342900" indent="-342900" algn="l">
              <a:buFont typeface="Arial" panose="020B0604020202020204" pitchFamily="34" charset="0"/>
              <a:buChar char="•"/>
            </a:pPr>
            <a:r>
              <a:rPr lang="zh-CN" altLang="zh-CN" sz="2400" dirty="0" smtClean="0">
                <a:solidFill>
                  <a:schemeClr val="bg1"/>
                </a:solidFill>
              </a:rPr>
              <a:t>所以上面两式相加得</a:t>
            </a:r>
            <a:r>
              <a:rPr lang="en-US" altLang="zh-CN" sz="2400" dirty="0" smtClean="0">
                <a:solidFill>
                  <a:schemeClr val="bg1"/>
                </a:solidFill>
              </a:rPr>
              <a:t>f+b&lt;0</a:t>
            </a:r>
            <a:r>
              <a:rPr lang="zh-CN" altLang="zh-CN" sz="2400" dirty="0" smtClean="0">
                <a:solidFill>
                  <a:schemeClr val="bg1"/>
                </a:solidFill>
              </a:rPr>
              <a:t>，</a:t>
            </a:r>
            <a:r>
              <a:rPr lang="en-US" altLang="zh-CN" sz="2400" dirty="0" smtClean="0">
                <a:solidFill>
                  <a:schemeClr val="bg1"/>
                </a:solidFill>
              </a:rPr>
              <a:t>1,5</a:t>
            </a:r>
            <a:r>
              <a:rPr lang="zh-CN" altLang="en-US" sz="2400" dirty="0" smtClean="0">
                <a:solidFill>
                  <a:schemeClr val="bg1"/>
                </a:solidFill>
              </a:rPr>
              <a:t>和中间的一系列点构成了另一个负环。</a:t>
            </a:r>
            <a:endParaRPr lang="zh-CN" altLang="en-US" sz="2400" dirty="0" smtClean="0">
              <a:solidFill>
                <a:schemeClr val="bg1"/>
              </a:solidFill>
            </a:endParaRPr>
          </a:p>
          <a:p>
            <a:pPr marL="342900" indent="-342900" algn="l">
              <a:buFont typeface="Arial" panose="020B0604020202020204" pitchFamily="34" charset="0"/>
              <a:buChar char="•"/>
            </a:pPr>
            <a:r>
              <a:rPr lang="zh-CN" altLang="en-US" sz="2400" dirty="0" smtClean="0">
                <a:solidFill>
                  <a:schemeClr val="bg1"/>
                </a:solidFill>
              </a:rPr>
              <a:t>也就是说改变一系列不连续的边产生负环的前提是已有至少一个负环。如果那个负环是由第二种情况产生的接着向前推，否则是由第一种情况产生的，上面已证明不可能存在。所以不可能出现负环。</a:t>
            </a:r>
            <a:endParaRPr lang="zh-CN" altLang="en-US" sz="2400" dirty="0" smtClean="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197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35" y="682625"/>
            <a:ext cx="10723880" cy="829945"/>
          </a:xfrm>
          <a:prstGeom prst="rect">
            <a:avLst/>
          </a:prstGeom>
          <a:noFill/>
        </p:spPr>
        <p:txBody>
          <a:bodyPr wrap="square" rtlCol="0">
            <a:spAutoFit/>
          </a:bodyPr>
          <a:p>
            <a:pPr marL="342900" indent="-342900" algn="l">
              <a:buFont typeface="Arial" panose="020B0604020202020204" pitchFamily="34" charset="0"/>
              <a:buChar char="•"/>
            </a:pPr>
            <a:r>
              <a:rPr lang="zh-CN" altLang="en-US" sz="2400" dirty="0" smtClean="0">
                <a:solidFill>
                  <a:schemeClr val="bg1"/>
                </a:solidFill>
              </a:rPr>
              <a:t>有了上面两个证明不用担心找最小花费陷入死循环后，就可以来证明为什么这样贪心是最优的了。</a:t>
            </a:r>
            <a:endParaRPr lang="zh-CN" altLang="en-US" sz="2400" dirty="0" smtClean="0">
              <a:solidFill>
                <a:schemeClr val="bg1"/>
              </a:solidFill>
            </a:endParaRPr>
          </a:p>
        </p:txBody>
      </p:sp>
      <p:sp>
        <p:nvSpPr>
          <p:cNvPr id="5" name="文本框 4"/>
          <p:cNvSpPr txBox="1"/>
          <p:nvPr/>
        </p:nvSpPr>
        <p:spPr>
          <a:xfrm>
            <a:off x="622935" y="1512570"/>
            <a:ext cx="10723880" cy="1568450"/>
          </a:xfrm>
          <a:prstGeom prst="rect">
            <a:avLst/>
          </a:prstGeom>
          <a:noFill/>
        </p:spPr>
        <p:txBody>
          <a:bodyPr wrap="square" rtlCol="0">
            <a:spAutoFit/>
          </a:bodyPr>
          <a:p>
            <a:pPr marL="342900" indent="-342900" algn="l">
              <a:buFont typeface="Arial" panose="020B0604020202020204" pitchFamily="34" charset="0"/>
              <a:buChar char="•"/>
            </a:pPr>
            <a:r>
              <a:rPr lang="zh-CN" altLang="en-US" sz="2400" dirty="0" smtClean="0">
                <a:solidFill>
                  <a:schemeClr val="bg1"/>
                </a:solidFill>
              </a:rPr>
              <a:t>先不用贪心，而是用</a:t>
            </a:r>
            <a:r>
              <a:rPr lang="en-US" altLang="zh-CN" sz="2400" dirty="0" smtClean="0">
                <a:solidFill>
                  <a:schemeClr val="bg1"/>
                </a:solidFill>
              </a:rPr>
              <a:t>dp</a:t>
            </a:r>
            <a:r>
              <a:rPr lang="zh-CN" altLang="en-US" sz="2400" dirty="0" smtClean="0">
                <a:solidFill>
                  <a:schemeClr val="bg1"/>
                </a:solidFill>
              </a:rPr>
              <a:t>来求解。</a:t>
            </a:r>
            <a:r>
              <a:rPr lang="en-US" altLang="zh-CN" sz="2400" dirty="0" smtClean="0">
                <a:solidFill>
                  <a:schemeClr val="bg1"/>
                </a:solidFill>
              </a:rPr>
              <a:t>						   </a:t>
            </a:r>
            <a:r>
              <a:rPr lang="zh-CN" altLang="en-US" sz="2400" dirty="0" smtClean="0">
                <a:solidFill>
                  <a:schemeClr val="bg1"/>
                </a:solidFill>
              </a:rPr>
              <a:t>设</a:t>
            </a:r>
            <a:r>
              <a:rPr lang="en-US" altLang="zh-CN" sz="2400" dirty="0" smtClean="0">
                <a:solidFill>
                  <a:schemeClr val="bg1"/>
                </a:solidFill>
              </a:rPr>
              <a:t>f[n]</a:t>
            </a:r>
            <a:r>
              <a:rPr lang="zh-CN" altLang="zh-CN" sz="2400" dirty="0" smtClean="0">
                <a:solidFill>
                  <a:schemeClr val="bg1"/>
                </a:solidFill>
              </a:rPr>
              <a:t>为流量为</a:t>
            </a:r>
            <a:r>
              <a:rPr lang="en-US" altLang="zh-CN" sz="2400" dirty="0" smtClean="0">
                <a:solidFill>
                  <a:schemeClr val="bg1"/>
                </a:solidFill>
              </a:rPr>
              <a:t>n</a:t>
            </a:r>
            <a:r>
              <a:rPr lang="zh-CN" altLang="en-US" sz="2400" dirty="0" smtClean="0">
                <a:solidFill>
                  <a:schemeClr val="bg1"/>
                </a:solidFill>
              </a:rPr>
              <a:t>时的最小花费，</a:t>
            </a:r>
            <a:r>
              <a:rPr lang="en-US" altLang="zh-CN" sz="2400" dirty="0" smtClean="0">
                <a:solidFill>
                  <a:schemeClr val="bg1"/>
                </a:solidFill>
              </a:rPr>
              <a:t>c[i]</a:t>
            </a:r>
            <a:r>
              <a:rPr lang="zh-CN" altLang="zh-CN" sz="2400" dirty="0" smtClean="0">
                <a:solidFill>
                  <a:schemeClr val="bg1"/>
                </a:solidFill>
              </a:rPr>
              <a:t>为保证当前路径可增流量至少为 </a:t>
            </a:r>
            <a:r>
              <a:rPr lang="en-US" altLang="zh-CN" sz="2400" dirty="0" smtClean="0">
                <a:solidFill>
                  <a:schemeClr val="bg1"/>
                </a:solidFill>
              </a:rPr>
              <a:t>i </a:t>
            </a:r>
            <a:r>
              <a:rPr lang="zh-CN" altLang="zh-CN" sz="2400" dirty="0" smtClean="0">
                <a:solidFill>
                  <a:schemeClr val="bg1"/>
                </a:solidFill>
              </a:rPr>
              <a:t>的情况下的最小单位流量花费</a:t>
            </a:r>
            <a:r>
              <a:rPr lang="zh-CN" altLang="en-US" sz="2400" dirty="0" smtClean="0">
                <a:solidFill>
                  <a:schemeClr val="bg1"/>
                </a:solidFill>
                <a:sym typeface="+mn-ea"/>
              </a:rPr>
              <a:t>，那么</a:t>
            </a:r>
            <a:r>
              <a:rPr lang="en-US" altLang="zh-CN" sz="2400" dirty="0" smtClean="0">
                <a:solidFill>
                  <a:schemeClr val="bg1"/>
                </a:solidFill>
                <a:sym typeface="+mn-ea"/>
              </a:rPr>
              <a:t>f[n]=min{f[i]+(n-i)*c[n-i]|0&lt;=i&lt;n}</a:t>
            </a:r>
            <a:r>
              <a:rPr lang="zh-CN" altLang="zh-CN" sz="2400" dirty="0" smtClean="0">
                <a:solidFill>
                  <a:schemeClr val="bg1"/>
                </a:solidFill>
                <a:sym typeface="+mn-ea"/>
              </a:rPr>
              <a:t>。</a:t>
            </a:r>
            <a:endParaRPr lang="zh-CN" altLang="zh-CN" sz="2400" dirty="0" smtClean="0">
              <a:solidFill>
                <a:schemeClr val="bg1"/>
              </a:solidFill>
              <a:sym typeface="+mn-ea"/>
            </a:endParaRPr>
          </a:p>
          <a:p>
            <a:pPr marL="342900" indent="-342900" algn="l">
              <a:buFont typeface="Arial" panose="020B0604020202020204" pitchFamily="34" charset="0"/>
              <a:buChar char="•"/>
            </a:pPr>
            <a:r>
              <a:rPr lang="zh-CN" altLang="zh-CN" sz="2400" dirty="0" smtClean="0">
                <a:solidFill>
                  <a:schemeClr val="bg1"/>
                </a:solidFill>
              </a:rPr>
              <a:t>只需要证明</a:t>
            </a:r>
            <a:r>
              <a:rPr lang="en-US" altLang="zh-CN" sz="2400" dirty="0" smtClean="0">
                <a:solidFill>
                  <a:schemeClr val="bg1"/>
                </a:solidFill>
              </a:rPr>
              <a:t>f[n-1]+c[1]</a:t>
            </a:r>
            <a:r>
              <a:rPr lang="zh-CN" altLang="en-US" sz="2400" dirty="0" smtClean="0">
                <a:solidFill>
                  <a:schemeClr val="bg1"/>
                </a:solidFill>
              </a:rPr>
              <a:t>一定是上面式子中最小就可以了。</a:t>
            </a:r>
            <a:endParaRPr lang="zh-CN" altLang="en-US" sz="2400" dirty="0" smtClean="0">
              <a:solidFill>
                <a:schemeClr val="bg1"/>
              </a:solidFill>
            </a:endParaRPr>
          </a:p>
        </p:txBody>
      </p:sp>
      <p:sp>
        <p:nvSpPr>
          <p:cNvPr id="166" name=" 166"/>
          <p:cNvSpPr/>
          <p:nvPr/>
        </p:nvSpPr>
        <p:spPr>
          <a:xfrm>
            <a:off x="1001395" y="4220845"/>
            <a:ext cx="2799715" cy="2990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3" name=" 13"/>
          <p:cNvSpPr/>
          <p:nvPr/>
        </p:nvSpPr>
        <p:spPr>
          <a:xfrm>
            <a:off x="1001395" y="4731385"/>
            <a:ext cx="907415" cy="347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4" name=" 13"/>
          <p:cNvSpPr/>
          <p:nvPr/>
        </p:nvSpPr>
        <p:spPr>
          <a:xfrm>
            <a:off x="1908810" y="4731385"/>
            <a:ext cx="940435" cy="34798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6" name=" 13"/>
          <p:cNvSpPr/>
          <p:nvPr/>
        </p:nvSpPr>
        <p:spPr>
          <a:xfrm>
            <a:off x="2849245" y="4731385"/>
            <a:ext cx="951865" cy="34798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7" name="文本框 16"/>
          <p:cNvSpPr txBox="1"/>
          <p:nvPr/>
        </p:nvSpPr>
        <p:spPr>
          <a:xfrm>
            <a:off x="1908810" y="3760470"/>
            <a:ext cx="859155" cy="460375"/>
          </a:xfrm>
          <a:prstGeom prst="rect">
            <a:avLst/>
          </a:prstGeom>
          <a:noFill/>
        </p:spPr>
        <p:txBody>
          <a:bodyPr wrap="square" rtlCol="0">
            <a:spAutoFit/>
          </a:bodyPr>
          <a:p>
            <a:pPr algn="l"/>
            <a:r>
              <a:rPr lang="en-US" altLang="zh-CN" sz="2400" dirty="0" smtClean="0">
                <a:solidFill>
                  <a:schemeClr val="bg1"/>
                </a:solidFill>
              </a:rPr>
              <a:t>a*3</a:t>
            </a:r>
            <a:endParaRPr lang="en-US" altLang="zh-CN" sz="2400" dirty="0" smtClean="0">
              <a:solidFill>
                <a:schemeClr val="bg1"/>
              </a:solidFill>
            </a:endParaRPr>
          </a:p>
        </p:txBody>
      </p:sp>
      <p:sp>
        <p:nvSpPr>
          <p:cNvPr id="18" name="文本框 17"/>
          <p:cNvSpPr txBox="1"/>
          <p:nvPr/>
        </p:nvSpPr>
        <p:spPr>
          <a:xfrm>
            <a:off x="1252855" y="5142230"/>
            <a:ext cx="859155" cy="460375"/>
          </a:xfrm>
          <a:prstGeom prst="rect">
            <a:avLst/>
          </a:prstGeom>
          <a:noFill/>
        </p:spPr>
        <p:txBody>
          <a:bodyPr wrap="square" rtlCol="0">
            <a:spAutoFit/>
          </a:bodyPr>
          <a:p>
            <a:pPr algn="l"/>
            <a:r>
              <a:rPr lang="en-US" altLang="zh-CN" sz="2400" dirty="0" smtClean="0">
                <a:solidFill>
                  <a:schemeClr val="bg1"/>
                </a:solidFill>
              </a:rPr>
              <a:t>b</a:t>
            </a:r>
            <a:endParaRPr lang="en-US" altLang="zh-CN" sz="2400" dirty="0" smtClean="0">
              <a:solidFill>
                <a:schemeClr val="bg1"/>
              </a:solidFill>
            </a:endParaRPr>
          </a:p>
        </p:txBody>
      </p:sp>
      <p:sp>
        <p:nvSpPr>
          <p:cNvPr id="19" name="文本框 18"/>
          <p:cNvSpPr txBox="1"/>
          <p:nvPr/>
        </p:nvSpPr>
        <p:spPr>
          <a:xfrm>
            <a:off x="2112010" y="5142230"/>
            <a:ext cx="859155" cy="460375"/>
          </a:xfrm>
          <a:prstGeom prst="rect">
            <a:avLst/>
          </a:prstGeom>
          <a:noFill/>
        </p:spPr>
        <p:txBody>
          <a:bodyPr wrap="square" rtlCol="0">
            <a:spAutoFit/>
          </a:bodyPr>
          <a:p>
            <a:pPr algn="l"/>
            <a:r>
              <a:rPr lang="en-US" altLang="zh-CN" sz="2400" dirty="0" smtClean="0">
                <a:solidFill>
                  <a:schemeClr val="bg1"/>
                </a:solidFill>
              </a:rPr>
              <a:t>c</a:t>
            </a:r>
            <a:endParaRPr lang="en-US" altLang="zh-CN" sz="2400" dirty="0" smtClean="0">
              <a:solidFill>
                <a:schemeClr val="bg1"/>
              </a:solidFill>
            </a:endParaRPr>
          </a:p>
        </p:txBody>
      </p:sp>
      <p:sp>
        <p:nvSpPr>
          <p:cNvPr id="23" name="文本框 22"/>
          <p:cNvSpPr txBox="1"/>
          <p:nvPr/>
        </p:nvSpPr>
        <p:spPr>
          <a:xfrm>
            <a:off x="2895600" y="5142230"/>
            <a:ext cx="859155" cy="460375"/>
          </a:xfrm>
          <a:prstGeom prst="rect">
            <a:avLst/>
          </a:prstGeom>
          <a:noFill/>
        </p:spPr>
        <p:txBody>
          <a:bodyPr wrap="square" rtlCol="0">
            <a:spAutoFit/>
          </a:bodyPr>
          <a:p>
            <a:pPr algn="l"/>
            <a:r>
              <a:rPr lang="en-US" altLang="zh-CN" sz="2400" dirty="0" smtClean="0">
                <a:solidFill>
                  <a:schemeClr val="bg1"/>
                </a:solidFill>
              </a:rPr>
              <a:t>d</a:t>
            </a:r>
            <a:endParaRPr lang="en-US" altLang="zh-CN" sz="2400" dirty="0" smtClean="0">
              <a:solidFill>
                <a:schemeClr val="bg1"/>
              </a:solidFill>
            </a:endParaRPr>
          </a:p>
        </p:txBody>
      </p:sp>
      <p:sp>
        <p:nvSpPr>
          <p:cNvPr id="31" name="文本框 30"/>
          <p:cNvSpPr txBox="1"/>
          <p:nvPr/>
        </p:nvSpPr>
        <p:spPr>
          <a:xfrm>
            <a:off x="4544695" y="3197860"/>
            <a:ext cx="6802120" cy="3415030"/>
          </a:xfrm>
          <a:prstGeom prst="rect">
            <a:avLst/>
          </a:prstGeom>
          <a:noFill/>
        </p:spPr>
        <p:txBody>
          <a:bodyPr wrap="square" rtlCol="0">
            <a:spAutoFit/>
          </a:bodyPr>
          <a:p>
            <a:pPr marL="342900" indent="-342900" algn="l">
              <a:buFont typeface="Arial" panose="020B0604020202020204" pitchFamily="34" charset="0"/>
              <a:buChar char="•"/>
            </a:pPr>
            <a:r>
              <a:rPr lang="zh-CN" altLang="en-US" sz="2400" dirty="0" smtClean="0">
                <a:solidFill>
                  <a:schemeClr val="bg1"/>
                </a:solidFill>
              </a:rPr>
              <a:t>以</a:t>
            </a:r>
            <a:r>
              <a:rPr lang="en-US" altLang="zh-CN" sz="2400" dirty="0" smtClean="0">
                <a:solidFill>
                  <a:schemeClr val="bg1"/>
                </a:solidFill>
              </a:rPr>
              <a:t>f[n-1]+c[1]&lt;f[n-3]+3*c[3]</a:t>
            </a:r>
            <a:r>
              <a:rPr lang="zh-CN" altLang="en-US" sz="2400" dirty="0" smtClean="0">
                <a:solidFill>
                  <a:schemeClr val="bg1"/>
                </a:solidFill>
              </a:rPr>
              <a:t>为</a:t>
            </a:r>
            <a:r>
              <a:rPr lang="zh-CN" altLang="zh-CN" sz="2400" dirty="0" smtClean="0">
                <a:solidFill>
                  <a:schemeClr val="bg1"/>
                </a:solidFill>
              </a:rPr>
              <a:t>例。</a:t>
            </a:r>
            <a:endParaRPr lang="zh-CN" altLang="zh-CN" sz="2400" dirty="0" smtClean="0">
              <a:solidFill>
                <a:schemeClr val="bg1"/>
              </a:solidFill>
            </a:endParaRPr>
          </a:p>
          <a:p>
            <a:pPr marL="342900" indent="-342900" algn="l">
              <a:buFont typeface="Arial" panose="020B0604020202020204" pitchFamily="34" charset="0"/>
              <a:buChar char="•"/>
            </a:pPr>
            <a:r>
              <a:rPr lang="en-US" altLang="zh-CN" sz="2400" dirty="0" smtClean="0">
                <a:solidFill>
                  <a:schemeClr val="bg1"/>
                </a:solidFill>
              </a:rPr>
              <a:t>a</a:t>
            </a:r>
            <a:r>
              <a:rPr lang="zh-CN" altLang="en-US" sz="2400" dirty="0" smtClean="0">
                <a:solidFill>
                  <a:schemeClr val="bg1"/>
                </a:solidFill>
              </a:rPr>
              <a:t>是</a:t>
            </a:r>
            <a:r>
              <a:rPr lang="en-US" altLang="zh-CN" sz="2400" dirty="0" smtClean="0">
                <a:solidFill>
                  <a:schemeClr val="bg1"/>
                </a:solidFill>
              </a:rPr>
              <a:t>c[3], d</a:t>
            </a:r>
            <a:r>
              <a:rPr lang="zh-CN" altLang="zh-CN" sz="2400" dirty="0" smtClean="0">
                <a:solidFill>
                  <a:schemeClr val="bg1"/>
                </a:solidFill>
              </a:rPr>
              <a:t>是当前的</a:t>
            </a:r>
            <a:r>
              <a:rPr lang="en-US" altLang="zh-CN" sz="2400" dirty="0" smtClean="0">
                <a:solidFill>
                  <a:schemeClr val="bg1"/>
                </a:solidFill>
              </a:rPr>
              <a:t>c[1],b,c</a:t>
            </a:r>
            <a:r>
              <a:rPr lang="zh-CN" altLang="zh-CN" sz="2400" dirty="0" smtClean="0">
                <a:solidFill>
                  <a:schemeClr val="bg1"/>
                </a:solidFill>
              </a:rPr>
              <a:t>是前两次的</a:t>
            </a:r>
            <a:r>
              <a:rPr lang="en-US" altLang="zh-CN" sz="2400" dirty="0" smtClean="0">
                <a:solidFill>
                  <a:schemeClr val="bg1"/>
                </a:solidFill>
              </a:rPr>
              <a:t>c[1]</a:t>
            </a:r>
            <a:r>
              <a:rPr lang="zh-CN" altLang="zh-CN" sz="2400" dirty="0" smtClean="0">
                <a:solidFill>
                  <a:schemeClr val="bg1"/>
                </a:solidFill>
              </a:rPr>
              <a:t>。</a:t>
            </a:r>
            <a:endParaRPr lang="zh-CN" altLang="zh-CN" sz="2400" dirty="0" smtClean="0">
              <a:solidFill>
                <a:schemeClr val="bg1"/>
              </a:solidFill>
            </a:endParaRPr>
          </a:p>
          <a:p>
            <a:pPr marL="342900" indent="-342900" algn="l">
              <a:buFont typeface="Arial" panose="020B0604020202020204" pitchFamily="34" charset="0"/>
              <a:buChar char="•"/>
            </a:pPr>
            <a:r>
              <a:rPr lang="zh-CN" altLang="zh-CN" sz="2400" dirty="0" smtClean="0">
                <a:solidFill>
                  <a:schemeClr val="bg1"/>
                </a:solidFill>
              </a:rPr>
              <a:t>寻找</a:t>
            </a:r>
            <a:r>
              <a:rPr lang="en-US" altLang="zh-CN" sz="2400" dirty="0" smtClean="0">
                <a:solidFill>
                  <a:schemeClr val="bg1"/>
                </a:solidFill>
              </a:rPr>
              <a:t>c[3]</a:t>
            </a:r>
            <a:r>
              <a:rPr lang="zh-CN" altLang="zh-CN" sz="2400" dirty="0" smtClean="0">
                <a:solidFill>
                  <a:schemeClr val="bg1"/>
                </a:solidFill>
              </a:rPr>
              <a:t>时多了一个数量的限制，所以</a:t>
            </a:r>
            <a:r>
              <a:rPr lang="en-US" altLang="zh-CN" sz="2400" dirty="0" smtClean="0">
                <a:solidFill>
                  <a:schemeClr val="bg1"/>
                </a:solidFill>
              </a:rPr>
              <a:t>b</a:t>
            </a:r>
            <a:r>
              <a:rPr lang="zh-CN" altLang="en-US" sz="2400" dirty="0" smtClean="0">
                <a:solidFill>
                  <a:schemeClr val="bg1"/>
                </a:solidFill>
              </a:rPr>
              <a:t>一定小于等于</a:t>
            </a:r>
            <a:r>
              <a:rPr lang="en-US" altLang="zh-CN" sz="2400" dirty="0" smtClean="0">
                <a:solidFill>
                  <a:schemeClr val="bg1"/>
                </a:solidFill>
              </a:rPr>
              <a:t>a</a:t>
            </a:r>
            <a:r>
              <a:rPr lang="zh-CN" altLang="en-US" sz="2400" dirty="0" smtClean="0">
                <a:solidFill>
                  <a:schemeClr val="bg1"/>
                </a:solidFill>
              </a:rPr>
              <a:t>。</a:t>
            </a:r>
            <a:endParaRPr lang="zh-CN" altLang="en-US" sz="2400" dirty="0" smtClean="0">
              <a:solidFill>
                <a:schemeClr val="bg1"/>
              </a:solidFill>
            </a:endParaRPr>
          </a:p>
          <a:p>
            <a:pPr marL="342900" indent="-342900" algn="l">
              <a:buFont typeface="Arial" panose="020B0604020202020204" pitchFamily="34" charset="0"/>
              <a:buChar char="•"/>
            </a:pPr>
            <a:r>
              <a:rPr lang="zh-CN" altLang="en-US" sz="2400" dirty="0" smtClean="0">
                <a:solidFill>
                  <a:schemeClr val="bg1"/>
                </a:solidFill>
              </a:rPr>
              <a:t>修改了一次网络后，</a:t>
            </a:r>
            <a:r>
              <a:rPr lang="en-US" altLang="zh-CN" sz="2400" dirty="0" smtClean="0">
                <a:solidFill>
                  <a:schemeClr val="bg1"/>
                </a:solidFill>
              </a:rPr>
              <a:t>a</a:t>
            </a:r>
            <a:r>
              <a:rPr lang="zh-CN" altLang="en-US" sz="2400" dirty="0" smtClean="0">
                <a:solidFill>
                  <a:schemeClr val="bg1"/>
                </a:solidFill>
              </a:rPr>
              <a:t>这条路径最多减去了</a:t>
            </a:r>
            <a:r>
              <a:rPr lang="en-US" altLang="zh-CN" sz="2400" dirty="0" smtClean="0">
                <a:solidFill>
                  <a:schemeClr val="bg1"/>
                </a:solidFill>
              </a:rPr>
              <a:t>1</a:t>
            </a:r>
            <a:r>
              <a:rPr lang="zh-CN" altLang="en-US" sz="2400" dirty="0" smtClean="0">
                <a:solidFill>
                  <a:schemeClr val="bg1"/>
                </a:solidFill>
              </a:rPr>
              <a:t>的流量，即此时花费为</a:t>
            </a:r>
            <a:r>
              <a:rPr lang="en-US" altLang="zh-CN" sz="2400" dirty="0" smtClean="0">
                <a:solidFill>
                  <a:schemeClr val="bg1"/>
                </a:solidFill>
              </a:rPr>
              <a:t>a</a:t>
            </a:r>
            <a:r>
              <a:rPr lang="zh-CN" altLang="en-US" sz="2400" dirty="0" smtClean="0">
                <a:solidFill>
                  <a:schemeClr val="bg1"/>
                </a:solidFill>
              </a:rPr>
              <a:t>的路径仍然存在，</a:t>
            </a:r>
            <a:r>
              <a:rPr lang="en-US" altLang="zh-CN" sz="2400" dirty="0" smtClean="0">
                <a:solidFill>
                  <a:schemeClr val="bg1"/>
                </a:solidFill>
              </a:rPr>
              <a:t>c</a:t>
            </a:r>
            <a:r>
              <a:rPr lang="zh-CN" altLang="en-US" sz="2400" dirty="0" smtClean="0">
                <a:solidFill>
                  <a:schemeClr val="bg1"/>
                </a:solidFill>
              </a:rPr>
              <a:t>也小于等于</a:t>
            </a:r>
            <a:r>
              <a:rPr lang="en-US" altLang="zh-CN" sz="2400" dirty="0" smtClean="0">
                <a:solidFill>
                  <a:schemeClr val="bg1"/>
                </a:solidFill>
              </a:rPr>
              <a:t>a</a:t>
            </a:r>
            <a:r>
              <a:rPr lang="zh-CN" altLang="en-US" sz="2400" dirty="0" smtClean="0">
                <a:solidFill>
                  <a:schemeClr val="bg1"/>
                </a:solidFill>
              </a:rPr>
              <a:t>，同理</a:t>
            </a:r>
            <a:r>
              <a:rPr lang="en-US" altLang="zh-CN" sz="2400" dirty="0" smtClean="0">
                <a:solidFill>
                  <a:schemeClr val="bg1"/>
                </a:solidFill>
              </a:rPr>
              <a:t>d</a:t>
            </a:r>
            <a:r>
              <a:rPr lang="en-US" altLang="zh-CN" sz="2400" dirty="0" smtClean="0">
                <a:solidFill>
                  <a:schemeClr val="bg1"/>
                </a:solidFill>
                <a:latin typeface="Arial" panose="020B0604020202020204" pitchFamily="34" charset="0"/>
              </a:rPr>
              <a:t>≤</a:t>
            </a:r>
            <a:r>
              <a:rPr lang="en-US" altLang="zh-CN" sz="2400" dirty="0" smtClean="0">
                <a:solidFill>
                  <a:schemeClr val="bg1"/>
                </a:solidFill>
                <a:sym typeface="+mn-ea"/>
              </a:rPr>
              <a:t>a</a:t>
            </a:r>
            <a:r>
              <a:rPr lang="zh-CN" altLang="en-US" sz="2400" dirty="0" smtClean="0">
                <a:solidFill>
                  <a:schemeClr val="bg1"/>
                </a:solidFill>
                <a:latin typeface="Arial" panose="020B0604020202020204" pitchFamily="34" charset="0"/>
              </a:rPr>
              <a:t>。</a:t>
            </a:r>
            <a:endParaRPr lang="zh-CN" altLang="en-US" sz="2400" dirty="0" smtClean="0">
              <a:solidFill>
                <a:schemeClr val="bg1"/>
              </a:solidFill>
              <a:latin typeface="Arial" panose="020B0604020202020204" pitchFamily="34" charset="0"/>
            </a:endParaRPr>
          </a:p>
          <a:p>
            <a:pPr marL="342900" indent="-342900" algn="l">
              <a:buFont typeface="Arial" panose="020B0604020202020204" pitchFamily="34" charset="0"/>
              <a:buChar char="•"/>
            </a:pPr>
            <a:r>
              <a:rPr lang="zh-CN" altLang="zh-CN" sz="2400" dirty="0" smtClean="0">
                <a:solidFill>
                  <a:schemeClr val="bg1"/>
                </a:solidFill>
                <a:latin typeface="Arial" panose="020B0604020202020204" pitchFamily="34" charset="0"/>
              </a:rPr>
              <a:t>所以</a:t>
            </a:r>
            <a:r>
              <a:rPr lang="en-US" altLang="zh-CN" sz="2400" dirty="0" smtClean="0">
                <a:solidFill>
                  <a:schemeClr val="bg1"/>
                </a:solidFill>
                <a:latin typeface="Arial" panose="020B0604020202020204" pitchFamily="34" charset="0"/>
              </a:rPr>
              <a:t>b+c+d</a:t>
            </a:r>
            <a:r>
              <a:rPr lang="en-US" altLang="zh-CN" sz="2400" dirty="0" smtClean="0">
                <a:solidFill>
                  <a:schemeClr val="bg1"/>
                </a:solidFill>
                <a:latin typeface="Arial" panose="020B0604020202020204" pitchFamily="34" charset="0"/>
                <a:sym typeface="+mn-ea"/>
              </a:rPr>
              <a:t>≤a*3</a:t>
            </a:r>
            <a:r>
              <a:rPr lang="zh-CN" altLang="en-US" sz="2400" dirty="0" smtClean="0">
                <a:solidFill>
                  <a:schemeClr val="bg1"/>
                </a:solidFill>
                <a:latin typeface="Arial" panose="020B0604020202020204" pitchFamily="34" charset="0"/>
                <a:sym typeface="+mn-ea"/>
              </a:rPr>
              <a:t>，</a:t>
            </a:r>
            <a:r>
              <a:rPr lang="en-US" altLang="zh-CN" sz="2400" dirty="0" smtClean="0">
                <a:solidFill>
                  <a:schemeClr val="bg1"/>
                </a:solidFill>
                <a:latin typeface="Arial" panose="020B0604020202020204" pitchFamily="34" charset="0"/>
                <a:sym typeface="+mn-ea"/>
              </a:rPr>
              <a:t>f[n-1]+c[1]&lt;f[n-3]+3*c[3]</a:t>
            </a:r>
            <a:endParaRPr lang="en-US" altLang="zh-CN" sz="2400" dirty="0" smtClean="0">
              <a:solidFill>
                <a:schemeClr val="bg1"/>
              </a:solidFill>
              <a:latin typeface="Arial" panose="020B0604020202020204" pitchFamily="34" charset="0"/>
              <a:sym typeface="+mn-ea"/>
            </a:endParaRPr>
          </a:p>
          <a:p>
            <a:pPr marL="342900" indent="-342900" algn="l">
              <a:buFont typeface="Arial" panose="020B0604020202020204" pitchFamily="34" charset="0"/>
              <a:buChar char="•"/>
            </a:pPr>
            <a:r>
              <a:rPr lang="zh-CN" altLang="zh-CN" sz="2400" dirty="0" smtClean="0">
                <a:solidFill>
                  <a:schemeClr val="bg1"/>
                </a:solidFill>
                <a:latin typeface="Arial" panose="020B0604020202020204" pitchFamily="34" charset="0"/>
                <a:sym typeface="+mn-ea"/>
              </a:rPr>
              <a:t>其他证明同理。</a:t>
            </a:r>
            <a:endParaRPr lang="zh-CN" altLang="zh-CN" sz="2400" dirty="0" smtClean="0">
              <a:solidFill>
                <a:schemeClr val="bg1"/>
              </a:solidFill>
              <a:latin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6" grpId="0" animBg="1"/>
      <p:bldP spid="13" grpId="0" animBg="1"/>
      <p:bldP spid="14" grpId="0" animBg="1"/>
      <p:bldP spid="16" grpId="0" animBg="1"/>
      <p:bldP spid="17" grpId="0"/>
      <p:bldP spid="18" grpId="0"/>
      <p:bldP spid="19" grpId="0"/>
      <p:bldP spid="23" grpId="0"/>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622996" y="160775"/>
            <a:ext cx="7958296" cy="521970"/>
          </a:xfrm>
          <a:prstGeom prst="rect">
            <a:avLst/>
          </a:prstGeom>
          <a:noFill/>
        </p:spPr>
        <p:txBody>
          <a:bodyPr wrap="square" rtlCol="0">
            <a:spAutoFit/>
          </a:bodyPr>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22935" y="682625"/>
            <a:ext cx="6813550" cy="6369685"/>
          </a:xfrm>
          <a:prstGeom prst="rect">
            <a:avLst/>
          </a:prstGeom>
          <a:noFill/>
        </p:spPr>
        <p:txBody>
          <a:bodyPr wrap="square" rtlCol="0">
            <a:spAutoFit/>
          </a:bodyPr>
          <a:p>
            <a:pPr algn="l"/>
            <a:r>
              <a:rPr lang="zh-CN" altLang="en-US" sz="1200" dirty="0" smtClean="0">
                <a:solidFill>
                  <a:schemeClr val="bg1"/>
                </a:solidFill>
              </a:rPr>
              <a:t>bool FIND(int st,int ed,int &amp;fw,int &amp;Cost) {</a:t>
            </a:r>
            <a:endParaRPr lang="zh-CN" altLang="en-US" sz="1200" dirty="0" smtClean="0">
              <a:solidFill>
                <a:schemeClr val="bg1"/>
              </a:solidFill>
            </a:endParaRPr>
          </a:p>
          <a:p>
            <a:pPr algn="l"/>
            <a:r>
              <a:rPr lang="en-US" altLang="zh-CN" sz="1200" dirty="0" smtClean="0">
                <a:solidFill>
                  <a:schemeClr val="bg1"/>
                </a:solidFill>
              </a:rPr>
              <a:t>	</a:t>
            </a:r>
            <a:r>
              <a:rPr lang="zh-CN" altLang="en-US" sz="1200" dirty="0" smtClean="0">
                <a:solidFill>
                  <a:schemeClr val="bg1"/>
                </a:solidFill>
              </a:rPr>
              <a:t>memset(dis,0x3f,sizeof(dis));</a:t>
            </a:r>
            <a:endParaRPr lang="zh-CN" altLang="en-US" sz="1200" dirty="0" smtClean="0">
              <a:solidFill>
                <a:schemeClr val="bg1"/>
              </a:solidFill>
            </a:endParaRPr>
          </a:p>
          <a:p>
            <a:pPr algn="l"/>
            <a:r>
              <a:rPr lang="zh-CN" altLang="en-US" sz="1200" dirty="0" smtClean="0">
                <a:solidFill>
                  <a:schemeClr val="bg1"/>
                </a:solidFill>
              </a:rPr>
              <a:t>	memset(ins,false,sizeof(ins));</a:t>
            </a:r>
            <a:endParaRPr lang="zh-CN" altLang="en-US" sz="1200" dirty="0" smtClean="0">
              <a:solidFill>
                <a:schemeClr val="bg1"/>
              </a:solidFill>
            </a:endParaRPr>
          </a:p>
          <a:p>
            <a:pPr algn="l"/>
            <a:r>
              <a:rPr lang="zh-CN" altLang="en-US" sz="1200" dirty="0" smtClean="0">
                <a:solidFill>
                  <a:schemeClr val="bg1"/>
                </a:solidFill>
              </a:rPr>
              <a:t>	memset(pr,0,sizeof(pr));</a:t>
            </a:r>
            <a:endParaRPr lang="zh-CN" altLang="en-US" sz="1200" dirty="0" smtClean="0">
              <a:solidFill>
                <a:schemeClr val="bg1"/>
              </a:solidFill>
            </a:endParaRPr>
          </a:p>
          <a:p>
            <a:pPr algn="l"/>
            <a:r>
              <a:rPr lang="zh-CN" altLang="en-US" sz="1200" dirty="0" smtClean="0">
                <a:solidFill>
                  <a:schemeClr val="bg1"/>
                </a:solidFill>
              </a:rPr>
              <a:t>	inf = dis[0];</a:t>
            </a:r>
            <a:endParaRPr lang="zh-CN" altLang="en-US" sz="1200" dirty="0" smtClean="0">
              <a:solidFill>
                <a:schemeClr val="bg1"/>
              </a:solidFill>
            </a:endParaRPr>
          </a:p>
          <a:p>
            <a:pPr algn="l"/>
            <a:r>
              <a:rPr lang="zh-CN" altLang="en-US" sz="1200" dirty="0" smtClean="0">
                <a:solidFill>
                  <a:schemeClr val="bg1"/>
                </a:solidFill>
              </a:rPr>
              <a:t>	queue &lt;int&gt; q;</a:t>
            </a:r>
            <a:endParaRPr lang="zh-CN" altLang="en-US" sz="1200" dirty="0" smtClean="0">
              <a:solidFill>
                <a:schemeClr val="bg1"/>
              </a:solidFill>
            </a:endParaRPr>
          </a:p>
          <a:p>
            <a:pPr algn="l"/>
            <a:r>
              <a:rPr lang="zh-CN" altLang="en-US" sz="1200" dirty="0" smtClean="0">
                <a:solidFill>
                  <a:schemeClr val="bg1"/>
                </a:solidFill>
              </a:rPr>
              <a:t>	q.push(st), dis[st] = 0, a[st] = inf;</a:t>
            </a:r>
            <a:endParaRPr lang="zh-CN" altLang="en-US" sz="1200" dirty="0" smtClean="0">
              <a:solidFill>
                <a:schemeClr val="bg1"/>
              </a:solidFill>
            </a:endParaRPr>
          </a:p>
          <a:p>
            <a:pPr algn="l"/>
            <a:r>
              <a:rPr lang="zh-CN" altLang="en-US" sz="1200" dirty="0" smtClean="0">
                <a:solidFill>
                  <a:schemeClr val="bg1"/>
                </a:solidFill>
              </a:rPr>
              <a:t>	while(!q.empty()) {</a:t>
            </a:r>
            <a:endParaRPr lang="zh-CN" altLang="en-US" sz="1200" dirty="0" smtClean="0">
              <a:solidFill>
                <a:schemeClr val="bg1"/>
              </a:solidFill>
            </a:endParaRPr>
          </a:p>
          <a:p>
            <a:pPr algn="l"/>
            <a:r>
              <a:rPr lang="zh-CN" altLang="en-US" sz="1200" dirty="0" smtClean="0">
                <a:solidFill>
                  <a:schemeClr val="bg1"/>
                </a:solidFill>
              </a:rPr>
              <a:t>		int op = q.front(); q.pop();</a:t>
            </a:r>
            <a:endParaRPr lang="zh-CN" altLang="en-US" sz="1200" dirty="0" smtClean="0">
              <a:solidFill>
                <a:schemeClr val="bg1"/>
              </a:solidFill>
            </a:endParaRPr>
          </a:p>
          <a:p>
            <a:pPr algn="l"/>
            <a:r>
              <a:rPr lang="zh-CN" altLang="en-US" sz="1200" dirty="0" smtClean="0">
                <a:solidFill>
                  <a:schemeClr val="bg1"/>
                </a:solidFill>
              </a:rPr>
              <a:t>		ins[q] = false;</a:t>
            </a:r>
            <a:endParaRPr lang="zh-CN" altLang="en-US" sz="1200" dirty="0" smtClean="0">
              <a:solidFill>
                <a:schemeClr val="bg1"/>
              </a:solidFill>
            </a:endParaRPr>
          </a:p>
          <a:p>
            <a:pPr algn="l"/>
            <a:r>
              <a:rPr lang="zh-CN" altLang="en-US" sz="1200" dirty="0" smtClean="0">
                <a:solidFill>
                  <a:schemeClr val="bg1"/>
                </a:solidFill>
              </a:rPr>
              <a:t>		for(int i = headlist[q] ; i != -1 ; i = Edge[i].next) {</a:t>
            </a:r>
            <a:endParaRPr lang="zh-CN" altLang="en-US" sz="1200" dirty="0" smtClean="0">
              <a:solidFill>
                <a:schemeClr val="bg1"/>
              </a:solidFill>
            </a:endParaRPr>
          </a:p>
          <a:p>
            <a:pPr algn="l"/>
            <a:r>
              <a:rPr lang="zh-CN" altLang="en-US" sz="1200" dirty="0" smtClean="0">
                <a:solidFill>
                  <a:schemeClr val="bg1"/>
                </a:solidFill>
              </a:rPr>
              <a:t>			if(Edge[i].val&amp;&amp;dis[Edge[i].v]&gt;dis[op]+Edge[i].cost) {</a:t>
            </a:r>
            <a:endParaRPr lang="zh-CN" altLang="en-US" sz="1200" dirty="0" smtClean="0">
              <a:solidFill>
                <a:schemeClr val="bg1"/>
              </a:solidFill>
            </a:endParaRPr>
          </a:p>
          <a:p>
            <a:pPr algn="l"/>
            <a:r>
              <a:rPr lang="zh-CN" altLang="en-US" sz="1200" dirty="0" smtClean="0">
                <a:solidFill>
                  <a:schemeClr val="bg1"/>
                </a:solidFill>
              </a:rPr>
              <a:t>				dis[sg[i].v] = dis[op]+Edge[i].cost;</a:t>
            </a:r>
            <a:endParaRPr lang="zh-CN" altLang="en-US" sz="1200" dirty="0" smtClean="0">
              <a:solidFill>
                <a:schemeClr val="bg1"/>
              </a:solidFill>
            </a:endParaRPr>
          </a:p>
          <a:p>
            <a:pPr algn="l"/>
            <a:r>
              <a:rPr lang="zh-CN" altLang="en-US" sz="1200" dirty="0" smtClean="0">
                <a:solidFill>
                  <a:schemeClr val="bg1"/>
                </a:solidFill>
              </a:rPr>
              <a:t>				pr[Edge[i].v] = i;</a:t>
            </a:r>
            <a:endParaRPr lang="zh-CN" altLang="en-US" sz="1200" dirty="0" smtClean="0">
              <a:solidFill>
                <a:schemeClr val="bg1"/>
              </a:solidFill>
            </a:endParaRPr>
          </a:p>
          <a:p>
            <a:pPr algn="l"/>
            <a:r>
              <a:rPr lang="zh-CN" altLang="en-US" sz="1200" dirty="0" smtClean="0">
                <a:solidFill>
                  <a:schemeClr val="bg1"/>
                </a:solidFill>
              </a:rPr>
              <a:t>				a[Edge[i].v] = MIN(a[op],Edge[i].val);</a:t>
            </a:r>
            <a:endParaRPr lang="zh-CN" altLang="en-US" sz="1200" dirty="0" smtClean="0">
              <a:solidFill>
                <a:schemeClr val="bg1"/>
              </a:solidFill>
            </a:endParaRPr>
          </a:p>
          <a:p>
            <a:pPr algn="l"/>
            <a:r>
              <a:rPr lang="zh-CN" altLang="en-US" sz="1200" dirty="0" smtClean="0">
                <a:solidFill>
                  <a:schemeClr val="bg1"/>
                </a:solidFill>
              </a:rPr>
              <a:t>				if(!ins[Edge[i].v]) {</a:t>
            </a:r>
            <a:endParaRPr lang="zh-CN" altLang="en-US" sz="1200" dirty="0" smtClean="0">
              <a:solidFill>
                <a:schemeClr val="bg1"/>
              </a:solidFill>
            </a:endParaRPr>
          </a:p>
          <a:p>
            <a:pPr algn="l"/>
            <a:r>
              <a:rPr lang="zh-CN" altLang="en-US" sz="1200" dirty="0" smtClean="0">
                <a:solidFill>
                  <a:schemeClr val="bg1"/>
                </a:solidFill>
              </a:rPr>
              <a:t>					ins[Edge[i].v] = true;</a:t>
            </a:r>
            <a:endParaRPr lang="zh-CN" altLang="en-US" sz="1200" dirty="0" smtClean="0">
              <a:solidFill>
                <a:schemeClr val="bg1"/>
              </a:solidFill>
            </a:endParaRPr>
          </a:p>
          <a:p>
            <a:pPr algn="l"/>
            <a:r>
              <a:rPr lang="zh-CN" altLang="en-US" sz="1200" dirty="0" smtClean="0">
                <a:solidFill>
                  <a:schemeClr val="bg1"/>
                </a:solidFill>
              </a:rPr>
              <a:t>					q.push(Edge[i].v);</a:t>
            </a:r>
            <a:endParaRPr lang="zh-CN" altLang="en-US" sz="1200" dirty="0" smtClean="0">
              <a:solidFill>
                <a:schemeClr val="bg1"/>
              </a:solidFill>
            </a:endParaRPr>
          </a:p>
          <a:p>
            <a:pPr algn="l"/>
            <a:r>
              <a:rPr lang="zh-CN" altLang="en-US" sz="1200" dirty="0" smtClean="0">
                <a:solidFill>
                  <a:schemeClr val="bg1"/>
                </a:solidFill>
              </a:rPr>
              <a:t>				}</a:t>
            </a:r>
            <a:endParaRPr lang="zh-CN" altLang="en-US" sz="1200" dirty="0" smtClean="0">
              <a:solidFill>
                <a:schemeClr val="bg1"/>
              </a:solidFill>
            </a:endParaRPr>
          </a:p>
          <a:p>
            <a:pPr algn="l"/>
            <a:r>
              <a:rPr lang="zh-CN" altLang="en-US" sz="1200" dirty="0" smtClean="0">
                <a:solidFill>
                  <a:schemeClr val="bg1"/>
                </a:solidFill>
              </a:rPr>
              <a:t>			}</a:t>
            </a:r>
            <a:endParaRPr lang="zh-CN" altLang="en-US" sz="1200" dirty="0" smtClean="0">
              <a:solidFill>
                <a:schemeClr val="bg1"/>
              </a:solidFill>
            </a:endParaRPr>
          </a:p>
          <a:p>
            <a:pPr algn="l"/>
            <a:r>
              <a:rPr lang="zh-CN" altLang="en-US" sz="1200" dirty="0" smtClean="0">
                <a:solidFill>
                  <a:schemeClr val="bg1"/>
                </a:solidFill>
              </a:rPr>
              <a:t>		}</a:t>
            </a:r>
            <a:endParaRPr lang="zh-CN" altLang="en-US" sz="1200" dirty="0" smtClean="0">
              <a:solidFill>
                <a:schemeClr val="bg1"/>
              </a:solidFill>
            </a:endParaRPr>
          </a:p>
          <a:p>
            <a:pPr algn="l"/>
            <a:r>
              <a:rPr lang="zh-CN" altLang="en-US" sz="1200" dirty="0" smtClean="0">
                <a:solidFill>
                  <a:schemeClr val="bg1"/>
                </a:solidFill>
              </a:rPr>
              <a:t>	}</a:t>
            </a:r>
            <a:endParaRPr lang="zh-CN" altLang="en-US" sz="1200" dirty="0" smtClean="0">
              <a:solidFill>
                <a:schemeClr val="bg1"/>
              </a:solidFill>
            </a:endParaRPr>
          </a:p>
          <a:p>
            <a:pPr algn="l"/>
            <a:r>
              <a:rPr lang="zh-CN" altLang="en-US" sz="1200" dirty="0" smtClean="0">
                <a:solidFill>
                  <a:schemeClr val="bg1"/>
                </a:solidFill>
              </a:rPr>
              <a:t>	if(dis[ed]==inf) return false;</a:t>
            </a:r>
            <a:endParaRPr lang="zh-CN" altLang="en-US" sz="1200" dirty="0" smtClean="0">
              <a:solidFill>
                <a:schemeClr val="bg1"/>
              </a:solidFill>
            </a:endParaRPr>
          </a:p>
          <a:p>
            <a:pPr algn="l"/>
            <a:r>
              <a:rPr lang="zh-CN" altLang="en-US" sz="1200" dirty="0" smtClean="0">
                <a:solidFill>
                  <a:schemeClr val="bg1"/>
                </a:solidFill>
              </a:rPr>
              <a:t>	fw += a[ed];</a:t>
            </a:r>
            <a:endParaRPr lang="zh-CN" altLang="en-US" sz="1200" dirty="0" smtClean="0">
              <a:solidFill>
                <a:schemeClr val="bg1"/>
              </a:solidFill>
            </a:endParaRPr>
          </a:p>
          <a:p>
            <a:pPr algn="l"/>
            <a:r>
              <a:rPr lang="zh-CN" altLang="en-US" sz="1200" dirty="0" smtClean="0">
                <a:solidFill>
                  <a:schemeClr val="bg1"/>
                </a:solidFill>
              </a:rPr>
              <a:t>	Cost += dis[ed]*a[ed];</a:t>
            </a:r>
            <a:endParaRPr lang="zh-CN" altLang="en-US" sz="1200" dirty="0" smtClean="0">
              <a:solidFill>
                <a:schemeClr val="bg1"/>
              </a:solidFill>
            </a:endParaRPr>
          </a:p>
          <a:p>
            <a:pPr algn="l"/>
            <a:r>
              <a:rPr lang="zh-CN" altLang="en-US" sz="1200" dirty="0" smtClean="0">
                <a:solidFill>
                  <a:schemeClr val="bg1"/>
                </a:solidFill>
              </a:rPr>
              <a:t>	int w = ed;</a:t>
            </a:r>
            <a:endParaRPr lang="zh-CN" altLang="en-US" sz="1200" dirty="0" smtClean="0">
              <a:solidFill>
                <a:schemeClr val="bg1"/>
              </a:solidFill>
            </a:endParaRPr>
          </a:p>
          <a:p>
            <a:pPr algn="l"/>
            <a:r>
              <a:rPr lang="zh-CN" altLang="en-US" sz="1200" dirty="0" smtClean="0">
                <a:solidFill>
                  <a:schemeClr val="bg1"/>
                </a:solidFill>
              </a:rPr>
              <a:t>	while(w!=st) {</a:t>
            </a:r>
            <a:endParaRPr lang="zh-CN" altLang="en-US" sz="1200" dirty="0" smtClean="0">
              <a:solidFill>
                <a:schemeClr val="bg1"/>
              </a:solidFill>
            </a:endParaRPr>
          </a:p>
          <a:p>
            <a:pPr algn="l"/>
            <a:r>
              <a:rPr lang="zh-CN" altLang="en-US" sz="1200" dirty="0" smtClean="0">
                <a:solidFill>
                  <a:schemeClr val="bg1"/>
                </a:solidFill>
              </a:rPr>
              <a:t>		Edge[pr[w]].val -= a[ed];</a:t>
            </a:r>
            <a:endParaRPr lang="zh-CN" altLang="en-US" sz="1200" dirty="0" smtClean="0">
              <a:solidFill>
                <a:schemeClr val="bg1"/>
              </a:solidFill>
            </a:endParaRPr>
          </a:p>
          <a:p>
            <a:pPr algn="l"/>
            <a:r>
              <a:rPr lang="zh-CN" altLang="en-US" sz="1200" dirty="0" smtClean="0">
                <a:solidFill>
                  <a:schemeClr val="bg1"/>
                </a:solidFill>
              </a:rPr>
              <a:t>		Edge[pr[w]^1].val += a[ed];</a:t>
            </a:r>
            <a:endParaRPr lang="zh-CN" altLang="en-US" sz="1200" dirty="0" smtClean="0">
              <a:solidFill>
                <a:schemeClr val="bg1"/>
              </a:solidFill>
            </a:endParaRPr>
          </a:p>
          <a:p>
            <a:pPr algn="l"/>
            <a:r>
              <a:rPr lang="zh-CN" altLang="en-US" sz="1200" dirty="0" smtClean="0">
                <a:solidFill>
                  <a:schemeClr val="bg1"/>
                </a:solidFill>
              </a:rPr>
              <a:t>		w = Edge[pr[w]].u;</a:t>
            </a:r>
            <a:endParaRPr lang="zh-CN" altLang="en-US" sz="1200" dirty="0" smtClean="0">
              <a:solidFill>
                <a:schemeClr val="bg1"/>
              </a:solidFill>
            </a:endParaRPr>
          </a:p>
          <a:p>
            <a:pPr algn="l"/>
            <a:r>
              <a:rPr lang="zh-CN" altLang="en-US" sz="1200" dirty="0" smtClean="0">
                <a:solidFill>
                  <a:schemeClr val="bg1"/>
                </a:solidFill>
              </a:rPr>
              <a:t>	}</a:t>
            </a:r>
            <a:endParaRPr lang="zh-CN" altLang="en-US" sz="1200" dirty="0" smtClean="0">
              <a:solidFill>
                <a:schemeClr val="bg1"/>
              </a:solidFill>
            </a:endParaRPr>
          </a:p>
          <a:p>
            <a:pPr algn="l"/>
            <a:r>
              <a:rPr lang="zh-CN" altLang="en-US" sz="1200" dirty="0" smtClean="0">
                <a:solidFill>
                  <a:schemeClr val="bg1"/>
                </a:solidFill>
              </a:rPr>
              <a:t>	return true;</a:t>
            </a:r>
            <a:endParaRPr lang="zh-CN" altLang="en-US" sz="1200" dirty="0" smtClean="0">
              <a:solidFill>
                <a:schemeClr val="bg1"/>
              </a:solidFill>
            </a:endParaRPr>
          </a:p>
          <a:p>
            <a:pPr algn="l"/>
            <a:r>
              <a:rPr lang="zh-CN" altLang="en-US" sz="1200" dirty="0" smtClean="0">
                <a:solidFill>
                  <a:schemeClr val="bg1"/>
                </a:solidFill>
              </a:rPr>
              <a:t>}</a:t>
            </a:r>
            <a:endParaRPr lang="zh-CN" altLang="en-US" sz="1200" dirty="0" smtClean="0">
              <a:solidFill>
                <a:schemeClr val="bg1"/>
              </a:solidFill>
            </a:endParaRPr>
          </a:p>
          <a:p>
            <a:pPr algn="l"/>
            <a:r>
              <a:rPr lang="zh-CN" altLang="en-US" sz="1200" dirty="0" smtClean="0">
                <a:solidFill>
                  <a:schemeClr val="bg1"/>
                </a:solidFill>
              </a:rPr>
              <a:t> </a:t>
            </a:r>
            <a:endParaRPr lang="zh-CN" altLang="en-US" sz="1200" dirty="0" smtClean="0">
              <a:solidFill>
                <a:schemeClr val="bg1"/>
              </a:solidFill>
            </a:endParaRPr>
          </a:p>
        </p:txBody>
      </p:sp>
      <p:sp>
        <p:nvSpPr>
          <p:cNvPr id="4" name="文本框 3"/>
          <p:cNvSpPr txBox="1"/>
          <p:nvPr/>
        </p:nvSpPr>
        <p:spPr>
          <a:xfrm>
            <a:off x="7581265" y="682625"/>
            <a:ext cx="2741295" cy="460375"/>
          </a:xfrm>
          <a:prstGeom prst="rect">
            <a:avLst/>
          </a:prstGeom>
          <a:noFill/>
        </p:spPr>
        <p:txBody>
          <a:bodyPr wrap="square" rtlCol="0">
            <a:spAutoFit/>
          </a:bodyPr>
          <a:p>
            <a:pPr algn="l"/>
            <a:r>
              <a:rPr lang="zh-CN" altLang="en-US" sz="2400" dirty="0" smtClean="0">
                <a:solidFill>
                  <a:schemeClr val="bg1"/>
                </a:solidFill>
              </a:rPr>
              <a:t>代码很容易理解。</a:t>
            </a:r>
            <a:endParaRPr lang="zh-CN" altLang="en-US" sz="2400" dirty="0" smtClean="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6" y="682190"/>
            <a:ext cx="10692246" cy="892552"/>
          </a:xfrm>
          <a:prstGeom prst="rect">
            <a:avLst/>
          </a:prstGeom>
          <a:noFill/>
        </p:spPr>
        <p:txBody>
          <a:bodyPr wrap="square" rtlCol="0">
            <a:spAutoFit/>
          </a:bodyPr>
          <a:lstStyle/>
          <a:p>
            <a:pPr algn="l"/>
            <a:r>
              <a:rPr lang="en-US" altLang="zh-CN" sz="2400" dirty="0">
                <a:solidFill>
                  <a:schemeClr val="bg1"/>
                </a:solidFill>
              </a:rPr>
              <a:t>                                                      </a:t>
            </a:r>
            <a:r>
              <a:rPr lang="zh-CN" altLang="en-US" sz="2800" dirty="0">
                <a:solidFill>
                  <a:schemeClr val="bg1"/>
                </a:solidFill>
              </a:rPr>
              <a:t>餐巾</a:t>
            </a:r>
            <a:endParaRPr lang="en-US" altLang="zh-CN" sz="28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http://cogs.pro/cogs/problem/problem.php?pid=461</a:t>
            </a:r>
            <a:endParaRPr lang="zh-CN" altLang="en-US" sz="2400" dirty="0">
              <a:solidFill>
                <a:schemeClr val="bg1"/>
              </a:solidFill>
            </a:endParaRPr>
          </a:p>
        </p:txBody>
      </p:sp>
      <p:sp>
        <p:nvSpPr>
          <p:cNvPr id="3" name="文本框 2"/>
          <p:cNvSpPr txBox="1"/>
          <p:nvPr/>
        </p:nvSpPr>
        <p:spPr>
          <a:xfrm>
            <a:off x="622996" y="1574742"/>
            <a:ext cx="10692246" cy="4478918"/>
          </a:xfrm>
          <a:prstGeom prst="rect">
            <a:avLst/>
          </a:prstGeom>
          <a:noFill/>
        </p:spPr>
        <p:txBody>
          <a:bodyPr wrap="square" rtlCol="0">
            <a:spAutoFit/>
          </a:bodyPr>
          <a:lstStyle/>
          <a:p>
            <a:pPr marL="342900" indent="-342900" algn="l">
              <a:lnSpc>
                <a:spcPct val="120000"/>
              </a:lnSpc>
              <a:buFont typeface="Wingdings" panose="05000000000000000000" pitchFamily="2" charset="2"/>
              <a:buChar char="Ø"/>
            </a:pPr>
            <a:r>
              <a:rPr lang="zh-CN" altLang="en-US" sz="2400" dirty="0">
                <a:solidFill>
                  <a:schemeClr val="bg1"/>
                </a:solidFill>
              </a:rPr>
              <a:t>题解：首先，每天的餐巾分为两种情况，新买的和原来的。</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每天作为一个点，由</a:t>
            </a:r>
            <a:r>
              <a:rPr lang="en-US" altLang="zh-CN" sz="2400" dirty="0">
                <a:solidFill>
                  <a:schemeClr val="bg1"/>
                </a:solidFill>
              </a:rPr>
              <a:t>S</a:t>
            </a:r>
            <a:r>
              <a:rPr lang="zh-CN" altLang="en-US" sz="2400" dirty="0">
                <a:solidFill>
                  <a:schemeClr val="bg1"/>
                </a:solidFill>
              </a:rPr>
              <a:t>向其连边，容量为</a:t>
            </a:r>
            <a:r>
              <a:rPr lang="en-US" altLang="zh-CN" sz="2400" dirty="0">
                <a:solidFill>
                  <a:schemeClr val="bg1"/>
                </a:solidFill>
              </a:rPr>
              <a:t>Ri</a:t>
            </a:r>
            <a:r>
              <a:rPr lang="zh-CN" altLang="en-US" sz="2400" dirty="0">
                <a:solidFill>
                  <a:schemeClr val="bg1"/>
                </a:solidFill>
              </a:rPr>
              <a:t>，花费为</a:t>
            </a:r>
            <a:r>
              <a:rPr lang="en-US" altLang="zh-CN" sz="2400" dirty="0">
                <a:solidFill>
                  <a:schemeClr val="bg1"/>
                </a:solidFill>
              </a:rPr>
              <a:t>0</a:t>
            </a:r>
            <a:r>
              <a:rPr lang="zh-CN" altLang="en-US" sz="2400" dirty="0">
                <a:solidFill>
                  <a:schemeClr val="bg1"/>
                </a:solidFill>
              </a:rPr>
              <a:t>。</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每天可以向</a:t>
            </a:r>
            <a:r>
              <a:rPr lang="en-US" altLang="zh-CN" sz="2400" dirty="0">
                <a:solidFill>
                  <a:schemeClr val="bg1"/>
                </a:solidFill>
              </a:rPr>
              <a:t>T</a:t>
            </a:r>
            <a:r>
              <a:rPr lang="zh-CN" altLang="en-US" sz="2400" dirty="0">
                <a:solidFill>
                  <a:schemeClr val="bg1"/>
                </a:solidFill>
              </a:rPr>
              <a:t>连边，容量为</a:t>
            </a:r>
            <a:r>
              <a:rPr lang="en-US" altLang="zh-CN" sz="2400" dirty="0">
                <a:solidFill>
                  <a:schemeClr val="bg1"/>
                </a:solidFill>
              </a:rPr>
              <a:t>INF</a:t>
            </a:r>
            <a:r>
              <a:rPr lang="zh-CN" altLang="en-US" sz="2400" dirty="0">
                <a:solidFill>
                  <a:schemeClr val="bg1"/>
                </a:solidFill>
              </a:rPr>
              <a:t>，花费为</a:t>
            </a:r>
            <a:r>
              <a:rPr lang="en-US" altLang="zh-CN" sz="2400" dirty="0">
                <a:solidFill>
                  <a:schemeClr val="bg1"/>
                </a:solidFill>
              </a:rPr>
              <a:t>p</a:t>
            </a:r>
            <a:r>
              <a:rPr lang="zh-CN" altLang="en-US" sz="2400" dirty="0">
                <a:solidFill>
                  <a:schemeClr val="bg1"/>
                </a:solidFill>
              </a:rPr>
              <a:t>，每天都可以购买餐巾无数次。</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将每天用过的餐巾在新建一层点，由于分配去快洗和慢洗的餐巾总数有限制，</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并非分别有限制，所有这两种无需再分开，这层点分别向</a:t>
            </a:r>
            <a:r>
              <a:rPr lang="en-US" altLang="zh-CN" sz="2400" dirty="0">
                <a:solidFill>
                  <a:schemeClr val="bg1"/>
                </a:solidFill>
              </a:rPr>
              <a:t>T</a:t>
            </a:r>
            <a:r>
              <a:rPr lang="zh-CN" altLang="en-US" sz="2400" dirty="0">
                <a:solidFill>
                  <a:schemeClr val="bg1"/>
                </a:solidFill>
              </a:rPr>
              <a:t>建边，容量为</a:t>
            </a:r>
            <a:r>
              <a:rPr lang="en-US" altLang="zh-CN" sz="2400" dirty="0">
                <a:solidFill>
                  <a:schemeClr val="bg1"/>
                </a:solidFill>
              </a:rPr>
              <a:t>Ri</a:t>
            </a:r>
            <a:r>
              <a:rPr lang="zh-CN" altLang="en-US" sz="2400" dirty="0">
                <a:solidFill>
                  <a:schemeClr val="bg1"/>
                </a:solidFill>
              </a:rPr>
              <a:t>，</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花费为</a:t>
            </a:r>
            <a:r>
              <a:rPr lang="en-US" altLang="zh-CN" sz="2400" dirty="0">
                <a:solidFill>
                  <a:schemeClr val="bg1"/>
                </a:solidFill>
              </a:rPr>
              <a:t>0</a:t>
            </a:r>
            <a:r>
              <a:rPr lang="zh-CN" altLang="en-US" sz="2400" dirty="0">
                <a:solidFill>
                  <a:schemeClr val="bg1"/>
                </a:solidFill>
              </a:rPr>
              <a:t>，限制总容量。</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使用快洗的餐巾，由</a:t>
            </a:r>
            <a:r>
              <a:rPr lang="en-US" altLang="zh-CN" sz="2400" dirty="0" err="1">
                <a:solidFill>
                  <a:schemeClr val="bg1"/>
                </a:solidFill>
              </a:rPr>
              <a:t>i</a:t>
            </a:r>
            <a:r>
              <a:rPr lang="zh-CN" altLang="en-US" sz="2400" dirty="0">
                <a:solidFill>
                  <a:schemeClr val="bg1"/>
                </a:solidFill>
              </a:rPr>
              <a:t>向</a:t>
            </a:r>
            <a:r>
              <a:rPr lang="en-US" altLang="zh-CN" sz="2400" dirty="0">
                <a:solidFill>
                  <a:schemeClr val="bg1"/>
                </a:solidFill>
              </a:rPr>
              <a:t>(</a:t>
            </a:r>
            <a:r>
              <a:rPr lang="en-US" altLang="zh-CN" sz="2400" dirty="0" err="1">
                <a:solidFill>
                  <a:schemeClr val="bg1"/>
                </a:solidFill>
              </a:rPr>
              <a:t>i</a:t>
            </a:r>
            <a:r>
              <a:rPr lang="en-US" altLang="zh-CN" sz="2400" dirty="0">
                <a:solidFill>
                  <a:schemeClr val="bg1"/>
                </a:solidFill>
              </a:rPr>
              <a:t>-m)’</a:t>
            </a:r>
            <a:r>
              <a:rPr lang="zh-CN" altLang="en-US" sz="2400" dirty="0">
                <a:solidFill>
                  <a:schemeClr val="bg1"/>
                </a:solidFill>
              </a:rPr>
              <a:t>建边，容量为</a:t>
            </a:r>
            <a:r>
              <a:rPr lang="en-US" altLang="zh-CN" sz="2400" dirty="0">
                <a:solidFill>
                  <a:schemeClr val="bg1"/>
                </a:solidFill>
              </a:rPr>
              <a:t>INF</a:t>
            </a:r>
            <a:r>
              <a:rPr lang="zh-CN" altLang="en-US" sz="2400" dirty="0">
                <a:solidFill>
                  <a:schemeClr val="bg1"/>
                </a:solidFill>
              </a:rPr>
              <a:t>，花费为</a:t>
            </a:r>
            <a:r>
              <a:rPr lang="en-US" altLang="zh-CN" sz="2400" dirty="0">
                <a:solidFill>
                  <a:schemeClr val="bg1"/>
                </a:solidFill>
              </a:rPr>
              <a:t>f</a:t>
            </a:r>
            <a:r>
              <a:rPr lang="zh-CN" altLang="en-US" sz="2400" dirty="0">
                <a:solidFill>
                  <a:schemeClr val="bg1"/>
                </a:solidFill>
              </a:rPr>
              <a:t>，慢洗同理，花费</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分别建边。</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但第</a:t>
            </a:r>
            <a:r>
              <a:rPr lang="en-US" altLang="zh-CN" sz="2400" dirty="0" err="1">
                <a:solidFill>
                  <a:schemeClr val="bg1"/>
                </a:solidFill>
              </a:rPr>
              <a:t>i</a:t>
            </a:r>
            <a:r>
              <a:rPr lang="en-US" altLang="zh-CN" sz="2400" dirty="0">
                <a:solidFill>
                  <a:schemeClr val="bg1"/>
                </a:solidFill>
              </a:rPr>
              <a:t>-m</a:t>
            </a:r>
            <a:r>
              <a:rPr lang="zh-CN" altLang="en-US" sz="2400" dirty="0">
                <a:solidFill>
                  <a:schemeClr val="bg1"/>
                </a:solidFill>
              </a:rPr>
              <a:t>天洗完后的餐巾也可以供第</a:t>
            </a:r>
            <a:r>
              <a:rPr lang="en-US" altLang="zh-CN" sz="2400" dirty="0" err="1">
                <a:solidFill>
                  <a:schemeClr val="bg1"/>
                </a:solidFill>
              </a:rPr>
              <a:t>i</a:t>
            </a:r>
            <a:r>
              <a:rPr lang="zh-CN" altLang="en-US" sz="2400" dirty="0">
                <a:solidFill>
                  <a:schemeClr val="bg1"/>
                </a:solidFill>
              </a:rPr>
              <a:t>天以后使用。所以再由</a:t>
            </a:r>
            <a:r>
              <a:rPr lang="en-US" altLang="zh-CN" sz="2400" dirty="0">
                <a:solidFill>
                  <a:schemeClr val="bg1"/>
                </a:solidFill>
              </a:rPr>
              <a:t>i+1</a:t>
            </a:r>
            <a:r>
              <a:rPr lang="zh-CN" altLang="en-US" sz="2400" dirty="0">
                <a:solidFill>
                  <a:schemeClr val="bg1"/>
                </a:solidFill>
              </a:rPr>
              <a:t>向</a:t>
            </a:r>
            <a:r>
              <a:rPr lang="en-US" altLang="zh-CN" sz="2400" dirty="0" err="1">
                <a:solidFill>
                  <a:schemeClr val="bg1"/>
                </a:solidFill>
              </a:rPr>
              <a:t>i</a:t>
            </a:r>
            <a:r>
              <a:rPr lang="zh-CN" altLang="en-US" sz="2400" dirty="0">
                <a:solidFill>
                  <a:schemeClr val="bg1"/>
                </a:solidFill>
              </a:rPr>
              <a:t>建边，容量</a:t>
            </a:r>
            <a:endParaRPr lang="en-US" altLang="zh-CN" sz="2400" dirty="0">
              <a:solidFill>
                <a:schemeClr val="bg1"/>
              </a:solidFill>
            </a:endParaRPr>
          </a:p>
          <a:p>
            <a:pPr algn="l">
              <a:lnSpc>
                <a:spcPct val="120000"/>
              </a:lnSpc>
            </a:pPr>
            <a:r>
              <a:rPr lang="en-US" altLang="zh-CN" sz="2400" dirty="0">
                <a:solidFill>
                  <a:schemeClr val="bg1"/>
                </a:solidFill>
              </a:rPr>
              <a:t>    </a:t>
            </a:r>
            <a:r>
              <a:rPr lang="zh-CN" altLang="en-US" sz="2400" dirty="0">
                <a:solidFill>
                  <a:schemeClr val="bg1"/>
                </a:solidFill>
              </a:rPr>
              <a:t>为</a:t>
            </a:r>
            <a:r>
              <a:rPr lang="en-US" altLang="zh-CN" sz="2400" dirty="0">
                <a:solidFill>
                  <a:schemeClr val="bg1"/>
                </a:solidFill>
              </a:rPr>
              <a:t>INF</a:t>
            </a:r>
            <a:r>
              <a:rPr lang="zh-CN" altLang="en-US" sz="2400" dirty="0">
                <a:solidFill>
                  <a:schemeClr val="bg1"/>
                </a:solidFill>
              </a:rPr>
              <a:t>，花费为</a:t>
            </a:r>
            <a:r>
              <a:rPr lang="en-US" altLang="zh-CN" sz="2400" dirty="0">
                <a:solidFill>
                  <a:schemeClr val="bg1"/>
                </a:solidFill>
              </a:rPr>
              <a:t>0</a:t>
            </a:r>
            <a:r>
              <a:rPr lang="zh-CN" altLang="en-US" sz="2400" dirty="0">
                <a:solidFill>
                  <a:schemeClr val="bg1"/>
                </a:solidFill>
              </a:rPr>
              <a:t>。这样第</a:t>
            </a:r>
            <a:r>
              <a:rPr lang="en-US" altLang="zh-CN" sz="2400" dirty="0" err="1">
                <a:solidFill>
                  <a:schemeClr val="bg1"/>
                </a:solidFill>
              </a:rPr>
              <a:t>i</a:t>
            </a:r>
            <a:r>
              <a:rPr lang="zh-CN" altLang="en-US" sz="2400" dirty="0">
                <a:solidFill>
                  <a:schemeClr val="bg1"/>
                </a:solidFill>
              </a:rPr>
              <a:t>天就能使用到以前所有可以使用的洗完的餐巾了。</a:t>
            </a:r>
            <a:endParaRPr lang="en-US" altLang="zh-CN"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6" y="682190"/>
            <a:ext cx="10692246" cy="892552"/>
          </a:xfrm>
          <a:prstGeom prst="rect">
            <a:avLst/>
          </a:prstGeom>
          <a:noFill/>
        </p:spPr>
        <p:txBody>
          <a:bodyPr wrap="square" rtlCol="0">
            <a:spAutoFit/>
          </a:bodyPr>
          <a:lstStyle/>
          <a:p>
            <a:pPr algn="l"/>
            <a:r>
              <a:rPr lang="en-US" altLang="zh-CN" sz="2400" dirty="0">
                <a:solidFill>
                  <a:schemeClr val="bg1"/>
                </a:solidFill>
              </a:rPr>
              <a:t>                                                      </a:t>
            </a:r>
            <a:r>
              <a:rPr lang="zh-CN" altLang="en-US" sz="2800" dirty="0">
                <a:solidFill>
                  <a:schemeClr val="bg1"/>
                </a:solidFill>
              </a:rPr>
              <a:t>球队收益</a:t>
            </a:r>
            <a:endParaRPr lang="en-US" altLang="zh-CN" sz="28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http://www.lydsy.com/JudgeOnline/problem.php?id=1449</a:t>
            </a:r>
            <a:endParaRPr lang="zh-CN" altLang="en-US" sz="2400" dirty="0">
              <a:solidFill>
                <a:schemeClr val="bg1"/>
              </a:solidFill>
            </a:endParaRPr>
          </a:p>
        </p:txBody>
      </p:sp>
      <p:sp>
        <p:nvSpPr>
          <p:cNvPr id="3" name="文本框 2"/>
          <p:cNvSpPr txBox="1"/>
          <p:nvPr/>
        </p:nvSpPr>
        <p:spPr>
          <a:xfrm>
            <a:off x="622996" y="1574742"/>
            <a:ext cx="10692246" cy="5262979"/>
          </a:xfrm>
          <a:prstGeom prst="rect">
            <a:avLst/>
          </a:prstGeom>
          <a:noFill/>
        </p:spPr>
        <p:txBody>
          <a:bodyPr wrap="square" rtlCol="0">
            <a:spAutoFit/>
          </a:bodyPr>
          <a:lstStyle/>
          <a:p>
            <a:pPr marL="342900" indent="-342900" algn="l">
              <a:buFont typeface="Wingdings" panose="05000000000000000000" pitchFamily="2" charset="2"/>
              <a:buChar char="Ø"/>
            </a:pPr>
            <a:r>
              <a:rPr lang="zh-CN" altLang="en-US" sz="2400" dirty="0">
                <a:solidFill>
                  <a:schemeClr val="bg1"/>
                </a:solidFill>
              </a:rPr>
              <a:t>题解：对于单独一支球队来说，假设其已经赢了</a:t>
            </a:r>
            <a:r>
              <a:rPr lang="en-US" altLang="zh-CN" sz="2400" dirty="0">
                <a:solidFill>
                  <a:schemeClr val="bg1"/>
                </a:solidFill>
              </a:rPr>
              <a:t>n</a:t>
            </a:r>
            <a:r>
              <a:rPr lang="zh-CN" altLang="en-US" sz="2400" dirty="0">
                <a:solidFill>
                  <a:schemeClr val="bg1"/>
                </a:solidFill>
              </a:rPr>
              <a:t>场，输了</a:t>
            </a:r>
            <a:r>
              <a:rPr lang="en-US" altLang="zh-CN" sz="2400" dirty="0">
                <a:solidFill>
                  <a:schemeClr val="bg1"/>
                </a:solidFill>
              </a:rPr>
              <a:t>m</a:t>
            </a:r>
            <a:r>
              <a:rPr lang="zh-CN" altLang="en-US" sz="2400" dirty="0">
                <a:solidFill>
                  <a:schemeClr val="bg1"/>
                </a:solidFill>
              </a:rPr>
              <a:t>场。当其再赢</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一场时，增加的收益为</a:t>
            </a:r>
            <a:r>
              <a:rPr lang="en-US" altLang="zh-CN" sz="2400" dirty="0">
                <a:solidFill>
                  <a:schemeClr val="bg1"/>
                </a:solidFill>
              </a:rPr>
              <a:t>Ci*((n+1)^2-n^2)</a:t>
            </a:r>
            <a:r>
              <a:rPr lang="zh-CN" altLang="en-US" sz="2400" dirty="0">
                <a:solidFill>
                  <a:schemeClr val="bg1"/>
                </a:solidFill>
              </a:rPr>
              <a:t>，即</a:t>
            </a:r>
            <a:r>
              <a:rPr lang="en-US" altLang="zh-CN" sz="2400" dirty="0">
                <a:solidFill>
                  <a:schemeClr val="bg1"/>
                </a:solidFill>
              </a:rPr>
              <a:t>Ci</a:t>
            </a:r>
            <a:r>
              <a:rPr lang="zh-CN" altLang="en-US" sz="2400" dirty="0">
                <a:solidFill>
                  <a:schemeClr val="bg1"/>
                </a:solidFill>
              </a:rPr>
              <a:t>*</a:t>
            </a:r>
            <a:r>
              <a:rPr lang="en-US" altLang="zh-CN" sz="2400" dirty="0">
                <a:solidFill>
                  <a:schemeClr val="bg1"/>
                </a:solidFill>
              </a:rPr>
              <a:t>(2n+1)</a:t>
            </a:r>
            <a:r>
              <a:rPr lang="zh-CN" altLang="en-US" sz="2400" dirty="0">
                <a:solidFill>
                  <a:schemeClr val="bg1"/>
                </a:solidFill>
              </a:rPr>
              <a:t>，输了同理。且每</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赢一场或输一场增加的收益都是递增的。所以我们可以直接统计每支球队接</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下来要比赛的局数，并分别为赢了或输了第几场比赛建边，因为收益递增，</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且求最小费用，所以，一定是按照赢或输的累积次数流的。</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对于一场比赛来说，只有两种结果，所以要对其建一条容量为一的入边，并</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建两条容量为</a:t>
            </a:r>
            <a:r>
              <a:rPr lang="en-US" altLang="zh-CN" sz="2400" dirty="0">
                <a:solidFill>
                  <a:schemeClr val="bg1"/>
                </a:solidFill>
              </a:rPr>
              <a:t>1</a:t>
            </a:r>
            <a:r>
              <a:rPr lang="zh-CN" altLang="en-US" sz="2400" dirty="0">
                <a:solidFill>
                  <a:schemeClr val="bg1"/>
                </a:solidFill>
              </a:rPr>
              <a:t>的出边，分别指向两种结果。</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但这样，对于其中一种结果，容量为一，不能分别流向两支球队去修改各自</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的收益。又不可增大原来决定结果的三条边的流量，因为这样会出现，流同</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时流向两种结果的情况，不合法。</a:t>
            </a:r>
            <a:endParaRPr lang="en-US" altLang="zh-CN" sz="2400" dirty="0">
              <a:solidFill>
                <a:schemeClr val="bg1"/>
              </a:solidFill>
            </a:endParaRPr>
          </a:p>
          <a:p>
            <a:pPr algn="l"/>
            <a:r>
              <a:rPr lang="en-US" altLang="zh-CN" sz="2400" dirty="0">
                <a:solidFill>
                  <a:schemeClr val="bg1"/>
                </a:solidFill>
              </a:rPr>
              <a:t>    </a:t>
            </a:r>
            <a:r>
              <a:rPr lang="zh-CN" altLang="en-US" sz="2400" dirty="0">
                <a:solidFill>
                  <a:schemeClr val="bg1"/>
                </a:solidFill>
              </a:rPr>
              <a:t>所以，我们只修改获胜球队</a:t>
            </a:r>
            <a:r>
              <a:rPr lang="en-US" altLang="zh-CN" sz="2400" dirty="0">
                <a:solidFill>
                  <a:schemeClr val="bg1"/>
                </a:solidFill>
              </a:rPr>
              <a:t>(</a:t>
            </a:r>
            <a:r>
              <a:rPr lang="zh-CN" altLang="en-US" sz="2400" dirty="0">
                <a:solidFill>
                  <a:schemeClr val="bg1"/>
                </a:solidFill>
              </a:rPr>
              <a:t>或失败球队</a:t>
            </a:r>
            <a:r>
              <a:rPr lang="en-US" altLang="zh-CN" sz="2400" dirty="0">
                <a:solidFill>
                  <a:schemeClr val="bg1"/>
                </a:solidFill>
              </a:rPr>
              <a:t>)</a:t>
            </a:r>
            <a:r>
              <a:rPr lang="zh-CN" altLang="en-US" sz="2400" dirty="0">
                <a:solidFill>
                  <a:schemeClr val="bg1"/>
                </a:solidFill>
              </a:rPr>
              <a:t>的收益。最初，我们先将一个球队</a:t>
            </a:r>
            <a:endParaRPr lang="en-US" altLang="zh-CN" sz="2400" dirty="0">
              <a:solidFill>
                <a:schemeClr val="bg1"/>
              </a:solidFill>
            </a:endParaRPr>
          </a:p>
          <a:p>
            <a:r>
              <a:rPr lang="en-US" altLang="zh-CN" sz="2400" dirty="0">
                <a:solidFill>
                  <a:schemeClr val="bg1"/>
                </a:solidFill>
              </a:rPr>
              <a:t>    </a:t>
            </a:r>
            <a:r>
              <a:rPr lang="zh-CN" altLang="en-US" sz="2400" dirty="0">
                <a:solidFill>
                  <a:schemeClr val="bg1"/>
                </a:solidFill>
              </a:rPr>
              <a:t>的总收益算成接下来都会输的结果，这样每赢一场增加的收益就是</a:t>
            </a:r>
            <a:endParaRPr lang="en-US" altLang="zh-CN" sz="2400" dirty="0">
              <a:solidFill>
                <a:schemeClr val="bg1"/>
              </a:solidFill>
            </a:endParaRPr>
          </a:p>
          <a:p>
            <a:r>
              <a:rPr lang="zh-CN" altLang="en-US" sz="2400" dirty="0">
                <a:solidFill>
                  <a:schemeClr val="bg1"/>
                </a:solidFill>
              </a:rPr>
              <a:t>    </a:t>
            </a:r>
            <a:r>
              <a:rPr lang="en-US" altLang="zh-CN" sz="2400" dirty="0">
                <a:solidFill>
                  <a:schemeClr val="bg1"/>
                </a:solidFill>
              </a:rPr>
              <a:t>Ci*((n+1)^2-n^2)- Di*((m+1)^2-m^2)</a:t>
            </a:r>
            <a:r>
              <a:rPr lang="zh-CN" altLang="en-US" sz="2400" dirty="0">
                <a:solidFill>
                  <a:schemeClr val="bg1"/>
                </a:solidFill>
              </a:rPr>
              <a:t>，问题就解决了。</a:t>
            </a:r>
            <a:endParaRPr lang="en-US" altLang="zh-CN" sz="2400" dirty="0">
              <a:solidFill>
                <a:schemeClr val="bg1"/>
              </a:solidFill>
            </a:endParaRPr>
          </a:p>
          <a:p>
            <a:pPr algn="l"/>
            <a:endParaRPr lang="en-US" altLang="zh-CN"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六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费用流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22996" y="682190"/>
            <a:ext cx="10692246" cy="892552"/>
          </a:xfrm>
          <a:prstGeom prst="rect">
            <a:avLst/>
          </a:prstGeom>
          <a:noFill/>
        </p:spPr>
        <p:txBody>
          <a:bodyPr wrap="square" rtlCol="0">
            <a:spAutoFit/>
          </a:bodyPr>
          <a:lstStyle/>
          <a:p>
            <a:pPr algn="l"/>
            <a:r>
              <a:rPr lang="en-US" altLang="zh-CN" sz="2400" dirty="0">
                <a:solidFill>
                  <a:schemeClr val="bg1"/>
                </a:solidFill>
              </a:rPr>
              <a:t>                                                   </a:t>
            </a:r>
            <a:r>
              <a:rPr lang="zh-CN" altLang="en-US" sz="2800" dirty="0">
                <a:solidFill>
                  <a:schemeClr val="bg1"/>
                </a:solidFill>
              </a:rPr>
              <a:t>剪刀石头布</a:t>
            </a:r>
            <a:endParaRPr lang="en-US" altLang="zh-CN" sz="3200" dirty="0">
              <a:solidFill>
                <a:schemeClr val="bg1"/>
              </a:solidFill>
            </a:endParaRPr>
          </a:p>
          <a:p>
            <a:pPr marL="342900" indent="-342900">
              <a:buFont typeface="Wingdings" panose="05000000000000000000" pitchFamily="2" charset="2"/>
              <a:buChar char="Ø"/>
            </a:pPr>
            <a:r>
              <a:rPr lang="zh-CN" altLang="en-US" sz="2400" dirty="0">
                <a:solidFill>
                  <a:schemeClr val="bg1"/>
                </a:solidFill>
              </a:rPr>
              <a:t>链接：</a:t>
            </a:r>
            <a:r>
              <a:rPr lang="en-US" altLang="zh-CN" sz="2400" dirty="0">
                <a:solidFill>
                  <a:schemeClr val="bg1"/>
                </a:solidFill>
                <a:hlinkClick r:id="rId1"/>
              </a:rPr>
              <a:t>http://www.lydsy.com/JudgeOnline/problem.php?id=2597</a:t>
            </a:r>
            <a:endParaRPr lang="zh-CN" altLang="en-US" sz="2400" dirty="0">
              <a:solidFill>
                <a:schemeClr val="bg1"/>
              </a:solidFill>
            </a:endParaRPr>
          </a:p>
        </p:txBody>
      </p:sp>
      <mc:AlternateContent xmlns:mc="http://schemas.openxmlformats.org/markup-compatibility/2006">
        <mc:Choice xmlns:a14="http://schemas.microsoft.com/office/drawing/2010/main" Requires="a14">
          <p:sp>
            <p:nvSpPr>
              <p:cNvPr id="3" name="文本框 2">
                <a:extLst>
                  <a:ext uri="{FF2B5EF4-FFF2-40B4-BE49-F238E27FC236}">
                    <a14:artisticCrisscrossEtching id="{6330FF2E-95D1-43FD-8BC8-42749B9D5BB7}"/>
                  </a:ext>
                </a:extLst>
              </p:cNvPr>
              <p:cNvSpPr txBox="1"/>
              <p:nvPr/>
            </p:nvSpPr>
            <p:spPr>
              <a:xfrm>
                <a:off x="622996" y="1574743"/>
                <a:ext cx="10858960" cy="5428153"/>
              </a:xfrm>
              <a:prstGeom prst="rect">
                <a:avLst/>
              </a:prstGeom>
              <a:noFill/>
            </p:spPr>
            <p:txBody>
              <a:bodyPr wrap="square" rtlCol="0">
                <a:spAutoFit/>
              </a:bodyPr>
              <a:lstStyle/>
              <a:p>
                <a:pPr marL="342900" indent="-342900" algn="l">
                  <a:lnSpc>
                    <a:spcPct val="150000"/>
                  </a:lnSpc>
                  <a:buFont typeface="Wingdings" panose="05000000000000000000" pitchFamily="2" charset="2"/>
                  <a:buChar char="Ø"/>
                </a:pPr>
                <a:r>
                  <a:rPr lang="zh-CN" altLang="en-US" sz="2400" dirty="0">
                    <a:solidFill>
                      <a:schemeClr val="bg1"/>
                    </a:solidFill>
                  </a:rPr>
                  <a:t>题解：此题和上一题的思路相同。</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需要注意到的是，对于任意三个人来说只有两种情况。三个人形成一个环，</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题中所示。其中一个人战胜了另外两个人，另两个人随便。</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所以最后环的数目为，所有三个人的组合减去</a:t>
                </a:r>
                <a14:m>
                  <m:oMath xmlns:m="http://schemas.openxmlformats.org/officeDocument/2006/math">
                    <m:nary>
                      <m:naryPr>
                        <m:chr m:val="∑"/>
                        <m:limLoc m:val="undOvr"/>
                        <m:grow m:val="on"/>
                        <m:ctrlPr>
                          <a:rPr lang="en-US" altLang="zh-CN" sz="2400" i="1" dirty="0" smtClean="0">
                            <a:solidFill>
                              <a:schemeClr val="bg1"/>
                            </a:solidFill>
                            <a:latin typeface="Cambria Math" panose="02040503050406030204" pitchFamily="18" charset="0"/>
                          </a:rPr>
                        </m:ctrlPr>
                      </m:naryPr>
                      <m:sub>
                        <m:r>
                          <a:rPr lang="en-US" altLang="zh-CN" sz="2400" i="1" dirty="0" smtClean="0">
                            <a:solidFill>
                              <a:schemeClr val="bg1"/>
                            </a:solidFill>
                            <a:latin typeface="Cambria Math" panose="02040503050406030204" pitchFamily="18" charset="0"/>
                          </a:rPr>
                          <m:t>𝑖</m:t>
                        </m:r>
                        <m:r>
                          <a:rPr lang="en-US" altLang="zh-CN" sz="2400" i="0" dirty="0" smtClean="0">
                            <a:solidFill>
                              <a:schemeClr val="bg1"/>
                            </a:solidFill>
                            <a:latin typeface="Cambria Math" panose="02040503050406030204" pitchFamily="18" charset="0"/>
                          </a:rPr>
                          <m:t>=1</m:t>
                        </m:r>
                      </m:sub>
                      <m:sup>
                        <m:r>
                          <a:rPr lang="en-US" altLang="zh-CN" sz="2400" i="1" dirty="0" smtClean="0">
                            <a:solidFill>
                              <a:schemeClr val="bg1"/>
                            </a:solidFill>
                            <a:latin typeface="Cambria Math" panose="02040503050406030204" pitchFamily="18" charset="0"/>
                          </a:rPr>
                          <m:t>𝑛</m:t>
                        </m:r>
                      </m:sup>
                      <m:e>
                        <m:sSubSup>
                          <m:sSubSupPr>
                            <m:ctrlPr>
                              <a:rPr lang="en-US" altLang="zh-CN" sz="2400" i="1" dirty="0" smtClean="0">
                                <a:solidFill>
                                  <a:schemeClr val="bg1"/>
                                </a:solidFill>
                                <a:latin typeface="Cambria Math" panose="02040503050406030204" pitchFamily="18" charset="0"/>
                              </a:rPr>
                            </m:ctrlPr>
                          </m:sSubSupPr>
                          <m:e>
                            <m:r>
                              <a:rPr lang="en-US" altLang="zh-CN" sz="2400" i="1" dirty="0" smtClean="0">
                                <a:solidFill>
                                  <a:schemeClr val="bg1"/>
                                </a:solidFill>
                                <a:latin typeface="Cambria Math" panose="02040503050406030204" pitchFamily="18" charset="0"/>
                              </a:rPr>
                              <m:t>𝐶</m:t>
                            </m:r>
                          </m:e>
                          <m:sub>
                            <m:r>
                              <a:rPr lang="en-US" altLang="zh-CN" sz="2400" i="1" dirty="0" smtClean="0">
                                <a:solidFill>
                                  <a:schemeClr val="bg1"/>
                                </a:solidFill>
                                <a:latin typeface="Cambria Math" panose="02040503050406030204" pitchFamily="18" charset="0"/>
                              </a:rPr>
                              <m:t>𝑓</m:t>
                            </m:r>
                            <m:d>
                              <m:dPr>
                                <m:ctrlPr>
                                  <a:rPr lang="en-US" altLang="zh-CN" sz="2400" i="1" dirty="0" smtClean="0">
                                    <a:solidFill>
                                      <a:schemeClr val="bg1"/>
                                    </a:solidFill>
                                    <a:latin typeface="Cambria Math" panose="02040503050406030204" pitchFamily="18" charset="0"/>
                                  </a:rPr>
                                </m:ctrlPr>
                              </m:dPr>
                              <m:e>
                                <m:r>
                                  <a:rPr lang="en-US" altLang="zh-CN" sz="2400" i="1" dirty="0" smtClean="0">
                                    <a:solidFill>
                                      <a:schemeClr val="bg1"/>
                                    </a:solidFill>
                                    <a:latin typeface="Cambria Math" panose="02040503050406030204" pitchFamily="18" charset="0"/>
                                  </a:rPr>
                                  <m:t>𝑖</m:t>
                                </m:r>
                              </m:e>
                            </m:d>
                          </m:sub>
                          <m:sup>
                            <m:r>
                              <a:rPr lang="en-US" altLang="zh-CN" sz="2400" i="0" dirty="0" smtClean="0">
                                <a:solidFill>
                                  <a:schemeClr val="bg1"/>
                                </a:solidFill>
                                <a:latin typeface="Cambria Math" panose="02040503050406030204" pitchFamily="18" charset="0"/>
                              </a:rPr>
                              <m:t>2</m:t>
                            </m:r>
                          </m:sup>
                        </m:sSubSup>
                      </m:e>
                    </m:nary>
                  </m:oMath>
                </a14:m>
                <a:r>
                  <a:rPr lang="zh-CN" altLang="en-US" sz="2400" dirty="0">
                    <a:solidFill>
                      <a:schemeClr val="bg1"/>
                    </a:solidFill>
                  </a:rPr>
                  <a:t>，其中</a:t>
                </a:r>
                <a:r>
                  <a:rPr lang="en-US" altLang="zh-CN" sz="2400" dirty="0">
                    <a:solidFill>
                      <a:schemeClr val="bg1"/>
                    </a:solidFill>
                  </a:rPr>
                  <a:t>f(</a:t>
                </a:r>
                <a:r>
                  <a:rPr lang="en-US" altLang="zh-CN" sz="2400" dirty="0" err="1">
                    <a:solidFill>
                      <a:schemeClr val="bg1"/>
                    </a:solidFill>
                  </a:rPr>
                  <a:t>i</a:t>
                </a:r>
                <a:r>
                  <a:rPr lang="en-US" altLang="zh-CN" sz="2400" dirty="0">
                    <a:solidFill>
                      <a:schemeClr val="bg1"/>
                    </a:solidFill>
                  </a:rPr>
                  <a:t>)</a:t>
                </a:r>
                <a:r>
                  <a:rPr lang="zh-CN" altLang="en-US" sz="2400" dirty="0">
                    <a:solidFill>
                      <a:schemeClr val="bg1"/>
                    </a:solidFill>
                  </a:rPr>
                  <a:t>为第</a:t>
                </a:r>
                <a:r>
                  <a:rPr lang="en-US" altLang="zh-CN" sz="2400" dirty="0" err="1">
                    <a:solidFill>
                      <a:schemeClr val="bg1"/>
                    </a:solidFill>
                  </a:rPr>
                  <a:t>i</a:t>
                </a:r>
                <a:r>
                  <a:rPr lang="zh-CN" altLang="en-US" sz="2400" dirty="0">
                    <a:solidFill>
                      <a:schemeClr val="bg1"/>
                    </a:solidFill>
                  </a:rPr>
                  <a:t>个</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人战胜的人的数量。</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这样对于</a:t>
                </a:r>
                <a:r>
                  <a:rPr lang="en-US" altLang="zh-CN" sz="2400" dirty="0" err="1">
                    <a:solidFill>
                      <a:schemeClr val="bg1"/>
                    </a:solidFill>
                  </a:rPr>
                  <a:t>i</a:t>
                </a:r>
                <a:r>
                  <a:rPr lang="zh-CN" altLang="en-US" sz="2400" dirty="0">
                    <a:solidFill>
                      <a:schemeClr val="bg1"/>
                    </a:solidFill>
                  </a:rPr>
                  <a:t>来说，赢第</a:t>
                </a:r>
                <a:r>
                  <a:rPr lang="en-US" altLang="zh-CN" sz="2400" dirty="0">
                    <a:solidFill>
                      <a:schemeClr val="bg1"/>
                    </a:solidFill>
                  </a:rPr>
                  <a:t>n</a:t>
                </a:r>
                <a:r>
                  <a:rPr lang="zh-CN" altLang="en-US" sz="2400" dirty="0">
                    <a:solidFill>
                      <a:schemeClr val="bg1"/>
                    </a:solidFill>
                  </a:rPr>
                  <a:t>个人，环总数就需要减去</a:t>
                </a:r>
                <a:r>
                  <a:rPr lang="en-US" altLang="zh-CN" sz="2400" dirty="0">
                    <a:solidFill>
                      <a:schemeClr val="bg1"/>
                    </a:solidFill>
                  </a:rPr>
                  <a:t>n-1</a:t>
                </a:r>
                <a:r>
                  <a:rPr lang="zh-CN" altLang="en-US" sz="2400" dirty="0">
                    <a:solidFill>
                      <a:schemeClr val="bg1"/>
                    </a:solidFill>
                  </a:rPr>
                  <a:t>。</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所以仍需对赢第</a:t>
                </a:r>
                <a:r>
                  <a:rPr lang="en-US" altLang="zh-CN" sz="2400" dirty="0">
                    <a:solidFill>
                      <a:schemeClr val="bg1"/>
                    </a:solidFill>
                  </a:rPr>
                  <a:t>n</a:t>
                </a:r>
                <a:r>
                  <a:rPr lang="zh-CN" altLang="en-US" sz="2400" dirty="0">
                    <a:solidFill>
                      <a:schemeClr val="bg1"/>
                    </a:solidFill>
                  </a:rPr>
                  <a:t>个人建一条边。但输了的话不需要修改结果，所以无需将</a:t>
                </a:r>
                <a:endParaRPr lang="en-US" altLang="zh-CN" sz="2400" dirty="0">
                  <a:solidFill>
                    <a:schemeClr val="bg1"/>
                  </a:solidFill>
                </a:endParaRPr>
              </a:p>
              <a:p>
                <a:pPr algn="l">
                  <a:lnSpc>
                    <a:spcPct val="150000"/>
                  </a:lnSpc>
                </a:pPr>
                <a:r>
                  <a:rPr lang="en-US" altLang="zh-CN" sz="2400" dirty="0">
                    <a:solidFill>
                      <a:schemeClr val="bg1"/>
                    </a:solidFill>
                  </a:rPr>
                  <a:t>    </a:t>
                </a:r>
                <a:r>
                  <a:rPr lang="zh-CN" altLang="en-US" sz="2400" dirty="0">
                    <a:solidFill>
                      <a:schemeClr val="bg1"/>
                    </a:solidFill>
                  </a:rPr>
                  <a:t>输赢结果合并，赢了直接修改。</a:t>
                </a:r>
                <a:endParaRPr lang="en-US" altLang="zh-CN" sz="2400" dirty="0">
                  <a:solidFill>
                    <a:schemeClr val="bg1"/>
                  </a:solidFill>
                </a:endParaRPr>
              </a:p>
              <a:p>
                <a:pPr algn="l"/>
                <a:endParaRPr lang="en-US" altLang="zh-CN" sz="2400" dirty="0">
                  <a:solidFill>
                    <a:schemeClr val="bg1"/>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622996" y="1574743"/>
                <a:ext cx="10858960" cy="5428153"/>
              </a:xfrm>
              <a:prstGeom prst="rect">
                <a:avLst/>
              </a:prstGeom>
              <a:blipFill rotWithShape="1">
                <a:blip r:embed="rId2"/>
                <a:stretch>
                  <a:fillRect l="-730"/>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22996" y="160775"/>
            <a:ext cx="7958296"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七 </a:t>
            </a:r>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提问时间</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2180492" y="2059912"/>
            <a:ext cx="6240027" cy="2800767"/>
          </a:xfrm>
          <a:prstGeom prst="rect">
            <a:avLst/>
          </a:prstGeom>
          <a:noFill/>
        </p:spPr>
        <p:txBody>
          <a:bodyPr wrap="square" lIns="91440" tIns="45720" rIns="91440" bIns="45720">
            <a:spAutoFit/>
          </a:bodyPr>
          <a:lstStyle/>
          <a:p>
            <a:pPr algn="ctr"/>
            <a:r>
              <a:rPr lang="en-US" altLang="zh-CN" sz="8800" b="0" cap="none" spc="0" dirty="0">
                <a:ln w="0"/>
                <a:solidFill>
                  <a:schemeClr val="accent1"/>
                </a:solidFill>
                <a:effectLst>
                  <a:outerShdw blurRad="38100" dist="25400" dir="5400000" algn="ctr" rotWithShape="0">
                    <a:srgbClr val="6E747A">
                      <a:alpha val="43000"/>
                    </a:srgbClr>
                  </a:outerShdw>
                </a:effectLst>
              </a:rPr>
              <a:t>Question time</a:t>
            </a:r>
            <a:endParaRPr lang="zh-CN" altLang="en-US" sz="88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橙色">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fillRect/>
          </a:stretch>
        </a:blipFill>
      </a:bgFillStyleLst>
    </a:fmtScheme>
  </a:themeElements>
  <a:objectDefaults>
    <a:txDef>
      <a:spPr>
        <a:noFill/>
      </a:spPr>
      <a:bodyPr wrap="square" rtlCol="0">
        <a:spAutoFit/>
      </a:bodyPr>
      <a:lstStyle>
        <a:defPPr algn="l">
          <a:defRPr sz="2400" dirty="0" smtClean="0">
            <a:solidFill>
              <a:schemeClr val="bg1"/>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11518</Words>
  <Application>WPS 演示</Application>
  <PresentationFormat>宽屏</PresentationFormat>
  <Paragraphs>779</Paragraphs>
  <Slides>34</Slides>
  <Notes>4</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34</vt:i4>
      </vt:variant>
    </vt:vector>
  </HeadingPairs>
  <TitlesOfParts>
    <vt:vector size="49" baseType="lpstr">
      <vt:lpstr>Arial</vt:lpstr>
      <vt:lpstr>宋体</vt:lpstr>
      <vt:lpstr>Wingdings</vt:lpstr>
      <vt:lpstr>Microsoft YaHei UI</vt:lpstr>
      <vt:lpstr>Wingdings 3</vt:lpstr>
      <vt:lpstr>Arial</vt:lpstr>
      <vt:lpstr>微软雅黑</vt:lpstr>
      <vt:lpstr>Century Gothic</vt:lpstr>
      <vt:lpstr>Arial Unicode MS</vt:lpstr>
      <vt:lpstr>Calibri</vt:lpstr>
      <vt:lpstr>Times New Roman</vt:lpstr>
      <vt:lpstr>Helvetica Neue</vt:lpstr>
      <vt:lpstr>离子</vt:lpstr>
      <vt:lpstr>Equation.KSEE3</vt:lpstr>
      <vt:lpstr>Equation.KSEE3</vt:lpstr>
      <vt:lpstr>网络流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lenovo</cp:lastModifiedBy>
  <cp:revision>12</cp:revision>
  <dcterms:created xsi:type="dcterms:W3CDTF">2017-07-19T00:46:00Z</dcterms:created>
  <dcterms:modified xsi:type="dcterms:W3CDTF">2017-07-28T23:16:01Z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TC030395169991</vt:lpwstr>
  </property>
  <property fmtid="{D5CDD505-2E9C-101B-9397-08002B2CF9AE}" pid="3" name="KSOProductBuildVer">
    <vt:lpwstr>2052-10.1.0.6690</vt:lpwstr>
  </property>
</Properties>
</file>