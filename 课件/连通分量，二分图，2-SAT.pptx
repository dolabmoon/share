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69" r:id="rId2"/>
    <p:sldId id="270" r:id="rId3"/>
    <p:sldId id="316" r:id="rId4"/>
    <p:sldId id="317" r:id="rId5"/>
    <p:sldId id="272" r:id="rId6"/>
    <p:sldId id="273" r:id="rId7"/>
    <p:sldId id="274" r:id="rId8"/>
    <p:sldId id="337" r:id="rId9"/>
    <p:sldId id="338" r:id="rId10"/>
    <p:sldId id="339" r:id="rId11"/>
    <p:sldId id="340" r:id="rId12"/>
    <p:sldId id="341" r:id="rId13"/>
    <p:sldId id="276" r:id="rId14"/>
    <p:sldId id="320" r:id="rId15"/>
    <p:sldId id="275" r:id="rId16"/>
    <p:sldId id="279" r:id="rId17"/>
    <p:sldId id="280" r:id="rId18"/>
    <p:sldId id="278" r:id="rId19"/>
    <p:sldId id="281" r:id="rId20"/>
    <p:sldId id="342" r:id="rId21"/>
    <p:sldId id="283" r:id="rId22"/>
    <p:sldId id="285" r:id="rId23"/>
    <p:sldId id="343" r:id="rId24"/>
    <p:sldId id="344" r:id="rId25"/>
    <p:sldId id="345" r:id="rId26"/>
    <p:sldId id="346" r:id="rId27"/>
    <p:sldId id="360" r:id="rId28"/>
    <p:sldId id="347" r:id="rId29"/>
    <p:sldId id="348" r:id="rId30"/>
    <p:sldId id="349" r:id="rId31"/>
    <p:sldId id="373" r:id="rId32"/>
    <p:sldId id="350" r:id="rId33"/>
    <p:sldId id="351" r:id="rId34"/>
    <p:sldId id="352" r:id="rId35"/>
    <p:sldId id="353" r:id="rId36"/>
    <p:sldId id="354" r:id="rId37"/>
    <p:sldId id="355" r:id="rId38"/>
    <p:sldId id="356" r:id="rId39"/>
    <p:sldId id="361" r:id="rId40"/>
    <p:sldId id="362" r:id="rId41"/>
    <p:sldId id="363" r:id="rId42"/>
    <p:sldId id="364" r:id="rId43"/>
    <p:sldId id="365" r:id="rId44"/>
    <p:sldId id="366" r:id="rId45"/>
    <p:sldId id="367" r:id="rId46"/>
    <p:sldId id="368" r:id="rId47"/>
    <p:sldId id="372" r:id="rId48"/>
    <p:sldId id="369" r:id="rId49"/>
    <p:sldId id="370" r:id="rId50"/>
    <p:sldId id="371"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edo jj" initials="yj" lastIdx="2" clrIdx="0">
    <p:extLst>
      <p:ext uri="{19B8F6BF-5375-455C-9EA6-DF929625EA0E}">
        <p15:presenceInfo xmlns:p15="http://schemas.microsoft.com/office/powerpoint/2012/main" userId="9c6be568d7b430d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127" autoAdjust="0"/>
    <p:restoredTop sz="96256" autoAdjust="0"/>
  </p:normalViewPr>
  <p:slideViewPr>
    <p:cSldViewPr snapToGrid="0">
      <p:cViewPr varScale="1">
        <p:scale>
          <a:sx n="111" d="100"/>
          <a:sy n="111" d="100"/>
        </p:scale>
        <p:origin x="3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31984-DD9D-4D75-9AAE-C390D60C659E}" type="datetimeFigureOut">
              <a:rPr lang="zh-CN" altLang="en-US" smtClean="0"/>
              <a:t>2017/6/2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0EBFA7-16B6-48AF-AC39-1D42A8703526}" type="slidenum">
              <a:rPr lang="zh-CN" altLang="en-US" smtClean="0"/>
              <a:t>‹#›</a:t>
            </a:fld>
            <a:endParaRPr lang="zh-CN" altLang="en-US"/>
          </a:p>
        </p:txBody>
      </p:sp>
    </p:spTree>
    <p:extLst>
      <p:ext uri="{BB962C8B-B14F-4D97-AF65-F5344CB8AC3E}">
        <p14:creationId xmlns:p14="http://schemas.microsoft.com/office/powerpoint/2010/main" val="636024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2017/6/2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9000" b="-39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2017/6/2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文本框 2051"/>
          <p:cNvSpPr txBox="1"/>
          <p:nvPr/>
        </p:nvSpPr>
        <p:spPr>
          <a:xfrm>
            <a:off x="3398809" y="2601230"/>
            <a:ext cx="5141342" cy="923330"/>
          </a:xfrm>
          <a:prstGeom prst="rect">
            <a:avLst/>
          </a:prstGeom>
          <a:noFill/>
          <a:ln w="9525">
            <a:noFill/>
            <a:miter/>
          </a:ln>
        </p:spPr>
        <p:txBody>
          <a:bodyPr wrap="square">
            <a:spAutoFit/>
          </a:bodyPr>
          <a:lstStyle/>
          <a:p>
            <a:pPr lvl="0"/>
            <a:r>
              <a:rPr lang="zh-CN" altLang="en-US" sz="5400" b="1" dirty="0" smtClean="0">
                <a:latin typeface="Arial" charset="0"/>
                <a:ea typeface="楷体" pitchFamily="49" charset="-122"/>
              </a:rPr>
              <a:t>一些图论知识</a:t>
            </a:r>
            <a:endParaRPr lang="zh-CN" altLang="en-US" sz="5400" b="1" dirty="0">
              <a:latin typeface="Arial" charset="0"/>
              <a:ea typeface="楷体" pitchFamily="49" charset="-122"/>
            </a:endParaRPr>
          </a:p>
        </p:txBody>
      </p:sp>
      <p:sp>
        <p:nvSpPr>
          <p:cNvPr id="2053" name="文本框 2052"/>
          <p:cNvSpPr txBox="1"/>
          <p:nvPr/>
        </p:nvSpPr>
        <p:spPr>
          <a:xfrm>
            <a:off x="8301289" y="4888483"/>
            <a:ext cx="3185487" cy="646331"/>
          </a:xfrm>
          <a:prstGeom prst="rect">
            <a:avLst/>
          </a:prstGeom>
          <a:noFill/>
          <a:ln w="9525">
            <a:noFill/>
            <a:miter/>
          </a:ln>
        </p:spPr>
        <p:txBody>
          <a:bodyPr wrap="none" anchor="t">
            <a:spAutoFit/>
          </a:bodyPr>
          <a:lstStyle/>
          <a:p>
            <a:pPr lvl="0"/>
            <a:r>
              <a:rPr lang="en-US" altLang="zh-CN" sz="3600" b="1" dirty="0" err="1" smtClean="0">
                <a:latin typeface="Arial" charset="0"/>
                <a:ea typeface="宋体" pitchFamily="2" charset="-122"/>
              </a:rPr>
              <a:t>NationalNight</a:t>
            </a:r>
            <a:endParaRPr lang="en-US" altLang="zh-CN" sz="3600" b="1" dirty="0">
              <a:latin typeface="Arial" charset="0"/>
              <a:ea typeface="宋体" pitchFamily="2" charset="-122"/>
            </a:endParaRPr>
          </a:p>
        </p:txBody>
      </p:sp>
    </p:spTree>
    <p:extLst>
      <p:ext uri="{BB962C8B-B14F-4D97-AF65-F5344CB8AC3E}">
        <p14:creationId xmlns:p14="http://schemas.microsoft.com/office/powerpoint/2010/main" val="40491935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a:xfrm>
            <a:off x="838200" y="434137"/>
            <a:ext cx="10515600" cy="1325563"/>
          </a:xfrm>
          <a:ln/>
        </p:spPr>
        <p:txBody>
          <a:bodyPr anchor="ctr">
            <a:normAutofit/>
          </a:bodyPr>
          <a:lstStyle/>
          <a:p>
            <a:r>
              <a:rPr lang="zh-CN" altLang="en-US" sz="7200" b="1" dirty="0">
                <a:ea typeface="楷体" pitchFamily="49" charset="-122"/>
              </a:rPr>
              <a:t>首先是目录</a:t>
            </a:r>
          </a:p>
        </p:txBody>
      </p:sp>
      <p:sp>
        <p:nvSpPr>
          <p:cNvPr id="4099" name="文本占位符 4098"/>
          <p:cNvSpPr>
            <a:spLocks noGrp="1"/>
          </p:cNvSpPr>
          <p:nvPr>
            <p:ph type="body" idx="1"/>
          </p:nvPr>
        </p:nvSpPr>
        <p:spPr>
          <a:xfrm>
            <a:off x="838200" y="2084417"/>
            <a:ext cx="10515600" cy="4351338"/>
          </a:xfrm>
          <a:ln/>
        </p:spPr>
        <p:txBody>
          <a:bodyPr>
            <a:normAutofit/>
          </a:bodyPr>
          <a:lstStyle/>
          <a:p>
            <a:r>
              <a:rPr lang="zh-CN" altLang="en-US" sz="4000" b="1" dirty="0" smtClean="0">
                <a:solidFill>
                  <a:srgbClr val="FF0000"/>
                </a:solidFill>
                <a:latin typeface="楷体" pitchFamily="49" charset="-122"/>
                <a:ea typeface="楷体" pitchFamily="49" charset="-122"/>
              </a:rPr>
              <a:t>强连通分量</a:t>
            </a:r>
            <a:endParaRPr lang="en-US" altLang="zh-CN" sz="4000" b="1" dirty="0">
              <a:solidFill>
                <a:srgbClr val="FF0000"/>
              </a:solidFill>
              <a:latin typeface="楷体" pitchFamily="49" charset="-122"/>
              <a:ea typeface="楷体" pitchFamily="49" charset="-122"/>
            </a:endParaRPr>
          </a:p>
          <a:p>
            <a:r>
              <a:rPr lang="zh-CN" altLang="en-US" sz="4000" b="1" dirty="0" smtClean="0">
                <a:latin typeface="楷体" pitchFamily="49" charset="-122"/>
                <a:ea typeface="楷体" pitchFamily="49" charset="-122"/>
              </a:rPr>
              <a:t>双连通分量</a:t>
            </a:r>
            <a:endParaRPr lang="en-US" altLang="zh-CN" sz="4000" b="1" dirty="0" smtClean="0">
              <a:latin typeface="楷体" pitchFamily="49" charset="-122"/>
              <a:ea typeface="楷体" pitchFamily="49" charset="-122"/>
            </a:endParaRPr>
          </a:p>
          <a:p>
            <a:r>
              <a:rPr lang="zh-CN" altLang="en-US" sz="4000" b="1" dirty="0">
                <a:latin typeface="楷体" pitchFamily="49" charset="-122"/>
                <a:ea typeface="楷体" pitchFamily="49" charset="-122"/>
              </a:rPr>
              <a:t>二分</a:t>
            </a:r>
            <a:r>
              <a:rPr lang="zh-CN" altLang="en-US" sz="4000" b="1" dirty="0" smtClean="0">
                <a:latin typeface="楷体" pitchFamily="49" charset="-122"/>
                <a:ea typeface="楷体" pitchFamily="49" charset="-122"/>
              </a:rPr>
              <a:t>图匹配</a:t>
            </a:r>
            <a:endParaRPr lang="en-US" altLang="zh-CN" sz="4000" b="1" dirty="0" smtClean="0">
              <a:latin typeface="楷体" pitchFamily="49" charset="-122"/>
              <a:ea typeface="楷体" pitchFamily="49" charset="-122"/>
            </a:endParaRPr>
          </a:p>
          <a:p>
            <a:r>
              <a:rPr lang="en-US" altLang="zh-CN" sz="4000" b="1" dirty="0" smtClean="0">
                <a:latin typeface="楷体" pitchFamily="49" charset="-122"/>
                <a:ea typeface="楷体" pitchFamily="49" charset="-122"/>
              </a:rPr>
              <a:t>2-SAT</a:t>
            </a:r>
            <a:endParaRPr lang="zh-CN" altLang="en-US" sz="4000" b="1" dirty="0">
              <a:latin typeface="楷体" pitchFamily="49" charset="-122"/>
              <a:ea typeface="楷体" pitchFamily="49" charset="-122"/>
            </a:endParaRPr>
          </a:p>
        </p:txBody>
      </p:sp>
    </p:spTree>
    <p:extLst>
      <p:ext uri="{BB962C8B-B14F-4D97-AF65-F5344CB8AC3E}">
        <p14:creationId xmlns:p14="http://schemas.microsoft.com/office/powerpoint/2010/main" val="14922248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什么是强连通分量</a:t>
            </a:r>
            <a:r>
              <a:rPr lang="en-US" altLang="zh-CN" dirty="0" smtClean="0"/>
              <a:t>?</a:t>
            </a:r>
            <a:endParaRPr lang="zh-CN" altLang="en-US" dirty="0"/>
          </a:p>
        </p:txBody>
      </p:sp>
      <p:sp>
        <p:nvSpPr>
          <p:cNvPr id="3" name="内容占位符 2"/>
          <p:cNvSpPr>
            <a:spLocks noGrp="1"/>
          </p:cNvSpPr>
          <p:nvPr>
            <p:ph idx="1"/>
          </p:nvPr>
        </p:nvSpPr>
        <p:spPr>
          <a:xfrm>
            <a:off x="838200" y="1825624"/>
            <a:ext cx="10833340" cy="572519"/>
          </a:xfrm>
        </p:spPr>
        <p:txBody>
          <a:bodyPr/>
          <a:lstStyle/>
          <a:p>
            <a:r>
              <a:rPr lang="zh-CN" altLang="en-US" dirty="0" smtClean="0"/>
              <a:t>根据百度百科的定义</a:t>
            </a:r>
            <a:endParaRPr lang="zh-CN" altLang="en-US" dirty="0"/>
          </a:p>
        </p:txBody>
      </p:sp>
      <p:sp>
        <p:nvSpPr>
          <p:cNvPr id="6" name="内容占位符 2"/>
          <p:cNvSpPr txBox="1">
            <a:spLocks/>
          </p:cNvSpPr>
          <p:nvPr/>
        </p:nvSpPr>
        <p:spPr>
          <a:xfrm>
            <a:off x="1217762" y="2398143"/>
            <a:ext cx="10833340" cy="28639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t>有向图</a:t>
            </a:r>
            <a:r>
              <a:rPr lang="en-US" altLang="zh-CN" dirty="0" smtClean="0"/>
              <a:t>G</a:t>
            </a:r>
            <a:r>
              <a:rPr lang="zh-CN" altLang="en-US" dirty="0" smtClean="0"/>
              <a:t>中，若两个顶点</a:t>
            </a:r>
            <a:r>
              <a:rPr lang="en-US" altLang="zh-CN" dirty="0" err="1" smtClean="0"/>
              <a:t>u,v</a:t>
            </a:r>
            <a:r>
              <a:rPr lang="zh-CN" altLang="en-US" dirty="0" smtClean="0"/>
              <a:t>之间能够相互到达，则称</a:t>
            </a:r>
            <a:r>
              <a:rPr lang="en-US" altLang="zh-CN" dirty="0" err="1" smtClean="0"/>
              <a:t>u,v</a:t>
            </a:r>
            <a:r>
              <a:rPr lang="zh-CN" altLang="en-US" dirty="0" smtClean="0"/>
              <a:t>是强联通的</a:t>
            </a:r>
            <a:endParaRPr lang="en-US" altLang="zh-CN" dirty="0" smtClean="0"/>
          </a:p>
          <a:p>
            <a:r>
              <a:rPr lang="zh-CN" altLang="en-US" dirty="0" smtClean="0"/>
              <a:t>若有向图</a:t>
            </a:r>
            <a:r>
              <a:rPr lang="en-US" altLang="zh-CN" dirty="0" smtClean="0"/>
              <a:t>G</a:t>
            </a:r>
            <a:r>
              <a:rPr lang="zh-CN" altLang="en-US" dirty="0" smtClean="0"/>
              <a:t>的每两个顶点都强连通，则</a:t>
            </a:r>
            <a:r>
              <a:rPr lang="en-US" altLang="zh-CN" dirty="0" smtClean="0"/>
              <a:t>G</a:t>
            </a:r>
            <a:r>
              <a:rPr lang="zh-CN" altLang="en-US" dirty="0" smtClean="0"/>
              <a:t>是一个强连通图</a:t>
            </a:r>
            <a:endParaRPr lang="en-US" altLang="zh-CN" dirty="0" smtClean="0"/>
          </a:p>
          <a:p>
            <a:r>
              <a:rPr lang="zh-CN" altLang="en-US" dirty="0" smtClean="0"/>
              <a:t>有向图的极大强连通子图，称为强连通分量</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7486" y="4012603"/>
            <a:ext cx="4282780" cy="2690121"/>
          </a:xfrm>
          <a:prstGeom prst="rect">
            <a:avLst/>
          </a:prstGeom>
        </p:spPr>
      </p:pic>
    </p:spTree>
    <p:extLst>
      <p:ext uri="{BB962C8B-B14F-4D97-AF65-F5344CB8AC3E}">
        <p14:creationId xmlns:p14="http://schemas.microsoft.com/office/powerpoint/2010/main" val="240320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00177" y="664234"/>
            <a:ext cx="10515600" cy="4986068"/>
          </a:xfrm>
        </p:spPr>
        <p:txBody>
          <a:bodyPr>
            <a:normAutofit/>
          </a:bodyPr>
          <a:lstStyle/>
          <a:p>
            <a:r>
              <a:rPr lang="zh-CN" altLang="en-US" dirty="0" smtClean="0"/>
              <a:t>由定义我们可以知道：</a:t>
            </a:r>
            <a:endParaRPr lang="en-US" altLang="zh-CN" dirty="0" smtClean="0"/>
          </a:p>
          <a:p>
            <a:endParaRPr lang="en-US" altLang="zh-CN" dirty="0"/>
          </a:p>
          <a:p>
            <a:pPr marL="0" indent="0">
              <a:buNone/>
            </a:pPr>
            <a:r>
              <a:rPr lang="en-US" altLang="zh-CN" dirty="0" smtClean="0"/>
              <a:t>	1.</a:t>
            </a:r>
            <a:r>
              <a:rPr lang="zh-CN" altLang="en-US" dirty="0"/>
              <a:t>强连通</a:t>
            </a:r>
            <a:r>
              <a:rPr lang="zh-CN" altLang="en-US" dirty="0" smtClean="0"/>
              <a:t>分量是针对有向图的</a:t>
            </a:r>
            <a:endParaRPr lang="en-US" altLang="zh-CN" dirty="0" smtClean="0"/>
          </a:p>
          <a:p>
            <a:pPr marL="0" indent="0">
              <a:buNone/>
            </a:pPr>
            <a:endParaRPr lang="en-US" altLang="zh-CN" dirty="0" smtClean="0"/>
          </a:p>
          <a:p>
            <a:pPr marL="0" indent="0">
              <a:buNone/>
            </a:pPr>
            <a:r>
              <a:rPr lang="en-US" altLang="zh-CN" dirty="0"/>
              <a:t>	</a:t>
            </a:r>
            <a:r>
              <a:rPr lang="en-US" altLang="zh-CN" dirty="0" smtClean="0"/>
              <a:t>2.</a:t>
            </a:r>
            <a:r>
              <a:rPr lang="zh-CN" altLang="en-US" dirty="0" smtClean="0"/>
              <a:t>有向图</a:t>
            </a:r>
            <a:r>
              <a:rPr lang="en-US" altLang="zh-CN" dirty="0" smtClean="0"/>
              <a:t>G</a:t>
            </a:r>
            <a:r>
              <a:rPr lang="zh-CN" altLang="en-US" dirty="0" smtClean="0"/>
              <a:t>中的每个点都属于且只属于一个强连通分量</a:t>
            </a:r>
            <a:endParaRPr lang="en-US" altLang="zh-CN" dirty="0" smtClean="0"/>
          </a:p>
          <a:p>
            <a:pPr marL="0" indent="0">
              <a:buNone/>
            </a:pPr>
            <a:endParaRPr lang="en-US" altLang="zh-CN" dirty="0" smtClean="0"/>
          </a:p>
          <a:p>
            <a:pPr marL="0" indent="0">
              <a:buNone/>
            </a:pPr>
            <a:r>
              <a:rPr lang="en-US" altLang="zh-CN" dirty="0" smtClean="0"/>
              <a:t>	3.</a:t>
            </a:r>
            <a:r>
              <a:rPr lang="zh-CN" altLang="en-US" dirty="0" smtClean="0"/>
              <a:t>若</a:t>
            </a:r>
            <a:r>
              <a:rPr lang="en-US" altLang="zh-CN" dirty="0" smtClean="0"/>
              <a:t>A,B</a:t>
            </a:r>
            <a:r>
              <a:rPr lang="zh-CN" altLang="en-US" dirty="0" smtClean="0"/>
              <a:t>属于同一个强连通分量，</a:t>
            </a:r>
            <a:r>
              <a:rPr lang="en-US" altLang="zh-CN" dirty="0" smtClean="0"/>
              <a:t>B,C</a:t>
            </a:r>
            <a:r>
              <a:rPr lang="zh-CN" altLang="en-US" dirty="0" smtClean="0"/>
              <a:t>属于同一个强连通分量，则</a:t>
            </a:r>
            <a:r>
              <a:rPr lang="en-US" altLang="zh-CN" dirty="0" smtClean="0"/>
              <a:t>A,C</a:t>
            </a:r>
            <a:r>
              <a:rPr lang="zh-CN" altLang="en-US" dirty="0" smtClean="0"/>
              <a:t>也属于同一个强连通分量</a:t>
            </a:r>
            <a:endParaRPr lang="en-US" altLang="zh-CN" dirty="0" smtClean="0"/>
          </a:p>
          <a:p>
            <a:pPr marL="0" indent="0">
              <a:buNone/>
            </a:pPr>
            <a:r>
              <a:rPr lang="en-US" altLang="zh-CN" dirty="0"/>
              <a:t>	</a:t>
            </a:r>
            <a:endParaRPr lang="en-US" altLang="zh-CN" dirty="0" smtClean="0"/>
          </a:p>
        </p:txBody>
      </p:sp>
    </p:spTree>
    <p:extLst>
      <p:ext uri="{BB962C8B-B14F-4D97-AF65-F5344CB8AC3E}">
        <p14:creationId xmlns:p14="http://schemas.microsoft.com/office/powerpoint/2010/main" val="3128924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p:cNvSpPr>
            <a:spLocks noGrp="1"/>
          </p:cNvSpPr>
          <p:nvPr>
            <p:ph type="title"/>
          </p:nvPr>
        </p:nvSpPr>
        <p:spPr>
          <a:xfrm>
            <a:off x="838200" y="278039"/>
            <a:ext cx="6008915" cy="1325563"/>
          </a:xfrm>
          <a:ln/>
        </p:spPr>
        <p:txBody>
          <a:bodyPr anchor="ctr"/>
          <a:lstStyle/>
          <a:p>
            <a:r>
              <a:rPr lang="zh-CN" altLang="en-US" b="1" dirty="0" smtClean="0">
                <a:ea typeface="楷体" pitchFamily="49" charset="-122"/>
              </a:rPr>
              <a:t>如何求强连通分量？</a:t>
            </a:r>
            <a:endParaRPr lang="zh-CN" altLang="en-US" b="1" dirty="0">
              <a:ea typeface="楷体" pitchFamily="49" charset="-122"/>
            </a:endParaRPr>
          </a:p>
        </p:txBody>
      </p:sp>
      <p:sp>
        <p:nvSpPr>
          <p:cNvPr id="6147" name="文本占位符 6146"/>
          <p:cNvSpPr>
            <a:spLocks noGrp="1"/>
          </p:cNvSpPr>
          <p:nvPr>
            <p:ph type="body" idx="1"/>
          </p:nvPr>
        </p:nvSpPr>
        <p:spPr>
          <a:ln/>
        </p:spPr>
        <p:txBody>
          <a:bodyPr/>
          <a:lstStyle/>
          <a:p>
            <a:r>
              <a:rPr lang="en-US" altLang="zh-CN" b="1" dirty="0" err="1" smtClean="0">
                <a:ea typeface="楷体" pitchFamily="49" charset="-122"/>
              </a:rPr>
              <a:t>Tarjan</a:t>
            </a:r>
            <a:r>
              <a:rPr lang="zh-CN" altLang="en-US" b="1" dirty="0" smtClean="0">
                <a:ea typeface="楷体" pitchFamily="49" charset="-122"/>
              </a:rPr>
              <a:t>算法</a:t>
            </a:r>
            <a:endParaRPr lang="en-US" altLang="zh-CN" b="1" dirty="0" smtClean="0">
              <a:ea typeface="楷体" pitchFamily="49" charset="-122"/>
            </a:endParaRPr>
          </a:p>
          <a:p>
            <a:endParaRPr lang="en-US" altLang="zh-CN" dirty="0">
              <a:ea typeface="楷体" pitchFamily="49" charset="-122"/>
            </a:endParaRPr>
          </a:p>
          <a:p>
            <a:r>
              <a:rPr lang="en-US" altLang="zh-CN" b="1" dirty="0" err="1"/>
              <a:t>Kosaraju</a:t>
            </a:r>
            <a:r>
              <a:rPr lang="zh-CN" altLang="en-US" b="1" dirty="0"/>
              <a:t>算法</a:t>
            </a:r>
            <a:endParaRPr lang="en-US" altLang="zh-CN" dirty="0">
              <a:ea typeface="楷体" pitchFamily="49" charset="-122"/>
            </a:endParaRPr>
          </a:p>
        </p:txBody>
      </p:sp>
    </p:spTree>
    <p:extLst>
      <p:ext uri="{BB962C8B-B14F-4D97-AF65-F5344CB8AC3E}">
        <p14:creationId xmlns:p14="http://schemas.microsoft.com/office/powerpoint/2010/main" val="9473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fade">
                                      <p:cBhvr>
                                        <p:cTn id="12" dur="500"/>
                                        <p:tgtEl>
                                          <p:spTgt spid="61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838200" y="244356"/>
            <a:ext cx="10515600" cy="1325563"/>
          </a:xfrm>
          <a:ln/>
        </p:spPr>
        <p:txBody>
          <a:bodyPr anchor="ctr"/>
          <a:lstStyle/>
          <a:p>
            <a:r>
              <a:rPr lang="en-US" altLang="zh-CN" b="1" dirty="0" err="1" smtClean="0">
                <a:ea typeface="楷体" pitchFamily="49" charset="-122"/>
              </a:rPr>
              <a:t>Tarjan</a:t>
            </a:r>
            <a:r>
              <a:rPr lang="zh-CN" altLang="en-US" b="1" dirty="0" smtClean="0">
                <a:ea typeface="楷体" pitchFamily="49" charset="-122"/>
              </a:rPr>
              <a:t>求强连通分量</a:t>
            </a:r>
            <a:endParaRPr lang="zh-CN" altLang="en-US" b="1" dirty="0">
              <a:ea typeface="楷体" pitchFamily="49" charset="-122"/>
            </a:endParaRPr>
          </a:p>
        </p:txBody>
      </p:sp>
      <p:sp>
        <p:nvSpPr>
          <p:cNvPr id="3" name="文本框 2"/>
          <p:cNvSpPr txBox="1"/>
          <p:nvPr/>
        </p:nvSpPr>
        <p:spPr>
          <a:xfrm>
            <a:off x="4953000" y="1569919"/>
            <a:ext cx="7239000" cy="4524315"/>
          </a:xfrm>
          <a:prstGeom prst="rect">
            <a:avLst/>
          </a:prstGeom>
          <a:noFill/>
        </p:spPr>
        <p:txBody>
          <a:bodyPr wrap="square" rtlCol="0">
            <a:spAutoFit/>
          </a:bodyPr>
          <a:lstStyle/>
          <a:p>
            <a:r>
              <a:rPr lang="zh-CN" altLang="en-US" dirty="0" smtClean="0"/>
              <a:t>主体过程</a:t>
            </a:r>
            <a:r>
              <a:rPr lang="en-US" altLang="zh-CN" dirty="0" smtClean="0"/>
              <a:t>(</a:t>
            </a:r>
            <a:r>
              <a:rPr lang="zh-CN" altLang="en-US" dirty="0" smtClean="0"/>
              <a:t>看图说话</a:t>
            </a:r>
            <a:r>
              <a:rPr lang="en-US" altLang="zh-CN" dirty="0" smtClean="0"/>
              <a:t>)</a:t>
            </a:r>
            <a:r>
              <a:rPr lang="zh-CN" altLang="en-US" dirty="0" smtClean="0"/>
              <a:t>：</a:t>
            </a:r>
            <a:endParaRPr lang="en-US" altLang="zh-CN" dirty="0" smtClean="0"/>
          </a:p>
          <a:p>
            <a:endParaRPr lang="en-US" altLang="zh-CN" dirty="0" smtClean="0"/>
          </a:p>
          <a:p>
            <a:r>
              <a:rPr lang="zh-CN" altLang="en-US" dirty="0" smtClean="0"/>
              <a:t>从某个点开始，</a:t>
            </a:r>
            <a:r>
              <a:rPr lang="en-US" altLang="zh-CN" dirty="0" smtClean="0"/>
              <a:t>DFS</a:t>
            </a:r>
            <a:r>
              <a:rPr lang="zh-CN" altLang="en-US" dirty="0" smtClean="0"/>
              <a:t>整个图，每访问到一个新的节点就将其压入栈中</a:t>
            </a:r>
            <a:endParaRPr lang="en-US" altLang="zh-CN" dirty="0" smtClean="0"/>
          </a:p>
          <a:p>
            <a:r>
              <a:rPr lang="zh-CN" altLang="en-US" dirty="0" smtClean="0"/>
              <a:t>为每个点记录两个量</a:t>
            </a:r>
            <a:r>
              <a:rPr lang="en-US" altLang="zh-CN" dirty="0" err="1" smtClean="0"/>
              <a:t>dfn</a:t>
            </a:r>
            <a:r>
              <a:rPr lang="zh-CN" altLang="en-US" dirty="0" smtClean="0"/>
              <a:t>和</a:t>
            </a:r>
            <a:r>
              <a:rPr lang="en-US" altLang="zh-CN" dirty="0" smtClean="0"/>
              <a:t>low</a:t>
            </a:r>
          </a:p>
          <a:p>
            <a:r>
              <a:rPr lang="zh-CN" altLang="en-US" dirty="0" smtClean="0"/>
              <a:t>其中</a:t>
            </a:r>
            <a:r>
              <a:rPr lang="en-US" altLang="zh-CN" dirty="0" err="1" smtClean="0"/>
              <a:t>dfn</a:t>
            </a:r>
            <a:r>
              <a:rPr lang="en-US" altLang="zh-CN" dirty="0" smtClean="0"/>
              <a:t>[x]</a:t>
            </a:r>
            <a:r>
              <a:rPr lang="zh-CN" altLang="en-US" dirty="0" smtClean="0"/>
              <a:t>是时间戳，代表</a:t>
            </a:r>
            <a:r>
              <a:rPr lang="en-US" altLang="zh-CN" dirty="0" smtClean="0"/>
              <a:t>x</a:t>
            </a:r>
            <a:r>
              <a:rPr lang="zh-CN" altLang="en-US" dirty="0" smtClean="0"/>
              <a:t>是第几个被访问到的点</a:t>
            </a:r>
            <a:endParaRPr lang="en-US" altLang="zh-CN" dirty="0" smtClean="0"/>
          </a:p>
          <a:p>
            <a:r>
              <a:rPr lang="en-US" altLang="zh-CN" dirty="0" smtClean="0"/>
              <a:t>low[x]</a:t>
            </a:r>
            <a:r>
              <a:rPr lang="zh-CN" altLang="en-US" dirty="0" smtClean="0"/>
              <a:t>代表</a:t>
            </a:r>
            <a:r>
              <a:rPr lang="en-US" altLang="zh-CN" dirty="0"/>
              <a:t>x</a:t>
            </a:r>
            <a:r>
              <a:rPr lang="zh-CN" altLang="en-US" dirty="0" smtClean="0"/>
              <a:t>能到达的点中，现在还在栈中的</a:t>
            </a:r>
            <a:r>
              <a:rPr lang="en-US" altLang="zh-CN" dirty="0" err="1" smtClean="0"/>
              <a:t>dfn</a:t>
            </a:r>
            <a:r>
              <a:rPr lang="zh-CN" altLang="en-US" dirty="0" smtClean="0"/>
              <a:t>值最小值</a:t>
            </a:r>
            <a:endParaRPr lang="en-US" altLang="zh-CN" dirty="0" smtClean="0"/>
          </a:p>
          <a:p>
            <a:endParaRPr lang="en-US" altLang="zh-CN" dirty="0" smtClean="0"/>
          </a:p>
          <a:p>
            <a:r>
              <a:rPr lang="zh-CN" altLang="en-US" dirty="0" smtClean="0"/>
              <a:t>维护</a:t>
            </a:r>
            <a:r>
              <a:rPr lang="en-US" altLang="zh-CN" dirty="0" smtClean="0"/>
              <a:t>low</a:t>
            </a:r>
            <a:r>
              <a:rPr lang="zh-CN" altLang="en-US" dirty="0" smtClean="0"/>
              <a:t>值的方式：对于</a:t>
            </a:r>
            <a:r>
              <a:rPr lang="en-US" altLang="zh-CN" dirty="0" smtClean="0"/>
              <a:t>x</a:t>
            </a:r>
            <a:r>
              <a:rPr lang="zh-CN" altLang="en-US" dirty="0" smtClean="0"/>
              <a:t>的每个出点</a:t>
            </a:r>
            <a:r>
              <a:rPr lang="en-US" altLang="zh-CN" dirty="0" smtClean="0"/>
              <a:t>j</a:t>
            </a:r>
          </a:p>
          <a:p>
            <a:endParaRPr lang="en-US" altLang="zh-CN" dirty="0" smtClean="0"/>
          </a:p>
          <a:p>
            <a:r>
              <a:rPr lang="zh-CN" altLang="en-US" dirty="0" smtClean="0"/>
              <a:t>若</a:t>
            </a:r>
            <a:r>
              <a:rPr lang="en-US" altLang="zh-CN" dirty="0" smtClean="0"/>
              <a:t>j</a:t>
            </a:r>
            <a:r>
              <a:rPr lang="zh-CN" altLang="en-US" dirty="0" smtClean="0"/>
              <a:t>还没被搜到，则先搜索</a:t>
            </a:r>
            <a:r>
              <a:rPr lang="en-US" altLang="zh-CN" dirty="0" smtClean="0"/>
              <a:t>j </a:t>
            </a:r>
            <a:r>
              <a:rPr lang="zh-CN" altLang="en-US" dirty="0" smtClean="0"/>
              <a:t>，然后用</a:t>
            </a:r>
            <a:r>
              <a:rPr lang="en-US" altLang="zh-CN" dirty="0" smtClean="0"/>
              <a:t>low[j]</a:t>
            </a:r>
            <a:r>
              <a:rPr lang="zh-CN" altLang="en-US" dirty="0" smtClean="0"/>
              <a:t>来更新</a:t>
            </a:r>
            <a:r>
              <a:rPr lang="en-US" altLang="zh-CN" dirty="0" smtClean="0"/>
              <a:t>low[x]</a:t>
            </a:r>
          </a:p>
          <a:p>
            <a:r>
              <a:rPr lang="zh-CN" altLang="en-US" dirty="0" smtClean="0"/>
              <a:t>否则若</a:t>
            </a:r>
            <a:r>
              <a:rPr lang="en-US" altLang="zh-CN" dirty="0" smtClean="0"/>
              <a:t>j</a:t>
            </a:r>
            <a:r>
              <a:rPr lang="zh-CN" altLang="en-US" dirty="0" smtClean="0"/>
              <a:t>还在栈中，则直接用</a:t>
            </a:r>
            <a:r>
              <a:rPr lang="en-US" altLang="zh-CN" dirty="0" err="1" smtClean="0"/>
              <a:t>dfn</a:t>
            </a:r>
            <a:r>
              <a:rPr lang="en-US" altLang="zh-CN" dirty="0" smtClean="0"/>
              <a:t>[j]</a:t>
            </a:r>
            <a:r>
              <a:rPr lang="zh-CN" altLang="en-US" dirty="0" smtClean="0"/>
              <a:t>来更新</a:t>
            </a:r>
            <a:r>
              <a:rPr lang="en-US" altLang="zh-CN" dirty="0" smtClean="0"/>
              <a:t>low[x]</a:t>
            </a:r>
            <a:endParaRPr lang="en-US" altLang="zh-CN" dirty="0"/>
          </a:p>
          <a:p>
            <a:endParaRPr lang="en-US" altLang="zh-CN" dirty="0" smtClean="0"/>
          </a:p>
          <a:p>
            <a:endParaRPr lang="en-US" altLang="zh-CN" dirty="0"/>
          </a:p>
          <a:p>
            <a:endParaRPr lang="en-US" altLang="zh-CN" dirty="0"/>
          </a:p>
          <a:p>
            <a:r>
              <a:rPr lang="zh-CN" altLang="en-US" dirty="0" smtClean="0"/>
              <a:t>当</a:t>
            </a:r>
            <a:r>
              <a:rPr lang="en-US" altLang="zh-CN" dirty="0" smtClean="0"/>
              <a:t>x</a:t>
            </a:r>
            <a:r>
              <a:rPr lang="zh-CN" altLang="en-US" dirty="0" smtClean="0"/>
              <a:t>出栈的时候，若</a:t>
            </a:r>
            <a:r>
              <a:rPr lang="en-US" altLang="zh-CN" dirty="0" err="1" smtClean="0"/>
              <a:t>dfn</a:t>
            </a:r>
            <a:r>
              <a:rPr lang="en-US" altLang="zh-CN" dirty="0" smtClean="0"/>
              <a:t>[x]==low[x]</a:t>
            </a:r>
            <a:r>
              <a:rPr lang="zh-CN" altLang="en-US" dirty="0" smtClean="0"/>
              <a:t>，则从栈顶到</a:t>
            </a:r>
            <a:r>
              <a:rPr lang="en-US" altLang="zh-CN" dirty="0" smtClean="0"/>
              <a:t>x</a:t>
            </a:r>
            <a:r>
              <a:rPr lang="zh-CN" altLang="en-US" dirty="0" smtClean="0"/>
              <a:t>的这部分属于同一个强连通分量，把这段弹栈</a:t>
            </a:r>
            <a:endParaRPr lang="zh-CN" altLang="en-US" dirty="0"/>
          </a:p>
        </p:txBody>
      </p:sp>
      <p:pic>
        <p:nvPicPr>
          <p:cNvPr id="4" name="图片 3"/>
          <p:cNvPicPr>
            <a:picLocks noChangeAspect="1"/>
          </p:cNvPicPr>
          <p:nvPr/>
        </p:nvPicPr>
        <p:blipFill>
          <a:blip r:embed="rId2"/>
          <a:stretch>
            <a:fillRect/>
          </a:stretch>
        </p:blipFill>
        <p:spPr>
          <a:xfrm>
            <a:off x="838200" y="1569919"/>
            <a:ext cx="3847619" cy="5047619"/>
          </a:xfrm>
          <a:prstGeom prst="rect">
            <a:avLst/>
          </a:prstGeom>
        </p:spPr>
      </p:pic>
      <p:sp>
        <p:nvSpPr>
          <p:cNvPr id="5" name="文本框 4"/>
          <p:cNvSpPr txBox="1"/>
          <p:nvPr/>
        </p:nvSpPr>
        <p:spPr>
          <a:xfrm>
            <a:off x="4953000" y="1569919"/>
            <a:ext cx="6254151" cy="923330"/>
          </a:xfrm>
          <a:prstGeom prst="rect">
            <a:avLst/>
          </a:prstGeom>
          <a:noFill/>
        </p:spPr>
        <p:txBody>
          <a:bodyPr wrap="square" rtlCol="0">
            <a:spAutoFit/>
          </a:bodyPr>
          <a:lstStyle/>
          <a:p>
            <a:r>
              <a:rPr lang="zh-CN" altLang="en-US" dirty="0" smtClean="0"/>
              <a:t>为什么</a:t>
            </a:r>
            <a:r>
              <a:rPr lang="en-US" altLang="zh-CN" dirty="0" err="1" smtClean="0"/>
              <a:t>dfn</a:t>
            </a:r>
            <a:r>
              <a:rPr lang="en-US" altLang="zh-CN" dirty="0" smtClean="0"/>
              <a:t>[x]==low[x]</a:t>
            </a:r>
            <a:r>
              <a:rPr lang="zh-CN" altLang="en-US" dirty="0" smtClean="0"/>
              <a:t>时就是同一个强连通分量了？</a:t>
            </a:r>
            <a:endParaRPr lang="en-US" altLang="zh-CN" dirty="0" smtClean="0"/>
          </a:p>
          <a:p>
            <a:endParaRPr lang="en-US" altLang="zh-CN" dirty="0"/>
          </a:p>
          <a:p>
            <a:r>
              <a:rPr lang="zh-CN" altLang="en-US" dirty="0" smtClean="0"/>
              <a:t>为什么</a:t>
            </a:r>
            <a:r>
              <a:rPr lang="en-US" altLang="zh-CN" dirty="0" smtClean="0"/>
              <a:t>j</a:t>
            </a:r>
            <a:r>
              <a:rPr lang="zh-CN" altLang="en-US" dirty="0" smtClean="0"/>
              <a:t>还在栈中时不用</a:t>
            </a:r>
            <a:r>
              <a:rPr lang="en-US" altLang="zh-CN" dirty="0" smtClean="0"/>
              <a:t>low</a:t>
            </a:r>
            <a:r>
              <a:rPr lang="zh-CN" altLang="en-US" dirty="0" smtClean="0"/>
              <a:t>来更新？</a:t>
            </a:r>
            <a:endParaRPr lang="zh-CN" altLang="en-US" dirty="0"/>
          </a:p>
        </p:txBody>
      </p:sp>
    </p:spTree>
    <p:extLst>
      <p:ext uri="{BB962C8B-B14F-4D97-AF65-F5344CB8AC3E}">
        <p14:creationId xmlns:p14="http://schemas.microsoft.com/office/powerpoint/2010/main" val="124377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Effect transition="in" filter="fade">
                                      <p:cBhvr>
                                        <p:cTn id="39" dur="500"/>
                                        <p:tgtEl>
                                          <p:spTgt spid="3">
                                            <p:txEl>
                                              <p:pRg st="14" end="1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0" nodeType="clickEffect">
                                  <p:stCondLst>
                                    <p:cond delay="0"/>
                                  </p:stCondLst>
                                  <p:childTnLst>
                                    <p:animEffect transition="out" filter="fade">
                                      <p:cBhvr>
                                        <p:cTn id="43" dur="500"/>
                                        <p:tgtEl>
                                          <p:spTgt spid="3">
                                            <p:txEl>
                                              <p:pRg st="0" end="0"/>
                                            </p:txEl>
                                          </p:spTgt>
                                        </p:tgtEl>
                                      </p:cBhvr>
                                    </p:animEffect>
                                    <p:set>
                                      <p:cBhvr>
                                        <p:cTn id="44" dur="1" fill="hold">
                                          <p:stCondLst>
                                            <p:cond delay="499"/>
                                          </p:stCondLst>
                                        </p:cTn>
                                        <p:tgtEl>
                                          <p:spTgt spid="3">
                                            <p:txEl>
                                              <p:pRg st="0" end="0"/>
                                            </p:txEl>
                                          </p:spTgt>
                                        </p:tgtEl>
                                        <p:attrNameLst>
                                          <p:attrName>style.visibility</p:attrName>
                                        </p:attrNameLst>
                                      </p:cBhvr>
                                      <p:to>
                                        <p:strVal val="hidden"/>
                                      </p:to>
                                    </p:set>
                                  </p:childTnLst>
                                </p:cTn>
                              </p:par>
                              <p:par>
                                <p:cTn id="45" presetID="10" presetClass="exit" presetSubtype="0" fill="hold" grpId="0" nodeType="withEffect">
                                  <p:stCondLst>
                                    <p:cond delay="0"/>
                                  </p:stCondLst>
                                  <p:childTnLst>
                                    <p:animEffect transition="out" filter="fade">
                                      <p:cBhvr>
                                        <p:cTn id="46" dur="500"/>
                                        <p:tgtEl>
                                          <p:spTgt spid="3">
                                            <p:txEl>
                                              <p:pRg st="2" end="2"/>
                                            </p:txEl>
                                          </p:spTgt>
                                        </p:tgtEl>
                                      </p:cBhvr>
                                    </p:animEffect>
                                    <p:set>
                                      <p:cBhvr>
                                        <p:cTn id="47" dur="1" fill="hold">
                                          <p:stCondLst>
                                            <p:cond delay="499"/>
                                          </p:stCondLst>
                                        </p:cTn>
                                        <p:tgtEl>
                                          <p:spTgt spid="3">
                                            <p:txEl>
                                              <p:pRg st="2" end="2"/>
                                            </p:txEl>
                                          </p:spTgt>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500"/>
                                        <p:tgtEl>
                                          <p:spTgt spid="3">
                                            <p:txEl>
                                              <p:pRg st="3" end="3"/>
                                            </p:txEl>
                                          </p:spTgt>
                                        </p:tgtEl>
                                      </p:cBhvr>
                                    </p:animEffect>
                                    <p:set>
                                      <p:cBhvr>
                                        <p:cTn id="50" dur="1" fill="hold">
                                          <p:stCondLst>
                                            <p:cond delay="499"/>
                                          </p:stCondLst>
                                        </p:cTn>
                                        <p:tgtEl>
                                          <p:spTgt spid="3">
                                            <p:txEl>
                                              <p:pRg st="3" end="3"/>
                                            </p:txEl>
                                          </p:spTgt>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3">
                                            <p:txEl>
                                              <p:pRg st="4" end="4"/>
                                            </p:txEl>
                                          </p:spTgt>
                                        </p:tgtEl>
                                      </p:cBhvr>
                                    </p:animEffect>
                                    <p:set>
                                      <p:cBhvr>
                                        <p:cTn id="53" dur="1" fill="hold">
                                          <p:stCondLst>
                                            <p:cond delay="499"/>
                                          </p:stCondLst>
                                        </p:cTn>
                                        <p:tgtEl>
                                          <p:spTgt spid="3">
                                            <p:txEl>
                                              <p:pRg st="4" end="4"/>
                                            </p:txEl>
                                          </p:spTgt>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500"/>
                                        <p:tgtEl>
                                          <p:spTgt spid="3">
                                            <p:txEl>
                                              <p:pRg st="5" end="5"/>
                                            </p:txEl>
                                          </p:spTgt>
                                        </p:tgtEl>
                                      </p:cBhvr>
                                    </p:animEffect>
                                    <p:set>
                                      <p:cBhvr>
                                        <p:cTn id="56" dur="1" fill="hold">
                                          <p:stCondLst>
                                            <p:cond delay="499"/>
                                          </p:stCondLst>
                                        </p:cTn>
                                        <p:tgtEl>
                                          <p:spTgt spid="3">
                                            <p:txEl>
                                              <p:pRg st="5" end="5"/>
                                            </p:txEl>
                                          </p:spTgt>
                                        </p:tgtEl>
                                        <p:attrNameLst>
                                          <p:attrName>style.visibility</p:attrName>
                                        </p:attrNameLst>
                                      </p:cBhvr>
                                      <p:to>
                                        <p:strVal val="hidden"/>
                                      </p:to>
                                    </p:set>
                                  </p:childTnLst>
                                </p:cTn>
                              </p:par>
                              <p:par>
                                <p:cTn id="57" presetID="10" presetClass="exit" presetSubtype="0" fill="hold" grpId="0" nodeType="withEffect">
                                  <p:stCondLst>
                                    <p:cond delay="0"/>
                                  </p:stCondLst>
                                  <p:childTnLst>
                                    <p:animEffect transition="out" filter="fade">
                                      <p:cBhvr>
                                        <p:cTn id="58" dur="500"/>
                                        <p:tgtEl>
                                          <p:spTgt spid="3">
                                            <p:txEl>
                                              <p:pRg st="7" end="7"/>
                                            </p:txEl>
                                          </p:spTgt>
                                        </p:tgtEl>
                                      </p:cBhvr>
                                    </p:animEffect>
                                    <p:set>
                                      <p:cBhvr>
                                        <p:cTn id="59" dur="1" fill="hold">
                                          <p:stCondLst>
                                            <p:cond delay="499"/>
                                          </p:stCondLst>
                                        </p:cTn>
                                        <p:tgtEl>
                                          <p:spTgt spid="3">
                                            <p:txEl>
                                              <p:pRg st="7" end="7"/>
                                            </p:txEl>
                                          </p:spTgt>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3">
                                            <p:txEl>
                                              <p:pRg st="9" end="9"/>
                                            </p:txEl>
                                          </p:spTgt>
                                        </p:tgtEl>
                                      </p:cBhvr>
                                    </p:animEffect>
                                    <p:set>
                                      <p:cBhvr>
                                        <p:cTn id="62" dur="1" fill="hold">
                                          <p:stCondLst>
                                            <p:cond delay="499"/>
                                          </p:stCondLst>
                                        </p:cTn>
                                        <p:tgtEl>
                                          <p:spTgt spid="3">
                                            <p:txEl>
                                              <p:pRg st="9" end="9"/>
                                            </p:txEl>
                                          </p:spTgt>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500"/>
                                        <p:tgtEl>
                                          <p:spTgt spid="3">
                                            <p:txEl>
                                              <p:pRg st="10" end="10"/>
                                            </p:txEl>
                                          </p:spTgt>
                                        </p:tgtEl>
                                      </p:cBhvr>
                                    </p:animEffect>
                                    <p:set>
                                      <p:cBhvr>
                                        <p:cTn id="65" dur="1" fill="hold">
                                          <p:stCondLst>
                                            <p:cond delay="499"/>
                                          </p:stCondLst>
                                        </p:cTn>
                                        <p:tgtEl>
                                          <p:spTgt spid="3">
                                            <p:txEl>
                                              <p:pRg st="10" end="10"/>
                                            </p:txEl>
                                          </p:spTgt>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500"/>
                                        <p:tgtEl>
                                          <p:spTgt spid="3">
                                            <p:txEl>
                                              <p:pRg st="14" end="14"/>
                                            </p:txEl>
                                          </p:spTgt>
                                        </p:tgtEl>
                                      </p:cBhvr>
                                    </p:animEffect>
                                    <p:set>
                                      <p:cBhvr>
                                        <p:cTn id="68" dur="1" fill="hold">
                                          <p:stCondLst>
                                            <p:cond delay="499"/>
                                          </p:stCondLst>
                                        </p:cTn>
                                        <p:tgtEl>
                                          <p:spTgt spid="3">
                                            <p:txEl>
                                              <p:pRg st="14" end="14"/>
                                            </p:txEl>
                                          </p:spTgt>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fade">
                                      <p:cBhvr>
                                        <p:cTn id="7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ln/>
        </p:spPr>
        <p:txBody>
          <a:bodyPr anchor="ctr"/>
          <a:lstStyle/>
          <a:p>
            <a:r>
              <a:rPr lang="zh-CN" altLang="en-US" b="1" dirty="0" smtClean="0">
                <a:latin typeface="楷体" pitchFamily="49" charset="-122"/>
                <a:ea typeface="楷体" pitchFamily="49" charset="-122"/>
              </a:rPr>
              <a:t>举个栗子</a:t>
            </a:r>
            <a:endParaRPr lang="en-US" altLang="zh-CN" b="1" dirty="0">
              <a:latin typeface="楷体" pitchFamily="49" charset="-122"/>
              <a:ea typeface="楷体" pitchFamily="49" charset="-122"/>
            </a:endParaRPr>
          </a:p>
        </p:txBody>
      </p:sp>
      <p:pic>
        <p:nvPicPr>
          <p:cNvPr id="4" name="Picture 5" descr="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63639" y="2174177"/>
            <a:ext cx="5348376" cy="3359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4774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ln/>
        </p:spPr>
        <p:txBody>
          <a:bodyPr anchor="ctr"/>
          <a:lstStyle/>
          <a:p>
            <a:r>
              <a:rPr lang="zh-CN" altLang="en-US" b="1" dirty="0" smtClean="0">
                <a:latin typeface="楷体" pitchFamily="49" charset="-122"/>
                <a:ea typeface="楷体" pitchFamily="49" charset="-122"/>
              </a:rPr>
              <a:t>举个栗子</a:t>
            </a:r>
            <a:endParaRPr lang="en-US" altLang="zh-CN" b="1" dirty="0">
              <a:latin typeface="楷体" pitchFamily="49" charset="-122"/>
              <a:ea typeface="楷体" pitchFamily="49" charset="-122"/>
            </a:endParaRPr>
          </a:p>
        </p:txBody>
      </p:sp>
      <p:pic>
        <p:nvPicPr>
          <p:cNvPr id="6" name="Picture 4" descr="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68747" y="1595797"/>
            <a:ext cx="8640763" cy="503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3074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ln/>
        </p:spPr>
        <p:txBody>
          <a:bodyPr anchor="ctr"/>
          <a:lstStyle/>
          <a:p>
            <a:r>
              <a:rPr lang="zh-CN" altLang="en-US" b="1" dirty="0" smtClean="0">
                <a:latin typeface="楷体" pitchFamily="49" charset="-122"/>
                <a:ea typeface="楷体" pitchFamily="49" charset="-122"/>
              </a:rPr>
              <a:t>举个栗子</a:t>
            </a:r>
            <a:endParaRPr lang="en-US" altLang="zh-CN" b="1" dirty="0">
              <a:latin typeface="楷体" pitchFamily="49" charset="-122"/>
              <a:ea typeface="楷体" pitchFamily="49" charset="-122"/>
            </a:endParaRPr>
          </a:p>
        </p:txBody>
      </p:sp>
      <p:pic>
        <p:nvPicPr>
          <p:cNvPr id="5" name="Picture 4" descr="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42869" y="1104181"/>
            <a:ext cx="8540150" cy="5469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62502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69405" y="1081101"/>
            <a:ext cx="8651635" cy="5540696"/>
          </a:xfrm>
          <a:prstGeom prst="rect">
            <a:avLst/>
          </a:prstGeom>
          <a:noFill/>
          <a:extLst>
            <a:ext uri="{909E8E84-426E-40DD-AFC4-6F175D3DCCD1}">
              <a14:hiddenFill xmlns:a14="http://schemas.microsoft.com/office/drawing/2010/main">
                <a:solidFill>
                  <a:srgbClr val="FFFFFF"/>
                </a:solidFill>
              </a14:hiddenFill>
            </a:ext>
          </a:extLst>
        </p:spPr>
      </p:pic>
      <p:sp>
        <p:nvSpPr>
          <p:cNvPr id="8194" name="标题 8193"/>
          <p:cNvSpPr>
            <a:spLocks noGrp="1"/>
          </p:cNvSpPr>
          <p:nvPr>
            <p:ph type="title"/>
          </p:nvPr>
        </p:nvSpPr>
        <p:spPr>
          <a:ln/>
        </p:spPr>
        <p:txBody>
          <a:bodyPr anchor="ctr"/>
          <a:lstStyle/>
          <a:p>
            <a:r>
              <a:rPr lang="zh-CN" altLang="en-US" b="1" dirty="0" smtClean="0">
                <a:latin typeface="楷体" pitchFamily="49" charset="-122"/>
                <a:ea typeface="楷体" pitchFamily="49" charset="-122"/>
              </a:rPr>
              <a:t>举个栗子</a:t>
            </a:r>
            <a:endParaRPr lang="en-US" altLang="zh-CN" b="1" dirty="0">
              <a:latin typeface="楷体" pitchFamily="49" charset="-122"/>
              <a:ea typeface="楷体" pitchFamily="49" charset="-122"/>
            </a:endParaRPr>
          </a:p>
        </p:txBody>
      </p:sp>
    </p:spTree>
    <p:extLst>
      <p:ext uri="{BB962C8B-B14F-4D97-AF65-F5344CB8AC3E}">
        <p14:creationId xmlns:p14="http://schemas.microsoft.com/office/powerpoint/2010/main" val="17667600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5"/>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8032" y="1093839"/>
            <a:ext cx="8668889" cy="5553838"/>
          </a:xfrm>
          <a:prstGeom prst="rect">
            <a:avLst/>
          </a:prstGeom>
          <a:noFill/>
          <a:extLst>
            <a:ext uri="{909E8E84-426E-40DD-AFC4-6F175D3DCCD1}">
              <a14:hiddenFill xmlns:a14="http://schemas.microsoft.com/office/drawing/2010/main">
                <a:solidFill>
                  <a:srgbClr val="FFFFFF"/>
                </a:solidFill>
              </a14:hiddenFill>
            </a:ext>
          </a:extLst>
        </p:spPr>
      </p:pic>
      <p:sp>
        <p:nvSpPr>
          <p:cNvPr id="8194" name="标题 8193"/>
          <p:cNvSpPr>
            <a:spLocks noGrp="1"/>
          </p:cNvSpPr>
          <p:nvPr>
            <p:ph type="title"/>
          </p:nvPr>
        </p:nvSpPr>
        <p:spPr>
          <a:ln/>
        </p:spPr>
        <p:txBody>
          <a:bodyPr anchor="ctr"/>
          <a:lstStyle/>
          <a:p>
            <a:r>
              <a:rPr lang="zh-CN" altLang="en-US" b="1" dirty="0" smtClean="0">
                <a:latin typeface="楷体" pitchFamily="49" charset="-122"/>
                <a:ea typeface="楷体" pitchFamily="49" charset="-122"/>
              </a:rPr>
              <a:t>举个栗子</a:t>
            </a:r>
            <a:endParaRPr lang="en-US" altLang="zh-CN" b="1" dirty="0">
              <a:latin typeface="楷体" pitchFamily="49" charset="-122"/>
              <a:ea typeface="楷体" pitchFamily="49" charset="-122"/>
            </a:endParaRPr>
          </a:p>
        </p:txBody>
      </p:sp>
    </p:spTree>
    <p:extLst>
      <p:ext uri="{BB962C8B-B14F-4D97-AF65-F5344CB8AC3E}">
        <p14:creationId xmlns:p14="http://schemas.microsoft.com/office/powerpoint/2010/main" val="1456561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缩点</a:t>
            </a:r>
            <a:endParaRPr lang="zh-CN" altLang="en-US" b="1" dirty="0"/>
          </a:p>
        </p:txBody>
      </p:sp>
      <p:sp>
        <p:nvSpPr>
          <p:cNvPr id="3" name="内容占位符 2"/>
          <p:cNvSpPr>
            <a:spLocks noGrp="1"/>
          </p:cNvSpPr>
          <p:nvPr>
            <p:ph idx="1"/>
          </p:nvPr>
        </p:nvSpPr>
        <p:spPr/>
        <p:txBody>
          <a:bodyPr/>
          <a:lstStyle/>
          <a:p>
            <a:r>
              <a:rPr lang="zh-CN" altLang="en-US" dirty="0" smtClean="0"/>
              <a:t>求出强连通分量之后我们能干什么呢？</a:t>
            </a:r>
            <a:endParaRPr lang="en-US" altLang="zh-CN" dirty="0"/>
          </a:p>
          <a:p>
            <a:r>
              <a:rPr lang="zh-CN" altLang="en-US" dirty="0" smtClean="0"/>
              <a:t>很套路的一步是缩点，把同一个强连通分量里的点缩成一个点</a:t>
            </a:r>
            <a:endParaRPr lang="en-US" altLang="zh-CN" dirty="0" smtClean="0"/>
          </a:p>
          <a:p>
            <a:endParaRPr lang="en-US" altLang="zh-CN" dirty="0"/>
          </a:p>
          <a:p>
            <a:r>
              <a:rPr lang="zh-CN" altLang="en-US" dirty="0" smtClean="0"/>
              <a:t>这样做的好处？</a:t>
            </a:r>
            <a:endParaRPr lang="en-US" altLang="zh-CN" dirty="0" smtClean="0"/>
          </a:p>
          <a:p>
            <a:r>
              <a:rPr lang="zh-CN" altLang="en-US" dirty="0" smtClean="0"/>
              <a:t>原图中的环消失了，变成了一个</a:t>
            </a:r>
            <a:r>
              <a:rPr lang="en-US" altLang="zh-CN" dirty="0" smtClean="0"/>
              <a:t>DAG</a:t>
            </a:r>
          </a:p>
          <a:p>
            <a:r>
              <a:rPr lang="zh-CN" altLang="en-US" strike="sngStrike" dirty="0"/>
              <a:t>卡</a:t>
            </a:r>
            <a:r>
              <a:rPr lang="zh-CN" altLang="en-US" strike="sngStrike" dirty="0" smtClean="0"/>
              <a:t>常暴力</a:t>
            </a:r>
            <a:endParaRPr lang="zh-CN" altLang="en-US" strike="sngStrike" dirty="0"/>
          </a:p>
        </p:txBody>
      </p:sp>
    </p:spTree>
    <p:extLst>
      <p:ext uri="{BB962C8B-B14F-4D97-AF65-F5344CB8AC3E}">
        <p14:creationId xmlns:p14="http://schemas.microsoft.com/office/powerpoint/2010/main" val="149771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0241"/>
          <p:cNvSpPr>
            <a:spLocks noGrp="1"/>
          </p:cNvSpPr>
          <p:nvPr>
            <p:ph type="title"/>
          </p:nvPr>
        </p:nvSpPr>
        <p:spPr>
          <a:ln/>
        </p:spPr>
        <p:txBody>
          <a:bodyPr anchor="ctr"/>
          <a:lstStyle/>
          <a:p>
            <a:r>
              <a:rPr lang="en-US" altLang="zh-CN" b="1" dirty="0"/>
              <a:t>[Usaco2006 Jan]The Cow Prom</a:t>
            </a:r>
            <a:endParaRPr lang="en-US" altLang="zh-CN" b="1" dirty="0">
              <a:latin typeface="楷体" pitchFamily="49" charset="-122"/>
              <a:ea typeface="楷体" pitchFamily="49" charset="-122"/>
            </a:endParaRPr>
          </a:p>
        </p:txBody>
      </p:sp>
      <p:sp>
        <p:nvSpPr>
          <p:cNvPr id="10243" name="文本占位符 10242"/>
          <p:cNvSpPr>
            <a:spLocks noGrp="1"/>
          </p:cNvSpPr>
          <p:nvPr>
            <p:ph type="body" idx="1"/>
          </p:nvPr>
        </p:nvSpPr>
        <p:spPr>
          <a:xfrm>
            <a:off x="838200" y="1466491"/>
            <a:ext cx="10515600" cy="4710472"/>
          </a:xfrm>
          <a:ln/>
        </p:spPr>
        <p:txBody>
          <a:bodyPr>
            <a:normAutofit/>
          </a:bodyPr>
          <a:lstStyle/>
          <a:p>
            <a:r>
              <a:rPr lang="zh-CN" altLang="en-US" dirty="0" smtClean="0">
                <a:latin typeface="楷体" pitchFamily="49" charset="-122"/>
                <a:ea typeface="楷体" pitchFamily="49" charset="-122"/>
              </a:rPr>
              <a:t>这题废话贼多</a:t>
            </a:r>
            <a:endParaRPr lang="en-US" altLang="zh-CN" dirty="0" smtClean="0">
              <a:latin typeface="楷体" pitchFamily="49" charset="-122"/>
              <a:ea typeface="楷体" pitchFamily="49" charset="-122"/>
            </a:endParaRPr>
          </a:p>
          <a:p>
            <a:r>
              <a:rPr lang="zh-CN" altLang="en-US" dirty="0" smtClean="0">
                <a:latin typeface="楷体" pitchFamily="49" charset="-122"/>
                <a:ea typeface="楷体" pitchFamily="49" charset="-122"/>
              </a:rPr>
              <a:t>给出一个有向图</a:t>
            </a:r>
            <a:r>
              <a:rPr lang="en-US" altLang="zh-CN" dirty="0" smtClean="0">
                <a:latin typeface="楷体" pitchFamily="49" charset="-122"/>
                <a:ea typeface="楷体" pitchFamily="49" charset="-122"/>
              </a:rPr>
              <a:t>G</a:t>
            </a:r>
            <a:r>
              <a:rPr lang="zh-CN" altLang="en-US" dirty="0" smtClean="0">
                <a:latin typeface="楷体" pitchFamily="49" charset="-122"/>
                <a:ea typeface="楷体" pitchFamily="49" charset="-122"/>
              </a:rPr>
              <a:t>，问有多少个大小</a:t>
            </a:r>
            <a:r>
              <a:rPr lang="en-US" altLang="zh-CN" dirty="0">
                <a:latin typeface="楷体" pitchFamily="49" charset="-122"/>
                <a:ea typeface="楷体" pitchFamily="49" charset="-122"/>
              </a:rPr>
              <a:t>&gt;</a:t>
            </a:r>
            <a:r>
              <a:rPr lang="en-US" altLang="zh-CN" dirty="0" smtClean="0">
                <a:latin typeface="楷体" pitchFamily="49" charset="-122"/>
                <a:ea typeface="楷体" pitchFamily="49" charset="-122"/>
              </a:rPr>
              <a:t>1</a:t>
            </a:r>
            <a:r>
              <a:rPr lang="zh-CN" altLang="en-US" dirty="0" smtClean="0">
                <a:latin typeface="楷体" pitchFamily="49" charset="-122"/>
                <a:ea typeface="楷体" pitchFamily="49" charset="-122"/>
              </a:rPr>
              <a:t>的强连通分量</a:t>
            </a:r>
            <a:endParaRPr lang="en-US" altLang="zh-CN" dirty="0" smtClean="0">
              <a:latin typeface="楷体" pitchFamily="49" charset="-122"/>
              <a:ea typeface="楷体" pitchFamily="49" charset="-122"/>
            </a:endParaRPr>
          </a:p>
          <a:p>
            <a:endParaRPr lang="en-US" altLang="zh-CN" dirty="0">
              <a:latin typeface="楷体" pitchFamily="49" charset="-122"/>
              <a:ea typeface="楷体" pitchFamily="49" charset="-122"/>
            </a:endParaRPr>
          </a:p>
          <a:p>
            <a:endParaRPr lang="en-US" altLang="zh-CN" dirty="0" smtClean="0">
              <a:latin typeface="楷体" pitchFamily="49" charset="-122"/>
              <a:ea typeface="楷体" pitchFamily="49" charset="-122"/>
            </a:endParaRPr>
          </a:p>
          <a:p>
            <a:r>
              <a:rPr lang="zh-CN" altLang="en-US" dirty="0" smtClean="0">
                <a:latin typeface="楷体" pitchFamily="49" charset="-122"/>
                <a:ea typeface="楷体" pitchFamily="49" charset="-122"/>
              </a:rPr>
              <a:t>直接上</a:t>
            </a:r>
            <a:r>
              <a:rPr lang="en-US" altLang="zh-CN" dirty="0" err="1" smtClean="0">
                <a:latin typeface="楷体" pitchFamily="49" charset="-122"/>
                <a:ea typeface="楷体" pitchFamily="49" charset="-122"/>
              </a:rPr>
              <a:t>Tarjan</a:t>
            </a:r>
            <a:r>
              <a:rPr lang="zh-CN" altLang="en-US" dirty="0" smtClean="0">
                <a:latin typeface="楷体" pitchFamily="49" charset="-122"/>
                <a:ea typeface="楷体" pitchFamily="49" charset="-122"/>
              </a:rPr>
              <a:t>就好了，顺便维护每个强连通分量的大小</a:t>
            </a:r>
            <a:endParaRPr lang="en-US" altLang="zh-CN" dirty="0" smtClean="0">
              <a:latin typeface="楷体" pitchFamily="49" charset="-122"/>
              <a:ea typeface="楷体" pitchFamily="49" charset="-122"/>
            </a:endParaRPr>
          </a:p>
        </p:txBody>
      </p:sp>
    </p:spTree>
    <p:extLst>
      <p:ext uri="{BB962C8B-B14F-4D97-AF65-F5344CB8AC3E}">
        <p14:creationId xmlns:p14="http://schemas.microsoft.com/office/powerpoint/2010/main" val="424113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3">
                                            <p:txEl>
                                              <p:pRg st="4" end="4"/>
                                            </p:txEl>
                                          </p:spTgt>
                                        </p:tgtEl>
                                        <p:attrNameLst>
                                          <p:attrName>style.visibility</p:attrName>
                                        </p:attrNameLst>
                                      </p:cBhvr>
                                      <p:to>
                                        <p:strVal val="visible"/>
                                      </p:to>
                                    </p:set>
                                    <p:animEffect transition="in" filter="fade">
                                      <p:cBhvr>
                                        <p:cTn id="7" dur="500"/>
                                        <p:tgtEl>
                                          <p:spTgt spid="10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[HAOI2006]</a:t>
            </a:r>
            <a:r>
              <a:rPr lang="zh-CN" altLang="en-US" b="1" dirty="0"/>
              <a:t>受欢迎的牛</a:t>
            </a:r>
          </a:p>
        </p:txBody>
      </p:sp>
      <p:sp>
        <p:nvSpPr>
          <p:cNvPr id="3" name="内容占位符 2"/>
          <p:cNvSpPr>
            <a:spLocks noGrp="1"/>
          </p:cNvSpPr>
          <p:nvPr>
            <p:ph idx="1"/>
          </p:nvPr>
        </p:nvSpPr>
        <p:spPr/>
        <p:txBody>
          <a:bodyPr/>
          <a:lstStyle/>
          <a:p>
            <a:r>
              <a:rPr lang="zh-CN" altLang="en-US" dirty="0" smtClean="0"/>
              <a:t>给出一个有向图，问有多少个点能被所有点到达</a:t>
            </a:r>
            <a:endParaRPr lang="en-US" altLang="zh-CN" dirty="0" smtClean="0"/>
          </a:p>
          <a:p>
            <a:endParaRPr lang="en-US" altLang="zh-CN" dirty="0"/>
          </a:p>
          <a:p>
            <a:r>
              <a:rPr lang="zh-CN" altLang="en-US" dirty="0" smtClean="0"/>
              <a:t>点数</a:t>
            </a:r>
            <a:r>
              <a:rPr lang="en-US" altLang="zh-CN" dirty="0" smtClean="0"/>
              <a:t>&lt;=10000,</a:t>
            </a:r>
            <a:r>
              <a:rPr lang="zh-CN" altLang="en-US" dirty="0" smtClean="0"/>
              <a:t>边数</a:t>
            </a:r>
            <a:r>
              <a:rPr lang="en-US" altLang="zh-CN" dirty="0" smtClean="0"/>
              <a:t>&lt;=50000</a:t>
            </a:r>
            <a:endParaRPr lang="zh-CN" altLang="en-US" dirty="0"/>
          </a:p>
        </p:txBody>
      </p:sp>
    </p:spTree>
    <p:extLst>
      <p:ext uri="{BB962C8B-B14F-4D97-AF65-F5344CB8AC3E}">
        <p14:creationId xmlns:p14="http://schemas.microsoft.com/office/powerpoint/2010/main" val="14503089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考虑没有环时的做法</a:t>
            </a:r>
            <a:endParaRPr lang="en-US" altLang="zh-CN" dirty="0" smtClean="0"/>
          </a:p>
          <a:p>
            <a:r>
              <a:rPr lang="zh-CN" altLang="en-US" dirty="0" smtClean="0"/>
              <a:t>看出度为</a:t>
            </a:r>
            <a:r>
              <a:rPr lang="en-US" altLang="zh-CN" dirty="0" smtClean="0"/>
              <a:t>0</a:t>
            </a:r>
            <a:r>
              <a:rPr lang="zh-CN" altLang="en-US" dirty="0" smtClean="0"/>
              <a:t>的点是否只有一个，如果是则这个点能被所有点到达</a:t>
            </a:r>
            <a:endParaRPr lang="en-US" altLang="zh-CN" dirty="0" smtClean="0"/>
          </a:p>
          <a:p>
            <a:r>
              <a:rPr lang="zh-CN" altLang="en-US" dirty="0"/>
              <a:t>否则</a:t>
            </a:r>
            <a:r>
              <a:rPr lang="zh-CN" altLang="en-US" dirty="0" smtClean="0"/>
              <a:t>没有能被所有点到达的点</a:t>
            </a:r>
            <a:endParaRPr lang="en-US" altLang="zh-CN" dirty="0" smtClean="0"/>
          </a:p>
          <a:p>
            <a:endParaRPr lang="en-US" altLang="zh-CN" dirty="0"/>
          </a:p>
          <a:p>
            <a:r>
              <a:rPr lang="zh-CN" altLang="en-US" dirty="0" smtClean="0"/>
              <a:t>有环的做法？</a:t>
            </a:r>
            <a:endParaRPr lang="en-US" altLang="zh-CN" dirty="0" smtClean="0"/>
          </a:p>
          <a:p>
            <a:r>
              <a:rPr lang="zh-CN" altLang="en-US" dirty="0"/>
              <a:t>先缩</a:t>
            </a:r>
            <a:r>
              <a:rPr lang="zh-CN" altLang="en-US" dirty="0" smtClean="0"/>
              <a:t>点，然后看出度为</a:t>
            </a:r>
            <a:r>
              <a:rPr lang="en-US" altLang="zh-CN" dirty="0" smtClean="0"/>
              <a:t>0</a:t>
            </a:r>
            <a:r>
              <a:rPr lang="zh-CN" altLang="en-US" dirty="0" smtClean="0"/>
              <a:t>的强连通分量是否只有一个</a:t>
            </a:r>
            <a:endParaRPr lang="en-US" altLang="zh-CN" dirty="0" smtClean="0"/>
          </a:p>
          <a:p>
            <a:r>
              <a:rPr lang="zh-CN" altLang="en-US" dirty="0"/>
              <a:t>如果</a:t>
            </a:r>
            <a:r>
              <a:rPr lang="zh-CN" altLang="en-US" dirty="0" smtClean="0"/>
              <a:t>有，则答案为这个强连通分量的大小</a:t>
            </a:r>
            <a:endParaRPr lang="en-US" altLang="zh-CN" dirty="0" smtClean="0"/>
          </a:p>
          <a:p>
            <a:r>
              <a:rPr lang="zh-CN" altLang="en-US" dirty="0"/>
              <a:t>否则没有能被所有点到达的</a:t>
            </a:r>
            <a:r>
              <a:rPr lang="zh-CN" altLang="en-US" dirty="0" smtClean="0"/>
              <a:t>点</a:t>
            </a:r>
            <a:endParaRPr lang="zh-CN" altLang="en-US" dirty="0"/>
          </a:p>
        </p:txBody>
      </p:sp>
    </p:spTree>
    <p:extLst>
      <p:ext uri="{BB962C8B-B14F-4D97-AF65-F5344CB8AC3E}">
        <p14:creationId xmlns:p14="http://schemas.microsoft.com/office/powerpoint/2010/main" val="179099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fade">
                                      <p:cBhvr>
                                        <p:cTn id="3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3313"/>
          <p:cNvSpPr>
            <a:spLocks noGrp="1"/>
          </p:cNvSpPr>
          <p:nvPr>
            <p:ph type="title"/>
          </p:nvPr>
        </p:nvSpPr>
        <p:spPr>
          <a:ln/>
        </p:spPr>
        <p:txBody>
          <a:bodyPr anchor="ctr"/>
          <a:lstStyle/>
          <a:p>
            <a:r>
              <a:rPr lang="en-US" altLang="zh-CN" b="1" dirty="0">
                <a:latin typeface="楷体" pitchFamily="49" charset="-122"/>
                <a:ea typeface="楷体" pitchFamily="49" charset="-122"/>
              </a:rPr>
              <a:t>BZOJ2140: </a:t>
            </a:r>
            <a:r>
              <a:rPr lang="zh-CN" altLang="en-US" b="1" dirty="0">
                <a:latin typeface="楷体" pitchFamily="49" charset="-122"/>
                <a:ea typeface="楷体" pitchFamily="49" charset="-122"/>
              </a:rPr>
              <a:t>稳定婚姻 </a:t>
            </a:r>
          </a:p>
        </p:txBody>
      </p:sp>
      <p:sp>
        <p:nvSpPr>
          <p:cNvPr id="2" name="内容占位符 1"/>
          <p:cNvSpPr>
            <a:spLocks noGrp="1"/>
          </p:cNvSpPr>
          <p:nvPr>
            <p:ph idx="1"/>
          </p:nvPr>
        </p:nvSpPr>
        <p:spPr>
          <a:xfrm>
            <a:off x="838200" y="1690688"/>
            <a:ext cx="10515600" cy="3971326"/>
          </a:xfrm>
        </p:spPr>
        <p:txBody>
          <a:bodyPr/>
          <a:lstStyle/>
          <a:p>
            <a:r>
              <a:rPr lang="zh-CN" altLang="en-US" dirty="0" smtClean="0"/>
              <a:t>这题废话也多</a:t>
            </a:r>
            <a:r>
              <a:rPr lang="en-US" altLang="zh-CN" dirty="0" smtClean="0"/>
              <a:t>…</a:t>
            </a:r>
          </a:p>
          <a:p>
            <a:r>
              <a:rPr lang="zh-CN" altLang="en-US" dirty="0" smtClean="0"/>
              <a:t>给定</a:t>
            </a:r>
            <a:r>
              <a:rPr lang="en-US" altLang="zh-CN" dirty="0"/>
              <a:t>n</a:t>
            </a:r>
            <a:r>
              <a:rPr lang="zh-CN" altLang="en-US" dirty="0"/>
              <a:t>对夫妻关系，再给定</a:t>
            </a:r>
            <a:r>
              <a:rPr lang="en-US" altLang="zh-CN" dirty="0"/>
              <a:t>m</a:t>
            </a:r>
            <a:r>
              <a:rPr lang="zh-CN" altLang="en-US" dirty="0"/>
              <a:t>对情人关系</a:t>
            </a:r>
            <a:r>
              <a:rPr lang="zh-CN" altLang="en-US" dirty="0" smtClean="0"/>
              <a:t>。</a:t>
            </a:r>
            <a:endParaRPr lang="en-US" altLang="zh-CN" dirty="0" smtClean="0"/>
          </a:p>
          <a:p>
            <a:r>
              <a:rPr lang="zh-CN" altLang="en-US" dirty="0" smtClean="0"/>
              <a:t>如果</a:t>
            </a:r>
            <a:r>
              <a:rPr lang="zh-CN" altLang="en-US" dirty="0"/>
              <a:t>在第</a:t>
            </a:r>
            <a:r>
              <a:rPr lang="en-US" altLang="zh-CN" dirty="0" err="1"/>
              <a:t>i</a:t>
            </a:r>
            <a:r>
              <a:rPr lang="zh-CN" altLang="en-US" dirty="0"/>
              <a:t>对夫妻离婚的前提下，这些人仍然能组成</a:t>
            </a:r>
            <a:r>
              <a:rPr lang="en-US" altLang="zh-CN" dirty="0"/>
              <a:t>n</a:t>
            </a:r>
            <a:r>
              <a:rPr lang="zh-CN" altLang="en-US" dirty="0"/>
              <a:t>对</a:t>
            </a:r>
            <a:r>
              <a:rPr lang="zh-CN" altLang="en-US" dirty="0" smtClean="0"/>
              <a:t>夫妻</a:t>
            </a:r>
            <a:r>
              <a:rPr lang="en-US" altLang="zh-CN" dirty="0" smtClean="0"/>
              <a:t>(</a:t>
            </a:r>
            <a:r>
              <a:rPr lang="zh-CN" altLang="en-US" dirty="0" smtClean="0"/>
              <a:t>情人可以结为夫妻</a:t>
            </a:r>
            <a:r>
              <a:rPr lang="en-US" altLang="zh-CN" dirty="0" smtClean="0"/>
              <a:t>)</a:t>
            </a:r>
            <a:r>
              <a:rPr lang="zh-CN" altLang="en-US" dirty="0" smtClean="0"/>
              <a:t>，</a:t>
            </a:r>
            <a:r>
              <a:rPr lang="zh-CN" altLang="en-US" dirty="0"/>
              <a:t>就称</a:t>
            </a:r>
            <a:r>
              <a:rPr lang="en-US" altLang="zh-CN" dirty="0" err="1"/>
              <a:t>i</a:t>
            </a:r>
            <a:r>
              <a:rPr lang="zh-CN" altLang="en-US" dirty="0"/>
              <a:t>这个婚姻是不稳定的</a:t>
            </a:r>
            <a:r>
              <a:rPr lang="zh-CN" altLang="en-US" dirty="0" smtClean="0"/>
              <a:t>。</a:t>
            </a:r>
            <a:endParaRPr lang="en-US" altLang="zh-CN" dirty="0" smtClean="0"/>
          </a:p>
          <a:p>
            <a:r>
              <a:rPr lang="zh-CN" altLang="en-US" dirty="0" smtClean="0"/>
              <a:t>要求判断</a:t>
            </a:r>
            <a:r>
              <a:rPr lang="zh-CN" altLang="en-US" dirty="0"/>
              <a:t>每一对</a:t>
            </a:r>
            <a:r>
              <a:rPr lang="zh-CN" altLang="en-US" dirty="0" smtClean="0"/>
              <a:t>婚姻</a:t>
            </a:r>
            <a:r>
              <a:rPr lang="zh-CN" altLang="en-US" dirty="0"/>
              <a:t>稳不稳定</a:t>
            </a:r>
          </a:p>
        </p:txBody>
      </p:sp>
    </p:spTree>
    <p:extLst>
      <p:ext uri="{BB962C8B-B14F-4D97-AF65-F5344CB8AC3E}">
        <p14:creationId xmlns:p14="http://schemas.microsoft.com/office/powerpoint/2010/main" val="6295720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ln/>
        </p:spPr>
        <p:txBody>
          <a:bodyPr anchor="ctr"/>
          <a:lstStyle/>
          <a:p>
            <a:r>
              <a:rPr lang="zh-CN" altLang="en-US" b="1" dirty="0" smtClean="0">
                <a:latin typeface="楷体" pitchFamily="49" charset="-122"/>
                <a:ea typeface="楷体" pitchFamily="49" charset="-122"/>
              </a:rPr>
              <a:t>分析</a:t>
            </a:r>
            <a:endParaRPr lang="zh-CN" altLang="en-US" b="1" dirty="0">
              <a:latin typeface="楷体" pitchFamily="49" charset="-122"/>
              <a:ea typeface="楷体" pitchFamily="49" charset="-122"/>
            </a:endParaRPr>
          </a:p>
        </p:txBody>
      </p:sp>
      <p:sp>
        <p:nvSpPr>
          <p:cNvPr id="14339" name="文本占位符 14338"/>
          <p:cNvSpPr>
            <a:spLocks noGrp="1"/>
          </p:cNvSpPr>
          <p:nvPr>
            <p:ph type="body" idx="1"/>
          </p:nvPr>
        </p:nvSpPr>
        <p:spPr>
          <a:ln/>
        </p:spPr>
        <p:txBody>
          <a:bodyPr>
            <a:normAutofit/>
          </a:bodyPr>
          <a:lstStyle/>
          <a:p>
            <a:r>
              <a:rPr lang="zh-CN" altLang="en-US" dirty="0">
                <a:latin typeface="楷体" pitchFamily="49" charset="-122"/>
                <a:ea typeface="楷体" pitchFamily="49" charset="-122"/>
              </a:rPr>
              <a:t>设大写字母为</a:t>
            </a:r>
            <a:r>
              <a:rPr lang="zh-CN" altLang="en-US" dirty="0" smtClean="0">
                <a:latin typeface="楷体" pitchFamily="49" charset="-122"/>
                <a:ea typeface="楷体" pitchFamily="49" charset="-122"/>
              </a:rPr>
              <a:t>男性，小写字母是女性</a:t>
            </a:r>
            <a:endParaRPr lang="zh-CN" altLang="en-US" dirty="0">
              <a:latin typeface="楷体" pitchFamily="49" charset="-122"/>
              <a:ea typeface="楷体" pitchFamily="49" charset="-122"/>
            </a:endParaRPr>
          </a:p>
          <a:p>
            <a:r>
              <a:rPr lang="zh-CN" altLang="en-US" dirty="0">
                <a:latin typeface="楷体" pitchFamily="49" charset="-122"/>
                <a:ea typeface="楷体" pitchFamily="49" charset="-122"/>
              </a:rPr>
              <a:t>则一对</a:t>
            </a:r>
            <a:r>
              <a:rPr lang="zh-CN" altLang="en-US" dirty="0" smtClean="0">
                <a:latin typeface="楷体" pitchFamily="49" charset="-122"/>
                <a:ea typeface="楷体" pitchFamily="49" charset="-122"/>
              </a:rPr>
              <a:t>婚姻</a:t>
            </a:r>
            <a:r>
              <a:rPr lang="en-US" altLang="zh-CN" dirty="0" smtClean="0">
                <a:latin typeface="楷体" pitchFamily="49" charset="-122"/>
                <a:ea typeface="楷体" pitchFamily="49" charset="-122"/>
              </a:rPr>
              <a:t>Aa</a:t>
            </a:r>
            <a:r>
              <a:rPr lang="zh-CN" altLang="en-US" dirty="0" smtClean="0">
                <a:latin typeface="楷体" pitchFamily="49" charset="-122"/>
                <a:ea typeface="楷体" pitchFamily="49" charset="-122"/>
              </a:rPr>
              <a:t>是</a:t>
            </a:r>
            <a:r>
              <a:rPr lang="zh-CN" altLang="en-US" dirty="0">
                <a:latin typeface="楷体" pitchFamily="49" charset="-122"/>
                <a:ea typeface="楷体" pitchFamily="49" charset="-122"/>
              </a:rPr>
              <a:t>不稳定的当且仅当</a:t>
            </a:r>
            <a:r>
              <a:rPr lang="en-US" altLang="zh-CN" dirty="0">
                <a:latin typeface="楷体" pitchFamily="49" charset="-122"/>
                <a:ea typeface="楷体" pitchFamily="49" charset="-122"/>
              </a:rPr>
              <a:t>A</a:t>
            </a:r>
            <a:r>
              <a:rPr lang="zh-CN" altLang="en-US" dirty="0">
                <a:latin typeface="楷体" pitchFamily="49" charset="-122"/>
                <a:ea typeface="楷体" pitchFamily="49" charset="-122"/>
              </a:rPr>
              <a:t>与</a:t>
            </a:r>
            <a:r>
              <a:rPr lang="en-US" altLang="zh-CN" dirty="0">
                <a:latin typeface="楷体" pitchFamily="49" charset="-122"/>
                <a:ea typeface="楷体" pitchFamily="49" charset="-122"/>
              </a:rPr>
              <a:t>a</a:t>
            </a:r>
            <a:r>
              <a:rPr lang="zh-CN" altLang="en-US" dirty="0">
                <a:latin typeface="楷体" pitchFamily="49" charset="-122"/>
                <a:ea typeface="楷体" pitchFamily="49" charset="-122"/>
              </a:rPr>
              <a:t>离婚，</a:t>
            </a:r>
            <a:r>
              <a:rPr lang="en-US" altLang="zh-CN" dirty="0">
                <a:latin typeface="楷体" pitchFamily="49" charset="-122"/>
                <a:ea typeface="楷体" pitchFamily="49" charset="-122"/>
              </a:rPr>
              <a:t>a</a:t>
            </a:r>
            <a:r>
              <a:rPr lang="zh-CN" altLang="en-US" dirty="0">
                <a:latin typeface="楷体" pitchFamily="49" charset="-122"/>
                <a:ea typeface="楷体" pitchFamily="49" charset="-122"/>
              </a:rPr>
              <a:t>与</a:t>
            </a:r>
            <a:r>
              <a:rPr lang="en-US" altLang="zh-CN" dirty="0">
                <a:latin typeface="楷体" pitchFamily="49" charset="-122"/>
                <a:ea typeface="楷体" pitchFamily="49" charset="-122"/>
              </a:rPr>
              <a:t>B</a:t>
            </a:r>
            <a:r>
              <a:rPr lang="zh-CN" altLang="en-US" dirty="0">
                <a:latin typeface="楷体" pitchFamily="49" charset="-122"/>
                <a:ea typeface="楷体" pitchFamily="49" charset="-122"/>
              </a:rPr>
              <a:t>情人，</a:t>
            </a:r>
            <a:r>
              <a:rPr lang="en-US" altLang="zh-CN" dirty="0">
                <a:latin typeface="楷体" pitchFamily="49" charset="-122"/>
                <a:ea typeface="楷体" pitchFamily="49" charset="-122"/>
              </a:rPr>
              <a:t>b</a:t>
            </a:r>
            <a:r>
              <a:rPr lang="zh-CN" altLang="en-US" dirty="0">
                <a:latin typeface="楷体" pitchFamily="49" charset="-122"/>
                <a:ea typeface="楷体" pitchFamily="49" charset="-122"/>
              </a:rPr>
              <a:t>与</a:t>
            </a:r>
            <a:r>
              <a:rPr lang="en-US" altLang="zh-CN" dirty="0">
                <a:latin typeface="楷体" pitchFamily="49" charset="-122"/>
                <a:ea typeface="楷体" pitchFamily="49" charset="-122"/>
              </a:rPr>
              <a:t>C</a:t>
            </a:r>
            <a:r>
              <a:rPr lang="zh-CN" altLang="en-US" dirty="0">
                <a:latin typeface="楷体" pitchFamily="49" charset="-122"/>
                <a:ea typeface="楷体" pitchFamily="49" charset="-122"/>
              </a:rPr>
              <a:t>情人，</a:t>
            </a:r>
            <a:r>
              <a:rPr lang="en-US" altLang="zh-CN" dirty="0">
                <a:latin typeface="楷体" pitchFamily="49" charset="-122"/>
                <a:ea typeface="楷体" pitchFamily="49" charset="-122"/>
              </a:rPr>
              <a:t>c</a:t>
            </a:r>
            <a:r>
              <a:rPr lang="zh-CN" altLang="en-US" dirty="0">
                <a:latin typeface="楷体" pitchFamily="49" charset="-122"/>
                <a:ea typeface="楷体" pitchFamily="49" charset="-122"/>
              </a:rPr>
              <a:t>与</a:t>
            </a:r>
            <a:r>
              <a:rPr lang="en-US" altLang="zh-CN" dirty="0">
                <a:latin typeface="楷体" pitchFamily="49" charset="-122"/>
                <a:ea typeface="楷体" pitchFamily="49" charset="-122"/>
              </a:rPr>
              <a:t>D</a:t>
            </a:r>
            <a:r>
              <a:rPr lang="zh-CN" altLang="en-US" dirty="0">
                <a:latin typeface="楷体" pitchFamily="49" charset="-122"/>
                <a:ea typeface="楷体" pitchFamily="49" charset="-122"/>
              </a:rPr>
              <a:t>情人</a:t>
            </a:r>
            <a:r>
              <a:rPr lang="en-US" altLang="zh-CN" dirty="0">
                <a:latin typeface="楷体" pitchFamily="49" charset="-122"/>
                <a:ea typeface="楷体" pitchFamily="49" charset="-122"/>
              </a:rPr>
              <a:t>.....x</a:t>
            </a:r>
            <a:r>
              <a:rPr lang="zh-CN" altLang="en-US" dirty="0">
                <a:latin typeface="楷体" pitchFamily="49" charset="-122"/>
                <a:ea typeface="楷体" pitchFamily="49" charset="-122"/>
              </a:rPr>
              <a:t>与</a:t>
            </a:r>
            <a:r>
              <a:rPr lang="en-US" altLang="zh-CN" dirty="0">
                <a:latin typeface="楷体" pitchFamily="49" charset="-122"/>
                <a:ea typeface="楷体" pitchFamily="49" charset="-122"/>
              </a:rPr>
              <a:t>A</a:t>
            </a:r>
            <a:r>
              <a:rPr lang="zh-CN" altLang="en-US" dirty="0" smtClean="0">
                <a:latin typeface="楷体" pitchFamily="49" charset="-122"/>
                <a:ea typeface="楷体" pitchFamily="49" charset="-122"/>
              </a:rPr>
              <a:t>情人</a:t>
            </a:r>
            <a:endParaRPr lang="en-US" altLang="zh-CN" dirty="0" smtClean="0">
              <a:latin typeface="楷体" pitchFamily="49" charset="-122"/>
              <a:ea typeface="楷体" pitchFamily="49" charset="-122"/>
            </a:endParaRPr>
          </a:p>
          <a:p>
            <a:r>
              <a:rPr lang="zh-CN" altLang="en-US" dirty="0">
                <a:latin typeface="楷体" pitchFamily="49" charset="-122"/>
                <a:ea typeface="楷体" pitchFamily="49" charset="-122"/>
              </a:rPr>
              <a:t>也就是说我们能</a:t>
            </a:r>
            <a:r>
              <a:rPr lang="zh-CN" altLang="en-US" dirty="0" smtClean="0">
                <a:latin typeface="楷体" pitchFamily="49" charset="-122"/>
                <a:ea typeface="楷体" pitchFamily="49" charset="-122"/>
              </a:rPr>
              <a:t>找到</a:t>
            </a:r>
            <a:r>
              <a:rPr lang="en-US" altLang="zh-CN" dirty="0" smtClean="0">
                <a:latin typeface="楷体" pitchFamily="49" charset="-122"/>
                <a:ea typeface="楷体" pitchFamily="49" charset="-122"/>
              </a:rPr>
              <a:t>a-&gt;B-&gt;b-&gt;C-&gt;c-&gt;D-&gt;d-&gt;…&gt;X-&gt;x-&gt;A</a:t>
            </a:r>
            <a:r>
              <a:rPr lang="zh-CN" altLang="en-US" dirty="0" smtClean="0">
                <a:latin typeface="楷体" pitchFamily="49" charset="-122"/>
                <a:ea typeface="楷体" pitchFamily="49" charset="-122"/>
              </a:rPr>
              <a:t>这样一条路径</a:t>
            </a:r>
            <a:endParaRPr lang="en-US" altLang="zh-CN" dirty="0" smtClean="0">
              <a:latin typeface="楷体" pitchFamily="49" charset="-122"/>
              <a:ea typeface="楷体" pitchFamily="49" charset="-122"/>
            </a:endParaRPr>
          </a:p>
          <a:p>
            <a:r>
              <a:rPr lang="zh-CN" altLang="en-US" dirty="0">
                <a:latin typeface="楷体" pitchFamily="49" charset="-122"/>
                <a:ea typeface="楷体" pitchFamily="49" charset="-122"/>
              </a:rPr>
              <a:t>我们</a:t>
            </a:r>
            <a:r>
              <a:rPr lang="zh-CN" altLang="en-US" dirty="0" smtClean="0">
                <a:latin typeface="楷体" pitchFamily="49" charset="-122"/>
                <a:ea typeface="楷体" pitchFamily="49" charset="-122"/>
              </a:rPr>
              <a:t>发现形如</a:t>
            </a:r>
            <a:r>
              <a:rPr lang="en-US" altLang="zh-CN" dirty="0" smtClean="0">
                <a:latin typeface="楷体" pitchFamily="49" charset="-122"/>
                <a:ea typeface="楷体" pitchFamily="49" charset="-122"/>
              </a:rPr>
              <a:t>B-&gt;b</a:t>
            </a:r>
            <a:r>
              <a:rPr lang="zh-CN" altLang="en-US" dirty="0" smtClean="0">
                <a:latin typeface="楷体" pitchFamily="49" charset="-122"/>
                <a:ea typeface="楷体" pitchFamily="49" charset="-122"/>
              </a:rPr>
              <a:t>（男</a:t>
            </a:r>
            <a:r>
              <a:rPr lang="en-US" altLang="zh-CN" dirty="0" smtClean="0">
                <a:latin typeface="楷体" pitchFamily="49" charset="-122"/>
                <a:ea typeface="楷体" pitchFamily="49" charset="-122"/>
              </a:rPr>
              <a:t>-&gt;</a:t>
            </a:r>
            <a:r>
              <a:rPr lang="zh-CN" altLang="en-US" dirty="0" smtClean="0">
                <a:latin typeface="楷体" pitchFamily="49" charset="-122"/>
                <a:ea typeface="楷体" pitchFamily="49" charset="-122"/>
              </a:rPr>
              <a:t>女）的都是夫妻关系，</a:t>
            </a:r>
            <a:r>
              <a:rPr lang="en-US" altLang="zh-CN" dirty="0" smtClean="0">
                <a:latin typeface="楷体" pitchFamily="49" charset="-122"/>
                <a:ea typeface="楷体" pitchFamily="49" charset="-122"/>
              </a:rPr>
              <a:t>b-&gt;B</a:t>
            </a:r>
            <a:r>
              <a:rPr lang="zh-CN" altLang="en-US" dirty="0" smtClean="0">
                <a:latin typeface="楷体" pitchFamily="49" charset="-122"/>
                <a:ea typeface="楷体" pitchFamily="49" charset="-122"/>
              </a:rPr>
              <a:t>（女</a:t>
            </a:r>
            <a:r>
              <a:rPr lang="en-US" altLang="zh-CN" dirty="0" smtClean="0">
                <a:latin typeface="楷体" pitchFamily="49" charset="-122"/>
                <a:ea typeface="楷体" pitchFamily="49" charset="-122"/>
              </a:rPr>
              <a:t>-&gt;</a:t>
            </a:r>
            <a:r>
              <a:rPr lang="zh-CN" altLang="en-US" dirty="0" smtClean="0">
                <a:latin typeface="楷体" pitchFamily="49" charset="-122"/>
                <a:ea typeface="楷体" pitchFamily="49" charset="-122"/>
              </a:rPr>
              <a:t>男）的都是情人关系</a:t>
            </a:r>
            <a:endParaRPr lang="en-US" altLang="zh-CN" dirty="0" smtClean="0">
              <a:latin typeface="楷体" pitchFamily="49" charset="-122"/>
              <a:ea typeface="楷体" pitchFamily="49" charset="-122"/>
            </a:endParaRPr>
          </a:p>
          <a:p>
            <a:r>
              <a:rPr lang="zh-CN" altLang="en-US" dirty="0">
                <a:latin typeface="楷体" pitchFamily="49" charset="-122"/>
                <a:ea typeface="楷体" pitchFamily="49" charset="-122"/>
              </a:rPr>
              <a:t>所以</a:t>
            </a:r>
            <a:r>
              <a:rPr lang="zh-CN" altLang="en-US" dirty="0" smtClean="0">
                <a:latin typeface="楷体" pitchFamily="49" charset="-122"/>
                <a:ea typeface="楷体" pitchFamily="49" charset="-122"/>
              </a:rPr>
              <a:t>我们按照这种方式来建图，若</a:t>
            </a:r>
            <a:r>
              <a:rPr lang="en-US" altLang="zh-CN" dirty="0" smtClean="0">
                <a:latin typeface="楷体" pitchFamily="49" charset="-122"/>
                <a:ea typeface="楷体" pitchFamily="49" charset="-122"/>
              </a:rPr>
              <a:t>Aa</a:t>
            </a:r>
            <a:r>
              <a:rPr lang="zh-CN" altLang="en-US" dirty="0" smtClean="0">
                <a:latin typeface="楷体" pitchFamily="49" charset="-122"/>
                <a:ea typeface="楷体" pitchFamily="49" charset="-122"/>
              </a:rPr>
              <a:t>在同一个强连通分量中，则这对婚姻是不稳定的</a:t>
            </a:r>
            <a:endParaRPr lang="en-US" altLang="zh-CN" dirty="0" smtClean="0">
              <a:latin typeface="楷体" pitchFamily="49" charset="-122"/>
              <a:ea typeface="楷体" pitchFamily="49" charset="-122"/>
            </a:endParaRPr>
          </a:p>
        </p:txBody>
      </p:sp>
    </p:spTree>
    <p:extLst>
      <p:ext uri="{BB962C8B-B14F-4D97-AF65-F5344CB8AC3E}">
        <p14:creationId xmlns:p14="http://schemas.microsoft.com/office/powerpoint/2010/main" val="36464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fade">
                                      <p:cBhvr>
                                        <p:cTn id="7" dur="500"/>
                                        <p:tgtEl>
                                          <p:spTgt spid="143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fade">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fade">
                                      <p:cBhvr>
                                        <p:cTn id="17" dur="500"/>
                                        <p:tgtEl>
                                          <p:spTgt spid="1433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339">
                                            <p:txEl>
                                              <p:pRg st="4" end="4"/>
                                            </p:txEl>
                                          </p:spTgt>
                                        </p:tgtEl>
                                        <p:attrNameLst>
                                          <p:attrName>style.visibility</p:attrName>
                                        </p:attrNameLst>
                                      </p:cBhvr>
                                      <p:to>
                                        <p:strVal val="visible"/>
                                      </p:to>
                                    </p:set>
                                    <p:animEffect transition="in" filter="fade">
                                      <p:cBhvr>
                                        <p:cTn id="22"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4098"/>
          <p:cNvSpPr txBox="1">
            <a:spLocks/>
          </p:cNvSpPr>
          <p:nvPr/>
        </p:nvSpPr>
        <p:spPr>
          <a:xfrm>
            <a:off x="838200" y="2084417"/>
            <a:ext cx="10515600" cy="4351338"/>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4000" b="1" dirty="0" smtClean="0">
                <a:latin typeface="楷体" pitchFamily="49" charset="-122"/>
                <a:ea typeface="楷体" pitchFamily="49" charset="-122"/>
              </a:rPr>
              <a:t>强连通分量</a:t>
            </a:r>
            <a:endParaRPr lang="en-US" altLang="zh-CN" sz="4000" b="1" dirty="0" smtClean="0">
              <a:latin typeface="楷体" pitchFamily="49" charset="-122"/>
              <a:ea typeface="楷体" pitchFamily="49" charset="-122"/>
            </a:endParaRPr>
          </a:p>
          <a:p>
            <a:r>
              <a:rPr lang="zh-CN" altLang="en-US" sz="4000" b="1" dirty="0" smtClean="0">
                <a:solidFill>
                  <a:srgbClr val="FF0000"/>
                </a:solidFill>
                <a:latin typeface="楷体" pitchFamily="49" charset="-122"/>
                <a:ea typeface="楷体" pitchFamily="49" charset="-122"/>
              </a:rPr>
              <a:t>双连通分量</a:t>
            </a:r>
            <a:endParaRPr lang="en-US" altLang="zh-CN" sz="4000" b="1" dirty="0" smtClean="0">
              <a:solidFill>
                <a:srgbClr val="FF0000"/>
              </a:solidFill>
              <a:latin typeface="楷体" pitchFamily="49" charset="-122"/>
              <a:ea typeface="楷体" pitchFamily="49" charset="-122"/>
            </a:endParaRPr>
          </a:p>
          <a:p>
            <a:r>
              <a:rPr lang="zh-CN" altLang="en-US" sz="4000" b="1" dirty="0" smtClean="0">
                <a:latin typeface="楷体" pitchFamily="49" charset="-122"/>
                <a:ea typeface="楷体" pitchFamily="49" charset="-122"/>
              </a:rPr>
              <a:t>二分图匹配</a:t>
            </a:r>
            <a:endParaRPr lang="en-US" altLang="zh-CN" sz="4000" b="1" dirty="0" smtClean="0">
              <a:latin typeface="楷体" pitchFamily="49" charset="-122"/>
              <a:ea typeface="楷体" pitchFamily="49" charset="-122"/>
            </a:endParaRPr>
          </a:p>
          <a:p>
            <a:r>
              <a:rPr lang="en-US" altLang="zh-CN" sz="4000" b="1" dirty="0" smtClean="0">
                <a:latin typeface="楷体" pitchFamily="49" charset="-122"/>
                <a:ea typeface="楷体" pitchFamily="49" charset="-122"/>
              </a:rPr>
              <a:t>2-SAT</a:t>
            </a:r>
            <a:endParaRPr lang="zh-CN" altLang="en-US" sz="4000" b="1" dirty="0">
              <a:latin typeface="楷体" pitchFamily="49" charset="-122"/>
              <a:ea typeface="楷体" pitchFamily="49" charset="-122"/>
            </a:endParaRPr>
          </a:p>
        </p:txBody>
      </p:sp>
    </p:spTree>
    <p:extLst>
      <p:ext uri="{BB962C8B-B14F-4D97-AF65-F5344CB8AC3E}">
        <p14:creationId xmlns:p14="http://schemas.microsoft.com/office/powerpoint/2010/main" val="21024211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割点和桥</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lstStyle/>
          <a:p>
            <a:r>
              <a:rPr lang="zh-CN" altLang="en-US" dirty="0" smtClean="0">
                <a:ea typeface="楷体" pitchFamily="49" charset="-122"/>
              </a:rPr>
              <a:t>无向图</a:t>
            </a:r>
            <a:r>
              <a:rPr lang="en-US" altLang="zh-CN" dirty="0" smtClean="0">
                <a:ea typeface="楷体" pitchFamily="49" charset="-122"/>
              </a:rPr>
              <a:t>G</a:t>
            </a:r>
            <a:r>
              <a:rPr lang="zh-CN" altLang="en-US" dirty="0" smtClean="0">
                <a:ea typeface="楷体" pitchFamily="49" charset="-122"/>
              </a:rPr>
              <a:t>中，若去掉点</a:t>
            </a:r>
            <a:r>
              <a:rPr lang="en-US" altLang="zh-CN" dirty="0" smtClean="0">
                <a:ea typeface="楷体" pitchFamily="49" charset="-122"/>
              </a:rPr>
              <a:t>x</a:t>
            </a:r>
            <a:r>
              <a:rPr lang="zh-CN" altLang="en-US" dirty="0" smtClean="0">
                <a:ea typeface="楷体" pitchFamily="49" charset="-122"/>
              </a:rPr>
              <a:t>及其所有相邻的边之后，</a:t>
            </a:r>
            <a:r>
              <a:rPr lang="en-US" altLang="zh-CN" dirty="0" smtClean="0">
                <a:ea typeface="楷体" pitchFamily="49" charset="-122"/>
              </a:rPr>
              <a:t>G</a:t>
            </a:r>
            <a:r>
              <a:rPr lang="zh-CN" altLang="en-US" dirty="0" smtClean="0">
                <a:ea typeface="楷体" pitchFamily="49" charset="-122"/>
              </a:rPr>
              <a:t>的连通块个数增加了，则称</a:t>
            </a:r>
            <a:r>
              <a:rPr lang="en-US" altLang="zh-CN" dirty="0" smtClean="0">
                <a:ea typeface="楷体" pitchFamily="49" charset="-122"/>
              </a:rPr>
              <a:t>x</a:t>
            </a:r>
            <a:r>
              <a:rPr lang="zh-CN" altLang="en-US" dirty="0" smtClean="0">
                <a:ea typeface="楷体" pitchFamily="49" charset="-122"/>
              </a:rPr>
              <a:t>是</a:t>
            </a:r>
            <a:r>
              <a:rPr lang="en-US" altLang="zh-CN" dirty="0" smtClean="0">
                <a:ea typeface="楷体" pitchFamily="49" charset="-122"/>
              </a:rPr>
              <a:t>G</a:t>
            </a:r>
            <a:r>
              <a:rPr lang="zh-CN" altLang="en-US" dirty="0" smtClean="0">
                <a:ea typeface="楷体" pitchFamily="49" charset="-122"/>
              </a:rPr>
              <a:t>的一个割点</a:t>
            </a:r>
            <a:endParaRPr lang="en-US" altLang="zh-CN" dirty="0" smtClean="0">
              <a:ea typeface="楷体" pitchFamily="49" charset="-122"/>
            </a:endParaRPr>
          </a:p>
          <a:p>
            <a:endParaRPr lang="en-US" altLang="zh-CN" dirty="0">
              <a:ea typeface="楷体" pitchFamily="49" charset="-122"/>
            </a:endParaRPr>
          </a:p>
          <a:p>
            <a:r>
              <a:rPr lang="zh-CN" altLang="en-US" dirty="0">
                <a:ea typeface="楷体" pitchFamily="49" charset="-122"/>
              </a:rPr>
              <a:t>无向图</a:t>
            </a:r>
            <a:r>
              <a:rPr lang="en-US" altLang="zh-CN" dirty="0">
                <a:ea typeface="楷体" pitchFamily="49" charset="-122"/>
              </a:rPr>
              <a:t>G</a:t>
            </a:r>
            <a:r>
              <a:rPr lang="zh-CN" altLang="en-US" dirty="0">
                <a:ea typeface="楷体" pitchFamily="49" charset="-122"/>
              </a:rPr>
              <a:t>中，若</a:t>
            </a:r>
            <a:r>
              <a:rPr lang="zh-CN" altLang="en-US" dirty="0" smtClean="0">
                <a:ea typeface="楷体" pitchFamily="49" charset="-122"/>
              </a:rPr>
              <a:t>去掉边</a:t>
            </a:r>
            <a:r>
              <a:rPr lang="en-US" altLang="zh-CN" dirty="0" smtClean="0">
                <a:ea typeface="楷体" pitchFamily="49" charset="-122"/>
              </a:rPr>
              <a:t>e</a:t>
            </a:r>
            <a:r>
              <a:rPr lang="zh-CN" altLang="en-US" dirty="0" smtClean="0">
                <a:ea typeface="楷体" pitchFamily="49" charset="-122"/>
              </a:rPr>
              <a:t>之后</a:t>
            </a:r>
            <a:r>
              <a:rPr lang="zh-CN" altLang="en-US" dirty="0">
                <a:ea typeface="楷体" pitchFamily="49" charset="-122"/>
              </a:rPr>
              <a:t>，</a:t>
            </a:r>
            <a:r>
              <a:rPr lang="en-US" altLang="zh-CN" dirty="0">
                <a:ea typeface="楷体" pitchFamily="49" charset="-122"/>
              </a:rPr>
              <a:t>G</a:t>
            </a:r>
            <a:r>
              <a:rPr lang="zh-CN" altLang="en-US" dirty="0">
                <a:ea typeface="楷体" pitchFamily="49" charset="-122"/>
              </a:rPr>
              <a:t>的连通块个数增加了，则</a:t>
            </a:r>
            <a:r>
              <a:rPr lang="zh-CN" altLang="en-US" dirty="0" smtClean="0">
                <a:ea typeface="楷体" pitchFamily="49" charset="-122"/>
              </a:rPr>
              <a:t>称</a:t>
            </a:r>
            <a:r>
              <a:rPr lang="en-US" altLang="zh-CN" dirty="0" smtClean="0">
                <a:ea typeface="楷体" pitchFamily="49" charset="-122"/>
              </a:rPr>
              <a:t>e</a:t>
            </a:r>
            <a:r>
              <a:rPr lang="zh-CN" altLang="en-US" dirty="0" smtClean="0">
                <a:ea typeface="楷体" pitchFamily="49" charset="-122"/>
              </a:rPr>
              <a:t>是</a:t>
            </a:r>
            <a:r>
              <a:rPr lang="en-US" altLang="zh-CN" dirty="0">
                <a:ea typeface="楷体" pitchFamily="49" charset="-122"/>
              </a:rPr>
              <a:t>G</a:t>
            </a:r>
            <a:r>
              <a:rPr lang="zh-CN" altLang="en-US" dirty="0">
                <a:ea typeface="楷体" pitchFamily="49" charset="-122"/>
              </a:rPr>
              <a:t>的一</a:t>
            </a:r>
            <a:r>
              <a:rPr lang="zh-CN" altLang="en-US" dirty="0" smtClean="0">
                <a:ea typeface="楷体" pitchFamily="49" charset="-122"/>
              </a:rPr>
              <a:t>个</a:t>
            </a:r>
            <a:r>
              <a:rPr lang="zh-CN" altLang="en-US" dirty="0">
                <a:ea typeface="楷体" pitchFamily="49" charset="-122"/>
              </a:rPr>
              <a:t>桥</a:t>
            </a:r>
            <a:endParaRPr lang="en-US" altLang="zh-CN" dirty="0">
              <a:ea typeface="楷体" pitchFamily="49" charset="-122"/>
            </a:endParaRPr>
          </a:p>
          <a:p>
            <a:endParaRPr lang="en-US" altLang="zh-CN" dirty="0" smtClean="0">
              <a:ea typeface="楷体" pitchFamily="49" charset="-122"/>
            </a:endParaRPr>
          </a:p>
        </p:txBody>
      </p:sp>
    </p:spTree>
    <p:extLst>
      <p:ext uri="{BB962C8B-B14F-4D97-AF65-F5344CB8AC3E}">
        <p14:creationId xmlns:p14="http://schemas.microsoft.com/office/powerpoint/2010/main" val="99355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fade">
                                      <p:cBhvr>
                                        <p:cTn id="12"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割点的求法</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lstStyle/>
          <a:p>
            <a:r>
              <a:rPr lang="zh-CN" altLang="en-US" dirty="0" smtClean="0">
                <a:ea typeface="楷体" pitchFamily="49" charset="-122"/>
              </a:rPr>
              <a:t>类似之前的</a:t>
            </a:r>
            <a:r>
              <a:rPr lang="en-US" altLang="zh-CN" dirty="0" err="1" smtClean="0">
                <a:ea typeface="楷体" pitchFamily="49" charset="-122"/>
              </a:rPr>
              <a:t>tarjan</a:t>
            </a:r>
            <a:r>
              <a:rPr lang="zh-CN" altLang="en-US" dirty="0" smtClean="0">
                <a:ea typeface="楷体" pitchFamily="49" charset="-122"/>
              </a:rPr>
              <a:t>算法</a:t>
            </a:r>
            <a:endParaRPr lang="en-US" altLang="zh-CN" dirty="0" smtClean="0">
              <a:ea typeface="楷体" pitchFamily="49" charset="-122"/>
            </a:endParaRPr>
          </a:p>
          <a:p>
            <a:r>
              <a:rPr lang="zh-CN" altLang="en-US" dirty="0" smtClean="0">
                <a:ea typeface="楷体" pitchFamily="49" charset="-122"/>
              </a:rPr>
              <a:t>如果点</a:t>
            </a:r>
            <a:r>
              <a:rPr lang="en-US" altLang="zh-CN" dirty="0" smtClean="0">
                <a:ea typeface="楷体" pitchFamily="49" charset="-122"/>
              </a:rPr>
              <a:t>x</a:t>
            </a:r>
            <a:r>
              <a:rPr lang="zh-CN" altLang="en-US" dirty="0" smtClean="0">
                <a:ea typeface="楷体" pitchFamily="49" charset="-122"/>
              </a:rPr>
              <a:t>有一个出点的</a:t>
            </a:r>
            <a:r>
              <a:rPr lang="en-US" altLang="zh-CN" dirty="0" smtClean="0">
                <a:ea typeface="楷体" pitchFamily="49" charset="-122"/>
              </a:rPr>
              <a:t>low</a:t>
            </a:r>
            <a:r>
              <a:rPr lang="zh-CN" altLang="en-US" dirty="0" smtClean="0">
                <a:ea typeface="楷体" pitchFamily="49" charset="-122"/>
              </a:rPr>
              <a:t>值</a:t>
            </a:r>
            <a:r>
              <a:rPr lang="en-US" altLang="zh-CN" dirty="0" smtClean="0">
                <a:ea typeface="楷体" pitchFamily="49" charset="-122"/>
              </a:rPr>
              <a:t>&gt;=</a:t>
            </a:r>
            <a:r>
              <a:rPr lang="en-US" altLang="zh-CN" dirty="0" err="1" smtClean="0">
                <a:ea typeface="楷体" pitchFamily="49" charset="-122"/>
              </a:rPr>
              <a:t>dfn</a:t>
            </a:r>
            <a:r>
              <a:rPr lang="en-US" altLang="zh-CN" dirty="0" smtClean="0">
                <a:ea typeface="楷体" pitchFamily="49" charset="-122"/>
              </a:rPr>
              <a:t>[x]</a:t>
            </a:r>
            <a:r>
              <a:rPr lang="zh-CN" altLang="en-US" dirty="0" smtClean="0">
                <a:ea typeface="楷体" pitchFamily="49" charset="-122"/>
              </a:rPr>
              <a:t>，则</a:t>
            </a:r>
            <a:r>
              <a:rPr lang="en-US" altLang="zh-CN" dirty="0" smtClean="0">
                <a:ea typeface="楷体" pitchFamily="49" charset="-122"/>
              </a:rPr>
              <a:t>x</a:t>
            </a:r>
            <a:r>
              <a:rPr lang="zh-CN" altLang="en-US" dirty="0" smtClean="0">
                <a:ea typeface="楷体" pitchFamily="49" charset="-122"/>
              </a:rPr>
              <a:t>是一个割点</a:t>
            </a:r>
            <a:endParaRPr lang="en-US" altLang="zh-CN" dirty="0" smtClean="0">
              <a:ea typeface="楷体" pitchFamily="49" charset="-122"/>
            </a:endParaRPr>
          </a:p>
          <a:p>
            <a:endParaRPr lang="en-US" altLang="zh-CN" dirty="0">
              <a:ea typeface="楷体" pitchFamily="49" charset="-122"/>
            </a:endParaRPr>
          </a:p>
          <a:p>
            <a:r>
              <a:rPr lang="zh-CN" altLang="en-US" dirty="0" smtClean="0">
                <a:ea typeface="楷体" pitchFamily="49" charset="-122"/>
              </a:rPr>
              <a:t>特殊情况：第一个搜索的点</a:t>
            </a:r>
            <a:endParaRPr lang="en-US" altLang="zh-CN" dirty="0" smtClean="0">
              <a:ea typeface="楷体" pitchFamily="49" charset="-122"/>
            </a:endParaRPr>
          </a:p>
          <a:p>
            <a:r>
              <a:rPr lang="zh-CN" altLang="en-US" dirty="0">
                <a:ea typeface="楷体" pitchFamily="49" charset="-122"/>
              </a:rPr>
              <a:t>终于能</a:t>
            </a:r>
            <a:r>
              <a:rPr lang="zh-CN" altLang="en-US" dirty="0" smtClean="0">
                <a:ea typeface="楷体" pitchFamily="49" charset="-122"/>
              </a:rPr>
              <a:t>解释为什么用</a:t>
            </a:r>
            <a:r>
              <a:rPr lang="en-US" altLang="zh-CN" dirty="0" err="1" smtClean="0">
                <a:ea typeface="楷体" pitchFamily="49" charset="-122"/>
              </a:rPr>
              <a:t>dfn</a:t>
            </a:r>
            <a:r>
              <a:rPr lang="zh-CN" altLang="en-US" dirty="0" smtClean="0">
                <a:ea typeface="楷体" pitchFamily="49" charset="-122"/>
              </a:rPr>
              <a:t>值更新了</a:t>
            </a:r>
            <a:r>
              <a:rPr lang="en-US" altLang="zh-CN" dirty="0">
                <a:ea typeface="楷体" pitchFamily="49" charset="-122"/>
              </a:rPr>
              <a:t>QAQ</a:t>
            </a:r>
            <a:endParaRPr lang="en-US" altLang="zh-CN" dirty="0" smtClean="0">
              <a:ea typeface="楷体" pitchFamily="49" charset="-122"/>
            </a:endParaRPr>
          </a:p>
        </p:txBody>
      </p:sp>
    </p:spTree>
    <p:extLst>
      <p:ext uri="{BB962C8B-B14F-4D97-AF65-F5344CB8AC3E}">
        <p14:creationId xmlns:p14="http://schemas.microsoft.com/office/powerpoint/2010/main" val="139138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fade">
                                      <p:cBhvr>
                                        <p:cTn id="7" dur="500"/>
                                        <p:tgtEl>
                                          <p:spTgt spid="153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3" end="3"/>
                                            </p:txEl>
                                          </p:spTgt>
                                        </p:tgtEl>
                                        <p:attrNameLst>
                                          <p:attrName>style.visibility</p:attrName>
                                        </p:attrNameLst>
                                      </p:cBhvr>
                                      <p:to>
                                        <p:strVal val="visible"/>
                                      </p:to>
                                    </p:set>
                                    <p:animEffect transition="in" filter="fade">
                                      <p:cBhvr>
                                        <p:cTn id="12" dur="500"/>
                                        <p:tgtEl>
                                          <p:spTgt spid="153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animEffect transition="in" filter="fade">
                                      <p:cBhvr>
                                        <p:cTn id="17" dur="500"/>
                                        <p:tgtEl>
                                          <p:spTgt spid="1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文本占位符 20482"/>
          <p:cNvSpPr>
            <a:spLocks noGrp="1"/>
          </p:cNvSpPr>
          <p:nvPr>
            <p:ph type="body" idx="1"/>
          </p:nvPr>
        </p:nvSpPr>
        <p:spPr>
          <a:ln/>
        </p:spPr>
        <p:txBody>
          <a:bodyPr/>
          <a:lstStyle/>
          <a:p>
            <a:r>
              <a:rPr lang="zh-CN" altLang="en-US" dirty="0" smtClean="0">
                <a:latin typeface="楷体" pitchFamily="49" charset="-122"/>
                <a:ea typeface="楷体" pitchFamily="49" charset="-122"/>
              </a:rPr>
              <a:t>对于一个无向图</a:t>
            </a:r>
            <a:r>
              <a:rPr lang="en-US" altLang="zh-CN" dirty="0" smtClean="0">
                <a:latin typeface="楷体" pitchFamily="49" charset="-122"/>
                <a:ea typeface="楷体" pitchFamily="49" charset="-122"/>
              </a:rPr>
              <a:t>G</a:t>
            </a:r>
            <a:r>
              <a:rPr lang="zh-CN" altLang="en-US" dirty="0" smtClean="0">
                <a:latin typeface="楷体" pitchFamily="49" charset="-122"/>
                <a:ea typeface="楷体" pitchFamily="49" charset="-122"/>
              </a:rPr>
              <a:t>，若其不存在桥，则称其是一个边双连通图</a:t>
            </a:r>
            <a:endParaRPr lang="en-US" altLang="zh-CN" dirty="0" smtClean="0">
              <a:latin typeface="楷体" pitchFamily="49" charset="-122"/>
              <a:ea typeface="楷体" pitchFamily="49" charset="-122"/>
            </a:endParaRPr>
          </a:p>
          <a:p>
            <a:r>
              <a:rPr lang="zh-CN" altLang="en-US" dirty="0">
                <a:latin typeface="楷体" pitchFamily="49" charset="-122"/>
                <a:ea typeface="楷体" pitchFamily="49" charset="-122"/>
              </a:rPr>
              <a:t>一</a:t>
            </a:r>
            <a:r>
              <a:rPr lang="zh-CN" altLang="en-US" dirty="0" smtClean="0">
                <a:latin typeface="楷体" pitchFamily="49" charset="-122"/>
                <a:ea typeface="楷体" pitchFamily="49" charset="-122"/>
              </a:rPr>
              <a:t>个无向图</a:t>
            </a:r>
            <a:r>
              <a:rPr lang="en-US" altLang="zh-CN" dirty="0" smtClean="0">
                <a:latin typeface="楷体" pitchFamily="49" charset="-122"/>
                <a:ea typeface="楷体" pitchFamily="49" charset="-122"/>
              </a:rPr>
              <a:t>G</a:t>
            </a:r>
            <a:r>
              <a:rPr lang="zh-CN" altLang="en-US" dirty="0" smtClean="0">
                <a:latin typeface="楷体" pitchFamily="49" charset="-122"/>
                <a:ea typeface="楷体" pitchFamily="49" charset="-122"/>
              </a:rPr>
              <a:t>的极大边双连通子图成为</a:t>
            </a:r>
            <a:r>
              <a:rPr lang="en-US" altLang="zh-CN" dirty="0" smtClean="0">
                <a:latin typeface="楷体" pitchFamily="49" charset="-122"/>
                <a:ea typeface="楷体" pitchFamily="49" charset="-122"/>
              </a:rPr>
              <a:t>G</a:t>
            </a:r>
            <a:r>
              <a:rPr lang="zh-CN" altLang="en-US" dirty="0" smtClean="0">
                <a:latin typeface="楷体" pitchFamily="49" charset="-122"/>
                <a:ea typeface="楷体" pitchFamily="49" charset="-122"/>
              </a:rPr>
              <a:t>的边双连通分量</a:t>
            </a:r>
            <a:endParaRPr lang="en-US" altLang="zh-CN" dirty="0" smtClean="0">
              <a:latin typeface="楷体" pitchFamily="49" charset="-122"/>
              <a:ea typeface="楷体" pitchFamily="49" charset="-122"/>
            </a:endParaRPr>
          </a:p>
          <a:p>
            <a:endParaRPr lang="en-US" altLang="zh-CN" dirty="0">
              <a:latin typeface="楷体" pitchFamily="49" charset="-122"/>
              <a:ea typeface="楷体" pitchFamily="49" charset="-122"/>
            </a:endParaRPr>
          </a:p>
          <a:p>
            <a:r>
              <a:rPr lang="zh-CN" altLang="en-US" dirty="0">
                <a:latin typeface="楷体" pitchFamily="49" charset="-122"/>
                <a:ea typeface="楷体" pitchFamily="49" charset="-122"/>
              </a:rPr>
              <a:t>对于一个无向图</a:t>
            </a:r>
            <a:r>
              <a:rPr lang="en-US" altLang="zh-CN" dirty="0">
                <a:latin typeface="楷体" pitchFamily="49" charset="-122"/>
                <a:ea typeface="楷体" pitchFamily="49" charset="-122"/>
              </a:rPr>
              <a:t>G</a:t>
            </a:r>
            <a:r>
              <a:rPr lang="zh-CN" altLang="en-US" dirty="0">
                <a:latin typeface="楷体" pitchFamily="49" charset="-122"/>
                <a:ea typeface="楷体" pitchFamily="49" charset="-122"/>
              </a:rPr>
              <a:t>，若其不</a:t>
            </a:r>
            <a:r>
              <a:rPr lang="zh-CN" altLang="en-US" dirty="0" smtClean="0">
                <a:latin typeface="楷体" pitchFamily="49" charset="-122"/>
                <a:ea typeface="楷体" pitchFamily="49" charset="-122"/>
              </a:rPr>
              <a:t>存在割点，</a:t>
            </a:r>
            <a:r>
              <a:rPr lang="zh-CN" altLang="en-US" dirty="0">
                <a:latin typeface="楷体" pitchFamily="49" charset="-122"/>
                <a:ea typeface="楷体" pitchFamily="49" charset="-122"/>
              </a:rPr>
              <a:t>则称其是一</a:t>
            </a:r>
            <a:r>
              <a:rPr lang="zh-CN" altLang="en-US" dirty="0" smtClean="0">
                <a:latin typeface="楷体" pitchFamily="49" charset="-122"/>
                <a:ea typeface="楷体" pitchFamily="49" charset="-122"/>
              </a:rPr>
              <a:t>个点双</a:t>
            </a:r>
            <a:r>
              <a:rPr lang="zh-CN" altLang="en-US" dirty="0">
                <a:latin typeface="楷体" pitchFamily="49" charset="-122"/>
                <a:ea typeface="楷体" pitchFamily="49" charset="-122"/>
              </a:rPr>
              <a:t>连通图</a:t>
            </a:r>
            <a:endParaRPr lang="en-US" altLang="zh-CN" dirty="0">
              <a:latin typeface="楷体" pitchFamily="49" charset="-122"/>
              <a:ea typeface="楷体" pitchFamily="49" charset="-122"/>
            </a:endParaRPr>
          </a:p>
          <a:p>
            <a:r>
              <a:rPr lang="zh-CN" altLang="en-US" dirty="0">
                <a:latin typeface="楷体" pitchFamily="49" charset="-122"/>
                <a:ea typeface="楷体" pitchFamily="49" charset="-122"/>
              </a:rPr>
              <a:t>一个无向图</a:t>
            </a:r>
            <a:r>
              <a:rPr lang="en-US" altLang="zh-CN" dirty="0">
                <a:latin typeface="楷体" pitchFamily="49" charset="-122"/>
                <a:ea typeface="楷体" pitchFamily="49" charset="-122"/>
              </a:rPr>
              <a:t>G</a:t>
            </a:r>
            <a:r>
              <a:rPr lang="zh-CN" altLang="en-US" dirty="0">
                <a:latin typeface="楷体" pitchFamily="49" charset="-122"/>
                <a:ea typeface="楷体" pitchFamily="49" charset="-122"/>
              </a:rPr>
              <a:t>的</a:t>
            </a:r>
            <a:r>
              <a:rPr lang="zh-CN" altLang="en-US" dirty="0" smtClean="0">
                <a:latin typeface="楷体" pitchFamily="49" charset="-122"/>
                <a:ea typeface="楷体" pitchFamily="49" charset="-122"/>
              </a:rPr>
              <a:t>极大点双</a:t>
            </a:r>
            <a:r>
              <a:rPr lang="zh-CN" altLang="en-US" dirty="0">
                <a:latin typeface="楷体" pitchFamily="49" charset="-122"/>
                <a:ea typeface="楷体" pitchFamily="49" charset="-122"/>
              </a:rPr>
              <a:t>连通子图成为</a:t>
            </a:r>
            <a:r>
              <a:rPr lang="en-US" altLang="zh-CN" dirty="0">
                <a:latin typeface="楷体" pitchFamily="49" charset="-122"/>
                <a:ea typeface="楷体" pitchFamily="49" charset="-122"/>
              </a:rPr>
              <a:t>G</a:t>
            </a:r>
            <a:r>
              <a:rPr lang="zh-CN" altLang="en-US" dirty="0" smtClean="0">
                <a:latin typeface="楷体" pitchFamily="49" charset="-122"/>
                <a:ea typeface="楷体" pitchFamily="49" charset="-122"/>
              </a:rPr>
              <a:t>的点双</a:t>
            </a:r>
            <a:r>
              <a:rPr lang="zh-CN" altLang="en-US" dirty="0">
                <a:latin typeface="楷体" pitchFamily="49" charset="-122"/>
                <a:ea typeface="楷体" pitchFamily="49" charset="-122"/>
              </a:rPr>
              <a:t>连通分量</a:t>
            </a:r>
          </a:p>
          <a:p>
            <a:endParaRPr lang="zh-CN" altLang="en-US" dirty="0">
              <a:latin typeface="楷体" pitchFamily="49" charset="-122"/>
              <a:ea typeface="楷体" pitchFamily="49" charset="-122"/>
            </a:endParaRPr>
          </a:p>
        </p:txBody>
      </p:sp>
      <p:sp>
        <p:nvSpPr>
          <p:cNvPr id="2" name="标题 1"/>
          <p:cNvSpPr>
            <a:spLocks noGrp="1"/>
          </p:cNvSpPr>
          <p:nvPr>
            <p:ph type="title"/>
          </p:nvPr>
        </p:nvSpPr>
        <p:spPr/>
        <p:txBody>
          <a:bodyPr/>
          <a:lstStyle/>
          <a:p>
            <a:r>
              <a:rPr lang="zh-CN" altLang="en-US" dirty="0" smtClean="0"/>
              <a:t>双连通分量</a:t>
            </a:r>
            <a:endParaRPr lang="zh-CN" altLang="en-US" dirty="0"/>
          </a:p>
        </p:txBody>
      </p:sp>
    </p:spTree>
    <p:extLst>
      <p:ext uri="{BB962C8B-B14F-4D97-AF65-F5344CB8AC3E}">
        <p14:creationId xmlns:p14="http://schemas.microsoft.com/office/powerpoint/2010/main" val="3225874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文本占位符 22530"/>
          <p:cNvSpPr>
            <a:spLocks noGrp="1"/>
          </p:cNvSpPr>
          <p:nvPr>
            <p:ph type="body" idx="1"/>
          </p:nvPr>
        </p:nvSpPr>
        <p:spPr>
          <a:ln/>
        </p:spPr>
        <p:txBody>
          <a:bodyPr/>
          <a:lstStyle/>
          <a:p>
            <a:pPr marL="0" indent="0">
              <a:buNone/>
            </a:pPr>
            <a:r>
              <a:rPr lang="zh-CN" altLang="en-US" dirty="0" smtClean="0">
                <a:latin typeface="楷体" pitchFamily="49" charset="-122"/>
                <a:ea typeface="楷体" pitchFamily="49" charset="-122"/>
              </a:rPr>
              <a:t>用通俗一点的话说，</a:t>
            </a:r>
            <a:r>
              <a:rPr lang="en-US" altLang="zh-CN" dirty="0" smtClean="0">
                <a:latin typeface="楷体" pitchFamily="49" charset="-122"/>
                <a:ea typeface="楷体" pitchFamily="49" charset="-122"/>
              </a:rPr>
              <a:t>A,B</a:t>
            </a:r>
            <a:r>
              <a:rPr lang="zh-CN" altLang="en-US" dirty="0" smtClean="0">
                <a:latin typeface="楷体" pitchFamily="49" charset="-122"/>
                <a:ea typeface="楷体" pitchFamily="49" charset="-122"/>
              </a:rPr>
              <a:t>在同一个边双中当且仅当</a:t>
            </a:r>
            <a:r>
              <a:rPr lang="en-US" altLang="zh-CN" dirty="0" smtClean="0">
                <a:latin typeface="楷体" pitchFamily="49" charset="-122"/>
                <a:ea typeface="楷体" pitchFamily="49" charset="-122"/>
              </a:rPr>
              <a:t>A,B</a:t>
            </a:r>
            <a:r>
              <a:rPr lang="zh-CN" altLang="en-US" dirty="0" smtClean="0">
                <a:latin typeface="楷体" pitchFamily="49" charset="-122"/>
                <a:ea typeface="楷体" pitchFamily="49" charset="-122"/>
              </a:rPr>
              <a:t>之间有两条边不相交路径</a:t>
            </a:r>
            <a:endParaRPr lang="en-US" altLang="zh-CN" dirty="0" smtClean="0">
              <a:latin typeface="楷体" pitchFamily="49" charset="-122"/>
              <a:ea typeface="楷体" pitchFamily="49" charset="-122"/>
            </a:endParaRPr>
          </a:p>
          <a:p>
            <a:pPr marL="0" indent="0">
              <a:buNone/>
            </a:pPr>
            <a:endParaRPr lang="en-US" altLang="zh-CN" dirty="0" smtClean="0">
              <a:latin typeface="楷体" pitchFamily="49" charset="-122"/>
              <a:ea typeface="楷体" pitchFamily="49" charset="-122"/>
            </a:endParaRPr>
          </a:p>
          <a:p>
            <a:pPr marL="0" indent="0">
              <a:buNone/>
            </a:pPr>
            <a:r>
              <a:rPr lang="zh-CN" altLang="en-US" dirty="0" smtClean="0">
                <a:latin typeface="楷体" pitchFamily="49" charset="-122"/>
                <a:ea typeface="楷体" pitchFamily="49" charset="-122"/>
              </a:rPr>
              <a:t>根据定义我们可以知道，每个点属于且只属于一个边双连通分量</a:t>
            </a:r>
            <a:endParaRPr lang="en-US" altLang="zh-CN" dirty="0" smtClean="0">
              <a:latin typeface="楷体" pitchFamily="49" charset="-122"/>
              <a:ea typeface="楷体" pitchFamily="49" charset="-122"/>
            </a:endParaRPr>
          </a:p>
          <a:p>
            <a:pPr marL="0" indent="0">
              <a:buNone/>
            </a:pPr>
            <a:r>
              <a:rPr lang="zh-CN" altLang="en-US" dirty="0" smtClean="0">
                <a:latin typeface="楷体" pitchFamily="49" charset="-122"/>
                <a:ea typeface="楷体" pitchFamily="49" charset="-122"/>
              </a:rPr>
              <a:t>注意：边双连通分量缩点后会变成一棵树</a:t>
            </a:r>
            <a:endParaRPr lang="en-US" altLang="zh-CN" dirty="0" smtClean="0">
              <a:latin typeface="楷体" pitchFamily="49" charset="-122"/>
              <a:ea typeface="楷体" pitchFamily="49" charset="-122"/>
            </a:endParaRPr>
          </a:p>
          <a:p>
            <a:pPr marL="0" indent="0">
              <a:buNone/>
            </a:pPr>
            <a:endParaRPr lang="en-US" altLang="zh-CN" dirty="0">
              <a:latin typeface="楷体" pitchFamily="49" charset="-122"/>
              <a:ea typeface="楷体" pitchFamily="49" charset="-122"/>
            </a:endParaRPr>
          </a:p>
        </p:txBody>
      </p:sp>
      <p:sp>
        <p:nvSpPr>
          <p:cNvPr id="4" name="标题 3"/>
          <p:cNvSpPr>
            <a:spLocks noGrp="1"/>
          </p:cNvSpPr>
          <p:nvPr>
            <p:ph type="title"/>
          </p:nvPr>
        </p:nvSpPr>
        <p:spPr/>
        <p:txBody>
          <a:bodyPr/>
          <a:lstStyle/>
          <a:p>
            <a:r>
              <a:rPr lang="zh-CN" altLang="en-US" dirty="0" smtClean="0"/>
              <a:t>边双连通分量</a:t>
            </a:r>
            <a:endParaRPr lang="zh-CN" altLang="en-US" dirty="0"/>
          </a:p>
        </p:txBody>
      </p:sp>
    </p:spTree>
    <p:extLst>
      <p:ext uri="{BB962C8B-B14F-4D97-AF65-F5344CB8AC3E}">
        <p14:creationId xmlns:p14="http://schemas.microsoft.com/office/powerpoint/2010/main" val="214560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animEffect transition="in" filter="fade">
                                      <p:cBhvr>
                                        <p:cTn id="7" dur="500"/>
                                        <p:tgtEl>
                                          <p:spTgt spid="2253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pRg st="3" end="3"/>
                                            </p:txEl>
                                          </p:spTgt>
                                        </p:tgtEl>
                                        <p:attrNameLst>
                                          <p:attrName>style.visibility</p:attrName>
                                        </p:attrNameLst>
                                      </p:cBhvr>
                                      <p:to>
                                        <p:strVal val="visible"/>
                                      </p:to>
                                    </p:set>
                                    <p:animEffect transition="in" filter="fade">
                                      <p:cBhvr>
                                        <p:cTn id="12" dur="500"/>
                                        <p:tgtEl>
                                          <p:spTgt spid="225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边双连通分量的求法</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lstStyle/>
          <a:p>
            <a:r>
              <a:rPr lang="zh-CN" altLang="en-US" dirty="0" smtClean="0">
                <a:ea typeface="楷体" pitchFamily="49" charset="-122"/>
              </a:rPr>
              <a:t>还是用</a:t>
            </a:r>
            <a:r>
              <a:rPr lang="en-US" altLang="zh-CN" dirty="0" err="1" smtClean="0">
                <a:ea typeface="楷体" pitchFamily="49" charset="-122"/>
              </a:rPr>
              <a:t>Tarjan</a:t>
            </a:r>
            <a:r>
              <a:rPr lang="zh-CN" altLang="en-US" dirty="0" smtClean="0">
                <a:ea typeface="楷体" pitchFamily="49" charset="-122"/>
              </a:rPr>
              <a:t>算法，几乎和求强连通分量的方式一样</a:t>
            </a:r>
            <a:endParaRPr lang="en-US" altLang="zh-CN" dirty="0" smtClean="0">
              <a:ea typeface="楷体" pitchFamily="49" charset="-122"/>
            </a:endParaRPr>
          </a:p>
          <a:p>
            <a:r>
              <a:rPr lang="zh-CN" altLang="en-US" dirty="0">
                <a:ea typeface="楷体" pitchFamily="49" charset="-122"/>
              </a:rPr>
              <a:t>只需</a:t>
            </a:r>
            <a:r>
              <a:rPr lang="zh-CN" altLang="en-US" dirty="0" smtClean="0">
                <a:ea typeface="楷体" pitchFamily="49" charset="-122"/>
              </a:rPr>
              <a:t>要</a:t>
            </a:r>
            <a:r>
              <a:rPr lang="zh-CN" altLang="en-US" dirty="0">
                <a:ea typeface="楷体" pitchFamily="49" charset="-122"/>
              </a:rPr>
              <a:t>限制</a:t>
            </a:r>
            <a:r>
              <a:rPr lang="zh-CN" altLang="en-US" dirty="0" smtClean="0">
                <a:ea typeface="楷体" pitchFamily="49" charset="-122"/>
              </a:rPr>
              <a:t>一下不能走反向边即可</a:t>
            </a:r>
            <a:endParaRPr lang="en-US" altLang="zh-CN" dirty="0" smtClean="0">
              <a:ea typeface="楷体" pitchFamily="49" charset="-122"/>
            </a:endParaRPr>
          </a:p>
          <a:p>
            <a:endParaRPr lang="en-US" altLang="zh-CN" dirty="0">
              <a:ea typeface="楷体" pitchFamily="49" charset="-122"/>
            </a:endParaRPr>
          </a:p>
          <a:p>
            <a:r>
              <a:rPr lang="zh-CN" altLang="en-US" dirty="0" smtClean="0">
                <a:ea typeface="楷体" pitchFamily="49" charset="-122"/>
              </a:rPr>
              <a:t>为什么这样做是对的？</a:t>
            </a:r>
            <a:endParaRPr lang="en-US" altLang="zh-CN" dirty="0" smtClean="0">
              <a:ea typeface="楷体" pitchFamily="49" charset="-122"/>
            </a:endParaRPr>
          </a:p>
          <a:p>
            <a:r>
              <a:rPr lang="zh-CN" altLang="en-US" dirty="0" smtClean="0">
                <a:ea typeface="楷体" pitchFamily="49" charset="-122"/>
              </a:rPr>
              <a:t>从</a:t>
            </a:r>
            <a:r>
              <a:rPr lang="en-US" altLang="zh-CN" dirty="0" smtClean="0">
                <a:ea typeface="楷体" pitchFamily="49" charset="-122"/>
              </a:rPr>
              <a:t>DFS</a:t>
            </a:r>
            <a:r>
              <a:rPr lang="zh-CN" altLang="en-US" dirty="0" smtClean="0">
                <a:ea typeface="楷体" pitchFamily="49" charset="-122"/>
              </a:rPr>
              <a:t>树的角度考虑，我们把树边当成从上到下的有向边，非树边当成从下到上的有向边，这个图中的强连通分量就是正常无向图中的边双连通分量</a:t>
            </a:r>
            <a:endParaRPr lang="en-US" altLang="zh-CN" dirty="0" smtClean="0">
              <a:ea typeface="楷体" pitchFamily="49" charset="-122"/>
            </a:endParaRPr>
          </a:p>
        </p:txBody>
      </p:sp>
    </p:spTree>
    <p:extLst>
      <p:ext uri="{BB962C8B-B14F-4D97-AF65-F5344CB8AC3E}">
        <p14:creationId xmlns:p14="http://schemas.microsoft.com/office/powerpoint/2010/main" val="273250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3" end="3"/>
                                            </p:txEl>
                                          </p:spTgt>
                                        </p:tgtEl>
                                        <p:attrNameLst>
                                          <p:attrName>style.visibility</p:attrName>
                                        </p:attrNameLst>
                                      </p:cBhvr>
                                      <p:to>
                                        <p:strVal val="visible"/>
                                      </p:to>
                                    </p:set>
                                    <p:animEffect transition="in" filter="fade">
                                      <p:cBhvr>
                                        <p:cTn id="7" dur="500"/>
                                        <p:tgtEl>
                                          <p:spTgt spid="1536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4" end="4"/>
                                            </p:txEl>
                                          </p:spTgt>
                                        </p:tgtEl>
                                        <p:attrNameLst>
                                          <p:attrName>style.visibility</p:attrName>
                                        </p:attrNameLst>
                                      </p:cBhvr>
                                      <p:to>
                                        <p:strVal val="visible"/>
                                      </p:to>
                                    </p:set>
                                    <p:animEffect transition="in" filter="fade">
                                      <p:cBhvr>
                                        <p:cTn id="12" dur="500"/>
                                        <p:tgtEl>
                                          <p:spTgt spid="1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en-US" altLang="zh-CN" b="1" dirty="0"/>
              <a:t>[Usaco2006 Jan] Redundant Paths </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lnSpcReduction="10000"/>
          </a:bodyPr>
          <a:lstStyle/>
          <a:p>
            <a:r>
              <a:rPr lang="zh-CN" altLang="en-US" dirty="0"/>
              <a:t>为了从</a:t>
            </a:r>
            <a:r>
              <a:rPr lang="en-US" altLang="zh-CN" dirty="0"/>
              <a:t>F(1≤F≤5000)</a:t>
            </a:r>
            <a:r>
              <a:rPr lang="zh-CN" altLang="en-US" dirty="0"/>
              <a:t>个草场中的一个走到另一个，贝茜和她的同伴们有时不得不路过一些她们讨厌的可怕的树．奶牛们已经厌倦了被迫走某一条路，所以她们想建一些新路，使每一对草场之间都会至少有两条相互分离的路径，这样她们就有多一些选择．</a:t>
            </a:r>
          </a:p>
          <a:p>
            <a:r>
              <a:rPr lang="zh-CN" altLang="en-US" dirty="0"/>
              <a:t>    每对草场之间已经有至少一条路径．给出所有</a:t>
            </a:r>
            <a:r>
              <a:rPr lang="en-US" altLang="zh-CN" dirty="0"/>
              <a:t>R(F-1≤R≤10000)</a:t>
            </a:r>
            <a:r>
              <a:rPr lang="zh-CN" altLang="en-US" dirty="0"/>
              <a:t>条双向路的描述，每条路连接了两个不同的草场，请计算最少的新建道路的数量</a:t>
            </a:r>
            <a:r>
              <a:rPr lang="en-US" altLang="zh-CN" dirty="0"/>
              <a:t>, </a:t>
            </a:r>
            <a:r>
              <a:rPr lang="zh-CN" altLang="en-US" dirty="0"/>
              <a:t>路径由若干道路首尾相连而成．两条路径相互分离，是指两条路径没有一条重合的道路．但是，两条分离的路径上可以有一些相同的草场． 对于同一对草场之间，可能已经有两条不同的道路，你也可以在它们之间再建一条道路，作为另一条不同的道路．</a:t>
            </a:r>
          </a:p>
          <a:p>
            <a:endParaRPr lang="en-US" altLang="zh-CN" dirty="0" smtClean="0">
              <a:ea typeface="楷体" pitchFamily="49" charset="-122"/>
            </a:endParaRPr>
          </a:p>
        </p:txBody>
      </p:sp>
    </p:spTree>
    <p:extLst>
      <p:ext uri="{BB962C8B-B14F-4D97-AF65-F5344CB8AC3E}">
        <p14:creationId xmlns:p14="http://schemas.microsoft.com/office/powerpoint/2010/main" val="17616772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a:ea typeface="楷体" pitchFamily="49" charset="-122"/>
              </a:rPr>
              <a:t>先</a:t>
            </a:r>
            <a:r>
              <a:rPr lang="zh-CN" altLang="en-US" dirty="0" smtClean="0">
                <a:ea typeface="楷体" pitchFamily="49" charset="-122"/>
              </a:rPr>
              <a:t>把边双连通分量缩起来，这样就变成了一棵树的问题</a:t>
            </a:r>
            <a:endParaRPr lang="en-US" altLang="zh-CN" dirty="0" smtClean="0">
              <a:ea typeface="楷体" pitchFamily="49" charset="-122"/>
            </a:endParaRPr>
          </a:p>
          <a:p>
            <a:r>
              <a:rPr lang="zh-CN" altLang="en-US" dirty="0">
                <a:ea typeface="楷体" pitchFamily="49" charset="-122"/>
              </a:rPr>
              <a:t>那么我们就只需要</a:t>
            </a:r>
            <a:r>
              <a:rPr lang="zh-CN" altLang="en-US" dirty="0" smtClean="0">
                <a:ea typeface="楷体" pitchFamily="49" charset="-122"/>
              </a:rPr>
              <a:t>考虑树的最优策略</a:t>
            </a:r>
            <a:endParaRPr lang="en-US" altLang="zh-CN" dirty="0" smtClean="0">
              <a:ea typeface="楷体" pitchFamily="49" charset="-122"/>
            </a:endParaRPr>
          </a:p>
          <a:p>
            <a:endParaRPr lang="en-US" altLang="zh-CN" dirty="0" smtClean="0">
              <a:ea typeface="楷体" pitchFamily="49" charset="-122"/>
            </a:endParaRPr>
          </a:p>
          <a:p>
            <a:r>
              <a:rPr lang="zh-CN" altLang="en-US" dirty="0">
                <a:ea typeface="楷体" pitchFamily="49" charset="-122"/>
              </a:rPr>
              <a:t>显然</a:t>
            </a:r>
            <a:r>
              <a:rPr lang="zh-CN" altLang="en-US" dirty="0" smtClean="0">
                <a:ea typeface="楷体" pitchFamily="49" charset="-122"/>
              </a:rPr>
              <a:t>我们可以贪心地把所有度数为</a:t>
            </a:r>
            <a:r>
              <a:rPr lang="en-US" altLang="zh-CN" dirty="0" smtClean="0">
                <a:ea typeface="楷体" pitchFamily="49" charset="-122"/>
              </a:rPr>
              <a:t>1</a:t>
            </a:r>
            <a:r>
              <a:rPr lang="zh-CN" altLang="en-US" dirty="0" smtClean="0">
                <a:ea typeface="楷体" pitchFamily="49" charset="-122"/>
              </a:rPr>
              <a:t>的点一对一对的连起来</a:t>
            </a:r>
            <a:endParaRPr lang="en-US" altLang="zh-CN" dirty="0" smtClean="0">
              <a:ea typeface="楷体" pitchFamily="49" charset="-122"/>
            </a:endParaRPr>
          </a:p>
          <a:p>
            <a:r>
              <a:rPr lang="zh-CN" altLang="en-US" dirty="0" smtClean="0">
                <a:ea typeface="楷体" pitchFamily="49" charset="-122"/>
              </a:rPr>
              <a:t>所以答案</a:t>
            </a:r>
            <a:r>
              <a:rPr lang="en-US" altLang="zh-CN" dirty="0" smtClean="0">
                <a:ea typeface="楷体" pitchFamily="49" charset="-122"/>
              </a:rPr>
              <a:t>=⌈</a:t>
            </a:r>
            <a:r>
              <a:rPr lang="zh-CN" altLang="en-US" dirty="0">
                <a:ea typeface="楷体" pitchFamily="49" charset="-122"/>
              </a:rPr>
              <a:t>缩点</a:t>
            </a:r>
            <a:r>
              <a:rPr lang="zh-CN" altLang="en-US" dirty="0" smtClean="0">
                <a:ea typeface="楷体" pitchFamily="49" charset="-122"/>
              </a:rPr>
              <a:t>之后度数为</a:t>
            </a:r>
            <a:r>
              <a:rPr lang="en-US" altLang="zh-CN" dirty="0" smtClean="0">
                <a:ea typeface="楷体" pitchFamily="49" charset="-122"/>
              </a:rPr>
              <a:t>1</a:t>
            </a:r>
            <a:r>
              <a:rPr lang="zh-CN" altLang="en-US" dirty="0" smtClean="0">
                <a:ea typeface="楷体" pitchFamily="49" charset="-122"/>
              </a:rPr>
              <a:t>的点的个数</a:t>
            </a:r>
            <a:r>
              <a:rPr lang="en-US" altLang="zh-CN" dirty="0" smtClean="0">
                <a:ea typeface="楷体" pitchFamily="49" charset="-122"/>
              </a:rPr>
              <a:t>/2⌉</a:t>
            </a:r>
          </a:p>
        </p:txBody>
      </p:sp>
    </p:spTree>
    <p:extLst>
      <p:ext uri="{BB962C8B-B14F-4D97-AF65-F5344CB8AC3E}">
        <p14:creationId xmlns:p14="http://schemas.microsoft.com/office/powerpoint/2010/main" val="408104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fade">
                                      <p:cBhvr>
                                        <p:cTn id="7" dur="500"/>
                                        <p:tgtEl>
                                          <p:spTgt spid="153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3" end="3"/>
                                            </p:txEl>
                                          </p:spTgt>
                                        </p:tgtEl>
                                        <p:attrNameLst>
                                          <p:attrName>style.visibility</p:attrName>
                                        </p:attrNameLst>
                                      </p:cBhvr>
                                      <p:to>
                                        <p:strVal val="visible"/>
                                      </p:to>
                                    </p:set>
                                    <p:animEffect transition="in" filter="fade">
                                      <p:cBhvr>
                                        <p:cTn id="12" dur="500"/>
                                        <p:tgtEl>
                                          <p:spTgt spid="1536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5363">
                                            <p:txEl>
                                              <p:pRg st="4" end="4"/>
                                            </p:txEl>
                                          </p:spTgt>
                                        </p:tgtEl>
                                        <p:attrNameLst>
                                          <p:attrName>style.visibility</p:attrName>
                                        </p:attrNameLst>
                                      </p:cBhvr>
                                      <p:to>
                                        <p:strVal val="visible"/>
                                      </p:to>
                                    </p:set>
                                    <p:animEffect transition="in" filter="fade">
                                      <p:cBhvr>
                                        <p:cTn id="15" dur="500"/>
                                        <p:tgtEl>
                                          <p:spTgt spid="15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t>点双连通分量的求法</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由于一个割点可能在多个点双连通分量里，所以我们需要在普通的</a:t>
            </a:r>
            <a:r>
              <a:rPr lang="en-US" altLang="zh-CN" dirty="0" err="1" smtClean="0">
                <a:ea typeface="楷体" pitchFamily="49" charset="-122"/>
              </a:rPr>
              <a:t>tarjan</a:t>
            </a:r>
            <a:r>
              <a:rPr lang="zh-CN" altLang="en-US" dirty="0" smtClean="0">
                <a:ea typeface="楷体" pitchFamily="49" charset="-122"/>
              </a:rPr>
              <a:t>算法基础上做一些改动</a:t>
            </a:r>
            <a:endParaRPr lang="en-US" altLang="zh-CN" dirty="0" smtClean="0">
              <a:ea typeface="楷体" pitchFamily="49" charset="-122"/>
            </a:endParaRPr>
          </a:p>
          <a:p>
            <a:r>
              <a:rPr lang="zh-CN" altLang="en-US" dirty="0" smtClean="0">
                <a:ea typeface="楷体" pitchFamily="49" charset="-122"/>
              </a:rPr>
              <a:t>我们尝试把边压入栈中而不是点，这样我们开始弹栈的时候最后剩下的这条边就会把割点留下了</a:t>
            </a:r>
            <a:endParaRPr lang="en-US" altLang="zh-CN" dirty="0" smtClean="0">
              <a:ea typeface="楷体" pitchFamily="49" charset="-122"/>
            </a:endParaRPr>
          </a:p>
        </p:txBody>
      </p:sp>
    </p:spTree>
    <p:extLst>
      <p:ext uri="{BB962C8B-B14F-4D97-AF65-F5344CB8AC3E}">
        <p14:creationId xmlns:p14="http://schemas.microsoft.com/office/powerpoint/2010/main" val="351845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500"/>
                                        <p:tgtEl>
                                          <p:spTgt spid="153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4098"/>
          <p:cNvSpPr txBox="1">
            <a:spLocks/>
          </p:cNvSpPr>
          <p:nvPr/>
        </p:nvSpPr>
        <p:spPr>
          <a:xfrm>
            <a:off x="838200" y="2084417"/>
            <a:ext cx="10515600" cy="4351338"/>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4000" b="1" dirty="0" smtClean="0">
                <a:latin typeface="楷体" pitchFamily="49" charset="-122"/>
                <a:ea typeface="楷体" pitchFamily="49" charset="-122"/>
              </a:rPr>
              <a:t>强连通分量</a:t>
            </a:r>
            <a:endParaRPr lang="en-US" altLang="zh-CN" sz="4000" b="1" dirty="0" smtClean="0">
              <a:latin typeface="楷体" pitchFamily="49" charset="-122"/>
              <a:ea typeface="楷体" pitchFamily="49" charset="-122"/>
            </a:endParaRPr>
          </a:p>
          <a:p>
            <a:r>
              <a:rPr lang="zh-CN" altLang="en-US" sz="4000" b="1" dirty="0" smtClean="0">
                <a:latin typeface="楷体" pitchFamily="49" charset="-122"/>
                <a:ea typeface="楷体" pitchFamily="49" charset="-122"/>
              </a:rPr>
              <a:t>双连通分量</a:t>
            </a:r>
            <a:endParaRPr lang="en-US" altLang="zh-CN" sz="4000" b="1" dirty="0" smtClean="0">
              <a:latin typeface="楷体" pitchFamily="49" charset="-122"/>
              <a:ea typeface="楷体" pitchFamily="49" charset="-122"/>
            </a:endParaRPr>
          </a:p>
          <a:p>
            <a:r>
              <a:rPr lang="zh-CN" altLang="en-US" sz="4000" b="1" dirty="0" smtClean="0">
                <a:solidFill>
                  <a:srgbClr val="FF0000"/>
                </a:solidFill>
                <a:latin typeface="楷体" pitchFamily="49" charset="-122"/>
                <a:ea typeface="楷体" pitchFamily="49" charset="-122"/>
              </a:rPr>
              <a:t>二分图匹配</a:t>
            </a:r>
            <a:endParaRPr lang="en-US" altLang="zh-CN" sz="4000" b="1" dirty="0" smtClean="0">
              <a:solidFill>
                <a:srgbClr val="FF0000"/>
              </a:solidFill>
              <a:latin typeface="楷体" pitchFamily="49" charset="-122"/>
              <a:ea typeface="楷体" pitchFamily="49" charset="-122"/>
            </a:endParaRPr>
          </a:p>
          <a:p>
            <a:r>
              <a:rPr lang="en-US" altLang="zh-CN" sz="4000" b="1" dirty="0" smtClean="0">
                <a:latin typeface="楷体" pitchFamily="49" charset="-122"/>
                <a:ea typeface="楷体" pitchFamily="49" charset="-122"/>
              </a:rPr>
              <a:t>2-SAT</a:t>
            </a:r>
            <a:endParaRPr lang="zh-CN" altLang="en-US" sz="4000" b="1" dirty="0">
              <a:latin typeface="楷体" pitchFamily="49" charset="-122"/>
              <a:ea typeface="楷体" pitchFamily="49" charset="-122"/>
            </a:endParaRPr>
          </a:p>
        </p:txBody>
      </p:sp>
    </p:spTree>
    <p:extLst>
      <p:ext uri="{BB962C8B-B14F-4D97-AF65-F5344CB8AC3E}">
        <p14:creationId xmlns:p14="http://schemas.microsoft.com/office/powerpoint/2010/main" val="20989141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t>二分图</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smtClean="0"/>
              <a:t>二分图又称作二部图，是图论中的一种特殊模型</a:t>
            </a:r>
            <a:endParaRPr lang="en-US" altLang="zh-CN" dirty="0"/>
          </a:p>
          <a:p>
            <a:r>
              <a:rPr lang="zh-CN" altLang="en-US" dirty="0"/>
              <a:t>设</a:t>
            </a:r>
            <a:r>
              <a:rPr lang="en-US" altLang="zh-CN" dirty="0" smtClean="0"/>
              <a:t>G=(V,E)</a:t>
            </a:r>
            <a:r>
              <a:rPr lang="zh-CN" altLang="en-US" dirty="0" smtClean="0"/>
              <a:t>为一个无向图，若</a:t>
            </a:r>
            <a:r>
              <a:rPr lang="en-US" altLang="zh-CN" dirty="0" smtClean="0"/>
              <a:t>V</a:t>
            </a:r>
            <a:r>
              <a:rPr lang="zh-CN" altLang="en-US" dirty="0" smtClean="0"/>
              <a:t>存在两个子集</a:t>
            </a:r>
            <a:r>
              <a:rPr lang="en-US" altLang="zh-CN" dirty="0" smtClean="0"/>
              <a:t>A,B</a:t>
            </a:r>
            <a:r>
              <a:rPr lang="zh-CN" altLang="en-US" dirty="0" smtClean="0"/>
              <a:t>，使得</a:t>
            </a:r>
            <a:r>
              <a:rPr lang="en-US" altLang="zh-CN" dirty="0" smtClean="0"/>
              <a:t>A</a:t>
            </a:r>
            <a:r>
              <a:rPr lang="zh-CN" altLang="en-US" dirty="0" smtClean="0"/>
              <a:t>∪</a:t>
            </a:r>
            <a:r>
              <a:rPr lang="en-US" altLang="zh-CN" dirty="0" smtClean="0"/>
              <a:t>B=V</a:t>
            </a:r>
            <a:r>
              <a:rPr lang="zh-CN" altLang="en-US" dirty="0" smtClean="0"/>
              <a:t>，</a:t>
            </a:r>
            <a:r>
              <a:rPr lang="en-US" altLang="zh-CN" dirty="0" smtClean="0"/>
              <a:t>A</a:t>
            </a:r>
            <a:r>
              <a:rPr lang="zh-CN" altLang="en-US" dirty="0" smtClean="0"/>
              <a:t>∩</a:t>
            </a:r>
            <a:r>
              <a:rPr lang="en-US" altLang="zh-CN" dirty="0" smtClean="0"/>
              <a:t>B=</a:t>
            </a:r>
            <a:r>
              <a:rPr lang="zh-CN" altLang="en-US" dirty="0" smtClean="0"/>
              <a:t>∅，</a:t>
            </a:r>
            <a:r>
              <a:rPr lang="zh-CN" altLang="en-US" dirty="0"/>
              <a:t>且保证对于</a:t>
            </a:r>
            <a:r>
              <a:rPr lang="zh-CN" altLang="en-US" dirty="0" smtClean="0"/>
              <a:t>∀</a:t>
            </a:r>
            <a:r>
              <a:rPr lang="en-US" altLang="zh-CN" dirty="0" smtClean="0"/>
              <a:t>(</a:t>
            </a:r>
            <a:r>
              <a:rPr lang="en-US" altLang="zh-CN" dirty="0" err="1" smtClean="0"/>
              <a:t>i,j</a:t>
            </a:r>
            <a:r>
              <a:rPr lang="en-US" altLang="zh-CN" dirty="0" smtClean="0"/>
              <a:t>)</a:t>
            </a:r>
            <a:r>
              <a:rPr lang="zh-CN" altLang="en-US" dirty="0" smtClean="0"/>
              <a:t>∈</a:t>
            </a:r>
            <a:r>
              <a:rPr lang="en-US" altLang="zh-CN" dirty="0" smtClean="0"/>
              <a:t>E</a:t>
            </a:r>
            <a:r>
              <a:rPr lang="zh-CN" altLang="en-US" dirty="0" smtClean="0"/>
              <a:t>，有</a:t>
            </a:r>
            <a:r>
              <a:rPr lang="en-US" altLang="zh-CN" dirty="0" err="1" smtClean="0"/>
              <a:t>i</a:t>
            </a:r>
            <a:r>
              <a:rPr lang="zh-CN" altLang="en-US" dirty="0" smtClean="0"/>
              <a:t>∈</a:t>
            </a:r>
            <a:r>
              <a:rPr lang="en-US" altLang="zh-CN" dirty="0" smtClean="0"/>
              <a:t>A&amp;&amp;j</a:t>
            </a:r>
            <a:r>
              <a:rPr lang="zh-CN" altLang="en-US" dirty="0" smtClean="0"/>
              <a:t>∈</a:t>
            </a:r>
            <a:r>
              <a:rPr lang="en-US" altLang="zh-CN" dirty="0" smtClean="0"/>
              <a:t>B</a:t>
            </a:r>
            <a:r>
              <a:rPr lang="zh-CN" altLang="en-US" dirty="0" smtClean="0"/>
              <a:t>或</a:t>
            </a:r>
            <a:r>
              <a:rPr lang="en-US" altLang="zh-CN" dirty="0" err="1"/>
              <a:t>i</a:t>
            </a:r>
            <a:r>
              <a:rPr lang="zh-CN" altLang="en-US" dirty="0" smtClean="0"/>
              <a:t>∈</a:t>
            </a:r>
            <a:r>
              <a:rPr lang="en-US" altLang="zh-CN" dirty="0" smtClean="0"/>
              <a:t>B&amp;&amp;</a:t>
            </a:r>
            <a:r>
              <a:rPr lang="en-US" altLang="zh-CN" dirty="0"/>
              <a:t>j</a:t>
            </a:r>
            <a:r>
              <a:rPr lang="zh-CN" altLang="en-US" dirty="0" smtClean="0"/>
              <a:t>∈</a:t>
            </a:r>
            <a:r>
              <a:rPr lang="en-US" altLang="zh-CN" dirty="0" smtClean="0"/>
              <a:t>A</a:t>
            </a:r>
            <a:r>
              <a:rPr lang="zh-CN" altLang="en-US" dirty="0" smtClean="0"/>
              <a:t>，则称</a:t>
            </a:r>
            <a:r>
              <a:rPr lang="en-US" altLang="zh-CN" dirty="0" smtClean="0"/>
              <a:t>G</a:t>
            </a:r>
            <a:r>
              <a:rPr lang="zh-CN" altLang="en-US" dirty="0" smtClean="0"/>
              <a:t>是一个二分图</a:t>
            </a:r>
            <a:r>
              <a:rPr lang="en-US" altLang="zh-CN" dirty="0" smtClean="0"/>
              <a:t>(</a:t>
            </a:r>
            <a:r>
              <a:rPr lang="zh-CN" altLang="en-US" dirty="0" smtClean="0"/>
              <a:t>二部图</a:t>
            </a:r>
            <a:r>
              <a:rPr lang="en-US" altLang="zh-CN" dirty="0" smtClean="0"/>
              <a:t>)</a:t>
            </a:r>
          </a:p>
          <a:p>
            <a:r>
              <a:rPr lang="zh-CN" altLang="en-US" dirty="0" smtClean="0"/>
              <a:t>简而言之</a:t>
            </a:r>
            <a:r>
              <a:rPr lang="zh-CN" altLang="en-US" dirty="0" smtClean="0"/>
              <a:t>就是如果能把</a:t>
            </a:r>
            <a:r>
              <a:rPr lang="en-US" altLang="zh-CN" dirty="0" smtClean="0"/>
              <a:t>G</a:t>
            </a:r>
            <a:r>
              <a:rPr lang="zh-CN" altLang="en-US" dirty="0" smtClean="0"/>
              <a:t>划分成两部分，使得每一部分内都不自己和自己连边，</a:t>
            </a:r>
            <a:r>
              <a:rPr lang="en-US" altLang="zh-CN" dirty="0" smtClean="0"/>
              <a:t>G</a:t>
            </a:r>
            <a:r>
              <a:rPr lang="zh-CN" altLang="en-US" dirty="0" smtClean="0"/>
              <a:t>就是一个二分图</a:t>
            </a:r>
            <a:endParaRPr lang="en-US" altLang="zh-CN" dirty="0" smtClean="0"/>
          </a:p>
        </p:txBody>
      </p:sp>
      <p:pic>
        <p:nvPicPr>
          <p:cNvPr id="3" name="图片 2"/>
          <p:cNvPicPr>
            <a:picLocks noChangeAspect="1"/>
          </p:cNvPicPr>
          <p:nvPr/>
        </p:nvPicPr>
        <p:blipFill>
          <a:blip r:embed="rId2"/>
          <a:stretch>
            <a:fillRect/>
          </a:stretch>
        </p:blipFill>
        <p:spPr>
          <a:xfrm>
            <a:off x="9187132" y="4096771"/>
            <a:ext cx="3004868" cy="2761230"/>
          </a:xfrm>
          <a:prstGeom prst="rect">
            <a:avLst/>
          </a:prstGeom>
        </p:spPr>
      </p:pic>
    </p:spTree>
    <p:extLst>
      <p:ext uri="{BB962C8B-B14F-4D97-AF65-F5344CB8AC3E}">
        <p14:creationId xmlns:p14="http://schemas.microsoft.com/office/powerpoint/2010/main" val="337439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3">
                                            <p:txEl>
                                              <p:pRg st="2" end="2"/>
                                            </p:txEl>
                                          </p:spTgt>
                                        </p:tgtEl>
                                        <p:attrNameLst>
                                          <p:attrName>style.visibility</p:attrName>
                                        </p:attrNameLst>
                                      </p:cBhvr>
                                      <p:to>
                                        <p:strVal val="visible"/>
                                      </p:to>
                                    </p:set>
                                    <p:animEffect transition="in" filter="fade">
                                      <p:cBhvr>
                                        <p:cTn id="22"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a:t>二分图</a:t>
            </a:r>
            <a:r>
              <a:rPr lang="zh-CN" altLang="en-US" b="1" dirty="0" smtClean="0"/>
              <a:t>的特征及判定</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smtClean="0"/>
              <a:t>可以用两种颜色染色</a:t>
            </a:r>
            <a:r>
              <a:rPr lang="en-US" altLang="zh-CN" dirty="0" smtClean="0"/>
              <a:t>(</a:t>
            </a:r>
            <a:r>
              <a:rPr lang="zh-CN" altLang="en-US" dirty="0" smtClean="0"/>
              <a:t>不存在长度为奇数的环</a:t>
            </a:r>
            <a:r>
              <a:rPr lang="en-US" altLang="zh-CN" dirty="0" smtClean="0"/>
              <a:t>)</a:t>
            </a:r>
          </a:p>
          <a:p>
            <a:endParaRPr lang="en-US" altLang="zh-CN" dirty="0">
              <a:ea typeface="楷体" pitchFamily="49" charset="-122"/>
            </a:endParaRPr>
          </a:p>
          <a:p>
            <a:r>
              <a:rPr lang="zh-CN" altLang="en-US" dirty="0" smtClean="0">
                <a:ea typeface="楷体" pitchFamily="49" charset="-122"/>
              </a:rPr>
              <a:t>所以我们可以从每个连通块开始</a:t>
            </a:r>
            <a:r>
              <a:rPr lang="en-US" altLang="zh-CN" dirty="0" smtClean="0">
                <a:ea typeface="楷体" pitchFamily="49" charset="-122"/>
              </a:rPr>
              <a:t>DFS</a:t>
            </a:r>
            <a:r>
              <a:rPr lang="zh-CN" altLang="en-US" dirty="0" smtClean="0">
                <a:ea typeface="楷体" pitchFamily="49" charset="-122"/>
              </a:rPr>
              <a:t>，尝试染色，每次从</a:t>
            </a:r>
            <a:r>
              <a:rPr lang="en-US" altLang="zh-CN" dirty="0" smtClean="0">
                <a:ea typeface="楷体" pitchFamily="49" charset="-122"/>
              </a:rPr>
              <a:t>x</a:t>
            </a:r>
            <a:r>
              <a:rPr lang="zh-CN" altLang="en-US" dirty="0" smtClean="0">
                <a:ea typeface="楷体" pitchFamily="49" charset="-122"/>
              </a:rPr>
              <a:t>向外扩展时分两种情况讨论：</a:t>
            </a:r>
            <a:endParaRPr lang="en-US" altLang="zh-CN" dirty="0" smtClean="0">
              <a:ea typeface="楷体" pitchFamily="49" charset="-122"/>
            </a:endParaRPr>
          </a:p>
          <a:p>
            <a:r>
              <a:rPr lang="en-US" altLang="zh-CN" dirty="0" smtClean="0">
                <a:ea typeface="楷体" pitchFamily="49" charset="-122"/>
              </a:rPr>
              <a:t>1.</a:t>
            </a:r>
            <a:r>
              <a:rPr lang="zh-CN" altLang="en-US" dirty="0" smtClean="0">
                <a:ea typeface="楷体" pitchFamily="49" charset="-122"/>
              </a:rPr>
              <a:t>没染过色，那就染成</a:t>
            </a:r>
            <a:r>
              <a:rPr lang="zh-CN" altLang="en-US" dirty="0">
                <a:ea typeface="楷体" pitchFamily="49" charset="-122"/>
              </a:rPr>
              <a:t>相反的</a:t>
            </a:r>
            <a:r>
              <a:rPr lang="zh-CN" altLang="en-US" dirty="0" smtClean="0">
                <a:ea typeface="楷体" pitchFamily="49" charset="-122"/>
              </a:rPr>
              <a:t>颜色然后从他开始</a:t>
            </a:r>
            <a:r>
              <a:rPr lang="en-US" altLang="zh-CN" dirty="0" smtClean="0">
                <a:ea typeface="楷体" pitchFamily="49" charset="-122"/>
              </a:rPr>
              <a:t>DFS</a:t>
            </a:r>
          </a:p>
          <a:p>
            <a:r>
              <a:rPr lang="en-US" altLang="zh-CN" dirty="0" smtClean="0">
                <a:ea typeface="楷体" pitchFamily="49" charset="-122"/>
              </a:rPr>
              <a:t>2.</a:t>
            </a:r>
            <a:r>
              <a:rPr lang="zh-CN" altLang="en-US" dirty="0" smtClean="0">
                <a:ea typeface="楷体" pitchFamily="49" charset="-122"/>
              </a:rPr>
              <a:t>染过色了，检验其是否合法，不合法退出，合法跳过</a:t>
            </a:r>
            <a:endParaRPr lang="en-US" altLang="zh-CN" dirty="0" smtClean="0">
              <a:ea typeface="楷体" pitchFamily="49" charset="-122"/>
            </a:endParaRPr>
          </a:p>
          <a:p>
            <a:r>
              <a:rPr lang="zh-CN" altLang="en-US" dirty="0">
                <a:ea typeface="楷体" pitchFamily="49" charset="-122"/>
              </a:rPr>
              <a:t>时间复杂</a:t>
            </a:r>
            <a:r>
              <a:rPr lang="zh-CN" altLang="en-US" dirty="0" smtClean="0">
                <a:ea typeface="楷体" pitchFamily="49" charset="-122"/>
              </a:rPr>
              <a:t>度</a:t>
            </a:r>
            <a:r>
              <a:rPr lang="en-US" altLang="zh-CN" dirty="0" smtClean="0">
                <a:ea typeface="楷体" pitchFamily="49" charset="-122"/>
              </a:rPr>
              <a:t>O(N)</a:t>
            </a:r>
          </a:p>
        </p:txBody>
      </p:sp>
    </p:spTree>
    <p:extLst>
      <p:ext uri="{BB962C8B-B14F-4D97-AF65-F5344CB8AC3E}">
        <p14:creationId xmlns:p14="http://schemas.microsoft.com/office/powerpoint/2010/main" val="53827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fade">
                                      <p:cBhvr>
                                        <p:cTn id="12" dur="500"/>
                                        <p:tgtEl>
                                          <p:spTgt spid="153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Effect transition="in" filter="fade">
                                      <p:cBhvr>
                                        <p:cTn id="17" dur="500"/>
                                        <p:tgtEl>
                                          <p:spTgt spid="153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3">
                                            <p:txEl>
                                              <p:pRg st="4" end="4"/>
                                            </p:txEl>
                                          </p:spTgt>
                                        </p:tgtEl>
                                        <p:attrNameLst>
                                          <p:attrName>style.visibility</p:attrName>
                                        </p:attrNameLst>
                                      </p:cBhvr>
                                      <p:to>
                                        <p:strVal val="visible"/>
                                      </p:to>
                                    </p:set>
                                    <p:animEffect transition="in" filter="fade">
                                      <p:cBhvr>
                                        <p:cTn id="22" dur="500"/>
                                        <p:tgtEl>
                                          <p:spTgt spid="1536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363">
                                            <p:txEl>
                                              <p:pRg st="5" end="5"/>
                                            </p:txEl>
                                          </p:spTgt>
                                        </p:tgtEl>
                                        <p:attrNameLst>
                                          <p:attrName>style.visibility</p:attrName>
                                        </p:attrNameLst>
                                      </p:cBhvr>
                                      <p:to>
                                        <p:strVal val="visible"/>
                                      </p:to>
                                    </p:set>
                                    <p:animEffect transition="in" filter="fade">
                                      <p:cBhvr>
                                        <p:cTn id="27"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t>二分图</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xfrm>
            <a:off x="838200" y="1825624"/>
            <a:ext cx="10515600" cy="4566549"/>
          </a:xfrm>
          <a:ln/>
        </p:spPr>
        <p:txBody>
          <a:bodyPr>
            <a:normAutofit/>
          </a:bodyPr>
          <a:lstStyle/>
          <a:p>
            <a:r>
              <a:rPr lang="zh-CN" altLang="en-US" dirty="0" smtClean="0">
                <a:ea typeface="楷体" pitchFamily="49" charset="-122"/>
              </a:rPr>
              <a:t>对于二分图</a:t>
            </a:r>
            <a:r>
              <a:rPr lang="en-US" altLang="zh-CN" dirty="0" smtClean="0">
                <a:ea typeface="楷体" pitchFamily="49" charset="-122"/>
              </a:rPr>
              <a:t>G</a:t>
            </a:r>
            <a:r>
              <a:rPr lang="zh-CN" altLang="en-US" dirty="0" smtClean="0">
                <a:ea typeface="楷体" pitchFamily="49" charset="-122"/>
              </a:rPr>
              <a:t>的</a:t>
            </a:r>
            <a:r>
              <a:rPr lang="zh-CN" altLang="en-US" dirty="0">
                <a:ea typeface="楷体" pitchFamily="49" charset="-122"/>
              </a:rPr>
              <a:t>一个</a:t>
            </a:r>
            <a:r>
              <a:rPr lang="zh-CN" altLang="en-US" dirty="0" smtClean="0">
                <a:ea typeface="楷体" pitchFamily="49" charset="-122"/>
              </a:rPr>
              <a:t>子图</a:t>
            </a:r>
            <a:r>
              <a:rPr lang="en-US" altLang="zh-CN" dirty="0" smtClean="0">
                <a:ea typeface="楷体" pitchFamily="49" charset="-122"/>
              </a:rPr>
              <a:t>M=(V,E)</a:t>
            </a:r>
            <a:r>
              <a:rPr lang="zh-CN" altLang="en-US" dirty="0" smtClean="0">
                <a:ea typeface="楷体" pitchFamily="49" charset="-122"/>
              </a:rPr>
              <a:t>若</a:t>
            </a:r>
            <a:r>
              <a:rPr lang="en-US" altLang="zh-CN" dirty="0" smtClean="0">
                <a:ea typeface="楷体" pitchFamily="49" charset="-122"/>
              </a:rPr>
              <a:t>E</a:t>
            </a:r>
            <a:r>
              <a:rPr lang="zh-CN" altLang="en-US" dirty="0" smtClean="0">
                <a:ea typeface="楷体" pitchFamily="49" charset="-122"/>
              </a:rPr>
              <a:t>的任意两条边都不依附于</a:t>
            </a:r>
            <a:r>
              <a:rPr lang="en-US" altLang="zh-CN" dirty="0" smtClean="0">
                <a:ea typeface="楷体" pitchFamily="49" charset="-122"/>
              </a:rPr>
              <a:t>V</a:t>
            </a:r>
            <a:r>
              <a:rPr lang="zh-CN" altLang="en-US" dirty="0" smtClean="0">
                <a:ea typeface="楷体" pitchFamily="49" charset="-122"/>
              </a:rPr>
              <a:t>中的同一个顶点，则称</a:t>
            </a:r>
            <a:r>
              <a:rPr lang="en-US" altLang="zh-CN" dirty="0" smtClean="0">
                <a:ea typeface="楷体" pitchFamily="49" charset="-122"/>
              </a:rPr>
              <a:t>M</a:t>
            </a:r>
            <a:r>
              <a:rPr lang="zh-CN" altLang="en-US" dirty="0" smtClean="0">
                <a:ea typeface="楷体" pitchFamily="49" charset="-122"/>
              </a:rPr>
              <a:t>是一个匹配</a:t>
            </a:r>
            <a:endParaRPr lang="en-US" altLang="zh-CN" dirty="0" smtClean="0">
              <a:ea typeface="楷体" pitchFamily="49" charset="-122"/>
            </a:endParaRPr>
          </a:p>
          <a:p>
            <a:endParaRPr lang="en-US" altLang="zh-CN" dirty="0">
              <a:ea typeface="楷体" pitchFamily="49" charset="-122"/>
            </a:endParaRPr>
          </a:p>
          <a:p>
            <a:r>
              <a:rPr lang="zh-CN" altLang="en-US" dirty="0" smtClean="0">
                <a:ea typeface="楷体" pitchFamily="49" charset="-122"/>
              </a:rPr>
              <a:t>若</a:t>
            </a:r>
            <a:r>
              <a:rPr lang="en-US" altLang="zh-CN" dirty="0" smtClean="0">
                <a:ea typeface="楷体" pitchFamily="49" charset="-122"/>
              </a:rPr>
              <a:t>M</a:t>
            </a:r>
            <a:r>
              <a:rPr lang="zh-CN" altLang="en-US" dirty="0" smtClean="0">
                <a:ea typeface="楷体" pitchFamily="49" charset="-122"/>
              </a:rPr>
              <a:t>是</a:t>
            </a:r>
            <a:r>
              <a:rPr lang="en-US" altLang="zh-CN" dirty="0" smtClean="0">
                <a:ea typeface="楷体" pitchFamily="49" charset="-122"/>
              </a:rPr>
              <a:t>G</a:t>
            </a:r>
            <a:r>
              <a:rPr lang="zh-CN" altLang="en-US" dirty="0" smtClean="0">
                <a:ea typeface="楷体" pitchFamily="49" charset="-122"/>
              </a:rPr>
              <a:t>的所有匹配当中边数最多的一个匹配，则称</a:t>
            </a:r>
            <a:r>
              <a:rPr lang="en-US" altLang="zh-CN" dirty="0" smtClean="0">
                <a:ea typeface="楷体" pitchFamily="49" charset="-122"/>
              </a:rPr>
              <a:t>M</a:t>
            </a:r>
            <a:r>
              <a:rPr lang="zh-CN" altLang="en-US" dirty="0" smtClean="0">
                <a:ea typeface="楷体" pitchFamily="49" charset="-122"/>
              </a:rPr>
              <a:t>是一个最大匹配</a:t>
            </a:r>
            <a:endParaRPr lang="en-US" altLang="zh-CN" dirty="0" smtClean="0">
              <a:ea typeface="楷体" pitchFamily="49" charset="-122"/>
            </a:endParaRPr>
          </a:p>
          <a:p>
            <a:r>
              <a:rPr lang="zh-CN" altLang="en-US" dirty="0" smtClean="0">
                <a:ea typeface="楷体" pitchFamily="49" charset="-122"/>
              </a:rPr>
              <a:t>二分图的最大匹配可能有多个</a:t>
            </a:r>
            <a:endParaRPr lang="en-US" altLang="zh-CN" dirty="0" smtClean="0">
              <a:ea typeface="楷体" pitchFamily="49" charset="-122"/>
            </a:endParaRPr>
          </a:p>
          <a:p>
            <a:endParaRPr lang="en-US" altLang="zh-CN" dirty="0" smtClean="0">
              <a:ea typeface="楷体" pitchFamily="49" charset="-122"/>
            </a:endParaRPr>
          </a:p>
          <a:p>
            <a:r>
              <a:rPr lang="zh-CN" altLang="en-US" dirty="0">
                <a:ea typeface="楷体" pitchFamily="49" charset="-122"/>
              </a:rPr>
              <a:t>如果一个匹配</a:t>
            </a:r>
            <a:r>
              <a:rPr lang="zh-CN" altLang="en-US" dirty="0" smtClean="0">
                <a:ea typeface="楷体" pitchFamily="49" charset="-122"/>
              </a:rPr>
              <a:t>中图中的每个顶点都和匹配中的某条边关联，则称这个匹配是一个完美匹配</a:t>
            </a:r>
            <a:endParaRPr lang="en-US" altLang="zh-CN" dirty="0" smtClean="0">
              <a:ea typeface="楷体" pitchFamily="49" charset="-122"/>
            </a:endParaRPr>
          </a:p>
        </p:txBody>
      </p:sp>
    </p:spTree>
    <p:extLst>
      <p:ext uri="{BB962C8B-B14F-4D97-AF65-F5344CB8AC3E}">
        <p14:creationId xmlns:p14="http://schemas.microsoft.com/office/powerpoint/2010/main" val="2804979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fade">
                                      <p:cBhvr>
                                        <p:cTn id="12" dur="500"/>
                                        <p:tgtEl>
                                          <p:spTgt spid="153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Effect transition="in" filter="fade">
                                      <p:cBhvr>
                                        <p:cTn id="17" dur="500"/>
                                        <p:tgtEl>
                                          <p:spTgt spid="153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3">
                                            <p:txEl>
                                              <p:pRg st="5" end="5"/>
                                            </p:txEl>
                                          </p:spTgt>
                                        </p:tgtEl>
                                        <p:attrNameLst>
                                          <p:attrName>style.visibility</p:attrName>
                                        </p:attrNameLst>
                                      </p:cBhvr>
                                      <p:to>
                                        <p:strVal val="visible"/>
                                      </p:to>
                                    </p:set>
                                    <p:animEffect transition="in" filter="fade">
                                      <p:cBhvr>
                                        <p:cTn id="22"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en-US" altLang="zh-CN" b="1" dirty="0" smtClean="0">
                <a:latin typeface="楷体" pitchFamily="49" charset="-122"/>
                <a:ea typeface="楷体" pitchFamily="49" charset="-122"/>
              </a:rPr>
              <a:t>Hall</a:t>
            </a:r>
            <a:r>
              <a:rPr lang="zh-CN" altLang="en-US" b="1" dirty="0" smtClean="0">
                <a:latin typeface="楷体" pitchFamily="49" charset="-122"/>
                <a:ea typeface="楷体" pitchFamily="49" charset="-122"/>
              </a:rPr>
              <a:t>定理</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有二分图</a:t>
            </a:r>
            <a:r>
              <a:rPr lang="en-US" altLang="zh-CN" dirty="0" smtClean="0">
                <a:ea typeface="楷体" pitchFamily="49" charset="-122"/>
              </a:rPr>
              <a:t>G=(V,E)</a:t>
            </a:r>
            <a:r>
              <a:rPr lang="zh-CN" altLang="en-US" dirty="0" smtClean="0">
                <a:ea typeface="楷体" pitchFamily="49" charset="-122"/>
              </a:rPr>
              <a:t>，其中</a:t>
            </a:r>
            <a:r>
              <a:rPr lang="en-US" altLang="zh-CN" dirty="0" smtClean="0">
                <a:ea typeface="楷体" pitchFamily="49" charset="-122"/>
              </a:rPr>
              <a:t>V</a:t>
            </a:r>
            <a:r>
              <a:rPr lang="zh-CN" altLang="en-US" dirty="0" smtClean="0">
                <a:ea typeface="楷体" pitchFamily="49" charset="-122"/>
              </a:rPr>
              <a:t>划分为</a:t>
            </a:r>
            <a:r>
              <a:rPr lang="en-US" altLang="zh-CN" dirty="0" smtClean="0">
                <a:ea typeface="楷体" pitchFamily="49" charset="-122"/>
              </a:rPr>
              <a:t>A,B</a:t>
            </a:r>
            <a:r>
              <a:rPr lang="zh-CN" altLang="en-US" dirty="0" smtClean="0">
                <a:ea typeface="楷体" pitchFamily="49" charset="-122"/>
              </a:rPr>
              <a:t>，</a:t>
            </a:r>
            <a:r>
              <a:rPr lang="en-US" altLang="zh-CN" dirty="0" smtClean="0">
                <a:ea typeface="楷体" pitchFamily="49" charset="-122"/>
              </a:rPr>
              <a:t>C</a:t>
            </a:r>
            <a:r>
              <a:rPr lang="zh-CN" altLang="en-US" dirty="0" smtClean="0">
                <a:ea typeface="楷体" pitchFamily="49" charset="-122"/>
              </a:rPr>
              <a:t>是</a:t>
            </a:r>
            <a:r>
              <a:rPr lang="en-US" altLang="zh-CN" dirty="0" smtClean="0">
                <a:ea typeface="楷体" pitchFamily="49" charset="-122"/>
              </a:rPr>
              <a:t>A</a:t>
            </a:r>
            <a:r>
              <a:rPr lang="zh-CN" altLang="en-US" dirty="0">
                <a:ea typeface="楷体" pitchFamily="49" charset="-122"/>
              </a:rPr>
              <a:t>的</a:t>
            </a:r>
            <a:r>
              <a:rPr lang="zh-CN" altLang="en-US" dirty="0" smtClean="0">
                <a:ea typeface="楷体" pitchFamily="49" charset="-122"/>
              </a:rPr>
              <a:t>子集，且</a:t>
            </a:r>
            <a:r>
              <a:rPr lang="en-US" altLang="zh-CN" dirty="0" smtClean="0">
                <a:ea typeface="楷体" pitchFamily="49" charset="-122"/>
              </a:rPr>
              <a:t>|</a:t>
            </a:r>
            <a:r>
              <a:rPr lang="en-US" altLang="zh-CN" dirty="0">
                <a:ea typeface="楷体" pitchFamily="49" charset="-122"/>
              </a:rPr>
              <a:t>C|=k</a:t>
            </a:r>
            <a:r>
              <a:rPr lang="zh-CN" altLang="en-US" dirty="0">
                <a:ea typeface="楷体" pitchFamily="49" charset="-122"/>
              </a:rPr>
              <a:t>，</a:t>
            </a:r>
            <a:endParaRPr lang="en-US" altLang="zh-CN" dirty="0" smtClean="0">
              <a:ea typeface="楷体" pitchFamily="49" charset="-122"/>
            </a:endParaRPr>
          </a:p>
          <a:p>
            <a:r>
              <a:rPr lang="zh-CN" altLang="en-US" dirty="0" smtClean="0">
                <a:ea typeface="楷体" pitchFamily="49" charset="-122"/>
              </a:rPr>
              <a:t>存在一个匹配</a:t>
            </a:r>
            <a:r>
              <a:rPr lang="en-US" altLang="zh-CN" dirty="0" smtClean="0">
                <a:ea typeface="楷体" pitchFamily="49" charset="-122"/>
              </a:rPr>
              <a:t>M</a:t>
            </a:r>
            <a:r>
              <a:rPr lang="zh-CN" altLang="en-US" dirty="0" smtClean="0">
                <a:ea typeface="楷体" pitchFamily="49" charset="-122"/>
              </a:rPr>
              <a:t>使得</a:t>
            </a:r>
            <a:r>
              <a:rPr lang="en-US" altLang="zh-CN" dirty="0" smtClean="0">
                <a:ea typeface="楷体" pitchFamily="49" charset="-122"/>
              </a:rPr>
              <a:t>C</a:t>
            </a:r>
            <a:r>
              <a:rPr lang="zh-CN" altLang="en-US" dirty="0" smtClean="0">
                <a:ea typeface="楷体" pitchFamily="49" charset="-122"/>
              </a:rPr>
              <a:t>中的每一个点都存在于匹配中，</a:t>
            </a:r>
            <a:r>
              <a:rPr lang="zh-CN" altLang="en-US" dirty="0">
                <a:ea typeface="楷体" pitchFamily="49" charset="-122"/>
              </a:rPr>
              <a:t>当且仅当对于</a:t>
            </a:r>
            <a:r>
              <a:rPr lang="zh-CN" altLang="en-US" dirty="0" smtClean="0">
                <a:ea typeface="楷体" pitchFamily="49" charset="-122"/>
              </a:rPr>
              <a:t>∀</a:t>
            </a:r>
            <a:r>
              <a:rPr lang="en-US" altLang="zh-CN" dirty="0" smtClean="0">
                <a:ea typeface="楷体" pitchFamily="49" charset="-122"/>
              </a:rPr>
              <a:t>1&lt;=</a:t>
            </a:r>
            <a:r>
              <a:rPr lang="en-US" altLang="zh-CN" dirty="0" err="1" smtClean="0">
                <a:ea typeface="楷体" pitchFamily="49" charset="-122"/>
              </a:rPr>
              <a:t>i</a:t>
            </a:r>
            <a:r>
              <a:rPr lang="en-US" altLang="zh-CN" dirty="0" smtClean="0">
                <a:ea typeface="楷体" pitchFamily="49" charset="-122"/>
              </a:rPr>
              <a:t>&lt;=k</a:t>
            </a:r>
            <a:r>
              <a:rPr lang="zh-CN" altLang="en-US" dirty="0" smtClean="0">
                <a:ea typeface="楷体" pitchFamily="49" charset="-122"/>
              </a:rPr>
              <a:t>，</a:t>
            </a:r>
            <a:r>
              <a:rPr lang="en-US" altLang="zh-CN" dirty="0" smtClean="0">
                <a:ea typeface="楷体" pitchFamily="49" charset="-122"/>
              </a:rPr>
              <a:t>C</a:t>
            </a:r>
            <a:r>
              <a:rPr lang="zh-CN" altLang="en-US" dirty="0" smtClean="0">
                <a:ea typeface="楷体" pitchFamily="49" charset="-122"/>
              </a:rPr>
              <a:t>中任意</a:t>
            </a:r>
            <a:r>
              <a:rPr lang="en-US" altLang="zh-CN" dirty="0" err="1" smtClean="0">
                <a:ea typeface="楷体" pitchFamily="49" charset="-122"/>
              </a:rPr>
              <a:t>i</a:t>
            </a:r>
            <a:r>
              <a:rPr lang="zh-CN" altLang="en-US" dirty="0" smtClean="0">
                <a:ea typeface="楷体" pitchFamily="49" charset="-122"/>
              </a:rPr>
              <a:t>个点都至少和</a:t>
            </a:r>
            <a:r>
              <a:rPr lang="en-US" altLang="zh-CN" dirty="0" smtClean="0">
                <a:ea typeface="楷体" pitchFamily="49" charset="-122"/>
              </a:rPr>
              <a:t>B</a:t>
            </a:r>
            <a:r>
              <a:rPr lang="zh-CN" altLang="en-US" dirty="0" smtClean="0">
                <a:ea typeface="楷体" pitchFamily="49" charset="-122"/>
              </a:rPr>
              <a:t>中</a:t>
            </a:r>
            <a:r>
              <a:rPr lang="en-US" altLang="zh-CN" dirty="0" err="1" smtClean="0">
                <a:ea typeface="楷体" pitchFamily="49" charset="-122"/>
              </a:rPr>
              <a:t>i</a:t>
            </a:r>
            <a:r>
              <a:rPr lang="zh-CN" altLang="en-US" dirty="0" smtClean="0">
                <a:ea typeface="楷体" pitchFamily="49" charset="-122"/>
              </a:rPr>
              <a:t>个点相连</a:t>
            </a:r>
            <a:endParaRPr lang="en-US" altLang="zh-CN" dirty="0" smtClean="0">
              <a:ea typeface="楷体" pitchFamily="49" charset="-122"/>
            </a:endParaRPr>
          </a:p>
          <a:p>
            <a:r>
              <a:rPr lang="zh-CN" altLang="en-US" dirty="0" smtClean="0">
                <a:ea typeface="楷体" pitchFamily="49" charset="-122"/>
              </a:rPr>
              <a:t>必要性显然</a:t>
            </a:r>
            <a:endParaRPr lang="en-US" altLang="zh-CN" dirty="0" smtClean="0">
              <a:ea typeface="楷体" pitchFamily="49" charset="-122"/>
            </a:endParaRPr>
          </a:p>
          <a:p>
            <a:r>
              <a:rPr lang="zh-CN" altLang="en-US" dirty="0" smtClean="0">
                <a:ea typeface="楷体" pitchFamily="49" charset="-122"/>
              </a:rPr>
              <a:t>充分性：假设对于</a:t>
            </a:r>
            <a:r>
              <a:rPr lang="en-US" altLang="zh-CN" dirty="0" err="1" smtClean="0">
                <a:ea typeface="楷体" pitchFamily="49" charset="-122"/>
              </a:rPr>
              <a:t>i</a:t>
            </a:r>
            <a:r>
              <a:rPr lang="en-US" altLang="zh-CN" dirty="0" smtClean="0">
                <a:ea typeface="楷体" pitchFamily="49" charset="-122"/>
              </a:rPr>
              <a:t>&lt;k</a:t>
            </a:r>
            <a:r>
              <a:rPr lang="zh-CN" altLang="en-US" dirty="0" smtClean="0">
                <a:ea typeface="楷体" pitchFamily="49" charset="-122"/>
              </a:rPr>
              <a:t>全部成立且</a:t>
            </a:r>
            <a:r>
              <a:rPr lang="en-US" altLang="zh-CN" dirty="0" smtClean="0">
                <a:ea typeface="楷体" pitchFamily="49" charset="-122"/>
              </a:rPr>
              <a:t>k</a:t>
            </a:r>
            <a:r>
              <a:rPr lang="zh-CN" altLang="en-US" dirty="0" smtClean="0">
                <a:ea typeface="楷体" pitchFamily="49" charset="-122"/>
              </a:rPr>
              <a:t>不成立。先找到一个</a:t>
            </a:r>
            <a:r>
              <a:rPr lang="en-US" altLang="zh-CN" dirty="0" smtClean="0">
                <a:ea typeface="楷体" pitchFamily="49" charset="-122"/>
              </a:rPr>
              <a:t>C</a:t>
            </a:r>
            <a:r>
              <a:rPr lang="zh-CN" altLang="en-US" dirty="0" smtClean="0">
                <a:ea typeface="楷体" pitchFamily="49" charset="-122"/>
              </a:rPr>
              <a:t>的最大匹配，此时有一个点不在匹配当中，由于</a:t>
            </a:r>
            <a:r>
              <a:rPr lang="en-US" altLang="zh-CN" dirty="0" err="1" smtClean="0">
                <a:ea typeface="楷体" pitchFamily="49" charset="-122"/>
              </a:rPr>
              <a:t>i</a:t>
            </a:r>
            <a:r>
              <a:rPr lang="en-US" altLang="zh-CN" dirty="0" smtClean="0">
                <a:ea typeface="楷体" pitchFamily="49" charset="-122"/>
              </a:rPr>
              <a:t>=1</a:t>
            </a:r>
            <a:r>
              <a:rPr lang="zh-CN" altLang="en-US" dirty="0" smtClean="0">
                <a:ea typeface="楷体" pitchFamily="49" charset="-122"/>
              </a:rPr>
              <a:t>成立，所以至少有一个点在</a:t>
            </a:r>
            <a:r>
              <a:rPr lang="en-US" altLang="zh-CN" dirty="0" smtClean="0">
                <a:ea typeface="楷体" pitchFamily="49" charset="-122"/>
              </a:rPr>
              <a:t>B</a:t>
            </a:r>
            <a:r>
              <a:rPr lang="zh-CN" altLang="en-US" dirty="0" smtClean="0">
                <a:ea typeface="楷体" pitchFamily="49" charset="-122"/>
              </a:rPr>
              <a:t>中并且和他关联，且这个点必须已经在匹配中，那么我们再找到和这个点匹配的点，由于</a:t>
            </a:r>
            <a:r>
              <a:rPr lang="en-US" altLang="zh-CN" dirty="0" err="1" smtClean="0">
                <a:ea typeface="楷体" pitchFamily="49" charset="-122"/>
              </a:rPr>
              <a:t>i</a:t>
            </a:r>
            <a:r>
              <a:rPr lang="en-US" altLang="zh-CN" dirty="0" smtClean="0">
                <a:ea typeface="楷体" pitchFamily="49" charset="-122"/>
              </a:rPr>
              <a:t>=2</a:t>
            </a:r>
            <a:r>
              <a:rPr lang="zh-CN" altLang="en-US" dirty="0" smtClean="0">
                <a:ea typeface="楷体" pitchFamily="49" charset="-122"/>
              </a:rPr>
              <a:t>成立，所以至少有两个点在</a:t>
            </a:r>
            <a:r>
              <a:rPr lang="en-US" altLang="zh-CN" dirty="0" smtClean="0">
                <a:ea typeface="楷体" pitchFamily="49" charset="-122"/>
              </a:rPr>
              <a:t>B</a:t>
            </a:r>
            <a:r>
              <a:rPr lang="zh-CN" altLang="en-US" dirty="0" smtClean="0">
                <a:ea typeface="楷体" pitchFamily="49" charset="-122"/>
              </a:rPr>
              <a:t>中并且和它们相连，然后那个点也必须已经在匹配中</a:t>
            </a:r>
            <a:r>
              <a:rPr lang="en-US" altLang="zh-CN" dirty="0" smtClean="0">
                <a:ea typeface="楷体" pitchFamily="49" charset="-122"/>
              </a:rPr>
              <a:t>······</a:t>
            </a:r>
            <a:r>
              <a:rPr lang="zh-CN" altLang="en-US" dirty="0" smtClean="0">
                <a:ea typeface="楷体" pitchFamily="49" charset="-122"/>
              </a:rPr>
              <a:t>最后得出</a:t>
            </a:r>
            <a:r>
              <a:rPr lang="en-US" altLang="zh-CN" dirty="0" smtClean="0">
                <a:ea typeface="楷体" pitchFamily="49" charset="-122"/>
              </a:rPr>
              <a:t>B</a:t>
            </a:r>
            <a:r>
              <a:rPr lang="zh-CN" altLang="en-US" dirty="0" smtClean="0">
                <a:ea typeface="楷体" pitchFamily="49" charset="-122"/>
              </a:rPr>
              <a:t>中至少有</a:t>
            </a:r>
            <a:r>
              <a:rPr lang="en-US" altLang="zh-CN" dirty="0" smtClean="0">
                <a:ea typeface="楷体" pitchFamily="49" charset="-122"/>
              </a:rPr>
              <a:t>k</a:t>
            </a:r>
            <a:r>
              <a:rPr lang="zh-CN" altLang="en-US" dirty="0" smtClean="0">
                <a:ea typeface="楷体" pitchFamily="49" charset="-122"/>
              </a:rPr>
              <a:t>个点在匹配中，这和</a:t>
            </a:r>
            <a:r>
              <a:rPr lang="en-US" altLang="zh-CN" dirty="0" smtClean="0">
                <a:ea typeface="楷体" pitchFamily="49" charset="-122"/>
              </a:rPr>
              <a:t>C</a:t>
            </a:r>
            <a:r>
              <a:rPr lang="zh-CN" altLang="en-US" dirty="0" smtClean="0">
                <a:ea typeface="楷体" pitchFamily="49" charset="-122"/>
              </a:rPr>
              <a:t>中只有</a:t>
            </a:r>
            <a:r>
              <a:rPr lang="en-US" altLang="zh-CN" dirty="0" smtClean="0">
                <a:ea typeface="楷体" pitchFamily="49" charset="-122"/>
              </a:rPr>
              <a:t>k-1</a:t>
            </a:r>
            <a:r>
              <a:rPr lang="zh-CN" altLang="en-US" dirty="0" smtClean="0">
                <a:ea typeface="楷体" pitchFamily="49" charset="-122"/>
              </a:rPr>
              <a:t>个点在匹配中矛盾</a:t>
            </a:r>
            <a:endParaRPr lang="en-US" altLang="zh-CN" dirty="0" smtClean="0">
              <a:ea typeface="楷体" pitchFamily="49" charset="-122"/>
            </a:endParaRPr>
          </a:p>
        </p:txBody>
      </p:sp>
    </p:spTree>
    <p:extLst>
      <p:ext uri="{BB962C8B-B14F-4D97-AF65-F5344CB8AC3E}">
        <p14:creationId xmlns:p14="http://schemas.microsoft.com/office/powerpoint/2010/main" val="139187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2" end="2"/>
                                            </p:txEl>
                                          </p:spTgt>
                                        </p:tgtEl>
                                        <p:attrNameLst>
                                          <p:attrName>style.visibility</p:attrName>
                                        </p:attrNameLst>
                                      </p:cBhvr>
                                      <p:to>
                                        <p:strVal val="visible"/>
                                      </p:to>
                                    </p:set>
                                    <p:animEffect transition="in" filter="fade">
                                      <p:cBhvr>
                                        <p:cTn id="7" dur="500"/>
                                        <p:tgtEl>
                                          <p:spTgt spid="153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3" end="3"/>
                                            </p:txEl>
                                          </p:spTgt>
                                        </p:tgtEl>
                                        <p:attrNameLst>
                                          <p:attrName>style.visibility</p:attrName>
                                        </p:attrNameLst>
                                      </p:cBhvr>
                                      <p:to>
                                        <p:strVal val="visible"/>
                                      </p:to>
                                    </p:set>
                                    <p:animEffect transition="in" filter="fade">
                                      <p:cBhvr>
                                        <p:cTn id="12"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t>匈牙利算法</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匈牙利算法的目的是求出二分图的最大匹配</a:t>
            </a:r>
            <a:endParaRPr lang="en-US" altLang="zh-CN" dirty="0" smtClean="0">
              <a:ea typeface="楷体" pitchFamily="49" charset="-122"/>
            </a:endParaRPr>
          </a:p>
          <a:p>
            <a:endParaRPr lang="en-US" altLang="zh-CN" dirty="0" smtClean="0">
              <a:ea typeface="楷体" pitchFamily="49" charset="-122"/>
            </a:endParaRPr>
          </a:p>
          <a:p>
            <a:r>
              <a:rPr lang="zh-CN" altLang="en-US" dirty="0" smtClean="0">
                <a:ea typeface="楷体" pitchFamily="49" charset="-122"/>
              </a:rPr>
              <a:t>算法</a:t>
            </a:r>
            <a:r>
              <a:rPr lang="zh-CN" altLang="en-US" dirty="0">
                <a:ea typeface="楷体" pitchFamily="49" charset="-122"/>
              </a:rPr>
              <a:t>的主要</a:t>
            </a:r>
            <a:r>
              <a:rPr lang="zh-CN" altLang="en-US" dirty="0" smtClean="0">
                <a:ea typeface="楷体" pitchFamily="49" charset="-122"/>
              </a:rPr>
              <a:t>思想是不断地寻找增广路来使得总匹配数</a:t>
            </a:r>
            <a:r>
              <a:rPr lang="en-US" altLang="zh-CN" dirty="0" smtClean="0">
                <a:ea typeface="楷体" pitchFamily="49" charset="-122"/>
              </a:rPr>
              <a:t>+1</a:t>
            </a:r>
          </a:p>
          <a:p>
            <a:endParaRPr lang="en-US" altLang="zh-CN" dirty="0" smtClean="0">
              <a:ea typeface="楷体" pitchFamily="49" charset="-122"/>
            </a:endParaRPr>
          </a:p>
          <a:p>
            <a:r>
              <a:rPr lang="en-US" altLang="zh-CN" dirty="0" smtClean="0">
                <a:ea typeface="楷体" pitchFamily="49" charset="-122"/>
              </a:rPr>
              <a:t>(</a:t>
            </a:r>
            <a:r>
              <a:rPr lang="zh-CN" altLang="en-US" dirty="0" smtClean="0">
                <a:ea typeface="楷体" pitchFamily="49" charset="-122"/>
              </a:rPr>
              <a:t>先找出大小为</a:t>
            </a:r>
            <a:r>
              <a:rPr lang="en-US" altLang="zh-CN" dirty="0" smtClean="0">
                <a:ea typeface="楷体" pitchFamily="49" charset="-122"/>
              </a:rPr>
              <a:t>1</a:t>
            </a:r>
            <a:r>
              <a:rPr lang="zh-CN" altLang="en-US" dirty="0" smtClean="0">
                <a:ea typeface="楷体" pitchFamily="49" charset="-122"/>
              </a:rPr>
              <a:t>的匹配，由此产生大小为</a:t>
            </a:r>
            <a:r>
              <a:rPr lang="en-US" altLang="zh-CN" dirty="0" smtClean="0">
                <a:ea typeface="楷体" pitchFamily="49" charset="-122"/>
              </a:rPr>
              <a:t>2</a:t>
            </a:r>
            <a:r>
              <a:rPr lang="zh-CN" altLang="en-US" dirty="0" smtClean="0">
                <a:ea typeface="楷体" pitchFamily="49" charset="-122"/>
              </a:rPr>
              <a:t>的匹配</a:t>
            </a:r>
            <a:r>
              <a:rPr lang="en-US" altLang="zh-CN" dirty="0" smtClean="0">
                <a:ea typeface="楷体" pitchFamily="49" charset="-122"/>
              </a:rPr>
              <a:t>….)</a:t>
            </a:r>
          </a:p>
          <a:p>
            <a:endParaRPr lang="en-US" altLang="zh-CN" dirty="0">
              <a:ea typeface="楷体" pitchFamily="49" charset="-122"/>
            </a:endParaRPr>
          </a:p>
          <a:p>
            <a:r>
              <a:rPr lang="zh-CN" altLang="en-US" dirty="0" smtClean="0">
                <a:ea typeface="楷体" pitchFamily="49" charset="-122"/>
              </a:rPr>
              <a:t>其主体过程和</a:t>
            </a:r>
            <a:r>
              <a:rPr lang="en-US" altLang="zh-CN" dirty="0" smtClean="0">
                <a:ea typeface="楷体" pitchFamily="49" charset="-122"/>
              </a:rPr>
              <a:t>Hall</a:t>
            </a:r>
            <a:r>
              <a:rPr lang="zh-CN" altLang="en-US" dirty="0" smtClean="0">
                <a:ea typeface="楷体" pitchFamily="49" charset="-122"/>
              </a:rPr>
              <a:t>定理的证明十分类似</a:t>
            </a:r>
            <a:endParaRPr lang="en-US" altLang="zh-CN" dirty="0" smtClean="0">
              <a:ea typeface="楷体" pitchFamily="49" charset="-122"/>
            </a:endParaRPr>
          </a:p>
          <a:p>
            <a:endParaRPr lang="en-US" altLang="zh-CN" dirty="0" smtClean="0">
              <a:ea typeface="楷体" pitchFamily="49" charset="-122"/>
            </a:endParaRPr>
          </a:p>
        </p:txBody>
      </p:sp>
    </p:spTree>
    <p:extLst>
      <p:ext uri="{BB962C8B-B14F-4D97-AF65-F5344CB8AC3E}">
        <p14:creationId xmlns:p14="http://schemas.microsoft.com/office/powerpoint/2010/main" val="83170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fade">
                                      <p:cBhvr>
                                        <p:cTn id="12" dur="500"/>
                                        <p:tgtEl>
                                          <p:spTgt spid="1536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5363">
                                            <p:txEl>
                                              <p:pRg st="4" end="4"/>
                                            </p:txEl>
                                          </p:spTgt>
                                        </p:tgtEl>
                                        <p:attrNameLst>
                                          <p:attrName>style.visibility</p:attrName>
                                        </p:attrNameLst>
                                      </p:cBhvr>
                                      <p:to>
                                        <p:strVal val="visible"/>
                                      </p:to>
                                    </p:set>
                                    <p:animEffect transition="in" filter="fade">
                                      <p:cBhvr>
                                        <p:cTn id="15" dur="500"/>
                                        <p:tgtEl>
                                          <p:spTgt spid="1536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5363">
                                            <p:txEl>
                                              <p:pRg st="6" end="6"/>
                                            </p:txEl>
                                          </p:spTgt>
                                        </p:tgtEl>
                                        <p:attrNameLst>
                                          <p:attrName>style.visibility</p:attrName>
                                        </p:attrNameLst>
                                      </p:cBhvr>
                                      <p:to>
                                        <p:strVal val="visible"/>
                                      </p:to>
                                    </p:set>
                                    <p:animEffect transition="in" filter="fade">
                                      <p:cBhvr>
                                        <p:cTn id="18" dur="500"/>
                                        <p:tgtEl>
                                          <p:spTgt spid="153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增广路</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一条增广路指的是我们从某个点出发，沿着</a:t>
            </a:r>
            <a:r>
              <a:rPr lang="en-US" altLang="zh-CN" dirty="0" smtClean="0">
                <a:ea typeface="楷体" pitchFamily="49" charset="-122"/>
              </a:rPr>
              <a:t>(</a:t>
            </a:r>
            <a:r>
              <a:rPr lang="zh-CN" altLang="en-US" dirty="0" smtClean="0">
                <a:ea typeface="楷体" pitchFamily="49" charset="-122"/>
              </a:rPr>
              <a:t>不在匹配中</a:t>
            </a:r>
            <a:r>
              <a:rPr lang="en-US" altLang="zh-CN" dirty="0" smtClean="0">
                <a:ea typeface="楷体" pitchFamily="49" charset="-122"/>
              </a:rPr>
              <a:t>)-&gt;(</a:t>
            </a:r>
            <a:r>
              <a:rPr lang="zh-CN" altLang="en-US" dirty="0" smtClean="0">
                <a:ea typeface="楷体" pitchFamily="49" charset="-122"/>
              </a:rPr>
              <a:t>在匹配中</a:t>
            </a:r>
            <a:r>
              <a:rPr lang="en-US" altLang="zh-CN" dirty="0" smtClean="0">
                <a:ea typeface="楷体" pitchFamily="49" charset="-122"/>
              </a:rPr>
              <a:t>)-&gt;(</a:t>
            </a:r>
            <a:r>
              <a:rPr lang="zh-CN" altLang="en-US" dirty="0" smtClean="0">
                <a:ea typeface="楷体" pitchFamily="49" charset="-122"/>
              </a:rPr>
              <a:t>不在匹配中</a:t>
            </a:r>
            <a:r>
              <a:rPr lang="en-US" altLang="zh-CN" dirty="0" smtClean="0">
                <a:ea typeface="楷体" pitchFamily="49" charset="-122"/>
              </a:rPr>
              <a:t>)-&gt;(</a:t>
            </a:r>
            <a:r>
              <a:rPr lang="zh-CN" altLang="en-US" dirty="0" smtClean="0">
                <a:ea typeface="楷体" pitchFamily="49" charset="-122"/>
              </a:rPr>
              <a:t>在匹配中</a:t>
            </a:r>
            <a:r>
              <a:rPr lang="en-US" altLang="zh-CN" dirty="0" smtClean="0">
                <a:ea typeface="楷体" pitchFamily="49" charset="-122"/>
              </a:rPr>
              <a:t>)….</a:t>
            </a:r>
            <a:r>
              <a:rPr lang="zh-CN" altLang="en-US" dirty="0" smtClean="0">
                <a:ea typeface="楷体" pitchFamily="49" charset="-122"/>
              </a:rPr>
              <a:t>的方式走，最后停在一个不依附于当前任何匹配的点</a:t>
            </a:r>
            <a:endParaRPr lang="en-US" altLang="zh-CN" dirty="0" smtClean="0">
              <a:ea typeface="楷体" pitchFamily="49" charset="-122"/>
            </a:endParaRPr>
          </a:p>
          <a:p>
            <a:endParaRPr lang="en-US" altLang="zh-CN" dirty="0">
              <a:ea typeface="楷体" pitchFamily="49" charset="-122"/>
            </a:endParaRPr>
          </a:p>
          <a:p>
            <a:r>
              <a:rPr lang="zh-CN" altLang="en-US" dirty="0">
                <a:ea typeface="楷体" pitchFamily="49" charset="-122"/>
              </a:rPr>
              <a:t>如果我们</a:t>
            </a:r>
            <a:r>
              <a:rPr lang="zh-CN" altLang="en-US" dirty="0" smtClean="0">
                <a:ea typeface="楷体" pitchFamily="49" charset="-122"/>
              </a:rPr>
              <a:t>找不到这样一条增广路，当前匹配就是最大匹配</a:t>
            </a:r>
            <a:r>
              <a:rPr lang="en-US" altLang="zh-CN" dirty="0" smtClean="0">
                <a:ea typeface="楷体" pitchFamily="49" charset="-122"/>
              </a:rPr>
              <a:t>(Hall</a:t>
            </a:r>
            <a:r>
              <a:rPr lang="zh-CN" altLang="en-US" dirty="0" smtClean="0">
                <a:ea typeface="楷体" pitchFamily="49" charset="-122"/>
              </a:rPr>
              <a:t>定理</a:t>
            </a:r>
            <a:r>
              <a:rPr lang="en-US" altLang="zh-CN" dirty="0" smtClean="0">
                <a:ea typeface="楷体" pitchFamily="49" charset="-122"/>
              </a:rPr>
              <a:t>)</a:t>
            </a:r>
          </a:p>
          <a:p>
            <a:r>
              <a:rPr lang="zh-CN" altLang="en-US" dirty="0" smtClean="0">
                <a:ea typeface="楷体" pitchFamily="49" charset="-122"/>
              </a:rPr>
              <a:t>否则我们把这条增广路取反</a:t>
            </a:r>
            <a:r>
              <a:rPr lang="en-US" altLang="zh-CN" dirty="0" smtClean="0">
                <a:ea typeface="楷体" pitchFamily="49" charset="-122"/>
              </a:rPr>
              <a:t>(</a:t>
            </a:r>
            <a:r>
              <a:rPr lang="zh-CN" altLang="en-US" dirty="0" smtClean="0">
                <a:ea typeface="楷体" pitchFamily="49" charset="-122"/>
              </a:rPr>
              <a:t>在匹配中</a:t>
            </a:r>
            <a:r>
              <a:rPr lang="en-US" altLang="zh-CN" dirty="0" smtClean="0">
                <a:ea typeface="楷体" pitchFamily="49" charset="-122"/>
              </a:rPr>
              <a:t>&lt;-&gt;</a:t>
            </a:r>
            <a:r>
              <a:rPr lang="zh-CN" altLang="en-US" dirty="0" smtClean="0">
                <a:ea typeface="楷体" pitchFamily="49" charset="-122"/>
              </a:rPr>
              <a:t>不在匹配中</a:t>
            </a:r>
            <a:r>
              <a:rPr lang="en-US" altLang="zh-CN" dirty="0" smtClean="0">
                <a:ea typeface="楷体" pitchFamily="49" charset="-122"/>
              </a:rPr>
              <a:t>)</a:t>
            </a:r>
            <a:r>
              <a:rPr lang="zh-CN" altLang="en-US" dirty="0" smtClean="0">
                <a:ea typeface="楷体" pitchFamily="49" charset="-122"/>
              </a:rPr>
              <a:t>，这样匹配数</a:t>
            </a:r>
            <a:r>
              <a:rPr lang="en-US" altLang="zh-CN" dirty="0" smtClean="0">
                <a:ea typeface="楷体" pitchFamily="49" charset="-122"/>
              </a:rPr>
              <a:t>+1</a:t>
            </a:r>
          </a:p>
        </p:txBody>
      </p:sp>
    </p:spTree>
    <p:extLst>
      <p:ext uri="{BB962C8B-B14F-4D97-AF65-F5344CB8AC3E}">
        <p14:creationId xmlns:p14="http://schemas.microsoft.com/office/powerpoint/2010/main" val="145811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2" end="2"/>
                                            </p:txEl>
                                          </p:spTgt>
                                        </p:tgtEl>
                                        <p:attrNameLst>
                                          <p:attrName>style.visibility</p:attrName>
                                        </p:attrNameLst>
                                      </p:cBhvr>
                                      <p:to>
                                        <p:strVal val="visible"/>
                                      </p:to>
                                    </p:set>
                                    <p:animEffect transition="in" filter="fade">
                                      <p:cBhvr>
                                        <p:cTn id="7" dur="500"/>
                                        <p:tgtEl>
                                          <p:spTgt spid="1536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363">
                                            <p:txEl>
                                              <p:pRg st="3" end="3"/>
                                            </p:txEl>
                                          </p:spTgt>
                                        </p:tgtEl>
                                        <p:attrNameLst>
                                          <p:attrName>style.visibility</p:attrName>
                                        </p:attrNameLst>
                                      </p:cBhvr>
                                      <p:to>
                                        <p:strVal val="visible"/>
                                      </p:to>
                                    </p:set>
                                    <p:animEffect transition="in" filter="fade">
                                      <p:cBhvr>
                                        <p:cTn id="10"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代码实现</a:t>
            </a:r>
            <a:endParaRPr lang="zh-CN" altLang="en-US" b="1" dirty="0">
              <a:latin typeface="楷体" pitchFamily="49" charset="-122"/>
              <a:ea typeface="楷体" pitchFamily="49" charset="-122"/>
            </a:endParaRPr>
          </a:p>
        </p:txBody>
      </p:sp>
      <p:pic>
        <p:nvPicPr>
          <p:cNvPr id="3" name="图片 2"/>
          <p:cNvPicPr>
            <a:picLocks noChangeAspect="1"/>
          </p:cNvPicPr>
          <p:nvPr/>
        </p:nvPicPr>
        <p:blipFill>
          <a:blip r:embed="rId2"/>
          <a:stretch>
            <a:fillRect/>
          </a:stretch>
        </p:blipFill>
        <p:spPr>
          <a:xfrm>
            <a:off x="1184571" y="1448548"/>
            <a:ext cx="3068252" cy="3030985"/>
          </a:xfrm>
          <a:prstGeom prst="rect">
            <a:avLst/>
          </a:prstGeom>
        </p:spPr>
      </p:pic>
      <p:pic>
        <p:nvPicPr>
          <p:cNvPr id="4" name="图片 3"/>
          <p:cNvPicPr>
            <a:picLocks noChangeAspect="1"/>
          </p:cNvPicPr>
          <p:nvPr/>
        </p:nvPicPr>
        <p:blipFill>
          <a:blip r:embed="rId3"/>
          <a:stretch>
            <a:fillRect/>
          </a:stretch>
        </p:blipFill>
        <p:spPr>
          <a:xfrm>
            <a:off x="1184570" y="4798419"/>
            <a:ext cx="3123811" cy="1334962"/>
          </a:xfrm>
          <a:prstGeom prst="rect">
            <a:avLst/>
          </a:prstGeom>
        </p:spPr>
      </p:pic>
      <p:sp>
        <p:nvSpPr>
          <p:cNvPr id="6" name="文本框 5"/>
          <p:cNvSpPr txBox="1"/>
          <p:nvPr/>
        </p:nvSpPr>
        <p:spPr>
          <a:xfrm>
            <a:off x="5374256" y="2769540"/>
            <a:ext cx="5979544" cy="707886"/>
          </a:xfrm>
          <a:prstGeom prst="rect">
            <a:avLst/>
          </a:prstGeom>
          <a:noFill/>
        </p:spPr>
        <p:txBody>
          <a:bodyPr wrap="square" rtlCol="0">
            <a:spAutoFit/>
          </a:bodyPr>
          <a:lstStyle/>
          <a:p>
            <a:r>
              <a:rPr lang="zh-CN" altLang="en-US" sz="4000" b="1" dirty="0" smtClean="0"/>
              <a:t>时间复杂度：最差</a:t>
            </a:r>
            <a:r>
              <a:rPr lang="en-US" altLang="zh-CN" sz="4000" b="1" dirty="0" smtClean="0"/>
              <a:t>O(N^3)</a:t>
            </a:r>
            <a:endParaRPr lang="zh-CN" altLang="en-US" sz="4000" b="1" dirty="0"/>
          </a:p>
        </p:txBody>
      </p:sp>
    </p:spTree>
    <p:extLst>
      <p:ext uri="{BB962C8B-B14F-4D97-AF65-F5344CB8AC3E}">
        <p14:creationId xmlns:p14="http://schemas.microsoft.com/office/powerpoint/2010/main" val="256322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二分图最小点覆盖  </a:t>
            </a:r>
            <a:r>
              <a:rPr lang="en-US" altLang="zh-CN" dirty="0" smtClean="0">
                <a:ea typeface="楷体" pitchFamily="49" charset="-122"/>
              </a:rPr>
              <a:t>=  </a:t>
            </a:r>
            <a:r>
              <a:rPr lang="zh-CN" altLang="en-US" dirty="0" smtClean="0">
                <a:ea typeface="楷体" pitchFamily="49" charset="-122"/>
              </a:rPr>
              <a:t>二分图最大匹配</a:t>
            </a:r>
            <a:endParaRPr lang="en-US" altLang="zh-CN" dirty="0" smtClean="0">
              <a:ea typeface="楷体" pitchFamily="49" charset="-122"/>
            </a:endParaRPr>
          </a:p>
          <a:p>
            <a:r>
              <a:rPr lang="zh-CN" altLang="en-US" dirty="0">
                <a:ea typeface="楷体" pitchFamily="49" charset="-122"/>
              </a:rPr>
              <a:t>二分</a:t>
            </a:r>
            <a:r>
              <a:rPr lang="zh-CN" altLang="en-US" dirty="0" smtClean="0">
                <a:ea typeface="楷体" pitchFamily="49" charset="-122"/>
              </a:rPr>
              <a:t>图最大点独立集  </a:t>
            </a:r>
            <a:r>
              <a:rPr lang="en-US" altLang="zh-CN" dirty="0" smtClean="0">
                <a:ea typeface="楷体" pitchFamily="49" charset="-122"/>
              </a:rPr>
              <a:t>=  </a:t>
            </a:r>
            <a:r>
              <a:rPr lang="zh-CN" altLang="en-US" dirty="0" smtClean="0">
                <a:ea typeface="楷体" pitchFamily="49" charset="-122"/>
              </a:rPr>
              <a:t>总点数  </a:t>
            </a:r>
            <a:r>
              <a:rPr lang="en-US" altLang="zh-CN" dirty="0" smtClean="0">
                <a:ea typeface="楷体" pitchFamily="49" charset="-122"/>
              </a:rPr>
              <a:t>-  </a:t>
            </a:r>
            <a:r>
              <a:rPr lang="zh-CN" altLang="en-US" dirty="0" smtClean="0">
                <a:ea typeface="楷体" pitchFamily="49" charset="-122"/>
              </a:rPr>
              <a:t>二分图最大匹配</a:t>
            </a:r>
            <a:endParaRPr lang="en-US" altLang="zh-CN" dirty="0" smtClean="0">
              <a:ea typeface="楷体" pitchFamily="49" charset="-122"/>
            </a:endParaRPr>
          </a:p>
        </p:txBody>
      </p:sp>
    </p:spTree>
    <p:extLst>
      <p:ext uri="{BB962C8B-B14F-4D97-AF65-F5344CB8AC3E}">
        <p14:creationId xmlns:p14="http://schemas.microsoft.com/office/powerpoint/2010/main" val="37387896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a:t>飞行员配对方案问题</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a:t>第二次世界大战时期，英国皇家空军从沦陷国征募了大量外籍飞行员。由皇家空军派出的每一架飞机都需要配备在航行技能和语言上能互相配合的</a:t>
            </a:r>
            <a:r>
              <a:rPr lang="en-US" altLang="zh-CN" dirty="0"/>
              <a:t>2</a:t>
            </a:r>
            <a:r>
              <a:rPr lang="zh-CN" altLang="en-US" dirty="0"/>
              <a:t>名飞行员，其中</a:t>
            </a:r>
            <a:r>
              <a:rPr lang="en-US" altLang="zh-CN" dirty="0"/>
              <a:t>1</a:t>
            </a:r>
            <a:r>
              <a:rPr lang="zh-CN" altLang="en-US" dirty="0"/>
              <a:t>名是英国飞行员，另</a:t>
            </a:r>
            <a:r>
              <a:rPr lang="en-US" altLang="zh-CN" dirty="0"/>
              <a:t>1</a:t>
            </a:r>
            <a:r>
              <a:rPr lang="zh-CN" altLang="en-US" dirty="0"/>
              <a:t>名是外籍飞行员</a:t>
            </a:r>
            <a:r>
              <a:rPr lang="zh-CN" altLang="en-US" dirty="0" smtClean="0"/>
              <a:t>。</a:t>
            </a:r>
            <a:endParaRPr lang="en-US" altLang="zh-CN" dirty="0" smtClean="0"/>
          </a:p>
          <a:p>
            <a:r>
              <a:rPr lang="zh-CN" altLang="en-US" dirty="0" smtClean="0"/>
              <a:t>在</a:t>
            </a:r>
            <a:r>
              <a:rPr lang="zh-CN" altLang="en-US" dirty="0"/>
              <a:t>众多的飞行员中，每一名外籍飞行员都可以与其他若干名英国飞行员很好地配合。如何选择配对飞行的飞行员才能使一次派出最多的飞机。对于给定的外籍飞行员与英国飞行员的配合情况，试设计一个算法找出最佳飞行员配对方案，使皇家空军一次能派出最多的飞机。</a:t>
            </a:r>
            <a:endParaRPr lang="en-US" altLang="zh-CN" dirty="0" smtClean="0">
              <a:ea typeface="楷体" pitchFamily="49" charset="-122"/>
            </a:endParaRPr>
          </a:p>
        </p:txBody>
      </p:sp>
    </p:spTree>
    <p:extLst>
      <p:ext uri="{BB962C8B-B14F-4D97-AF65-F5344CB8AC3E}">
        <p14:creationId xmlns:p14="http://schemas.microsoft.com/office/powerpoint/2010/main" val="386829897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en-US" altLang="zh-CN" b="1" dirty="0"/>
              <a:t>[Usaco2005 </a:t>
            </a:r>
            <a:r>
              <a:rPr lang="en-US" altLang="zh-CN" b="1" dirty="0" err="1"/>
              <a:t>nov</a:t>
            </a:r>
            <a:r>
              <a:rPr lang="en-US" altLang="zh-CN" b="1" dirty="0"/>
              <a:t>]Asteroids </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a:t>贝茜想驾驶她的飞船穿过危险的小行星群．小行星群是一个</a:t>
            </a:r>
            <a:r>
              <a:rPr lang="en-US" altLang="zh-CN" dirty="0" err="1"/>
              <a:t>NxN</a:t>
            </a:r>
            <a:r>
              <a:rPr lang="zh-CN" altLang="en-US" dirty="0"/>
              <a:t>的网格</a:t>
            </a:r>
            <a:r>
              <a:rPr lang="en-US" altLang="zh-CN" dirty="0"/>
              <a:t>(1≤N≤500)</a:t>
            </a:r>
            <a:r>
              <a:rPr lang="zh-CN" altLang="en-US" dirty="0"/>
              <a:t>，在网格内有</a:t>
            </a:r>
            <a:r>
              <a:rPr lang="en-US" altLang="zh-CN" dirty="0"/>
              <a:t>K</a:t>
            </a:r>
            <a:r>
              <a:rPr lang="zh-CN" altLang="en-US" dirty="0"/>
              <a:t>个小行星</a:t>
            </a:r>
            <a:r>
              <a:rPr lang="en-US" altLang="zh-CN" dirty="0"/>
              <a:t>(1≤K≤10000)</a:t>
            </a:r>
            <a:r>
              <a:rPr lang="zh-CN" altLang="en-US" dirty="0"/>
              <a:t>． 幸运地是贝茜有一个很强大的武器，一次可以消除所有在一行或一列中的小行星，这种武器很贵，所以她希望尽量地少用．给出所有的小行星的位置，算出贝茜最少需要多少次射击就能消除所有的小行星．</a:t>
            </a:r>
            <a:endParaRPr lang="en-US" altLang="zh-CN" dirty="0" smtClean="0">
              <a:ea typeface="楷体" pitchFamily="49" charset="-122"/>
            </a:endParaRPr>
          </a:p>
        </p:txBody>
      </p:sp>
    </p:spTree>
    <p:extLst>
      <p:ext uri="{BB962C8B-B14F-4D97-AF65-F5344CB8AC3E}">
        <p14:creationId xmlns:p14="http://schemas.microsoft.com/office/powerpoint/2010/main" val="30921314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我们把对行和列建一个二分图，若存在小行星</a:t>
            </a:r>
            <a:r>
              <a:rPr lang="en-US" altLang="zh-CN" dirty="0" smtClean="0">
                <a:ea typeface="楷体" pitchFamily="49" charset="-122"/>
              </a:rPr>
              <a:t>(</a:t>
            </a:r>
            <a:r>
              <a:rPr lang="en-US" altLang="zh-CN" dirty="0" err="1" smtClean="0">
                <a:ea typeface="楷体" pitchFamily="49" charset="-122"/>
              </a:rPr>
              <a:t>i,j</a:t>
            </a:r>
            <a:r>
              <a:rPr lang="en-US" altLang="zh-CN" dirty="0" smtClean="0">
                <a:ea typeface="楷体" pitchFamily="49" charset="-122"/>
              </a:rPr>
              <a:t>)</a:t>
            </a:r>
            <a:r>
              <a:rPr lang="zh-CN" altLang="en-US" dirty="0" smtClean="0">
                <a:ea typeface="楷体" pitchFamily="49" charset="-122"/>
              </a:rPr>
              <a:t>，就在行</a:t>
            </a:r>
            <a:r>
              <a:rPr lang="en-US" altLang="zh-CN" dirty="0" err="1" smtClean="0">
                <a:ea typeface="楷体" pitchFamily="49" charset="-122"/>
              </a:rPr>
              <a:t>i</a:t>
            </a:r>
            <a:r>
              <a:rPr lang="zh-CN" altLang="en-US" dirty="0" smtClean="0">
                <a:ea typeface="楷体" pitchFamily="49" charset="-122"/>
              </a:rPr>
              <a:t>和列</a:t>
            </a:r>
            <a:r>
              <a:rPr lang="en-US" altLang="zh-CN" dirty="0" smtClean="0">
                <a:ea typeface="楷体" pitchFamily="49" charset="-122"/>
              </a:rPr>
              <a:t>j</a:t>
            </a:r>
            <a:r>
              <a:rPr lang="zh-CN" altLang="en-US" dirty="0" smtClean="0">
                <a:ea typeface="楷体" pitchFamily="49" charset="-122"/>
              </a:rPr>
              <a:t>之间连一条边</a:t>
            </a:r>
            <a:endParaRPr lang="en-US" altLang="zh-CN" dirty="0" smtClean="0">
              <a:ea typeface="楷体" pitchFamily="49" charset="-122"/>
            </a:endParaRPr>
          </a:p>
          <a:p>
            <a:r>
              <a:rPr lang="zh-CN" altLang="en-US" dirty="0">
                <a:ea typeface="楷体" pitchFamily="49" charset="-122"/>
              </a:rPr>
              <a:t>现在问题就转化</a:t>
            </a:r>
            <a:r>
              <a:rPr lang="zh-CN" altLang="en-US" dirty="0" smtClean="0">
                <a:ea typeface="楷体" pitchFamily="49" charset="-122"/>
              </a:rPr>
              <a:t>为了求二分图最小点覆盖</a:t>
            </a:r>
            <a:endParaRPr lang="en-US" altLang="zh-CN" dirty="0" smtClean="0">
              <a:ea typeface="楷体" pitchFamily="49" charset="-122"/>
            </a:endParaRPr>
          </a:p>
          <a:p>
            <a:r>
              <a:rPr lang="zh-CN" altLang="en-US" dirty="0" smtClean="0">
                <a:ea typeface="楷体" pitchFamily="49" charset="-122"/>
              </a:rPr>
              <a:t>直接跑匈牙利算法即可</a:t>
            </a:r>
            <a:endParaRPr lang="en-US" altLang="zh-CN" dirty="0" smtClean="0">
              <a:ea typeface="楷体" pitchFamily="49" charset="-122"/>
            </a:endParaRPr>
          </a:p>
        </p:txBody>
      </p:sp>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136949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500"/>
                                        <p:tgtEl>
                                          <p:spTgt spid="1536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Effect transition="in" filter="fade">
                                      <p:cBhvr>
                                        <p:cTn id="15"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4098"/>
          <p:cNvSpPr txBox="1">
            <a:spLocks/>
          </p:cNvSpPr>
          <p:nvPr/>
        </p:nvSpPr>
        <p:spPr>
          <a:xfrm>
            <a:off x="838200" y="2084417"/>
            <a:ext cx="10515600" cy="4351338"/>
          </a:xfrm>
          <a:prstGeom prst="rect">
            <a:avLst/>
          </a:prstGeom>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4000" b="1" dirty="0" smtClean="0">
                <a:latin typeface="楷体" pitchFamily="49" charset="-122"/>
                <a:ea typeface="楷体" pitchFamily="49" charset="-122"/>
              </a:rPr>
              <a:t>强连通分量</a:t>
            </a:r>
            <a:endParaRPr lang="en-US" altLang="zh-CN" sz="4000" b="1" dirty="0" smtClean="0">
              <a:latin typeface="楷体" pitchFamily="49" charset="-122"/>
              <a:ea typeface="楷体" pitchFamily="49" charset="-122"/>
            </a:endParaRPr>
          </a:p>
          <a:p>
            <a:r>
              <a:rPr lang="zh-CN" altLang="en-US" sz="4000" b="1" dirty="0" smtClean="0">
                <a:latin typeface="楷体" pitchFamily="49" charset="-122"/>
                <a:ea typeface="楷体" pitchFamily="49" charset="-122"/>
              </a:rPr>
              <a:t>双连通分量</a:t>
            </a:r>
            <a:endParaRPr lang="en-US" altLang="zh-CN" sz="4000" b="1" dirty="0" smtClean="0">
              <a:latin typeface="楷体" pitchFamily="49" charset="-122"/>
              <a:ea typeface="楷体" pitchFamily="49" charset="-122"/>
            </a:endParaRPr>
          </a:p>
          <a:p>
            <a:r>
              <a:rPr lang="zh-CN" altLang="en-US" sz="4000" b="1" dirty="0" smtClean="0">
                <a:latin typeface="楷体" pitchFamily="49" charset="-122"/>
                <a:ea typeface="楷体" pitchFamily="49" charset="-122"/>
              </a:rPr>
              <a:t>二分图匹配</a:t>
            </a:r>
            <a:endParaRPr lang="en-US" altLang="zh-CN" sz="4000" b="1" dirty="0" smtClean="0">
              <a:latin typeface="楷体" pitchFamily="49" charset="-122"/>
              <a:ea typeface="楷体" pitchFamily="49" charset="-122"/>
            </a:endParaRPr>
          </a:p>
          <a:p>
            <a:r>
              <a:rPr lang="en-US" altLang="zh-CN" sz="4000" b="1" dirty="0" smtClean="0">
                <a:solidFill>
                  <a:srgbClr val="FF0000"/>
                </a:solidFill>
                <a:latin typeface="楷体" pitchFamily="49" charset="-122"/>
                <a:ea typeface="楷体" pitchFamily="49" charset="-122"/>
              </a:rPr>
              <a:t>2-SAT</a:t>
            </a:r>
            <a:endParaRPr lang="zh-CN" altLang="en-US" sz="4000" b="1" dirty="0">
              <a:solidFill>
                <a:srgbClr val="FF0000"/>
              </a:solidFill>
              <a:latin typeface="楷体" pitchFamily="49" charset="-122"/>
              <a:ea typeface="楷体" pitchFamily="49" charset="-122"/>
            </a:endParaRPr>
          </a:p>
        </p:txBody>
      </p:sp>
    </p:spTree>
    <p:extLst>
      <p:ext uri="{BB962C8B-B14F-4D97-AF65-F5344CB8AC3E}">
        <p14:creationId xmlns:p14="http://schemas.microsoft.com/office/powerpoint/2010/main" val="38520213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en-US" altLang="zh-CN" b="1" dirty="0" smtClean="0">
                <a:latin typeface="楷体" pitchFamily="49" charset="-122"/>
                <a:ea typeface="楷体" pitchFamily="49" charset="-122"/>
              </a:rPr>
              <a:t>2-SAT</a:t>
            </a:r>
            <a:r>
              <a:rPr lang="zh-CN" altLang="en-US" b="1" dirty="0" smtClean="0">
                <a:latin typeface="楷体" pitchFamily="49" charset="-122"/>
                <a:ea typeface="楷体" pitchFamily="49" charset="-122"/>
              </a:rPr>
              <a:t>模型</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en-US" altLang="zh-CN" dirty="0" smtClean="0">
                <a:ea typeface="楷体" pitchFamily="49" charset="-122"/>
              </a:rPr>
              <a:t>SAT</a:t>
            </a:r>
            <a:r>
              <a:rPr lang="zh-CN" altLang="en-US" dirty="0" smtClean="0">
                <a:ea typeface="楷体" pitchFamily="49" charset="-122"/>
              </a:rPr>
              <a:t>是</a:t>
            </a:r>
            <a:r>
              <a:rPr lang="en-US" altLang="zh-CN" dirty="0" smtClean="0">
                <a:ea typeface="楷体" pitchFamily="49" charset="-122"/>
              </a:rPr>
              <a:t>Satisfiability(</a:t>
            </a:r>
            <a:r>
              <a:rPr lang="zh-CN" altLang="en-US" dirty="0" smtClean="0">
                <a:ea typeface="楷体" pitchFamily="49" charset="-122"/>
              </a:rPr>
              <a:t>适应性</a:t>
            </a:r>
            <a:r>
              <a:rPr lang="en-US" altLang="zh-CN" dirty="0" smtClean="0">
                <a:ea typeface="楷体" pitchFamily="49" charset="-122"/>
              </a:rPr>
              <a:t>)</a:t>
            </a:r>
            <a:r>
              <a:rPr lang="zh-CN" altLang="en-US" dirty="0" smtClean="0">
                <a:ea typeface="楷体" pitchFamily="49" charset="-122"/>
              </a:rPr>
              <a:t>的缩写，</a:t>
            </a:r>
            <a:r>
              <a:rPr lang="en-US" altLang="zh-CN" dirty="0" smtClean="0">
                <a:ea typeface="楷体" pitchFamily="49" charset="-122"/>
              </a:rPr>
              <a:t>SAT</a:t>
            </a:r>
            <a:r>
              <a:rPr lang="zh-CN" altLang="en-US" dirty="0" smtClean="0">
                <a:ea typeface="楷体" pitchFamily="49" charset="-122"/>
              </a:rPr>
              <a:t>问题</a:t>
            </a:r>
            <a:r>
              <a:rPr lang="en-US" altLang="zh-CN" dirty="0" smtClean="0">
                <a:ea typeface="楷体" pitchFamily="49" charset="-122"/>
              </a:rPr>
              <a:t>(</a:t>
            </a:r>
            <a:r>
              <a:rPr lang="zh-CN" altLang="en-US" dirty="0" smtClean="0">
                <a:ea typeface="楷体" pitchFamily="49" charset="-122"/>
              </a:rPr>
              <a:t>适应性问题</a:t>
            </a:r>
            <a:r>
              <a:rPr lang="en-US" altLang="zh-CN" dirty="0" smtClean="0">
                <a:ea typeface="楷体" pitchFamily="49" charset="-122"/>
              </a:rPr>
              <a:t>)</a:t>
            </a:r>
            <a:r>
              <a:rPr lang="zh-CN" altLang="en-US" dirty="0" smtClean="0">
                <a:ea typeface="楷体" pitchFamily="49" charset="-122"/>
              </a:rPr>
              <a:t>指的是给出一些条件</a:t>
            </a:r>
            <a:r>
              <a:rPr lang="en-US" altLang="zh-CN" dirty="0" smtClean="0">
                <a:ea typeface="楷体" pitchFamily="49" charset="-122"/>
              </a:rPr>
              <a:t>(</a:t>
            </a:r>
            <a:r>
              <a:rPr lang="zh-CN" altLang="en-US" dirty="0" smtClean="0">
                <a:ea typeface="楷体" pitchFamily="49" charset="-122"/>
              </a:rPr>
              <a:t>元素经过逻辑运算的结果</a:t>
            </a:r>
            <a:r>
              <a:rPr lang="en-US" altLang="zh-CN" dirty="0" smtClean="0">
                <a:ea typeface="楷体" pitchFamily="49" charset="-122"/>
              </a:rPr>
              <a:t>)</a:t>
            </a:r>
            <a:r>
              <a:rPr lang="zh-CN" altLang="en-US" dirty="0" smtClean="0">
                <a:ea typeface="楷体" pitchFamily="49" charset="-122"/>
              </a:rPr>
              <a:t>，问是否存在一种合法的方案使得其满足所有的条件。</a:t>
            </a:r>
            <a:r>
              <a:rPr lang="en-US" altLang="zh-CN" dirty="0" smtClean="0">
                <a:ea typeface="楷体" pitchFamily="49" charset="-122"/>
              </a:rPr>
              <a:t>SAT</a:t>
            </a:r>
            <a:r>
              <a:rPr lang="zh-CN" altLang="en-US" dirty="0" smtClean="0">
                <a:ea typeface="楷体" pitchFamily="49" charset="-122"/>
              </a:rPr>
              <a:t>问题已经被证明是一个</a:t>
            </a:r>
            <a:r>
              <a:rPr lang="en-US" altLang="zh-CN" dirty="0" smtClean="0">
                <a:ea typeface="楷体" pitchFamily="49" charset="-122"/>
              </a:rPr>
              <a:t>NP</a:t>
            </a:r>
            <a:r>
              <a:rPr lang="zh-CN" altLang="en-US" dirty="0" smtClean="0">
                <a:ea typeface="楷体" pitchFamily="49" charset="-122"/>
              </a:rPr>
              <a:t>完全问题</a:t>
            </a:r>
            <a:endParaRPr lang="en-US" altLang="zh-CN" dirty="0" smtClean="0">
              <a:ea typeface="楷体" pitchFamily="49" charset="-122"/>
            </a:endParaRPr>
          </a:p>
          <a:p>
            <a:r>
              <a:rPr lang="en-US" altLang="zh-CN" dirty="0" smtClean="0">
                <a:ea typeface="楷体" pitchFamily="49" charset="-122"/>
              </a:rPr>
              <a:t>2-SAT</a:t>
            </a:r>
            <a:r>
              <a:rPr lang="zh-CN" altLang="en-US" dirty="0" smtClean="0">
                <a:ea typeface="楷体" pitchFamily="49" charset="-122"/>
              </a:rPr>
              <a:t>问题是一种特殊的</a:t>
            </a:r>
            <a:r>
              <a:rPr lang="en-US" altLang="zh-CN" dirty="0" smtClean="0">
                <a:ea typeface="楷体" pitchFamily="49" charset="-122"/>
              </a:rPr>
              <a:t>SAT</a:t>
            </a:r>
            <a:r>
              <a:rPr lang="zh-CN" altLang="en-US" dirty="0" smtClean="0">
                <a:ea typeface="楷体" pitchFamily="49" charset="-122"/>
              </a:rPr>
              <a:t>问题，一般形如：给出</a:t>
            </a:r>
            <a:r>
              <a:rPr lang="en-US" altLang="zh-CN" dirty="0" smtClean="0">
                <a:ea typeface="楷体" pitchFamily="49" charset="-122"/>
              </a:rPr>
              <a:t>n</a:t>
            </a:r>
            <a:r>
              <a:rPr lang="zh-CN" altLang="en-US" dirty="0" smtClean="0">
                <a:ea typeface="楷体" pitchFamily="49" charset="-122"/>
              </a:rPr>
              <a:t>个元素，每个元素有两种取值，元素之间存在着一些关系且这种关系是对称的，判断有没有合法解</a:t>
            </a:r>
            <a:endParaRPr lang="en-US" altLang="zh-CN" dirty="0" smtClean="0">
              <a:ea typeface="楷体" pitchFamily="49" charset="-122"/>
            </a:endParaRPr>
          </a:p>
          <a:p>
            <a:endParaRPr lang="en-US" altLang="zh-CN" dirty="0">
              <a:ea typeface="楷体" pitchFamily="49" charset="-122"/>
            </a:endParaRPr>
          </a:p>
          <a:p>
            <a:r>
              <a:rPr lang="zh-CN" altLang="en-US" dirty="0" smtClean="0">
                <a:ea typeface="楷体" pitchFamily="49" charset="-122"/>
              </a:rPr>
              <a:t>关系是指形如“若</a:t>
            </a:r>
            <a:r>
              <a:rPr lang="en-US" altLang="zh-CN" dirty="0" smtClean="0">
                <a:ea typeface="楷体" pitchFamily="49" charset="-122"/>
              </a:rPr>
              <a:t>A</a:t>
            </a:r>
            <a:r>
              <a:rPr lang="zh-CN" altLang="en-US" dirty="0" smtClean="0">
                <a:ea typeface="楷体" pitchFamily="49" charset="-122"/>
              </a:rPr>
              <a:t>取值为</a:t>
            </a:r>
            <a:r>
              <a:rPr lang="en-US" altLang="zh-CN" dirty="0" smtClean="0">
                <a:ea typeface="楷体" pitchFamily="49" charset="-122"/>
              </a:rPr>
              <a:t>x</a:t>
            </a:r>
            <a:r>
              <a:rPr lang="zh-CN" altLang="en-US" dirty="0" smtClean="0">
                <a:ea typeface="楷体" pitchFamily="49" charset="-122"/>
              </a:rPr>
              <a:t>则</a:t>
            </a:r>
            <a:r>
              <a:rPr lang="en-US" altLang="zh-CN" dirty="0" smtClean="0">
                <a:ea typeface="楷体" pitchFamily="49" charset="-122"/>
              </a:rPr>
              <a:t>B</a:t>
            </a:r>
            <a:r>
              <a:rPr lang="zh-CN" altLang="en-US" dirty="0" smtClean="0">
                <a:ea typeface="楷体" pitchFamily="49" charset="-122"/>
              </a:rPr>
              <a:t>必须取值为</a:t>
            </a:r>
            <a:r>
              <a:rPr lang="en-US" altLang="zh-CN" dirty="0" smtClean="0">
                <a:ea typeface="楷体" pitchFamily="49" charset="-122"/>
              </a:rPr>
              <a:t>y</a:t>
            </a:r>
            <a:r>
              <a:rPr lang="zh-CN" altLang="en-US" dirty="0" smtClean="0">
                <a:ea typeface="楷体" pitchFamily="49" charset="-122"/>
              </a:rPr>
              <a:t>”这样的条件</a:t>
            </a:r>
            <a:endParaRPr lang="en-US" altLang="zh-CN" dirty="0" smtClean="0">
              <a:ea typeface="楷体" pitchFamily="49" charset="-122"/>
            </a:endParaRPr>
          </a:p>
        </p:txBody>
      </p:sp>
    </p:spTree>
    <p:extLst>
      <p:ext uri="{BB962C8B-B14F-4D97-AF65-F5344CB8AC3E}">
        <p14:creationId xmlns:p14="http://schemas.microsoft.com/office/powerpoint/2010/main" val="12920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Effect transition="in" filter="fade">
                                      <p:cBhvr>
                                        <p:cTn id="17"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二元逻辑运算与“关系”的转化</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a:ea typeface="楷体" pitchFamily="49" charset="-122"/>
              </a:rPr>
              <a:t>当然上述的“关系”限制条件比较狭隘，不过实际上很多种逻辑运算都可以转成这种关系，例如</a:t>
            </a:r>
            <a:r>
              <a:rPr lang="zh-CN" altLang="en-US" dirty="0" smtClean="0">
                <a:ea typeface="楷体" pitchFamily="49" charset="-122"/>
              </a:rPr>
              <a:t>：</a:t>
            </a:r>
            <a:endParaRPr lang="en-US" altLang="zh-CN" dirty="0" smtClean="0">
              <a:ea typeface="楷体" pitchFamily="49" charset="-122"/>
            </a:endParaRPr>
          </a:p>
          <a:p>
            <a:r>
              <a:rPr lang="zh-CN" altLang="en-US" dirty="0" smtClean="0">
                <a:ea typeface="楷体" pitchFamily="49" charset="-122"/>
              </a:rPr>
              <a:t>为了</a:t>
            </a:r>
            <a:r>
              <a:rPr lang="zh-CN" altLang="en-US" dirty="0" smtClean="0">
                <a:ea typeface="楷体" pitchFamily="49" charset="-122"/>
              </a:rPr>
              <a:t>叙述方便，我们拿取值为</a:t>
            </a:r>
            <a:r>
              <a:rPr lang="en-US" altLang="zh-CN" dirty="0" smtClean="0">
                <a:ea typeface="楷体" pitchFamily="49" charset="-122"/>
              </a:rPr>
              <a:t>0</a:t>
            </a:r>
            <a:r>
              <a:rPr lang="zh-CN" altLang="en-US" dirty="0" smtClean="0">
                <a:ea typeface="楷体" pitchFamily="49" charset="-122"/>
              </a:rPr>
              <a:t>和</a:t>
            </a:r>
            <a:r>
              <a:rPr lang="en-US" altLang="zh-CN" dirty="0" smtClean="0">
                <a:ea typeface="楷体" pitchFamily="49" charset="-122"/>
              </a:rPr>
              <a:t>1</a:t>
            </a:r>
            <a:r>
              <a:rPr lang="zh-CN" altLang="en-US" dirty="0" smtClean="0">
                <a:ea typeface="楷体" pitchFamily="49" charset="-122"/>
              </a:rPr>
              <a:t>举例子</a:t>
            </a:r>
            <a:endParaRPr lang="en-US" altLang="zh-CN" dirty="0" smtClean="0">
              <a:ea typeface="楷体" pitchFamily="49" charset="-122"/>
            </a:endParaRPr>
          </a:p>
          <a:p>
            <a:r>
              <a:rPr lang="en-US" altLang="zh-CN" dirty="0" smtClean="0">
                <a:ea typeface="楷体" pitchFamily="49" charset="-122"/>
              </a:rPr>
              <a:t>A&amp;B=0  </a:t>
            </a:r>
            <a:r>
              <a:rPr lang="en-US" altLang="zh-CN" dirty="0" smtClean="0">
                <a:ea typeface="楷体" pitchFamily="49" charset="-122"/>
              </a:rPr>
              <a:t>-&gt;  </a:t>
            </a:r>
            <a:r>
              <a:rPr lang="zh-CN" altLang="en-US" dirty="0" smtClean="0">
                <a:ea typeface="楷体" pitchFamily="49" charset="-122"/>
              </a:rPr>
              <a:t>若</a:t>
            </a:r>
            <a:r>
              <a:rPr lang="en-US" altLang="zh-CN" dirty="0" smtClean="0">
                <a:ea typeface="楷体" pitchFamily="49" charset="-122"/>
              </a:rPr>
              <a:t>A</a:t>
            </a:r>
            <a:r>
              <a:rPr lang="zh-CN" altLang="en-US" dirty="0" smtClean="0">
                <a:ea typeface="楷体" pitchFamily="49" charset="-122"/>
              </a:rPr>
              <a:t>取</a:t>
            </a:r>
            <a:r>
              <a:rPr lang="en-US" altLang="zh-CN" dirty="0" smtClean="0">
                <a:ea typeface="楷体" pitchFamily="49" charset="-122"/>
              </a:rPr>
              <a:t>1</a:t>
            </a:r>
            <a:r>
              <a:rPr lang="zh-CN" altLang="en-US" dirty="0" smtClean="0">
                <a:ea typeface="楷体" pitchFamily="49" charset="-122"/>
              </a:rPr>
              <a:t>则</a:t>
            </a:r>
            <a:r>
              <a:rPr lang="en-US" altLang="zh-CN" dirty="0" smtClean="0">
                <a:ea typeface="楷体" pitchFamily="49" charset="-122"/>
              </a:rPr>
              <a:t>B</a:t>
            </a:r>
            <a:r>
              <a:rPr lang="zh-CN" altLang="en-US" dirty="0" smtClean="0">
                <a:ea typeface="楷体" pitchFamily="49" charset="-122"/>
              </a:rPr>
              <a:t>必须取</a:t>
            </a:r>
            <a:r>
              <a:rPr lang="en-US" altLang="zh-CN" dirty="0" smtClean="0">
                <a:ea typeface="楷体" pitchFamily="49" charset="-122"/>
              </a:rPr>
              <a:t>0</a:t>
            </a:r>
            <a:r>
              <a:rPr lang="zh-CN" altLang="en-US" dirty="0" smtClean="0">
                <a:ea typeface="楷体" pitchFamily="49" charset="-122"/>
              </a:rPr>
              <a:t>，若</a:t>
            </a:r>
            <a:r>
              <a:rPr lang="en-US" altLang="zh-CN" dirty="0">
                <a:ea typeface="楷体" pitchFamily="49" charset="-122"/>
              </a:rPr>
              <a:t>B</a:t>
            </a:r>
            <a:r>
              <a:rPr lang="zh-CN" altLang="en-US" dirty="0" smtClean="0">
                <a:ea typeface="楷体" pitchFamily="49" charset="-122"/>
              </a:rPr>
              <a:t>取</a:t>
            </a:r>
            <a:r>
              <a:rPr lang="en-US" altLang="zh-CN" dirty="0" smtClean="0">
                <a:ea typeface="楷体" pitchFamily="49" charset="-122"/>
              </a:rPr>
              <a:t>1</a:t>
            </a:r>
            <a:r>
              <a:rPr lang="zh-CN" altLang="en-US" dirty="0" smtClean="0">
                <a:ea typeface="楷体" pitchFamily="49" charset="-122"/>
              </a:rPr>
              <a:t>则</a:t>
            </a:r>
            <a:r>
              <a:rPr lang="en-US" altLang="zh-CN" dirty="0" smtClean="0">
                <a:ea typeface="楷体" pitchFamily="49" charset="-122"/>
              </a:rPr>
              <a:t>A</a:t>
            </a:r>
            <a:r>
              <a:rPr lang="zh-CN" altLang="en-US" dirty="0" smtClean="0">
                <a:ea typeface="楷体" pitchFamily="49" charset="-122"/>
              </a:rPr>
              <a:t>必须取</a:t>
            </a:r>
            <a:r>
              <a:rPr lang="en-US" altLang="zh-CN" dirty="0" smtClean="0">
                <a:ea typeface="楷体" pitchFamily="49" charset="-122"/>
              </a:rPr>
              <a:t>0</a:t>
            </a:r>
          </a:p>
          <a:p>
            <a:r>
              <a:rPr lang="en-US" altLang="zh-CN" dirty="0" smtClean="0">
                <a:ea typeface="楷体" pitchFamily="49" charset="-122"/>
              </a:rPr>
              <a:t>A|B=1  -&gt;</a:t>
            </a:r>
            <a:r>
              <a:rPr lang="zh-CN" altLang="en-US" dirty="0">
                <a:ea typeface="楷体" pitchFamily="49" charset="-122"/>
              </a:rPr>
              <a:t>若</a:t>
            </a:r>
            <a:r>
              <a:rPr lang="en-US" altLang="zh-CN" dirty="0">
                <a:ea typeface="楷体" pitchFamily="49" charset="-122"/>
              </a:rPr>
              <a:t>A</a:t>
            </a:r>
            <a:r>
              <a:rPr lang="zh-CN" altLang="en-US" dirty="0" smtClean="0">
                <a:ea typeface="楷体" pitchFamily="49" charset="-122"/>
              </a:rPr>
              <a:t>取</a:t>
            </a:r>
            <a:r>
              <a:rPr lang="en-US" altLang="zh-CN" dirty="0" smtClean="0">
                <a:ea typeface="楷体" pitchFamily="49" charset="-122"/>
              </a:rPr>
              <a:t>0</a:t>
            </a:r>
            <a:r>
              <a:rPr lang="zh-CN" altLang="en-US" dirty="0" smtClean="0">
                <a:ea typeface="楷体" pitchFamily="49" charset="-122"/>
              </a:rPr>
              <a:t>则</a:t>
            </a:r>
            <a:r>
              <a:rPr lang="en-US" altLang="zh-CN" dirty="0">
                <a:ea typeface="楷体" pitchFamily="49" charset="-122"/>
              </a:rPr>
              <a:t>B</a:t>
            </a:r>
            <a:r>
              <a:rPr lang="zh-CN" altLang="en-US" dirty="0">
                <a:ea typeface="楷体" pitchFamily="49" charset="-122"/>
              </a:rPr>
              <a:t>必须</a:t>
            </a:r>
            <a:r>
              <a:rPr lang="zh-CN" altLang="en-US" dirty="0" smtClean="0">
                <a:ea typeface="楷体" pitchFamily="49" charset="-122"/>
              </a:rPr>
              <a:t>取</a:t>
            </a:r>
            <a:r>
              <a:rPr lang="en-US" altLang="zh-CN" dirty="0" smtClean="0">
                <a:ea typeface="楷体" pitchFamily="49" charset="-122"/>
              </a:rPr>
              <a:t>1</a:t>
            </a:r>
            <a:r>
              <a:rPr lang="zh-CN" altLang="en-US" dirty="0" smtClean="0">
                <a:ea typeface="楷体" pitchFamily="49" charset="-122"/>
              </a:rPr>
              <a:t>，</a:t>
            </a:r>
            <a:r>
              <a:rPr lang="zh-CN" altLang="en-US" dirty="0">
                <a:ea typeface="楷体" pitchFamily="49" charset="-122"/>
              </a:rPr>
              <a:t>若</a:t>
            </a:r>
            <a:r>
              <a:rPr lang="en-US" altLang="zh-CN" dirty="0">
                <a:ea typeface="楷体" pitchFamily="49" charset="-122"/>
              </a:rPr>
              <a:t>B</a:t>
            </a:r>
            <a:r>
              <a:rPr lang="zh-CN" altLang="en-US" dirty="0" smtClean="0">
                <a:ea typeface="楷体" pitchFamily="49" charset="-122"/>
              </a:rPr>
              <a:t>取</a:t>
            </a:r>
            <a:r>
              <a:rPr lang="en-US" altLang="zh-CN" dirty="0" smtClean="0">
                <a:ea typeface="楷体" pitchFamily="49" charset="-122"/>
              </a:rPr>
              <a:t>0</a:t>
            </a:r>
            <a:r>
              <a:rPr lang="zh-CN" altLang="en-US" dirty="0" smtClean="0">
                <a:ea typeface="楷体" pitchFamily="49" charset="-122"/>
              </a:rPr>
              <a:t>则</a:t>
            </a:r>
            <a:r>
              <a:rPr lang="en-US" altLang="zh-CN" dirty="0">
                <a:ea typeface="楷体" pitchFamily="49" charset="-122"/>
              </a:rPr>
              <a:t>A</a:t>
            </a:r>
            <a:r>
              <a:rPr lang="zh-CN" altLang="en-US" dirty="0">
                <a:ea typeface="楷体" pitchFamily="49" charset="-122"/>
              </a:rPr>
              <a:t>必须</a:t>
            </a:r>
            <a:r>
              <a:rPr lang="zh-CN" altLang="en-US" dirty="0" smtClean="0">
                <a:ea typeface="楷体" pitchFamily="49" charset="-122"/>
              </a:rPr>
              <a:t>取</a:t>
            </a:r>
            <a:r>
              <a:rPr lang="en-US" altLang="zh-CN" dirty="0" smtClean="0">
                <a:ea typeface="楷体" pitchFamily="49" charset="-122"/>
              </a:rPr>
              <a:t>1</a:t>
            </a:r>
            <a:endParaRPr lang="en-US" altLang="zh-CN" dirty="0">
              <a:ea typeface="楷体" pitchFamily="49" charset="-122"/>
            </a:endParaRPr>
          </a:p>
          <a:p>
            <a:r>
              <a:rPr lang="en-US" altLang="zh-CN" dirty="0" smtClean="0">
                <a:ea typeface="楷体" pitchFamily="49" charset="-122"/>
              </a:rPr>
              <a:t>A^B=1 -&gt; …</a:t>
            </a:r>
          </a:p>
          <a:p>
            <a:r>
              <a:rPr lang="zh-CN" altLang="en-US" dirty="0">
                <a:ea typeface="楷体" pitchFamily="49" charset="-122"/>
              </a:rPr>
              <a:t>对称性</a:t>
            </a:r>
            <a:endParaRPr lang="en-US" altLang="zh-CN" dirty="0" smtClean="0">
              <a:ea typeface="楷体" pitchFamily="49" charset="-122"/>
            </a:endParaRPr>
          </a:p>
          <a:p>
            <a:r>
              <a:rPr lang="zh-CN" altLang="en-US" dirty="0" smtClean="0">
                <a:ea typeface="楷体" pitchFamily="49" charset="-122"/>
              </a:rPr>
              <a:t>对于特殊的限制条件，例如</a:t>
            </a:r>
            <a:r>
              <a:rPr lang="en-US" altLang="zh-CN" dirty="0" smtClean="0">
                <a:ea typeface="楷体" pitchFamily="49" charset="-122"/>
              </a:rPr>
              <a:t>A=1(A&amp;B=1)</a:t>
            </a:r>
            <a:r>
              <a:rPr lang="zh-CN" altLang="en-US" dirty="0" smtClean="0">
                <a:ea typeface="楷体" pitchFamily="49" charset="-122"/>
              </a:rPr>
              <a:t>，我们可以构建“若</a:t>
            </a:r>
            <a:r>
              <a:rPr lang="en-US" altLang="zh-CN" dirty="0" smtClean="0">
                <a:ea typeface="楷体" pitchFamily="49" charset="-122"/>
              </a:rPr>
              <a:t>A</a:t>
            </a:r>
            <a:r>
              <a:rPr lang="zh-CN" altLang="en-US" dirty="0" smtClean="0">
                <a:ea typeface="楷体" pitchFamily="49" charset="-122"/>
              </a:rPr>
              <a:t>取</a:t>
            </a:r>
            <a:r>
              <a:rPr lang="en-US" altLang="zh-CN" dirty="0" smtClean="0">
                <a:ea typeface="楷体" pitchFamily="49" charset="-122"/>
              </a:rPr>
              <a:t>0</a:t>
            </a:r>
            <a:r>
              <a:rPr lang="zh-CN" altLang="en-US" dirty="0" smtClean="0">
                <a:ea typeface="楷体" pitchFamily="49" charset="-122"/>
              </a:rPr>
              <a:t>则</a:t>
            </a:r>
            <a:r>
              <a:rPr lang="en-US" altLang="zh-CN" dirty="0" smtClean="0">
                <a:ea typeface="楷体" pitchFamily="49" charset="-122"/>
              </a:rPr>
              <a:t>A</a:t>
            </a:r>
            <a:r>
              <a:rPr lang="zh-CN" altLang="en-US" dirty="0" smtClean="0">
                <a:ea typeface="楷体" pitchFamily="49" charset="-122"/>
              </a:rPr>
              <a:t>必须取</a:t>
            </a:r>
            <a:r>
              <a:rPr lang="en-US" altLang="zh-CN" dirty="0" smtClean="0">
                <a:ea typeface="楷体" pitchFamily="49" charset="-122"/>
              </a:rPr>
              <a:t>1</a:t>
            </a:r>
            <a:r>
              <a:rPr lang="zh-CN" altLang="en-US" dirty="0" smtClean="0">
                <a:ea typeface="楷体" pitchFamily="49" charset="-122"/>
              </a:rPr>
              <a:t>”这样的限制条件</a:t>
            </a:r>
            <a:endParaRPr lang="en-US" altLang="zh-CN" dirty="0" smtClean="0">
              <a:ea typeface="楷体" pitchFamily="49" charset="-122"/>
            </a:endParaRPr>
          </a:p>
        </p:txBody>
      </p:sp>
    </p:spTree>
    <p:extLst>
      <p:ext uri="{BB962C8B-B14F-4D97-AF65-F5344CB8AC3E}">
        <p14:creationId xmlns:p14="http://schemas.microsoft.com/office/powerpoint/2010/main" val="1415380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fade">
                                      <p:cBhvr>
                                        <p:cTn id="10" dur="500"/>
                                        <p:tgtEl>
                                          <p:spTgt spid="1536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Effect transition="in" filter="fade">
                                      <p:cBhvr>
                                        <p:cTn id="15" dur="500"/>
                                        <p:tgtEl>
                                          <p:spTgt spid="1536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363">
                                            <p:txEl>
                                              <p:pRg st="3" end="3"/>
                                            </p:txEl>
                                          </p:spTgt>
                                        </p:tgtEl>
                                        <p:attrNameLst>
                                          <p:attrName>style.visibility</p:attrName>
                                        </p:attrNameLst>
                                      </p:cBhvr>
                                      <p:to>
                                        <p:strVal val="visible"/>
                                      </p:to>
                                    </p:set>
                                    <p:animEffect transition="in" filter="fade">
                                      <p:cBhvr>
                                        <p:cTn id="20" dur="500"/>
                                        <p:tgtEl>
                                          <p:spTgt spid="1536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363">
                                            <p:txEl>
                                              <p:pRg st="4" end="4"/>
                                            </p:txEl>
                                          </p:spTgt>
                                        </p:tgtEl>
                                        <p:attrNameLst>
                                          <p:attrName>style.visibility</p:attrName>
                                        </p:attrNameLst>
                                      </p:cBhvr>
                                      <p:to>
                                        <p:strVal val="visible"/>
                                      </p:to>
                                    </p:set>
                                    <p:animEffect transition="in" filter="fade">
                                      <p:cBhvr>
                                        <p:cTn id="25" dur="500"/>
                                        <p:tgtEl>
                                          <p:spTgt spid="1536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5363">
                                            <p:txEl>
                                              <p:pRg st="5" end="5"/>
                                            </p:txEl>
                                          </p:spTgt>
                                        </p:tgtEl>
                                        <p:attrNameLst>
                                          <p:attrName>style.visibility</p:attrName>
                                        </p:attrNameLst>
                                      </p:cBhvr>
                                      <p:to>
                                        <p:strVal val="visible"/>
                                      </p:to>
                                    </p:set>
                                    <p:animEffect transition="in" filter="fade">
                                      <p:cBhvr>
                                        <p:cTn id="30" dur="500"/>
                                        <p:tgtEl>
                                          <p:spTgt spid="1536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5363">
                                            <p:txEl>
                                              <p:pRg st="6" end="6"/>
                                            </p:txEl>
                                          </p:spTgt>
                                        </p:tgtEl>
                                        <p:attrNameLst>
                                          <p:attrName>style.visibility</p:attrName>
                                        </p:attrNameLst>
                                      </p:cBhvr>
                                      <p:to>
                                        <p:strVal val="visible"/>
                                      </p:to>
                                    </p:set>
                                    <p:animEffect transition="in" filter="fade">
                                      <p:cBhvr>
                                        <p:cTn id="35" dur="500"/>
                                        <p:tgtEl>
                                          <p:spTgt spid="153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建图</a:t>
            </a:r>
            <a:endParaRPr lang="zh-CN" altLang="en-US" b="1" dirty="0">
              <a:latin typeface="楷体" pitchFamily="49" charset="-122"/>
              <a:ea typeface="楷体" pitchFamily="49" charset="-122"/>
            </a:endParaRPr>
          </a:p>
        </p:txBody>
      </p:sp>
      <mc:AlternateContent xmlns:mc="http://schemas.openxmlformats.org/markup-compatibility/2006" xmlns:a14="http://schemas.microsoft.com/office/drawing/2010/main">
        <mc:Choice Requires="a14">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对于所有元素，我们拆成两个点</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err="1" smtClean="0">
                            <a:latin typeface="Cambria Math" panose="02040503050406030204" pitchFamily="18" charset="0"/>
                          </a:rPr>
                          <m:t>𝑎</m:t>
                        </m:r>
                      </m:e>
                      <m:sub>
                        <m:r>
                          <a:rPr lang="en-US" altLang="zh-CN" b="0" i="0" dirty="0" smtClean="0">
                            <a:latin typeface="Cambria Math" panose="02040503050406030204" pitchFamily="18" charset="0"/>
                          </a:rPr>
                          <m:t>0</m:t>
                        </m:r>
                      </m:sub>
                    </m:sSub>
                  </m:oMath>
                </a14:m>
                <a:r>
                  <a:rPr lang="en-US" altLang="zh-CN" dirty="0" err="1" smtClean="0">
                    <a:ea typeface="楷体" pitchFamily="49" charset="-122"/>
                  </a:rPr>
                  <a:t>,</a:t>
                </a: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oMath>
                </a14:m>
                <a:r>
                  <a:rPr lang="zh-CN" altLang="en-US" dirty="0" smtClean="0">
                    <a:ea typeface="楷体" pitchFamily="49" charset="-122"/>
                  </a:rPr>
                  <a:t>分别代表他的两种取值</a:t>
                </a:r>
                <a:endParaRPr lang="en-US" altLang="zh-CN" dirty="0" smtClean="0">
                  <a:ea typeface="楷体" pitchFamily="49" charset="-122"/>
                </a:endParaRPr>
              </a:p>
              <a:p>
                <a:r>
                  <a:rPr lang="zh-CN" altLang="en-US" dirty="0" smtClean="0">
                    <a:ea typeface="楷体" pitchFamily="49" charset="-122"/>
                  </a:rPr>
                  <a:t>对于所有的“若</a:t>
                </a:r>
                <a:r>
                  <a:rPr lang="en-US" altLang="zh-CN" dirty="0" smtClean="0">
                    <a:ea typeface="楷体" pitchFamily="49" charset="-122"/>
                  </a:rPr>
                  <a:t>A</a:t>
                </a:r>
                <a:r>
                  <a:rPr lang="zh-CN" altLang="en-US" dirty="0" smtClean="0">
                    <a:ea typeface="楷体" pitchFamily="49" charset="-122"/>
                  </a:rPr>
                  <a:t>取</a:t>
                </a:r>
                <a:r>
                  <a:rPr lang="en-US" altLang="zh-CN" dirty="0" smtClean="0">
                    <a:ea typeface="楷体" pitchFamily="49" charset="-122"/>
                  </a:rPr>
                  <a:t>x</a:t>
                </a:r>
                <a:r>
                  <a:rPr lang="zh-CN" altLang="en-US" dirty="0" smtClean="0">
                    <a:ea typeface="楷体" pitchFamily="49" charset="-122"/>
                  </a:rPr>
                  <a:t>则</a:t>
                </a:r>
                <a:r>
                  <a:rPr lang="en-US" altLang="zh-CN" dirty="0" smtClean="0">
                    <a:ea typeface="楷体" pitchFamily="49" charset="-122"/>
                  </a:rPr>
                  <a:t>B</a:t>
                </a:r>
                <a:r>
                  <a:rPr lang="zh-CN" altLang="en-US" dirty="0" smtClean="0">
                    <a:ea typeface="楷体" pitchFamily="49" charset="-122"/>
                  </a:rPr>
                  <a:t>必须取</a:t>
                </a:r>
                <a:r>
                  <a:rPr lang="en-US" altLang="zh-CN" dirty="0" smtClean="0">
                    <a:ea typeface="楷体" pitchFamily="49" charset="-122"/>
                  </a:rPr>
                  <a:t>y</a:t>
                </a:r>
                <a:r>
                  <a:rPr lang="zh-CN" altLang="en-US" dirty="0" smtClean="0">
                    <a:ea typeface="楷体" pitchFamily="49" charset="-122"/>
                  </a:rPr>
                  <a:t>”条件，从</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smtClean="0">
                            <a:latin typeface="Cambria Math" panose="02040503050406030204" pitchFamily="18" charset="0"/>
                          </a:rPr>
                          <m:t>A</m:t>
                        </m:r>
                      </m:e>
                      <m:sub>
                        <m:r>
                          <m:rPr>
                            <m:sty m:val="p"/>
                          </m:rPr>
                          <a:rPr lang="en-US" altLang="zh-CN" i="1" dirty="0" err="1" smtClean="0">
                            <a:latin typeface="Cambria Math" panose="02040503050406030204" pitchFamily="18" charset="0"/>
                          </a:rPr>
                          <m:t>x</m:t>
                        </m:r>
                      </m:sub>
                    </m:sSub>
                  </m:oMath>
                </a14:m>
                <a:r>
                  <a:rPr lang="zh-CN" altLang="en-US" dirty="0" smtClean="0">
                    <a:ea typeface="楷体" pitchFamily="49" charset="-122"/>
                  </a:rPr>
                  <a:t>向</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𝐵</m:t>
                        </m:r>
                      </m:e>
                      <m:sub>
                        <m:r>
                          <m:rPr>
                            <m:sty m:val="p"/>
                          </m:rPr>
                          <a:rPr lang="en-US" altLang="zh-CN" b="0" i="0" dirty="0" smtClean="0">
                            <a:latin typeface="Cambria Math" panose="02040503050406030204" pitchFamily="18" charset="0"/>
                          </a:rPr>
                          <m:t>y</m:t>
                        </m:r>
                      </m:sub>
                    </m:sSub>
                  </m:oMath>
                </a14:m>
                <a:r>
                  <a:rPr lang="zh-CN" altLang="en-US" dirty="0" smtClean="0">
                    <a:ea typeface="楷体" pitchFamily="49" charset="-122"/>
                  </a:rPr>
                  <a:t>连</a:t>
                </a:r>
                <a:r>
                  <a:rPr lang="zh-CN" altLang="en-US" dirty="0">
                    <a:ea typeface="楷体" pitchFamily="49" charset="-122"/>
                  </a:rPr>
                  <a:t>一条</a:t>
                </a:r>
                <a:r>
                  <a:rPr lang="zh-CN" altLang="en-US" dirty="0" smtClean="0">
                    <a:ea typeface="楷体" pitchFamily="49" charset="-122"/>
                  </a:rPr>
                  <a:t>边</a:t>
                </a:r>
                <a:endParaRPr lang="en-US" altLang="zh-CN" dirty="0" smtClean="0">
                  <a:ea typeface="楷体" pitchFamily="49" charset="-122"/>
                </a:endParaRPr>
              </a:p>
              <a:p>
                <a:r>
                  <a:rPr lang="zh-CN" altLang="en-US" dirty="0" smtClean="0">
                    <a:ea typeface="楷体" pitchFamily="49" charset="-122"/>
                  </a:rPr>
                  <a:t>这样对于这张图中两个点的</a:t>
                </a:r>
                <a:r>
                  <a:rPr lang="en-US" altLang="zh-CN" dirty="0">
                    <a:ea typeface="楷体" pitchFamily="49" charset="-122"/>
                  </a:rPr>
                  <a:t>P</a:t>
                </a:r>
                <a:r>
                  <a:rPr lang="zh-CN" altLang="en-US" dirty="0" smtClean="0">
                    <a:ea typeface="楷体" pitchFamily="49" charset="-122"/>
                  </a:rPr>
                  <a:t>和</a:t>
                </a:r>
                <a:r>
                  <a:rPr lang="en-US" altLang="zh-CN" dirty="0" smtClean="0">
                    <a:ea typeface="楷体" pitchFamily="49" charset="-122"/>
                  </a:rPr>
                  <a:t>Q</a:t>
                </a:r>
                <a:r>
                  <a:rPr lang="zh-CN" altLang="en-US" dirty="0" smtClean="0">
                    <a:ea typeface="楷体" pitchFamily="49" charset="-122"/>
                  </a:rPr>
                  <a:t>，若</a:t>
                </a:r>
                <a:r>
                  <a:rPr lang="en-US" altLang="zh-CN" dirty="0" smtClean="0">
                    <a:ea typeface="楷体" pitchFamily="49" charset="-122"/>
                  </a:rPr>
                  <a:t>P</a:t>
                </a:r>
                <a:r>
                  <a:rPr lang="zh-CN" altLang="en-US" dirty="0" smtClean="0">
                    <a:ea typeface="楷体" pitchFamily="49" charset="-122"/>
                  </a:rPr>
                  <a:t>能到达</a:t>
                </a:r>
                <a:r>
                  <a:rPr lang="en-US" altLang="zh-CN" dirty="0" smtClean="0">
                    <a:ea typeface="楷体" pitchFamily="49" charset="-122"/>
                  </a:rPr>
                  <a:t>Q</a:t>
                </a:r>
                <a:r>
                  <a:rPr lang="zh-CN" altLang="en-US" dirty="0" smtClean="0">
                    <a:ea typeface="楷体" pitchFamily="49" charset="-122"/>
                  </a:rPr>
                  <a:t>，则代表“若</a:t>
                </a:r>
                <a:r>
                  <a:rPr lang="en-US" altLang="zh-CN" dirty="0" smtClean="0">
                    <a:ea typeface="楷体" pitchFamily="49" charset="-122"/>
                  </a:rPr>
                  <a:t>P</a:t>
                </a:r>
                <a:r>
                  <a:rPr lang="zh-CN" altLang="en-US" dirty="0" smtClean="0">
                    <a:ea typeface="楷体" pitchFamily="49" charset="-122"/>
                  </a:rPr>
                  <a:t>成立，则</a:t>
                </a:r>
                <a:r>
                  <a:rPr lang="en-US" altLang="zh-CN" dirty="0" smtClean="0">
                    <a:ea typeface="楷体" pitchFamily="49" charset="-122"/>
                  </a:rPr>
                  <a:t>Q</a:t>
                </a:r>
                <a:r>
                  <a:rPr lang="zh-CN" altLang="en-US" dirty="0" smtClean="0">
                    <a:ea typeface="楷体" pitchFamily="49" charset="-122"/>
                  </a:rPr>
                  <a:t>一定成立”</a:t>
                </a:r>
                <a:endParaRPr lang="en-US" altLang="zh-CN" dirty="0" smtClean="0">
                  <a:ea typeface="楷体" pitchFamily="49" charset="-122"/>
                </a:endParaRPr>
              </a:p>
              <a:p>
                <a:r>
                  <a:rPr lang="zh-CN" altLang="en-US" dirty="0" smtClean="0">
                    <a:ea typeface="楷体" pitchFamily="49" charset="-122"/>
                  </a:rPr>
                  <a:t>那么我们显然知道，如果出现</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dirty="0">
                            <a:latin typeface="Cambria Math" panose="02040503050406030204" pitchFamily="18" charset="0"/>
                          </a:rPr>
                          <m:t>0</m:t>
                        </m:r>
                      </m:sub>
                    </m:sSub>
                  </m:oMath>
                </a14:m>
                <a:r>
                  <a:rPr lang="zh-CN" altLang="en-US" dirty="0" smtClean="0">
                    <a:ea typeface="楷体" pitchFamily="49" charset="-122"/>
                  </a:rPr>
                  <a:t>能到达</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1" dirty="0" smtClean="0">
                            <a:latin typeface="Cambria Math" panose="02040503050406030204" pitchFamily="18" charset="0"/>
                          </a:rPr>
                          <m:t>1</m:t>
                        </m:r>
                      </m:sub>
                    </m:sSub>
                  </m:oMath>
                </a14:m>
                <a:r>
                  <a:rPr lang="zh-CN" altLang="en-US" dirty="0" smtClean="0">
                    <a:ea typeface="楷体" pitchFamily="49" charset="-122"/>
                  </a:rPr>
                  <a:t>且</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oMath>
                </a14:m>
                <a:r>
                  <a:rPr lang="zh-CN" altLang="en-US" dirty="0" smtClean="0">
                    <a:ea typeface="楷体" pitchFamily="49" charset="-122"/>
                  </a:rPr>
                  <a:t>能到达</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dirty="0">
                            <a:latin typeface="Cambria Math" panose="02040503050406030204" pitchFamily="18" charset="0"/>
                          </a:rPr>
                          <m:t>0</m:t>
                        </m:r>
                      </m:sub>
                    </m:sSub>
                  </m:oMath>
                </a14:m>
                <a:r>
                  <a:rPr lang="zh-CN" altLang="en-US" dirty="0" smtClean="0">
                    <a:ea typeface="楷体" pitchFamily="49" charset="-122"/>
                  </a:rPr>
                  <a:t>，则矛盾</a:t>
                </a:r>
                <a:endParaRPr lang="en-US" altLang="zh-CN" dirty="0" smtClean="0">
                  <a:ea typeface="楷体" pitchFamily="49" charset="-122"/>
                </a:endParaRPr>
              </a:p>
              <a:p>
                <a:r>
                  <a:rPr lang="zh-CN" altLang="en-US" dirty="0">
                    <a:ea typeface="楷体" pitchFamily="49" charset="-122"/>
                  </a:rPr>
                  <a:t>这一步的</a:t>
                </a:r>
                <a:r>
                  <a:rPr lang="zh-CN" altLang="en-US" dirty="0" smtClean="0">
                    <a:ea typeface="楷体" pitchFamily="49" charset="-122"/>
                  </a:rPr>
                  <a:t>检验我们可以用</a:t>
                </a:r>
                <a:r>
                  <a:rPr lang="en-US" altLang="zh-CN" dirty="0" err="1" smtClean="0">
                    <a:ea typeface="楷体" pitchFamily="49" charset="-122"/>
                  </a:rPr>
                  <a:t>Tarjan</a:t>
                </a:r>
                <a:r>
                  <a:rPr lang="zh-CN" altLang="en-US" dirty="0" smtClean="0">
                    <a:ea typeface="楷体" pitchFamily="49" charset="-122"/>
                  </a:rPr>
                  <a:t>求强连通分量，</a:t>
                </a:r>
                <a:r>
                  <a:rPr lang="en-US" altLang="zh-CN" dirty="0" smtClean="0">
                    <a:ea typeface="楷体" pitchFamily="49" charset="-122"/>
                  </a:rPr>
                  <a:t>O(N)</a:t>
                </a:r>
                <a:r>
                  <a:rPr lang="zh-CN" altLang="en-US" dirty="0" smtClean="0">
                    <a:ea typeface="楷体" pitchFamily="49" charset="-122"/>
                  </a:rPr>
                  <a:t>解决</a:t>
                </a:r>
                <a:endParaRPr lang="en-US" altLang="zh-CN" dirty="0" smtClean="0">
                  <a:ea typeface="楷体" pitchFamily="49" charset="-122"/>
                </a:endParaRPr>
              </a:p>
              <a:p>
                <a:r>
                  <a:rPr lang="zh-CN" altLang="en-US" dirty="0">
                    <a:ea typeface="楷体" pitchFamily="49" charset="-122"/>
                  </a:rPr>
                  <a:t>如果</a:t>
                </a:r>
                <a:r>
                  <a:rPr lang="zh-CN" altLang="en-US" dirty="0" smtClean="0">
                    <a:ea typeface="楷体" pitchFamily="49" charset="-122"/>
                  </a:rPr>
                  <a:t>没有这种情况出现，我们断言必定存在一种合法方案</a:t>
                </a:r>
                <a:endParaRPr lang="en-US" altLang="zh-CN" dirty="0" smtClean="0">
                  <a:ea typeface="楷体" pitchFamily="49" charset="-122"/>
                </a:endParaRPr>
              </a:p>
              <a:p>
                <a:r>
                  <a:rPr lang="zh-CN" altLang="en-US" dirty="0" smtClean="0">
                    <a:ea typeface="楷体" pitchFamily="49" charset="-122"/>
                  </a:rPr>
                  <a:t>证明？如下：</a:t>
                </a:r>
                <a:endParaRPr lang="en-US" altLang="zh-CN" dirty="0" smtClean="0">
                  <a:ea typeface="楷体" pitchFamily="49" charset="-122"/>
                </a:endParaRPr>
              </a:p>
            </p:txBody>
          </p:sp>
        </mc:Choice>
        <mc:Fallback xmlns="">
          <p:sp>
            <p:nvSpPr>
              <p:cNvPr id="15363" name="文本占位符 15362"/>
              <p:cNvSpPr>
                <a:spLocks noGrp="1" noRot="1" noChangeAspect="1" noMove="1" noResize="1" noEditPoints="1" noAdjustHandles="1" noChangeArrowheads="1" noChangeShapeType="1" noTextEdit="1"/>
              </p:cNvSpPr>
              <p:nvPr>
                <p:ph type="body" idx="1"/>
              </p:nvPr>
            </p:nvSpPr>
            <p:spPr>
              <a:blipFill>
                <a:blip r:embed="rId2"/>
                <a:stretch>
                  <a:fillRect l="-1043" t="-2941"/>
                </a:stretch>
              </a:blipFill>
              <a:ln/>
            </p:spPr>
            <p:txBody>
              <a:bodyPr/>
              <a:lstStyle/>
              <a:p>
                <a:r>
                  <a:rPr lang="zh-CN" altLang="en-US">
                    <a:noFill/>
                  </a:rPr>
                  <a:t> </a:t>
                </a:r>
              </a:p>
            </p:txBody>
          </p:sp>
        </mc:Fallback>
      </mc:AlternateContent>
    </p:spTree>
    <p:extLst>
      <p:ext uri="{BB962C8B-B14F-4D97-AF65-F5344CB8AC3E}">
        <p14:creationId xmlns:p14="http://schemas.microsoft.com/office/powerpoint/2010/main" val="266258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fade">
                                      <p:cBhvr>
                                        <p:cTn id="17" dur="500"/>
                                        <p:tgtEl>
                                          <p:spTgt spid="153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fade">
                                      <p:cBhvr>
                                        <p:cTn id="22" dur="500"/>
                                        <p:tgtEl>
                                          <p:spTgt spid="153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363">
                                            <p:txEl>
                                              <p:pRg st="4" end="4"/>
                                            </p:txEl>
                                          </p:spTgt>
                                        </p:tgtEl>
                                        <p:attrNameLst>
                                          <p:attrName>style.visibility</p:attrName>
                                        </p:attrNameLst>
                                      </p:cBhvr>
                                      <p:to>
                                        <p:strVal val="visible"/>
                                      </p:to>
                                    </p:set>
                                    <p:animEffect transition="in" filter="fade">
                                      <p:cBhvr>
                                        <p:cTn id="27" dur="500"/>
                                        <p:tgtEl>
                                          <p:spTgt spid="153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363">
                                            <p:txEl>
                                              <p:pRg st="5" end="5"/>
                                            </p:txEl>
                                          </p:spTgt>
                                        </p:tgtEl>
                                        <p:attrNameLst>
                                          <p:attrName>style.visibility</p:attrName>
                                        </p:attrNameLst>
                                      </p:cBhvr>
                                      <p:to>
                                        <p:strVal val="visible"/>
                                      </p:to>
                                    </p:set>
                                    <p:animEffect transition="in" filter="fade">
                                      <p:cBhvr>
                                        <p:cTn id="32" dur="500"/>
                                        <p:tgtEl>
                                          <p:spTgt spid="15363">
                                            <p:txEl>
                                              <p:pRg st="5" end="5"/>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5363">
                                            <p:txEl>
                                              <p:pRg st="6" end="6"/>
                                            </p:txEl>
                                          </p:spTgt>
                                        </p:tgtEl>
                                        <p:attrNameLst>
                                          <p:attrName>style.visibility</p:attrName>
                                        </p:attrNameLst>
                                      </p:cBhvr>
                                      <p:to>
                                        <p:strVal val="visible"/>
                                      </p:to>
                                    </p:set>
                                    <p:animEffect transition="in" filter="fade">
                                      <p:cBhvr>
                                        <p:cTn id="35" dur="500"/>
                                        <p:tgtEl>
                                          <p:spTgt spid="153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证明</a:t>
            </a:r>
            <a:endParaRPr lang="zh-CN" altLang="en-US" b="1" dirty="0">
              <a:latin typeface="楷体" pitchFamily="49" charset="-122"/>
              <a:ea typeface="楷体" pitchFamily="49" charset="-122"/>
            </a:endParaRPr>
          </a:p>
        </p:txBody>
      </p:sp>
      <mc:AlternateContent xmlns:mc="http://schemas.openxmlformats.org/markup-compatibility/2006">
        <mc:Choice xmlns:a14="http://schemas.microsoft.com/office/drawing/2010/main" Requires="a14">
          <p:sp>
            <p:nvSpPr>
              <p:cNvPr id="15363" name="文本占位符 15362"/>
              <p:cNvSpPr>
                <a:spLocks noGrp="1"/>
              </p:cNvSpPr>
              <p:nvPr>
                <p:ph type="body" idx="1"/>
              </p:nvPr>
            </p:nvSpPr>
            <p:spPr>
              <a:xfrm>
                <a:off x="838200" y="1825625"/>
                <a:ext cx="10515600" cy="4877100"/>
              </a:xfrm>
              <a:ln/>
            </p:spPr>
            <p:txBody>
              <a:bodyPr>
                <a:normAutofit/>
              </a:bodyPr>
              <a:lstStyle/>
              <a:p>
                <a:r>
                  <a:rPr lang="zh-CN" altLang="en-US" dirty="0" smtClean="0">
                    <a:ea typeface="楷体" pitchFamily="49" charset="-122"/>
                  </a:rPr>
                  <a:t>我们</a:t>
                </a:r>
                <a:r>
                  <a:rPr lang="zh-CN" altLang="en-US" dirty="0" smtClean="0">
                    <a:ea typeface="楷体" pitchFamily="49" charset="-122"/>
                  </a:rPr>
                  <a:t>构造一种这样的方案：缩点之后按照</a:t>
                </a:r>
                <a:r>
                  <a:rPr lang="en-US" altLang="zh-CN" dirty="0" smtClean="0">
                    <a:ea typeface="楷体" pitchFamily="49" charset="-122"/>
                  </a:rPr>
                  <a:t>”</a:t>
                </a:r>
                <a:r>
                  <a:rPr lang="zh-CN" altLang="en-US" dirty="0" smtClean="0">
                    <a:ea typeface="楷体" pitchFamily="49" charset="-122"/>
                  </a:rPr>
                  <a:t>逆拓扑序</a:t>
                </a:r>
                <a:r>
                  <a:rPr lang="en-US" altLang="zh-CN" dirty="0" smtClean="0">
                    <a:ea typeface="楷体" pitchFamily="49" charset="-122"/>
                  </a:rPr>
                  <a:t>”</a:t>
                </a:r>
                <a:r>
                  <a:rPr lang="zh-CN" altLang="en-US" dirty="0" smtClean="0">
                    <a:ea typeface="楷体" pitchFamily="49" charset="-122"/>
                  </a:rPr>
                  <a:t>挑选一个未被染色的强连通分量将其染成黑色，然后把所有与这个强连通分量里的点矛盾的点所在的强连通分量全部染成白色。最后所有染成黑色的强连通分量里的点就是选择的方案</a:t>
                </a:r>
                <a:endParaRPr lang="en-US" altLang="zh-CN" dirty="0" smtClean="0">
                  <a:ea typeface="楷体" pitchFamily="49" charset="-122"/>
                </a:endParaRPr>
              </a:p>
              <a:p>
                <a:r>
                  <a:rPr lang="zh-CN" altLang="en-US" dirty="0">
                    <a:ea typeface="楷体" pitchFamily="49" charset="-122"/>
                  </a:rPr>
                  <a:t>由于建出的图有对称性，即对于不同的点</a:t>
                </a:r>
                <a:r>
                  <a:rPr lang="en-US" altLang="zh-CN" dirty="0" err="1">
                    <a:ea typeface="楷体" pitchFamily="49" charset="-122"/>
                  </a:rPr>
                  <a:t>a,b</a:t>
                </a:r>
                <a:r>
                  <a:rPr lang="zh-CN" altLang="en-US" dirty="0">
                    <a:ea typeface="楷体" pitchFamily="49" charset="-122"/>
                  </a:rPr>
                  <a:t>，若存在边</a:t>
                </a:r>
                <a:r>
                  <a:rPr lang="en-US" altLang="zh-CN" dirty="0">
                    <a:ea typeface="楷体" pitchFamily="49" charset="-122"/>
                  </a:rPr>
                  <a:t>(</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dirty="0">
                            <a:latin typeface="Cambria Math" panose="02040503050406030204" pitchFamily="18" charset="0"/>
                          </a:rPr>
                          <m:t>0</m:t>
                        </m:r>
                      </m:sub>
                    </m:sSub>
                  </m:oMath>
                </a14:m>
                <a:r>
                  <a:rPr lang="en-US" altLang="zh-CN" dirty="0">
                    <a:ea typeface="楷体" pitchFamily="49" charset="-122"/>
                  </a:rPr>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b</m:t>
                        </m:r>
                      </m:e>
                      <m:sub>
                        <m:r>
                          <a:rPr lang="en-US" altLang="zh-CN" dirty="0">
                            <a:latin typeface="Cambria Math" panose="02040503050406030204" pitchFamily="18" charset="0"/>
                          </a:rPr>
                          <m:t>1</m:t>
                        </m:r>
                      </m:sub>
                    </m:sSub>
                  </m:oMath>
                </a14:m>
                <a:r>
                  <a:rPr lang="en-US" altLang="zh-CN" dirty="0">
                    <a:ea typeface="楷体" pitchFamily="49" charset="-122"/>
                  </a:rPr>
                  <a:t>)</a:t>
                </a:r>
                <a:r>
                  <a:rPr lang="zh-CN" altLang="en-US" dirty="0">
                    <a:ea typeface="楷体" pitchFamily="49" charset="-122"/>
                  </a:rPr>
                  <a:t>，则一定存在边</a:t>
                </a:r>
                <a:r>
                  <a:rPr lang="en-US" altLang="zh-CN" dirty="0">
                    <a:ea typeface="楷体" pitchFamily="49" charset="-122"/>
                  </a:rPr>
                  <a:t>(</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b</m:t>
                        </m:r>
                      </m:e>
                      <m:sub>
                        <m:r>
                          <a:rPr lang="en-US" altLang="zh-CN" dirty="0">
                            <a:latin typeface="Cambria Math" panose="02040503050406030204" pitchFamily="18" charset="0"/>
                          </a:rPr>
                          <m:t>0</m:t>
                        </m:r>
                      </m:sub>
                    </m:sSub>
                  </m:oMath>
                </a14:m>
                <a:r>
                  <a:rPr lang="en-US" altLang="zh-CN" dirty="0">
                    <a:ea typeface="楷体" pitchFamily="49" charset="-122"/>
                  </a:rPr>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a</m:t>
                        </m:r>
                      </m:e>
                      <m:sub>
                        <m:r>
                          <a:rPr lang="en-US" altLang="zh-CN" dirty="0">
                            <a:latin typeface="Cambria Math" panose="02040503050406030204" pitchFamily="18" charset="0"/>
                          </a:rPr>
                          <m:t>1</m:t>
                        </m:r>
                      </m:sub>
                    </m:sSub>
                  </m:oMath>
                </a14:m>
                <a:r>
                  <a:rPr lang="en-US" altLang="zh-CN" dirty="0">
                    <a:ea typeface="楷体" pitchFamily="49" charset="-122"/>
                  </a:rPr>
                  <a:t>)</a:t>
                </a:r>
                <a:r>
                  <a:rPr lang="zh-CN" altLang="en-US" dirty="0">
                    <a:ea typeface="楷体" pitchFamily="49" charset="-122"/>
                  </a:rPr>
                  <a:t>，则有图中的到达关系也存在对称性</a:t>
                </a:r>
                <a:r>
                  <a:rPr lang="en-US" altLang="zh-CN" dirty="0">
                    <a:ea typeface="楷体" pitchFamily="49" charset="-122"/>
                  </a:rPr>
                  <a:t>(</a:t>
                </a:r>
                <a:r>
                  <a:rPr lang="zh-CN" altLang="en-US" dirty="0">
                    <a:ea typeface="楷体" pitchFamily="49" charset="-122"/>
                  </a:rPr>
                  <a:t>形式与上面类似</a:t>
                </a:r>
                <a:r>
                  <a:rPr lang="en-US" altLang="zh-CN" dirty="0" smtClean="0">
                    <a:ea typeface="楷体" pitchFamily="49" charset="-122"/>
                  </a:rPr>
                  <a:t>)</a:t>
                </a:r>
              </a:p>
              <a:p>
                <a:r>
                  <a:rPr lang="zh-CN" altLang="en-US" dirty="0" smtClean="0">
                    <a:ea typeface="楷体" pitchFamily="49" charset="-122"/>
                  </a:rPr>
                  <a:t>当我们把</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dirty="0">
                            <a:latin typeface="Cambria Math" panose="02040503050406030204" pitchFamily="18" charset="0"/>
                          </a:rPr>
                          <m:t>0</m:t>
                        </m:r>
                      </m:sub>
                    </m:sSub>
                  </m:oMath>
                </a14:m>
                <a:r>
                  <a:rPr lang="zh-CN" altLang="en-US" dirty="0" smtClean="0">
                    <a:ea typeface="楷体" pitchFamily="49" charset="-122"/>
                  </a:rPr>
                  <a:t>染成黑色时，对应的</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oMath>
                </a14:m>
                <a:r>
                  <a:rPr lang="zh-CN" altLang="en-US" dirty="0" smtClean="0">
                    <a:ea typeface="楷体" pitchFamily="49" charset="-122"/>
                  </a:rPr>
                  <a:t>应被染成白色，此时意味着</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oMath>
                </a14:m>
                <a:r>
                  <a:rPr lang="zh-CN" altLang="en-US" dirty="0" smtClean="0">
                    <a:ea typeface="楷体" pitchFamily="49" charset="-122"/>
                  </a:rPr>
                  <a:t>的前代节点永远不能染成黑色了，而</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oMath>
                </a14:m>
                <a:r>
                  <a:rPr lang="zh-CN" altLang="en-US" dirty="0" smtClean="0">
                    <a:ea typeface="楷体" pitchFamily="49" charset="-122"/>
                  </a:rPr>
                  <a:t>的前代节点的对应相反结点正是</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dirty="0">
                            <a:latin typeface="Cambria Math" panose="02040503050406030204" pitchFamily="18" charset="0"/>
                          </a:rPr>
                          <m:t>0</m:t>
                        </m:r>
                      </m:sub>
                    </m:sSub>
                  </m:oMath>
                </a14:m>
                <a:r>
                  <a:rPr lang="zh-CN" altLang="en-US" dirty="0" smtClean="0">
                    <a:ea typeface="楷体" pitchFamily="49" charset="-122"/>
                  </a:rPr>
                  <a:t>的后代节点，他们已经全都是黑色了，所以不存在矛盾</a:t>
                </a:r>
                <a:endParaRPr lang="en-US" altLang="zh-CN" dirty="0" smtClean="0">
                  <a:ea typeface="楷体" pitchFamily="49" charset="-122"/>
                </a:endParaRPr>
              </a:p>
              <a:p>
                <a:r>
                  <a:rPr lang="zh-CN" altLang="en-US" dirty="0">
                    <a:ea typeface="楷体" pitchFamily="49" charset="-122"/>
                  </a:rPr>
                  <a:t>这也</a:t>
                </a:r>
                <a:r>
                  <a:rPr lang="zh-CN" altLang="en-US" dirty="0" smtClean="0">
                    <a:ea typeface="楷体" pitchFamily="49" charset="-122"/>
                  </a:rPr>
                  <a:t>是构造可行解的一种方式，时间复杂度</a:t>
                </a:r>
                <a:r>
                  <a:rPr lang="en-US" altLang="zh-CN" dirty="0" smtClean="0">
                    <a:ea typeface="楷体" pitchFamily="49" charset="-122"/>
                  </a:rPr>
                  <a:t>O(N+M)</a:t>
                </a:r>
              </a:p>
              <a:p>
                <a:endParaRPr lang="en-US" altLang="zh-CN" dirty="0" smtClean="0">
                  <a:ea typeface="楷体" pitchFamily="49" charset="-122"/>
                </a:endParaRPr>
              </a:p>
            </p:txBody>
          </p:sp>
        </mc:Choice>
        <mc:Fallback>
          <p:sp>
            <p:nvSpPr>
              <p:cNvPr id="15363" name="文本占位符 15362"/>
              <p:cNvSpPr>
                <a:spLocks noGrp="1" noRot="1" noChangeAspect="1" noMove="1" noResize="1" noEditPoints="1" noAdjustHandles="1" noChangeArrowheads="1" noChangeShapeType="1" noTextEdit="1"/>
              </p:cNvSpPr>
              <p:nvPr>
                <p:ph type="body" idx="1"/>
              </p:nvPr>
            </p:nvSpPr>
            <p:spPr>
              <a:xfrm>
                <a:off x="838200" y="1825625"/>
                <a:ext cx="10515600" cy="4877100"/>
              </a:xfrm>
              <a:blipFill>
                <a:blip r:embed="rId2"/>
                <a:stretch>
                  <a:fillRect l="-1043" t="-2622" r="-986"/>
                </a:stretch>
              </a:blipFill>
              <a:ln/>
            </p:spPr>
            <p:txBody>
              <a:bodyPr/>
              <a:lstStyle/>
              <a:p>
                <a:r>
                  <a:rPr lang="zh-CN" altLang="en-US">
                    <a:noFill/>
                  </a:rPr>
                  <a:t> </a:t>
                </a:r>
              </a:p>
            </p:txBody>
          </p:sp>
        </mc:Fallback>
      </mc:AlternateContent>
    </p:spTree>
    <p:extLst>
      <p:ext uri="{BB962C8B-B14F-4D97-AF65-F5344CB8AC3E}">
        <p14:creationId xmlns:p14="http://schemas.microsoft.com/office/powerpoint/2010/main" val="211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3" end="3"/>
                                            </p:txEl>
                                          </p:spTgt>
                                        </p:tgtEl>
                                        <p:attrNameLst>
                                          <p:attrName>style.visibility</p:attrName>
                                        </p:attrNameLst>
                                      </p:cBhvr>
                                      <p:to>
                                        <p:strVal val="visible"/>
                                      </p:to>
                                    </p:set>
                                    <p:animEffect transition="in" filter="fade">
                                      <p:cBhvr>
                                        <p:cTn id="7"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判定某个元素的取值是否确定</a:t>
            </a:r>
            <a:endParaRPr lang="zh-CN" altLang="en-US" b="1" dirty="0">
              <a:latin typeface="楷体" pitchFamily="49" charset="-122"/>
              <a:ea typeface="楷体" pitchFamily="49" charset="-122"/>
            </a:endParaRPr>
          </a:p>
        </p:txBody>
      </p:sp>
      <mc:AlternateContent xmlns:mc="http://schemas.openxmlformats.org/markup-compatibility/2006" xmlns:a14="http://schemas.microsoft.com/office/drawing/2010/main">
        <mc:Choice Requires="a14">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有的时候题目并不只是让你判定是否存在合法解，而是要求你判断某个元素的取值是否为定值</a:t>
                </a:r>
                <a:endParaRPr lang="en-US" altLang="zh-CN" dirty="0" smtClean="0">
                  <a:ea typeface="楷体" pitchFamily="49" charset="-122"/>
                </a:endParaRPr>
              </a:p>
              <a:p>
                <a:r>
                  <a:rPr lang="zh-CN" altLang="en-US" dirty="0" smtClean="0">
                    <a:ea typeface="楷体" pitchFamily="49" charset="-122"/>
                  </a:rPr>
                  <a:t>若</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dirty="0">
                            <a:latin typeface="Cambria Math" panose="02040503050406030204" pitchFamily="18" charset="0"/>
                          </a:rPr>
                          <m:t>0</m:t>
                        </m:r>
                      </m:sub>
                    </m:sSub>
                  </m:oMath>
                </a14:m>
                <a:r>
                  <a:rPr lang="zh-CN" altLang="en-US" dirty="0" smtClean="0">
                    <a:ea typeface="楷体" pitchFamily="49" charset="-122"/>
                  </a:rPr>
                  <a:t>是</a:t>
                </a:r>
                <a:r>
                  <a:rPr lang="zh-CN" altLang="en-US" dirty="0">
                    <a:ea typeface="楷体" pitchFamily="49" charset="-122"/>
                  </a:rPr>
                  <a:t>可</a:t>
                </a:r>
                <a:r>
                  <a:rPr lang="zh-CN" altLang="en-US" dirty="0" smtClean="0">
                    <a:ea typeface="楷体" pitchFamily="49" charset="-122"/>
                  </a:rPr>
                  <a:t>选的，则在图中加入</a:t>
                </a:r>
                <a:r>
                  <a:rPr lang="en-US" altLang="zh-CN" dirty="0" smtClean="0">
                    <a:ea typeface="楷体" pitchFamily="49" charset="-122"/>
                  </a:rPr>
                  <a:t>(</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dirty="0">
                            <a:latin typeface="Cambria Math" panose="02040503050406030204" pitchFamily="18" charset="0"/>
                          </a:rPr>
                          <m:t>0</m:t>
                        </m:r>
                      </m:sub>
                    </m:sSub>
                  </m:oMath>
                </a14:m>
                <a:r>
                  <a:rPr lang="en-US" altLang="zh-CN" dirty="0" smtClean="0">
                    <a:ea typeface="楷体" pitchFamily="49" charset="-122"/>
                  </a:rPr>
                  <a:t>)</a:t>
                </a:r>
                <a:r>
                  <a:rPr lang="zh-CN" altLang="en-US" dirty="0" smtClean="0">
                    <a:ea typeface="楷体" pitchFamily="49" charset="-122"/>
                  </a:rPr>
                  <a:t>这条边后，应该仍然合法</a:t>
                </a:r>
                <a:endParaRPr lang="en-US" altLang="zh-CN" dirty="0" smtClean="0">
                  <a:ea typeface="楷体" pitchFamily="49" charset="-122"/>
                </a:endParaRPr>
              </a:p>
              <a:p>
                <a:r>
                  <a:rPr lang="zh-CN" altLang="en-US" dirty="0">
                    <a:ea typeface="楷体" pitchFamily="49" charset="-122"/>
                  </a:rPr>
                  <a:t>若</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oMath>
                </a14:m>
                <a:r>
                  <a:rPr lang="zh-CN" altLang="en-US" dirty="0">
                    <a:ea typeface="楷体" pitchFamily="49" charset="-122"/>
                  </a:rPr>
                  <a:t>是可选的，则在图中加入</a:t>
                </a:r>
                <a:r>
                  <a:rPr lang="en-US" altLang="zh-CN" dirty="0">
                    <a:ea typeface="楷体" pitchFamily="49" charset="-122"/>
                  </a:rPr>
                  <a:t>(</a:t>
                </a:r>
                <a14:m>
                  <m:oMath xmlns:m="http://schemas.openxmlformats.org/officeDocument/2006/math">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0</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err="1">
                            <a:latin typeface="Cambria Math" panose="02040503050406030204" pitchFamily="18" charset="0"/>
                          </a:rPr>
                          <m:t>𝑎</m:t>
                        </m:r>
                      </m:e>
                      <m:sub>
                        <m:r>
                          <a:rPr lang="en-US" altLang="zh-CN" b="0" i="0" dirty="0" smtClean="0">
                            <a:latin typeface="Cambria Math" panose="02040503050406030204" pitchFamily="18" charset="0"/>
                          </a:rPr>
                          <m:t>1</m:t>
                        </m:r>
                      </m:sub>
                    </m:sSub>
                  </m:oMath>
                </a14:m>
                <a:r>
                  <a:rPr lang="en-US" altLang="zh-CN" dirty="0">
                    <a:ea typeface="楷体" pitchFamily="49" charset="-122"/>
                  </a:rPr>
                  <a:t>)</a:t>
                </a:r>
                <a:r>
                  <a:rPr lang="zh-CN" altLang="en-US" dirty="0">
                    <a:ea typeface="楷体" pitchFamily="49" charset="-122"/>
                  </a:rPr>
                  <a:t>这条边后，应该仍然合法</a:t>
                </a:r>
                <a:endParaRPr lang="en-US" altLang="zh-CN" dirty="0">
                  <a:ea typeface="楷体" pitchFamily="49" charset="-122"/>
                </a:endParaRPr>
              </a:p>
              <a:p>
                <a:r>
                  <a:rPr lang="zh-CN" altLang="en-US" dirty="0" smtClean="0">
                    <a:ea typeface="楷体" pitchFamily="49" charset="-122"/>
                  </a:rPr>
                  <a:t>若二者皆合法，则这个元素的取值是不确定的</a:t>
                </a:r>
                <a:endParaRPr lang="en-US" altLang="zh-CN" dirty="0">
                  <a:ea typeface="楷体" pitchFamily="49" charset="-122"/>
                </a:endParaRPr>
              </a:p>
            </p:txBody>
          </p:sp>
        </mc:Choice>
        <mc:Fallback xmlns="">
          <p:sp>
            <p:nvSpPr>
              <p:cNvPr id="15363" name="文本占位符 15362"/>
              <p:cNvSpPr>
                <a:spLocks noGrp="1" noRot="1" noChangeAspect="1" noMove="1" noResize="1" noEditPoints="1" noAdjustHandles="1" noChangeArrowheads="1" noChangeShapeType="1" noTextEdit="1"/>
              </p:cNvSpPr>
              <p:nvPr>
                <p:ph type="body" idx="1"/>
              </p:nvPr>
            </p:nvSpPr>
            <p:spPr>
              <a:blipFill>
                <a:blip r:embed="rId2"/>
                <a:stretch>
                  <a:fillRect l="-1043" t="-2381"/>
                </a:stretch>
              </a:blipFill>
              <a:ln/>
            </p:spPr>
            <p:txBody>
              <a:bodyPr/>
              <a:lstStyle/>
              <a:p>
                <a:r>
                  <a:rPr lang="zh-CN" altLang="en-US">
                    <a:noFill/>
                  </a:rPr>
                  <a:t> </a:t>
                </a:r>
              </a:p>
            </p:txBody>
          </p:sp>
        </mc:Fallback>
      </mc:AlternateContent>
    </p:spTree>
    <p:extLst>
      <p:ext uri="{BB962C8B-B14F-4D97-AF65-F5344CB8AC3E}">
        <p14:creationId xmlns:p14="http://schemas.microsoft.com/office/powerpoint/2010/main" val="337368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fade">
                                      <p:cBhvr>
                                        <p:cTn id="17" dur="500"/>
                                        <p:tgtEl>
                                          <p:spTgt spid="153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fade">
                                      <p:cBhvr>
                                        <p:cTn id="22"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基于上一个方法的另一种求可行解的方法</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a:ea typeface="楷体" pitchFamily="49" charset="-122"/>
              </a:rPr>
              <a:t>我们</a:t>
            </a:r>
            <a:r>
              <a:rPr lang="zh-CN" altLang="en-US" dirty="0" smtClean="0">
                <a:ea typeface="楷体" pitchFamily="49" charset="-122"/>
              </a:rPr>
              <a:t>可以从</a:t>
            </a:r>
            <a:r>
              <a:rPr lang="en-US" altLang="zh-CN" dirty="0" smtClean="0">
                <a:ea typeface="楷体" pitchFamily="49" charset="-122"/>
              </a:rPr>
              <a:t>1</a:t>
            </a:r>
            <a:r>
              <a:rPr lang="zh-CN" altLang="en-US" dirty="0" smtClean="0">
                <a:ea typeface="楷体" pitchFamily="49" charset="-122"/>
              </a:rPr>
              <a:t>到</a:t>
            </a:r>
            <a:r>
              <a:rPr lang="en-US" altLang="zh-CN" dirty="0" smtClean="0">
                <a:ea typeface="楷体" pitchFamily="49" charset="-122"/>
              </a:rPr>
              <a:t>n</a:t>
            </a:r>
            <a:r>
              <a:rPr lang="zh-CN" altLang="en-US" dirty="0" smtClean="0">
                <a:ea typeface="楷体" pitchFamily="49" charset="-122"/>
              </a:rPr>
              <a:t>枚举元素，再枚举取值，如果这种取值是合法的，就继续下去，否则就取另外一种取值，然后继续下去</a:t>
            </a:r>
            <a:endParaRPr lang="en-US" altLang="zh-CN" dirty="0" smtClean="0">
              <a:ea typeface="楷体" pitchFamily="49" charset="-122"/>
            </a:endParaRPr>
          </a:p>
          <a:p>
            <a:r>
              <a:rPr lang="zh-CN" altLang="en-US" dirty="0" smtClean="0">
                <a:ea typeface="楷体" pitchFamily="49" charset="-122"/>
              </a:rPr>
              <a:t>由于是否合法可以及时判断，所以没有回溯的过程，时间复杂度是</a:t>
            </a:r>
            <a:r>
              <a:rPr lang="en-US" altLang="zh-CN" dirty="0" smtClean="0">
                <a:ea typeface="楷体" pitchFamily="49" charset="-122"/>
              </a:rPr>
              <a:t>O(NM)</a:t>
            </a:r>
            <a:r>
              <a:rPr lang="zh-CN" altLang="en-US" dirty="0" smtClean="0">
                <a:ea typeface="楷体" pitchFamily="49" charset="-122"/>
              </a:rPr>
              <a:t>的</a:t>
            </a:r>
            <a:r>
              <a:rPr lang="en-US" altLang="zh-CN" dirty="0" smtClean="0">
                <a:ea typeface="楷体" pitchFamily="49" charset="-122"/>
              </a:rPr>
              <a:t>······</a:t>
            </a:r>
          </a:p>
          <a:p>
            <a:r>
              <a:rPr lang="zh-CN" altLang="en-US" dirty="0" smtClean="0">
                <a:ea typeface="楷体" pitchFamily="49" charset="-122"/>
              </a:rPr>
              <a:t>但是他可以用来求字典序最小的可行解</a:t>
            </a:r>
            <a:endParaRPr lang="en-US" altLang="zh-CN" dirty="0" smtClean="0">
              <a:ea typeface="楷体" pitchFamily="49" charset="-122"/>
            </a:endParaRPr>
          </a:p>
        </p:txBody>
      </p:sp>
    </p:spTree>
    <p:extLst>
      <p:ext uri="{BB962C8B-B14F-4D97-AF65-F5344CB8AC3E}">
        <p14:creationId xmlns:p14="http://schemas.microsoft.com/office/powerpoint/2010/main" val="352131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fade">
                                      <p:cBhvr>
                                        <p:cTn id="7" dur="500"/>
                                        <p:tgtEl>
                                          <p:spTgt spid="1536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fade">
                                      <p:cBhvr>
                                        <p:cTn id="10" dur="500"/>
                                        <p:tgtEl>
                                          <p:spTgt spid="1536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Effect transition="in" filter="fade">
                                      <p:cBhvr>
                                        <p:cTn id="15"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两道裸题</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en-US" altLang="zh-CN" b="1" dirty="0" smtClean="0"/>
              <a:t>[JSOI2010</a:t>
            </a:r>
            <a:r>
              <a:rPr lang="en-US" altLang="zh-CN" b="1" dirty="0"/>
              <a:t>]</a:t>
            </a:r>
            <a:r>
              <a:rPr lang="zh-CN" altLang="en-US" b="1" dirty="0" smtClean="0"/>
              <a:t>满汉全席</a:t>
            </a:r>
            <a:endParaRPr lang="en-US" altLang="zh-CN" b="1" dirty="0" smtClean="0"/>
          </a:p>
          <a:p>
            <a:r>
              <a:rPr lang="en-US" altLang="zh-CN" b="1" dirty="0">
                <a:ea typeface="楷体" pitchFamily="49" charset="-122"/>
              </a:rPr>
              <a:t>[Usaco2011 Jan]</a:t>
            </a:r>
            <a:r>
              <a:rPr lang="zh-CN" altLang="en-US" b="1" dirty="0">
                <a:ea typeface="楷体" pitchFamily="49" charset="-122"/>
              </a:rPr>
              <a:t>奶牛</a:t>
            </a:r>
            <a:r>
              <a:rPr lang="zh-CN" altLang="en-US" b="1" dirty="0" smtClean="0">
                <a:ea typeface="楷体" pitchFamily="49" charset="-122"/>
              </a:rPr>
              <a:t>议会</a:t>
            </a:r>
            <a:endParaRPr lang="en-US" altLang="zh-CN" b="1" dirty="0" smtClean="0">
              <a:ea typeface="楷体" pitchFamily="49" charset="-122"/>
            </a:endParaRPr>
          </a:p>
          <a:p>
            <a:endParaRPr lang="en-US" altLang="zh-CN" b="1" dirty="0" smtClean="0">
              <a:ea typeface="楷体" pitchFamily="49" charset="-122"/>
            </a:endParaRPr>
          </a:p>
        </p:txBody>
      </p:sp>
    </p:spTree>
    <p:extLst>
      <p:ext uri="{BB962C8B-B14F-4D97-AF65-F5344CB8AC3E}">
        <p14:creationId xmlns:p14="http://schemas.microsoft.com/office/powerpoint/2010/main" val="120015123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17585" y="2674188"/>
            <a:ext cx="10239555" cy="1569660"/>
          </a:xfrm>
          <a:prstGeom prst="rect">
            <a:avLst/>
          </a:prstGeom>
          <a:noFill/>
        </p:spPr>
        <p:txBody>
          <a:bodyPr wrap="square" lIns="91440" tIns="45720" rIns="91440" bIns="45720">
            <a:spAutoFit/>
          </a:bodyPr>
          <a:lstStyle/>
          <a:p>
            <a:pPr algn="ctr"/>
            <a:r>
              <a:rPr lang="zh-CN" altLang="en-US" sz="9600" b="1" cap="none" spc="0"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谢谢大家</a:t>
            </a:r>
            <a:endParaRPr lang="zh-CN" altLang="en-US" sz="96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Tree>
    <p:extLst>
      <p:ext uri="{BB962C8B-B14F-4D97-AF65-F5344CB8AC3E}">
        <p14:creationId xmlns:p14="http://schemas.microsoft.com/office/powerpoint/2010/main" val="40224344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en-US" altLang="zh-CN" b="1" dirty="0">
                <a:latin typeface="楷体" pitchFamily="49" charset="-122"/>
                <a:ea typeface="楷体" pitchFamily="49" charset="-122"/>
              </a:rPr>
              <a:t>[Poi2011]Conspiracy</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xfrm>
            <a:off x="838200" y="1635843"/>
            <a:ext cx="10515600" cy="5222157"/>
          </a:xfrm>
          <a:ln/>
        </p:spPr>
        <p:txBody>
          <a:bodyPr>
            <a:normAutofit/>
          </a:bodyPr>
          <a:lstStyle/>
          <a:p>
            <a:r>
              <a:rPr lang="en-US" altLang="zh-CN" dirty="0" err="1">
                <a:latin typeface="楷体" panose="02010609060101010101" pitchFamily="49" charset="-122"/>
                <a:ea typeface="楷体" panose="02010609060101010101" pitchFamily="49" charset="-122"/>
              </a:rPr>
              <a:t>Byteotia</a:t>
            </a:r>
            <a:r>
              <a:rPr lang="zh-CN" altLang="en-US" dirty="0">
                <a:latin typeface="楷体" panose="02010609060101010101" pitchFamily="49" charset="-122"/>
                <a:ea typeface="楷体" panose="02010609060101010101" pitchFamily="49" charset="-122"/>
              </a:rPr>
              <a:t>的领土被占领了，国王</a:t>
            </a:r>
            <a:r>
              <a:rPr lang="en-US" altLang="zh-CN" dirty="0" err="1">
                <a:latin typeface="楷体" panose="02010609060101010101" pitchFamily="49" charset="-122"/>
                <a:ea typeface="楷体" panose="02010609060101010101" pitchFamily="49" charset="-122"/>
              </a:rPr>
              <a:t>Byteasar</a:t>
            </a:r>
            <a:r>
              <a:rPr lang="zh-CN" altLang="en-US" dirty="0">
                <a:latin typeface="楷体" panose="02010609060101010101" pitchFamily="49" charset="-122"/>
                <a:ea typeface="楷体" panose="02010609060101010101" pitchFamily="49" charset="-122"/>
              </a:rPr>
              <a:t>正在打算组织秘密抵抗运动。国王需要选一些人来进行这场运动，而这些人被分为两部分：一部分成为同谋者活动在被占领区域，另一部分是后勤组织在未被占领的领土上运转</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但是</a:t>
            </a:r>
            <a:r>
              <a:rPr lang="zh-CN" altLang="en-US" dirty="0">
                <a:latin typeface="楷体" panose="02010609060101010101" pitchFamily="49" charset="-122"/>
                <a:ea typeface="楷体" panose="02010609060101010101" pitchFamily="49" charset="-122"/>
              </a:rPr>
              <a:t>这里出现了一个问题： </a:t>
            </a:r>
            <a:r>
              <a:rPr lang="en-US" altLang="zh-CN"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后勤组织里的任意两人都必须是熟人，以促进合作和提高工作效率。 </a:t>
            </a:r>
            <a:r>
              <a:rPr lang="en-US" altLang="zh-CN"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同谋者的团体中任意两人都不能是熟人。 </a:t>
            </a:r>
            <a:r>
              <a:rPr lang="en-US" altLang="zh-CN" dirty="0">
                <a:latin typeface="楷体" panose="02010609060101010101" pitchFamily="49" charset="-122"/>
                <a:ea typeface="楷体" panose="02010609060101010101" pitchFamily="49" charset="-122"/>
              </a:rPr>
              <a:t>3. </a:t>
            </a:r>
            <a:r>
              <a:rPr lang="zh-CN" altLang="en-US" dirty="0">
                <a:latin typeface="楷体" panose="02010609060101010101" pitchFamily="49" charset="-122"/>
                <a:ea typeface="楷体" panose="02010609060101010101" pitchFamily="49" charset="-122"/>
              </a:rPr>
              <a:t>每一部分都至少要有一个人</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国王</a:t>
            </a:r>
            <a:r>
              <a:rPr lang="zh-CN" altLang="en-US" dirty="0">
                <a:latin typeface="楷体" panose="02010609060101010101" pitchFamily="49" charset="-122"/>
                <a:ea typeface="楷体" panose="02010609060101010101" pitchFamily="49" charset="-122"/>
              </a:rPr>
              <a:t>想知道有多少种分配方案满足以上条件，当然也有可能不存在合理方案。现在国王将这个问题交由你来解决</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zh-CN" altLang="en-US" dirty="0" smtClean="0">
                <a:latin typeface="楷体" panose="02010609060101010101" pitchFamily="49" charset="-122"/>
                <a:ea typeface="楷体" panose="02010609060101010101" pitchFamily="49" charset="-122"/>
              </a:rPr>
              <a:t>题解</a:t>
            </a:r>
            <a:r>
              <a:rPr lang="en-US" altLang="zh-CN" dirty="0" smtClean="0">
                <a:latin typeface="楷体" panose="02010609060101010101" pitchFamily="49" charset="-122"/>
                <a:ea typeface="楷体" panose="02010609060101010101" pitchFamily="49" charset="-122"/>
              </a:rPr>
              <a:t>http</a:t>
            </a:r>
            <a:r>
              <a:rPr lang="en-US" altLang="zh-CN" dirty="0">
                <a:latin typeface="楷体" panose="02010609060101010101" pitchFamily="49" charset="-122"/>
                <a:ea typeface="楷体" panose="02010609060101010101" pitchFamily="49" charset="-122"/>
              </a:rPr>
              <a:t>://blog.csdn.net/commonc/article/details/52310981</a:t>
            </a:r>
            <a:endParaRPr lang="en-US" altLang="zh-CN" dirty="0" smtClean="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198347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en-US" altLang="zh-CN" b="1" dirty="0" err="1" smtClean="0">
                <a:latin typeface="楷体" pitchFamily="49" charset="-122"/>
                <a:ea typeface="楷体" pitchFamily="49" charset="-122"/>
              </a:rPr>
              <a:t>Kosaraju</a:t>
            </a:r>
            <a:r>
              <a:rPr lang="zh-CN" altLang="en-US" b="1" dirty="0" smtClean="0">
                <a:latin typeface="楷体" pitchFamily="49" charset="-122"/>
                <a:ea typeface="楷体" pitchFamily="49" charset="-122"/>
              </a:rPr>
              <a:t>算法</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en-US" altLang="zh-CN" dirty="0" err="1">
                <a:latin typeface="楷体" pitchFamily="49" charset="-122"/>
                <a:ea typeface="楷体" pitchFamily="49" charset="-122"/>
              </a:rPr>
              <a:t>Kosaraju</a:t>
            </a:r>
            <a:r>
              <a:rPr lang="zh-CN" altLang="en-US" dirty="0" smtClean="0">
                <a:ea typeface="楷体" pitchFamily="49" charset="-122"/>
              </a:rPr>
              <a:t>算法是另外一种求强连通分量的算法，时间复杂度同样为</a:t>
            </a:r>
            <a:r>
              <a:rPr lang="en-US" altLang="zh-CN" dirty="0" smtClean="0">
                <a:ea typeface="楷体" pitchFamily="49" charset="-122"/>
              </a:rPr>
              <a:t>O(N)</a:t>
            </a:r>
            <a:r>
              <a:rPr lang="zh-CN" altLang="en-US" dirty="0" smtClean="0">
                <a:ea typeface="楷体" pitchFamily="49" charset="-122"/>
              </a:rPr>
              <a:t>，但是代码比</a:t>
            </a:r>
            <a:r>
              <a:rPr lang="en-US" altLang="zh-CN" dirty="0" err="1" smtClean="0">
                <a:ea typeface="楷体" pitchFamily="49" charset="-122"/>
              </a:rPr>
              <a:t>Tarjan</a:t>
            </a:r>
            <a:r>
              <a:rPr lang="zh-CN" altLang="en-US" dirty="0" smtClean="0">
                <a:ea typeface="楷体" pitchFamily="49" charset="-122"/>
              </a:rPr>
              <a:t>稍稍复杂一点</a:t>
            </a:r>
            <a:endParaRPr lang="en-US" altLang="zh-CN" dirty="0" smtClean="0">
              <a:ea typeface="楷体" pitchFamily="49" charset="-122"/>
            </a:endParaRPr>
          </a:p>
          <a:p>
            <a:r>
              <a:rPr lang="en-US" altLang="zh-CN" dirty="0" err="1">
                <a:latin typeface="楷体" pitchFamily="49" charset="-122"/>
                <a:ea typeface="楷体" pitchFamily="49" charset="-122"/>
              </a:rPr>
              <a:t>Kosaraju</a:t>
            </a:r>
            <a:r>
              <a:rPr lang="zh-CN" altLang="en-US" dirty="0" smtClean="0">
                <a:ea typeface="楷体" pitchFamily="49" charset="-122"/>
              </a:rPr>
              <a:t>算法首先对整个图进行一次</a:t>
            </a:r>
            <a:r>
              <a:rPr lang="en-US" altLang="zh-CN" dirty="0" smtClean="0">
                <a:ea typeface="楷体" pitchFamily="49" charset="-122"/>
              </a:rPr>
              <a:t>DFS</a:t>
            </a:r>
            <a:r>
              <a:rPr lang="zh-CN" altLang="en-US" dirty="0" smtClean="0">
                <a:ea typeface="楷体" pitchFamily="49" charset="-122"/>
              </a:rPr>
              <a:t>，记录离开每个点的时间</a:t>
            </a:r>
            <a:r>
              <a:rPr lang="en-US" altLang="zh-CN" dirty="0" smtClean="0">
                <a:ea typeface="楷体" pitchFamily="49" charset="-122"/>
              </a:rPr>
              <a:t>T[</a:t>
            </a:r>
            <a:r>
              <a:rPr lang="en-US" altLang="zh-CN" dirty="0" err="1" smtClean="0">
                <a:ea typeface="楷体" pitchFamily="49" charset="-122"/>
              </a:rPr>
              <a:t>i</a:t>
            </a:r>
            <a:r>
              <a:rPr lang="en-US" altLang="zh-CN" dirty="0" smtClean="0">
                <a:ea typeface="楷体" pitchFamily="49" charset="-122"/>
              </a:rPr>
              <a:t>]</a:t>
            </a:r>
          </a:p>
          <a:p>
            <a:r>
              <a:rPr lang="zh-CN" altLang="en-US" dirty="0" smtClean="0">
                <a:ea typeface="楷体" pitchFamily="49" charset="-122"/>
              </a:rPr>
              <a:t>接着按照</a:t>
            </a:r>
            <a:r>
              <a:rPr lang="en-US" altLang="zh-CN" dirty="0" smtClean="0">
                <a:ea typeface="楷体" pitchFamily="49" charset="-122"/>
              </a:rPr>
              <a:t>T[</a:t>
            </a:r>
            <a:r>
              <a:rPr lang="en-US" altLang="zh-CN" dirty="0" err="1" smtClean="0">
                <a:ea typeface="楷体" pitchFamily="49" charset="-122"/>
              </a:rPr>
              <a:t>i</a:t>
            </a:r>
            <a:r>
              <a:rPr lang="en-US" altLang="zh-CN" dirty="0" smtClean="0">
                <a:ea typeface="楷体" pitchFamily="49" charset="-122"/>
              </a:rPr>
              <a:t>]</a:t>
            </a:r>
            <a:r>
              <a:rPr lang="zh-CN" altLang="en-US" dirty="0" smtClean="0">
                <a:ea typeface="楷体" pitchFamily="49" charset="-122"/>
              </a:rPr>
              <a:t>的从大到小的顺序，对于第一个仍未被标记的点，在反图上进行</a:t>
            </a:r>
            <a:r>
              <a:rPr lang="en-US" altLang="zh-CN" dirty="0" smtClean="0">
                <a:ea typeface="楷体" pitchFamily="49" charset="-122"/>
              </a:rPr>
              <a:t>DFS</a:t>
            </a:r>
            <a:r>
              <a:rPr lang="zh-CN" altLang="en-US" dirty="0" smtClean="0">
                <a:ea typeface="楷体" pitchFamily="49" charset="-122"/>
              </a:rPr>
              <a:t>，其所能到达的未被标记的点都与它属于同一个强连通分量</a:t>
            </a:r>
            <a:endParaRPr lang="en-US" altLang="zh-CN" dirty="0" smtClean="0">
              <a:ea typeface="楷体" pitchFamily="49" charset="-122"/>
            </a:endParaRPr>
          </a:p>
        </p:txBody>
      </p:sp>
    </p:spTree>
    <p:extLst>
      <p:ext uri="{BB962C8B-B14F-4D97-AF65-F5344CB8AC3E}">
        <p14:creationId xmlns:p14="http://schemas.microsoft.com/office/powerpoint/2010/main" val="9122347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xfrm>
            <a:off x="838200" y="122985"/>
            <a:ext cx="10515600" cy="1325563"/>
          </a:xfrm>
          <a:ln/>
        </p:spPr>
        <p:txBody>
          <a:bodyPr anchor="ctr"/>
          <a:lstStyle/>
          <a:p>
            <a:r>
              <a:rPr lang="zh-CN" altLang="en-US" b="1" dirty="0" smtClean="0">
                <a:latin typeface="楷体" pitchFamily="49" charset="-122"/>
                <a:ea typeface="楷体" pitchFamily="49" charset="-122"/>
              </a:rPr>
              <a:t>证明</a:t>
            </a:r>
            <a:endParaRPr lang="zh-CN" altLang="en-US" b="1" dirty="0">
              <a:latin typeface="楷体" pitchFamily="49" charset="-122"/>
              <a:ea typeface="楷体" pitchFamily="49" charset="-122"/>
            </a:endParaRPr>
          </a:p>
        </p:txBody>
      </p:sp>
      <p:sp>
        <p:nvSpPr>
          <p:cNvPr id="15363" name="文本占位符 15362"/>
          <p:cNvSpPr>
            <a:spLocks noGrp="1"/>
          </p:cNvSpPr>
          <p:nvPr>
            <p:ph type="body" idx="1"/>
          </p:nvPr>
        </p:nvSpPr>
        <p:spPr>
          <a:ln/>
        </p:spPr>
        <p:txBody>
          <a:bodyPr>
            <a:normAutofit/>
          </a:bodyPr>
          <a:lstStyle/>
          <a:p>
            <a:r>
              <a:rPr lang="zh-CN" altLang="en-US" dirty="0" smtClean="0">
                <a:ea typeface="楷体" pitchFamily="49" charset="-122"/>
              </a:rPr>
              <a:t>先对已经求解完毕的集合用归纳法，空集一定是正确的</a:t>
            </a:r>
            <a:endParaRPr lang="en-US" altLang="zh-CN" dirty="0" smtClean="0">
              <a:ea typeface="楷体" pitchFamily="49" charset="-122"/>
            </a:endParaRPr>
          </a:p>
          <a:p>
            <a:r>
              <a:rPr lang="zh-CN" altLang="en-US" dirty="0">
                <a:ea typeface="楷体" pitchFamily="49" charset="-122"/>
              </a:rPr>
              <a:t>下面我们</a:t>
            </a:r>
            <a:r>
              <a:rPr lang="zh-CN" altLang="en-US" dirty="0" smtClean="0">
                <a:ea typeface="楷体" pitchFamily="49" charset="-122"/>
              </a:rPr>
              <a:t>假设之前所有求出的强连通分量都是正确的</a:t>
            </a:r>
            <a:endParaRPr lang="en-US" altLang="zh-CN" dirty="0" smtClean="0">
              <a:ea typeface="楷体" pitchFamily="49" charset="-122"/>
            </a:endParaRPr>
          </a:p>
          <a:p>
            <a:r>
              <a:rPr lang="zh-CN" altLang="en-US" dirty="0" smtClean="0">
                <a:ea typeface="楷体" pitchFamily="49" charset="-122"/>
              </a:rPr>
              <a:t>先证必要性，若</a:t>
            </a:r>
            <a:r>
              <a:rPr lang="en-US" altLang="zh-CN" dirty="0" smtClean="0">
                <a:ea typeface="楷体" pitchFamily="49" charset="-122"/>
              </a:rPr>
              <a:t>x</a:t>
            </a:r>
            <a:r>
              <a:rPr lang="zh-CN" altLang="en-US" dirty="0" smtClean="0">
                <a:ea typeface="楷体" pitchFamily="49" charset="-122"/>
              </a:rPr>
              <a:t>在反向图中只经过未被标记的点不能到达</a:t>
            </a:r>
            <a:r>
              <a:rPr lang="en-US" altLang="zh-CN" dirty="0" smtClean="0">
                <a:ea typeface="楷体" pitchFamily="49" charset="-122"/>
              </a:rPr>
              <a:t>y</a:t>
            </a:r>
            <a:r>
              <a:rPr lang="zh-CN" altLang="en-US" dirty="0" smtClean="0">
                <a:ea typeface="楷体" pitchFamily="49" charset="-122"/>
              </a:rPr>
              <a:t>，则说明原图中</a:t>
            </a:r>
            <a:r>
              <a:rPr lang="en-US" altLang="zh-CN" dirty="0" smtClean="0">
                <a:ea typeface="楷体" pitchFamily="49" charset="-122"/>
              </a:rPr>
              <a:t>y</a:t>
            </a:r>
            <a:r>
              <a:rPr lang="zh-CN" altLang="en-US" dirty="0" smtClean="0">
                <a:ea typeface="楷体" pitchFamily="49" charset="-122"/>
              </a:rPr>
              <a:t>无法通过不能标记的点到达</a:t>
            </a:r>
            <a:r>
              <a:rPr lang="en-US" altLang="zh-CN" dirty="0" smtClean="0">
                <a:ea typeface="楷体" pitchFamily="49" charset="-122"/>
              </a:rPr>
              <a:t>x</a:t>
            </a:r>
            <a:r>
              <a:rPr lang="zh-CN" altLang="en-US" dirty="0" smtClean="0">
                <a:ea typeface="楷体" pitchFamily="49" charset="-122"/>
              </a:rPr>
              <a:t>，而由于之前求出的强连通分量是正确的，所以</a:t>
            </a:r>
            <a:r>
              <a:rPr lang="en-US" altLang="zh-CN" dirty="0" smtClean="0">
                <a:ea typeface="楷体" pitchFamily="49" charset="-122"/>
              </a:rPr>
              <a:t>x</a:t>
            </a:r>
            <a:r>
              <a:rPr lang="zh-CN" altLang="en-US" dirty="0" smtClean="0">
                <a:ea typeface="楷体" pitchFamily="49" charset="-122"/>
              </a:rPr>
              <a:t>，</a:t>
            </a:r>
            <a:r>
              <a:rPr lang="en-US" altLang="zh-CN" dirty="0" smtClean="0">
                <a:ea typeface="楷体" pitchFamily="49" charset="-122"/>
              </a:rPr>
              <a:t>y</a:t>
            </a:r>
            <a:r>
              <a:rPr lang="zh-CN" altLang="en-US" dirty="0" smtClean="0">
                <a:ea typeface="楷体" pitchFamily="49" charset="-122"/>
              </a:rPr>
              <a:t>必然不在一个强连通分量当中</a:t>
            </a:r>
            <a:endParaRPr lang="en-US" altLang="zh-CN" dirty="0" smtClean="0">
              <a:ea typeface="楷体" pitchFamily="49" charset="-122"/>
            </a:endParaRPr>
          </a:p>
          <a:p>
            <a:r>
              <a:rPr lang="zh-CN" altLang="en-US" dirty="0">
                <a:ea typeface="楷体" pitchFamily="49" charset="-122"/>
              </a:rPr>
              <a:t>再</a:t>
            </a:r>
            <a:r>
              <a:rPr lang="zh-CN" altLang="en-US" dirty="0" smtClean="0">
                <a:ea typeface="楷体" pitchFamily="49" charset="-122"/>
              </a:rPr>
              <a:t>证充分性，若</a:t>
            </a:r>
            <a:r>
              <a:rPr lang="en-US" altLang="zh-CN" dirty="0" smtClean="0">
                <a:ea typeface="楷体" pitchFamily="49" charset="-122"/>
              </a:rPr>
              <a:t>x</a:t>
            </a:r>
            <a:r>
              <a:rPr lang="zh-CN" altLang="en-US" dirty="0" smtClean="0">
                <a:ea typeface="楷体" pitchFamily="49" charset="-122"/>
              </a:rPr>
              <a:t>在反向图中到达了</a:t>
            </a:r>
            <a:r>
              <a:rPr lang="en-US" altLang="zh-CN" dirty="0" smtClean="0">
                <a:ea typeface="楷体" pitchFamily="49" charset="-122"/>
              </a:rPr>
              <a:t>y</a:t>
            </a:r>
            <a:r>
              <a:rPr lang="zh-CN" altLang="en-US" dirty="0" smtClean="0">
                <a:ea typeface="楷体" pitchFamily="49" charset="-122"/>
              </a:rPr>
              <a:t>，则说明</a:t>
            </a:r>
            <a:r>
              <a:rPr lang="en-US" altLang="zh-CN" dirty="0" smtClean="0">
                <a:ea typeface="楷体" pitchFamily="49" charset="-122"/>
              </a:rPr>
              <a:t>y</a:t>
            </a:r>
            <a:r>
              <a:rPr lang="zh-CN" altLang="en-US" dirty="0" smtClean="0">
                <a:ea typeface="楷体" pitchFamily="49" charset="-122"/>
              </a:rPr>
              <a:t>在原图中一定能到达</a:t>
            </a:r>
            <a:r>
              <a:rPr lang="en-US" altLang="zh-CN" dirty="0" smtClean="0">
                <a:ea typeface="楷体" pitchFamily="49" charset="-122"/>
              </a:rPr>
              <a:t>x</a:t>
            </a:r>
            <a:r>
              <a:rPr lang="zh-CN" altLang="en-US" dirty="0" smtClean="0">
                <a:ea typeface="楷体" pitchFamily="49" charset="-122"/>
              </a:rPr>
              <a:t>。若</a:t>
            </a:r>
            <a:r>
              <a:rPr lang="en-US" altLang="zh-CN" dirty="0" smtClean="0">
                <a:ea typeface="楷体" pitchFamily="49" charset="-122"/>
              </a:rPr>
              <a:t>x</a:t>
            </a:r>
            <a:r>
              <a:rPr lang="zh-CN" altLang="en-US" dirty="0" smtClean="0">
                <a:ea typeface="楷体" pitchFamily="49" charset="-122"/>
              </a:rPr>
              <a:t>在原图中无法到达</a:t>
            </a:r>
            <a:r>
              <a:rPr lang="en-US" altLang="zh-CN" dirty="0" smtClean="0">
                <a:ea typeface="楷体" pitchFamily="49" charset="-122"/>
              </a:rPr>
              <a:t>y</a:t>
            </a:r>
            <a:r>
              <a:rPr lang="zh-CN" altLang="en-US" dirty="0" smtClean="0">
                <a:ea typeface="楷体" pitchFamily="49" charset="-122"/>
              </a:rPr>
              <a:t>，由于</a:t>
            </a:r>
            <a:r>
              <a:rPr lang="en-US" altLang="zh-CN" dirty="0" smtClean="0">
                <a:ea typeface="楷体" pitchFamily="49" charset="-122"/>
              </a:rPr>
              <a:t>T[x]&gt;T[y]</a:t>
            </a:r>
            <a:r>
              <a:rPr lang="zh-CN" altLang="en-US" dirty="0" smtClean="0">
                <a:ea typeface="楷体" pitchFamily="49" charset="-122"/>
              </a:rPr>
              <a:t>，说明第一遍</a:t>
            </a:r>
            <a:r>
              <a:rPr lang="en-US" altLang="zh-CN" dirty="0" smtClean="0">
                <a:ea typeface="楷体" pitchFamily="49" charset="-122"/>
              </a:rPr>
              <a:t>DFS</a:t>
            </a:r>
            <a:r>
              <a:rPr lang="zh-CN" altLang="en-US" dirty="0" smtClean="0">
                <a:ea typeface="楷体" pitchFamily="49" charset="-122"/>
              </a:rPr>
              <a:t>过程中</a:t>
            </a:r>
            <a:r>
              <a:rPr lang="en-US" altLang="zh-CN" dirty="0" smtClean="0">
                <a:ea typeface="楷体" pitchFamily="49" charset="-122"/>
              </a:rPr>
              <a:t>y</a:t>
            </a:r>
            <a:r>
              <a:rPr lang="zh-CN" altLang="en-US" dirty="0" smtClean="0">
                <a:ea typeface="楷体" pitchFamily="49" charset="-122"/>
              </a:rPr>
              <a:t>一定先被搜到，由于</a:t>
            </a:r>
            <a:r>
              <a:rPr lang="en-US" altLang="zh-CN" dirty="0" smtClean="0">
                <a:ea typeface="楷体" pitchFamily="49" charset="-122"/>
              </a:rPr>
              <a:t>y</a:t>
            </a:r>
            <a:r>
              <a:rPr lang="zh-CN" altLang="en-US" dirty="0" smtClean="0">
                <a:ea typeface="楷体" pitchFamily="49" charset="-122"/>
              </a:rPr>
              <a:t>能到达</a:t>
            </a:r>
            <a:r>
              <a:rPr lang="en-US" altLang="zh-CN" dirty="0" smtClean="0">
                <a:ea typeface="楷体" pitchFamily="49" charset="-122"/>
              </a:rPr>
              <a:t>x</a:t>
            </a:r>
            <a:r>
              <a:rPr lang="zh-CN" altLang="en-US" dirty="0" smtClean="0">
                <a:ea typeface="楷体" pitchFamily="49" charset="-122"/>
              </a:rPr>
              <a:t>，所以</a:t>
            </a:r>
            <a:r>
              <a:rPr lang="en-US" altLang="zh-CN" dirty="0" smtClean="0">
                <a:ea typeface="楷体" pitchFamily="49" charset="-122"/>
              </a:rPr>
              <a:t>x</a:t>
            </a:r>
            <a:r>
              <a:rPr lang="zh-CN" altLang="en-US" dirty="0" smtClean="0">
                <a:ea typeface="楷体" pitchFamily="49" charset="-122"/>
              </a:rPr>
              <a:t>的结束时间一定早于</a:t>
            </a:r>
            <a:r>
              <a:rPr lang="en-US" altLang="zh-CN" dirty="0" smtClean="0">
                <a:ea typeface="楷体" pitchFamily="49" charset="-122"/>
              </a:rPr>
              <a:t>y</a:t>
            </a:r>
            <a:r>
              <a:rPr lang="zh-CN" altLang="en-US" dirty="0" smtClean="0">
                <a:ea typeface="楷体" pitchFamily="49" charset="-122"/>
              </a:rPr>
              <a:t>，即</a:t>
            </a:r>
            <a:r>
              <a:rPr lang="en-US" altLang="zh-CN" dirty="0" smtClean="0">
                <a:ea typeface="楷体" pitchFamily="49" charset="-122"/>
              </a:rPr>
              <a:t>T[x]&lt;T[y]</a:t>
            </a:r>
            <a:r>
              <a:rPr lang="zh-CN" altLang="en-US" dirty="0" smtClean="0">
                <a:ea typeface="楷体" pitchFamily="49" charset="-122"/>
              </a:rPr>
              <a:t>，矛盾</a:t>
            </a:r>
            <a:endParaRPr lang="en-US" altLang="zh-CN" dirty="0" smtClean="0">
              <a:ea typeface="楷体" pitchFamily="49" charset="-122"/>
            </a:endParaRPr>
          </a:p>
        </p:txBody>
      </p:sp>
    </p:spTree>
    <p:extLst>
      <p:ext uri="{BB962C8B-B14F-4D97-AF65-F5344CB8AC3E}">
        <p14:creationId xmlns:p14="http://schemas.microsoft.com/office/powerpoint/2010/main" val="6743701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1652</TotalTime>
  <Words>3043</Words>
  <Application>Microsoft Office PowerPoint</Application>
  <PresentationFormat>宽屏</PresentationFormat>
  <Paragraphs>236</Paragraphs>
  <Slides>50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50</vt:i4>
      </vt:variant>
    </vt:vector>
  </HeadingPairs>
  <TitlesOfParts>
    <vt:vector size="58" baseType="lpstr">
      <vt:lpstr>等线</vt:lpstr>
      <vt:lpstr>楷体</vt:lpstr>
      <vt:lpstr>宋体</vt:lpstr>
      <vt:lpstr>Arial</vt:lpstr>
      <vt:lpstr>Calibri</vt:lpstr>
      <vt:lpstr>Calibri Light</vt:lpstr>
      <vt:lpstr>Cambria Math</vt:lpstr>
      <vt:lpstr>Office 主题</vt:lpstr>
      <vt:lpstr>PowerPoint 演示文稿</vt:lpstr>
      <vt:lpstr>首先是目录</vt:lpstr>
      <vt:lpstr>什么是强连通分量?</vt:lpstr>
      <vt:lpstr>PowerPoint 演示文稿</vt:lpstr>
      <vt:lpstr>如何求强连通分量？</vt:lpstr>
      <vt:lpstr>Tarjan求强连通分量</vt:lpstr>
      <vt:lpstr>举个栗子</vt:lpstr>
      <vt:lpstr>举个栗子</vt:lpstr>
      <vt:lpstr>举个栗子</vt:lpstr>
      <vt:lpstr>举个栗子</vt:lpstr>
      <vt:lpstr>举个栗子</vt:lpstr>
      <vt:lpstr>缩点</vt:lpstr>
      <vt:lpstr>[Usaco2006 Jan]The Cow Prom</vt:lpstr>
      <vt:lpstr>[HAOI2006]受欢迎的牛</vt:lpstr>
      <vt:lpstr>PowerPoint 演示文稿</vt:lpstr>
      <vt:lpstr>BZOJ2140: 稳定婚姻 </vt:lpstr>
      <vt:lpstr>分析</vt:lpstr>
      <vt:lpstr>PowerPoint 演示文稿</vt:lpstr>
      <vt:lpstr>割点和桥</vt:lpstr>
      <vt:lpstr>割点的求法</vt:lpstr>
      <vt:lpstr>双连通分量</vt:lpstr>
      <vt:lpstr>边双连通分量</vt:lpstr>
      <vt:lpstr>边双连通分量的求法</vt:lpstr>
      <vt:lpstr>[Usaco2006 Jan] Redundant Paths </vt:lpstr>
      <vt:lpstr>PowerPoint 演示文稿</vt:lpstr>
      <vt:lpstr>点双连通分量的求法</vt:lpstr>
      <vt:lpstr>PowerPoint 演示文稿</vt:lpstr>
      <vt:lpstr>二分图</vt:lpstr>
      <vt:lpstr>二分图的特征及判定</vt:lpstr>
      <vt:lpstr>二分图</vt:lpstr>
      <vt:lpstr>Hall定理</vt:lpstr>
      <vt:lpstr>匈牙利算法</vt:lpstr>
      <vt:lpstr>增广路</vt:lpstr>
      <vt:lpstr>代码实现</vt:lpstr>
      <vt:lpstr>PowerPoint 演示文稿</vt:lpstr>
      <vt:lpstr>飞行员配对方案问题</vt:lpstr>
      <vt:lpstr>[Usaco2005 nov]Asteroids </vt:lpstr>
      <vt:lpstr>PowerPoint 演示文稿</vt:lpstr>
      <vt:lpstr>PowerPoint 演示文稿</vt:lpstr>
      <vt:lpstr>2-SAT模型</vt:lpstr>
      <vt:lpstr>二元逻辑运算与“关系”的转化</vt:lpstr>
      <vt:lpstr>建图</vt:lpstr>
      <vt:lpstr>证明</vt:lpstr>
      <vt:lpstr>判定某个元素的取值是否确定</vt:lpstr>
      <vt:lpstr>基于上一个方法的另一种求可行解的方法</vt:lpstr>
      <vt:lpstr>两道裸题</vt:lpstr>
      <vt:lpstr>PowerPoint 演示文稿</vt:lpstr>
      <vt:lpstr>[Poi2011]Conspiracy</vt:lpstr>
      <vt:lpstr>Kosaraju算法</vt:lpstr>
      <vt:lpstr>证明</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yedo jj</dc:creator>
  <cp:lastModifiedBy>yedo jj</cp:lastModifiedBy>
  <cp:revision>101</cp:revision>
  <dcterms:created xsi:type="dcterms:W3CDTF">2015-05-05T08:02:14Z</dcterms:created>
  <dcterms:modified xsi:type="dcterms:W3CDTF">2017-06-02T07:35:15Z</dcterms:modified>
</cp:coreProperties>
</file>