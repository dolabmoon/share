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69" r:id="rId3"/>
    <p:sldId id="270" r:id="rId4"/>
    <p:sldId id="316" r:id="rId5"/>
    <p:sldId id="317" r:id="rId6"/>
    <p:sldId id="272" r:id="rId7"/>
    <p:sldId id="273" r:id="rId8"/>
    <p:sldId id="274" r:id="rId9"/>
    <p:sldId id="320" r:id="rId10"/>
    <p:sldId id="275" r:id="rId11"/>
    <p:sldId id="276" r:id="rId12"/>
    <p:sldId id="279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319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edo jj" initials="y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8781" autoAdjust="0"/>
    <p:restoredTop sz="96256" autoAdjust="0"/>
  </p:normalViewPr>
  <p:slideViewPr>
    <p:cSldViewPr snapToGrid="0">
      <p:cViewPr>
        <p:scale>
          <a:sx n="75" d="100"/>
          <a:sy n="75" d="100"/>
        </p:scale>
        <p:origin x="-780" y="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31984-DD9D-4D75-9AAE-C390D60C6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EBFA7-16B6-48AF-AC39-1D42A87035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文本框 2051"/>
          <p:cNvSpPr txBox="1"/>
          <p:nvPr/>
        </p:nvSpPr>
        <p:spPr>
          <a:xfrm>
            <a:off x="3804249" y="2463207"/>
            <a:ext cx="6671334" cy="92333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/>
            <a:r>
              <a:rPr lang="zh-CN" altLang="en-US" sz="5400" b="1" dirty="0" smtClean="0">
                <a:latin typeface="Arial" panose="020B0604020202020204" pitchFamily="34" charset="0"/>
                <a:ea typeface="楷体" panose="02010609060101010101" pitchFamily="49" charset="-122"/>
              </a:rPr>
              <a:t>网络流专题</a:t>
            </a:r>
            <a:endParaRPr lang="zh-CN" altLang="en-US" sz="5400" b="1" dirty="0"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2053" name="文本框 2052"/>
          <p:cNvSpPr txBox="1"/>
          <p:nvPr/>
        </p:nvSpPr>
        <p:spPr>
          <a:xfrm>
            <a:off x="8301289" y="4888483"/>
            <a:ext cx="3185487" cy="6463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t">
            <a:spAutoFit/>
          </a:bodyPr>
          <a:lstStyle/>
          <a:p>
            <a:pPr lvl="0"/>
            <a:r>
              <a:rPr lang="en-US" altLang="zh-CN" sz="3600" b="1" dirty="0" err="1" smtClean="0">
                <a:latin typeface="Arial" panose="020B0604020202020204" pitchFamily="34" charset="0"/>
                <a:ea typeface="宋体" panose="02010600030101010101" pitchFamily="2" charset="-122"/>
              </a:rPr>
              <a:t>NationalNight</a:t>
            </a:r>
            <a:endParaRPr lang="en-US" altLang="zh-CN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4097"/>
          <p:cNvSpPr>
            <a:spLocks noGrp="1"/>
          </p:cNvSpPr>
          <p:nvPr>
            <p:ph type="title"/>
          </p:nvPr>
        </p:nvSpPr>
        <p:spPr>
          <a:xfrm>
            <a:off x="838200" y="43413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sz="7200" b="1" dirty="0">
                <a:ea typeface="楷体" panose="02010609060101010101" pitchFamily="49" charset="-122"/>
              </a:rPr>
              <a:t>首先是目录</a:t>
            </a:r>
            <a:endParaRPr lang="zh-CN" altLang="en-US" sz="7200" b="1" dirty="0">
              <a:ea typeface="楷体" panose="02010609060101010101" pitchFamily="49" charset="-122"/>
            </a:endParaRPr>
          </a:p>
        </p:txBody>
      </p:sp>
      <p:sp>
        <p:nvSpPr>
          <p:cNvPr id="4099" name="文本占位符 4098"/>
          <p:cNvSpPr>
            <a:spLocks noGrp="1"/>
          </p:cNvSpPr>
          <p:nvPr>
            <p:ph type="body" idx="1"/>
          </p:nvPr>
        </p:nvSpPr>
        <p:spPr>
          <a:xfrm>
            <a:off x="838200" y="2084417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最大流最小割</a:t>
            </a:r>
            <a:endParaRPr lang="en-US" altLang="zh-CN" sz="40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费用流</a:t>
            </a:r>
            <a:endParaRPr lang="en-US" altLang="zh-CN" sz="40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4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zh-CN" altLang="en-US" sz="4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）上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下界网络流</a:t>
            </a:r>
            <a:endParaRPr lang="en-US" altLang="zh-CN" sz="40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815196" y="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一、网络流的定义</a:t>
            </a:r>
            <a:endParaRPr lang="zh-CN" altLang="en-US" smtClean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100946" y="1800225"/>
            <a:ext cx="7488238" cy="2089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有唯一的一个</a:t>
            </a:r>
            <a:r>
              <a:rPr lang="zh-CN" altLang="en-US" dirty="0" smtClean="0">
                <a:solidFill>
                  <a:srgbClr val="FF0000"/>
                </a:solidFill>
              </a:rPr>
              <a:t>源点</a:t>
            </a:r>
            <a:r>
              <a:rPr lang="en-US" altLang="zh-CN" dirty="0" smtClean="0"/>
              <a:t>S</a:t>
            </a:r>
            <a:r>
              <a:rPr lang="zh-CN" altLang="en-US" dirty="0" smtClean="0"/>
              <a:t>（入度为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：出发点）</a:t>
            </a:r>
            <a:endParaRPr lang="zh-CN" altLang="en-US" dirty="0" smtClean="0"/>
          </a:p>
          <a:p>
            <a:r>
              <a:rPr lang="zh-CN" altLang="en-US" dirty="0" smtClean="0"/>
              <a:t>有唯一的一个</a:t>
            </a:r>
            <a:r>
              <a:rPr lang="zh-CN" altLang="en-US" dirty="0" smtClean="0">
                <a:solidFill>
                  <a:srgbClr val="FF0000"/>
                </a:solidFill>
              </a:rPr>
              <a:t>汇点</a:t>
            </a:r>
            <a:r>
              <a:rPr lang="zh-CN" altLang="en-US" dirty="0" smtClean="0"/>
              <a:t> </a:t>
            </a:r>
            <a:r>
              <a:rPr lang="en-US" altLang="zh-CN" dirty="0" smtClean="0"/>
              <a:t>T</a:t>
            </a:r>
            <a:r>
              <a:rPr lang="zh-CN" altLang="en-US" dirty="0" smtClean="0"/>
              <a:t>（出度为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：结束点） </a:t>
            </a:r>
            <a:endParaRPr lang="zh-CN" altLang="en-US" dirty="0" smtClean="0"/>
          </a:p>
          <a:p>
            <a:r>
              <a:rPr lang="zh-CN" altLang="en-US" dirty="0" smtClean="0"/>
              <a:t>图中每条弧 </a:t>
            </a:r>
            <a:r>
              <a:rPr lang="en-US" altLang="zh-CN" dirty="0" smtClean="0"/>
              <a:t>(u, v) </a:t>
            </a:r>
            <a:r>
              <a:rPr lang="zh-CN" altLang="en-US" dirty="0" smtClean="0"/>
              <a:t>都有一非负</a:t>
            </a:r>
            <a:r>
              <a:rPr lang="zh-CN" altLang="en-US" dirty="0" smtClean="0">
                <a:solidFill>
                  <a:srgbClr val="FF0000"/>
                </a:solidFill>
              </a:rPr>
              <a:t>容量</a:t>
            </a:r>
            <a:r>
              <a:rPr lang="zh-CN" altLang="en-US" dirty="0" smtClean="0"/>
              <a:t> </a:t>
            </a:r>
            <a:r>
              <a:rPr lang="en-US" altLang="zh-CN" dirty="0" smtClean="0"/>
              <a:t>c ( u, v )</a:t>
            </a:r>
            <a:endParaRPr lang="en-US" altLang="zh-CN" dirty="0" smtClean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26271" y="1081088"/>
            <a:ext cx="48958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dirty="0"/>
              <a:t>有向图 </a:t>
            </a:r>
            <a:r>
              <a:rPr lang="en-US" altLang="zh-CN" sz="3200" dirty="0"/>
              <a:t>G = ( V, E )</a:t>
            </a:r>
            <a:r>
              <a:rPr lang="zh-CN" altLang="en-US" sz="3200" dirty="0"/>
              <a:t>中：</a:t>
            </a:r>
            <a:endParaRPr lang="zh-CN" altLang="en-US" sz="3200" dirty="0"/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453246" y="3600450"/>
            <a:ext cx="6840538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/>
              <a:t>满足上述条件的图</a:t>
            </a:r>
            <a:r>
              <a:rPr lang="en-US" altLang="zh-CN" dirty="0"/>
              <a:t>G</a:t>
            </a:r>
            <a:r>
              <a:rPr lang="zh-CN" altLang="en-US" dirty="0"/>
              <a:t>称为网络流图。</a:t>
            </a:r>
            <a:endParaRPr lang="zh-CN" altLang="en-US" dirty="0"/>
          </a:p>
          <a:p>
            <a:pPr algn="l" eaLnBrk="1" hangingPunct="1">
              <a:spcBef>
                <a:spcPct val="50000"/>
              </a:spcBef>
            </a:pPr>
            <a:r>
              <a:rPr lang="zh-CN" altLang="en-US" dirty="0"/>
              <a:t>记为： </a:t>
            </a:r>
            <a:r>
              <a:rPr lang="en-US" altLang="zh-CN" dirty="0"/>
              <a:t>G = ( V, E </a:t>
            </a:r>
            <a:r>
              <a:rPr lang="zh-CN" altLang="en-US" dirty="0"/>
              <a:t>，</a:t>
            </a:r>
            <a:r>
              <a:rPr lang="en-US" altLang="zh-CN" dirty="0"/>
              <a:t>C)</a:t>
            </a:r>
            <a:endParaRPr lang="en-US" altLang="zh-CN" dirty="0"/>
          </a:p>
        </p:txBody>
      </p:sp>
      <p:grpSp>
        <p:nvGrpSpPr>
          <p:cNvPr id="16" name="Group 57"/>
          <p:cNvGrpSpPr/>
          <p:nvPr/>
        </p:nvGrpSpPr>
        <p:grpSpPr bwMode="auto">
          <a:xfrm>
            <a:off x="5587894" y="3600450"/>
            <a:ext cx="5757862" cy="2997200"/>
            <a:chOff x="432" y="528"/>
            <a:chExt cx="4320" cy="2096"/>
          </a:xfrm>
        </p:grpSpPr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1488" y="2208"/>
              <a:ext cx="48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/>
                <a:t> </a:t>
              </a:r>
              <a:endParaRPr lang="en-US" altLang="zh-CN" sz="2400"/>
            </a:p>
          </p:txBody>
        </p:sp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432" y="1344"/>
              <a:ext cx="384" cy="48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chemeClr val="bg1"/>
                  </a:solidFill>
                </a:rPr>
                <a:t>1 S</a:t>
              </a:r>
              <a:endParaRPr lang="en-US" altLang="zh-CN" sz="2400">
                <a:solidFill>
                  <a:schemeClr val="bg1"/>
                </a:solidFill>
              </a:endParaRPr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1536" y="672"/>
              <a:ext cx="384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chemeClr val="bg1"/>
                  </a:solidFill>
                </a:rPr>
                <a:t>4</a:t>
              </a:r>
              <a:endParaRPr lang="en-US" altLang="zh-CN" sz="2400">
                <a:solidFill>
                  <a:schemeClr val="bg1"/>
                </a:solidFill>
              </a:endParaRPr>
            </a:p>
          </p:txBody>
        </p:sp>
        <p:sp>
          <p:nvSpPr>
            <p:cNvPr id="20" name="Oval 21"/>
            <p:cNvSpPr>
              <a:spLocks noChangeArrowheads="1"/>
            </p:cNvSpPr>
            <p:nvPr/>
          </p:nvSpPr>
          <p:spPr bwMode="auto">
            <a:xfrm>
              <a:off x="3126" y="672"/>
              <a:ext cx="384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bg1"/>
                  </a:solidFill>
                </a:rPr>
                <a:t>3</a:t>
              </a:r>
              <a:endParaRPr lang="en-US" altLang="zh-CN" sz="2400" dirty="0"/>
            </a:p>
          </p:txBody>
        </p:sp>
        <p:sp>
          <p:nvSpPr>
            <p:cNvPr id="21" name="Oval 22"/>
            <p:cNvSpPr>
              <a:spLocks noChangeArrowheads="1"/>
            </p:cNvSpPr>
            <p:nvPr/>
          </p:nvSpPr>
          <p:spPr bwMode="auto">
            <a:xfrm>
              <a:off x="1536" y="2208"/>
              <a:ext cx="384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chemeClr val="bg1"/>
                  </a:solidFill>
                </a:rPr>
                <a:t>2</a:t>
              </a:r>
              <a:endParaRPr lang="en-US" altLang="zh-CN" sz="2400">
                <a:solidFill>
                  <a:schemeClr val="bg1"/>
                </a:solidFill>
              </a:endParaRPr>
            </a:p>
          </p:txBody>
        </p:sp>
        <p:sp>
          <p:nvSpPr>
            <p:cNvPr id="22" name="Oval 23"/>
            <p:cNvSpPr>
              <a:spLocks noChangeArrowheads="1"/>
            </p:cNvSpPr>
            <p:nvPr/>
          </p:nvSpPr>
          <p:spPr bwMode="auto">
            <a:xfrm>
              <a:off x="3197" y="2176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/>
                <a:t>5</a:t>
              </a:r>
              <a:endParaRPr lang="en-US" altLang="zh-CN" sz="2400" dirty="0"/>
            </a:p>
          </p:txBody>
        </p:sp>
        <p:sp>
          <p:nvSpPr>
            <p:cNvPr id="23" name="Oval 24"/>
            <p:cNvSpPr>
              <a:spLocks noChangeArrowheads="1"/>
            </p:cNvSpPr>
            <p:nvPr/>
          </p:nvSpPr>
          <p:spPr bwMode="auto">
            <a:xfrm>
              <a:off x="4368" y="1296"/>
              <a:ext cx="384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/>
                <a:t>6 </a:t>
              </a:r>
              <a:r>
                <a:rPr lang="en-US" altLang="zh-CN" sz="2400" dirty="0" smtClean="0"/>
                <a:t>T</a:t>
              </a:r>
              <a:endParaRPr lang="en-US" altLang="zh-CN" sz="2400" dirty="0"/>
            </a:p>
          </p:txBody>
        </p:sp>
        <p:sp>
          <p:nvSpPr>
            <p:cNvPr id="24" name="Line 31"/>
            <p:cNvSpPr>
              <a:spLocks noChangeShapeType="1"/>
            </p:cNvSpPr>
            <p:nvPr/>
          </p:nvSpPr>
          <p:spPr bwMode="auto">
            <a:xfrm flipV="1">
              <a:off x="816" y="912"/>
              <a:ext cx="72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32"/>
            <p:cNvSpPr>
              <a:spLocks noChangeShapeType="1"/>
            </p:cNvSpPr>
            <p:nvPr/>
          </p:nvSpPr>
          <p:spPr bwMode="auto">
            <a:xfrm>
              <a:off x="816" y="1728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33"/>
            <p:cNvSpPr>
              <a:spLocks noChangeShapeType="1"/>
            </p:cNvSpPr>
            <p:nvPr/>
          </p:nvSpPr>
          <p:spPr bwMode="auto">
            <a:xfrm>
              <a:off x="1968" y="2352"/>
              <a:ext cx="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34"/>
            <p:cNvSpPr>
              <a:spLocks noChangeShapeType="1"/>
            </p:cNvSpPr>
            <p:nvPr/>
          </p:nvSpPr>
          <p:spPr bwMode="auto">
            <a:xfrm>
              <a:off x="1968" y="816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35"/>
            <p:cNvSpPr>
              <a:spLocks noChangeShapeType="1"/>
            </p:cNvSpPr>
            <p:nvPr/>
          </p:nvSpPr>
          <p:spPr bwMode="auto">
            <a:xfrm>
              <a:off x="3504" y="912"/>
              <a:ext cx="91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36"/>
            <p:cNvSpPr>
              <a:spLocks noChangeShapeType="1"/>
            </p:cNvSpPr>
            <p:nvPr/>
          </p:nvSpPr>
          <p:spPr bwMode="auto">
            <a:xfrm flipV="1">
              <a:off x="3600" y="1728"/>
              <a:ext cx="768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7"/>
            <p:cNvSpPr>
              <a:spLocks noChangeShapeType="1"/>
            </p:cNvSpPr>
            <p:nvPr/>
          </p:nvSpPr>
          <p:spPr bwMode="auto">
            <a:xfrm>
              <a:off x="1872" y="960"/>
              <a:ext cx="1344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41"/>
            <p:cNvSpPr txBox="1">
              <a:spLocks noChangeArrowheads="1"/>
            </p:cNvSpPr>
            <p:nvPr/>
          </p:nvSpPr>
          <p:spPr bwMode="auto">
            <a:xfrm>
              <a:off x="864" y="960"/>
              <a:ext cx="28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 smtClean="0"/>
                <a:t>4  </a:t>
              </a:r>
              <a:endParaRPr lang="en-US" altLang="zh-CN" sz="2400" dirty="0"/>
            </a:p>
          </p:txBody>
        </p:sp>
        <p:sp>
          <p:nvSpPr>
            <p:cNvPr id="33" name="Text Box 43"/>
            <p:cNvSpPr txBox="1">
              <a:spLocks noChangeArrowheads="1"/>
            </p:cNvSpPr>
            <p:nvPr/>
          </p:nvSpPr>
          <p:spPr bwMode="auto">
            <a:xfrm>
              <a:off x="2256" y="528"/>
              <a:ext cx="52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 smtClean="0"/>
                <a:t>4</a:t>
              </a:r>
              <a:endParaRPr lang="en-US" altLang="zh-CN" sz="2400" dirty="0"/>
            </a:p>
          </p:txBody>
        </p:sp>
        <p:sp>
          <p:nvSpPr>
            <p:cNvPr id="34" name="Text Box 44"/>
            <p:cNvSpPr txBox="1">
              <a:spLocks noChangeArrowheads="1"/>
            </p:cNvSpPr>
            <p:nvPr/>
          </p:nvSpPr>
          <p:spPr bwMode="auto">
            <a:xfrm>
              <a:off x="2256" y="2304"/>
              <a:ext cx="672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/>
                <a:t>4</a:t>
              </a:r>
              <a:endParaRPr lang="en-US" altLang="zh-CN" sz="2400"/>
            </a:p>
          </p:txBody>
        </p:sp>
        <p:sp>
          <p:nvSpPr>
            <p:cNvPr id="35" name="Text Box 45"/>
            <p:cNvSpPr txBox="1">
              <a:spLocks noChangeArrowheads="1"/>
            </p:cNvSpPr>
            <p:nvPr/>
          </p:nvSpPr>
          <p:spPr bwMode="auto">
            <a:xfrm>
              <a:off x="3984" y="1968"/>
              <a:ext cx="52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 smtClean="0"/>
                <a:t>4</a:t>
              </a:r>
              <a:endParaRPr lang="en-US" altLang="zh-CN" sz="2400" dirty="0"/>
            </a:p>
          </p:txBody>
        </p:sp>
        <p:sp>
          <p:nvSpPr>
            <p:cNvPr id="36" name="Text Box 46"/>
            <p:cNvSpPr txBox="1">
              <a:spLocks noChangeArrowheads="1"/>
            </p:cNvSpPr>
            <p:nvPr/>
          </p:nvSpPr>
          <p:spPr bwMode="auto">
            <a:xfrm>
              <a:off x="3888" y="864"/>
              <a:ext cx="480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/>
                <a:t>4</a:t>
              </a:r>
              <a:endParaRPr lang="en-US" altLang="zh-CN" sz="2400"/>
            </a:p>
          </p:txBody>
        </p:sp>
        <p:sp>
          <p:nvSpPr>
            <p:cNvPr id="37" name="Text Box 47"/>
            <p:cNvSpPr txBox="1">
              <a:spLocks noChangeArrowheads="1"/>
            </p:cNvSpPr>
            <p:nvPr/>
          </p:nvSpPr>
          <p:spPr bwMode="auto">
            <a:xfrm>
              <a:off x="2573" y="1392"/>
              <a:ext cx="624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/>
                <a:t>2</a:t>
              </a:r>
              <a:endParaRPr lang="en-US" altLang="zh-CN" sz="2400" dirty="0"/>
            </a:p>
          </p:txBody>
        </p:sp>
        <p:sp>
          <p:nvSpPr>
            <p:cNvPr id="39" name="Text Box 51"/>
            <p:cNvSpPr txBox="1">
              <a:spLocks noChangeArrowheads="1"/>
            </p:cNvSpPr>
            <p:nvPr/>
          </p:nvSpPr>
          <p:spPr bwMode="auto">
            <a:xfrm>
              <a:off x="720" y="1824"/>
              <a:ext cx="433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/>
                <a:t>6</a:t>
              </a:r>
              <a:endParaRPr lang="en-US" altLang="zh-CN" sz="2400"/>
            </a:p>
          </p:txBody>
        </p:sp>
      </p:grpSp>
      <p:sp>
        <p:nvSpPr>
          <p:cNvPr id="40" name="Oval 22"/>
          <p:cNvSpPr>
            <a:spLocks noChangeArrowheads="1"/>
          </p:cNvSpPr>
          <p:nvPr/>
        </p:nvSpPr>
        <p:spPr bwMode="auto">
          <a:xfrm>
            <a:off x="9253866" y="5957027"/>
            <a:ext cx="511810" cy="411829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smtClean="0">
                <a:solidFill>
                  <a:schemeClr val="bg1"/>
                </a:solidFill>
              </a:rPr>
              <a:t>5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smtClean="0"/>
              <a:t>1</a:t>
            </a:r>
            <a:r>
              <a:rPr lang="zh-CN" altLang="en-US" smtClean="0"/>
              <a:t>、可行流</a:t>
            </a:r>
            <a:endParaRPr lang="zh-CN" altLang="en-US" smtClean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79388" y="1125538"/>
            <a:ext cx="8964612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dirty="0" smtClean="0">
                <a:latin typeface="宋体" panose="02010600030101010101" pitchFamily="2" charset="-122"/>
              </a:rPr>
              <a:t>◆</a:t>
            </a:r>
            <a:r>
              <a:rPr lang="zh-CN" altLang="en-US" dirty="0" smtClean="0"/>
              <a:t>每条弧 </a:t>
            </a:r>
            <a:r>
              <a:rPr lang="en-US" altLang="zh-CN" dirty="0" smtClean="0"/>
              <a:t>( u, v )</a:t>
            </a:r>
            <a:r>
              <a:rPr lang="zh-CN" altLang="en-US" dirty="0" smtClean="0"/>
              <a:t>上 给定一个实数</a:t>
            </a:r>
            <a:r>
              <a:rPr lang="en-US" altLang="zh-CN" dirty="0" smtClean="0"/>
              <a:t>f(</a:t>
            </a:r>
            <a:r>
              <a:rPr lang="en-US" altLang="zh-CN" dirty="0" err="1" smtClean="0"/>
              <a:t>u,v</a:t>
            </a:r>
            <a:r>
              <a:rPr lang="en-US" altLang="zh-CN" dirty="0" smtClean="0"/>
              <a:t>),</a:t>
            </a:r>
            <a:r>
              <a:rPr lang="zh-CN" altLang="en-US" dirty="0" smtClean="0"/>
              <a:t>满足：有 </a:t>
            </a:r>
            <a:r>
              <a:rPr lang="en-US" altLang="zh-CN" dirty="0" smtClean="0"/>
              <a:t>0 &lt;= f ( u, v ) &lt;= c( u, v ),</a:t>
            </a:r>
            <a:r>
              <a:rPr lang="zh-CN" altLang="en-US" dirty="0" smtClean="0"/>
              <a:t>则</a:t>
            </a:r>
            <a:r>
              <a:rPr lang="en-US" altLang="zh-CN" dirty="0" smtClean="0"/>
              <a:t>f(</a:t>
            </a:r>
            <a:r>
              <a:rPr lang="en-US" altLang="zh-CN" dirty="0" err="1" smtClean="0"/>
              <a:t>u,v</a:t>
            </a:r>
            <a:r>
              <a:rPr lang="en-US" altLang="zh-CN" dirty="0" smtClean="0"/>
              <a:t>)</a:t>
            </a:r>
            <a:r>
              <a:rPr lang="zh-CN" altLang="en-US" dirty="0" smtClean="0"/>
              <a:t>称为弧</a:t>
            </a:r>
            <a:r>
              <a:rPr lang="en-US" altLang="zh-CN" dirty="0" smtClean="0"/>
              <a:t>( u, v )</a:t>
            </a:r>
            <a:r>
              <a:rPr lang="zh-CN" altLang="en-US" dirty="0" smtClean="0"/>
              <a:t>上的流量。</a:t>
            </a:r>
            <a:endParaRPr lang="zh-CN" altLang="en-US" dirty="0" smtClean="0"/>
          </a:p>
          <a:p>
            <a:pPr>
              <a:buFontTx/>
              <a:buNone/>
            </a:pPr>
            <a:r>
              <a:rPr lang="zh-CN" altLang="en-US" dirty="0" smtClean="0">
                <a:latin typeface="宋体" panose="02010600030101010101" pitchFamily="2" charset="-122"/>
              </a:rPr>
              <a:t>◆如果有一组流量满足</a:t>
            </a:r>
            <a:r>
              <a:rPr lang="zh-CN" altLang="en-US" dirty="0" smtClean="0"/>
              <a:t>条件：</a:t>
            </a:r>
            <a:endParaRPr lang="zh-CN" altLang="en-US" dirty="0" smtClean="0"/>
          </a:p>
          <a:p>
            <a:pPr>
              <a:buFontTx/>
              <a:buNone/>
            </a:pPr>
            <a:r>
              <a:rPr lang="zh-CN" altLang="en-US" dirty="0" smtClean="0"/>
              <a:t>          源点</a:t>
            </a:r>
            <a:r>
              <a:rPr lang="en-US" altLang="zh-CN" dirty="0" smtClean="0"/>
              <a:t>s </a:t>
            </a:r>
            <a:r>
              <a:rPr lang="zh-CN" altLang="en-US" dirty="0" smtClean="0"/>
              <a:t>：  流出量 </a:t>
            </a:r>
            <a:r>
              <a:rPr lang="en-US" altLang="zh-CN" dirty="0" smtClean="0"/>
              <a:t>= </a:t>
            </a:r>
            <a:r>
              <a:rPr lang="zh-CN" altLang="en-US" dirty="0" smtClean="0"/>
              <a:t>整个网络的流量</a:t>
            </a:r>
            <a:endParaRPr lang="zh-CN" altLang="en-US" dirty="0" smtClean="0"/>
          </a:p>
          <a:p>
            <a:pPr>
              <a:buFontTx/>
              <a:buNone/>
            </a:pPr>
            <a:r>
              <a:rPr lang="zh-CN" altLang="en-US" dirty="0" smtClean="0"/>
              <a:t>          汇点</a:t>
            </a:r>
            <a:r>
              <a:rPr lang="en-US" altLang="zh-CN" dirty="0" smtClean="0"/>
              <a:t>t </a:t>
            </a:r>
            <a:r>
              <a:rPr lang="zh-CN" altLang="en-US" dirty="0" smtClean="0"/>
              <a:t>：   流入量 </a:t>
            </a:r>
            <a:r>
              <a:rPr lang="en-US" altLang="zh-CN" dirty="0" smtClean="0"/>
              <a:t>=</a:t>
            </a:r>
            <a:r>
              <a:rPr lang="zh-CN" altLang="en-US" dirty="0" smtClean="0"/>
              <a:t>整个网络的流量</a:t>
            </a:r>
            <a:endParaRPr lang="zh-CN" altLang="en-US" dirty="0" smtClean="0"/>
          </a:p>
          <a:p>
            <a:pPr>
              <a:buFontTx/>
              <a:buNone/>
            </a:pPr>
            <a:r>
              <a:rPr lang="zh-CN" altLang="en-US" dirty="0" smtClean="0"/>
              <a:t>          中间点：总流入量 </a:t>
            </a:r>
            <a:r>
              <a:rPr lang="en-US" altLang="zh-CN" dirty="0" smtClean="0"/>
              <a:t>= </a:t>
            </a:r>
            <a:r>
              <a:rPr lang="zh-CN" altLang="en-US" dirty="0" smtClean="0"/>
              <a:t>总流出量</a:t>
            </a:r>
            <a:endParaRPr lang="zh-CN" altLang="en-US" dirty="0" smtClean="0"/>
          </a:p>
          <a:p>
            <a:pPr>
              <a:buFontTx/>
              <a:buNone/>
            </a:pPr>
            <a:r>
              <a:rPr lang="zh-CN" altLang="en-US" dirty="0" smtClean="0"/>
              <a:t>    那么整个网络中的流量成为一个可行流。</a:t>
            </a:r>
            <a:endParaRPr lang="zh-CN" altLang="en-US" dirty="0" smtClean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102145" y="5144908"/>
            <a:ext cx="3384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/>
              <a:t>区分：容量和流量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39750" y="333375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mtClean="0"/>
              <a:t>2</a:t>
            </a:r>
            <a:r>
              <a:rPr lang="zh-CN" altLang="en-US" smtClean="0"/>
              <a:t>、最大流</a:t>
            </a:r>
            <a:endParaRPr lang="zh-CN" altLang="en-US" smtClean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611188" y="1484313"/>
            <a:ext cx="7772400" cy="2520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在所有的可行流中， 流量最大的一个流的流量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最大流可能不只一个。</a:t>
            </a:r>
            <a:endParaRPr lang="zh-CN" altLang="en-US" dirty="0" smtClean="0"/>
          </a:p>
        </p:txBody>
      </p:sp>
      <p:grpSp>
        <p:nvGrpSpPr>
          <p:cNvPr id="12" name="Group 57"/>
          <p:cNvGrpSpPr/>
          <p:nvPr/>
        </p:nvGrpSpPr>
        <p:grpSpPr bwMode="auto">
          <a:xfrm>
            <a:off x="6058499" y="3318450"/>
            <a:ext cx="5757862" cy="2997200"/>
            <a:chOff x="432" y="528"/>
            <a:chExt cx="4320" cy="2096"/>
          </a:xfrm>
        </p:grpSpPr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488" y="2208"/>
              <a:ext cx="480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32" y="1344"/>
              <a:ext cx="384" cy="48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</a:rPr>
                <a:t>1 S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sp>
          <p:nvSpPr>
            <p:cNvPr id="15" name="Oval 19"/>
            <p:cNvSpPr>
              <a:spLocks noChangeArrowheads="1"/>
            </p:cNvSpPr>
            <p:nvPr/>
          </p:nvSpPr>
          <p:spPr bwMode="auto">
            <a:xfrm>
              <a:off x="1536" y="672"/>
              <a:ext cx="384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</a:rPr>
                <a:t>4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sp>
          <p:nvSpPr>
            <p:cNvPr id="16" name="Oval 21"/>
            <p:cNvSpPr>
              <a:spLocks noChangeArrowheads="1"/>
            </p:cNvSpPr>
            <p:nvPr/>
          </p:nvSpPr>
          <p:spPr bwMode="auto">
            <a:xfrm>
              <a:off x="3126" y="672"/>
              <a:ext cx="384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solidFill>
                    <a:schemeClr val="bg1"/>
                  </a:solidFill>
                </a:rPr>
                <a:t>3</a:t>
              </a:r>
              <a:endParaRPr lang="en-US" altLang="zh-CN" sz="2400" b="1" dirty="0"/>
            </a:p>
          </p:txBody>
        </p:sp>
        <p:sp>
          <p:nvSpPr>
            <p:cNvPr id="17" name="Oval 22"/>
            <p:cNvSpPr>
              <a:spLocks noChangeArrowheads="1"/>
            </p:cNvSpPr>
            <p:nvPr/>
          </p:nvSpPr>
          <p:spPr bwMode="auto">
            <a:xfrm>
              <a:off x="1536" y="2208"/>
              <a:ext cx="384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</a:rPr>
                <a:t>2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sp>
          <p:nvSpPr>
            <p:cNvPr id="18" name="Oval 23"/>
            <p:cNvSpPr>
              <a:spLocks noChangeArrowheads="1"/>
            </p:cNvSpPr>
            <p:nvPr/>
          </p:nvSpPr>
          <p:spPr bwMode="auto">
            <a:xfrm>
              <a:off x="3197" y="2176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/>
                <a:t>5</a:t>
              </a:r>
              <a:endParaRPr lang="en-US" altLang="zh-CN" sz="2400" b="1" dirty="0"/>
            </a:p>
          </p:txBody>
        </p:sp>
        <p:sp>
          <p:nvSpPr>
            <p:cNvPr id="19" name="Oval 24"/>
            <p:cNvSpPr>
              <a:spLocks noChangeArrowheads="1"/>
            </p:cNvSpPr>
            <p:nvPr/>
          </p:nvSpPr>
          <p:spPr bwMode="auto">
            <a:xfrm>
              <a:off x="4368" y="1296"/>
              <a:ext cx="384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/>
                <a:t>6 </a:t>
              </a:r>
              <a:r>
                <a:rPr lang="en-US" altLang="zh-CN" sz="2400" b="1" dirty="0" smtClean="0"/>
                <a:t>T</a:t>
              </a:r>
              <a:endParaRPr lang="en-US" altLang="zh-CN" sz="2400" b="1" dirty="0"/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 flipV="1">
              <a:off x="816" y="912"/>
              <a:ext cx="72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>
              <a:off x="816" y="1728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2" name="Line 33"/>
            <p:cNvSpPr>
              <a:spLocks noChangeShapeType="1"/>
            </p:cNvSpPr>
            <p:nvPr/>
          </p:nvSpPr>
          <p:spPr bwMode="auto">
            <a:xfrm>
              <a:off x="1968" y="2352"/>
              <a:ext cx="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3" name="Line 34"/>
            <p:cNvSpPr>
              <a:spLocks noChangeShapeType="1"/>
            </p:cNvSpPr>
            <p:nvPr/>
          </p:nvSpPr>
          <p:spPr bwMode="auto">
            <a:xfrm>
              <a:off x="1968" y="816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4" name="Line 35"/>
            <p:cNvSpPr>
              <a:spLocks noChangeShapeType="1"/>
            </p:cNvSpPr>
            <p:nvPr/>
          </p:nvSpPr>
          <p:spPr bwMode="auto">
            <a:xfrm>
              <a:off x="3504" y="912"/>
              <a:ext cx="91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5" name="Line 36"/>
            <p:cNvSpPr>
              <a:spLocks noChangeShapeType="1"/>
            </p:cNvSpPr>
            <p:nvPr/>
          </p:nvSpPr>
          <p:spPr bwMode="auto">
            <a:xfrm flipV="1">
              <a:off x="3600" y="1728"/>
              <a:ext cx="768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6" name="Line 37"/>
            <p:cNvSpPr>
              <a:spLocks noChangeShapeType="1"/>
            </p:cNvSpPr>
            <p:nvPr/>
          </p:nvSpPr>
          <p:spPr bwMode="auto">
            <a:xfrm>
              <a:off x="1872" y="960"/>
              <a:ext cx="1344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7" name="Text Box 41"/>
            <p:cNvSpPr txBox="1">
              <a:spLocks noChangeArrowheads="1"/>
            </p:cNvSpPr>
            <p:nvPr/>
          </p:nvSpPr>
          <p:spPr bwMode="auto">
            <a:xfrm>
              <a:off x="864" y="960"/>
              <a:ext cx="28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/>
                <a:t>0</a:t>
              </a:r>
              <a:r>
                <a:rPr lang="en-US" altLang="zh-CN" sz="2400" b="1" dirty="0" smtClean="0"/>
                <a:t>  </a:t>
              </a:r>
              <a:endParaRPr lang="en-US" altLang="zh-CN" sz="2400" b="1" dirty="0"/>
            </a:p>
          </p:txBody>
        </p:sp>
        <p:sp>
          <p:nvSpPr>
            <p:cNvPr id="28" name="Text Box 43"/>
            <p:cNvSpPr txBox="1">
              <a:spLocks noChangeArrowheads="1"/>
            </p:cNvSpPr>
            <p:nvPr/>
          </p:nvSpPr>
          <p:spPr bwMode="auto">
            <a:xfrm>
              <a:off x="2256" y="528"/>
              <a:ext cx="52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/>
                <a:t>0</a:t>
              </a:r>
              <a:endParaRPr lang="en-US" altLang="zh-CN" sz="2400" b="1" dirty="0"/>
            </a:p>
          </p:txBody>
        </p:sp>
        <p:sp>
          <p:nvSpPr>
            <p:cNvPr id="29" name="Text Box 44"/>
            <p:cNvSpPr txBox="1">
              <a:spLocks noChangeArrowheads="1"/>
            </p:cNvSpPr>
            <p:nvPr/>
          </p:nvSpPr>
          <p:spPr bwMode="auto">
            <a:xfrm>
              <a:off x="2256" y="2304"/>
              <a:ext cx="672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 smtClean="0"/>
                <a:t>0</a:t>
              </a:r>
              <a:endParaRPr lang="en-US" altLang="zh-CN" sz="2400" b="1" dirty="0"/>
            </a:p>
          </p:txBody>
        </p:sp>
        <p:sp>
          <p:nvSpPr>
            <p:cNvPr id="30" name="Text Box 45"/>
            <p:cNvSpPr txBox="1">
              <a:spLocks noChangeArrowheads="1"/>
            </p:cNvSpPr>
            <p:nvPr/>
          </p:nvSpPr>
          <p:spPr bwMode="auto">
            <a:xfrm>
              <a:off x="3984" y="1968"/>
              <a:ext cx="52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/>
                <a:t>0</a:t>
              </a:r>
              <a:endParaRPr lang="en-US" altLang="zh-CN" sz="2400" b="1" dirty="0"/>
            </a:p>
          </p:txBody>
        </p:sp>
        <p:sp>
          <p:nvSpPr>
            <p:cNvPr id="31" name="Text Box 46"/>
            <p:cNvSpPr txBox="1">
              <a:spLocks noChangeArrowheads="1"/>
            </p:cNvSpPr>
            <p:nvPr/>
          </p:nvSpPr>
          <p:spPr bwMode="auto">
            <a:xfrm>
              <a:off x="3888" y="864"/>
              <a:ext cx="480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 smtClean="0"/>
                <a:t>0</a:t>
              </a:r>
              <a:endParaRPr lang="en-US" altLang="zh-CN" sz="2400" b="1" dirty="0"/>
            </a:p>
          </p:txBody>
        </p:sp>
        <p:sp>
          <p:nvSpPr>
            <p:cNvPr id="32" name="Text Box 47"/>
            <p:cNvSpPr txBox="1">
              <a:spLocks noChangeArrowheads="1"/>
            </p:cNvSpPr>
            <p:nvPr/>
          </p:nvSpPr>
          <p:spPr bwMode="auto">
            <a:xfrm>
              <a:off x="2573" y="1392"/>
              <a:ext cx="624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/>
                <a:t>2</a:t>
              </a:r>
              <a:endParaRPr lang="en-US" altLang="zh-CN" sz="2400" b="1" dirty="0"/>
            </a:p>
          </p:txBody>
        </p:sp>
        <p:sp>
          <p:nvSpPr>
            <p:cNvPr id="33" name="Text Box 51"/>
            <p:cNvSpPr txBox="1">
              <a:spLocks noChangeArrowheads="1"/>
            </p:cNvSpPr>
            <p:nvPr/>
          </p:nvSpPr>
          <p:spPr bwMode="auto">
            <a:xfrm>
              <a:off x="873" y="1892"/>
              <a:ext cx="528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 smtClean="0"/>
                <a:t>2</a:t>
              </a:r>
              <a:endParaRPr lang="en-US" altLang="zh-CN" sz="2400" b="1" dirty="0"/>
            </a:p>
          </p:txBody>
        </p:sp>
      </p:grpSp>
      <p:sp>
        <p:nvSpPr>
          <p:cNvPr id="34" name="Oval 22"/>
          <p:cNvSpPr>
            <a:spLocks noChangeArrowheads="1"/>
          </p:cNvSpPr>
          <p:nvPr/>
        </p:nvSpPr>
        <p:spPr bwMode="auto">
          <a:xfrm>
            <a:off x="9705145" y="5676003"/>
            <a:ext cx="511810" cy="411829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smtClean="0">
                <a:solidFill>
                  <a:schemeClr val="bg1"/>
                </a:solidFill>
              </a:rPr>
              <a:t>5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grpSp>
        <p:nvGrpSpPr>
          <p:cNvPr id="35" name="Group 57"/>
          <p:cNvGrpSpPr/>
          <p:nvPr/>
        </p:nvGrpSpPr>
        <p:grpSpPr bwMode="auto">
          <a:xfrm>
            <a:off x="107375" y="3352769"/>
            <a:ext cx="5757862" cy="2997200"/>
            <a:chOff x="432" y="528"/>
            <a:chExt cx="4320" cy="2096"/>
          </a:xfrm>
        </p:grpSpPr>
        <p:sp>
          <p:nvSpPr>
            <p:cNvPr id="36" name="Text Box 12"/>
            <p:cNvSpPr txBox="1">
              <a:spLocks noChangeArrowheads="1"/>
            </p:cNvSpPr>
            <p:nvPr/>
          </p:nvSpPr>
          <p:spPr bwMode="auto">
            <a:xfrm>
              <a:off x="1488" y="2208"/>
              <a:ext cx="480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/>
                <a:t> </a:t>
              </a:r>
              <a:endParaRPr lang="en-US" altLang="zh-CN" sz="2400" b="1"/>
            </a:p>
          </p:txBody>
        </p:sp>
        <p:sp>
          <p:nvSpPr>
            <p:cNvPr id="37" name="Oval 17"/>
            <p:cNvSpPr>
              <a:spLocks noChangeArrowheads="1"/>
            </p:cNvSpPr>
            <p:nvPr/>
          </p:nvSpPr>
          <p:spPr bwMode="auto">
            <a:xfrm>
              <a:off x="432" y="1344"/>
              <a:ext cx="384" cy="48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</a:rPr>
                <a:t>1 S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sp>
          <p:nvSpPr>
            <p:cNvPr id="38" name="Oval 19"/>
            <p:cNvSpPr>
              <a:spLocks noChangeArrowheads="1"/>
            </p:cNvSpPr>
            <p:nvPr/>
          </p:nvSpPr>
          <p:spPr bwMode="auto">
            <a:xfrm>
              <a:off x="1536" y="672"/>
              <a:ext cx="384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</a:rPr>
                <a:t>4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sp>
          <p:nvSpPr>
            <p:cNvPr id="39" name="Oval 21"/>
            <p:cNvSpPr>
              <a:spLocks noChangeArrowheads="1"/>
            </p:cNvSpPr>
            <p:nvPr/>
          </p:nvSpPr>
          <p:spPr bwMode="auto">
            <a:xfrm>
              <a:off x="3126" y="672"/>
              <a:ext cx="384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solidFill>
                    <a:schemeClr val="bg1"/>
                  </a:solidFill>
                </a:rPr>
                <a:t>3</a:t>
              </a:r>
              <a:endParaRPr lang="en-US" altLang="zh-CN" sz="2400" b="1" dirty="0"/>
            </a:p>
          </p:txBody>
        </p:sp>
        <p:sp>
          <p:nvSpPr>
            <p:cNvPr id="40" name="Oval 22"/>
            <p:cNvSpPr>
              <a:spLocks noChangeArrowheads="1"/>
            </p:cNvSpPr>
            <p:nvPr/>
          </p:nvSpPr>
          <p:spPr bwMode="auto">
            <a:xfrm>
              <a:off x="1536" y="2208"/>
              <a:ext cx="384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</a:rPr>
                <a:t>2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sp>
          <p:nvSpPr>
            <p:cNvPr id="41" name="Oval 23"/>
            <p:cNvSpPr>
              <a:spLocks noChangeArrowheads="1"/>
            </p:cNvSpPr>
            <p:nvPr/>
          </p:nvSpPr>
          <p:spPr bwMode="auto">
            <a:xfrm>
              <a:off x="3197" y="2176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/>
                <a:t>5</a:t>
              </a:r>
              <a:endParaRPr lang="en-US" altLang="zh-CN" sz="2400" b="1" dirty="0"/>
            </a:p>
          </p:txBody>
        </p:sp>
        <p:sp>
          <p:nvSpPr>
            <p:cNvPr id="42" name="Oval 24"/>
            <p:cNvSpPr>
              <a:spLocks noChangeArrowheads="1"/>
            </p:cNvSpPr>
            <p:nvPr/>
          </p:nvSpPr>
          <p:spPr bwMode="auto">
            <a:xfrm>
              <a:off x="4368" y="1296"/>
              <a:ext cx="384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/>
                <a:t>6 </a:t>
              </a:r>
              <a:r>
                <a:rPr lang="en-US" altLang="zh-CN" sz="2400" b="1" dirty="0" smtClean="0"/>
                <a:t>T</a:t>
              </a:r>
              <a:endParaRPr lang="en-US" altLang="zh-CN" sz="2400" b="1" dirty="0"/>
            </a:p>
          </p:txBody>
        </p:sp>
        <p:sp>
          <p:nvSpPr>
            <p:cNvPr id="43" name="Line 31"/>
            <p:cNvSpPr>
              <a:spLocks noChangeShapeType="1"/>
            </p:cNvSpPr>
            <p:nvPr/>
          </p:nvSpPr>
          <p:spPr bwMode="auto">
            <a:xfrm flipV="1">
              <a:off x="816" y="912"/>
              <a:ext cx="72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4" name="Line 32"/>
            <p:cNvSpPr>
              <a:spLocks noChangeShapeType="1"/>
            </p:cNvSpPr>
            <p:nvPr/>
          </p:nvSpPr>
          <p:spPr bwMode="auto">
            <a:xfrm>
              <a:off x="816" y="1728"/>
              <a:ext cx="72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5" name="Line 33"/>
            <p:cNvSpPr>
              <a:spLocks noChangeShapeType="1"/>
            </p:cNvSpPr>
            <p:nvPr/>
          </p:nvSpPr>
          <p:spPr bwMode="auto">
            <a:xfrm>
              <a:off x="1968" y="2352"/>
              <a:ext cx="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6" name="Line 34"/>
            <p:cNvSpPr>
              <a:spLocks noChangeShapeType="1"/>
            </p:cNvSpPr>
            <p:nvPr/>
          </p:nvSpPr>
          <p:spPr bwMode="auto">
            <a:xfrm>
              <a:off x="1968" y="816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7" name="Line 35"/>
            <p:cNvSpPr>
              <a:spLocks noChangeShapeType="1"/>
            </p:cNvSpPr>
            <p:nvPr/>
          </p:nvSpPr>
          <p:spPr bwMode="auto">
            <a:xfrm>
              <a:off x="3504" y="912"/>
              <a:ext cx="91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8" name="Line 36"/>
            <p:cNvSpPr>
              <a:spLocks noChangeShapeType="1"/>
            </p:cNvSpPr>
            <p:nvPr/>
          </p:nvSpPr>
          <p:spPr bwMode="auto">
            <a:xfrm flipV="1">
              <a:off x="3600" y="1728"/>
              <a:ext cx="768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9" name="Line 37"/>
            <p:cNvSpPr>
              <a:spLocks noChangeShapeType="1"/>
            </p:cNvSpPr>
            <p:nvPr/>
          </p:nvSpPr>
          <p:spPr bwMode="auto">
            <a:xfrm>
              <a:off x="1872" y="960"/>
              <a:ext cx="1344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0" name="Text Box 41"/>
            <p:cNvSpPr txBox="1">
              <a:spLocks noChangeArrowheads="1"/>
            </p:cNvSpPr>
            <p:nvPr/>
          </p:nvSpPr>
          <p:spPr bwMode="auto">
            <a:xfrm>
              <a:off x="864" y="960"/>
              <a:ext cx="28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 smtClean="0"/>
                <a:t>4  </a:t>
              </a:r>
              <a:endParaRPr lang="en-US" altLang="zh-CN" sz="2400" b="1" dirty="0"/>
            </a:p>
          </p:txBody>
        </p:sp>
        <p:sp>
          <p:nvSpPr>
            <p:cNvPr id="51" name="Text Box 43"/>
            <p:cNvSpPr txBox="1">
              <a:spLocks noChangeArrowheads="1"/>
            </p:cNvSpPr>
            <p:nvPr/>
          </p:nvSpPr>
          <p:spPr bwMode="auto">
            <a:xfrm>
              <a:off x="2256" y="528"/>
              <a:ext cx="52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 smtClean="0"/>
                <a:t>4</a:t>
              </a:r>
              <a:endParaRPr lang="en-US" altLang="zh-CN" sz="2400" b="1" dirty="0"/>
            </a:p>
          </p:txBody>
        </p:sp>
        <p:sp>
          <p:nvSpPr>
            <p:cNvPr id="52" name="Text Box 44"/>
            <p:cNvSpPr txBox="1">
              <a:spLocks noChangeArrowheads="1"/>
            </p:cNvSpPr>
            <p:nvPr/>
          </p:nvSpPr>
          <p:spPr bwMode="auto">
            <a:xfrm>
              <a:off x="2256" y="2304"/>
              <a:ext cx="672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/>
                <a:t>4</a:t>
              </a:r>
              <a:endParaRPr lang="en-US" altLang="zh-CN" sz="2400" b="1"/>
            </a:p>
          </p:txBody>
        </p:sp>
        <p:sp>
          <p:nvSpPr>
            <p:cNvPr id="53" name="Text Box 45"/>
            <p:cNvSpPr txBox="1">
              <a:spLocks noChangeArrowheads="1"/>
            </p:cNvSpPr>
            <p:nvPr/>
          </p:nvSpPr>
          <p:spPr bwMode="auto">
            <a:xfrm>
              <a:off x="3984" y="1968"/>
              <a:ext cx="52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 smtClean="0"/>
                <a:t>4</a:t>
              </a:r>
              <a:endParaRPr lang="en-US" altLang="zh-CN" sz="2400" b="1" dirty="0"/>
            </a:p>
          </p:txBody>
        </p:sp>
        <p:sp>
          <p:nvSpPr>
            <p:cNvPr id="54" name="Text Box 46"/>
            <p:cNvSpPr txBox="1">
              <a:spLocks noChangeArrowheads="1"/>
            </p:cNvSpPr>
            <p:nvPr/>
          </p:nvSpPr>
          <p:spPr bwMode="auto">
            <a:xfrm>
              <a:off x="3888" y="864"/>
              <a:ext cx="480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/>
                <a:t>4</a:t>
              </a:r>
              <a:endParaRPr lang="en-US" altLang="zh-CN" sz="2400" b="1"/>
            </a:p>
          </p:txBody>
        </p:sp>
        <p:sp>
          <p:nvSpPr>
            <p:cNvPr id="55" name="Text Box 47"/>
            <p:cNvSpPr txBox="1">
              <a:spLocks noChangeArrowheads="1"/>
            </p:cNvSpPr>
            <p:nvPr/>
          </p:nvSpPr>
          <p:spPr bwMode="auto">
            <a:xfrm>
              <a:off x="2573" y="1392"/>
              <a:ext cx="624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 dirty="0"/>
                <a:t>2</a:t>
              </a:r>
              <a:endParaRPr lang="en-US" altLang="zh-CN" sz="2400" b="1" dirty="0"/>
            </a:p>
          </p:txBody>
        </p:sp>
        <p:sp>
          <p:nvSpPr>
            <p:cNvPr id="56" name="Text Box 51"/>
            <p:cNvSpPr txBox="1">
              <a:spLocks noChangeArrowheads="1"/>
            </p:cNvSpPr>
            <p:nvPr/>
          </p:nvSpPr>
          <p:spPr bwMode="auto">
            <a:xfrm>
              <a:off x="720" y="1824"/>
              <a:ext cx="433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b="1"/>
                <a:t>6</a:t>
              </a:r>
              <a:endParaRPr lang="en-US" altLang="zh-CN" sz="2400" b="1"/>
            </a:p>
          </p:txBody>
        </p:sp>
      </p:grp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3741359" y="5709346"/>
            <a:ext cx="511810" cy="411829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smtClean="0">
                <a:solidFill>
                  <a:schemeClr val="bg1"/>
                </a:solidFill>
              </a:rPr>
              <a:t>5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7169"/>
          <p:cNvSpPr>
            <a:spLocks noGrp="1"/>
          </p:cNvSpPr>
          <p:nvPr>
            <p:ph type="title"/>
          </p:nvPr>
        </p:nvSpPr>
        <p:spPr>
          <a:xfrm>
            <a:off x="838200" y="244356"/>
            <a:ext cx="10515600" cy="1325563"/>
          </a:xfrm>
        </p:spPr>
        <p:txBody>
          <a:bodyPr anchor="ctr"/>
          <a:lstStyle/>
          <a:p>
            <a:r>
              <a:rPr lang="zh-CN" altLang="en-US" b="1" dirty="0">
                <a:ea typeface="楷体" panose="02010609060101010101" pitchFamily="49" charset="-122"/>
              </a:rPr>
              <a:t>如何</a:t>
            </a:r>
            <a:r>
              <a:rPr lang="zh-CN" altLang="en-US" b="1" dirty="0" smtClean="0">
                <a:ea typeface="楷体" panose="02010609060101010101" pitchFamily="49" charset="-122"/>
              </a:rPr>
              <a:t>求最大流？</a:t>
            </a:r>
            <a:endParaRPr lang="zh-CN" altLang="en-US" b="1" dirty="0">
              <a:ea typeface="楷体" panose="02010609060101010101" pitchFamily="49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Ford-Fulkerson </a:t>
            </a:r>
            <a:r>
              <a:rPr lang="zh-CN" altLang="en-US" dirty="0" smtClean="0"/>
              <a:t>最大流算法（普通</a:t>
            </a:r>
            <a:r>
              <a:rPr lang="en-US" altLang="zh-CN" dirty="0" smtClean="0"/>
              <a:t>DFS</a:t>
            </a:r>
            <a:r>
              <a:rPr lang="zh-CN" altLang="en-US" dirty="0" smtClean="0"/>
              <a:t>算法）</a:t>
            </a:r>
            <a:endParaRPr lang="en-US" altLang="zh-CN" dirty="0" smtClean="0"/>
          </a:p>
          <a:p>
            <a:r>
              <a:rPr lang="en-US" altLang="zh-CN" dirty="0" err="1" smtClean="0"/>
              <a:t>Dinic</a:t>
            </a:r>
            <a:endParaRPr lang="en-US" altLang="zh-CN" dirty="0" smtClean="0"/>
          </a:p>
          <a:p>
            <a:r>
              <a:rPr lang="en-US" altLang="zh-CN" dirty="0" smtClean="0"/>
              <a:t>SAP</a:t>
            </a:r>
            <a:endParaRPr lang="en-US" altLang="zh-CN" dirty="0" smtClean="0"/>
          </a:p>
          <a:p>
            <a:r>
              <a:rPr lang="zh-CN" altLang="en-US" dirty="0"/>
              <a:t>预流</a:t>
            </a:r>
            <a:r>
              <a:rPr lang="zh-CN" altLang="en-US" dirty="0" smtClean="0"/>
              <a:t>推进</a:t>
            </a:r>
            <a:endParaRPr lang="en-US" altLang="zh-CN" dirty="0" smtClean="0"/>
          </a:p>
          <a:p>
            <a:r>
              <a:rPr lang="en-US" altLang="zh-CN" dirty="0" smtClean="0"/>
              <a:t>······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b="1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Dinic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标号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当前弧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优化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一些细节上的优化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6719" y="111784"/>
            <a:ext cx="4229280" cy="45253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331" y="1259926"/>
            <a:ext cx="3939469" cy="26478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最小割</a:t>
            </a:r>
            <a:endParaRPr lang="zh-CN" altLang="en-US" b="1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25625"/>
            <a:ext cx="12045462" cy="35572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312984" y="2379540"/>
            <a:ext cx="9826869" cy="4351338"/>
          </a:xfrm>
        </p:spPr>
        <p:txBody>
          <a:bodyPr>
            <a:norm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对于任意网络流图，从</a:t>
            </a:r>
            <a:r>
              <a:rPr lang="en-US" altLang="zh-CN" sz="3600" dirty="0" smtClean="0">
                <a:solidFill>
                  <a:srgbClr val="FF0000"/>
                </a:solidFill>
              </a:rPr>
              <a:t>S</a:t>
            </a:r>
            <a:r>
              <a:rPr lang="zh-CN" altLang="en-US" sz="3600" dirty="0" smtClean="0">
                <a:solidFill>
                  <a:srgbClr val="FF0000"/>
                </a:solidFill>
              </a:rPr>
              <a:t>到</a:t>
            </a:r>
            <a:r>
              <a:rPr lang="en-US" altLang="zh-CN" sz="3600" dirty="0" smtClean="0">
                <a:solidFill>
                  <a:srgbClr val="FF0000"/>
                </a:solidFill>
              </a:rPr>
              <a:t>T</a:t>
            </a:r>
            <a:r>
              <a:rPr lang="zh-CN" altLang="en-US" sz="3600" dirty="0" smtClean="0">
                <a:solidFill>
                  <a:srgbClr val="FF0000"/>
                </a:solidFill>
              </a:rPr>
              <a:t>的最大流</a:t>
            </a:r>
            <a:r>
              <a:rPr lang="en-US" altLang="zh-CN" sz="3600" dirty="0" smtClean="0">
                <a:solidFill>
                  <a:srgbClr val="FF0000"/>
                </a:solidFill>
              </a:rPr>
              <a:t>=</a:t>
            </a:r>
            <a:r>
              <a:rPr lang="zh-CN" altLang="en-US" sz="3600" dirty="0" smtClean="0">
                <a:solidFill>
                  <a:srgbClr val="FF0000"/>
                </a:solidFill>
              </a:rPr>
              <a:t>最小割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最大流最小割定理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最直观的裸题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243" name="文本占位符 1024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最大流：</a:t>
            </a:r>
            <a:r>
              <a:rPr lang="en-US" altLang="zh-CN" dirty="0"/>
              <a:t> usaco-4.2.1Drainage Ditches</a:t>
            </a:r>
            <a:r>
              <a:rPr lang="zh-CN" altLang="en-US" dirty="0"/>
              <a:t>草地</a:t>
            </a:r>
            <a:r>
              <a:rPr lang="zh-CN" altLang="en-US" dirty="0" smtClean="0"/>
              <a:t>排水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最小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割：</a:t>
            </a:r>
            <a:r>
              <a:rPr lang="en-US" altLang="zh-CN" b="1" dirty="0"/>
              <a:t> </a:t>
            </a:r>
            <a:r>
              <a:rPr lang="en-US" altLang="zh-CN" b="1" dirty="0" smtClean="0"/>
              <a:t>BZOJ1001</a:t>
            </a:r>
            <a:r>
              <a:rPr lang="en-US" altLang="zh-CN" b="1" dirty="0"/>
              <a:t>: [BeiJing2006]</a:t>
            </a:r>
            <a:r>
              <a:rPr lang="zh-CN" altLang="en-US" b="1" dirty="0"/>
              <a:t>狼抓</a:t>
            </a:r>
            <a:r>
              <a:rPr lang="zh-CN" altLang="en-US" b="1" dirty="0" smtClean="0"/>
              <a:t>兔子（直接最小割不能过）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b="1" dirty="0"/>
              <a:t>[Usaco2007 Open]Dining</a:t>
            </a:r>
            <a:r>
              <a:rPr lang="zh-CN" altLang="en-US" b="1" dirty="0"/>
              <a:t>吃饭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8200" y="1837592"/>
            <a:ext cx="10515600" cy="4269910"/>
          </a:xfrm>
        </p:spPr>
        <p:txBody>
          <a:bodyPr/>
          <a:lstStyle/>
          <a:p>
            <a:r>
              <a:rPr lang="zh-CN" altLang="en-US" dirty="0" smtClean="0"/>
              <a:t>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头牛，</a:t>
            </a:r>
            <a:r>
              <a:rPr lang="en-US" altLang="zh-CN" dirty="0" smtClean="0"/>
              <a:t>F</a:t>
            </a:r>
            <a:r>
              <a:rPr lang="zh-CN" altLang="en-US" dirty="0" smtClean="0"/>
              <a:t>种食物，</a:t>
            </a:r>
            <a:r>
              <a:rPr lang="en-US" altLang="zh-CN" dirty="0" smtClean="0"/>
              <a:t>G</a:t>
            </a:r>
            <a:r>
              <a:rPr lang="zh-CN" altLang="en-US" dirty="0" smtClean="0"/>
              <a:t>种饮料</a:t>
            </a:r>
            <a:endParaRPr lang="en-US" altLang="zh-CN" dirty="0" smtClean="0"/>
          </a:p>
          <a:p>
            <a:r>
              <a:rPr lang="zh-CN" altLang="en-US" dirty="0"/>
              <a:t>每</a:t>
            </a:r>
            <a:r>
              <a:rPr lang="zh-CN" altLang="en-US" dirty="0" smtClean="0"/>
              <a:t>头牛分别喜欢一些食物和一些饮料</a:t>
            </a:r>
            <a:endParaRPr lang="en-US" altLang="zh-CN" dirty="0" smtClean="0"/>
          </a:p>
          <a:p>
            <a:r>
              <a:rPr lang="zh-CN" altLang="en-US" dirty="0"/>
              <a:t>每种</a:t>
            </a:r>
            <a:r>
              <a:rPr lang="zh-CN" altLang="en-US" dirty="0" smtClean="0"/>
              <a:t>饮料和食物都只有一个</a:t>
            </a:r>
            <a:endParaRPr lang="en-US" altLang="zh-CN" dirty="0" smtClean="0"/>
          </a:p>
          <a:p>
            <a:r>
              <a:rPr lang="zh-CN" altLang="en-US" dirty="0" smtClean="0"/>
              <a:t>问最多能让几头牛吃到自己喜欢的食物并喝到自己喜欢的饮料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N,G,F&lt;=100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文本占位符 15362"/>
          <p:cNvSpPr>
            <a:spLocks noGrp="1"/>
          </p:cNvSpPr>
          <p:nvPr>
            <p:ph type="body" idx="1"/>
          </p:nvPr>
        </p:nvSpPr>
        <p:spPr>
          <a:xfrm>
            <a:off x="846992" y="817685"/>
            <a:ext cx="10515600" cy="5794129"/>
          </a:xfrm>
        </p:spPr>
        <p:txBody>
          <a:bodyPr>
            <a:normAutofit/>
          </a:bodyPr>
          <a:lstStyle/>
          <a:p>
            <a:r>
              <a:rPr lang="zh-CN" altLang="en-US" dirty="0">
                <a:ea typeface="楷体" panose="02010609060101010101" pitchFamily="49" charset="-122"/>
              </a:rPr>
              <a:t>如果</a:t>
            </a:r>
            <a:r>
              <a:rPr lang="zh-CN" altLang="en-US" dirty="0" smtClean="0">
                <a:ea typeface="楷体" panose="02010609060101010101" pitchFamily="49" charset="-122"/>
              </a:rPr>
              <a:t>没有饮料的存在，直接二分图匹配即可</a:t>
            </a:r>
            <a:endParaRPr lang="en-US" altLang="zh-CN" dirty="0" smtClean="0">
              <a:ea typeface="楷体" panose="02010609060101010101" pitchFamily="49" charset="-122"/>
            </a:endParaRPr>
          </a:p>
          <a:p>
            <a:r>
              <a:rPr lang="zh-CN" altLang="en-US" dirty="0" smtClean="0">
                <a:ea typeface="楷体" panose="02010609060101010101" pitchFamily="49" charset="-122"/>
              </a:rPr>
              <a:t>二分图匹配可以用最大流来做</a:t>
            </a:r>
            <a:endParaRPr lang="en-US" altLang="zh-CN" dirty="0" smtClean="0">
              <a:ea typeface="楷体" panose="02010609060101010101" pitchFamily="49" charset="-122"/>
            </a:endParaRPr>
          </a:p>
          <a:p>
            <a:endParaRPr lang="en-US" altLang="zh-CN" dirty="0">
              <a:ea typeface="楷体" panose="02010609060101010101" pitchFamily="49" charset="-122"/>
            </a:endParaRPr>
          </a:p>
          <a:p>
            <a:r>
              <a:rPr lang="zh-CN" altLang="en-US" dirty="0" smtClean="0">
                <a:ea typeface="楷体" panose="02010609060101010101" pitchFamily="49" charset="-122"/>
              </a:rPr>
              <a:t>所以我们可以类比一下，想一下这道题的建图</a:t>
            </a:r>
            <a:endParaRPr lang="en-US" altLang="zh-CN" dirty="0" smtClean="0">
              <a:ea typeface="楷体" panose="02010609060101010101" pitchFamily="49" charset="-122"/>
            </a:endParaRPr>
          </a:p>
          <a:p>
            <a:endParaRPr lang="en-US" altLang="zh-CN" dirty="0">
              <a:ea typeface="楷体" panose="02010609060101010101" pitchFamily="49" charset="-122"/>
            </a:endParaRPr>
          </a:p>
          <a:p>
            <a:r>
              <a:rPr lang="zh-CN" altLang="en-US" dirty="0" smtClean="0">
                <a:ea typeface="楷体" panose="02010609060101010101" pitchFamily="49" charset="-122"/>
              </a:rPr>
              <a:t>将源点连向所有食物，流量为</a:t>
            </a:r>
            <a:r>
              <a:rPr lang="en-US" altLang="zh-CN" dirty="0" smtClean="0">
                <a:ea typeface="楷体" panose="02010609060101010101" pitchFamily="49" charset="-122"/>
              </a:rPr>
              <a:t>1</a:t>
            </a:r>
            <a:r>
              <a:rPr lang="zh-CN" altLang="en-US" dirty="0" smtClean="0">
                <a:ea typeface="楷体" panose="02010609060101010101" pitchFamily="49" charset="-122"/>
              </a:rPr>
              <a:t>，代表最多能使用一次</a:t>
            </a:r>
            <a:endParaRPr lang="en-US" altLang="zh-CN" dirty="0" smtClean="0">
              <a:ea typeface="楷体" panose="02010609060101010101" pitchFamily="49" charset="-122"/>
            </a:endParaRPr>
          </a:p>
          <a:p>
            <a:r>
              <a:rPr lang="zh-CN" altLang="en-US" dirty="0" smtClean="0">
                <a:ea typeface="楷体" panose="02010609060101010101" pitchFamily="49" charset="-122"/>
              </a:rPr>
              <a:t>同理将饮料连向所有汇点，流量为</a:t>
            </a:r>
            <a:r>
              <a:rPr lang="en-US" altLang="zh-CN" dirty="0" smtClean="0">
                <a:ea typeface="楷体" panose="02010609060101010101" pitchFamily="49" charset="-122"/>
              </a:rPr>
              <a:t>1</a:t>
            </a:r>
            <a:endParaRPr lang="en-US" altLang="zh-CN" dirty="0" smtClean="0">
              <a:ea typeface="楷体" panose="02010609060101010101" pitchFamily="49" charset="-122"/>
            </a:endParaRPr>
          </a:p>
          <a:p>
            <a:r>
              <a:rPr lang="zh-CN" altLang="en-US" dirty="0" smtClean="0">
                <a:ea typeface="楷体" panose="02010609060101010101" pitchFamily="49" charset="-122"/>
              </a:rPr>
              <a:t>然后在中间放上</a:t>
            </a:r>
            <a:r>
              <a:rPr lang="en-US" altLang="zh-CN" dirty="0" smtClean="0">
                <a:ea typeface="楷体" panose="02010609060101010101" pitchFamily="49" charset="-122"/>
              </a:rPr>
              <a:t>n</a:t>
            </a:r>
            <a:r>
              <a:rPr lang="zh-CN" altLang="en-US" dirty="0" smtClean="0">
                <a:ea typeface="楷体" panose="02010609060101010101" pitchFamily="49" charset="-122"/>
              </a:rPr>
              <a:t>头牛，用两个点来代表一头牛，中间连一条流量为</a:t>
            </a:r>
            <a:r>
              <a:rPr lang="en-US" altLang="zh-CN" dirty="0" smtClean="0">
                <a:ea typeface="楷体" panose="02010609060101010101" pitchFamily="49" charset="-122"/>
              </a:rPr>
              <a:t>1</a:t>
            </a:r>
            <a:r>
              <a:rPr lang="zh-CN" altLang="en-US" dirty="0" smtClean="0">
                <a:ea typeface="楷体" panose="02010609060101010101" pitchFamily="49" charset="-122"/>
              </a:rPr>
              <a:t>的边</a:t>
            </a:r>
            <a:endParaRPr lang="en-US" altLang="zh-CN" dirty="0" smtClean="0">
              <a:ea typeface="楷体" panose="02010609060101010101" pitchFamily="49" charset="-122"/>
            </a:endParaRPr>
          </a:p>
          <a:p>
            <a:r>
              <a:rPr lang="zh-CN" altLang="en-US" dirty="0" smtClean="0">
                <a:ea typeface="楷体" panose="02010609060101010101" pitchFamily="49" charset="-122"/>
              </a:rPr>
              <a:t>每头牛向自己喜欢的饮料连一条流量为</a:t>
            </a:r>
            <a:r>
              <a:rPr lang="en-US" altLang="zh-CN" dirty="0" smtClean="0">
                <a:ea typeface="楷体" panose="02010609060101010101" pitchFamily="49" charset="-122"/>
              </a:rPr>
              <a:t>1</a:t>
            </a:r>
            <a:r>
              <a:rPr lang="zh-CN" altLang="en-US" dirty="0" smtClean="0">
                <a:ea typeface="楷体" panose="02010609060101010101" pitchFamily="49" charset="-122"/>
              </a:rPr>
              <a:t>的边</a:t>
            </a:r>
            <a:endParaRPr lang="en-US" altLang="zh-CN" dirty="0" smtClean="0">
              <a:ea typeface="楷体" panose="02010609060101010101" pitchFamily="49" charset="-122"/>
            </a:endParaRPr>
          </a:p>
          <a:p>
            <a:r>
              <a:rPr lang="zh-CN" altLang="en-US" dirty="0" smtClean="0">
                <a:ea typeface="楷体" panose="02010609060101010101" pitchFamily="49" charset="-122"/>
              </a:rPr>
              <a:t>从自己喜欢的食物向他再连一条流量为</a:t>
            </a:r>
            <a:r>
              <a:rPr lang="en-US" altLang="zh-CN" dirty="0" smtClean="0">
                <a:ea typeface="楷体" panose="02010609060101010101" pitchFamily="49" charset="-122"/>
              </a:rPr>
              <a:t>1</a:t>
            </a:r>
            <a:r>
              <a:rPr lang="zh-CN" altLang="en-US" dirty="0" smtClean="0">
                <a:ea typeface="楷体" panose="02010609060101010101" pitchFamily="49" charset="-122"/>
              </a:rPr>
              <a:t>的边</a:t>
            </a:r>
            <a:endParaRPr lang="en-US" altLang="zh-CN" dirty="0" smtClean="0"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经典的最小割模型</a:t>
            </a:r>
            <a:r>
              <a:rPr lang="en-US" altLang="zh-CN" b="1" dirty="0" smtClean="0"/>
              <a:t>——</a:t>
            </a:r>
            <a:r>
              <a:rPr lang="zh-CN" altLang="en-US" b="1" dirty="0" smtClean="0"/>
              <a:t>最大权闭合子图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每个点有点权，点权可正可负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对于</a:t>
            </a:r>
            <a:r>
              <a:rPr lang="zh-CN" altLang="en-US" dirty="0"/>
              <a:t>任意一条有向边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，选择了点</a:t>
            </a:r>
            <a:r>
              <a:rPr lang="en-US" altLang="zh-CN" dirty="0" err="1"/>
              <a:t>i</a:t>
            </a:r>
            <a:r>
              <a:rPr lang="zh-CN" altLang="en-US" dirty="0"/>
              <a:t>就必须选择点</a:t>
            </a:r>
            <a:r>
              <a:rPr lang="en-US" altLang="zh-CN" dirty="0" smtClean="0"/>
              <a:t>j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 smtClean="0"/>
              <a:t>你</a:t>
            </a:r>
            <a:r>
              <a:rPr lang="zh-CN" altLang="en-US" dirty="0"/>
              <a:t>需要选择一些点使得得到权值最大。 </a:t>
            </a:r>
            <a:br>
              <a:rPr lang="zh-CN" altLang="en-US" dirty="0"/>
            </a:br>
            <a:endParaRPr lang="en-US" altLang="zh-CN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先把答案加上所有的正权值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然后从源点向所有正权值的点连一条流量为权值的边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所有负权值的点向汇点连一条流量为权值相反数的边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原图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中所有的限制关系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,j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均建一条从</a:t>
            </a:r>
            <a:r>
              <a:rPr lang="en-US" altLang="zh-CN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的流量为</a:t>
            </a:r>
            <a:r>
              <a:rPr lang="en-US" altLang="zh-CN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inf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的边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最终答案减去这个图的最小割即可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建模方式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21505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b="1" dirty="0"/>
              <a:t>[NOI2006]</a:t>
            </a:r>
            <a:r>
              <a:rPr lang="zh-CN" altLang="en-US" b="1" dirty="0"/>
              <a:t>最大获利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507" name="文本占位符 21506"/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885099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在前期市场调查和站址勘测之后，公司得到了一共</a:t>
            </a:r>
            <a:r>
              <a:rPr lang="en-US" altLang="zh-CN" sz="1800" dirty="0"/>
              <a:t>N</a:t>
            </a:r>
            <a:r>
              <a:rPr lang="zh-CN" altLang="en-US" sz="1800" dirty="0"/>
              <a:t>个可以作为通讯信号中转站的</a:t>
            </a:r>
            <a:r>
              <a:rPr lang="zh-CN" altLang="en-US" sz="1800" dirty="0" smtClean="0"/>
              <a:t>地址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zh-CN" altLang="en-US" sz="1800" dirty="0" smtClean="0"/>
              <a:t>而</a:t>
            </a:r>
            <a:r>
              <a:rPr lang="zh-CN" altLang="en-US" sz="1800" dirty="0"/>
              <a:t>由于这些地址的地理位置差异，在不同的地方建造通讯中转站需要投入的成本也是不一样</a:t>
            </a:r>
            <a:r>
              <a:rPr lang="zh-CN" altLang="en-US" sz="1800" dirty="0" smtClean="0"/>
              <a:t>的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zh-CN" altLang="en-US" sz="1800" dirty="0" smtClean="0"/>
              <a:t>所</a:t>
            </a:r>
            <a:r>
              <a:rPr lang="zh-CN" altLang="en-US" sz="1800" dirty="0"/>
              <a:t>幸在前期调查之后这些都是已知数据：建立第</a:t>
            </a:r>
            <a:r>
              <a:rPr lang="en-US" altLang="zh-CN" sz="1800" dirty="0" err="1"/>
              <a:t>i</a:t>
            </a:r>
            <a:r>
              <a:rPr lang="zh-CN" altLang="en-US" sz="1800" dirty="0"/>
              <a:t>个通讯中转站需要的成本为</a:t>
            </a:r>
            <a:r>
              <a:rPr lang="en-US" altLang="zh-CN" sz="1800" dirty="0"/>
              <a:t>Pi</a:t>
            </a:r>
            <a:r>
              <a:rPr lang="zh-CN" altLang="en-US" sz="1800" dirty="0"/>
              <a:t>（</a:t>
            </a:r>
            <a:r>
              <a:rPr lang="en-US" altLang="zh-CN" sz="1800" dirty="0"/>
              <a:t>1≤i≤N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zh-CN" altLang="en-US" sz="1800" dirty="0" smtClean="0"/>
              <a:t>另外</a:t>
            </a:r>
            <a:r>
              <a:rPr lang="zh-CN" altLang="en-US" sz="1800" dirty="0"/>
              <a:t>公司调查得出了所有期望中的用户群，一共</a:t>
            </a:r>
            <a:r>
              <a:rPr lang="en-US" altLang="zh-CN" sz="1800" dirty="0"/>
              <a:t>M</a:t>
            </a:r>
            <a:r>
              <a:rPr lang="zh-CN" altLang="en-US" sz="1800" dirty="0" smtClean="0"/>
              <a:t>个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zh-CN" altLang="en-US" sz="1800" dirty="0" smtClean="0"/>
              <a:t>关于</a:t>
            </a:r>
            <a:r>
              <a:rPr lang="zh-CN" altLang="en-US" sz="1800" dirty="0"/>
              <a:t>第</a:t>
            </a:r>
            <a:r>
              <a:rPr lang="en-US" altLang="zh-CN" sz="1800" dirty="0" err="1"/>
              <a:t>i</a:t>
            </a:r>
            <a:r>
              <a:rPr lang="zh-CN" altLang="en-US" sz="1800" dirty="0"/>
              <a:t>个用户群的信息概括为</a:t>
            </a:r>
            <a:r>
              <a:rPr lang="en-US" altLang="zh-CN" sz="1800" dirty="0"/>
              <a:t>Ai, Bi</a:t>
            </a:r>
            <a:r>
              <a:rPr lang="zh-CN" altLang="en-US" sz="1800" dirty="0"/>
              <a:t>和</a:t>
            </a:r>
            <a:r>
              <a:rPr lang="en-US" altLang="zh-CN" sz="1800" dirty="0"/>
              <a:t>Ci</a:t>
            </a:r>
            <a:r>
              <a:rPr lang="zh-CN" altLang="en-US" sz="1800" dirty="0"/>
              <a:t>：这些用户会使用中转站</a:t>
            </a:r>
            <a:r>
              <a:rPr lang="en-US" altLang="zh-CN" sz="1800" dirty="0"/>
              <a:t>Ai</a:t>
            </a:r>
            <a:r>
              <a:rPr lang="zh-CN" altLang="en-US" sz="1800" dirty="0"/>
              <a:t>和中转站</a:t>
            </a:r>
            <a:r>
              <a:rPr lang="en-US" altLang="zh-CN" sz="1800" dirty="0"/>
              <a:t>Bi</a:t>
            </a:r>
            <a:r>
              <a:rPr lang="zh-CN" altLang="en-US" sz="1800" dirty="0"/>
              <a:t>进行通讯，公司可以获益</a:t>
            </a:r>
            <a:r>
              <a:rPr lang="en-US" altLang="zh-CN" sz="1800" dirty="0"/>
              <a:t>Ci</a:t>
            </a:r>
            <a:r>
              <a:rPr lang="zh-CN" altLang="en-US" sz="1800" dirty="0"/>
              <a:t>。（</a:t>
            </a:r>
            <a:r>
              <a:rPr lang="en-US" altLang="zh-CN" sz="1800" dirty="0"/>
              <a:t>1≤i≤M, 1≤Ai, </a:t>
            </a:r>
            <a:r>
              <a:rPr lang="en-US" altLang="zh-CN" sz="1800" dirty="0" err="1"/>
              <a:t>Bi≤N</a:t>
            </a:r>
            <a:r>
              <a:rPr lang="zh-CN" altLang="en-US" sz="1800" dirty="0"/>
              <a:t>） 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zh-CN" altLang="en-US" sz="1800" dirty="0" smtClean="0"/>
              <a:t>公司</a:t>
            </a:r>
            <a:r>
              <a:rPr lang="zh-CN" altLang="en-US" sz="1800" dirty="0"/>
              <a:t>可以有选择的建立一些中转站（投入成本），为一些用户提供服务并获得收益（获益之和）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zh-CN" altLang="en-US" sz="1800" dirty="0" smtClean="0"/>
              <a:t>那么</a:t>
            </a:r>
            <a:r>
              <a:rPr lang="zh-CN" altLang="en-US" sz="1800" dirty="0"/>
              <a:t>如何选择最终建立的中转站才能让公司的净获利最大呢？（净获利 </a:t>
            </a:r>
            <a:r>
              <a:rPr lang="en-US" altLang="zh-CN" sz="1800" dirty="0"/>
              <a:t>= </a:t>
            </a:r>
            <a:r>
              <a:rPr lang="zh-CN" altLang="en-US" sz="1800" dirty="0"/>
              <a:t>获益之和 </a:t>
            </a:r>
            <a:r>
              <a:rPr lang="en-US" altLang="zh-CN" sz="1800" dirty="0"/>
              <a:t>- </a:t>
            </a:r>
            <a:r>
              <a:rPr lang="zh-CN" altLang="en-US" sz="1800" dirty="0"/>
              <a:t>投入成本之和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marL="0" indent="0">
              <a:buNone/>
            </a:pPr>
            <a:endParaRPr lang="en-US" altLang="zh-CN" sz="1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sz="1800" dirty="0" smtClean="0"/>
              <a:t>N≤5000，M≤50000，0≤Ci≤100，0≤Pi≤100</a:t>
            </a:r>
            <a:endParaRPr lang="en-US" altLang="zh-CN" sz="1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文本占位符 2253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将每个用户群的信息新建一个点，权值为</a:t>
            </a:r>
            <a:r>
              <a:rPr lang="en-US" altLang="zh-CN" sz="1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ci</a:t>
            </a:r>
            <a:r>
              <a:rPr lang="zh-CN" altLang="en-US" sz="1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，并且若想选择这个点必须选择</a:t>
            </a:r>
            <a:r>
              <a:rPr lang="en-US" altLang="zh-CN" sz="18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ai</a:t>
            </a:r>
            <a:r>
              <a:rPr lang="zh-CN" altLang="en-US" sz="1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1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bi</a:t>
            </a:r>
            <a:endParaRPr lang="en-US" altLang="zh-CN" sz="1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1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这就成了一个经典最大权闭合子图的模型了</a:t>
            </a:r>
            <a:endParaRPr lang="en-US" altLang="zh-CN" sz="18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1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直接最小割解决就可以了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8200" y="4313208"/>
            <a:ext cx="686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另一道稍稍麻烦的题：</a:t>
            </a:r>
            <a:r>
              <a:rPr lang="en-US" altLang="zh-CN" b="1" dirty="0"/>
              <a:t> [NOI2009]</a:t>
            </a:r>
            <a:r>
              <a:rPr lang="zh-CN" altLang="en-US" b="1" dirty="0"/>
              <a:t>植物大战僵尸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355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556" name="文本占位符 23555"/>
          <p:cNvSpPr>
            <a:spLocks noGrp="1" noChangeAspect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最大流最小割</a:t>
            </a:r>
            <a:endParaRPr lang="en-US" altLang="zh-CN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费用流</a:t>
            </a:r>
            <a:endParaRPr lang="en-US" altLang="zh-CN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（*）上下界网络流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什么是费用</a:t>
            </a:r>
            <a:r>
              <a:rPr lang="zh-CN" altLang="en-US" b="1" dirty="0"/>
              <a:t>流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838200" y="1690688"/>
            <a:ext cx="9703279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如果一个网络的边不仅有容量，还有单位流量费用的话，那我们自然想在求得最大流的同时，使总费用更低。因此，最小费用最大流实际上是一个更通用的模型，因而其应用也更广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如何求费用流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838200" y="2001329"/>
            <a:ext cx="759843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连续最短路算法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endParaRPr lang="en-US" altLang="zh-CN" sz="2400" b="1" dirty="0" smtClean="0"/>
          </a:p>
          <a:p>
            <a:r>
              <a:rPr lang="zh-CN" altLang="en-US" sz="2400" b="1" dirty="0"/>
              <a:t>消圈</a:t>
            </a:r>
            <a:r>
              <a:rPr lang="zh-CN" altLang="en-US" sz="2400" b="1" dirty="0" smtClean="0"/>
              <a:t>算法</a:t>
            </a:r>
            <a:endParaRPr lang="en-US" altLang="zh-CN" sz="2400" b="1" dirty="0" smtClean="0"/>
          </a:p>
          <a:p>
            <a:endParaRPr lang="en-US" altLang="zh-CN" sz="2400" b="1" dirty="0"/>
          </a:p>
          <a:p>
            <a:r>
              <a:rPr lang="en-US" altLang="zh-CN" sz="2400" b="1" dirty="0" err="1"/>
              <a:t>z</a:t>
            </a:r>
            <a:r>
              <a:rPr lang="en-US" altLang="zh-CN" sz="2400" b="1" dirty="0" err="1" smtClean="0"/>
              <a:t>kw</a:t>
            </a:r>
            <a:r>
              <a:rPr lang="zh-CN" altLang="en-US" sz="2400" b="1" dirty="0" smtClean="0"/>
              <a:t>费用流</a:t>
            </a:r>
            <a:endParaRPr lang="en-US" altLang="zh-CN" sz="2400" b="1" dirty="0" smtClean="0"/>
          </a:p>
          <a:p>
            <a:endParaRPr lang="en-US" altLang="zh-CN" sz="2400" b="1" dirty="0"/>
          </a:p>
          <a:p>
            <a:r>
              <a:rPr lang="en-US" altLang="zh-CN" sz="2400" b="1" dirty="0" smtClean="0"/>
              <a:t>….</a:t>
            </a:r>
            <a:endParaRPr lang="en-US" altLang="zh-CN" sz="2400" b="1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连续最短路算法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用贪心的思想</a:t>
            </a:r>
            <a:endParaRPr lang="en-US" altLang="zh-CN" dirty="0" smtClean="0"/>
          </a:p>
          <a:p>
            <a:r>
              <a:rPr lang="zh-CN" altLang="en-US" dirty="0" smtClean="0"/>
              <a:t>从源点开始每次寻找总费用最小的增广路</a:t>
            </a:r>
            <a:endParaRPr lang="en-US" altLang="zh-CN" dirty="0" smtClean="0"/>
          </a:p>
          <a:p>
            <a:r>
              <a:rPr lang="zh-CN" altLang="en-US" dirty="0"/>
              <a:t>直到不能</a:t>
            </a:r>
            <a:r>
              <a:rPr lang="zh-CN" altLang="en-US" dirty="0" smtClean="0"/>
              <a:t>增广为止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因为反向弧的存在，所以这个算法是正确的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[SDOI2009]</a:t>
            </a:r>
            <a:r>
              <a:rPr lang="zh-CN" altLang="en-US" b="1" dirty="0"/>
              <a:t>晨跑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给一个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个点</a:t>
            </a:r>
            <a:r>
              <a:rPr lang="en-US" altLang="zh-CN" dirty="0" smtClean="0"/>
              <a:t>m</a:t>
            </a:r>
            <a:r>
              <a:rPr lang="zh-CN" altLang="en-US" dirty="0" smtClean="0"/>
              <a:t>条边的带权有向图</a:t>
            </a:r>
            <a:endParaRPr lang="en-US" altLang="zh-CN" dirty="0" smtClean="0"/>
          </a:p>
          <a:p>
            <a:r>
              <a:rPr lang="zh-CN" altLang="en-US" dirty="0" smtClean="0"/>
              <a:t>要求找出尽量多的从</a:t>
            </a:r>
            <a:r>
              <a:rPr lang="en-US" altLang="zh-CN" dirty="0" smtClean="0"/>
              <a:t>1</a:t>
            </a:r>
            <a:r>
              <a:rPr lang="zh-CN" altLang="en-US" dirty="0"/>
              <a:t>到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的路径</a:t>
            </a:r>
            <a:endParaRPr lang="en-US" altLang="zh-CN" dirty="0" smtClean="0"/>
          </a:p>
          <a:p>
            <a:r>
              <a:rPr lang="zh-CN" altLang="en-US" dirty="0" smtClean="0"/>
              <a:t>使得任意两条路径除了起点和终点不经过相同的点</a:t>
            </a:r>
            <a:endParaRPr lang="en-US" altLang="zh-CN" dirty="0" smtClean="0"/>
          </a:p>
          <a:p>
            <a:r>
              <a:rPr lang="zh-CN" altLang="en-US" dirty="0"/>
              <a:t>在</a:t>
            </a:r>
            <a:r>
              <a:rPr lang="zh-CN" altLang="en-US" dirty="0" smtClean="0"/>
              <a:t>路径条数最多</a:t>
            </a:r>
            <a:r>
              <a:rPr lang="zh-CN" altLang="en-US" dirty="0"/>
              <a:t>的情况</a:t>
            </a:r>
            <a:r>
              <a:rPr lang="zh-CN" altLang="en-US" dirty="0" smtClean="0"/>
              <a:t>下，所经过的边的总费用最小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dirty="0" smtClean="0"/>
              <a:t>N ≤ 200，M ≤ 20000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9573" y="1083754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如果没有费用限制，显然是一个最大流问题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把每个点拆点然后连一条流量为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的边即可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加上费用跑最小费用最大流即可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[SCOI2007]</a:t>
            </a:r>
            <a:r>
              <a:rPr lang="zh-CN" altLang="en-US" b="1" dirty="0"/>
              <a:t>修车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同</a:t>
            </a:r>
            <a:r>
              <a:rPr lang="zh-CN" altLang="en-US" dirty="0"/>
              <a:t>一时刻有</a:t>
            </a:r>
            <a:r>
              <a:rPr lang="en-US" altLang="zh-CN" dirty="0"/>
              <a:t>N</a:t>
            </a:r>
            <a:r>
              <a:rPr lang="zh-CN" altLang="en-US" dirty="0"/>
              <a:t>位车主带着他们的爱车来到了汽车维修中心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维修</a:t>
            </a:r>
            <a:r>
              <a:rPr lang="zh-CN" altLang="en-US" dirty="0"/>
              <a:t>中心共有</a:t>
            </a:r>
            <a:r>
              <a:rPr lang="en-US" altLang="zh-CN" dirty="0"/>
              <a:t>M</a:t>
            </a:r>
            <a:r>
              <a:rPr lang="zh-CN" altLang="en-US" dirty="0"/>
              <a:t>位技术人员，不同的技术人员对</a:t>
            </a:r>
            <a:r>
              <a:rPr lang="zh-CN" altLang="en-US" dirty="0" smtClean="0"/>
              <a:t>不同的</a:t>
            </a:r>
            <a:r>
              <a:rPr lang="zh-CN" altLang="en-US" dirty="0"/>
              <a:t>车进行维修所用的时间是不同的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现在</a:t>
            </a:r>
            <a:r>
              <a:rPr lang="zh-CN" altLang="en-US" dirty="0"/>
              <a:t>需要安排这</a:t>
            </a:r>
            <a:r>
              <a:rPr lang="en-US" altLang="zh-CN" dirty="0"/>
              <a:t>M</a:t>
            </a:r>
            <a:r>
              <a:rPr lang="zh-CN" altLang="en-US" dirty="0"/>
              <a:t>位技术人员所维修的车及顺序，使得顾客平均等待的时间</a:t>
            </a:r>
            <a:r>
              <a:rPr lang="zh-CN" altLang="en-US" dirty="0" smtClean="0"/>
              <a:t>最小。</a:t>
            </a:r>
            <a:endParaRPr lang="en-US" altLang="zh-CN" dirty="0" smtClean="0"/>
          </a:p>
          <a:p>
            <a:r>
              <a:rPr lang="zh-CN" altLang="en-US" dirty="0" smtClean="0"/>
              <a:t> </a:t>
            </a:r>
            <a:r>
              <a:rPr lang="zh-CN" altLang="en-US" dirty="0"/>
              <a:t>说明：顾客的等待时间是指从他把车送至维修中心到维修完毕所用的时间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dirty="0" smtClean="0"/>
              <a:t>2&lt;=M&lt;=9,1&lt;=N&lt;=60, 1&lt;=</a:t>
            </a:r>
            <a:r>
              <a:rPr lang="zh-CN" altLang="en-US" dirty="0" smtClean="0"/>
              <a:t>修每辆车的时间</a:t>
            </a:r>
            <a:r>
              <a:rPr lang="en-US" dirty="0" smtClean="0"/>
              <a:t>&lt;=1000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5068" y="1014742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把每个工作人员拆成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个点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个点代表这个人修的车中倒数第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辆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然后将每辆车向这些点连边，流量为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费用为</a:t>
            </a:r>
            <a:r>
              <a:rPr lang="en-US" altLang="zh-CN" dirty="0" smtClean="0"/>
              <a:t>F(</a:t>
            </a:r>
            <a:r>
              <a:rPr lang="en-US" altLang="zh-CN" dirty="0" err="1"/>
              <a:t>i</a:t>
            </a:r>
            <a:r>
              <a:rPr lang="en-US" altLang="zh-CN" dirty="0" err="1" smtClean="0"/>
              <a:t>,j</a:t>
            </a:r>
            <a:r>
              <a:rPr lang="en-US" altLang="zh-CN" dirty="0" smtClean="0"/>
              <a:t>)*</a:t>
            </a:r>
            <a:r>
              <a:rPr lang="en-US" altLang="zh-CN" dirty="0" err="1" smtClean="0"/>
              <a:t>i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/>
              <a:t>源点连</a:t>
            </a:r>
            <a:r>
              <a:rPr lang="zh-CN" altLang="en-US" dirty="0" smtClean="0"/>
              <a:t>向车，工作人员连向汇点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[Sdoi2016]</a:t>
            </a:r>
            <a:r>
              <a:rPr lang="zh-CN" altLang="en-US" b="1" dirty="0"/>
              <a:t>数字配对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 </a:t>
            </a:r>
            <a:r>
              <a:rPr lang="en-US" altLang="zh-CN" dirty="0"/>
              <a:t>n </a:t>
            </a:r>
            <a:r>
              <a:rPr lang="zh-CN" altLang="en-US" dirty="0"/>
              <a:t>种数字，第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种数字是 </a:t>
            </a:r>
            <a:r>
              <a:rPr lang="en-US" altLang="zh-CN" dirty="0" err="1"/>
              <a:t>ai</a:t>
            </a:r>
            <a:r>
              <a:rPr lang="zh-CN" altLang="en-US" dirty="0"/>
              <a:t>、有 </a:t>
            </a:r>
            <a:r>
              <a:rPr lang="en-US" altLang="zh-CN" dirty="0"/>
              <a:t>bi </a:t>
            </a:r>
            <a:r>
              <a:rPr lang="zh-CN" altLang="en-US" dirty="0"/>
              <a:t>个，权值是 </a:t>
            </a:r>
            <a:r>
              <a:rPr lang="en-US" altLang="zh-CN" dirty="0"/>
              <a:t>ci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若两个数字 </a:t>
            </a:r>
            <a:r>
              <a:rPr lang="en-US" altLang="zh-CN" dirty="0" err="1"/>
              <a:t>ai</a:t>
            </a:r>
            <a:r>
              <a:rPr lang="zh-CN" altLang="en-US" dirty="0"/>
              <a:t>、</a:t>
            </a:r>
            <a:r>
              <a:rPr lang="en-US" altLang="zh-CN" dirty="0" err="1"/>
              <a:t>aj</a:t>
            </a:r>
            <a:r>
              <a:rPr lang="en-US" altLang="zh-CN" dirty="0"/>
              <a:t> </a:t>
            </a:r>
            <a:r>
              <a:rPr lang="zh-CN" altLang="en-US" dirty="0"/>
              <a:t>满足，</a:t>
            </a:r>
            <a:r>
              <a:rPr lang="en-US" altLang="zh-CN" dirty="0" err="1"/>
              <a:t>ai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dirty="0" err="1"/>
              <a:t>aj</a:t>
            </a:r>
            <a:r>
              <a:rPr lang="en-US" altLang="zh-CN" dirty="0"/>
              <a:t> </a:t>
            </a:r>
            <a:r>
              <a:rPr lang="zh-CN" altLang="en-US" dirty="0"/>
              <a:t>的倍数，且 </a:t>
            </a:r>
            <a:r>
              <a:rPr lang="en-US" altLang="zh-CN" dirty="0" err="1"/>
              <a:t>ai</a:t>
            </a:r>
            <a:r>
              <a:rPr lang="en-US" altLang="zh-CN" dirty="0"/>
              <a:t>/</a:t>
            </a:r>
            <a:r>
              <a:rPr lang="en-US" altLang="zh-CN" dirty="0" err="1"/>
              <a:t>aj</a:t>
            </a:r>
            <a:r>
              <a:rPr lang="en-US" altLang="zh-CN" dirty="0"/>
              <a:t> </a:t>
            </a:r>
            <a:r>
              <a:rPr lang="zh-CN" altLang="en-US" dirty="0"/>
              <a:t>是一个质数，</a:t>
            </a:r>
            <a:endParaRPr lang="zh-CN" altLang="en-US" dirty="0"/>
          </a:p>
          <a:p>
            <a:r>
              <a:rPr lang="zh-CN" altLang="en-US" dirty="0"/>
              <a:t>那么这两个数字可以配对，并获得 </a:t>
            </a:r>
            <a:r>
              <a:rPr lang="en-US" altLang="zh-CN" dirty="0" err="1"/>
              <a:t>ci×cj</a:t>
            </a:r>
            <a:r>
              <a:rPr lang="en-US" altLang="zh-CN" dirty="0"/>
              <a:t> </a:t>
            </a:r>
            <a:r>
              <a:rPr lang="zh-CN" altLang="en-US" dirty="0"/>
              <a:t>的价值。</a:t>
            </a:r>
            <a:endParaRPr lang="zh-CN" altLang="en-US" dirty="0"/>
          </a:p>
          <a:p>
            <a:r>
              <a:rPr lang="zh-CN" altLang="en-US" dirty="0"/>
              <a:t>一个数字只能参与一次配对，可以不参与配对。</a:t>
            </a:r>
            <a:endParaRPr lang="zh-CN" altLang="en-US" dirty="0"/>
          </a:p>
          <a:p>
            <a:r>
              <a:rPr lang="zh-CN" altLang="en-US" dirty="0"/>
              <a:t>在获得的价值总和不小于 </a:t>
            </a:r>
            <a:r>
              <a:rPr lang="en-US" altLang="zh-CN" dirty="0"/>
              <a:t>0 </a:t>
            </a:r>
            <a:r>
              <a:rPr lang="zh-CN" altLang="en-US" dirty="0"/>
              <a:t>的前提下，求最多进行多少次配对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 n≤200</a:t>
            </a:r>
            <a:r>
              <a:rPr lang="zh-CN" altLang="en-US" dirty="0"/>
              <a:t>，</a:t>
            </a:r>
            <a:r>
              <a:rPr lang="en-US" altLang="zh-CN" dirty="0"/>
              <a:t>ai≤10^9</a:t>
            </a:r>
            <a:r>
              <a:rPr lang="zh-CN" altLang="en-US" dirty="0"/>
              <a:t>，</a:t>
            </a:r>
            <a:r>
              <a:rPr lang="en-US" altLang="zh-CN" dirty="0"/>
              <a:t>bi≤10^5</a:t>
            </a:r>
            <a:r>
              <a:rPr lang="zh-CN" altLang="en-US" dirty="0"/>
              <a:t>，∣</a:t>
            </a:r>
            <a:r>
              <a:rPr lang="en-US" altLang="zh-CN" dirty="0"/>
              <a:t>ci∣≤10^5</a:t>
            </a:r>
            <a:endParaRPr lang="zh-CN" altLang="en-US" dirty="0"/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0947" y="937104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把所有的数字按质因子次数之和的奇偶性拆成二分图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按照费用流</a:t>
            </a:r>
            <a:r>
              <a:rPr lang="zh-CN" altLang="en-US" dirty="0" smtClean="0"/>
              <a:t>模式建图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由于费用流可以保证当前的费用永远是当前流量下最优的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所以跑到费用总和小于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时停止即可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[Sdoi2013]</a:t>
            </a:r>
            <a:r>
              <a:rPr lang="zh-CN" altLang="en-US" b="1" dirty="0"/>
              <a:t>费用流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8088"/>
          </a:xfrm>
        </p:spPr>
        <p:txBody>
          <a:bodyPr>
            <a:normAutofit/>
          </a:bodyPr>
          <a:lstStyle/>
          <a:p>
            <a:r>
              <a:rPr lang="zh-CN" altLang="en-US" dirty="0"/>
              <a:t>对于一张给定的运输网络，</a:t>
            </a:r>
            <a:r>
              <a:rPr lang="en-US" altLang="zh-CN" dirty="0"/>
              <a:t>Alice</a:t>
            </a:r>
            <a:r>
              <a:rPr lang="zh-CN" altLang="en-US" dirty="0"/>
              <a:t>先确定一个最大流，如果有多种解，</a:t>
            </a:r>
            <a:r>
              <a:rPr lang="en-US" altLang="zh-CN" dirty="0"/>
              <a:t>Alice</a:t>
            </a:r>
            <a:r>
              <a:rPr lang="zh-CN" altLang="en-US" dirty="0"/>
              <a:t>可以任选一种；之后</a:t>
            </a:r>
            <a:r>
              <a:rPr lang="en-US" altLang="zh-CN" dirty="0"/>
              <a:t>Bob</a:t>
            </a:r>
            <a:r>
              <a:rPr lang="zh-CN" altLang="en-US" dirty="0"/>
              <a:t>在每条边上分配单位花费（单位花费必须是非负实数），要求所有边的单位花费之和等于</a:t>
            </a:r>
            <a:r>
              <a:rPr lang="en-US" altLang="zh-CN" dirty="0"/>
              <a:t>P</a:t>
            </a:r>
            <a:r>
              <a:rPr lang="zh-CN" altLang="en-US" dirty="0"/>
              <a:t>。总费用等于每一条边的实际流量乘以该边的单位花费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需要</a:t>
            </a:r>
            <a:r>
              <a:rPr lang="zh-CN" altLang="en-US" dirty="0"/>
              <a:t>注意到，</a:t>
            </a:r>
            <a:r>
              <a:rPr lang="en-US" altLang="zh-CN" dirty="0"/>
              <a:t>Bob</a:t>
            </a:r>
            <a:r>
              <a:rPr lang="zh-CN" altLang="en-US" dirty="0"/>
              <a:t>在分配单位花费之前，已经知道</a:t>
            </a:r>
            <a:r>
              <a:rPr lang="en-US" altLang="zh-CN" dirty="0"/>
              <a:t>Alice</a:t>
            </a:r>
            <a:r>
              <a:rPr lang="zh-CN" altLang="en-US" dirty="0"/>
              <a:t>所给出的最大流方案。</a:t>
            </a:r>
            <a:r>
              <a:rPr lang="zh-CN" altLang="en-US" dirty="0" smtClean="0"/>
              <a:t>现在</a:t>
            </a:r>
            <a:r>
              <a:rPr lang="en-US" altLang="zh-CN" dirty="0" smtClean="0"/>
              <a:t>Alice</a:t>
            </a:r>
            <a:r>
              <a:rPr lang="zh-CN" altLang="en-US" dirty="0"/>
              <a:t>希望总费用尽量小，而</a:t>
            </a:r>
            <a:r>
              <a:rPr lang="en-US" altLang="zh-CN" dirty="0"/>
              <a:t>Bob</a:t>
            </a:r>
            <a:r>
              <a:rPr lang="zh-CN" altLang="en-US" dirty="0"/>
              <a:t>希望总费用尽量大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我们</a:t>
            </a:r>
            <a:r>
              <a:rPr lang="zh-CN" altLang="en-US" dirty="0"/>
              <a:t>想知道，如果两个人都执行最优策略，最大流的值和总费用分别为多少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N &lt; = 100</a:t>
            </a:r>
            <a:r>
              <a:rPr lang="zh-CN" altLang="en-US" dirty="0"/>
              <a:t>，</a:t>
            </a:r>
            <a:r>
              <a:rPr lang="en-US" altLang="zh-CN" dirty="0"/>
              <a:t>M &lt; = 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，流量</a:t>
            </a:r>
            <a:r>
              <a:rPr lang="en-US" altLang="zh-CN" dirty="0" smtClean="0"/>
              <a:t>&lt;=50000,P&lt;=10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792" y="945730"/>
            <a:ext cx="11593902" cy="4351338"/>
          </a:xfrm>
        </p:spPr>
        <p:txBody>
          <a:bodyPr/>
          <a:lstStyle/>
          <a:p>
            <a:r>
              <a:rPr lang="zh-CN" altLang="en-US" dirty="0" smtClean="0"/>
              <a:t>当</a:t>
            </a:r>
            <a:r>
              <a:rPr lang="en-US" altLang="zh-CN" dirty="0" smtClean="0"/>
              <a:t>Alice</a:t>
            </a:r>
            <a:r>
              <a:rPr lang="zh-CN" altLang="en-US" dirty="0"/>
              <a:t>给出方案</a:t>
            </a:r>
            <a:r>
              <a:rPr lang="zh-CN" altLang="en-US" dirty="0" smtClean="0"/>
              <a:t>之后，</a:t>
            </a:r>
            <a:r>
              <a:rPr lang="en-US" altLang="zh-CN" dirty="0" smtClean="0"/>
              <a:t>Bob</a:t>
            </a:r>
            <a:r>
              <a:rPr lang="zh-CN" altLang="en-US" dirty="0" smtClean="0"/>
              <a:t>一定会选择流量最大的一条边分配上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的费用</a:t>
            </a:r>
            <a:endParaRPr lang="en-US" altLang="zh-CN" dirty="0" smtClean="0"/>
          </a:p>
          <a:p>
            <a:r>
              <a:rPr lang="zh-CN" altLang="en-US" dirty="0" smtClean="0"/>
              <a:t>所以</a:t>
            </a:r>
            <a:r>
              <a:rPr lang="en-US" altLang="zh-CN" dirty="0" smtClean="0"/>
              <a:t>Alice</a:t>
            </a:r>
            <a:r>
              <a:rPr lang="zh-CN" altLang="en-US" dirty="0" smtClean="0"/>
              <a:t>一定要让流量最大的边流量最小</a:t>
            </a:r>
            <a:endParaRPr lang="en-US" altLang="zh-CN" dirty="0" smtClean="0"/>
          </a:p>
          <a:p>
            <a:r>
              <a:rPr lang="zh-CN" altLang="en-US" dirty="0" smtClean="0"/>
              <a:t>显然</a:t>
            </a:r>
            <a:r>
              <a:rPr lang="zh-CN" altLang="en-US" dirty="0"/>
              <a:t>需要</a:t>
            </a:r>
            <a:r>
              <a:rPr lang="zh-CN" altLang="en-US" dirty="0" smtClean="0"/>
              <a:t>二分来解决</a:t>
            </a:r>
            <a:endParaRPr lang="en-US" altLang="zh-CN" dirty="0"/>
          </a:p>
          <a:p>
            <a:r>
              <a:rPr lang="zh-CN" altLang="en-US" dirty="0" smtClean="0"/>
              <a:t>每次让每条边的流量上限与二分值取</a:t>
            </a:r>
            <a:r>
              <a:rPr lang="en-US" altLang="zh-CN" dirty="0" smtClean="0"/>
              <a:t>min</a:t>
            </a:r>
            <a:endParaRPr lang="en-US" altLang="zh-CN" dirty="0" smtClean="0"/>
          </a:p>
          <a:p>
            <a:r>
              <a:rPr lang="zh-CN" altLang="en-US" dirty="0" smtClean="0"/>
              <a:t>判定一下这样能否流出最大流即可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注意小数网络流的精度问题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BZOJ3438: </a:t>
            </a:r>
            <a:r>
              <a:rPr lang="zh-CN" altLang="en-US" b="1" dirty="0"/>
              <a:t>小</a:t>
            </a:r>
            <a:r>
              <a:rPr lang="en-US" altLang="zh-CN" b="1" dirty="0"/>
              <a:t>M</a:t>
            </a:r>
            <a:r>
              <a:rPr lang="zh-CN" altLang="en-US" b="1" dirty="0"/>
              <a:t>的作物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r>
              <a:rPr lang="zh-CN" altLang="en-US" dirty="0"/>
              <a:t>小</a:t>
            </a:r>
            <a:r>
              <a:rPr lang="en-US" altLang="zh-CN" dirty="0"/>
              <a:t>M</a:t>
            </a:r>
            <a:r>
              <a:rPr lang="zh-CN" altLang="en-US" dirty="0"/>
              <a:t>在</a:t>
            </a:r>
            <a:r>
              <a:rPr lang="en-US" altLang="zh-CN" dirty="0"/>
              <a:t>MC</a:t>
            </a:r>
            <a:r>
              <a:rPr lang="zh-CN" altLang="en-US" dirty="0"/>
              <a:t>里开辟了两块巨大的耕地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（你可以认为容量是无穷），现在，小</a:t>
            </a:r>
            <a:r>
              <a:rPr lang="en-US" altLang="zh-CN" dirty="0"/>
              <a:t>P</a:t>
            </a:r>
            <a:r>
              <a:rPr lang="zh-CN" altLang="en-US" dirty="0"/>
              <a:t>有</a:t>
            </a:r>
            <a:r>
              <a:rPr lang="en-US" altLang="zh-CN" dirty="0"/>
              <a:t>n</a:t>
            </a:r>
            <a:r>
              <a:rPr lang="zh-CN" altLang="en-US" dirty="0"/>
              <a:t>中作物的种子，每种作物的</a:t>
            </a:r>
            <a:r>
              <a:rPr lang="zh-CN" altLang="en-US" dirty="0" smtClean="0"/>
              <a:t>种子有</a:t>
            </a:r>
            <a:r>
              <a:rPr lang="en-US" altLang="zh-CN" dirty="0"/>
              <a:t>1</a:t>
            </a:r>
            <a:r>
              <a:rPr lang="zh-CN" altLang="en-US" dirty="0"/>
              <a:t>个（就是可以种一棵作物）（用</a:t>
            </a:r>
            <a:r>
              <a:rPr lang="en-US" altLang="zh-CN" dirty="0"/>
              <a:t>1...n</a:t>
            </a:r>
            <a:r>
              <a:rPr lang="zh-CN" altLang="en-US" dirty="0"/>
              <a:t>编号），现在，第</a:t>
            </a:r>
            <a:r>
              <a:rPr lang="en-US" altLang="zh-CN" dirty="0" err="1"/>
              <a:t>i</a:t>
            </a:r>
            <a:r>
              <a:rPr lang="zh-CN" altLang="en-US" dirty="0"/>
              <a:t>种作物种植在</a:t>
            </a:r>
            <a:r>
              <a:rPr lang="en-US" altLang="zh-CN" dirty="0"/>
              <a:t>A</a:t>
            </a:r>
            <a:r>
              <a:rPr lang="zh-CN" altLang="en-US" dirty="0"/>
              <a:t>中种植可以获得</a:t>
            </a:r>
            <a:r>
              <a:rPr lang="en-US" altLang="zh-CN" dirty="0" err="1"/>
              <a:t>ai</a:t>
            </a:r>
            <a:r>
              <a:rPr lang="zh-CN" altLang="en-US" dirty="0"/>
              <a:t>的收益，在</a:t>
            </a:r>
            <a:r>
              <a:rPr lang="en-US" altLang="zh-CN" dirty="0"/>
              <a:t>B</a:t>
            </a:r>
            <a:r>
              <a:rPr lang="zh-CN" altLang="en-US" dirty="0"/>
              <a:t>中</a:t>
            </a:r>
            <a:r>
              <a:rPr lang="zh-CN" altLang="en-US" dirty="0" smtClean="0"/>
              <a:t>种植可以</a:t>
            </a:r>
            <a:r>
              <a:rPr lang="zh-CN" altLang="en-US" dirty="0"/>
              <a:t>获得</a:t>
            </a:r>
            <a:r>
              <a:rPr lang="en-US" altLang="zh-CN" dirty="0"/>
              <a:t>bi</a:t>
            </a:r>
            <a:r>
              <a:rPr lang="zh-CN" altLang="en-US" dirty="0"/>
              <a:t>的收益，而且，现在还有这么一种神奇的现象，就是某些作物共同种在一块耕地中可以获得额外的</a:t>
            </a:r>
            <a:r>
              <a:rPr lang="zh-CN" altLang="en-US" dirty="0" smtClean="0"/>
              <a:t>收益，</a:t>
            </a:r>
            <a:r>
              <a:rPr lang="zh-CN" altLang="en-US" dirty="0"/>
              <a:t>小</a:t>
            </a:r>
            <a:r>
              <a:rPr lang="en-US" altLang="zh-CN" dirty="0"/>
              <a:t>M</a:t>
            </a:r>
            <a:r>
              <a:rPr lang="zh-CN" altLang="en-US" dirty="0"/>
              <a:t>找到了规则中共有</a:t>
            </a:r>
            <a:r>
              <a:rPr lang="en-US" altLang="zh-CN" dirty="0"/>
              <a:t>m</a:t>
            </a:r>
            <a:r>
              <a:rPr lang="zh-CN" altLang="en-US" dirty="0"/>
              <a:t>种作物组合，第</a:t>
            </a:r>
            <a:r>
              <a:rPr lang="en-US" altLang="zh-CN" dirty="0" err="1"/>
              <a:t>i</a:t>
            </a:r>
            <a:r>
              <a:rPr lang="zh-CN" altLang="en-US" dirty="0"/>
              <a:t>个组合中的作物共同种在</a:t>
            </a:r>
            <a:r>
              <a:rPr lang="en-US" altLang="zh-CN" dirty="0"/>
              <a:t>A</a:t>
            </a:r>
            <a:r>
              <a:rPr lang="zh-CN" altLang="en-US" dirty="0"/>
              <a:t>中可以获得</a:t>
            </a:r>
            <a:r>
              <a:rPr lang="en-US" altLang="zh-CN" dirty="0"/>
              <a:t>c1i</a:t>
            </a:r>
            <a:r>
              <a:rPr lang="zh-CN" altLang="en-US" dirty="0"/>
              <a:t>的额外收益，共同总在</a:t>
            </a:r>
            <a:r>
              <a:rPr lang="en-US" altLang="zh-CN" dirty="0"/>
              <a:t>B</a:t>
            </a:r>
            <a:r>
              <a:rPr lang="zh-CN" altLang="en-US" dirty="0"/>
              <a:t>中</a:t>
            </a:r>
            <a:r>
              <a:rPr lang="zh-CN" altLang="en-US" dirty="0" smtClean="0"/>
              <a:t>可以获得</a:t>
            </a:r>
            <a:r>
              <a:rPr lang="en-US" altLang="zh-CN" dirty="0"/>
              <a:t>c2i</a:t>
            </a:r>
            <a:r>
              <a:rPr lang="zh-CN" altLang="en-US" dirty="0"/>
              <a:t>的额外收益，所以，小</a:t>
            </a:r>
            <a:r>
              <a:rPr lang="en-US" altLang="zh-CN" dirty="0"/>
              <a:t>M</a:t>
            </a:r>
            <a:r>
              <a:rPr lang="zh-CN" altLang="en-US" dirty="0"/>
              <a:t>很快的算出了种植的最大收益，但是他想要考考你，你能回答他这个问题么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1&lt;=k&lt; n&lt;= 1000,0 &lt; m &lt; = 1000 </a:t>
            </a:r>
            <a:r>
              <a:rPr lang="zh-CN" altLang="en-US" dirty="0" smtClean="0"/>
              <a:t>保证所有数据及结果不超过</a:t>
            </a:r>
            <a:r>
              <a:rPr lang="en-US" altLang="zh-CN" dirty="0" smtClean="0"/>
              <a:t>2*10^9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5453" y="781828"/>
            <a:ext cx="10515600" cy="557584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源点向所有作物连边，流量为</a:t>
            </a:r>
            <a:r>
              <a:rPr lang="en-US" altLang="zh-CN" dirty="0" err="1" smtClean="0"/>
              <a:t>ai</a:t>
            </a:r>
            <a:endParaRPr lang="en-US" altLang="zh-CN" dirty="0" smtClean="0"/>
          </a:p>
          <a:p>
            <a:r>
              <a:rPr lang="zh-CN" altLang="en-US" dirty="0"/>
              <a:t>所有</a:t>
            </a:r>
            <a:r>
              <a:rPr lang="zh-CN" altLang="en-US" dirty="0" smtClean="0"/>
              <a:t>作物向汇点连边，流量为</a:t>
            </a:r>
            <a:r>
              <a:rPr lang="en-US" altLang="zh-CN" dirty="0" smtClean="0"/>
              <a:t>bi</a:t>
            </a:r>
            <a:endParaRPr lang="en-US" altLang="zh-CN" dirty="0" smtClean="0"/>
          </a:p>
          <a:p>
            <a:r>
              <a:rPr lang="zh-CN" altLang="en-US" dirty="0" smtClean="0"/>
              <a:t>对于每组作物，新建两个点</a:t>
            </a:r>
            <a:endParaRPr lang="en-US" altLang="zh-CN" dirty="0" smtClean="0"/>
          </a:p>
          <a:p>
            <a:r>
              <a:rPr lang="zh-CN" altLang="en-US" dirty="0" smtClean="0"/>
              <a:t>源点向点</a:t>
            </a:r>
            <a:r>
              <a:rPr lang="en-US" altLang="zh-CN" dirty="0" smtClean="0"/>
              <a:t>1</a:t>
            </a:r>
            <a:r>
              <a:rPr lang="zh-CN" altLang="en-US" dirty="0" smtClean="0"/>
              <a:t>连一条流量为</a:t>
            </a:r>
            <a:r>
              <a:rPr lang="en-US" altLang="zh-CN" dirty="0" smtClean="0"/>
              <a:t>c1i</a:t>
            </a:r>
            <a:r>
              <a:rPr lang="zh-CN" altLang="en-US" dirty="0" smtClean="0"/>
              <a:t>的边，点</a:t>
            </a:r>
            <a:r>
              <a:rPr lang="en-US" altLang="zh-CN" dirty="0" smtClean="0"/>
              <a:t>2</a:t>
            </a:r>
            <a:r>
              <a:rPr lang="zh-CN" altLang="en-US" dirty="0" smtClean="0"/>
              <a:t>向汇点连一条流量为</a:t>
            </a:r>
            <a:r>
              <a:rPr lang="en-US" altLang="zh-CN" dirty="0" smtClean="0"/>
              <a:t>c2i</a:t>
            </a:r>
            <a:r>
              <a:rPr lang="zh-CN" altLang="en-US" dirty="0" smtClean="0"/>
              <a:t>的边</a:t>
            </a:r>
            <a:endParaRPr lang="en-US" altLang="zh-CN" dirty="0" smtClean="0"/>
          </a:p>
          <a:p>
            <a:r>
              <a:rPr lang="zh-CN" altLang="en-US" dirty="0" smtClean="0"/>
              <a:t>点</a:t>
            </a:r>
            <a:r>
              <a:rPr lang="en-US" altLang="zh-CN" dirty="0" smtClean="0"/>
              <a:t>1</a:t>
            </a:r>
            <a:r>
              <a:rPr lang="zh-CN" altLang="en-US" dirty="0" smtClean="0"/>
              <a:t>点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分别与组内作物连流量为</a:t>
            </a:r>
            <a:r>
              <a:rPr lang="en-US" altLang="zh-CN" dirty="0" err="1" smtClean="0"/>
              <a:t>inf</a:t>
            </a:r>
            <a:r>
              <a:rPr lang="zh-CN" altLang="en-US" dirty="0" smtClean="0"/>
              <a:t>的边</a:t>
            </a:r>
            <a:endParaRPr lang="en-US" altLang="zh-CN" dirty="0" smtClean="0"/>
          </a:p>
          <a:p>
            <a:r>
              <a:rPr lang="zh-CN" altLang="en-US" dirty="0" smtClean="0"/>
              <a:t>对于一个割，每个作物与源点联通代表种在</a:t>
            </a:r>
            <a:r>
              <a:rPr lang="en-US" altLang="zh-CN" dirty="0" smtClean="0"/>
              <a:t>A</a:t>
            </a:r>
            <a:r>
              <a:rPr lang="zh-CN" altLang="en-US" dirty="0" smtClean="0"/>
              <a:t>地，否则种在</a:t>
            </a:r>
            <a:r>
              <a:rPr lang="en-US" altLang="zh-CN" dirty="0" smtClean="0"/>
              <a:t>B</a:t>
            </a:r>
            <a:r>
              <a:rPr lang="zh-CN" altLang="en-US" dirty="0" smtClean="0"/>
              <a:t>地，需要割去另一部分的收益</a:t>
            </a:r>
            <a:endParaRPr lang="en-US" altLang="zh-CN" dirty="0" smtClean="0"/>
          </a:p>
          <a:p>
            <a:r>
              <a:rPr lang="zh-CN" altLang="en-US" dirty="0" smtClean="0"/>
              <a:t>如果组内的点不都与</a:t>
            </a:r>
            <a:r>
              <a:rPr lang="zh-CN" altLang="en-US" dirty="0"/>
              <a:t>源点</a:t>
            </a:r>
            <a:r>
              <a:rPr lang="zh-CN" altLang="en-US" dirty="0" smtClean="0"/>
              <a:t>联通，则</a:t>
            </a:r>
            <a:r>
              <a:rPr lang="en-US" altLang="zh-CN" dirty="0" smtClean="0"/>
              <a:t>c1i</a:t>
            </a:r>
            <a:r>
              <a:rPr lang="zh-CN" altLang="en-US" dirty="0" smtClean="0"/>
              <a:t>必被割掉</a:t>
            </a:r>
            <a:endParaRPr lang="en-US" altLang="zh-CN" dirty="0" smtClean="0"/>
          </a:p>
          <a:p>
            <a:r>
              <a:rPr lang="en-US" altLang="zh-CN" dirty="0"/>
              <a:t>c</a:t>
            </a:r>
            <a:r>
              <a:rPr lang="en-US" altLang="zh-CN" dirty="0" smtClean="0"/>
              <a:t>2i</a:t>
            </a:r>
            <a:r>
              <a:rPr lang="zh-CN" altLang="en-US" dirty="0" smtClean="0"/>
              <a:t>亦是如此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所以答案为总收益</a:t>
            </a:r>
            <a:r>
              <a:rPr lang="en-US" altLang="zh-CN" dirty="0" smtClean="0"/>
              <a:t>-</a:t>
            </a:r>
            <a:r>
              <a:rPr lang="zh-CN" altLang="en-US" dirty="0" smtClean="0"/>
              <a:t>最小割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更多例题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网络流</a:t>
            </a:r>
            <a:r>
              <a:rPr lang="en-US" altLang="zh-CN" b="1" dirty="0" smtClean="0"/>
              <a:t>24</a:t>
            </a:r>
            <a:r>
              <a:rPr lang="zh-CN" altLang="en-US" b="1" dirty="0" smtClean="0"/>
              <a:t>题</a:t>
            </a:r>
            <a:endParaRPr lang="en-US" altLang="zh-CN" b="1" dirty="0" smtClean="0"/>
          </a:p>
          <a:p>
            <a:r>
              <a:rPr lang="en-US" altLang="zh-CN" b="1" dirty="0" smtClean="0"/>
              <a:t>BZOJ</a:t>
            </a:r>
            <a:r>
              <a:rPr lang="en-US" altLang="zh-CN" dirty="0" smtClean="0"/>
              <a:t> </a:t>
            </a:r>
            <a:r>
              <a:rPr lang="en-US" altLang="zh-CN" b="1" dirty="0" smtClean="0"/>
              <a:t>1283 </a:t>
            </a:r>
            <a:r>
              <a:rPr lang="zh-CN" altLang="en-US" b="1" dirty="0" smtClean="0"/>
              <a:t>序列</a:t>
            </a:r>
            <a:endParaRPr lang="en-US" altLang="zh-CN" b="1" dirty="0" smtClean="0"/>
          </a:p>
          <a:p>
            <a:r>
              <a:rPr lang="en-US" altLang="zh-CN" b="1" dirty="0"/>
              <a:t>BZOJ 2127 </a:t>
            </a:r>
            <a:r>
              <a:rPr lang="en-US" altLang="zh-CN" b="1" dirty="0" smtClean="0"/>
              <a:t>happiness</a:t>
            </a:r>
            <a:endParaRPr lang="en-US" altLang="zh-CN" b="1" dirty="0" smtClean="0"/>
          </a:p>
          <a:p>
            <a:r>
              <a:rPr lang="en-US" altLang="zh-CN" b="1" dirty="0"/>
              <a:t>BZOJ 3275 </a:t>
            </a:r>
            <a:r>
              <a:rPr lang="en-US" altLang="zh-CN" b="1" dirty="0" err="1" smtClean="0"/>
              <a:t>Numbe</a:t>
            </a:r>
            <a:r>
              <a:rPr lang="en-US" altLang="zh-CN" b="1" dirty="0" smtClean="0"/>
              <a:t>r</a:t>
            </a:r>
            <a:endParaRPr lang="en-US" altLang="zh-CN" b="1" dirty="0" smtClean="0"/>
          </a:p>
          <a:p>
            <a:r>
              <a:rPr lang="en-US" altLang="zh-CN" b="1" dirty="0"/>
              <a:t>[</a:t>
            </a:r>
            <a:r>
              <a:rPr lang="en-US" altLang="zh-CN" b="1" dirty="0" smtClean="0"/>
              <a:t>JLOI2014] </a:t>
            </a:r>
            <a:r>
              <a:rPr lang="zh-CN" altLang="en-US" b="1" dirty="0"/>
              <a:t>镜面通道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3404</Words>
  <Application>WPS 演示</Application>
  <PresentationFormat>自定义</PresentationFormat>
  <Paragraphs>338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Arial</vt:lpstr>
      <vt:lpstr>宋体</vt:lpstr>
      <vt:lpstr>Wingdings</vt:lpstr>
      <vt:lpstr>楷体</vt:lpstr>
      <vt:lpstr>Times New Roman</vt:lpstr>
      <vt:lpstr>微软雅黑</vt:lpstr>
      <vt:lpstr>Calibri Light</vt:lpstr>
      <vt:lpstr>Calibri</vt:lpstr>
      <vt:lpstr>等线</vt:lpstr>
      <vt:lpstr>SWAstro</vt:lpstr>
      <vt:lpstr>Office 主题</vt:lpstr>
      <vt:lpstr>PowerPoint 演示文稿</vt:lpstr>
      <vt:lpstr>首先是目录</vt:lpstr>
      <vt:lpstr>一、网络流的定义</vt:lpstr>
      <vt:lpstr>1、可行流</vt:lpstr>
      <vt:lpstr>PowerPoint 演示文稿</vt:lpstr>
      <vt:lpstr>如何求最大流？</vt:lpstr>
      <vt:lpstr>Dinic</vt:lpstr>
      <vt:lpstr>最小割</vt:lpstr>
      <vt:lpstr>最大流最小割定理</vt:lpstr>
      <vt:lpstr>最直观的裸题</vt:lpstr>
      <vt:lpstr>[Usaco2007 Open]Dining吃饭</vt:lpstr>
      <vt:lpstr>PowerPoint 演示文稿</vt:lpstr>
      <vt:lpstr>经典的最小割模型——最大权闭合子图</vt:lpstr>
      <vt:lpstr>建模方式</vt:lpstr>
      <vt:lpstr>[NOI2006]最大获利</vt:lpstr>
      <vt:lpstr>PowerPoint 演示文稿</vt:lpstr>
      <vt:lpstr>PowerPoint 演示文稿</vt:lpstr>
      <vt:lpstr>什么是费用流</vt:lpstr>
      <vt:lpstr>如何求费用流</vt:lpstr>
      <vt:lpstr>连续最短路算法</vt:lpstr>
      <vt:lpstr>[SDOI2009]晨跑</vt:lpstr>
      <vt:lpstr>PowerPoint 演示文稿</vt:lpstr>
      <vt:lpstr>[SCOI2007]修车</vt:lpstr>
      <vt:lpstr>PowerPoint 演示文稿</vt:lpstr>
      <vt:lpstr>[Sdoi2016]数字配对</vt:lpstr>
      <vt:lpstr>PowerPoint 演示文稿</vt:lpstr>
      <vt:lpstr>[Sdoi2013]费用流</vt:lpstr>
      <vt:lpstr>PowerPoint 演示文稿</vt:lpstr>
      <vt:lpstr>BZOJ3438: 小M的作物</vt:lpstr>
      <vt:lpstr>PowerPoint 演示文稿</vt:lpstr>
      <vt:lpstr>更多例题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yedo jj</dc:creator>
  <cp:lastModifiedBy>stu</cp:lastModifiedBy>
  <cp:revision>83</cp:revision>
  <dcterms:created xsi:type="dcterms:W3CDTF">2015-05-05T08:02:00Z</dcterms:created>
  <dcterms:modified xsi:type="dcterms:W3CDTF">2017-06-07T07:38:41Z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