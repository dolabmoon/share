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3"/>
  </p:notesMasterIdLst>
  <p:sldIdLst>
    <p:sldId id="256" r:id="rId2"/>
    <p:sldId id="260" r:id="rId3"/>
    <p:sldId id="261" r:id="rId4"/>
    <p:sldId id="286" r:id="rId5"/>
    <p:sldId id="262" r:id="rId6"/>
    <p:sldId id="263" r:id="rId7"/>
    <p:sldId id="268" r:id="rId8"/>
    <p:sldId id="269" r:id="rId9"/>
    <p:sldId id="270" r:id="rId10"/>
    <p:sldId id="264" r:id="rId11"/>
    <p:sldId id="265" r:id="rId12"/>
    <p:sldId id="267" r:id="rId13"/>
    <p:sldId id="278" r:id="rId14"/>
    <p:sldId id="279" r:id="rId15"/>
    <p:sldId id="280" r:id="rId16"/>
    <p:sldId id="276" r:id="rId17"/>
    <p:sldId id="273" r:id="rId18"/>
    <p:sldId id="277" r:id="rId19"/>
    <p:sldId id="283" r:id="rId20"/>
    <p:sldId id="272" r:id="rId21"/>
    <p:sldId id="274" r:id="rId22"/>
    <p:sldId id="275" r:id="rId23"/>
    <p:sldId id="284" r:id="rId24"/>
    <p:sldId id="285" r:id="rId25"/>
    <p:sldId id="271" r:id="rId26"/>
    <p:sldId id="281" r:id="rId27"/>
    <p:sldId id="282" r:id="rId28"/>
    <p:sldId id="287" r:id="rId29"/>
    <p:sldId id="288" r:id="rId30"/>
    <p:sldId id="266" r:id="rId31"/>
    <p:sldId id="259" r:id="rId32"/>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15" autoAdjust="0"/>
    <p:restoredTop sz="93443" autoAdjust="0"/>
  </p:normalViewPr>
  <p:slideViewPr>
    <p:cSldViewPr>
      <p:cViewPr varScale="1">
        <p:scale>
          <a:sx n="79" d="100"/>
          <a:sy n="79" d="100"/>
        </p:scale>
        <p:origin x="-558" y="-90"/>
      </p:cViewPr>
      <p:guideLst>
        <p:guide orient="horz" pos="180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F4550D-2AB5-4627-AE6F-C8F8DC6EE960}" type="datetimeFigureOut">
              <a:rPr lang="zh-CN" altLang="en-US" smtClean="0"/>
              <a:pPr/>
              <a:t>2017/7/26</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C295A5-5D0E-4CB9-B6D2-455AE200530D}" type="slidenum">
              <a:rPr lang="zh-CN" altLang="en-US" smtClean="0"/>
              <a:pPr/>
              <a:t>‹#›</a:t>
            </a:fld>
            <a:endParaRPr lang="zh-CN" altLang="en-US"/>
          </a:p>
        </p:txBody>
      </p:sp>
    </p:spTree>
    <p:extLst>
      <p:ext uri="{BB962C8B-B14F-4D97-AF65-F5344CB8AC3E}">
        <p14:creationId xmlns:p14="http://schemas.microsoft.com/office/powerpoint/2010/main" xmlns="" val="3136657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295A5-5D0E-4CB9-B6D2-455AE200530D}" type="slidenum">
              <a:rPr lang="zh-CN" altLang="en-US" smtClean="0"/>
              <a:pPr/>
              <a:t>7</a:t>
            </a:fld>
            <a:endParaRPr lang="zh-CN" altLang="en-US"/>
          </a:p>
        </p:txBody>
      </p:sp>
    </p:spTree>
    <p:extLst>
      <p:ext uri="{BB962C8B-B14F-4D97-AF65-F5344CB8AC3E}">
        <p14:creationId xmlns:p14="http://schemas.microsoft.com/office/powerpoint/2010/main" xmlns="" val="4224458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p:spPr>
        <p:txBody>
          <a:bodyPr>
            <a:normAutofit/>
          </a:bodyPr>
          <a:lstStyle>
            <a:lvl1pPr>
              <a:defRPr sz="4400">
                <a:ln>
                  <a:solidFill>
                    <a:schemeClr val="tx1"/>
                  </a:solidFill>
                </a:ln>
                <a:effectLst>
                  <a:glow rad="228600">
                    <a:schemeClr val="bg1">
                      <a:alpha val="40000"/>
                    </a:schemeClr>
                  </a:glow>
                </a:effectLst>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238500"/>
            <a:ext cx="6400800" cy="1460500"/>
          </a:xfrm>
        </p:spPr>
        <p:txBody>
          <a:bodyPr>
            <a:normAutofit/>
          </a:bodyPr>
          <a:lstStyle>
            <a:lvl1pPr marL="0" indent="0" algn="ctr">
              <a:buNone/>
              <a:defRPr sz="2000" b="1">
                <a:ln>
                  <a:solidFill>
                    <a:schemeClr val="bg1"/>
                  </a:solidFill>
                </a:ln>
                <a:solidFill>
                  <a:schemeClr val="bg1"/>
                </a:solidFill>
                <a:effectLst>
                  <a:glow rad="228600">
                    <a:schemeClr val="tx1">
                      <a:alpha val="40000"/>
                    </a:schemeClr>
                  </a:glo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B8CE452-7364-4227-A73A-2120ED85A0A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p:spPr>
        <p:txBody>
          <a:bodyPr anchor="t"/>
          <a:lstStyle>
            <a:lvl1pPr algn="l">
              <a:defRPr sz="4000" b="1" cap="all">
                <a:ln>
                  <a:solidFill>
                    <a:schemeClr val="tx1"/>
                  </a:solidFill>
                </a:ln>
                <a:effectLst>
                  <a:glow rad="228600">
                    <a:schemeClr val="bg1">
                      <a:alpha val="40000"/>
                    </a:schemeClr>
                  </a:glow>
                </a:effectLst>
              </a:defRPr>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b="1">
                <a:ln>
                  <a:solidFill>
                    <a:schemeClr val="bg1"/>
                  </a:solidFill>
                </a:ln>
                <a:solidFill>
                  <a:schemeClr val="bg1"/>
                </a:solidFill>
                <a:effectLst>
                  <a:glow rad="228600">
                    <a:schemeClr val="tx1">
                      <a:alpha val="40000"/>
                    </a:schemeClr>
                  </a:glow>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smtClean="0"/>
              <a:t>单击此处编辑母版文本样式</a:t>
            </a:r>
          </a:p>
        </p:txBody>
      </p:sp>
      <p:sp>
        <p:nvSpPr>
          <p:cNvPr id="4" name="日期占位符 3"/>
          <p:cNvSpPr>
            <a:spLocks noGrp="1"/>
          </p:cNvSpPr>
          <p:nvPr>
            <p:ph type="dt" sz="half" idx="10"/>
          </p:nvPr>
        </p:nvSpPr>
        <p:spPr/>
        <p:txBody>
          <a:bodyPr/>
          <a:lstStyle/>
          <a:p>
            <a:fld id="{30FAEADC-9CD6-466B-A5C6-A50817FB608C}"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8596" y="1285864"/>
            <a:ext cx="4110038" cy="4000528"/>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内容占位符 3"/>
          <p:cNvSpPr>
            <a:spLocks noGrp="1"/>
          </p:cNvSpPr>
          <p:nvPr>
            <p:ph sz="half" idx="2"/>
          </p:nvPr>
        </p:nvSpPr>
        <p:spPr>
          <a:xfrm>
            <a:off x="4643438" y="1285864"/>
            <a:ext cx="4071966" cy="4000528"/>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523C099-2114-4D4E-ADCC-2D59BABF05CC}" type="datetime1">
              <a:rPr lang="zh-CN" altLang="en-US" smtClean="0"/>
              <a:pPr/>
              <a:t>2017/7/26</a:t>
            </a:fld>
            <a:endParaRPr lang="zh-CN" altLang="en-US"/>
          </a:p>
        </p:txBody>
      </p:sp>
      <p:sp>
        <p:nvSpPr>
          <p:cNvPr id="6" name="页脚占位符 5"/>
          <p:cNvSpPr>
            <a:spLocks noGrp="1"/>
          </p:cNvSpPr>
          <p:nvPr>
            <p:ph type="ftr" sz="quarter" idx="11"/>
          </p:nvPr>
        </p:nvSpPr>
        <p:spPr/>
        <p:txBody>
          <a:bodyPr/>
          <a:lstStyle/>
          <a:p>
            <a:r>
              <a:rPr lang="zh-CN" altLang="en-US" smtClean="0"/>
              <a:t>概率与期望</a:t>
            </a:r>
            <a:endParaRPr lang="zh-CN" altLang="en-US"/>
          </a:p>
        </p:txBody>
      </p:sp>
      <p:sp>
        <p:nvSpPr>
          <p:cNvPr id="7" name="灯片编号占位符 6"/>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842685"/>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261"/>
            <a:ext cx="4040188" cy="533135"/>
          </a:xfrm>
        </p:spPr>
        <p:txBody>
          <a:bodyPr anchor="b">
            <a:normAutofit/>
          </a:bodyPr>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p>
        </p:txBody>
      </p:sp>
      <p:sp>
        <p:nvSpPr>
          <p:cNvPr id="4" name="内容占位符 3"/>
          <p:cNvSpPr>
            <a:spLocks noGrp="1"/>
          </p:cNvSpPr>
          <p:nvPr>
            <p:ph sz="half" idx="2"/>
          </p:nvPr>
        </p:nvSpPr>
        <p:spPr>
          <a:xfrm>
            <a:off x="457200" y="1812396"/>
            <a:ext cx="4040188" cy="3473996"/>
          </a:xfrm>
        </p:spPr>
        <p:txBody>
          <a:bodyPr>
            <a:normAutofit/>
          </a:bodyPr>
          <a:lstStyle>
            <a:lvl1pPr>
              <a:defRPr sz="1800"/>
            </a:lvl1pPr>
            <a:lvl2pPr>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4645026" y="1279261"/>
            <a:ext cx="4041775" cy="533135"/>
          </a:xfrm>
        </p:spPr>
        <p:txBody>
          <a:bodyPr anchor="b">
            <a:normAutofit/>
          </a:bodyPr>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812396"/>
            <a:ext cx="4041775" cy="3292740"/>
          </a:xfrm>
        </p:spPr>
        <p:txBody>
          <a:bodyPr>
            <a:normAutofit/>
          </a:bodyPr>
          <a:lstStyle>
            <a:lvl1pPr>
              <a:defRPr sz="1800"/>
            </a:lvl1pPr>
            <a:lvl2pPr>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014DA8E-54B6-4672-B0B0-BFA11DFE7B55}" type="datetime1">
              <a:rPr lang="zh-CN" altLang="en-US" smtClean="0"/>
              <a:pPr/>
              <a:t>2017/7/26</a:t>
            </a:fld>
            <a:endParaRPr lang="zh-CN" altLang="en-US"/>
          </a:p>
        </p:txBody>
      </p:sp>
      <p:sp>
        <p:nvSpPr>
          <p:cNvPr id="8" name="页脚占位符 7"/>
          <p:cNvSpPr>
            <a:spLocks noGrp="1"/>
          </p:cNvSpPr>
          <p:nvPr>
            <p:ph type="ftr" sz="quarter" idx="11"/>
          </p:nvPr>
        </p:nvSpPr>
        <p:spPr/>
        <p:txBody>
          <a:bodyPr/>
          <a:lstStyle/>
          <a:p>
            <a:r>
              <a:rPr lang="zh-CN" altLang="en-US" smtClean="0"/>
              <a:t>概率与期望</a:t>
            </a:r>
            <a:endParaRPr lang="zh-CN" altLang="en-US"/>
          </a:p>
        </p:txBody>
      </p:sp>
      <p:sp>
        <p:nvSpPr>
          <p:cNvPr id="9" name="灯片编号占位符 8"/>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8006C3C-4B0E-4F1F-98CA-1CCD2F6FC60E}" type="datetime1">
              <a:rPr lang="zh-CN" altLang="en-US" smtClean="0"/>
              <a:pPr/>
              <a:t>2017/7/26</a:t>
            </a:fld>
            <a:endParaRPr lang="zh-CN" altLang="en-US"/>
          </a:p>
        </p:txBody>
      </p:sp>
      <p:sp>
        <p:nvSpPr>
          <p:cNvPr id="4" name="页脚占位符 3"/>
          <p:cNvSpPr>
            <a:spLocks noGrp="1"/>
          </p:cNvSpPr>
          <p:nvPr>
            <p:ph type="ftr" sz="quarter" idx="11"/>
          </p:nvPr>
        </p:nvSpPr>
        <p:spPr/>
        <p:txBody>
          <a:bodyPr/>
          <a:lstStyle/>
          <a:p>
            <a:r>
              <a:rPr lang="zh-CN" altLang="en-US" smtClean="0"/>
              <a:t>概率与期望</a:t>
            </a:r>
            <a:endParaRPr lang="zh-CN" altLang="en-US"/>
          </a:p>
        </p:txBody>
      </p:sp>
      <p:sp>
        <p:nvSpPr>
          <p:cNvPr id="5" name="灯片编号占位符 4"/>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60B406-B415-4398-A595-E948DE16D404}" type="datetime1">
              <a:rPr lang="zh-CN" altLang="en-US" smtClean="0"/>
              <a:pPr/>
              <a:t>2017/7/26</a:t>
            </a:fld>
            <a:endParaRPr lang="zh-CN" altLang="en-US"/>
          </a:p>
        </p:txBody>
      </p:sp>
      <p:sp>
        <p:nvSpPr>
          <p:cNvPr id="3" name="页脚占位符 2"/>
          <p:cNvSpPr>
            <a:spLocks noGrp="1"/>
          </p:cNvSpPr>
          <p:nvPr>
            <p:ph type="ftr" sz="quarter" idx="11"/>
          </p:nvPr>
        </p:nvSpPr>
        <p:spPr/>
        <p:txBody>
          <a:bodyPr/>
          <a:lstStyle/>
          <a:p>
            <a:r>
              <a:rPr lang="zh-CN" altLang="en-US" smtClean="0"/>
              <a:t>概率与期望</a:t>
            </a:r>
            <a:endParaRPr lang="zh-CN" altLang="en-US"/>
          </a:p>
        </p:txBody>
      </p:sp>
      <p:sp>
        <p:nvSpPr>
          <p:cNvPr id="4" name="灯片编号占位符 3"/>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F4C4133-54A2-4E3F-A308-666CF26DFB60}"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a:t>
            </a:fld>
            <a:endParaRPr lang="zh-CN" altLang="en-US"/>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l="-6000" r="-6000"/>
          </a:stretch>
        </a:blipFill>
        <a:effectLst/>
      </p:bgPr>
    </p:bg>
    <p:spTree>
      <p:nvGrpSpPr>
        <p:cNvPr id="1" name=""/>
        <p:cNvGrpSpPr/>
        <p:nvPr/>
      </p:nvGrpSpPr>
      <p:grpSpPr>
        <a:xfrm>
          <a:off x="0" y="0"/>
          <a:ext cx="0" cy="0"/>
          <a:chOff x="0" y="0"/>
          <a:chExt cx="0" cy="0"/>
        </a:xfrm>
      </p:grpSpPr>
      <p:sp>
        <p:nvSpPr>
          <p:cNvPr id="7" name="圆角矩形 6"/>
          <p:cNvSpPr/>
          <p:nvPr userDrawn="1"/>
        </p:nvSpPr>
        <p:spPr>
          <a:xfrm>
            <a:off x="357158" y="1214426"/>
            <a:ext cx="8429684" cy="4143404"/>
          </a:xfrm>
          <a:prstGeom prst="roundRect">
            <a:avLst>
              <a:gd name="adj" fmla="val 1684"/>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userDrawn="1"/>
        </p:nvSpPr>
        <p:spPr>
          <a:xfrm>
            <a:off x="357158" y="214294"/>
            <a:ext cx="8429684" cy="857256"/>
          </a:xfrm>
          <a:prstGeom prst="roundRect">
            <a:avLst>
              <a:gd name="adj" fmla="val 8759"/>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457200" y="228865"/>
            <a:ext cx="8229600" cy="84268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273324"/>
            <a:ext cx="8229600" cy="401306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28596" y="5410729"/>
            <a:ext cx="2133600" cy="304271"/>
          </a:xfrm>
          <a:prstGeom prst="rect">
            <a:avLst/>
          </a:prstGeom>
        </p:spPr>
        <p:txBody>
          <a:bodyPr vert="horz" lIns="91440" tIns="45720" rIns="91440" bIns="45720" rtlCol="0" anchor="ctr"/>
          <a:lstStyle>
            <a:lvl1pPr algn="l">
              <a:defRPr sz="1200">
                <a:solidFill>
                  <a:schemeClr val="tx1"/>
                </a:solidFill>
                <a:latin typeface="Courier New" pitchFamily="49" charset="0"/>
                <a:ea typeface="仿宋" pitchFamily="49" charset="-122"/>
                <a:cs typeface="Courier New" pitchFamily="49" charset="0"/>
              </a:defRPr>
            </a:lvl1pPr>
          </a:lstStyle>
          <a:p>
            <a:fld id="{0D8235BA-56C4-43F9-B60A-B0099B6FEE18}" type="datetime1">
              <a:rPr lang="zh-CN" altLang="en-US" smtClean="0"/>
              <a:pPr/>
              <a:t>2017/7/26</a:t>
            </a:fld>
            <a:endParaRPr lang="zh-CN" altLang="en-US" dirty="0"/>
          </a:p>
        </p:txBody>
      </p:sp>
      <p:sp>
        <p:nvSpPr>
          <p:cNvPr id="5" name="页脚占位符 4"/>
          <p:cNvSpPr>
            <a:spLocks noGrp="1"/>
          </p:cNvSpPr>
          <p:nvPr>
            <p:ph type="ftr" sz="quarter" idx="3"/>
          </p:nvPr>
        </p:nvSpPr>
        <p:spPr>
          <a:xfrm>
            <a:off x="3143240" y="5410729"/>
            <a:ext cx="2895600" cy="304271"/>
          </a:xfrm>
          <a:prstGeom prst="rect">
            <a:avLst/>
          </a:prstGeom>
        </p:spPr>
        <p:txBody>
          <a:bodyPr vert="horz" lIns="91440" tIns="45720" rIns="91440" bIns="45720" rtlCol="0" anchor="ctr"/>
          <a:lstStyle>
            <a:lvl1pPr marL="0" algn="ctr" defTabSz="914400" rtl="0" eaLnBrk="1" latinLnBrk="0" hangingPunct="1">
              <a:defRPr lang="zh-CN" altLang="en-US" sz="1200" kern="1200" smtClean="0">
                <a:solidFill>
                  <a:schemeClr val="tx1"/>
                </a:solidFill>
                <a:latin typeface="Courier New" pitchFamily="49" charset="0"/>
                <a:ea typeface="仿宋" pitchFamily="49" charset="-122"/>
                <a:cs typeface="Courier New" pitchFamily="49" charset="0"/>
              </a:defRPr>
            </a:lvl1pPr>
          </a:lstStyle>
          <a:p>
            <a:r>
              <a:rPr lang="zh-CN" altLang="en-US" smtClean="0"/>
              <a:t>概率与期望</a:t>
            </a:r>
            <a:endParaRPr lang="zh-CN" altLang="en-US" dirty="0"/>
          </a:p>
        </p:txBody>
      </p:sp>
      <p:sp>
        <p:nvSpPr>
          <p:cNvPr id="6" name="灯片编号占位符 5"/>
          <p:cNvSpPr>
            <a:spLocks noGrp="1"/>
          </p:cNvSpPr>
          <p:nvPr>
            <p:ph type="sldNum" sz="quarter" idx="4"/>
          </p:nvPr>
        </p:nvSpPr>
        <p:spPr>
          <a:xfrm>
            <a:off x="6572264" y="5410729"/>
            <a:ext cx="2133600" cy="304271"/>
          </a:xfrm>
          <a:prstGeom prst="rect">
            <a:avLst/>
          </a:prstGeom>
        </p:spPr>
        <p:txBody>
          <a:bodyPr vert="horz" lIns="91440" tIns="45720" rIns="91440" bIns="45720" rtlCol="0" anchor="ctr"/>
          <a:lstStyle>
            <a:lvl1pPr marL="0" algn="r" defTabSz="914400" rtl="0" eaLnBrk="1" latinLnBrk="0" hangingPunct="1">
              <a:defRPr lang="zh-CN" altLang="en-US" sz="1200" kern="1200" smtClean="0">
                <a:solidFill>
                  <a:schemeClr val="tx1"/>
                </a:solidFill>
                <a:latin typeface="Courier New" pitchFamily="49" charset="0"/>
                <a:ea typeface="仿宋" pitchFamily="49" charset="-122"/>
                <a:cs typeface="Courier New" pitchFamily="49" charset="0"/>
              </a:defRPr>
            </a:lvl1pPr>
          </a:lstStyle>
          <a:p>
            <a:fld id="{E0F8888A-9164-4D0B-9F56-0AECB5CBF556}"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transition>
    <p:fade thruBlk="1"/>
  </p:transition>
  <p:timing>
    <p:tnLst>
      <p:par>
        <p:cTn id="1" dur="indefinite" restart="never" nodeType="tmRoot"/>
      </p:par>
    </p:tnLst>
  </p:timing>
  <p:hf hdr="0"/>
  <p:txStyles>
    <p:titleStyle>
      <a:lvl1pPr algn="ctr" defTabSz="914400" rtl="0" eaLnBrk="1" latinLnBrk="0" hangingPunct="1">
        <a:spcBef>
          <a:spcPct val="0"/>
        </a:spcBef>
        <a:buNone/>
        <a:defRPr sz="2800" b="1" kern="1200">
          <a:solidFill>
            <a:schemeClr val="tx1"/>
          </a:solidFill>
          <a:latin typeface="Courier New" pitchFamily="49" charset="0"/>
          <a:ea typeface="仿宋" pitchFamily="49" charset="-122"/>
          <a:cs typeface="Courier New" pitchFamily="49" charset="0"/>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Courier New" pitchFamily="49" charset="0"/>
          <a:ea typeface="仿宋" pitchFamily="49" charset="-122"/>
          <a:cs typeface="Courier New" pitchFamily="49"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Courier New" pitchFamily="49" charset="0"/>
          <a:ea typeface="仿宋" pitchFamily="49" charset="-122"/>
          <a:cs typeface="Courier New" pitchFamily="49"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Courier New" pitchFamily="49" charset="0"/>
          <a:ea typeface="仿宋" pitchFamily="49" charset="-122"/>
          <a:cs typeface="Courier New" pitchFamily="49"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Courier New" pitchFamily="49" charset="0"/>
          <a:ea typeface="仿宋" pitchFamily="49" charset="-122"/>
          <a:cs typeface="Courier New" pitchFamily="49"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Courier New" pitchFamily="49" charset="0"/>
          <a:ea typeface="仿宋" pitchFamily="49" charset="-122"/>
          <a:cs typeface="Courier New" pitchFamily="49"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en-US" altLang="zh-CN" dirty="0"/>
              <a:t>Probabilities and Expectations</a:t>
            </a:r>
            <a:endParaRPr lang="zh-CN" altLang="en-US" dirty="0"/>
          </a:p>
        </p:txBody>
      </p:sp>
      <p:sp>
        <p:nvSpPr>
          <p:cNvPr id="3" name="副标题 2"/>
          <p:cNvSpPr>
            <a:spLocks noGrp="1"/>
          </p:cNvSpPr>
          <p:nvPr>
            <p:ph type="subTitle" idx="1"/>
          </p:nvPr>
        </p:nvSpPr>
        <p:spPr/>
        <p:txBody>
          <a:bodyPr/>
          <a:lstStyle/>
          <a:p>
            <a:r>
              <a:rPr lang="zh-CN" altLang="en-US" dirty="0"/>
              <a:t>河北衡水中学 </a:t>
            </a:r>
            <a:r>
              <a:rPr lang="en-US" altLang="zh-CN" dirty="0" err="1"/>
              <a:t>AntiLeaf</a:t>
            </a:r>
            <a:endParaRPr lang="zh-CN" altLang="en-US" dirty="0"/>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先把昨天的坑填上</a:t>
            </a:r>
            <a:endParaRPr lang="zh-CN" altLang="en-US" dirty="0"/>
          </a:p>
        </p:txBody>
      </p:sp>
      <p:sp>
        <p:nvSpPr>
          <p:cNvPr id="3" name="内容占位符 2"/>
          <p:cNvSpPr>
            <a:spLocks noGrp="1"/>
          </p:cNvSpPr>
          <p:nvPr>
            <p:ph idx="1"/>
          </p:nvPr>
        </p:nvSpPr>
        <p:spPr/>
        <p:txBody>
          <a:bodyPr/>
          <a:lstStyle/>
          <a:p>
            <a:r>
              <a:rPr lang="en-US" altLang="zh-CN" dirty="0" smtClean="0"/>
              <a:t>NOI2016 </a:t>
            </a:r>
            <a:r>
              <a:rPr lang="zh-CN" altLang="en-US" dirty="0" smtClean="0"/>
              <a:t>区间</a:t>
            </a:r>
            <a:endParaRPr lang="en-US" altLang="zh-CN" dirty="0" smtClean="0"/>
          </a:p>
          <a:p>
            <a:endParaRPr lang="en-US" altLang="zh-CN" dirty="0"/>
          </a:p>
          <a:p>
            <a:r>
              <a:rPr lang="zh-CN" altLang="en-US" dirty="0" smtClean="0"/>
              <a:t>后来翻了翻我的代码，做法没错，但是我记错了</a:t>
            </a:r>
            <a:r>
              <a:rPr lang="en-US" altLang="zh-CN" dirty="0" smtClean="0"/>
              <a:t>……</a:t>
            </a:r>
          </a:p>
          <a:p>
            <a:r>
              <a:rPr lang="zh-CN" altLang="en-US" dirty="0" smtClean="0"/>
              <a:t>正确的做法是这样的</a:t>
            </a:r>
            <a:endParaRPr lang="en-US" altLang="zh-CN" dirty="0" smtClean="0"/>
          </a:p>
          <a:p>
            <a:endParaRPr lang="en-US" altLang="zh-CN" dirty="0"/>
          </a:p>
          <a:p>
            <a:r>
              <a:rPr lang="zh-CN" altLang="en-US" dirty="0" smtClean="0"/>
              <a:t>把所有区间按长度排序，从小到大扫每个区间</a:t>
            </a:r>
            <a:endParaRPr lang="en-US" altLang="zh-CN" dirty="0" smtClean="0"/>
          </a:p>
          <a:p>
            <a:r>
              <a:rPr lang="zh-CN" altLang="en-US" dirty="0" smtClean="0"/>
              <a:t>显然最长的那个区间一定是随最小的区间单调增的，因此暴力拓展每个区间并用线段树求一下是否有被</a:t>
            </a:r>
            <a:r>
              <a:rPr lang="en-US" altLang="zh-CN" dirty="0" smtClean="0"/>
              <a:t>m</a:t>
            </a:r>
            <a:r>
              <a:rPr lang="zh-CN" altLang="en-US" dirty="0" smtClean="0"/>
              <a:t>个区间覆盖的点即可</a:t>
            </a:r>
            <a:endParaRPr lang="en-US" altLang="zh-CN" dirty="0" smtClean="0"/>
          </a:p>
          <a:p>
            <a:r>
              <a:rPr lang="en-US" altLang="zh-CN" dirty="0" smtClean="0"/>
              <a:t>O(</a:t>
            </a:r>
            <a:r>
              <a:rPr lang="en-US" altLang="zh-CN" dirty="0" err="1" smtClean="0"/>
              <a:t>nlogn</a:t>
            </a:r>
            <a:r>
              <a:rPr lang="en-US" altLang="zh-CN" dirty="0" smtClean="0"/>
              <a:t>)</a:t>
            </a:r>
            <a:endParaRPr lang="zh-CN" altLang="en-US" dirty="0"/>
          </a:p>
        </p:txBody>
      </p:sp>
      <p:sp>
        <p:nvSpPr>
          <p:cNvPr id="7" name="日期占位符 6"/>
          <p:cNvSpPr>
            <a:spLocks noGrp="1"/>
          </p:cNvSpPr>
          <p:nvPr>
            <p:ph type="dt" sz="half" idx="10"/>
          </p:nvPr>
        </p:nvSpPr>
        <p:spPr/>
        <p:txBody>
          <a:bodyPr/>
          <a:lstStyle/>
          <a:p>
            <a:fld id="{14BB6CF1-C381-4A59-AC9E-CE772F136886}" type="datetime1">
              <a:rPr lang="zh-CN" altLang="en-US" smtClean="0"/>
              <a:pPr/>
              <a:t>2017/7/26</a:t>
            </a:fld>
            <a:endParaRPr lang="zh-CN" altLang="en-US"/>
          </a:p>
        </p:txBody>
      </p:sp>
      <p:sp>
        <p:nvSpPr>
          <p:cNvPr id="8" name="页脚占位符 7"/>
          <p:cNvSpPr>
            <a:spLocks noGrp="1"/>
          </p:cNvSpPr>
          <p:nvPr>
            <p:ph type="ftr" sz="quarter" idx="11"/>
          </p:nvPr>
        </p:nvSpPr>
        <p:spPr/>
        <p:txBody>
          <a:bodyPr/>
          <a:lstStyle/>
          <a:p>
            <a:r>
              <a:rPr lang="zh-CN" altLang="en-US" smtClean="0"/>
              <a:t>概率与期望</a:t>
            </a:r>
            <a:endParaRPr lang="zh-CN" altLang="en-US"/>
          </a:p>
        </p:txBody>
      </p:sp>
      <p:sp>
        <p:nvSpPr>
          <p:cNvPr id="9" name="灯片编号占位符 8"/>
          <p:cNvSpPr>
            <a:spLocks noGrp="1"/>
          </p:cNvSpPr>
          <p:nvPr>
            <p:ph type="sldNum" sz="quarter" idx="12"/>
          </p:nvPr>
        </p:nvSpPr>
        <p:spPr/>
        <p:txBody>
          <a:bodyPr/>
          <a:lstStyle/>
          <a:p>
            <a:fld id="{E0F8888A-9164-4D0B-9F56-0AECB5CBF556}" type="slidenum">
              <a:rPr lang="zh-CN" altLang="en-US" smtClean="0"/>
              <a:pPr/>
              <a:t>2</a:t>
            </a:fld>
            <a:endParaRPr lang="zh-CN" altLang="en-US"/>
          </a:p>
        </p:txBody>
      </p:sp>
    </p:spTree>
    <p:extLst>
      <p:ext uri="{BB962C8B-B14F-4D97-AF65-F5344CB8AC3E}">
        <p14:creationId xmlns:p14="http://schemas.microsoft.com/office/powerpoint/2010/main" xmlns="" val="210325255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为什么要讲这个</a:t>
            </a:r>
            <a:endParaRPr lang="zh-CN" altLang="en-US" dirty="0"/>
          </a:p>
        </p:txBody>
      </p:sp>
      <p:sp>
        <p:nvSpPr>
          <p:cNvPr id="3" name="内容占位符 2"/>
          <p:cNvSpPr>
            <a:spLocks noGrp="1"/>
          </p:cNvSpPr>
          <p:nvPr>
            <p:ph idx="1"/>
          </p:nvPr>
        </p:nvSpPr>
        <p:spPr/>
        <p:txBody>
          <a:bodyPr/>
          <a:lstStyle/>
          <a:p>
            <a:r>
              <a:rPr lang="en-US" altLang="zh-CN" dirty="0" smtClean="0"/>
              <a:t>……</a:t>
            </a:r>
          </a:p>
          <a:p>
            <a:r>
              <a:rPr lang="zh-CN" altLang="en-US" dirty="0" smtClean="0"/>
              <a:t>听说泥萌需要讲概率与期望，吓得我赶紧来讲了</a:t>
            </a:r>
            <a:endParaRPr lang="en-US" altLang="zh-CN" dirty="0" smtClean="0"/>
          </a:p>
          <a:p>
            <a:endParaRPr lang="en-US" altLang="zh-CN" dirty="0"/>
          </a:p>
          <a:p>
            <a:r>
              <a:rPr lang="zh-CN" altLang="en-US" dirty="0" smtClean="0"/>
              <a:t>这个课件的很多东西都是从</a:t>
            </a:r>
            <a:r>
              <a:rPr lang="en-US" altLang="zh-CN" dirty="0" err="1" smtClean="0"/>
              <a:t>liu_runda</a:t>
            </a:r>
            <a:r>
              <a:rPr lang="zh-CN" altLang="en-US" dirty="0" smtClean="0"/>
              <a:t>的课件那里来的</a:t>
            </a:r>
            <a:r>
              <a:rPr lang="en-US" altLang="zh-CN" dirty="0" smtClean="0"/>
              <a:t>……</a:t>
            </a:r>
          </a:p>
          <a:p>
            <a:r>
              <a:rPr lang="zh-CN" altLang="en-US" dirty="0" smtClean="0"/>
              <a:t>（因为我太弱了（逃</a:t>
            </a:r>
            <a:endParaRPr lang="en-US" altLang="zh-CN" dirty="0" smtClean="0"/>
          </a:p>
        </p:txBody>
      </p:sp>
      <p:sp>
        <p:nvSpPr>
          <p:cNvPr id="7" name="日期占位符 6"/>
          <p:cNvSpPr>
            <a:spLocks noGrp="1"/>
          </p:cNvSpPr>
          <p:nvPr>
            <p:ph type="dt" sz="half" idx="10"/>
          </p:nvPr>
        </p:nvSpPr>
        <p:spPr/>
        <p:txBody>
          <a:bodyPr/>
          <a:lstStyle/>
          <a:p>
            <a:fld id="{8A4511C6-2A67-47F3-958B-523FCE5E388D}" type="datetime1">
              <a:rPr lang="zh-CN" altLang="en-US" smtClean="0"/>
              <a:pPr/>
              <a:t>2017/7/26</a:t>
            </a:fld>
            <a:endParaRPr lang="zh-CN" altLang="en-US"/>
          </a:p>
        </p:txBody>
      </p:sp>
      <p:sp>
        <p:nvSpPr>
          <p:cNvPr id="8" name="页脚占位符 7"/>
          <p:cNvSpPr>
            <a:spLocks noGrp="1"/>
          </p:cNvSpPr>
          <p:nvPr>
            <p:ph type="ftr" sz="quarter" idx="11"/>
          </p:nvPr>
        </p:nvSpPr>
        <p:spPr/>
        <p:txBody>
          <a:bodyPr/>
          <a:lstStyle/>
          <a:p>
            <a:r>
              <a:rPr lang="zh-CN" altLang="en-US" smtClean="0"/>
              <a:t>概率与期望</a:t>
            </a:r>
            <a:endParaRPr lang="zh-CN" altLang="en-US"/>
          </a:p>
        </p:txBody>
      </p:sp>
      <p:sp>
        <p:nvSpPr>
          <p:cNvPr id="9" name="灯片编号占位符 8"/>
          <p:cNvSpPr>
            <a:spLocks noGrp="1"/>
          </p:cNvSpPr>
          <p:nvPr>
            <p:ph type="sldNum" sz="quarter" idx="12"/>
          </p:nvPr>
        </p:nvSpPr>
        <p:spPr/>
        <p:txBody>
          <a:bodyPr/>
          <a:lstStyle/>
          <a:p>
            <a:fld id="{E0F8888A-9164-4D0B-9F56-0AECB5CBF556}" type="slidenum">
              <a:rPr lang="zh-CN" altLang="en-US" smtClean="0"/>
              <a:pPr/>
              <a:t>3</a:t>
            </a:fld>
            <a:endParaRPr lang="zh-CN" altLang="en-US"/>
          </a:p>
        </p:txBody>
      </p:sp>
    </p:spTree>
    <p:extLst>
      <p:ext uri="{BB962C8B-B14F-4D97-AF65-F5344CB8AC3E}">
        <p14:creationId xmlns:p14="http://schemas.microsoft.com/office/powerpoint/2010/main" xmlns="" val="227015570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你要讲啥</a:t>
            </a:r>
            <a:endParaRPr lang="zh-CN" altLang="en-US" dirty="0"/>
          </a:p>
        </p:txBody>
      </p:sp>
      <p:sp>
        <p:nvSpPr>
          <p:cNvPr id="3" name="内容占位符 2"/>
          <p:cNvSpPr>
            <a:spLocks noGrp="1"/>
          </p:cNvSpPr>
          <p:nvPr>
            <p:ph idx="1"/>
          </p:nvPr>
        </p:nvSpPr>
        <p:spPr/>
        <p:txBody>
          <a:bodyPr/>
          <a:lstStyle/>
          <a:p>
            <a:r>
              <a:rPr lang="en-US" altLang="zh-CN" dirty="0" smtClean="0"/>
              <a:t>……</a:t>
            </a:r>
          </a:p>
          <a:p>
            <a:r>
              <a:rPr lang="zh-CN" altLang="en-US" dirty="0" smtClean="0"/>
              <a:t>说是概率与期望，其实基础知识并没有多少</a:t>
            </a:r>
            <a:endParaRPr lang="en-US" altLang="zh-CN" dirty="0" smtClean="0"/>
          </a:p>
          <a:p>
            <a:r>
              <a:rPr lang="zh-CN" altLang="en-US" dirty="0" smtClean="0"/>
              <a:t>（因为你们都会所以也没想讲</a:t>
            </a:r>
            <a:r>
              <a:rPr lang="en-US" altLang="zh-CN" dirty="0" smtClean="0"/>
              <a:t>……</a:t>
            </a:r>
            <a:r>
              <a:rPr lang="zh-CN" altLang="en-US" dirty="0" smtClean="0"/>
              <a:t>）</a:t>
            </a:r>
            <a:endParaRPr lang="en-US" altLang="zh-CN" dirty="0" smtClean="0"/>
          </a:p>
          <a:p>
            <a:endParaRPr lang="en-US" altLang="zh-CN" dirty="0"/>
          </a:p>
          <a:p>
            <a:r>
              <a:rPr lang="zh-CN" altLang="en-US" dirty="0" smtClean="0"/>
              <a:t>主要是一些概率</a:t>
            </a:r>
            <a:r>
              <a:rPr lang="en-US" altLang="zh-CN" dirty="0" smtClean="0"/>
              <a:t>/</a:t>
            </a:r>
            <a:r>
              <a:rPr lang="zh-CN" altLang="en-US" dirty="0" smtClean="0"/>
              <a:t>期望的题目，以及一些概率</a:t>
            </a:r>
            <a:r>
              <a:rPr lang="en-US" altLang="zh-CN" dirty="0" smtClean="0"/>
              <a:t>/</a:t>
            </a:r>
            <a:r>
              <a:rPr lang="zh-CN" altLang="en-US" dirty="0" smtClean="0"/>
              <a:t>期望与其他算法结合的知识</a:t>
            </a:r>
            <a:endParaRPr lang="zh-CN" altLang="en-US"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4</a:t>
            </a:fld>
            <a:endParaRPr lang="zh-CN" altLang="en-US"/>
          </a:p>
        </p:txBody>
      </p:sp>
    </p:spTree>
    <p:extLst>
      <p:ext uri="{BB962C8B-B14F-4D97-AF65-F5344CB8AC3E}">
        <p14:creationId xmlns:p14="http://schemas.microsoft.com/office/powerpoint/2010/main" xmlns="" val="40566075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基本工具和特征</a:t>
            </a:r>
          </a:p>
        </p:txBody>
      </p:sp>
      <p:sp>
        <p:nvSpPr>
          <p:cNvPr id="3" name="内容占位符 2"/>
          <p:cNvSpPr>
            <a:spLocks noGrp="1"/>
          </p:cNvSpPr>
          <p:nvPr>
            <p:ph idx="1"/>
          </p:nvPr>
        </p:nvSpPr>
        <p:spPr/>
        <p:txBody>
          <a:bodyPr/>
          <a:lstStyle/>
          <a:p>
            <a:r>
              <a:rPr lang="zh-CN" altLang="en-US" strike="sngStrike" dirty="0" smtClean="0"/>
              <a:t>（从</a:t>
            </a:r>
            <a:r>
              <a:rPr lang="en-US" altLang="zh-CN" strike="sngStrike" dirty="0" err="1" smtClean="0"/>
              <a:t>liu_runda</a:t>
            </a:r>
            <a:r>
              <a:rPr lang="zh-CN" altLang="en-US" strike="sngStrike" dirty="0" smtClean="0"/>
              <a:t>那里</a:t>
            </a:r>
            <a:r>
              <a:rPr lang="en-US" altLang="zh-CN" strike="sngStrike" dirty="0" smtClean="0"/>
              <a:t>Ctrl-C</a:t>
            </a:r>
            <a:r>
              <a:rPr lang="zh-CN" altLang="en-US" strike="sngStrike" dirty="0" smtClean="0"/>
              <a:t>过来的）</a:t>
            </a:r>
            <a:endParaRPr lang="en-US" altLang="zh-CN" strike="sngStrike" dirty="0" smtClean="0"/>
          </a:p>
          <a:p>
            <a:endParaRPr lang="en-US" altLang="zh-CN" dirty="0" smtClean="0"/>
          </a:p>
          <a:p>
            <a:r>
              <a:rPr lang="zh-CN" altLang="en-US" dirty="0" smtClean="0"/>
              <a:t>处理</a:t>
            </a:r>
            <a:r>
              <a:rPr lang="zh-CN" altLang="en-US" dirty="0"/>
              <a:t>概率和期望问题的两大基本工具：</a:t>
            </a:r>
            <a:endParaRPr lang="en-US" altLang="zh-CN" dirty="0"/>
          </a:p>
          <a:p>
            <a:r>
              <a:rPr lang="zh-CN" altLang="en-US" dirty="0"/>
              <a:t>动态规划</a:t>
            </a:r>
            <a:r>
              <a:rPr lang="en-US" altLang="zh-CN" dirty="0"/>
              <a:t>&amp;</a:t>
            </a:r>
            <a:r>
              <a:rPr lang="zh-CN" altLang="en-US" dirty="0"/>
              <a:t>高斯消元</a:t>
            </a:r>
            <a:endParaRPr lang="en-US" altLang="zh-CN" dirty="0"/>
          </a:p>
          <a:p>
            <a:r>
              <a:rPr lang="zh-CN" altLang="en-US" dirty="0"/>
              <a:t>动态规划的状态定义常常</a:t>
            </a:r>
            <a:r>
              <a:rPr lang="zh-CN" altLang="en-US" dirty="0" smtClean="0"/>
              <a:t>体现“逆序”的</a:t>
            </a:r>
            <a:r>
              <a:rPr lang="zh-CN" altLang="en-US" dirty="0"/>
              <a:t>特点</a:t>
            </a:r>
            <a:endParaRPr lang="en-US" altLang="zh-CN" dirty="0"/>
          </a:p>
          <a:p>
            <a:r>
              <a:rPr lang="zh-CN" altLang="en-US" dirty="0"/>
              <a:t>期望可以直接按照定义计算</a:t>
            </a:r>
            <a:r>
              <a:rPr lang="en-US" altLang="zh-CN" dirty="0"/>
              <a:t>(</a:t>
            </a:r>
            <a:r>
              <a:rPr lang="zh-CN" altLang="en-US" dirty="0"/>
              <a:t>算出每种情况发生的概率</a:t>
            </a:r>
            <a:r>
              <a:rPr lang="en-US" altLang="zh-CN" dirty="0" smtClean="0"/>
              <a:t>)</a:t>
            </a:r>
            <a:r>
              <a:rPr lang="zh-CN" altLang="en-US" dirty="0" smtClean="0"/>
              <a:t>，利用</a:t>
            </a:r>
            <a:r>
              <a:rPr lang="zh-CN" altLang="en-US" dirty="0"/>
              <a:t>期望的线性性分别计算每一部分的</a:t>
            </a:r>
            <a:r>
              <a:rPr lang="zh-CN" altLang="en-US" dirty="0" smtClean="0"/>
              <a:t>贡献，或</a:t>
            </a:r>
            <a:r>
              <a:rPr lang="zh-CN" altLang="en-US" dirty="0"/>
              <a:t>直接定义一个期望作为转移的状态</a:t>
            </a:r>
            <a:endParaRPr lang="en-US" altLang="zh-CN" dirty="0"/>
          </a:p>
          <a:p>
            <a:r>
              <a:rPr lang="zh-CN" altLang="en-US" dirty="0"/>
              <a:t>状态</a:t>
            </a:r>
            <a:r>
              <a:rPr lang="zh-CN" altLang="en-US" dirty="0" smtClean="0"/>
              <a:t>之间不存在</a:t>
            </a:r>
            <a:r>
              <a:rPr lang="zh-CN" altLang="en-US" dirty="0"/>
              <a:t>先后关系时往往需要解</a:t>
            </a:r>
            <a:r>
              <a:rPr lang="zh-CN" altLang="en-US" dirty="0" smtClean="0"/>
              <a:t>方程组</a:t>
            </a:r>
            <a:endParaRPr lang="zh-CN" altLang="en-US" dirty="0"/>
          </a:p>
        </p:txBody>
      </p:sp>
      <p:sp>
        <p:nvSpPr>
          <p:cNvPr id="7" name="日期占位符 6"/>
          <p:cNvSpPr>
            <a:spLocks noGrp="1"/>
          </p:cNvSpPr>
          <p:nvPr>
            <p:ph type="dt" sz="half" idx="10"/>
          </p:nvPr>
        </p:nvSpPr>
        <p:spPr/>
        <p:txBody>
          <a:bodyPr/>
          <a:lstStyle/>
          <a:p>
            <a:fld id="{34027342-7110-4190-BB15-33ADF461C32E}" type="datetime1">
              <a:rPr lang="zh-CN" altLang="en-US" smtClean="0"/>
              <a:pPr/>
              <a:t>2017/7/26</a:t>
            </a:fld>
            <a:endParaRPr lang="zh-CN" altLang="en-US"/>
          </a:p>
        </p:txBody>
      </p:sp>
      <p:sp>
        <p:nvSpPr>
          <p:cNvPr id="8" name="页脚占位符 7"/>
          <p:cNvSpPr>
            <a:spLocks noGrp="1"/>
          </p:cNvSpPr>
          <p:nvPr>
            <p:ph type="ftr" sz="quarter" idx="11"/>
          </p:nvPr>
        </p:nvSpPr>
        <p:spPr/>
        <p:txBody>
          <a:bodyPr/>
          <a:lstStyle/>
          <a:p>
            <a:r>
              <a:rPr lang="zh-CN" altLang="en-US" smtClean="0"/>
              <a:t>概率与期望</a:t>
            </a:r>
            <a:endParaRPr lang="zh-CN" altLang="en-US"/>
          </a:p>
        </p:txBody>
      </p:sp>
      <p:sp>
        <p:nvSpPr>
          <p:cNvPr id="9" name="灯片编号占位符 8"/>
          <p:cNvSpPr>
            <a:spLocks noGrp="1"/>
          </p:cNvSpPr>
          <p:nvPr>
            <p:ph type="sldNum" sz="quarter" idx="12"/>
          </p:nvPr>
        </p:nvSpPr>
        <p:spPr/>
        <p:txBody>
          <a:bodyPr/>
          <a:lstStyle/>
          <a:p>
            <a:fld id="{E0F8888A-9164-4D0B-9F56-0AECB5CBF556}" type="slidenum">
              <a:rPr lang="zh-CN" altLang="en-US" smtClean="0"/>
              <a:pPr/>
              <a:t>5</a:t>
            </a:fld>
            <a:endParaRPr lang="zh-CN" altLang="en-US"/>
          </a:p>
        </p:txBody>
      </p:sp>
    </p:spTree>
    <p:extLst>
      <p:ext uri="{BB962C8B-B14F-4D97-AF65-F5344CB8AC3E}">
        <p14:creationId xmlns:p14="http://schemas.microsoft.com/office/powerpoint/2010/main" xmlns="" val="180541210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来道水题热热身</a:t>
            </a:r>
            <a:endParaRPr lang="zh-CN" altLang="en-US" dirty="0"/>
          </a:p>
        </p:txBody>
      </p:sp>
      <p:sp>
        <p:nvSpPr>
          <p:cNvPr id="3" name="内容占位符 2"/>
          <p:cNvSpPr>
            <a:spLocks noGrp="1"/>
          </p:cNvSpPr>
          <p:nvPr>
            <p:ph idx="1"/>
          </p:nvPr>
        </p:nvSpPr>
        <p:spPr/>
        <p:txBody>
          <a:bodyPr/>
          <a:lstStyle/>
          <a:p>
            <a:r>
              <a:rPr lang="zh-CN" altLang="en-US" dirty="0" smtClean="0"/>
              <a:t>有</a:t>
            </a:r>
            <a:r>
              <a:rPr lang="en-US" altLang="zh-CN" dirty="0" smtClean="0"/>
              <a:t>n</a:t>
            </a:r>
            <a:r>
              <a:rPr lang="zh-CN" altLang="en-US" dirty="0" smtClean="0"/>
              <a:t>种雪碧易拉罐，假设每次买到的易拉罐种类都是随机的，问期望多少次能集齐所有易拉罐</a:t>
            </a:r>
            <a:endParaRPr lang="en-US" altLang="zh-CN" dirty="0" smtClean="0"/>
          </a:p>
          <a:p>
            <a:r>
              <a:rPr lang="en-US" altLang="zh-CN" dirty="0" smtClean="0"/>
              <a:t>n&lt;=10^9</a:t>
            </a:r>
            <a:endParaRPr lang="en-US" altLang="zh-CN" dirty="0"/>
          </a:p>
          <a:p>
            <a:r>
              <a:rPr lang="zh-CN" altLang="en-US" dirty="0" smtClean="0"/>
              <a:t>可以分别考虑每次拿到新的一种易拉罐的期望次数</a:t>
            </a:r>
            <a:endParaRPr lang="en-US" altLang="zh-CN" dirty="0" smtClean="0"/>
          </a:p>
          <a:p>
            <a:pPr marL="0" indent="0">
              <a:buNone/>
            </a:pPr>
            <a:endParaRPr lang="en-US" altLang="zh-CN" dirty="0" smtClean="0"/>
          </a:p>
          <a:p>
            <a:endParaRPr lang="en-US" altLang="zh-CN" dirty="0" smtClean="0"/>
          </a:p>
          <a:p>
            <a:r>
              <a:rPr lang="zh-CN" altLang="en-US" dirty="0" smtClean="0"/>
              <a:t>至于</a:t>
            </a:r>
            <a:r>
              <a:rPr lang="en-US" altLang="zh-CN" dirty="0" smtClean="0"/>
              <a:t>n&lt;=10^9……</a:t>
            </a:r>
            <a:r>
              <a:rPr lang="zh-CN" altLang="en-US" dirty="0" smtClean="0"/>
              <a:t>分段打个表就行了</a:t>
            </a:r>
            <a:endParaRPr lang="en-US" altLang="zh-CN" dirty="0" smtClean="0"/>
          </a:p>
        </p:txBody>
      </p:sp>
      <p:graphicFrame>
        <p:nvGraphicFramePr>
          <p:cNvPr id="4" name="对象 3"/>
          <p:cNvGraphicFramePr>
            <a:graphicFrameLocks noChangeAspect="1"/>
          </p:cNvGraphicFramePr>
          <p:nvPr>
            <p:extLst>
              <p:ext uri="{D42A27DB-BD31-4B8C-83A1-F6EECF244321}">
                <p14:modId xmlns:p14="http://schemas.microsoft.com/office/powerpoint/2010/main" xmlns="" val="1878997814"/>
              </p:ext>
            </p:extLst>
          </p:nvPr>
        </p:nvGraphicFramePr>
        <p:xfrm>
          <a:off x="1043608" y="2641476"/>
          <a:ext cx="2859616" cy="883880"/>
        </p:xfrm>
        <a:graphic>
          <a:graphicData uri="http://schemas.openxmlformats.org/presentationml/2006/ole">
            <p:oleObj spid="_x0000_s1435" name="Equation" r:id="rId3" imgW="1396800" imgH="431640" progId="">
              <p:embed/>
            </p:oleObj>
          </a:graphicData>
        </a:graphic>
      </p:graphicFrame>
      <p:sp>
        <p:nvSpPr>
          <p:cNvPr id="8" name="日期占位符 7"/>
          <p:cNvSpPr>
            <a:spLocks noGrp="1"/>
          </p:cNvSpPr>
          <p:nvPr>
            <p:ph type="dt" sz="half" idx="10"/>
          </p:nvPr>
        </p:nvSpPr>
        <p:spPr/>
        <p:txBody>
          <a:bodyPr/>
          <a:lstStyle/>
          <a:p>
            <a:fld id="{ACD39D1D-678B-4BAE-B175-C34ADD783CE3}" type="datetime1">
              <a:rPr lang="zh-CN" altLang="en-US" smtClean="0"/>
              <a:pPr/>
              <a:t>2017/7/26</a:t>
            </a:fld>
            <a:endParaRPr lang="zh-CN" altLang="en-US"/>
          </a:p>
        </p:txBody>
      </p:sp>
      <p:sp>
        <p:nvSpPr>
          <p:cNvPr id="9" name="页脚占位符 8"/>
          <p:cNvSpPr>
            <a:spLocks noGrp="1"/>
          </p:cNvSpPr>
          <p:nvPr>
            <p:ph type="ftr" sz="quarter" idx="11"/>
          </p:nvPr>
        </p:nvSpPr>
        <p:spPr/>
        <p:txBody>
          <a:bodyPr/>
          <a:lstStyle/>
          <a:p>
            <a:r>
              <a:rPr lang="zh-CN" altLang="en-US" smtClean="0"/>
              <a:t>概率与期望</a:t>
            </a:r>
            <a:endParaRPr lang="zh-CN" altLang="en-US"/>
          </a:p>
        </p:txBody>
      </p:sp>
      <p:sp>
        <p:nvSpPr>
          <p:cNvPr id="10" name="灯片编号占位符 9"/>
          <p:cNvSpPr>
            <a:spLocks noGrp="1"/>
          </p:cNvSpPr>
          <p:nvPr>
            <p:ph type="sldNum" sz="quarter" idx="12"/>
          </p:nvPr>
        </p:nvSpPr>
        <p:spPr/>
        <p:txBody>
          <a:bodyPr/>
          <a:lstStyle/>
          <a:p>
            <a:fld id="{E0F8888A-9164-4D0B-9F56-0AECB5CBF556}" type="slidenum">
              <a:rPr lang="zh-CN" altLang="en-US" smtClean="0"/>
              <a:pPr/>
              <a:t>6</a:t>
            </a:fld>
            <a:endParaRPr lang="zh-CN" altLang="en-US"/>
          </a:p>
        </p:txBody>
      </p:sp>
    </p:spTree>
    <p:extLst>
      <p:ext uri="{BB962C8B-B14F-4D97-AF65-F5344CB8AC3E}">
        <p14:creationId xmlns:p14="http://schemas.microsoft.com/office/powerpoint/2010/main" xmlns="" val="300431375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tyvj1952</a:t>
            </a:r>
            <a:r>
              <a:rPr lang="en-US" altLang="zh-CN" dirty="0"/>
              <a:t> Easy</a:t>
            </a:r>
            <a:endParaRPr lang="zh-CN" altLang="en-US" dirty="0"/>
          </a:p>
        </p:txBody>
      </p:sp>
      <p:sp>
        <p:nvSpPr>
          <p:cNvPr id="3" name="内容占位符 2"/>
          <p:cNvSpPr>
            <a:spLocks noGrp="1"/>
          </p:cNvSpPr>
          <p:nvPr>
            <p:ph idx="1"/>
          </p:nvPr>
        </p:nvSpPr>
        <p:spPr/>
        <p:txBody>
          <a:bodyPr/>
          <a:lstStyle/>
          <a:p>
            <a:r>
              <a:rPr lang="zh-CN" altLang="en-US" dirty="0" smtClean="0"/>
              <a:t>给定一个长为</a:t>
            </a:r>
            <a:r>
              <a:rPr lang="en-US" altLang="zh-CN" dirty="0" smtClean="0"/>
              <a:t>n</a:t>
            </a:r>
            <a:r>
              <a:rPr lang="zh-CN" altLang="en-US" dirty="0" smtClean="0"/>
              <a:t>的序列，其中有些位置已经确定了是</a:t>
            </a:r>
            <a:r>
              <a:rPr lang="en-US" altLang="zh-CN" dirty="0" smtClean="0"/>
              <a:t>0/1</a:t>
            </a:r>
            <a:r>
              <a:rPr lang="zh-CN" altLang="en-US" dirty="0" smtClean="0"/>
              <a:t>，其余位置未知，假设这些未知位置最终变成</a:t>
            </a:r>
            <a:r>
              <a:rPr lang="en-US" altLang="zh-CN" dirty="0" smtClean="0"/>
              <a:t>0/1</a:t>
            </a:r>
            <a:r>
              <a:rPr lang="zh-CN" altLang="en-US" dirty="0" smtClean="0"/>
              <a:t>的概率相等，每一段极大的连续的</a:t>
            </a:r>
            <a:r>
              <a:rPr lang="en-US" altLang="zh-CN" dirty="0" smtClean="0"/>
              <a:t>1</a:t>
            </a:r>
            <a:r>
              <a:rPr lang="zh-CN" altLang="en-US" dirty="0" smtClean="0"/>
              <a:t>都会增加长度的平方的得分，求得分的期望</a:t>
            </a:r>
            <a:endParaRPr lang="en-US" altLang="zh-CN" dirty="0" smtClean="0"/>
          </a:p>
          <a:p>
            <a:r>
              <a:rPr lang="en-US" altLang="zh-CN" dirty="0" smtClean="0"/>
              <a:t>n&lt;=10^6</a:t>
            </a:r>
          </a:p>
          <a:p>
            <a:endParaRPr lang="en-US" altLang="zh-CN" dirty="0" smtClean="0"/>
          </a:p>
          <a:p>
            <a:r>
              <a:rPr lang="zh-CN" altLang="en-US" dirty="0" smtClean="0"/>
              <a:t>我们可以对每个位置求出以它为结尾的极大连续</a:t>
            </a:r>
            <a:r>
              <a:rPr lang="en-US" altLang="zh-CN" dirty="0" smtClean="0"/>
              <a:t>1</a:t>
            </a:r>
            <a:r>
              <a:rPr lang="zh-CN" altLang="en-US" dirty="0" smtClean="0"/>
              <a:t>的长度和长度的平方的期望，显然答案就是每个点的平方的期望乘上后面一个位置是</a:t>
            </a:r>
            <a:r>
              <a:rPr lang="en-US" altLang="zh-CN" dirty="0" smtClean="0"/>
              <a:t>0</a:t>
            </a:r>
            <a:r>
              <a:rPr lang="zh-CN" altLang="en-US" dirty="0" smtClean="0"/>
              <a:t>的概率再求和</a:t>
            </a:r>
            <a:endParaRPr lang="en-US" altLang="zh-CN" dirty="0" smtClean="0"/>
          </a:p>
        </p:txBody>
      </p:sp>
      <p:sp>
        <p:nvSpPr>
          <p:cNvPr id="4" name="日期占位符 3"/>
          <p:cNvSpPr>
            <a:spLocks noGrp="1"/>
          </p:cNvSpPr>
          <p:nvPr>
            <p:ph type="dt" sz="half" idx="10"/>
          </p:nvPr>
        </p:nvSpPr>
        <p:spPr/>
        <p:txBody>
          <a:bodyPr/>
          <a:lstStyle/>
          <a:p>
            <a:fld id="{CC14C391-A921-4264-918B-C4520BAD24C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dirty="0"/>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7</a:t>
            </a:fld>
            <a:endParaRPr lang="zh-CN" altLang="en-US"/>
          </a:p>
        </p:txBody>
      </p:sp>
    </p:spTree>
    <p:extLst>
      <p:ext uri="{BB962C8B-B14F-4D97-AF65-F5344CB8AC3E}">
        <p14:creationId xmlns:p14="http://schemas.microsoft.com/office/powerpoint/2010/main" xmlns="" val="197060100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tyvj1952 Easy</a:t>
            </a:r>
            <a:endParaRPr lang="zh-CN" altLang="en-US" dirty="0"/>
          </a:p>
        </p:txBody>
      </p:sp>
      <p:sp>
        <p:nvSpPr>
          <p:cNvPr id="3" name="内容占位符 2"/>
          <p:cNvSpPr>
            <a:spLocks noGrp="1"/>
          </p:cNvSpPr>
          <p:nvPr>
            <p:ph idx="1"/>
          </p:nvPr>
        </p:nvSpPr>
        <p:spPr/>
        <p:txBody>
          <a:bodyPr/>
          <a:lstStyle/>
          <a:p>
            <a:r>
              <a:rPr lang="zh-CN" altLang="en-US" dirty="0"/>
              <a:t>定义</a:t>
            </a:r>
            <a:r>
              <a:rPr lang="en-US" altLang="zh-CN" dirty="0"/>
              <a:t>f[</a:t>
            </a:r>
            <a:r>
              <a:rPr lang="en-US" altLang="zh-CN" dirty="0" err="1"/>
              <a:t>i</a:t>
            </a:r>
            <a:r>
              <a:rPr lang="en-US" altLang="zh-CN" dirty="0"/>
              <a:t>]</a:t>
            </a:r>
            <a:r>
              <a:rPr lang="zh-CN" altLang="en-US" dirty="0"/>
              <a:t>表示以</a:t>
            </a:r>
            <a:r>
              <a:rPr lang="en-US" altLang="zh-CN" dirty="0" err="1"/>
              <a:t>i</a:t>
            </a:r>
            <a:r>
              <a:rPr lang="zh-CN" altLang="en-US" dirty="0"/>
              <a:t>结尾时长度的期望，</a:t>
            </a:r>
            <a:r>
              <a:rPr lang="en-US" altLang="zh-CN" dirty="0"/>
              <a:t>g[</a:t>
            </a:r>
            <a:r>
              <a:rPr lang="en-US" altLang="zh-CN" dirty="0" err="1"/>
              <a:t>i</a:t>
            </a:r>
            <a:r>
              <a:rPr lang="en-US" altLang="zh-CN" dirty="0"/>
              <a:t>]</a:t>
            </a:r>
            <a:r>
              <a:rPr lang="zh-CN" altLang="en-US" dirty="0"/>
              <a:t>表示平方的期望</a:t>
            </a:r>
            <a:endParaRPr lang="en-US" altLang="zh-CN" dirty="0"/>
          </a:p>
          <a:p>
            <a:r>
              <a:rPr lang="zh-CN" altLang="en-US" dirty="0" smtClean="0"/>
              <a:t>当第</a:t>
            </a:r>
            <a:r>
              <a:rPr lang="en-US" altLang="zh-CN" dirty="0" err="1" smtClean="0"/>
              <a:t>i</a:t>
            </a:r>
            <a:r>
              <a:rPr lang="zh-CN" altLang="en-US" dirty="0" smtClean="0"/>
              <a:t>个位置已经钦定了的时候两种情况讨论一下，否则</a:t>
            </a:r>
            <a:r>
              <a:rPr lang="en-US" altLang="zh-CN" dirty="0" smtClean="0"/>
              <a:t>f[</a:t>
            </a:r>
            <a:r>
              <a:rPr lang="en-US" altLang="zh-CN" dirty="0" err="1" smtClean="0"/>
              <a:t>i</a:t>
            </a:r>
            <a:r>
              <a:rPr lang="en-US" altLang="zh-CN" dirty="0" smtClean="0"/>
              <a:t>]=(f[i-1]+1)/2</a:t>
            </a:r>
          </a:p>
          <a:p>
            <a:r>
              <a:rPr lang="zh-CN" altLang="en-US" dirty="0" smtClean="0"/>
              <a:t>考虑如何求出</a:t>
            </a:r>
            <a:r>
              <a:rPr lang="en-US" altLang="zh-CN" dirty="0" smtClean="0"/>
              <a:t>g[</a:t>
            </a:r>
            <a:r>
              <a:rPr lang="en-US" altLang="zh-CN" dirty="0" err="1" smtClean="0"/>
              <a:t>i</a:t>
            </a:r>
            <a:r>
              <a:rPr lang="en-US" altLang="zh-CN" dirty="0" smtClean="0"/>
              <a:t>]</a:t>
            </a:r>
          </a:p>
          <a:p>
            <a:r>
              <a:rPr lang="zh-CN" altLang="en-US" dirty="0" smtClean="0"/>
              <a:t>我们都知道</a:t>
            </a:r>
            <a:r>
              <a:rPr lang="en-US" altLang="zh-CN" dirty="0" smtClean="0"/>
              <a:t>(f[i-1]+1)^2=f[i-1]^2+2*f[i-1]+1</a:t>
            </a:r>
          </a:p>
          <a:p>
            <a:r>
              <a:rPr lang="zh-CN" altLang="en-US" dirty="0" smtClean="0"/>
              <a:t>由于这里是期望，因此前面的</a:t>
            </a:r>
            <a:r>
              <a:rPr lang="en-US" altLang="zh-CN" dirty="0" smtClean="0"/>
              <a:t>f[i-1]^2</a:t>
            </a:r>
            <a:r>
              <a:rPr lang="zh-CN" altLang="en-US" dirty="0" smtClean="0"/>
              <a:t>应当用</a:t>
            </a:r>
            <a:r>
              <a:rPr lang="en-US" altLang="zh-CN" dirty="0" smtClean="0"/>
              <a:t>g[i-1]</a:t>
            </a:r>
            <a:r>
              <a:rPr lang="zh-CN" altLang="en-US" dirty="0" smtClean="0"/>
              <a:t>来代替</a:t>
            </a:r>
            <a:endParaRPr lang="en-US" altLang="zh-CN" dirty="0" smtClean="0"/>
          </a:p>
          <a:p>
            <a:r>
              <a:rPr lang="zh-CN" altLang="en-US" dirty="0" smtClean="0"/>
              <a:t>也就是说</a:t>
            </a:r>
            <a:r>
              <a:rPr lang="en-US" altLang="zh-CN" dirty="0" smtClean="0"/>
              <a:t>g[</a:t>
            </a:r>
            <a:r>
              <a:rPr lang="en-US" altLang="zh-CN" dirty="0" err="1" smtClean="0"/>
              <a:t>i</a:t>
            </a:r>
            <a:r>
              <a:rPr lang="en-US" altLang="zh-CN" dirty="0" smtClean="0"/>
              <a:t>]=(g[i-1]+2*f[i-1]+1)/4</a:t>
            </a:r>
          </a:p>
          <a:p>
            <a:r>
              <a:rPr lang="zh-CN" altLang="en-US" dirty="0"/>
              <a:t>求</a:t>
            </a:r>
            <a:r>
              <a:rPr lang="zh-CN" altLang="en-US" dirty="0" smtClean="0"/>
              <a:t>出</a:t>
            </a:r>
            <a:r>
              <a:rPr lang="en-US" altLang="zh-CN" dirty="0" smtClean="0"/>
              <a:t>g[]</a:t>
            </a:r>
            <a:r>
              <a:rPr lang="zh-CN" altLang="en-US" dirty="0" smtClean="0"/>
              <a:t>之后当然你也就知道答案了</a:t>
            </a:r>
            <a:r>
              <a:rPr lang="en-US" altLang="zh-CN" dirty="0" smtClean="0"/>
              <a:t>……</a:t>
            </a:r>
          </a:p>
          <a:p>
            <a:r>
              <a:rPr lang="zh-CN" altLang="en-US" dirty="0" smtClean="0"/>
              <a:t>复杂度</a:t>
            </a:r>
            <a:r>
              <a:rPr lang="en-US" altLang="zh-CN" dirty="0" smtClean="0"/>
              <a:t>O(n)</a:t>
            </a:r>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8</a:t>
            </a:fld>
            <a:endParaRPr lang="zh-CN" altLang="en-US"/>
          </a:p>
        </p:txBody>
      </p:sp>
    </p:spTree>
    <p:extLst>
      <p:ext uri="{BB962C8B-B14F-4D97-AF65-F5344CB8AC3E}">
        <p14:creationId xmlns:p14="http://schemas.microsoft.com/office/powerpoint/2010/main" xmlns="" val="125874151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bzoj4318 </a:t>
            </a:r>
            <a:r>
              <a:rPr lang="en-US" altLang="zh-CN" dirty="0"/>
              <a:t>OSU!</a:t>
            </a:r>
            <a:endParaRPr lang="zh-CN" altLang="en-US" dirty="0"/>
          </a:p>
        </p:txBody>
      </p:sp>
      <p:sp>
        <p:nvSpPr>
          <p:cNvPr id="3" name="内容占位符 2"/>
          <p:cNvSpPr>
            <a:spLocks noGrp="1"/>
          </p:cNvSpPr>
          <p:nvPr>
            <p:ph idx="1"/>
          </p:nvPr>
        </p:nvSpPr>
        <p:spPr/>
        <p:txBody>
          <a:bodyPr/>
          <a:lstStyle/>
          <a:p>
            <a:r>
              <a:rPr lang="zh-CN" altLang="en-US" dirty="0" smtClean="0"/>
              <a:t>给定一个长为</a:t>
            </a:r>
            <a:r>
              <a:rPr lang="en-US" altLang="zh-CN" dirty="0" smtClean="0"/>
              <a:t>n</a:t>
            </a:r>
            <a:r>
              <a:rPr lang="zh-CN" altLang="en-US" dirty="0" smtClean="0"/>
              <a:t>的序列，序列的每个元素都只能是</a:t>
            </a:r>
            <a:r>
              <a:rPr lang="en-US" altLang="zh-CN" dirty="0" smtClean="0"/>
              <a:t>0/1</a:t>
            </a:r>
            <a:r>
              <a:rPr lang="zh-CN" altLang="en-US" dirty="0" smtClean="0"/>
              <a:t>，给出每个位置为</a:t>
            </a:r>
            <a:r>
              <a:rPr lang="en-US" altLang="zh-CN" dirty="0" smtClean="0"/>
              <a:t>1</a:t>
            </a:r>
            <a:r>
              <a:rPr lang="zh-CN" altLang="en-US" dirty="0" smtClean="0"/>
              <a:t>的概率，</a:t>
            </a:r>
            <a:r>
              <a:rPr lang="zh-CN" altLang="en-US" dirty="0"/>
              <a:t>每一段极大的连续的</a:t>
            </a:r>
            <a:r>
              <a:rPr lang="en-US" altLang="zh-CN" dirty="0"/>
              <a:t>1</a:t>
            </a:r>
            <a:r>
              <a:rPr lang="zh-CN" altLang="en-US" dirty="0"/>
              <a:t>都会增加长度</a:t>
            </a:r>
            <a:r>
              <a:rPr lang="zh-CN" altLang="en-US" dirty="0" smtClean="0"/>
              <a:t>的三次方</a:t>
            </a:r>
            <a:r>
              <a:rPr lang="zh-CN" altLang="en-US" dirty="0"/>
              <a:t>的得分，求得分的期望</a:t>
            </a:r>
            <a:endParaRPr lang="en-US" altLang="zh-CN" dirty="0"/>
          </a:p>
          <a:p>
            <a:r>
              <a:rPr lang="en-US" altLang="zh-CN" dirty="0" smtClean="0"/>
              <a:t>n&lt;=10^5</a:t>
            </a:r>
            <a:r>
              <a:rPr lang="zh-CN" altLang="en-US" dirty="0" smtClean="0"/>
              <a:t>（其实再乘一个</a:t>
            </a:r>
            <a:r>
              <a:rPr lang="en-US" altLang="zh-CN" dirty="0" smtClean="0"/>
              <a:t>10</a:t>
            </a:r>
            <a:r>
              <a:rPr lang="zh-CN" altLang="en-US" dirty="0" smtClean="0"/>
              <a:t>也没问题</a:t>
            </a:r>
            <a:endParaRPr lang="en-US" altLang="zh-CN" dirty="0" smtClean="0"/>
          </a:p>
          <a:p>
            <a:endParaRPr lang="en-US" altLang="zh-CN" dirty="0"/>
          </a:p>
          <a:p>
            <a:r>
              <a:rPr lang="zh-CN" altLang="en-US" dirty="0" smtClean="0"/>
              <a:t>运用和上一题差不多的套路，对每个位置分别考虑贡献</a:t>
            </a:r>
            <a:endParaRPr lang="en-US" altLang="zh-CN" dirty="0" smtClean="0"/>
          </a:p>
          <a:p>
            <a:r>
              <a:rPr lang="zh-CN" altLang="en-US" dirty="0" smtClean="0"/>
              <a:t>定义</a:t>
            </a:r>
            <a:r>
              <a:rPr lang="en-US" altLang="zh-CN" dirty="0" smtClean="0"/>
              <a:t>f[</a:t>
            </a:r>
            <a:r>
              <a:rPr lang="en-US" altLang="zh-CN" dirty="0" err="1" smtClean="0"/>
              <a:t>i</a:t>
            </a:r>
            <a:r>
              <a:rPr lang="en-US" altLang="zh-CN" dirty="0" smtClean="0"/>
              <a:t>],g[</a:t>
            </a:r>
            <a:r>
              <a:rPr lang="en-US" altLang="zh-CN" dirty="0" err="1" smtClean="0"/>
              <a:t>i</a:t>
            </a:r>
            <a:r>
              <a:rPr lang="en-US" altLang="zh-CN" dirty="0" smtClean="0"/>
              <a:t>],h[</a:t>
            </a:r>
            <a:r>
              <a:rPr lang="en-US" altLang="zh-CN" dirty="0" err="1" smtClean="0"/>
              <a:t>i</a:t>
            </a:r>
            <a:r>
              <a:rPr lang="en-US" altLang="zh-CN" dirty="0" smtClean="0"/>
              <a:t>]</a:t>
            </a:r>
            <a:r>
              <a:rPr lang="zh-CN" altLang="en-US" dirty="0" smtClean="0"/>
              <a:t>分别表示一次方</a:t>
            </a:r>
            <a:r>
              <a:rPr lang="en-US" altLang="zh-CN" dirty="0" smtClean="0"/>
              <a:t>~</a:t>
            </a:r>
            <a:r>
              <a:rPr lang="zh-CN" altLang="en-US" dirty="0" smtClean="0"/>
              <a:t>三次方的期望，</a:t>
            </a:r>
            <a:r>
              <a:rPr lang="en-US" altLang="zh-CN" dirty="0" smtClean="0"/>
              <a:t>p</a:t>
            </a:r>
            <a:r>
              <a:rPr lang="zh-CN" altLang="en-US" dirty="0" smtClean="0"/>
              <a:t>表示当前位置为</a:t>
            </a:r>
            <a:r>
              <a:rPr lang="en-US" altLang="zh-CN" dirty="0" smtClean="0"/>
              <a:t>1</a:t>
            </a:r>
            <a:r>
              <a:rPr lang="zh-CN" altLang="en-US" dirty="0" smtClean="0"/>
              <a:t>的概率</a:t>
            </a:r>
            <a:endParaRPr lang="en-US" altLang="zh-CN" dirty="0" smtClean="0"/>
          </a:p>
          <a:p>
            <a:r>
              <a:rPr lang="zh-CN" altLang="en-US" dirty="0" smtClean="0"/>
              <a:t>分析过程跟上一题差不多，最后得到的递推式是</a:t>
            </a:r>
            <a:endParaRPr lang="en-US" altLang="zh-CN" dirty="0" smtClean="0"/>
          </a:p>
          <a:p>
            <a:r>
              <a:rPr lang="en-US" altLang="zh-CN" dirty="0" smtClean="0"/>
              <a:t>f[</a:t>
            </a:r>
            <a:r>
              <a:rPr lang="en-US" altLang="zh-CN" dirty="0" err="1" smtClean="0"/>
              <a:t>i</a:t>
            </a:r>
            <a:r>
              <a:rPr lang="en-US" altLang="zh-CN" dirty="0" smtClean="0"/>
              <a:t>]=p*(f[i-1]+1)</a:t>
            </a:r>
            <a:r>
              <a:rPr lang="zh-CN" altLang="en-US" dirty="0" smtClean="0"/>
              <a:t>，</a:t>
            </a:r>
            <a:r>
              <a:rPr lang="en-US" altLang="zh-CN" dirty="0" smtClean="0"/>
              <a:t>g[</a:t>
            </a:r>
            <a:r>
              <a:rPr lang="en-US" altLang="zh-CN" dirty="0" err="1" smtClean="0"/>
              <a:t>i</a:t>
            </a:r>
            <a:r>
              <a:rPr lang="en-US" altLang="zh-CN" dirty="0" smtClean="0"/>
              <a:t>]=p^2*(g[i-1]+2*f[i-1]+1)</a:t>
            </a:r>
            <a:r>
              <a:rPr lang="zh-CN" altLang="en-US" dirty="0" smtClean="0"/>
              <a:t>，</a:t>
            </a:r>
            <a:r>
              <a:rPr lang="en-US" altLang="zh-CN" dirty="0" smtClean="0"/>
              <a:t>h[</a:t>
            </a:r>
            <a:r>
              <a:rPr lang="en-US" altLang="zh-CN" dirty="0" err="1" smtClean="0"/>
              <a:t>i</a:t>
            </a:r>
            <a:r>
              <a:rPr lang="en-US" altLang="zh-CN" dirty="0" smtClean="0"/>
              <a:t>]=p^3*(h[i-1]+3*g[i-1]+3*f[i-1]+1)</a:t>
            </a:r>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9</a:t>
            </a:fld>
            <a:endParaRPr lang="zh-CN" altLang="en-US"/>
          </a:p>
        </p:txBody>
      </p:sp>
    </p:spTree>
    <p:extLst>
      <p:ext uri="{BB962C8B-B14F-4D97-AF65-F5344CB8AC3E}">
        <p14:creationId xmlns:p14="http://schemas.microsoft.com/office/powerpoint/2010/main" xmlns="" val="318922457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水题的增强版</a:t>
            </a:r>
            <a:r>
              <a:rPr lang="en-US" altLang="zh-CN" dirty="0" smtClean="0"/>
              <a:t>(bzoj1426)</a:t>
            </a:r>
            <a:endParaRPr lang="zh-CN" altLang="en-US" dirty="0"/>
          </a:p>
        </p:txBody>
      </p:sp>
      <p:sp>
        <p:nvSpPr>
          <p:cNvPr id="3" name="内容占位符 2"/>
          <p:cNvSpPr>
            <a:spLocks noGrp="1"/>
          </p:cNvSpPr>
          <p:nvPr>
            <p:ph idx="1"/>
          </p:nvPr>
        </p:nvSpPr>
        <p:spPr/>
        <p:txBody>
          <a:bodyPr/>
          <a:lstStyle/>
          <a:p>
            <a:r>
              <a:rPr lang="zh-CN" altLang="en-US" dirty="0"/>
              <a:t>有</a:t>
            </a:r>
            <a:r>
              <a:rPr lang="en-US" altLang="zh-CN" dirty="0"/>
              <a:t>n</a:t>
            </a:r>
            <a:r>
              <a:rPr lang="zh-CN" altLang="en-US" dirty="0"/>
              <a:t>种雪碧</a:t>
            </a:r>
            <a:r>
              <a:rPr lang="zh-CN" altLang="en-US" dirty="0" smtClean="0"/>
              <a:t>易拉罐，买第</a:t>
            </a:r>
            <a:r>
              <a:rPr lang="en-US" altLang="zh-CN" dirty="0" err="1" smtClean="0"/>
              <a:t>i</a:t>
            </a:r>
            <a:r>
              <a:rPr lang="zh-CN" altLang="en-US" dirty="0" smtClean="0"/>
              <a:t>罐需要</a:t>
            </a:r>
            <a:r>
              <a:rPr lang="en-US" altLang="zh-CN" dirty="0" err="1" smtClean="0"/>
              <a:t>i</a:t>
            </a:r>
            <a:r>
              <a:rPr lang="zh-CN" altLang="en-US" dirty="0" smtClean="0"/>
              <a:t>元钱，</a:t>
            </a:r>
            <a:r>
              <a:rPr lang="zh-CN" altLang="en-US" dirty="0"/>
              <a:t>假设每次买到的易拉罐种类都是随机的，问</a:t>
            </a:r>
            <a:r>
              <a:rPr lang="zh-CN" altLang="en-US" dirty="0" smtClean="0"/>
              <a:t>期望花多少钱能</a:t>
            </a:r>
            <a:r>
              <a:rPr lang="zh-CN" altLang="en-US" dirty="0"/>
              <a:t>集齐所有易拉罐</a:t>
            </a:r>
            <a:endParaRPr lang="en-US" altLang="zh-CN" dirty="0"/>
          </a:p>
          <a:p>
            <a:r>
              <a:rPr lang="en-US" altLang="zh-CN" dirty="0"/>
              <a:t>n</a:t>
            </a:r>
            <a:r>
              <a:rPr lang="en-US" altLang="zh-CN" dirty="0" smtClean="0"/>
              <a:t>&lt;=5×10^6</a:t>
            </a:r>
          </a:p>
          <a:p>
            <a:endParaRPr lang="en-US" altLang="zh-CN" dirty="0" smtClean="0"/>
          </a:p>
          <a:p>
            <a:r>
              <a:rPr lang="zh-CN" altLang="en-US" dirty="0" smtClean="0"/>
              <a:t>两种做法</a:t>
            </a:r>
            <a:endParaRPr lang="en-US" altLang="zh-CN" dirty="0" smtClean="0"/>
          </a:p>
          <a:p>
            <a:r>
              <a:rPr lang="zh-CN" altLang="en-US" dirty="0"/>
              <a:t>一</a:t>
            </a:r>
            <a:r>
              <a:rPr lang="zh-CN" altLang="en-US" dirty="0" smtClean="0"/>
              <a:t>种是我的麻烦做法</a:t>
            </a:r>
            <a:endParaRPr lang="en-US" altLang="zh-CN" dirty="0" smtClean="0"/>
          </a:p>
          <a:p>
            <a:r>
              <a:rPr lang="zh-CN" altLang="en-US" dirty="0"/>
              <a:t>一</a:t>
            </a:r>
            <a:r>
              <a:rPr lang="zh-CN" altLang="en-US" dirty="0" smtClean="0"/>
              <a:t>种是</a:t>
            </a:r>
            <a:r>
              <a:rPr lang="en-US" altLang="zh-CN" dirty="0" err="1" smtClean="0"/>
              <a:t>liu_runda</a:t>
            </a:r>
            <a:r>
              <a:rPr lang="zh-CN" altLang="en-US" dirty="0" smtClean="0"/>
              <a:t>的神奇做法</a:t>
            </a:r>
            <a:endParaRPr lang="zh-CN" altLang="en-US" dirty="0"/>
          </a:p>
        </p:txBody>
      </p:sp>
      <p:sp>
        <p:nvSpPr>
          <p:cNvPr id="7" name="日期占位符 6"/>
          <p:cNvSpPr>
            <a:spLocks noGrp="1"/>
          </p:cNvSpPr>
          <p:nvPr>
            <p:ph type="dt" sz="half" idx="10"/>
          </p:nvPr>
        </p:nvSpPr>
        <p:spPr/>
        <p:txBody>
          <a:bodyPr/>
          <a:lstStyle/>
          <a:p>
            <a:fld id="{C8D839D6-14C6-4B35-A087-845AD071E658}" type="datetime1">
              <a:rPr lang="zh-CN" altLang="en-US" smtClean="0"/>
              <a:pPr/>
              <a:t>2017/7/26</a:t>
            </a:fld>
            <a:endParaRPr lang="zh-CN" altLang="en-US"/>
          </a:p>
        </p:txBody>
      </p:sp>
      <p:sp>
        <p:nvSpPr>
          <p:cNvPr id="8" name="页脚占位符 7"/>
          <p:cNvSpPr>
            <a:spLocks noGrp="1"/>
          </p:cNvSpPr>
          <p:nvPr>
            <p:ph type="ftr" sz="quarter" idx="11"/>
          </p:nvPr>
        </p:nvSpPr>
        <p:spPr/>
        <p:txBody>
          <a:bodyPr/>
          <a:lstStyle/>
          <a:p>
            <a:r>
              <a:rPr lang="zh-CN" altLang="en-US" smtClean="0"/>
              <a:t>概率与期望</a:t>
            </a:r>
            <a:endParaRPr lang="zh-CN" altLang="en-US"/>
          </a:p>
        </p:txBody>
      </p:sp>
      <p:sp>
        <p:nvSpPr>
          <p:cNvPr id="9" name="灯片编号占位符 8"/>
          <p:cNvSpPr>
            <a:spLocks noGrp="1"/>
          </p:cNvSpPr>
          <p:nvPr>
            <p:ph type="sldNum" sz="quarter" idx="12"/>
          </p:nvPr>
        </p:nvSpPr>
        <p:spPr/>
        <p:txBody>
          <a:bodyPr/>
          <a:lstStyle/>
          <a:p>
            <a:fld id="{E0F8888A-9164-4D0B-9F56-0AECB5CBF556}" type="slidenum">
              <a:rPr lang="zh-CN" altLang="en-US" smtClean="0"/>
              <a:pPr/>
              <a:t>10</a:t>
            </a:fld>
            <a:endParaRPr lang="zh-CN" altLang="en-US"/>
          </a:p>
        </p:txBody>
      </p:sp>
    </p:spTree>
    <p:extLst>
      <p:ext uri="{BB962C8B-B14F-4D97-AF65-F5344CB8AC3E}">
        <p14:creationId xmlns:p14="http://schemas.microsoft.com/office/powerpoint/2010/main" xmlns="" val="412081799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水题的增强版</a:t>
            </a:r>
            <a:endParaRPr lang="zh-CN" altLang="en-US" dirty="0"/>
          </a:p>
        </p:txBody>
      </p:sp>
      <p:sp>
        <p:nvSpPr>
          <p:cNvPr id="3" name="内容占位符 2"/>
          <p:cNvSpPr>
            <a:spLocks noGrp="1"/>
          </p:cNvSpPr>
          <p:nvPr>
            <p:ph idx="1"/>
          </p:nvPr>
        </p:nvSpPr>
        <p:spPr/>
        <p:txBody>
          <a:bodyPr>
            <a:normAutofit/>
          </a:bodyPr>
          <a:lstStyle/>
          <a:p>
            <a:r>
              <a:rPr lang="zh-CN" altLang="en-US" dirty="0" smtClean="0"/>
              <a:t>设购买次数为</a:t>
            </a:r>
            <a:r>
              <a:rPr lang="en-US" altLang="zh-CN" dirty="0" smtClean="0"/>
              <a:t>x</a:t>
            </a:r>
            <a:r>
              <a:rPr lang="zh-CN" altLang="en-US" dirty="0" smtClean="0"/>
              <a:t>，则</a:t>
            </a:r>
            <a:r>
              <a:rPr lang="en-US" altLang="zh-CN" dirty="0" err="1" smtClean="0"/>
              <a:t>Ans</a:t>
            </a:r>
            <a:r>
              <a:rPr lang="en-US" altLang="zh-CN" dirty="0" smtClean="0"/>
              <a:t>=(E(x)+E(x^2))/2</a:t>
            </a:r>
          </a:p>
          <a:p>
            <a:r>
              <a:rPr lang="en-US" altLang="zh-CN" dirty="0" smtClean="0"/>
              <a:t>E(x)</a:t>
            </a:r>
            <a:r>
              <a:rPr lang="zh-CN" altLang="en-US" dirty="0" smtClean="0"/>
              <a:t>肯定很好求，问题就在于</a:t>
            </a:r>
            <a:r>
              <a:rPr lang="en-US" altLang="zh-CN" dirty="0" smtClean="0"/>
              <a:t>E(x^2)</a:t>
            </a:r>
            <a:r>
              <a:rPr lang="zh-CN" altLang="en-US" dirty="0" smtClean="0"/>
              <a:t>怎么求了</a:t>
            </a:r>
            <a:endParaRPr lang="en-US" altLang="zh-CN" dirty="0" smtClean="0"/>
          </a:p>
          <a:p>
            <a:endParaRPr lang="en-US" altLang="zh-CN" dirty="0" smtClean="0"/>
          </a:p>
          <a:p>
            <a:r>
              <a:rPr lang="zh-CN" altLang="en-US" dirty="0" smtClean="0"/>
              <a:t>定义</a:t>
            </a:r>
            <a:r>
              <a:rPr lang="en-US" altLang="zh-CN" dirty="0" smtClean="0"/>
              <a:t>f[</a:t>
            </a:r>
            <a:r>
              <a:rPr lang="en-US" altLang="zh-CN" dirty="0" err="1" smtClean="0"/>
              <a:t>i</a:t>
            </a:r>
            <a:r>
              <a:rPr lang="en-US" altLang="zh-CN" dirty="0" smtClean="0"/>
              <a:t>]</a:t>
            </a:r>
            <a:r>
              <a:rPr lang="zh-CN" altLang="en-US" dirty="0" smtClean="0"/>
              <a:t>表示还差</a:t>
            </a:r>
            <a:r>
              <a:rPr lang="en-US" altLang="zh-CN" dirty="0" err="1" smtClean="0"/>
              <a:t>i</a:t>
            </a:r>
            <a:r>
              <a:rPr lang="zh-CN" altLang="en-US" dirty="0" smtClean="0"/>
              <a:t>种易拉罐时的期望次数，</a:t>
            </a:r>
            <a:r>
              <a:rPr lang="en-US" altLang="zh-CN" dirty="0" smtClean="0"/>
              <a:t>g[</a:t>
            </a:r>
            <a:r>
              <a:rPr lang="en-US" altLang="zh-CN" dirty="0" err="1" smtClean="0"/>
              <a:t>i</a:t>
            </a:r>
            <a:r>
              <a:rPr lang="en-US" altLang="zh-CN" dirty="0" smtClean="0"/>
              <a:t>]</a:t>
            </a:r>
            <a:r>
              <a:rPr lang="zh-CN" altLang="en-US" dirty="0" smtClean="0"/>
              <a:t>表示平方的期望</a:t>
            </a:r>
            <a:endParaRPr lang="en-US" altLang="zh-CN" dirty="0" smtClean="0"/>
          </a:p>
          <a:p>
            <a:r>
              <a:rPr lang="en-US" altLang="zh-CN" dirty="0" smtClean="0"/>
              <a:t>f[</a:t>
            </a:r>
            <a:r>
              <a:rPr lang="en-US" altLang="zh-CN" dirty="0" err="1" smtClean="0"/>
              <a:t>i</a:t>
            </a:r>
            <a:r>
              <a:rPr lang="en-US" altLang="zh-CN" dirty="0" smtClean="0"/>
              <a:t>]=f[i+1]+n/</a:t>
            </a:r>
            <a:r>
              <a:rPr lang="en-US" altLang="zh-CN" dirty="0" err="1" smtClean="0"/>
              <a:t>i</a:t>
            </a:r>
            <a:r>
              <a:rPr lang="zh-CN" altLang="en-US" dirty="0" smtClean="0"/>
              <a:t>，</a:t>
            </a:r>
            <a:r>
              <a:rPr lang="en-US" altLang="zh-CN" dirty="0" smtClean="0"/>
              <a:t>g[</a:t>
            </a:r>
            <a:r>
              <a:rPr lang="en-US" altLang="zh-CN" dirty="0" err="1" smtClean="0"/>
              <a:t>i</a:t>
            </a:r>
            <a:r>
              <a:rPr lang="en-US" altLang="zh-CN" dirty="0" smtClean="0"/>
              <a:t>]……</a:t>
            </a:r>
          </a:p>
          <a:p>
            <a:r>
              <a:rPr lang="zh-CN" altLang="en-US" dirty="0" smtClean="0"/>
              <a:t>设之前的次数为</a:t>
            </a:r>
            <a:r>
              <a:rPr lang="en-US" altLang="zh-CN" dirty="0" smtClean="0"/>
              <a:t>x</a:t>
            </a:r>
            <a:r>
              <a:rPr lang="zh-CN" altLang="en-US" dirty="0" smtClean="0"/>
              <a:t>，获得第</a:t>
            </a:r>
            <a:r>
              <a:rPr lang="en-US" altLang="zh-CN" dirty="0" err="1" smtClean="0"/>
              <a:t>i</a:t>
            </a:r>
            <a:r>
              <a:rPr lang="zh-CN" altLang="en-US" dirty="0" smtClean="0"/>
              <a:t>种易拉罐还需要的次数为</a:t>
            </a:r>
            <a:r>
              <a:rPr lang="en-US" altLang="zh-CN" dirty="0" smtClean="0"/>
              <a:t>y</a:t>
            </a:r>
          </a:p>
          <a:p>
            <a:r>
              <a:rPr lang="en-US" altLang="zh-CN" dirty="0" smtClean="0"/>
              <a:t>E((</a:t>
            </a:r>
            <a:r>
              <a:rPr lang="en-US" altLang="zh-CN" dirty="0" err="1" smtClean="0"/>
              <a:t>x+y</a:t>
            </a:r>
            <a:r>
              <a:rPr lang="en-US" altLang="zh-CN" dirty="0" smtClean="0"/>
              <a:t>)^2)=E(x^2+2xy+y^2)=E(x^2)+2E(x)E(y)+E(y^2)</a:t>
            </a:r>
          </a:p>
          <a:p>
            <a:r>
              <a:rPr lang="zh-CN" altLang="en-US" dirty="0" smtClean="0"/>
              <a:t>我们已经知道</a:t>
            </a:r>
            <a:r>
              <a:rPr lang="en-US" altLang="zh-CN" dirty="0" smtClean="0"/>
              <a:t>E(x^2)=g[i+1]</a:t>
            </a:r>
            <a:r>
              <a:rPr lang="zh-CN" altLang="en-US" dirty="0" smtClean="0"/>
              <a:t>，</a:t>
            </a:r>
            <a:r>
              <a:rPr lang="en-US" altLang="zh-CN" dirty="0" smtClean="0"/>
              <a:t>E(x)=f[i+1]</a:t>
            </a:r>
            <a:r>
              <a:rPr lang="zh-CN" altLang="en-US" dirty="0" smtClean="0"/>
              <a:t>，</a:t>
            </a:r>
            <a:r>
              <a:rPr lang="en-US" altLang="zh-CN" dirty="0" smtClean="0"/>
              <a:t>E(y)=n/</a:t>
            </a:r>
            <a:r>
              <a:rPr lang="en-US" altLang="zh-CN" dirty="0" err="1" smtClean="0"/>
              <a:t>i</a:t>
            </a:r>
            <a:endParaRPr lang="en-US" altLang="zh-CN" dirty="0" smtClean="0"/>
          </a:p>
          <a:p>
            <a:r>
              <a:rPr lang="zh-CN" altLang="en-US" dirty="0" smtClean="0"/>
              <a:t>剩下的问题就是如何求</a:t>
            </a:r>
            <a:r>
              <a:rPr lang="en-US" altLang="zh-CN" dirty="0" smtClean="0"/>
              <a:t>E(y^2)</a:t>
            </a:r>
            <a:r>
              <a:rPr lang="zh-CN" altLang="en-US" dirty="0" smtClean="0"/>
              <a:t>了</a:t>
            </a:r>
            <a:endParaRPr lang="en-US" altLang="zh-CN" dirty="0" smtClean="0"/>
          </a:p>
        </p:txBody>
      </p:sp>
      <p:sp>
        <p:nvSpPr>
          <p:cNvPr id="7" name="日期占位符 6"/>
          <p:cNvSpPr>
            <a:spLocks noGrp="1"/>
          </p:cNvSpPr>
          <p:nvPr>
            <p:ph type="dt" sz="half" idx="10"/>
          </p:nvPr>
        </p:nvSpPr>
        <p:spPr/>
        <p:txBody>
          <a:bodyPr/>
          <a:lstStyle/>
          <a:p>
            <a:fld id="{D8D2DF72-9E0B-4F69-8644-BA9AAABAD2C3}" type="datetime1">
              <a:rPr lang="zh-CN" altLang="en-US" smtClean="0"/>
              <a:pPr/>
              <a:t>2017/7/26</a:t>
            </a:fld>
            <a:endParaRPr lang="zh-CN" altLang="en-US"/>
          </a:p>
        </p:txBody>
      </p:sp>
      <p:sp>
        <p:nvSpPr>
          <p:cNvPr id="8" name="页脚占位符 7"/>
          <p:cNvSpPr>
            <a:spLocks noGrp="1"/>
          </p:cNvSpPr>
          <p:nvPr>
            <p:ph type="ftr" sz="quarter" idx="11"/>
          </p:nvPr>
        </p:nvSpPr>
        <p:spPr/>
        <p:txBody>
          <a:bodyPr/>
          <a:lstStyle/>
          <a:p>
            <a:r>
              <a:rPr lang="zh-CN" altLang="en-US" smtClean="0"/>
              <a:t>概率与期望</a:t>
            </a:r>
            <a:endParaRPr lang="zh-CN" altLang="en-US"/>
          </a:p>
        </p:txBody>
      </p:sp>
      <p:sp>
        <p:nvSpPr>
          <p:cNvPr id="9" name="灯片编号占位符 8"/>
          <p:cNvSpPr>
            <a:spLocks noGrp="1"/>
          </p:cNvSpPr>
          <p:nvPr>
            <p:ph type="sldNum" sz="quarter" idx="12"/>
          </p:nvPr>
        </p:nvSpPr>
        <p:spPr/>
        <p:txBody>
          <a:bodyPr/>
          <a:lstStyle/>
          <a:p>
            <a:fld id="{E0F8888A-9164-4D0B-9F56-0AECB5CBF556}" type="slidenum">
              <a:rPr lang="zh-CN" altLang="en-US" smtClean="0"/>
              <a:pPr/>
              <a:t>11</a:t>
            </a:fld>
            <a:endParaRPr lang="zh-CN" altLang="en-US"/>
          </a:p>
        </p:txBody>
      </p:sp>
    </p:spTree>
    <p:extLst>
      <p:ext uri="{BB962C8B-B14F-4D97-AF65-F5344CB8AC3E}">
        <p14:creationId xmlns:p14="http://schemas.microsoft.com/office/powerpoint/2010/main" xmlns="" val="129785007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水题的增强版</a:t>
            </a:r>
            <a:endParaRPr lang="zh-CN" altLang="en-US" dirty="0"/>
          </a:p>
        </p:txBody>
      </p:sp>
      <p:sp>
        <p:nvSpPr>
          <p:cNvPr id="3" name="内容占位符 2"/>
          <p:cNvSpPr>
            <a:spLocks noGrp="1"/>
          </p:cNvSpPr>
          <p:nvPr>
            <p:ph idx="1"/>
          </p:nvPr>
        </p:nvSpPr>
        <p:spPr/>
        <p:txBody>
          <a:bodyPr/>
          <a:lstStyle/>
          <a:p>
            <a:r>
              <a:rPr lang="zh-CN" altLang="en-US" dirty="0" smtClean="0"/>
              <a:t>还是要从定义入手</a:t>
            </a:r>
            <a:endParaRPr lang="en-US" altLang="zh-CN" dirty="0"/>
          </a:p>
          <a:p>
            <a:endParaRPr lang="en-US" altLang="zh-CN" dirty="0" smtClean="0"/>
          </a:p>
          <a:p>
            <a:pPr marL="0" indent="0">
              <a:buNone/>
            </a:pPr>
            <a:endParaRPr lang="en-US" altLang="zh-CN" dirty="0" smtClean="0"/>
          </a:p>
          <a:p>
            <a:r>
              <a:rPr lang="zh-CN" altLang="en-US" dirty="0" smtClean="0"/>
              <a:t>后面的东西硬推出通项就好了</a:t>
            </a:r>
            <a:r>
              <a:rPr lang="en-US" altLang="zh-CN" dirty="0" smtClean="0"/>
              <a:t>……</a:t>
            </a:r>
            <a:r>
              <a:rPr lang="zh-CN" altLang="en-US" dirty="0" smtClean="0"/>
              <a:t>（呸</a:t>
            </a:r>
            <a:endParaRPr lang="en-US" altLang="zh-CN" dirty="0" smtClean="0"/>
          </a:p>
          <a:p>
            <a:endParaRPr lang="en-US" altLang="zh-CN" dirty="0" smtClean="0"/>
          </a:p>
          <a:p>
            <a:r>
              <a:rPr lang="zh-CN" altLang="en-US" dirty="0" smtClean="0"/>
              <a:t>（记得当时做的时候推的不是很麻烦，不过写课件的时候推了推感觉难推的要命</a:t>
            </a:r>
            <a:r>
              <a:rPr lang="en-US" altLang="zh-CN" dirty="0" smtClean="0"/>
              <a:t>……</a:t>
            </a:r>
            <a:r>
              <a:rPr lang="zh-CN" altLang="en-US" dirty="0"/>
              <a:t>也</a:t>
            </a:r>
            <a:r>
              <a:rPr lang="zh-CN" altLang="en-US" dirty="0" smtClean="0"/>
              <a:t>许是我忘了当时怎么做的了</a:t>
            </a:r>
            <a:endParaRPr lang="en-US" altLang="zh-CN" dirty="0" smtClean="0"/>
          </a:p>
          <a:p>
            <a:endParaRPr lang="en-US" altLang="zh-CN" dirty="0" smtClean="0"/>
          </a:p>
          <a:p>
            <a:r>
              <a:rPr lang="zh-CN" altLang="en-US" dirty="0" smtClean="0"/>
              <a:t>注意递推的时候其实并不需要开数组，因此空间可以做到</a:t>
            </a:r>
            <a:r>
              <a:rPr lang="en-US" altLang="zh-CN" dirty="0" smtClean="0"/>
              <a:t>O(1)</a:t>
            </a:r>
            <a:endParaRPr lang="en-US" altLang="zh-CN" dirty="0"/>
          </a:p>
          <a:p>
            <a:r>
              <a:rPr lang="zh-CN" altLang="en-US" dirty="0" smtClean="0"/>
              <a:t>就是这样</a:t>
            </a:r>
            <a:r>
              <a:rPr lang="en-US" altLang="zh-CN" dirty="0" smtClean="0"/>
              <a:t>……</a:t>
            </a:r>
            <a:r>
              <a:rPr lang="zh-CN" altLang="en-US" dirty="0" smtClean="0"/>
              <a:t>（这做法好麻烦</a:t>
            </a:r>
            <a:endParaRPr lang="en-US" altLang="zh-CN" dirty="0" smtClean="0"/>
          </a:p>
        </p:txBody>
      </p:sp>
      <p:graphicFrame>
        <p:nvGraphicFramePr>
          <p:cNvPr id="4" name="对象 3"/>
          <p:cNvGraphicFramePr>
            <a:graphicFrameLocks noChangeAspect="1"/>
          </p:cNvGraphicFramePr>
          <p:nvPr>
            <p:extLst>
              <p:ext uri="{D42A27DB-BD31-4B8C-83A1-F6EECF244321}">
                <p14:modId xmlns:p14="http://schemas.microsoft.com/office/powerpoint/2010/main" xmlns="" val="3167777622"/>
              </p:ext>
            </p:extLst>
          </p:nvPr>
        </p:nvGraphicFramePr>
        <p:xfrm>
          <a:off x="755576" y="1633364"/>
          <a:ext cx="3280306" cy="873175"/>
        </p:xfrm>
        <a:graphic>
          <a:graphicData uri="http://schemas.openxmlformats.org/presentationml/2006/ole">
            <p:oleObj spid="_x0000_s2424" name="Equation" r:id="rId3" imgW="1765080" imgH="469800" progId="">
              <p:embed/>
            </p:oleObj>
          </a:graphicData>
        </a:graphic>
      </p:graphicFrame>
      <p:sp>
        <p:nvSpPr>
          <p:cNvPr id="8" name="日期占位符 7"/>
          <p:cNvSpPr>
            <a:spLocks noGrp="1"/>
          </p:cNvSpPr>
          <p:nvPr>
            <p:ph type="dt" sz="half" idx="10"/>
          </p:nvPr>
        </p:nvSpPr>
        <p:spPr/>
        <p:txBody>
          <a:bodyPr/>
          <a:lstStyle/>
          <a:p>
            <a:fld id="{BB0BA219-E68E-45D3-9F56-C53EE1F94F46}" type="datetime1">
              <a:rPr lang="zh-CN" altLang="en-US" smtClean="0"/>
              <a:pPr/>
              <a:t>2017/7/26</a:t>
            </a:fld>
            <a:endParaRPr lang="zh-CN" altLang="en-US"/>
          </a:p>
        </p:txBody>
      </p:sp>
      <p:sp>
        <p:nvSpPr>
          <p:cNvPr id="9" name="页脚占位符 8"/>
          <p:cNvSpPr>
            <a:spLocks noGrp="1"/>
          </p:cNvSpPr>
          <p:nvPr>
            <p:ph type="ftr" sz="quarter" idx="11"/>
          </p:nvPr>
        </p:nvSpPr>
        <p:spPr/>
        <p:txBody>
          <a:bodyPr/>
          <a:lstStyle/>
          <a:p>
            <a:r>
              <a:rPr lang="zh-CN" altLang="en-US" smtClean="0"/>
              <a:t>概率与期望</a:t>
            </a:r>
            <a:endParaRPr lang="zh-CN" altLang="en-US"/>
          </a:p>
        </p:txBody>
      </p:sp>
      <p:sp>
        <p:nvSpPr>
          <p:cNvPr id="10" name="灯片编号占位符 9"/>
          <p:cNvSpPr>
            <a:spLocks noGrp="1"/>
          </p:cNvSpPr>
          <p:nvPr>
            <p:ph type="sldNum" sz="quarter" idx="12"/>
          </p:nvPr>
        </p:nvSpPr>
        <p:spPr/>
        <p:txBody>
          <a:bodyPr/>
          <a:lstStyle/>
          <a:p>
            <a:fld id="{E0F8888A-9164-4D0B-9F56-0AECB5CBF556}" type="slidenum">
              <a:rPr lang="zh-CN" altLang="en-US" smtClean="0"/>
              <a:pPr/>
              <a:t>12</a:t>
            </a:fld>
            <a:endParaRPr lang="zh-CN" altLang="en-US"/>
          </a:p>
        </p:txBody>
      </p:sp>
    </p:spTree>
    <p:extLst>
      <p:ext uri="{BB962C8B-B14F-4D97-AF65-F5344CB8AC3E}">
        <p14:creationId xmlns:p14="http://schemas.microsoft.com/office/powerpoint/2010/main" xmlns="" val="330432244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水题的增强版</a:t>
            </a:r>
            <a:endParaRPr lang="zh-CN" altLang="en-US" dirty="0"/>
          </a:p>
        </p:txBody>
      </p:sp>
      <p:sp>
        <p:nvSpPr>
          <p:cNvPr id="3" name="内容占位符 2"/>
          <p:cNvSpPr>
            <a:spLocks noGrp="1"/>
          </p:cNvSpPr>
          <p:nvPr>
            <p:ph idx="1"/>
          </p:nvPr>
        </p:nvSpPr>
        <p:spPr/>
        <p:txBody>
          <a:bodyPr/>
          <a:lstStyle/>
          <a:p>
            <a:r>
              <a:rPr lang="zh-CN" altLang="en-US" dirty="0" smtClean="0"/>
              <a:t>然后是</a:t>
            </a:r>
            <a:r>
              <a:rPr lang="en-US" altLang="zh-CN" dirty="0" err="1" smtClean="0"/>
              <a:t>liu_runda</a:t>
            </a:r>
            <a:r>
              <a:rPr lang="zh-CN" altLang="en-US" dirty="0" smtClean="0"/>
              <a:t>的做法</a:t>
            </a:r>
            <a:endParaRPr lang="en-US" altLang="zh-CN" dirty="0" smtClean="0"/>
          </a:p>
          <a:p>
            <a:r>
              <a:rPr lang="zh-CN" altLang="en-US" strike="sngStrike" dirty="0" smtClean="0"/>
              <a:t>下面开始</a:t>
            </a:r>
            <a:r>
              <a:rPr lang="en-US" altLang="zh-CN" strike="sngStrike" dirty="0" smtClean="0"/>
              <a:t>Ctrl-C </a:t>
            </a:r>
            <a:r>
              <a:rPr lang="en-US" altLang="zh-CN" strike="sngStrike" dirty="0" err="1" smtClean="0"/>
              <a:t>liu_runda</a:t>
            </a:r>
            <a:r>
              <a:rPr lang="zh-CN" altLang="en-US" strike="sngStrike" dirty="0" smtClean="0"/>
              <a:t>的课件</a:t>
            </a:r>
            <a:endParaRPr lang="en-US" altLang="zh-CN" strike="sngStrike" dirty="0" smtClean="0"/>
          </a:p>
          <a:p>
            <a:endParaRPr lang="en-US" altLang="zh-CN" dirty="0"/>
          </a:p>
          <a:p>
            <a:r>
              <a:rPr lang="zh-CN" altLang="en-US" dirty="0" smtClean="0"/>
              <a:t>我们</a:t>
            </a:r>
            <a:r>
              <a:rPr lang="zh-CN" altLang="en-US" dirty="0"/>
              <a:t>可以在得到</a:t>
            </a:r>
            <a:r>
              <a:rPr lang="en-US" altLang="zh-CN" dirty="0"/>
              <a:t>n</a:t>
            </a:r>
            <a:r>
              <a:rPr lang="zh-CN" altLang="en-US" dirty="0"/>
              <a:t>种邮票后再计算</a:t>
            </a:r>
            <a:r>
              <a:rPr lang="zh-CN" altLang="en-US" dirty="0" smtClean="0"/>
              <a:t>费用</a:t>
            </a:r>
            <a:r>
              <a:rPr lang="en-US" altLang="zh-CN" dirty="0" smtClean="0"/>
              <a:t>,</a:t>
            </a:r>
            <a:r>
              <a:rPr lang="zh-CN" altLang="en-US" dirty="0" smtClean="0"/>
              <a:t>认为</a:t>
            </a:r>
            <a:r>
              <a:rPr lang="zh-CN" altLang="en-US" dirty="0"/>
              <a:t>最后一张邮票的花费是</a:t>
            </a:r>
            <a:r>
              <a:rPr lang="en-US" altLang="zh-CN" dirty="0" smtClean="0"/>
              <a:t>1,</a:t>
            </a:r>
            <a:r>
              <a:rPr lang="zh-CN" altLang="en-US" dirty="0" smtClean="0"/>
              <a:t>倒数</a:t>
            </a:r>
            <a:r>
              <a:rPr lang="zh-CN" altLang="en-US" dirty="0"/>
              <a:t>第二张邮票的花费是</a:t>
            </a:r>
            <a:r>
              <a:rPr lang="en-US" altLang="zh-CN" dirty="0"/>
              <a:t>2,</a:t>
            </a:r>
            <a:r>
              <a:rPr lang="zh-CN" altLang="en-US" dirty="0"/>
              <a:t>倒数第</a:t>
            </a:r>
            <a:r>
              <a:rPr lang="en-US" altLang="zh-CN" dirty="0"/>
              <a:t>n</a:t>
            </a:r>
            <a:r>
              <a:rPr lang="zh-CN" altLang="en-US" dirty="0"/>
              <a:t>张的花费是</a:t>
            </a:r>
            <a:r>
              <a:rPr lang="en-US" altLang="zh-CN" dirty="0"/>
              <a:t>n,</a:t>
            </a:r>
            <a:r>
              <a:rPr lang="zh-CN" altLang="en-US" dirty="0"/>
              <a:t>不难看出这样计算的费用是不变的</a:t>
            </a:r>
            <a:r>
              <a:rPr lang="en-US" altLang="zh-CN" dirty="0"/>
              <a:t>.</a:t>
            </a:r>
          </a:p>
          <a:p>
            <a:r>
              <a:rPr lang="zh-CN" altLang="en-US" dirty="0"/>
              <a:t>如果不这样转换</a:t>
            </a:r>
            <a:r>
              <a:rPr lang="en-US" altLang="zh-CN" dirty="0"/>
              <a:t>,</a:t>
            </a:r>
            <a:r>
              <a:rPr lang="zh-CN" altLang="en-US" dirty="0"/>
              <a:t>也可以认为每一次购买邮票的花费都是</a:t>
            </a:r>
            <a:r>
              <a:rPr lang="en-US" altLang="zh-CN" dirty="0"/>
              <a:t>1,</a:t>
            </a:r>
            <a:r>
              <a:rPr lang="zh-CN" altLang="en-US" dirty="0"/>
              <a:t>而每次购买邮票会使后面的每次购买的花费增加</a:t>
            </a:r>
            <a:r>
              <a:rPr lang="en-US" altLang="zh-CN" dirty="0"/>
              <a:t>1,</a:t>
            </a:r>
            <a:r>
              <a:rPr lang="zh-CN" altLang="en-US" dirty="0"/>
              <a:t>也就是总费用增加了剩余的购买次数</a:t>
            </a:r>
            <a:r>
              <a:rPr lang="zh-CN" altLang="en-US" dirty="0" smtClean="0"/>
              <a:t>元</a:t>
            </a:r>
            <a:endParaRPr lang="zh-CN" altLang="en-US" dirty="0"/>
          </a:p>
        </p:txBody>
      </p:sp>
      <p:sp>
        <p:nvSpPr>
          <p:cNvPr id="8" name="日期占位符 7"/>
          <p:cNvSpPr>
            <a:spLocks noGrp="1"/>
          </p:cNvSpPr>
          <p:nvPr>
            <p:ph type="dt" sz="half" idx="10"/>
          </p:nvPr>
        </p:nvSpPr>
        <p:spPr/>
        <p:txBody>
          <a:bodyPr/>
          <a:lstStyle/>
          <a:p>
            <a:fld id="{BB0BA219-E68E-45D3-9F56-C53EE1F94F46}" type="datetime1">
              <a:rPr lang="zh-CN" altLang="en-US" smtClean="0"/>
              <a:pPr/>
              <a:t>2017/7/26</a:t>
            </a:fld>
            <a:endParaRPr lang="zh-CN" altLang="en-US"/>
          </a:p>
        </p:txBody>
      </p:sp>
      <p:sp>
        <p:nvSpPr>
          <p:cNvPr id="9" name="页脚占位符 8"/>
          <p:cNvSpPr>
            <a:spLocks noGrp="1"/>
          </p:cNvSpPr>
          <p:nvPr>
            <p:ph type="ftr" sz="quarter" idx="11"/>
          </p:nvPr>
        </p:nvSpPr>
        <p:spPr/>
        <p:txBody>
          <a:bodyPr/>
          <a:lstStyle/>
          <a:p>
            <a:r>
              <a:rPr lang="zh-CN" altLang="en-US" smtClean="0"/>
              <a:t>概率与期望</a:t>
            </a:r>
            <a:endParaRPr lang="zh-CN" altLang="en-US"/>
          </a:p>
        </p:txBody>
      </p:sp>
      <p:sp>
        <p:nvSpPr>
          <p:cNvPr id="10" name="灯片编号占位符 9"/>
          <p:cNvSpPr>
            <a:spLocks noGrp="1"/>
          </p:cNvSpPr>
          <p:nvPr>
            <p:ph type="sldNum" sz="quarter" idx="12"/>
          </p:nvPr>
        </p:nvSpPr>
        <p:spPr/>
        <p:txBody>
          <a:bodyPr/>
          <a:lstStyle/>
          <a:p>
            <a:fld id="{E0F8888A-9164-4D0B-9F56-0AECB5CBF556}" type="slidenum">
              <a:rPr lang="zh-CN" altLang="en-US" smtClean="0"/>
              <a:pPr/>
              <a:t>13</a:t>
            </a:fld>
            <a:endParaRPr lang="zh-CN" altLang="en-US"/>
          </a:p>
        </p:txBody>
      </p:sp>
    </p:spTree>
    <p:extLst>
      <p:ext uri="{BB962C8B-B14F-4D97-AF65-F5344CB8AC3E}">
        <p14:creationId xmlns:p14="http://schemas.microsoft.com/office/powerpoint/2010/main" xmlns="" val="194132885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水题的增强版</a:t>
            </a:r>
          </a:p>
        </p:txBody>
      </p:sp>
      <p:sp>
        <p:nvSpPr>
          <p:cNvPr id="3" name="内容占位符 2"/>
          <p:cNvSpPr>
            <a:spLocks noGrp="1"/>
          </p:cNvSpPr>
          <p:nvPr>
            <p:ph idx="1"/>
          </p:nvPr>
        </p:nvSpPr>
        <p:spPr/>
        <p:txBody>
          <a:bodyPr/>
          <a:lstStyle/>
          <a:p>
            <a:r>
              <a:rPr lang="en-US" altLang="zh-CN" dirty="0"/>
              <a:t>F[</a:t>
            </a:r>
            <a:r>
              <a:rPr lang="en-US" altLang="zh-CN" dirty="0" err="1"/>
              <a:t>i</a:t>
            </a:r>
            <a:r>
              <a:rPr lang="en-US" altLang="zh-CN" dirty="0"/>
              <a:t>]</a:t>
            </a:r>
            <a:r>
              <a:rPr lang="zh-CN" altLang="en-US" dirty="0"/>
              <a:t>为买最后</a:t>
            </a:r>
            <a:r>
              <a:rPr lang="en-US" altLang="zh-CN" dirty="0" err="1"/>
              <a:t>i</a:t>
            </a:r>
            <a:r>
              <a:rPr lang="zh-CN" altLang="en-US" dirty="0"/>
              <a:t>张邮票的期望次数</a:t>
            </a:r>
            <a:r>
              <a:rPr lang="en-US" altLang="zh-CN" dirty="0"/>
              <a:t>,C[</a:t>
            </a:r>
            <a:r>
              <a:rPr lang="en-US" altLang="zh-CN" dirty="0" err="1"/>
              <a:t>i</a:t>
            </a:r>
            <a:r>
              <a:rPr lang="en-US" altLang="zh-CN" dirty="0"/>
              <a:t>]</a:t>
            </a:r>
            <a:r>
              <a:rPr lang="zh-CN" altLang="en-US" dirty="0"/>
              <a:t>为买最后</a:t>
            </a:r>
            <a:r>
              <a:rPr lang="en-US" altLang="zh-CN" dirty="0" err="1"/>
              <a:t>i</a:t>
            </a:r>
            <a:r>
              <a:rPr lang="zh-CN" altLang="en-US" dirty="0"/>
              <a:t>种邮票的期望花费</a:t>
            </a:r>
            <a:r>
              <a:rPr lang="en-US" altLang="zh-CN" dirty="0"/>
              <a:t>(</a:t>
            </a:r>
            <a:r>
              <a:rPr lang="zh-CN" altLang="en-US" dirty="0"/>
              <a:t>不包括得到前</a:t>
            </a:r>
            <a:r>
              <a:rPr lang="en-US" altLang="zh-CN" dirty="0"/>
              <a:t>n-</a:t>
            </a:r>
            <a:r>
              <a:rPr lang="en-US" altLang="zh-CN" dirty="0" err="1"/>
              <a:t>i</a:t>
            </a:r>
            <a:r>
              <a:rPr lang="zh-CN" altLang="en-US" dirty="0"/>
              <a:t>种邮票使后</a:t>
            </a:r>
            <a:r>
              <a:rPr lang="en-US" altLang="zh-CN" dirty="0" err="1"/>
              <a:t>i</a:t>
            </a:r>
            <a:r>
              <a:rPr lang="zh-CN" altLang="en-US" dirty="0"/>
              <a:t>种邮票增加的花费</a:t>
            </a:r>
            <a:r>
              <a:rPr lang="en-US" altLang="zh-CN" dirty="0"/>
              <a:t>)</a:t>
            </a:r>
          </a:p>
          <a:p>
            <a:r>
              <a:rPr lang="en-US" altLang="zh-CN" dirty="0"/>
              <a:t>C[</a:t>
            </a:r>
            <a:r>
              <a:rPr lang="en-US" altLang="zh-CN" dirty="0" err="1"/>
              <a:t>i</a:t>
            </a:r>
            <a:r>
              <a:rPr lang="en-US" altLang="zh-CN" dirty="0"/>
              <a:t>]=(</a:t>
            </a:r>
            <a:r>
              <a:rPr lang="en-US" altLang="zh-CN" dirty="0" err="1"/>
              <a:t>i</a:t>
            </a:r>
            <a:r>
              <a:rPr lang="en-US" altLang="zh-CN" dirty="0"/>
              <a:t>/n)*</a:t>
            </a:r>
            <a:r>
              <a:rPr lang="zh-CN" altLang="en-US" dirty="0"/>
              <a:t>卫龙</a:t>
            </a:r>
            <a:r>
              <a:rPr lang="en-US" altLang="zh-CN" dirty="0"/>
              <a:t>+(1-i/n)*</a:t>
            </a:r>
            <a:r>
              <a:rPr lang="zh-CN" altLang="en-US" dirty="0"/>
              <a:t>香爆脆</a:t>
            </a:r>
            <a:endParaRPr lang="en-US" altLang="zh-CN" dirty="0"/>
          </a:p>
          <a:p>
            <a:r>
              <a:rPr lang="zh-CN" altLang="en-US" dirty="0"/>
              <a:t>问卫龙和香爆脆是什么</a:t>
            </a:r>
            <a:endParaRPr lang="en-US" altLang="zh-CN" dirty="0"/>
          </a:p>
          <a:p>
            <a:r>
              <a:rPr lang="zh-CN" altLang="en-US" dirty="0"/>
              <a:t>其实就是分类讨论</a:t>
            </a:r>
            <a:endParaRPr lang="en-US" altLang="zh-CN" dirty="0"/>
          </a:p>
          <a:p>
            <a:r>
              <a:rPr lang="zh-CN" altLang="en-US" dirty="0"/>
              <a:t>卫龙</a:t>
            </a:r>
            <a:r>
              <a:rPr lang="en-US" altLang="zh-CN" dirty="0"/>
              <a:t>=1(</a:t>
            </a:r>
            <a:r>
              <a:rPr lang="zh-CN" altLang="en-US" dirty="0"/>
              <a:t>买</a:t>
            </a:r>
            <a:r>
              <a:rPr lang="en-US" altLang="zh-CN" dirty="0"/>
              <a:t>1</a:t>
            </a:r>
            <a:r>
              <a:rPr lang="zh-CN" altLang="en-US" dirty="0"/>
              <a:t>次</a:t>
            </a:r>
            <a:r>
              <a:rPr lang="en-US" altLang="zh-CN" dirty="0"/>
              <a:t>)+F[i+1](</a:t>
            </a:r>
            <a:r>
              <a:rPr lang="zh-CN" altLang="en-US" dirty="0"/>
              <a:t>增加的费用</a:t>
            </a:r>
            <a:r>
              <a:rPr lang="en-US" altLang="zh-CN" dirty="0"/>
              <a:t>)+C[i+1]</a:t>
            </a:r>
          </a:p>
          <a:p>
            <a:r>
              <a:rPr lang="zh-CN" altLang="en-US" dirty="0"/>
              <a:t>香爆脆</a:t>
            </a:r>
            <a:r>
              <a:rPr lang="en-US" altLang="zh-CN" dirty="0"/>
              <a:t>=1+F[</a:t>
            </a:r>
            <a:r>
              <a:rPr lang="en-US" altLang="zh-CN" dirty="0" err="1"/>
              <a:t>i</a:t>
            </a:r>
            <a:r>
              <a:rPr lang="en-US" altLang="zh-CN" dirty="0"/>
              <a:t>]+C[</a:t>
            </a:r>
            <a:r>
              <a:rPr lang="en-US" altLang="zh-CN" dirty="0" err="1"/>
              <a:t>i</a:t>
            </a:r>
            <a:r>
              <a:rPr lang="en-US" altLang="zh-CN" dirty="0"/>
              <a:t>]</a:t>
            </a:r>
          </a:p>
          <a:p>
            <a:r>
              <a:rPr lang="zh-CN" altLang="en-US" dirty="0" smtClean="0"/>
              <a:t>最终</a:t>
            </a:r>
            <a:r>
              <a:rPr lang="en-US" altLang="zh-CN" dirty="0" smtClean="0"/>
              <a:t>C[</a:t>
            </a:r>
            <a:r>
              <a:rPr lang="en-US" altLang="zh-CN" dirty="0" err="1" smtClean="0"/>
              <a:t>i</a:t>
            </a:r>
            <a:r>
              <a:rPr lang="en-US" altLang="zh-CN" dirty="0" smtClean="0"/>
              <a:t>]=n/</a:t>
            </a:r>
            <a:r>
              <a:rPr lang="en-US" altLang="zh-CN" dirty="0" err="1" smtClean="0"/>
              <a:t>i+f</a:t>
            </a:r>
            <a:r>
              <a:rPr lang="en-US" altLang="zh-CN" dirty="0" smtClean="0"/>
              <a:t>[i+1]+C[i+1]+(n-</a:t>
            </a:r>
            <a:r>
              <a:rPr lang="en-US" altLang="zh-CN" dirty="0" err="1" smtClean="0"/>
              <a:t>i</a:t>
            </a:r>
            <a:r>
              <a:rPr lang="en-US" altLang="zh-CN" dirty="0" smtClean="0"/>
              <a:t>)*f[</a:t>
            </a:r>
            <a:r>
              <a:rPr lang="en-US" altLang="zh-CN" dirty="0" err="1" smtClean="0"/>
              <a:t>i</a:t>
            </a:r>
            <a:r>
              <a:rPr lang="en-US" altLang="zh-CN" dirty="0" smtClean="0"/>
              <a:t>]/</a:t>
            </a:r>
            <a:r>
              <a:rPr lang="en-US" altLang="zh-CN" dirty="0" err="1" smtClean="0"/>
              <a:t>i</a:t>
            </a:r>
            <a:endParaRPr lang="zh-CN" altLang="en-US"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14</a:t>
            </a:fld>
            <a:endParaRPr lang="zh-CN" altLang="en-US"/>
          </a:p>
        </p:txBody>
      </p:sp>
    </p:spTree>
    <p:extLst>
      <p:ext uri="{BB962C8B-B14F-4D97-AF65-F5344CB8AC3E}">
        <p14:creationId xmlns:p14="http://schemas.microsoft.com/office/powerpoint/2010/main" xmlns="" val="359917532"/>
      </p:ext>
    </p:extLst>
  </p:cSld>
  <p:clrMapOvr>
    <a:masterClrMapping/>
  </p:clrMapOvr>
  <p:transition>
    <p:fade thruBlk="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水题的增强版</a:t>
            </a:r>
          </a:p>
        </p:txBody>
      </p:sp>
      <p:sp>
        <p:nvSpPr>
          <p:cNvPr id="3" name="内容占位符 2"/>
          <p:cNvSpPr>
            <a:spLocks noGrp="1"/>
          </p:cNvSpPr>
          <p:nvPr>
            <p:ph idx="1"/>
          </p:nvPr>
        </p:nvSpPr>
        <p:spPr/>
        <p:txBody>
          <a:bodyPr/>
          <a:lstStyle/>
          <a:p>
            <a:r>
              <a:rPr lang="zh-CN" altLang="en-US" dirty="0"/>
              <a:t>这个费用提前计算的技巧还是有些用处的</a:t>
            </a:r>
            <a:r>
              <a:rPr lang="en-US" altLang="zh-CN" dirty="0"/>
              <a:t>.</a:t>
            </a:r>
          </a:p>
          <a:p>
            <a:r>
              <a:rPr lang="zh-CN" altLang="en-US" dirty="0"/>
              <a:t>例如网络流里 </a:t>
            </a:r>
            <a:r>
              <a:rPr lang="en-US" altLang="zh-CN" dirty="0"/>
              <a:t>SCOI2007</a:t>
            </a:r>
            <a:r>
              <a:rPr lang="zh-CN" altLang="en-US" dirty="0"/>
              <a:t>修车和</a:t>
            </a:r>
            <a:r>
              <a:rPr lang="en-US" altLang="zh-CN" dirty="0"/>
              <a:t>NOI2012</a:t>
            </a:r>
            <a:r>
              <a:rPr lang="zh-CN" altLang="en-US" dirty="0"/>
              <a:t>美食节</a:t>
            </a:r>
            <a:endParaRPr lang="en-US" altLang="zh-CN" dirty="0"/>
          </a:p>
          <a:p>
            <a:r>
              <a:rPr lang="zh-CN" altLang="en-US" dirty="0"/>
              <a:t>再次说明概率和期望的题虽然有特性</a:t>
            </a:r>
            <a:r>
              <a:rPr lang="en-US" altLang="zh-CN" dirty="0"/>
              <a:t>,</a:t>
            </a:r>
            <a:r>
              <a:rPr lang="zh-CN" altLang="en-US" dirty="0"/>
              <a:t>但是和其他题的思路是相通的</a:t>
            </a:r>
            <a:r>
              <a:rPr lang="en-US" altLang="zh-CN" dirty="0" smtClean="0"/>
              <a:t>.</a:t>
            </a:r>
          </a:p>
          <a:p>
            <a:endParaRPr lang="en-US" altLang="zh-CN" dirty="0"/>
          </a:p>
          <a:p>
            <a:r>
              <a:rPr lang="en-US" altLang="zh-CN" strike="sngStrike" dirty="0" smtClean="0"/>
              <a:t>Ctrl-C</a:t>
            </a:r>
            <a:r>
              <a:rPr lang="zh-CN" altLang="en-US" strike="sngStrike" dirty="0" smtClean="0"/>
              <a:t>完啦</a:t>
            </a:r>
            <a:endParaRPr lang="zh-CN" altLang="en-US" strike="sngStrike"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15</a:t>
            </a:fld>
            <a:endParaRPr lang="zh-CN" altLang="en-US"/>
          </a:p>
        </p:txBody>
      </p:sp>
    </p:spTree>
    <p:extLst>
      <p:ext uri="{BB962C8B-B14F-4D97-AF65-F5344CB8AC3E}">
        <p14:creationId xmlns:p14="http://schemas.microsoft.com/office/powerpoint/2010/main" xmlns="" val="393830469"/>
      </p:ext>
    </p:extLst>
  </p:cSld>
  <p:clrMapOvr>
    <a:masterClrMapping/>
  </p:clrMapOvr>
  <p:transition>
    <p:fade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一道我们出的水题</a:t>
            </a:r>
            <a:endParaRPr lang="zh-CN" altLang="en-US" dirty="0"/>
          </a:p>
        </p:txBody>
      </p:sp>
      <p:sp>
        <p:nvSpPr>
          <p:cNvPr id="3" name="内容占位符 2"/>
          <p:cNvSpPr>
            <a:spLocks noGrp="1"/>
          </p:cNvSpPr>
          <p:nvPr>
            <p:ph idx="1"/>
          </p:nvPr>
        </p:nvSpPr>
        <p:spPr/>
        <p:txBody>
          <a:bodyPr/>
          <a:lstStyle/>
          <a:p>
            <a:r>
              <a:rPr lang="zh-CN" altLang="en-US" dirty="0" smtClean="0"/>
              <a:t>有一个人在一个序列上闲逛，初始时这个人位于位置</a:t>
            </a:r>
            <a:r>
              <a:rPr lang="en-US" altLang="zh-CN" dirty="0" smtClean="0"/>
              <a:t>1</a:t>
            </a:r>
            <a:r>
              <a:rPr lang="zh-CN" altLang="en-US" dirty="0" smtClean="0"/>
              <a:t>，每次他有</a:t>
            </a:r>
            <a:r>
              <a:rPr lang="en-US" altLang="zh-CN" dirty="0" smtClean="0"/>
              <a:t>pi</a:t>
            </a:r>
            <a:r>
              <a:rPr lang="zh-CN" altLang="en-US" dirty="0" smtClean="0"/>
              <a:t>的概率停下来（</a:t>
            </a:r>
            <a:r>
              <a:rPr lang="en-US" altLang="zh-CN" dirty="0" smtClean="0"/>
              <a:t>pi</a:t>
            </a:r>
            <a:r>
              <a:rPr lang="zh-CN" altLang="en-US" dirty="0"/>
              <a:t>只</a:t>
            </a:r>
            <a:r>
              <a:rPr lang="zh-CN" altLang="en-US" dirty="0" smtClean="0"/>
              <a:t>与当前位置有关），也有</a:t>
            </a:r>
            <a:r>
              <a:rPr lang="en-US" altLang="zh-CN" dirty="0" smtClean="0"/>
              <a:t>1-pi</a:t>
            </a:r>
            <a:r>
              <a:rPr lang="zh-CN" altLang="en-US" dirty="0" smtClean="0"/>
              <a:t>的概率继续走下去</a:t>
            </a:r>
            <a:endParaRPr lang="en-US" altLang="zh-CN" dirty="0" smtClean="0"/>
          </a:p>
          <a:p>
            <a:r>
              <a:rPr lang="zh-CN" altLang="en-US" dirty="0" smtClean="0"/>
              <a:t>如果他走到了序列的某一端，则他下次行走时会掉头往回走</a:t>
            </a:r>
            <a:endParaRPr lang="en-US" altLang="zh-CN" dirty="0" smtClean="0"/>
          </a:p>
          <a:p>
            <a:r>
              <a:rPr lang="zh-CN" altLang="en-US" dirty="0" smtClean="0"/>
              <a:t>求这个人走的次数的期望在模</a:t>
            </a:r>
            <a:r>
              <a:rPr lang="en-US" altLang="zh-CN" dirty="0" smtClean="0"/>
              <a:t>10^9+7</a:t>
            </a:r>
            <a:r>
              <a:rPr lang="zh-CN" altLang="en-US" dirty="0" smtClean="0"/>
              <a:t>意义下的结果（意思是必须求出精确解）</a:t>
            </a:r>
            <a:endParaRPr lang="en-US" altLang="zh-CN" dirty="0" smtClean="0"/>
          </a:p>
          <a:p>
            <a:r>
              <a:rPr lang="en-US" altLang="zh-CN" dirty="0" smtClean="0"/>
              <a:t>n&lt;=2*10^5</a:t>
            </a:r>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16</a:t>
            </a:fld>
            <a:endParaRPr lang="zh-CN" altLang="en-US"/>
          </a:p>
        </p:txBody>
      </p:sp>
    </p:spTree>
    <p:extLst>
      <p:ext uri="{BB962C8B-B14F-4D97-AF65-F5344CB8AC3E}">
        <p14:creationId xmlns:p14="http://schemas.microsoft.com/office/powerpoint/2010/main" xmlns="" val="221439802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一道我们出的水题</a:t>
            </a:r>
            <a:endParaRPr lang="zh-CN" altLang="en-US" dirty="0"/>
          </a:p>
        </p:txBody>
      </p:sp>
      <p:sp>
        <p:nvSpPr>
          <p:cNvPr id="3" name="内容占位符 2"/>
          <p:cNvSpPr>
            <a:spLocks noGrp="1"/>
          </p:cNvSpPr>
          <p:nvPr>
            <p:ph idx="1"/>
          </p:nvPr>
        </p:nvSpPr>
        <p:spPr/>
        <p:txBody>
          <a:bodyPr/>
          <a:lstStyle/>
          <a:p>
            <a:r>
              <a:rPr lang="zh-CN" altLang="en-US" dirty="0" smtClean="0"/>
              <a:t>直接处理这个人来回走的情况可能不太优美，我们可以直接把问题转化成这个人在一个环上沿固定方向走</a:t>
            </a:r>
            <a:r>
              <a:rPr lang="zh-CN" altLang="en-US" dirty="0"/>
              <a:t>，</a:t>
            </a:r>
            <a:r>
              <a:rPr lang="zh-CN" altLang="en-US" dirty="0" smtClean="0"/>
              <a:t>把原序列除两端以外的部分复制一份并反向与原序列拼起来即可</a:t>
            </a:r>
            <a:endParaRPr lang="en-US" altLang="zh-CN" dirty="0" smtClean="0"/>
          </a:p>
          <a:p>
            <a:r>
              <a:rPr lang="zh-CN" altLang="en-US" dirty="0" smtClean="0"/>
              <a:t>然后考虑环上的问题，定义</a:t>
            </a:r>
            <a:r>
              <a:rPr lang="en-US" altLang="zh-CN" dirty="0" smtClean="0"/>
              <a:t>f[</a:t>
            </a:r>
            <a:r>
              <a:rPr lang="en-US" altLang="zh-CN" dirty="0" err="1" smtClean="0"/>
              <a:t>i</a:t>
            </a:r>
            <a:r>
              <a:rPr lang="en-US" altLang="zh-CN" dirty="0" smtClean="0"/>
              <a:t>]</a:t>
            </a:r>
            <a:r>
              <a:rPr lang="zh-CN" altLang="en-US" dirty="0" smtClean="0"/>
              <a:t>表示从</a:t>
            </a:r>
            <a:r>
              <a:rPr lang="en-US" altLang="zh-CN" dirty="0" err="1" smtClean="0"/>
              <a:t>i</a:t>
            </a:r>
            <a:r>
              <a:rPr lang="zh-CN" altLang="en-US" dirty="0" smtClean="0"/>
              <a:t>开始走的期望步数，显然有</a:t>
            </a:r>
            <a:r>
              <a:rPr lang="en-US" altLang="zh-CN" dirty="0" smtClean="0"/>
              <a:t>f[</a:t>
            </a:r>
            <a:r>
              <a:rPr lang="en-US" altLang="zh-CN" dirty="0" err="1" smtClean="0"/>
              <a:t>i</a:t>
            </a:r>
            <a:r>
              <a:rPr lang="en-US" altLang="zh-CN" dirty="0" smtClean="0"/>
              <a:t>]=(1-p[</a:t>
            </a:r>
            <a:r>
              <a:rPr lang="en-US" altLang="zh-CN" dirty="0" err="1" smtClean="0"/>
              <a:t>i</a:t>
            </a:r>
            <a:r>
              <a:rPr lang="en-US" altLang="zh-CN" dirty="0" smtClean="0"/>
              <a:t>])(f[i+1]+1)</a:t>
            </a:r>
            <a:r>
              <a:rPr lang="zh-CN" altLang="en-US" dirty="0" smtClean="0"/>
              <a:t>（如果这个人按照</a:t>
            </a:r>
            <a:r>
              <a:rPr lang="en-US" altLang="zh-CN" dirty="0" smtClean="0"/>
              <a:t>1~n</a:t>
            </a:r>
            <a:r>
              <a:rPr lang="zh-CN" altLang="en-US" dirty="0" smtClean="0"/>
              <a:t>的方向走的话）</a:t>
            </a:r>
            <a:endParaRPr lang="en-US" altLang="zh-CN" dirty="0" smtClean="0"/>
          </a:p>
          <a:p>
            <a:r>
              <a:rPr lang="zh-CN" altLang="en-US" dirty="0" smtClean="0"/>
              <a:t>然而这个转移出环了</a:t>
            </a:r>
            <a:r>
              <a:rPr lang="en-US" altLang="zh-CN" dirty="0" smtClean="0"/>
              <a:t>……</a:t>
            </a:r>
          </a:p>
          <a:p>
            <a:r>
              <a:rPr lang="zh-CN" altLang="en-US" dirty="0"/>
              <a:t>注意</a:t>
            </a:r>
            <a:r>
              <a:rPr lang="zh-CN" altLang="en-US" dirty="0" smtClean="0"/>
              <a:t>到转移时的运算都是线性的，因此我们可以从</a:t>
            </a:r>
            <a:r>
              <a:rPr lang="en-US" altLang="zh-CN" dirty="0" smtClean="0"/>
              <a:t>n</a:t>
            </a:r>
            <a:r>
              <a:rPr lang="zh-CN" altLang="en-US" dirty="0" smtClean="0"/>
              <a:t>开始倒推</a:t>
            </a:r>
            <a:r>
              <a:rPr lang="en-US" altLang="zh-CN" dirty="0" smtClean="0"/>
              <a:t>f[</a:t>
            </a:r>
            <a:r>
              <a:rPr lang="en-US" altLang="zh-CN" dirty="0" err="1" smtClean="0"/>
              <a:t>i</a:t>
            </a:r>
            <a:r>
              <a:rPr lang="en-US" altLang="zh-CN" dirty="0" smtClean="0"/>
              <a:t>]=a[</a:t>
            </a:r>
            <a:r>
              <a:rPr lang="en-US" altLang="zh-CN" dirty="0" err="1" smtClean="0"/>
              <a:t>i</a:t>
            </a:r>
            <a:r>
              <a:rPr lang="en-US" altLang="zh-CN" dirty="0" smtClean="0"/>
              <a:t>]*f[1]+b[</a:t>
            </a:r>
            <a:r>
              <a:rPr lang="en-US" altLang="zh-CN" dirty="0" err="1" smtClean="0"/>
              <a:t>i</a:t>
            </a:r>
            <a:r>
              <a:rPr lang="en-US" altLang="zh-CN" dirty="0" smtClean="0"/>
              <a:t>]</a:t>
            </a:r>
            <a:r>
              <a:rPr lang="zh-CN" altLang="en-US" dirty="0" smtClean="0"/>
              <a:t>，最后推到</a:t>
            </a:r>
            <a:r>
              <a:rPr lang="en-US" altLang="zh-CN" dirty="0" smtClean="0"/>
              <a:t>f[1]</a:t>
            </a:r>
            <a:r>
              <a:rPr lang="zh-CN" altLang="en-US" dirty="0" smtClean="0"/>
              <a:t>时即可得到一个关于</a:t>
            </a:r>
            <a:r>
              <a:rPr lang="en-US" altLang="zh-CN" dirty="0" smtClean="0"/>
              <a:t>f[1]</a:t>
            </a:r>
            <a:r>
              <a:rPr lang="zh-CN" altLang="en-US" dirty="0" smtClean="0"/>
              <a:t>的一元一次方程，直接解出来即可</a:t>
            </a:r>
            <a:endParaRPr lang="en-US" altLang="zh-CN" dirty="0" smtClean="0"/>
          </a:p>
          <a:p>
            <a:r>
              <a:rPr lang="zh-CN" altLang="en-US" dirty="0" smtClean="0"/>
              <a:t>显然这个做法是</a:t>
            </a:r>
            <a:r>
              <a:rPr lang="en-US" altLang="zh-CN" dirty="0" smtClean="0"/>
              <a:t>O(n)</a:t>
            </a:r>
            <a:r>
              <a:rPr lang="zh-CN" altLang="en-US" dirty="0" smtClean="0"/>
              <a:t>的</a:t>
            </a:r>
            <a:endParaRPr lang="en-US" altLang="zh-CN" dirty="0" smtClean="0"/>
          </a:p>
          <a:p>
            <a:endParaRPr lang="en-US" altLang="zh-CN" dirty="0" smtClean="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17</a:t>
            </a:fld>
            <a:endParaRPr lang="zh-CN" altLang="en-US"/>
          </a:p>
        </p:txBody>
      </p:sp>
    </p:spTree>
    <p:extLst>
      <p:ext uri="{BB962C8B-B14F-4D97-AF65-F5344CB8AC3E}">
        <p14:creationId xmlns:p14="http://schemas.microsoft.com/office/powerpoint/2010/main" xmlns="" val="4019597372"/>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水题的增强版</a:t>
            </a:r>
            <a:endParaRPr lang="zh-CN" altLang="en-US" dirty="0"/>
          </a:p>
        </p:txBody>
      </p:sp>
      <p:sp>
        <p:nvSpPr>
          <p:cNvPr id="3" name="内容占位符 2"/>
          <p:cNvSpPr>
            <a:spLocks noGrp="1"/>
          </p:cNvSpPr>
          <p:nvPr>
            <p:ph idx="1"/>
          </p:nvPr>
        </p:nvSpPr>
        <p:spPr/>
        <p:txBody>
          <a:bodyPr/>
          <a:lstStyle/>
          <a:p>
            <a:r>
              <a:rPr lang="zh-CN" altLang="en-US" dirty="0" smtClean="0"/>
              <a:t>把刚才的环换成一棵有根树，每次如果不停下来则会随机选择一个儿子走过去，规定走到叶子节点后再走会回到根节点，其余均不变</a:t>
            </a:r>
            <a:endParaRPr lang="en-US" altLang="zh-CN" dirty="0" smtClean="0"/>
          </a:p>
          <a:p>
            <a:r>
              <a:rPr lang="zh-CN" altLang="en-US" dirty="0" smtClean="0"/>
              <a:t>做法同上</a:t>
            </a:r>
            <a:endParaRPr lang="en-US" altLang="zh-CN" dirty="0" smtClean="0"/>
          </a:p>
          <a:p>
            <a:endParaRPr lang="en-US" altLang="zh-CN" dirty="0"/>
          </a:p>
          <a:p>
            <a:r>
              <a:rPr lang="zh-CN" altLang="en-US" dirty="0" smtClean="0"/>
              <a:t>把有根树换成有根森林，回到根节点改成随机回到一个根节点，其余均不变</a:t>
            </a:r>
            <a:endParaRPr lang="en-US" altLang="zh-CN" dirty="0" smtClean="0"/>
          </a:p>
          <a:p>
            <a:r>
              <a:rPr lang="zh-CN" altLang="en-US" dirty="0" smtClean="0"/>
              <a:t>建一个虚根即可，其余做法同上</a:t>
            </a:r>
            <a:endParaRPr lang="en-US" altLang="zh-CN" dirty="0" smtClean="0"/>
          </a:p>
          <a:p>
            <a:endParaRPr lang="en-US" altLang="zh-CN" dirty="0"/>
          </a:p>
          <a:p>
            <a:r>
              <a:rPr lang="zh-CN" altLang="en-US" dirty="0" smtClean="0"/>
              <a:t>把有根森林换成</a:t>
            </a:r>
            <a:r>
              <a:rPr lang="en-US" altLang="zh-CN" dirty="0" smtClean="0"/>
              <a:t>DAG</a:t>
            </a:r>
            <a:r>
              <a:rPr lang="zh-CN" altLang="en-US" dirty="0" smtClean="0"/>
              <a:t>，随机回到一个根节点改成随机回到一个入度为</a:t>
            </a:r>
            <a:r>
              <a:rPr lang="en-US" altLang="zh-CN" dirty="0" smtClean="0"/>
              <a:t>0</a:t>
            </a:r>
            <a:r>
              <a:rPr lang="zh-CN" altLang="en-US" dirty="0" smtClean="0"/>
              <a:t>的点，其余均不变</a:t>
            </a:r>
            <a:endParaRPr lang="en-US" altLang="zh-CN" dirty="0" smtClean="0"/>
          </a:p>
          <a:p>
            <a:r>
              <a:rPr lang="zh-CN" altLang="en-US" dirty="0" smtClean="0"/>
              <a:t>建一个新点连向所有入度为</a:t>
            </a:r>
            <a:r>
              <a:rPr lang="en-US" altLang="zh-CN" dirty="0" smtClean="0"/>
              <a:t>0</a:t>
            </a:r>
            <a:r>
              <a:rPr lang="zh-CN" altLang="en-US" dirty="0" smtClean="0"/>
              <a:t>的点，其余做法还是同上</a:t>
            </a:r>
            <a:r>
              <a:rPr lang="en-US" altLang="zh-CN" dirty="0" smtClean="0"/>
              <a:t>……</a:t>
            </a:r>
            <a:endParaRPr lang="en-US" altLang="zh-CN"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18</a:t>
            </a:fld>
            <a:endParaRPr lang="zh-CN" altLang="en-US"/>
          </a:p>
        </p:txBody>
      </p:sp>
    </p:spTree>
    <p:extLst>
      <p:ext uri="{BB962C8B-B14F-4D97-AF65-F5344CB8AC3E}">
        <p14:creationId xmlns:p14="http://schemas.microsoft.com/office/powerpoint/2010/main" xmlns="" val="58437564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COGS1487 </a:t>
            </a:r>
            <a:r>
              <a:rPr lang="zh-CN" altLang="en-US" dirty="0" smtClean="0"/>
              <a:t>麻</a:t>
            </a:r>
            <a:r>
              <a:rPr lang="zh-CN" altLang="en-US" dirty="0"/>
              <a:t>球</a:t>
            </a:r>
            <a:r>
              <a:rPr lang="zh-CN" altLang="en-US" dirty="0" smtClean="0"/>
              <a:t>繁衍</a:t>
            </a:r>
            <a:endParaRPr lang="zh-CN" altLang="en-US" dirty="0"/>
          </a:p>
        </p:txBody>
      </p:sp>
      <p:sp>
        <p:nvSpPr>
          <p:cNvPr id="3" name="内容占位符 2"/>
          <p:cNvSpPr>
            <a:spLocks noGrp="1"/>
          </p:cNvSpPr>
          <p:nvPr>
            <p:ph idx="1"/>
          </p:nvPr>
        </p:nvSpPr>
        <p:spPr/>
        <p:txBody>
          <a:bodyPr/>
          <a:lstStyle/>
          <a:p>
            <a:r>
              <a:rPr lang="zh-CN" altLang="en-US" dirty="0" smtClean="0"/>
              <a:t>你有</a:t>
            </a:r>
            <a:r>
              <a:rPr lang="en-US" altLang="zh-CN" dirty="0" smtClean="0"/>
              <a:t>k</a:t>
            </a:r>
            <a:r>
              <a:rPr lang="zh-CN" altLang="en-US" dirty="0" smtClean="0"/>
              <a:t>个毛球，每个毛球只能存活一天，每个毛球死亡之前有</a:t>
            </a:r>
            <a:r>
              <a:rPr lang="en-US" altLang="zh-CN" dirty="0" smtClean="0"/>
              <a:t>pi</a:t>
            </a:r>
            <a:r>
              <a:rPr lang="zh-CN" altLang="en-US" dirty="0" smtClean="0"/>
              <a:t>的概率生出</a:t>
            </a:r>
            <a:r>
              <a:rPr lang="en-US" altLang="zh-CN" dirty="0" err="1" smtClean="0"/>
              <a:t>i</a:t>
            </a:r>
            <a:r>
              <a:rPr lang="zh-CN" altLang="en-US" dirty="0" smtClean="0"/>
              <a:t>只毛球（</a:t>
            </a:r>
            <a:r>
              <a:rPr lang="en-US" altLang="zh-CN" dirty="0" smtClean="0"/>
              <a:t>0&lt;=</a:t>
            </a:r>
            <a:r>
              <a:rPr lang="en-US" altLang="zh-CN" dirty="0" err="1" smtClean="0"/>
              <a:t>i</a:t>
            </a:r>
            <a:r>
              <a:rPr lang="en-US" altLang="zh-CN" dirty="0" smtClean="0"/>
              <a:t>&lt;=n</a:t>
            </a:r>
            <a:r>
              <a:rPr lang="zh-CN" altLang="en-US" dirty="0" smtClean="0"/>
              <a:t>），求</a:t>
            </a:r>
            <a:r>
              <a:rPr lang="en-US" altLang="zh-CN" dirty="0" smtClean="0"/>
              <a:t>m</a:t>
            </a:r>
            <a:r>
              <a:rPr lang="zh-CN" altLang="en-US" dirty="0" smtClean="0"/>
              <a:t>天内所有毛球都死掉的概率</a:t>
            </a:r>
            <a:endParaRPr lang="en-US" altLang="zh-CN" dirty="0" smtClean="0"/>
          </a:p>
          <a:p>
            <a:r>
              <a:rPr lang="en-US" altLang="zh-CN" dirty="0" err="1" smtClean="0"/>
              <a:t>n,m,k</a:t>
            </a:r>
            <a:r>
              <a:rPr lang="en-US" altLang="zh-CN" dirty="0" smtClean="0"/>
              <a:t>&lt;=1000</a:t>
            </a:r>
          </a:p>
          <a:p>
            <a:endParaRPr lang="en-US" altLang="zh-CN" dirty="0"/>
          </a:p>
          <a:p>
            <a:r>
              <a:rPr lang="zh-CN" altLang="en-US" dirty="0"/>
              <a:t>我们可以只考虑一个麻球</a:t>
            </a:r>
            <a:r>
              <a:rPr lang="zh-CN" altLang="en-US" dirty="0" smtClean="0"/>
              <a:t>在</a:t>
            </a:r>
            <a:r>
              <a:rPr lang="en-US" altLang="zh-CN" dirty="0" smtClean="0"/>
              <a:t>m</a:t>
            </a:r>
            <a:r>
              <a:rPr lang="zh-CN" altLang="en-US" dirty="0" smtClean="0"/>
              <a:t>天后</a:t>
            </a:r>
            <a:r>
              <a:rPr lang="zh-CN" altLang="en-US" dirty="0"/>
              <a:t>还没死光的概率，设这个概率</a:t>
            </a:r>
            <a:r>
              <a:rPr lang="zh-CN" altLang="en-US" dirty="0" smtClean="0"/>
              <a:t>为</a:t>
            </a:r>
            <a:r>
              <a:rPr lang="en-US" altLang="zh-CN" dirty="0" smtClean="0"/>
              <a:t>P</a:t>
            </a:r>
            <a:r>
              <a:rPr lang="zh-CN" altLang="en-US" dirty="0" smtClean="0"/>
              <a:t>，</a:t>
            </a:r>
            <a:r>
              <a:rPr lang="zh-CN" altLang="en-US" dirty="0"/>
              <a:t>那么原题的答案</a:t>
            </a:r>
            <a:r>
              <a:rPr lang="zh-CN" altLang="en-US" dirty="0" smtClean="0"/>
              <a:t>就是</a:t>
            </a:r>
            <a:r>
              <a:rPr lang="en-US" altLang="zh-CN" dirty="0" smtClean="0"/>
              <a:t>(1-P)^k</a:t>
            </a:r>
            <a:r>
              <a:rPr lang="zh-CN" altLang="en-US" dirty="0" smtClean="0"/>
              <a:t>。</a:t>
            </a:r>
            <a:endParaRPr lang="en-US" altLang="zh-CN" dirty="0" smtClean="0"/>
          </a:p>
          <a:p>
            <a:r>
              <a:rPr lang="zh-CN" altLang="en-US" dirty="0"/>
              <a:t>可以</a:t>
            </a:r>
            <a:r>
              <a:rPr lang="zh-CN" altLang="en-US" dirty="0" smtClean="0"/>
              <a:t>设</a:t>
            </a:r>
            <a:r>
              <a:rPr lang="en-US" altLang="zh-CN" dirty="0" smtClean="0"/>
              <a:t>f[</a:t>
            </a:r>
            <a:r>
              <a:rPr lang="en-US" altLang="zh-CN" dirty="0" err="1" smtClean="0"/>
              <a:t>i</a:t>
            </a:r>
            <a:r>
              <a:rPr lang="en-US" altLang="zh-CN" dirty="0" smtClean="0"/>
              <a:t>]</a:t>
            </a:r>
            <a:r>
              <a:rPr lang="zh-CN" altLang="en-US" dirty="0" smtClean="0"/>
              <a:t>表示</a:t>
            </a:r>
            <a:r>
              <a:rPr lang="zh-CN" altLang="en-US" dirty="0"/>
              <a:t>一只</a:t>
            </a:r>
            <a:r>
              <a:rPr lang="zh-CN" altLang="en-US" dirty="0" smtClean="0"/>
              <a:t>毛球</a:t>
            </a:r>
            <a:r>
              <a:rPr lang="zh-CN" altLang="en-US" dirty="0"/>
              <a:t>撑不过</a:t>
            </a:r>
            <a:r>
              <a:rPr lang="en-US" altLang="zh-CN" dirty="0" err="1" smtClean="0"/>
              <a:t>i</a:t>
            </a:r>
            <a:r>
              <a:rPr lang="zh-CN" altLang="en-US" dirty="0" smtClean="0"/>
              <a:t>天</a:t>
            </a:r>
            <a:r>
              <a:rPr lang="zh-CN" altLang="en-US" dirty="0"/>
              <a:t>的概率，转移的时候枚举它生出了几个</a:t>
            </a:r>
            <a:r>
              <a:rPr lang="zh-CN" altLang="en-US" dirty="0" smtClean="0"/>
              <a:t>毛球：</a:t>
            </a:r>
            <a:endParaRPr lang="en-US" altLang="zh-CN" dirty="0" smtClean="0"/>
          </a:p>
          <a:p>
            <a:endParaRPr lang="en-US" altLang="zh-CN" dirty="0"/>
          </a:p>
          <a:p>
            <a:endParaRPr lang="en-US" altLang="zh-CN" dirty="0" smtClean="0"/>
          </a:p>
          <a:p>
            <a:r>
              <a:rPr lang="zh-CN" altLang="en-US" dirty="0"/>
              <a:t>最后的答案</a:t>
            </a:r>
            <a:r>
              <a:rPr lang="zh-CN" altLang="en-US" dirty="0" smtClean="0"/>
              <a:t>就是</a:t>
            </a:r>
            <a:r>
              <a:rPr lang="en-US" altLang="zh-CN" dirty="0" smtClean="0"/>
              <a:t>f[m]^</a:t>
            </a:r>
            <a:r>
              <a:rPr lang="en-US" altLang="zh-CN" dirty="0" smtClean="0"/>
              <a:t>k</a:t>
            </a:r>
            <a:r>
              <a:rPr lang="zh-CN" altLang="en-US" dirty="0" smtClean="0"/>
              <a:t>，复杂度</a:t>
            </a:r>
            <a:r>
              <a:rPr lang="en-US" altLang="zh-CN" dirty="0" smtClean="0"/>
              <a:t>O(nm)</a:t>
            </a:r>
          </a:p>
          <a:p>
            <a:endParaRPr lang="zh-CN" altLang="en-US"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19</a:t>
            </a:fld>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xmlns="" val="2149301109"/>
              </p:ext>
            </p:extLst>
          </p:nvPr>
        </p:nvGraphicFramePr>
        <p:xfrm>
          <a:off x="926645" y="4009628"/>
          <a:ext cx="2216595" cy="775808"/>
        </p:xfrm>
        <a:graphic>
          <a:graphicData uri="http://schemas.openxmlformats.org/presentationml/2006/ole">
            <p:oleObj spid="_x0000_s4204" name="Equation" r:id="rId3" imgW="1269720" imgH="444240" progId="">
              <p:embed/>
            </p:oleObj>
          </a:graphicData>
        </a:graphic>
      </p:graphicFrame>
    </p:spTree>
    <p:extLst>
      <p:ext uri="{BB962C8B-B14F-4D97-AF65-F5344CB8AC3E}">
        <p14:creationId xmlns:p14="http://schemas.microsoft.com/office/powerpoint/2010/main" xmlns="" val="41462331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CF464D World of Darkraft-2</a:t>
            </a:r>
            <a:endParaRPr lang="zh-CN" altLang="en-US" dirty="0"/>
          </a:p>
        </p:txBody>
      </p:sp>
      <p:sp>
        <p:nvSpPr>
          <p:cNvPr id="3" name="内容占位符 2"/>
          <p:cNvSpPr>
            <a:spLocks noGrp="1"/>
          </p:cNvSpPr>
          <p:nvPr>
            <p:ph idx="1"/>
          </p:nvPr>
        </p:nvSpPr>
        <p:spPr/>
        <p:txBody>
          <a:bodyPr/>
          <a:lstStyle/>
          <a:p>
            <a:r>
              <a:rPr lang="zh-CN" altLang="en-US" dirty="0" smtClean="0"/>
              <a:t>你在玩一个游戏，游戏中有</a:t>
            </a:r>
            <a:r>
              <a:rPr lang="en-US" altLang="zh-CN" dirty="0" smtClean="0"/>
              <a:t>k</a:t>
            </a:r>
            <a:r>
              <a:rPr lang="zh-CN" altLang="en-US" dirty="0" smtClean="0"/>
              <a:t>种装备，每件装备都有一个等级，初始时你拥有每种</a:t>
            </a:r>
            <a:r>
              <a:rPr lang="en-US" altLang="zh-CN" dirty="0" smtClean="0"/>
              <a:t>1</a:t>
            </a:r>
            <a:r>
              <a:rPr lang="zh-CN" altLang="en-US" dirty="0" smtClean="0"/>
              <a:t>级装备各一件</a:t>
            </a:r>
            <a:endParaRPr lang="en-US" altLang="zh-CN" dirty="0" smtClean="0"/>
          </a:p>
          <a:p>
            <a:r>
              <a:rPr lang="zh-CN" altLang="en-US" dirty="0" smtClean="0"/>
              <a:t>你打算刷</a:t>
            </a:r>
            <a:r>
              <a:rPr lang="en-US" altLang="zh-CN" dirty="0" smtClean="0"/>
              <a:t>n</a:t>
            </a:r>
            <a:r>
              <a:rPr lang="zh-CN" altLang="en-US" dirty="0" smtClean="0"/>
              <a:t>只怪，每刷一只怪之后系统就会随机爆出一件装备</a:t>
            </a:r>
            <a:endParaRPr lang="en-US" altLang="zh-CN" dirty="0" smtClean="0"/>
          </a:p>
          <a:p>
            <a:r>
              <a:rPr lang="zh-CN" altLang="en-US" dirty="0"/>
              <a:t>随机</a:t>
            </a:r>
            <a:r>
              <a:rPr lang="zh-CN" altLang="en-US" dirty="0" smtClean="0"/>
              <a:t>方式是先等概率随机装备的种类，设你当前拥有的这种装备的等级为</a:t>
            </a:r>
            <a:r>
              <a:rPr lang="en-US" altLang="zh-CN" dirty="0" smtClean="0"/>
              <a:t>t</a:t>
            </a:r>
            <a:r>
              <a:rPr lang="zh-CN" altLang="en-US" dirty="0" smtClean="0"/>
              <a:t>，则系统会在</a:t>
            </a:r>
            <a:r>
              <a:rPr lang="en-US" altLang="zh-CN" dirty="0" smtClean="0"/>
              <a:t>1~t+1</a:t>
            </a:r>
            <a:r>
              <a:rPr lang="zh-CN" altLang="en-US" dirty="0" smtClean="0"/>
              <a:t>之间等概率随机装备的等级</a:t>
            </a:r>
            <a:endParaRPr lang="en-US" altLang="zh-CN" dirty="0" smtClean="0"/>
          </a:p>
          <a:p>
            <a:r>
              <a:rPr lang="zh-CN" altLang="en-US" dirty="0" smtClean="0"/>
              <a:t>由于某些原因，你决定只在爆出的装备高于当前装备的等级时换上新装备并卖掉旧装备，否则直接卖掉爆出的装备，卖掉等级为</a:t>
            </a:r>
            <a:r>
              <a:rPr lang="en-US" altLang="zh-CN" dirty="0" smtClean="0"/>
              <a:t>t</a:t>
            </a:r>
            <a:r>
              <a:rPr lang="zh-CN" altLang="en-US" dirty="0" smtClean="0"/>
              <a:t>的装备可以得到</a:t>
            </a:r>
            <a:r>
              <a:rPr lang="en-US" altLang="zh-CN" dirty="0" smtClean="0"/>
              <a:t>t</a:t>
            </a:r>
            <a:r>
              <a:rPr lang="zh-CN" altLang="en-US" dirty="0" smtClean="0"/>
              <a:t>个金币</a:t>
            </a:r>
            <a:endParaRPr lang="en-US" altLang="zh-CN" dirty="0" smtClean="0"/>
          </a:p>
          <a:p>
            <a:r>
              <a:rPr lang="zh-CN" altLang="en-US" dirty="0"/>
              <a:t>求</a:t>
            </a:r>
            <a:r>
              <a:rPr lang="zh-CN" altLang="en-US" dirty="0" smtClean="0"/>
              <a:t>你刷</a:t>
            </a:r>
            <a:r>
              <a:rPr lang="en-US" altLang="zh-CN" dirty="0" smtClean="0"/>
              <a:t>n</a:t>
            </a:r>
            <a:r>
              <a:rPr lang="zh-CN" altLang="en-US" dirty="0" smtClean="0"/>
              <a:t>只怪后得到的金币数的期望</a:t>
            </a:r>
            <a:endParaRPr lang="en-US" altLang="zh-CN" dirty="0" smtClean="0"/>
          </a:p>
          <a:p>
            <a:r>
              <a:rPr lang="en-US" altLang="zh-CN" dirty="0" smtClean="0"/>
              <a:t>n&lt;=10^5</a:t>
            </a:r>
            <a:r>
              <a:rPr lang="zh-CN" altLang="en-US" dirty="0" smtClean="0"/>
              <a:t>，</a:t>
            </a:r>
            <a:r>
              <a:rPr lang="en-US" altLang="zh-CN" dirty="0" smtClean="0"/>
              <a:t>k&lt;=100</a:t>
            </a:r>
            <a:endParaRPr lang="zh-CN" altLang="en-US"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20</a:t>
            </a:fld>
            <a:endParaRPr lang="zh-CN" altLang="en-US"/>
          </a:p>
        </p:txBody>
      </p:sp>
    </p:spTree>
    <p:extLst>
      <p:ext uri="{BB962C8B-B14F-4D97-AF65-F5344CB8AC3E}">
        <p14:creationId xmlns:p14="http://schemas.microsoft.com/office/powerpoint/2010/main" xmlns="" val="181443350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CF464D World of Darkraft-2</a:t>
            </a:r>
            <a:endParaRPr lang="zh-CN" altLang="en-US" dirty="0"/>
          </a:p>
        </p:txBody>
      </p:sp>
      <p:sp>
        <p:nvSpPr>
          <p:cNvPr id="3" name="内容占位符 2"/>
          <p:cNvSpPr>
            <a:spLocks noGrp="1"/>
          </p:cNvSpPr>
          <p:nvPr>
            <p:ph idx="1"/>
          </p:nvPr>
        </p:nvSpPr>
        <p:spPr/>
        <p:txBody>
          <a:bodyPr/>
          <a:lstStyle/>
          <a:p>
            <a:r>
              <a:rPr lang="zh-CN" altLang="en-US" dirty="0" smtClean="0"/>
              <a:t>其实这题是论文题</a:t>
            </a:r>
            <a:r>
              <a:rPr lang="en-US" altLang="zh-CN" dirty="0" smtClean="0"/>
              <a:t>……</a:t>
            </a:r>
          </a:p>
          <a:p>
            <a:r>
              <a:rPr lang="zh-CN" altLang="en-US" dirty="0" smtClean="0"/>
              <a:t>可以发现每种装备对答案的贡献都完全相同且互不影响，因此我们可以只求出一种装备对答案的贡献，最后再乘上</a:t>
            </a:r>
            <a:r>
              <a:rPr lang="en-US" altLang="zh-CN" dirty="0" smtClean="0"/>
              <a:t>k</a:t>
            </a:r>
            <a:r>
              <a:rPr lang="zh-CN" altLang="en-US" dirty="0" smtClean="0"/>
              <a:t>即可</a:t>
            </a:r>
            <a:endParaRPr lang="en-US" altLang="zh-CN" dirty="0" smtClean="0"/>
          </a:p>
          <a:p>
            <a:r>
              <a:rPr lang="zh-CN" altLang="en-US" dirty="0"/>
              <a:t>一</a:t>
            </a:r>
            <a:r>
              <a:rPr lang="zh-CN" altLang="en-US" dirty="0" smtClean="0"/>
              <a:t>种装备的贡献可以用</a:t>
            </a:r>
            <a:r>
              <a:rPr lang="en-US" altLang="zh-CN" dirty="0" smtClean="0"/>
              <a:t>DP</a:t>
            </a:r>
            <a:r>
              <a:rPr lang="zh-CN" altLang="en-US" dirty="0" smtClean="0"/>
              <a:t>求解，设</a:t>
            </a:r>
            <a:r>
              <a:rPr lang="en-US" altLang="zh-CN" dirty="0" smtClean="0"/>
              <a:t>f[</a:t>
            </a:r>
            <a:r>
              <a:rPr lang="en-US" altLang="zh-CN" dirty="0" err="1" smtClean="0"/>
              <a:t>i</a:t>
            </a:r>
            <a:r>
              <a:rPr lang="en-US" altLang="zh-CN" dirty="0" smtClean="0"/>
              <a:t>][j]</a:t>
            </a:r>
            <a:r>
              <a:rPr lang="zh-CN" altLang="en-US" dirty="0" smtClean="0"/>
              <a:t>表示带着等级为</a:t>
            </a:r>
            <a:r>
              <a:rPr lang="en-US" altLang="zh-CN" dirty="0" smtClean="0"/>
              <a:t>j</a:t>
            </a:r>
            <a:r>
              <a:rPr lang="zh-CN" altLang="en-US" dirty="0" smtClean="0"/>
              <a:t>的装备再刷</a:t>
            </a:r>
            <a:r>
              <a:rPr lang="en-US" altLang="zh-CN" dirty="0" err="1" smtClean="0"/>
              <a:t>i</a:t>
            </a:r>
            <a:r>
              <a:rPr lang="zh-CN" altLang="en-US" dirty="0" smtClean="0"/>
              <a:t>只怪的期望收益（注意这里还是逆序定义），则有</a:t>
            </a:r>
            <a:endParaRPr lang="en-US" altLang="zh-CN" dirty="0" smtClean="0"/>
          </a:p>
          <a:p>
            <a:endParaRPr lang="en-US" altLang="zh-CN" dirty="0"/>
          </a:p>
          <a:p>
            <a:endParaRPr lang="en-US" altLang="zh-CN" dirty="0" smtClean="0"/>
          </a:p>
          <a:p>
            <a:r>
              <a:rPr lang="zh-CN" altLang="en-US" dirty="0" smtClean="0"/>
              <a:t>（那个</a:t>
            </a:r>
            <a:r>
              <a:rPr lang="en-US" altLang="zh-CN" dirty="0" smtClean="0"/>
              <a:t>(j+1)/2</a:t>
            </a:r>
            <a:r>
              <a:rPr lang="zh-CN" altLang="en-US" dirty="0" smtClean="0"/>
              <a:t>是从</a:t>
            </a:r>
            <a:r>
              <a:rPr lang="en-US" altLang="zh-CN" dirty="0" smtClean="0"/>
              <a:t>1~j</a:t>
            </a:r>
            <a:r>
              <a:rPr lang="zh-CN" altLang="en-US" dirty="0" smtClean="0"/>
              <a:t>中随机选一个的期望）</a:t>
            </a:r>
            <a:endParaRPr lang="en-US" altLang="zh-CN" dirty="0"/>
          </a:p>
          <a:p>
            <a:r>
              <a:rPr lang="zh-CN" altLang="en-US" dirty="0" smtClean="0"/>
              <a:t>按照这个方程</a:t>
            </a:r>
            <a:r>
              <a:rPr lang="en-US" altLang="zh-CN" dirty="0" smtClean="0"/>
              <a:t>DP</a:t>
            </a:r>
            <a:r>
              <a:rPr lang="zh-CN" altLang="en-US" dirty="0" smtClean="0"/>
              <a:t>可以做到</a:t>
            </a:r>
            <a:r>
              <a:rPr lang="en-US" altLang="zh-CN" dirty="0" smtClean="0"/>
              <a:t>O(n^2)</a:t>
            </a:r>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21</a:t>
            </a:fld>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xmlns="" val="938135191"/>
              </p:ext>
            </p:extLst>
          </p:nvPr>
        </p:nvGraphicFramePr>
        <p:xfrm>
          <a:off x="971600" y="2929508"/>
          <a:ext cx="6768752" cy="929929"/>
        </p:xfrm>
        <a:graphic>
          <a:graphicData uri="http://schemas.openxmlformats.org/presentationml/2006/ole">
            <p:oleObj spid="_x0000_s3314" name="Equation" r:id="rId3" imgW="4431960" imgH="609480" progId="">
              <p:embed/>
            </p:oleObj>
          </a:graphicData>
        </a:graphic>
      </p:graphicFrame>
    </p:spTree>
    <p:extLst>
      <p:ext uri="{BB962C8B-B14F-4D97-AF65-F5344CB8AC3E}">
        <p14:creationId xmlns:p14="http://schemas.microsoft.com/office/powerpoint/2010/main" xmlns="" val="243618991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CF464D World of Darkraft-2</a:t>
            </a:r>
            <a:endParaRPr lang="zh-CN" altLang="en-US" dirty="0"/>
          </a:p>
        </p:txBody>
      </p:sp>
      <p:sp>
        <p:nvSpPr>
          <p:cNvPr id="3" name="内容占位符 2"/>
          <p:cNvSpPr>
            <a:spLocks noGrp="1"/>
          </p:cNvSpPr>
          <p:nvPr>
            <p:ph idx="1"/>
          </p:nvPr>
        </p:nvSpPr>
        <p:spPr/>
        <p:txBody>
          <a:bodyPr/>
          <a:lstStyle/>
          <a:p>
            <a:r>
              <a:rPr lang="zh-CN" altLang="en-US" dirty="0" smtClean="0"/>
              <a:t>继续考虑如何优化</a:t>
            </a:r>
            <a:endParaRPr lang="en-US" altLang="zh-CN" dirty="0" smtClean="0"/>
          </a:p>
          <a:p>
            <a:r>
              <a:rPr lang="en-US" altLang="zh-CN" dirty="0" smtClean="0"/>
              <a:t>DP</a:t>
            </a:r>
            <a:r>
              <a:rPr lang="zh-CN" altLang="en-US" dirty="0" smtClean="0"/>
              <a:t>的转移已经无法再优化了，因此我们可以尝试优化状态数</a:t>
            </a:r>
            <a:endParaRPr lang="en-US" altLang="zh-CN" dirty="0" smtClean="0"/>
          </a:p>
          <a:p>
            <a:r>
              <a:rPr lang="zh-CN" altLang="en-US" dirty="0"/>
              <a:t>注意</a:t>
            </a:r>
            <a:r>
              <a:rPr lang="zh-CN" altLang="en-US" dirty="0" smtClean="0"/>
              <a:t>到装备等级越高，再提升一级就越难，而刷</a:t>
            </a:r>
            <a:r>
              <a:rPr lang="en-US" altLang="zh-CN" dirty="0" smtClean="0"/>
              <a:t>n</a:t>
            </a:r>
            <a:r>
              <a:rPr lang="zh-CN" altLang="en-US" dirty="0" smtClean="0"/>
              <a:t>只怪之后装备的期望等级最多也是</a:t>
            </a:r>
            <a:r>
              <a:rPr lang="en-US" altLang="zh-CN" dirty="0" smtClean="0"/>
              <a:t>O(n^0.5)</a:t>
            </a:r>
            <a:r>
              <a:rPr lang="zh-CN" altLang="en-US" dirty="0" smtClean="0"/>
              <a:t>的，并且不难看出等级比</a:t>
            </a:r>
            <a:r>
              <a:rPr lang="en-US" altLang="zh-CN" dirty="0" smtClean="0"/>
              <a:t>O(n^0.5)</a:t>
            </a:r>
            <a:r>
              <a:rPr lang="zh-CN" altLang="en-US" dirty="0" smtClean="0"/>
              <a:t>高太多之后的概率就可以忽略不计了</a:t>
            </a:r>
            <a:endParaRPr lang="en-US" altLang="zh-CN" dirty="0" smtClean="0"/>
          </a:p>
          <a:p>
            <a:r>
              <a:rPr lang="zh-CN" altLang="en-US" dirty="0" smtClean="0"/>
              <a:t>因此我们可以把第二维的范围限定为</a:t>
            </a:r>
            <a:r>
              <a:rPr lang="en-US" altLang="zh-CN" dirty="0" smtClean="0"/>
              <a:t>&lt;=</a:t>
            </a:r>
            <a:r>
              <a:rPr lang="zh-CN" altLang="en-US" dirty="0" smtClean="0"/>
              <a:t>一个</a:t>
            </a:r>
            <a:r>
              <a:rPr lang="en-US" altLang="zh-CN" dirty="0" smtClean="0"/>
              <a:t>O(n^0.5)</a:t>
            </a:r>
            <a:r>
              <a:rPr lang="zh-CN" altLang="en-US" dirty="0" smtClean="0"/>
              <a:t>级别的数，这样就可以把复杂度降到</a:t>
            </a:r>
            <a:r>
              <a:rPr lang="en-US" altLang="zh-CN" dirty="0" smtClean="0"/>
              <a:t>O(n^1.5)</a:t>
            </a:r>
            <a:r>
              <a:rPr lang="zh-CN" altLang="en-US" dirty="0" smtClean="0"/>
              <a:t>了</a:t>
            </a:r>
            <a:endParaRPr lang="en-US" altLang="zh-CN" dirty="0" smtClean="0"/>
          </a:p>
          <a:p>
            <a:endParaRPr lang="en-US" altLang="zh-CN" dirty="0"/>
          </a:p>
          <a:p>
            <a:r>
              <a:rPr lang="zh-CN" altLang="en-US" dirty="0" smtClean="0"/>
              <a:t>这道题告诉我们，做不要求输出精确解的概率</a:t>
            </a:r>
            <a:r>
              <a:rPr lang="en-US" altLang="zh-CN" dirty="0" smtClean="0"/>
              <a:t>/</a:t>
            </a:r>
            <a:r>
              <a:rPr lang="zh-CN" altLang="en-US" dirty="0" smtClean="0"/>
              <a:t>期望</a:t>
            </a:r>
            <a:r>
              <a:rPr lang="en-US" altLang="zh-CN" dirty="0" smtClean="0"/>
              <a:t>DP</a:t>
            </a:r>
            <a:r>
              <a:rPr lang="zh-CN" altLang="en-US" dirty="0" smtClean="0"/>
              <a:t>时可以忽略概率非常小的状态，通常可以起到卡常的作用，有时也能优化复杂度（比如这道题）</a:t>
            </a:r>
            <a:endParaRPr lang="en-US" altLang="zh-CN" dirty="0" smtClean="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22</a:t>
            </a:fld>
            <a:endParaRPr lang="zh-CN" altLang="en-US"/>
          </a:p>
        </p:txBody>
      </p:sp>
    </p:spTree>
    <p:extLst>
      <p:ext uri="{BB962C8B-B14F-4D97-AF65-F5344CB8AC3E}">
        <p14:creationId xmlns:p14="http://schemas.microsoft.com/office/powerpoint/2010/main" xmlns="" val="63192159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CF696B Puzzles</a:t>
            </a:r>
            <a:endParaRPr lang="zh-CN" altLang="en-US" dirty="0"/>
          </a:p>
        </p:txBody>
      </p:sp>
      <p:sp>
        <p:nvSpPr>
          <p:cNvPr id="3" name="内容占位符 2"/>
          <p:cNvSpPr>
            <a:spLocks noGrp="1"/>
          </p:cNvSpPr>
          <p:nvPr>
            <p:ph idx="1"/>
          </p:nvPr>
        </p:nvSpPr>
        <p:spPr/>
        <p:txBody>
          <a:bodyPr/>
          <a:lstStyle/>
          <a:p>
            <a:r>
              <a:rPr lang="zh-CN" altLang="en-US" dirty="0" smtClean="0"/>
              <a:t>有一棵</a:t>
            </a:r>
            <a:r>
              <a:rPr lang="en-US" altLang="zh-CN" dirty="0" smtClean="0"/>
              <a:t>n</a:t>
            </a:r>
            <a:r>
              <a:rPr lang="zh-CN" altLang="en-US" dirty="0" smtClean="0"/>
              <a:t>个点的有根树，从根开始对这棵树进行</a:t>
            </a:r>
            <a:r>
              <a:rPr lang="en-US" altLang="zh-CN" dirty="0" err="1" smtClean="0"/>
              <a:t>dfs</a:t>
            </a:r>
            <a:r>
              <a:rPr lang="zh-CN" altLang="en-US" dirty="0" smtClean="0"/>
              <a:t>，对于一个点访问它的所有儿子的顺序是随机的</a:t>
            </a:r>
            <a:endParaRPr lang="en-US" altLang="zh-CN" dirty="0" smtClean="0"/>
          </a:p>
          <a:p>
            <a:r>
              <a:rPr lang="zh-CN" altLang="en-US" dirty="0" smtClean="0"/>
              <a:t>求每个点的时间戳的期望</a:t>
            </a:r>
            <a:endParaRPr lang="en-US" altLang="zh-CN" dirty="0" smtClean="0"/>
          </a:p>
          <a:p>
            <a:r>
              <a:rPr lang="en-US" altLang="zh-CN" dirty="0" smtClean="0"/>
              <a:t>n&lt;=10^5</a:t>
            </a:r>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23</a:t>
            </a:fld>
            <a:endParaRPr lang="zh-CN" altLang="en-US"/>
          </a:p>
        </p:txBody>
      </p:sp>
    </p:spTree>
    <p:extLst>
      <p:ext uri="{BB962C8B-B14F-4D97-AF65-F5344CB8AC3E}">
        <p14:creationId xmlns:p14="http://schemas.microsoft.com/office/powerpoint/2010/main" xmlns="" val="45041352"/>
      </p:ext>
    </p:extLst>
  </p:cSld>
  <p:clrMapOvr>
    <a:masterClrMapping/>
  </p:clrMapOvr>
  <p:transition>
    <p:fade thruBlk="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CF696B Puzzles</a:t>
            </a:r>
            <a:endParaRPr lang="zh-CN" altLang="en-US" dirty="0"/>
          </a:p>
        </p:txBody>
      </p:sp>
      <p:sp>
        <p:nvSpPr>
          <p:cNvPr id="3" name="内容占位符 2"/>
          <p:cNvSpPr>
            <a:spLocks noGrp="1"/>
          </p:cNvSpPr>
          <p:nvPr>
            <p:ph idx="1"/>
          </p:nvPr>
        </p:nvSpPr>
        <p:spPr/>
        <p:txBody>
          <a:bodyPr/>
          <a:lstStyle/>
          <a:p>
            <a:r>
              <a:rPr lang="zh-CN" altLang="en-US" dirty="0"/>
              <a:t>我们都知道期望有线性性</a:t>
            </a:r>
            <a:endParaRPr lang="en-US" altLang="zh-CN" dirty="0"/>
          </a:p>
          <a:p>
            <a:r>
              <a:rPr lang="zh-CN" altLang="en-US" dirty="0"/>
              <a:t>因此一个点的时间戳的期望</a:t>
            </a:r>
            <a:r>
              <a:rPr lang="en-US" altLang="zh-CN" dirty="0"/>
              <a:t>=</a:t>
            </a:r>
            <a:r>
              <a:rPr lang="zh-CN" altLang="en-US" dirty="0"/>
              <a:t>父亲的期望</a:t>
            </a:r>
            <a:r>
              <a:rPr lang="en-US" altLang="zh-CN" dirty="0"/>
              <a:t>+</a:t>
            </a:r>
            <a:r>
              <a:rPr lang="zh-CN" altLang="en-US" dirty="0"/>
              <a:t>兄弟对它的贡献</a:t>
            </a:r>
            <a:r>
              <a:rPr lang="en-US" altLang="zh-CN" dirty="0"/>
              <a:t>+1</a:t>
            </a:r>
          </a:p>
          <a:p>
            <a:r>
              <a:rPr lang="zh-CN" altLang="en-US" dirty="0"/>
              <a:t>对每个兄弟分别考虑，如果这个兄弟比它更早访问，对它的时间戳的贡献就是子树大小</a:t>
            </a:r>
            <a:endParaRPr lang="en-US" altLang="zh-CN" dirty="0"/>
          </a:p>
          <a:p>
            <a:r>
              <a:rPr lang="zh-CN" altLang="en-US" dirty="0"/>
              <a:t>由于是随机访问，因此谁在前面的概率都是一样的</a:t>
            </a:r>
            <a:endParaRPr lang="en-US" altLang="zh-CN" dirty="0"/>
          </a:p>
          <a:p>
            <a:r>
              <a:rPr lang="zh-CN" altLang="en-US" dirty="0"/>
              <a:t>一个点的期望</a:t>
            </a:r>
            <a:r>
              <a:rPr lang="en-US" altLang="zh-CN" dirty="0"/>
              <a:t>=</a:t>
            </a:r>
            <a:r>
              <a:rPr lang="zh-CN" altLang="en-US" dirty="0"/>
              <a:t>父亲的期望</a:t>
            </a:r>
            <a:r>
              <a:rPr lang="en-US" altLang="zh-CN" dirty="0"/>
              <a:t>+</a:t>
            </a:r>
            <a:r>
              <a:rPr lang="zh-CN" altLang="en-US" dirty="0"/>
              <a:t>兄弟子树大小之和</a:t>
            </a:r>
            <a:r>
              <a:rPr lang="en-US" altLang="zh-CN" dirty="0"/>
              <a:t>/2+1</a:t>
            </a:r>
            <a:endParaRPr lang="zh-CN" altLang="en-US" dirty="0"/>
          </a:p>
          <a:p>
            <a:endParaRPr lang="zh-CN" altLang="en-US"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24</a:t>
            </a:fld>
            <a:endParaRPr lang="zh-CN" altLang="en-US"/>
          </a:p>
        </p:txBody>
      </p:sp>
    </p:spTree>
    <p:extLst>
      <p:ext uri="{BB962C8B-B14F-4D97-AF65-F5344CB8AC3E}">
        <p14:creationId xmlns:p14="http://schemas.microsoft.com/office/powerpoint/2010/main" xmlns="" val="4279408918"/>
      </p:ext>
    </p:extLst>
  </p:cSld>
  <p:clrMapOvr>
    <a:masterClrMapping/>
  </p:clrMapOvr>
  <p:transition>
    <p:fade thruBlk="1"/>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HNOI2008 GT</a:t>
            </a:r>
            <a:r>
              <a:rPr lang="zh-CN" altLang="en-US" dirty="0" smtClean="0"/>
              <a:t>考试</a:t>
            </a:r>
            <a:endParaRPr lang="zh-CN" altLang="en-US" dirty="0"/>
          </a:p>
        </p:txBody>
      </p:sp>
      <p:sp>
        <p:nvSpPr>
          <p:cNvPr id="3" name="内容占位符 2"/>
          <p:cNvSpPr>
            <a:spLocks noGrp="1"/>
          </p:cNvSpPr>
          <p:nvPr>
            <p:ph idx="1"/>
          </p:nvPr>
        </p:nvSpPr>
        <p:spPr/>
        <p:txBody>
          <a:bodyPr/>
          <a:lstStyle/>
          <a:p>
            <a:r>
              <a:rPr lang="zh-CN" altLang="en-US" dirty="0" smtClean="0"/>
              <a:t>给定一个长为</a:t>
            </a:r>
            <a:r>
              <a:rPr lang="en-US" altLang="zh-CN" dirty="0" smtClean="0"/>
              <a:t>m</a:t>
            </a:r>
            <a:r>
              <a:rPr lang="zh-CN" altLang="en-US" dirty="0" smtClean="0"/>
              <a:t>的数字串，求有多少个长为</a:t>
            </a:r>
            <a:r>
              <a:rPr lang="en-US" altLang="zh-CN" dirty="0" smtClean="0"/>
              <a:t>n</a:t>
            </a:r>
            <a:r>
              <a:rPr lang="zh-CN" altLang="en-US" dirty="0" smtClean="0"/>
              <a:t>的数字串满足给定的数字串不是它的子串，答案对</a:t>
            </a:r>
            <a:r>
              <a:rPr lang="en-US" altLang="zh-CN" dirty="0" smtClean="0"/>
              <a:t>k</a:t>
            </a:r>
            <a:r>
              <a:rPr lang="zh-CN" altLang="en-US" dirty="0" smtClean="0"/>
              <a:t>取模</a:t>
            </a:r>
            <a:endParaRPr lang="en-US" altLang="zh-CN" dirty="0" smtClean="0"/>
          </a:p>
          <a:p>
            <a:r>
              <a:rPr lang="en-US" altLang="zh-CN" dirty="0"/>
              <a:t>n</a:t>
            </a:r>
            <a:r>
              <a:rPr lang="en-US" altLang="zh-CN" dirty="0" smtClean="0"/>
              <a:t>&lt;=10^9</a:t>
            </a:r>
            <a:r>
              <a:rPr lang="zh-CN" altLang="en-US" dirty="0" smtClean="0"/>
              <a:t>，</a:t>
            </a:r>
            <a:r>
              <a:rPr lang="en-US" altLang="zh-CN" dirty="0"/>
              <a:t>m</a:t>
            </a:r>
            <a:r>
              <a:rPr lang="en-US" altLang="zh-CN" dirty="0" smtClean="0"/>
              <a:t>&lt;=20</a:t>
            </a:r>
            <a:r>
              <a:rPr lang="zh-CN" altLang="en-US" dirty="0" smtClean="0"/>
              <a:t>，</a:t>
            </a:r>
            <a:r>
              <a:rPr lang="en-US" altLang="zh-CN" dirty="0" smtClean="0"/>
              <a:t>k&lt;=1000</a:t>
            </a:r>
          </a:p>
          <a:p>
            <a:r>
              <a:rPr lang="zh-CN" altLang="en-US" dirty="0" smtClean="0"/>
              <a:t>没错，这是道计数题</a:t>
            </a:r>
            <a:r>
              <a:rPr lang="en-US" altLang="zh-CN" dirty="0" smtClean="0"/>
              <a:t>……</a:t>
            </a:r>
          </a:p>
          <a:p>
            <a:endParaRPr lang="en-US" altLang="zh-CN" dirty="0"/>
          </a:p>
          <a:p>
            <a:r>
              <a:rPr lang="zh-CN" altLang="en-US" dirty="0" smtClean="0"/>
              <a:t>首先对给定的串跑</a:t>
            </a:r>
            <a:r>
              <a:rPr lang="en-US" altLang="zh-CN" dirty="0" smtClean="0"/>
              <a:t>KMP</a:t>
            </a:r>
            <a:r>
              <a:rPr lang="zh-CN" altLang="en-US" dirty="0" smtClean="0"/>
              <a:t>，并建出</a:t>
            </a:r>
            <a:r>
              <a:rPr lang="en-US" altLang="zh-CN" dirty="0" smtClean="0"/>
              <a:t>KMP</a:t>
            </a:r>
            <a:r>
              <a:rPr lang="zh-CN" altLang="en-US" dirty="0" smtClean="0"/>
              <a:t>自动机</a:t>
            </a:r>
            <a:endParaRPr lang="en-US" altLang="zh-CN" dirty="0" smtClean="0"/>
          </a:p>
          <a:p>
            <a:r>
              <a:rPr lang="zh-CN" altLang="en-US" dirty="0" smtClean="0"/>
              <a:t>然后问题就转化成了统计在自动机上不经过终态走</a:t>
            </a:r>
            <a:r>
              <a:rPr lang="en-US" altLang="zh-CN" dirty="0" smtClean="0"/>
              <a:t>n</a:t>
            </a:r>
            <a:r>
              <a:rPr lang="zh-CN" altLang="en-US" dirty="0" smtClean="0"/>
              <a:t>步的方案数</a:t>
            </a:r>
            <a:endParaRPr lang="en-US" altLang="zh-CN" dirty="0" smtClean="0"/>
          </a:p>
          <a:p>
            <a:r>
              <a:rPr lang="zh-CN" altLang="en-US" dirty="0" smtClean="0"/>
              <a:t>定义</a:t>
            </a:r>
            <a:r>
              <a:rPr lang="en-US" altLang="zh-CN" dirty="0" smtClean="0"/>
              <a:t>f[</a:t>
            </a:r>
            <a:r>
              <a:rPr lang="en-US" altLang="zh-CN" dirty="0" err="1" smtClean="0"/>
              <a:t>i</a:t>
            </a:r>
            <a:r>
              <a:rPr lang="en-US" altLang="zh-CN" dirty="0" smtClean="0"/>
              <a:t>][j]</a:t>
            </a:r>
            <a:r>
              <a:rPr lang="zh-CN" altLang="en-US" dirty="0" smtClean="0"/>
              <a:t>表示从</a:t>
            </a:r>
            <a:r>
              <a:rPr lang="en-US" altLang="zh-CN" dirty="0" err="1" smtClean="0"/>
              <a:t>i</a:t>
            </a:r>
            <a:r>
              <a:rPr lang="zh-CN" altLang="en-US" dirty="0" smtClean="0"/>
              <a:t>开始走</a:t>
            </a:r>
            <a:r>
              <a:rPr lang="en-US" altLang="zh-CN" dirty="0" smtClean="0"/>
              <a:t>j</a:t>
            </a:r>
            <a:r>
              <a:rPr lang="zh-CN" altLang="en-US" dirty="0" smtClean="0"/>
              <a:t>步的方案数（注意这里是逆序定义），显然</a:t>
            </a:r>
            <a:r>
              <a:rPr lang="en-US" altLang="zh-CN" dirty="0" smtClean="0"/>
              <a:t>f[</a:t>
            </a:r>
            <a:r>
              <a:rPr lang="en-US" altLang="zh-CN" dirty="0" err="1" smtClean="0"/>
              <a:t>i</a:t>
            </a:r>
            <a:r>
              <a:rPr lang="en-US" altLang="zh-CN" dirty="0" smtClean="0"/>
              <a:t>][j]</a:t>
            </a:r>
            <a:r>
              <a:rPr lang="zh-CN" altLang="en-US" dirty="0" smtClean="0"/>
              <a:t>应该等于</a:t>
            </a:r>
            <a:r>
              <a:rPr lang="en-US" altLang="zh-CN" dirty="0" err="1" smtClean="0"/>
              <a:t>i</a:t>
            </a:r>
            <a:r>
              <a:rPr lang="zh-CN" altLang="en-US" dirty="0" smtClean="0"/>
              <a:t>的所有后继的</a:t>
            </a:r>
            <a:r>
              <a:rPr lang="en-US" altLang="zh-CN" dirty="0" smtClean="0"/>
              <a:t>f[k][j-1]</a:t>
            </a:r>
            <a:r>
              <a:rPr lang="zh-CN" altLang="en-US" dirty="0" smtClean="0"/>
              <a:t>加起来</a:t>
            </a:r>
            <a:endParaRPr lang="en-US" altLang="zh-CN" dirty="0" smtClean="0"/>
          </a:p>
          <a:p>
            <a:r>
              <a:rPr lang="zh-CN" altLang="en-US" dirty="0" smtClean="0"/>
              <a:t>矩阵快速幂优化即可，</a:t>
            </a:r>
            <a:r>
              <a:rPr lang="en-US" altLang="zh-CN" dirty="0" smtClean="0"/>
              <a:t>O(m^3logn)</a:t>
            </a:r>
            <a:endParaRPr lang="en-US" altLang="zh-CN"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25</a:t>
            </a:fld>
            <a:endParaRPr lang="zh-CN" altLang="en-US"/>
          </a:p>
        </p:txBody>
      </p:sp>
    </p:spTree>
    <p:extLst>
      <p:ext uri="{BB962C8B-B14F-4D97-AF65-F5344CB8AC3E}">
        <p14:creationId xmlns:p14="http://schemas.microsoft.com/office/powerpoint/2010/main" xmlns="" val="1737023812"/>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trike="sngStrike" dirty="0" smtClean="0"/>
              <a:t>大家看好我要开始口胡了</a:t>
            </a:r>
            <a:endParaRPr lang="zh-CN" altLang="en-US" strike="sngStrike" dirty="0"/>
          </a:p>
        </p:txBody>
      </p:sp>
      <p:sp>
        <p:nvSpPr>
          <p:cNvPr id="3" name="内容占位符 2"/>
          <p:cNvSpPr>
            <a:spLocks noGrp="1"/>
          </p:cNvSpPr>
          <p:nvPr>
            <p:ph idx="1"/>
          </p:nvPr>
        </p:nvSpPr>
        <p:spPr/>
        <p:txBody>
          <a:bodyPr/>
          <a:lstStyle/>
          <a:p>
            <a:r>
              <a:rPr lang="zh-CN" altLang="en-US" dirty="0"/>
              <a:t>给定一个长为</a:t>
            </a:r>
            <a:r>
              <a:rPr lang="en-US" altLang="zh-CN" dirty="0"/>
              <a:t>m</a:t>
            </a:r>
            <a:r>
              <a:rPr lang="zh-CN" altLang="en-US" dirty="0" smtClean="0"/>
              <a:t>的字符串，求随机产生一个长为</a:t>
            </a:r>
            <a:r>
              <a:rPr lang="en-US" altLang="zh-CN" dirty="0" smtClean="0"/>
              <a:t>n</a:t>
            </a:r>
            <a:r>
              <a:rPr lang="zh-CN" altLang="en-US" dirty="0" smtClean="0"/>
              <a:t>的字符串后这个字符串不包含给定的字符串的概率</a:t>
            </a:r>
            <a:endParaRPr lang="en-US" altLang="zh-CN" dirty="0" smtClean="0"/>
          </a:p>
          <a:p>
            <a:r>
              <a:rPr lang="en-US" altLang="zh-CN" dirty="0" smtClean="0"/>
              <a:t>m&lt;=50</a:t>
            </a:r>
            <a:r>
              <a:rPr lang="zh-CN" altLang="en-US" dirty="0" smtClean="0"/>
              <a:t>，</a:t>
            </a:r>
            <a:r>
              <a:rPr lang="en-US" altLang="zh-CN" dirty="0" smtClean="0"/>
              <a:t>n&lt;=10^9</a:t>
            </a:r>
            <a:r>
              <a:rPr lang="zh-CN" altLang="en-US" dirty="0" smtClean="0"/>
              <a:t>，字符集为全体小写字母，答案对</a:t>
            </a:r>
            <a:r>
              <a:rPr lang="en-US" altLang="zh-CN" dirty="0" smtClean="0"/>
              <a:t>10^9+7</a:t>
            </a:r>
            <a:r>
              <a:rPr lang="zh-CN" altLang="en-US" dirty="0" smtClean="0"/>
              <a:t>取模</a:t>
            </a:r>
            <a:endParaRPr lang="en-US" altLang="zh-CN" dirty="0" smtClean="0"/>
          </a:p>
          <a:p>
            <a:endParaRPr lang="en-US" altLang="zh-CN" dirty="0"/>
          </a:p>
          <a:p>
            <a:r>
              <a:rPr lang="zh-CN" altLang="en-US" dirty="0" smtClean="0"/>
              <a:t>跟上一题一样的套路</a:t>
            </a:r>
            <a:endParaRPr lang="en-US" altLang="zh-CN" dirty="0" smtClean="0"/>
          </a:p>
          <a:p>
            <a:r>
              <a:rPr lang="zh-CN" altLang="en-US" dirty="0" smtClean="0"/>
              <a:t>首先建出</a:t>
            </a:r>
            <a:r>
              <a:rPr lang="en-US" altLang="zh-CN" dirty="0" smtClean="0"/>
              <a:t>KMP</a:t>
            </a:r>
            <a:r>
              <a:rPr lang="zh-CN" altLang="en-US" dirty="0" smtClean="0"/>
              <a:t>自动机，然后要求的就是在自动机上随机走</a:t>
            </a:r>
            <a:r>
              <a:rPr lang="en-US" altLang="zh-CN" dirty="0" smtClean="0"/>
              <a:t>n</a:t>
            </a:r>
            <a:r>
              <a:rPr lang="zh-CN" altLang="en-US" dirty="0" smtClean="0"/>
              <a:t>步不经过终态的概率了</a:t>
            </a:r>
            <a:endParaRPr lang="en-US" altLang="zh-CN" dirty="0" smtClean="0"/>
          </a:p>
          <a:p>
            <a:r>
              <a:rPr lang="zh-CN" altLang="en-US" dirty="0"/>
              <a:t>定义</a:t>
            </a:r>
            <a:r>
              <a:rPr lang="en-US" altLang="zh-CN" dirty="0"/>
              <a:t>f[</a:t>
            </a:r>
            <a:r>
              <a:rPr lang="en-US" altLang="zh-CN" dirty="0" err="1"/>
              <a:t>i</a:t>
            </a:r>
            <a:r>
              <a:rPr lang="en-US" altLang="zh-CN" dirty="0"/>
              <a:t>][j]</a:t>
            </a:r>
            <a:r>
              <a:rPr lang="zh-CN" altLang="en-US" dirty="0"/>
              <a:t>表示从</a:t>
            </a:r>
            <a:r>
              <a:rPr lang="en-US" altLang="zh-CN" dirty="0" err="1"/>
              <a:t>i</a:t>
            </a:r>
            <a:r>
              <a:rPr lang="zh-CN" altLang="en-US" dirty="0"/>
              <a:t>开始走</a:t>
            </a:r>
            <a:r>
              <a:rPr lang="en-US" altLang="zh-CN" dirty="0"/>
              <a:t>j</a:t>
            </a:r>
            <a:r>
              <a:rPr lang="zh-CN" altLang="en-US" dirty="0" smtClean="0"/>
              <a:t>步</a:t>
            </a:r>
            <a:r>
              <a:rPr lang="zh-CN" altLang="en-US" dirty="0"/>
              <a:t>不</a:t>
            </a:r>
            <a:r>
              <a:rPr lang="zh-CN" altLang="en-US" dirty="0" smtClean="0"/>
              <a:t>经过终态的概率，</a:t>
            </a:r>
            <a:r>
              <a:rPr lang="zh-CN" altLang="en-US" dirty="0"/>
              <a:t>显然</a:t>
            </a:r>
            <a:r>
              <a:rPr lang="en-US" altLang="zh-CN" dirty="0"/>
              <a:t>f[</a:t>
            </a:r>
            <a:r>
              <a:rPr lang="en-US" altLang="zh-CN" dirty="0" err="1"/>
              <a:t>i</a:t>
            </a:r>
            <a:r>
              <a:rPr lang="en-US" altLang="zh-CN" dirty="0"/>
              <a:t>][j]</a:t>
            </a:r>
            <a:r>
              <a:rPr lang="zh-CN" altLang="en-US" dirty="0"/>
              <a:t>应该等于</a:t>
            </a:r>
            <a:r>
              <a:rPr lang="en-US" altLang="zh-CN" dirty="0" err="1"/>
              <a:t>i</a:t>
            </a:r>
            <a:r>
              <a:rPr lang="zh-CN" altLang="en-US" dirty="0"/>
              <a:t>的所有后继的</a:t>
            </a:r>
            <a:r>
              <a:rPr lang="en-US" altLang="zh-CN" dirty="0"/>
              <a:t>f[k][j-1]</a:t>
            </a:r>
            <a:r>
              <a:rPr lang="zh-CN" altLang="en-US" dirty="0" smtClean="0"/>
              <a:t>加起来再除以字符集大小</a:t>
            </a:r>
            <a:endParaRPr lang="en-US" altLang="zh-CN" dirty="0"/>
          </a:p>
          <a:p>
            <a:r>
              <a:rPr lang="zh-CN" altLang="en-US" dirty="0" smtClean="0"/>
              <a:t>同样用矩阵</a:t>
            </a:r>
            <a:r>
              <a:rPr lang="zh-CN" altLang="en-US" dirty="0"/>
              <a:t>快速幂优化即可，</a:t>
            </a:r>
            <a:r>
              <a:rPr lang="en-US" altLang="zh-CN" dirty="0"/>
              <a:t>O(m^3logn)</a:t>
            </a:r>
          </a:p>
          <a:p>
            <a:endParaRPr lang="zh-CN" altLang="en-US"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26</a:t>
            </a:fld>
            <a:endParaRPr lang="zh-CN" altLang="en-US"/>
          </a:p>
        </p:txBody>
      </p:sp>
    </p:spTree>
    <p:extLst>
      <p:ext uri="{BB962C8B-B14F-4D97-AF65-F5344CB8AC3E}">
        <p14:creationId xmlns:p14="http://schemas.microsoft.com/office/powerpoint/2010/main" xmlns="" val="417820412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trike="sngStrike" dirty="0" smtClean="0"/>
              <a:t>继续口胡</a:t>
            </a:r>
            <a:endParaRPr lang="zh-CN" altLang="en-US" strike="sngStrike" dirty="0"/>
          </a:p>
        </p:txBody>
      </p:sp>
      <p:sp>
        <p:nvSpPr>
          <p:cNvPr id="3" name="内容占位符 2"/>
          <p:cNvSpPr>
            <a:spLocks noGrp="1"/>
          </p:cNvSpPr>
          <p:nvPr>
            <p:ph idx="1"/>
          </p:nvPr>
        </p:nvSpPr>
        <p:spPr/>
        <p:txBody>
          <a:bodyPr/>
          <a:lstStyle/>
          <a:p>
            <a:r>
              <a:rPr lang="zh-CN" altLang="en-US" dirty="0" smtClean="0"/>
              <a:t>给定一些模板串，求随机生成字符串时期望生成几个字符能使得生成的字符串中包含至少一个模板串</a:t>
            </a:r>
            <a:endParaRPr lang="en-US" altLang="zh-CN" dirty="0" smtClean="0"/>
          </a:p>
          <a:p>
            <a:r>
              <a:rPr lang="zh-CN" altLang="en-US" dirty="0"/>
              <a:t>模板</a:t>
            </a:r>
            <a:r>
              <a:rPr lang="zh-CN" altLang="en-US" dirty="0" smtClean="0"/>
              <a:t>串长度之和</a:t>
            </a:r>
            <a:r>
              <a:rPr lang="en-US" altLang="zh-CN" dirty="0" smtClean="0"/>
              <a:t>&lt;=500</a:t>
            </a:r>
            <a:r>
              <a:rPr lang="zh-CN" altLang="en-US" dirty="0" smtClean="0"/>
              <a:t>，答案对</a:t>
            </a:r>
            <a:r>
              <a:rPr lang="en-US" altLang="zh-CN" dirty="0" smtClean="0"/>
              <a:t>10^9+7</a:t>
            </a:r>
            <a:r>
              <a:rPr lang="zh-CN" altLang="en-US" dirty="0" smtClean="0"/>
              <a:t>取模</a:t>
            </a:r>
            <a:endParaRPr lang="en-US" altLang="zh-CN" dirty="0" smtClean="0"/>
          </a:p>
          <a:p>
            <a:endParaRPr lang="en-US" altLang="zh-CN" dirty="0"/>
          </a:p>
          <a:p>
            <a:r>
              <a:rPr lang="zh-CN" altLang="en-US" dirty="0" smtClean="0"/>
              <a:t>建出</a:t>
            </a:r>
            <a:r>
              <a:rPr lang="en-US" altLang="zh-CN" dirty="0" smtClean="0"/>
              <a:t>AC</a:t>
            </a:r>
            <a:r>
              <a:rPr lang="zh-CN" altLang="en-US" dirty="0" smtClean="0"/>
              <a:t>自动机之后问题又变成了从起点开始随机走期望多少步能走到</a:t>
            </a:r>
            <a:r>
              <a:rPr lang="zh-CN" altLang="en-US" dirty="0"/>
              <a:t>某个</a:t>
            </a:r>
            <a:r>
              <a:rPr lang="zh-CN" altLang="en-US" dirty="0" smtClean="0"/>
              <a:t>终态</a:t>
            </a:r>
            <a:endParaRPr lang="en-US" altLang="zh-CN" dirty="0" smtClean="0"/>
          </a:p>
          <a:p>
            <a:r>
              <a:rPr lang="zh-CN" altLang="en-US" dirty="0" smtClean="0"/>
              <a:t>定义</a:t>
            </a:r>
            <a:r>
              <a:rPr lang="en-US" altLang="zh-CN" dirty="0" smtClean="0"/>
              <a:t>f[</a:t>
            </a:r>
            <a:r>
              <a:rPr lang="en-US" altLang="zh-CN" dirty="0" err="1" smtClean="0"/>
              <a:t>i</a:t>
            </a:r>
            <a:r>
              <a:rPr lang="en-US" altLang="zh-CN" dirty="0" smtClean="0"/>
              <a:t>]</a:t>
            </a:r>
            <a:r>
              <a:rPr lang="zh-CN" altLang="en-US" dirty="0" smtClean="0"/>
              <a:t>表示从</a:t>
            </a:r>
            <a:r>
              <a:rPr lang="en-US" altLang="zh-CN" dirty="0" err="1" smtClean="0"/>
              <a:t>i</a:t>
            </a:r>
            <a:r>
              <a:rPr lang="zh-CN" altLang="en-US" dirty="0" smtClean="0"/>
              <a:t>开始走期望需要多少步，转移同上</a:t>
            </a:r>
            <a:endParaRPr lang="en-US" altLang="zh-CN" dirty="0" smtClean="0"/>
          </a:p>
          <a:p>
            <a:r>
              <a:rPr lang="zh-CN" altLang="en-US" dirty="0" smtClean="0"/>
              <a:t>但是这里的转移会出现环，因此需要高斯消元</a:t>
            </a:r>
            <a:endParaRPr lang="en-US" altLang="zh-CN" dirty="0" smtClean="0"/>
          </a:p>
          <a:p>
            <a:r>
              <a:rPr lang="zh-CN" altLang="en-US" dirty="0"/>
              <a:t>模意义</a:t>
            </a:r>
            <a:r>
              <a:rPr lang="zh-CN" altLang="en-US" dirty="0" smtClean="0"/>
              <a:t>下的高斯消元把除法换成乘以逆元即可，其余与普通高斯消元相同</a:t>
            </a:r>
            <a:endParaRPr lang="en-US" altLang="zh-CN" dirty="0" smtClean="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27</a:t>
            </a:fld>
            <a:endParaRPr lang="zh-CN" altLang="en-US"/>
          </a:p>
        </p:txBody>
      </p:sp>
    </p:spTree>
    <p:extLst>
      <p:ext uri="{BB962C8B-B14F-4D97-AF65-F5344CB8AC3E}">
        <p14:creationId xmlns:p14="http://schemas.microsoft.com/office/powerpoint/2010/main" xmlns="" val="159396454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bzoj4501 </a:t>
            </a:r>
            <a:r>
              <a:rPr lang="zh-CN" altLang="en-US" dirty="0" smtClean="0"/>
              <a:t>旅行（简化</a:t>
            </a:r>
            <a:r>
              <a:rPr lang="en-US" altLang="zh-CN" dirty="0" smtClean="0"/>
              <a:t>+</a:t>
            </a:r>
            <a:r>
              <a:rPr lang="zh-CN" altLang="en-US" dirty="0" smtClean="0"/>
              <a:t>修改版）</a:t>
            </a:r>
            <a:endParaRPr lang="zh-CN" altLang="en-US" dirty="0"/>
          </a:p>
        </p:txBody>
      </p:sp>
      <p:sp>
        <p:nvSpPr>
          <p:cNvPr id="3" name="内容占位符 2"/>
          <p:cNvSpPr>
            <a:spLocks noGrp="1"/>
          </p:cNvSpPr>
          <p:nvPr>
            <p:ph idx="1"/>
          </p:nvPr>
        </p:nvSpPr>
        <p:spPr/>
        <p:txBody>
          <a:bodyPr/>
          <a:lstStyle/>
          <a:p>
            <a:r>
              <a:rPr lang="zh-CN" altLang="en-US" dirty="0" smtClean="0"/>
              <a:t>有一个</a:t>
            </a:r>
            <a:r>
              <a:rPr lang="en-US" altLang="zh-CN" dirty="0" smtClean="0"/>
              <a:t>n</a:t>
            </a:r>
            <a:r>
              <a:rPr lang="zh-CN" altLang="en-US" dirty="0" smtClean="0"/>
              <a:t>个点</a:t>
            </a:r>
            <a:r>
              <a:rPr lang="en-US" altLang="zh-CN" dirty="0" smtClean="0"/>
              <a:t>m</a:t>
            </a:r>
            <a:r>
              <a:rPr lang="zh-CN" altLang="en-US" dirty="0" smtClean="0"/>
              <a:t>条边的有向无环图，每条边有一个权值</a:t>
            </a:r>
            <a:endParaRPr lang="en-US" altLang="zh-CN" dirty="0" smtClean="0"/>
          </a:p>
          <a:p>
            <a:r>
              <a:rPr lang="zh-CN" altLang="en-US" dirty="0" smtClean="0"/>
              <a:t>有一个人会从</a:t>
            </a:r>
            <a:r>
              <a:rPr lang="en-US" altLang="zh-CN" dirty="0" smtClean="0"/>
              <a:t>1</a:t>
            </a:r>
            <a:r>
              <a:rPr lang="zh-CN" altLang="en-US" dirty="0" smtClean="0"/>
              <a:t>号点开始随机游走，从某个点走出去时会按照这个点的所有出边的权值加权随机决定从哪条边走出去（也就是说走每条边的概率与边的权值成正比），直到走到</a:t>
            </a:r>
            <a:r>
              <a:rPr lang="en-US" altLang="zh-CN" dirty="0" smtClean="0"/>
              <a:t>n</a:t>
            </a:r>
            <a:r>
              <a:rPr lang="zh-CN" altLang="en-US" dirty="0" smtClean="0"/>
              <a:t>号点为止</a:t>
            </a:r>
            <a:endParaRPr lang="en-US" altLang="zh-CN" dirty="0" smtClean="0"/>
          </a:p>
          <a:p>
            <a:r>
              <a:rPr lang="zh-CN" altLang="en-US" dirty="0" smtClean="0"/>
              <a:t>现在你需要删掉原图中的一些边，满足第</a:t>
            </a:r>
            <a:r>
              <a:rPr lang="en-US" altLang="zh-CN" dirty="0" err="1" smtClean="0"/>
              <a:t>i</a:t>
            </a:r>
            <a:r>
              <a:rPr lang="zh-CN" altLang="en-US" dirty="0" smtClean="0"/>
              <a:t>个点的所有出边中恰好有</a:t>
            </a:r>
            <a:r>
              <a:rPr lang="en-US" altLang="zh-CN" dirty="0" err="1" smtClean="0"/>
              <a:t>ki</a:t>
            </a:r>
            <a:r>
              <a:rPr lang="zh-CN" altLang="en-US" dirty="0" smtClean="0"/>
              <a:t>个被删去</a:t>
            </a:r>
            <a:endParaRPr lang="en-US" altLang="zh-CN" dirty="0" smtClean="0"/>
          </a:p>
          <a:p>
            <a:r>
              <a:rPr lang="zh-CN" altLang="en-US" dirty="0" smtClean="0"/>
              <a:t>最大化那个人期望走过的边数</a:t>
            </a:r>
            <a:endParaRPr lang="en-US" altLang="zh-CN" dirty="0" smtClean="0"/>
          </a:p>
          <a:p>
            <a:r>
              <a:rPr lang="en-US" altLang="zh-CN" dirty="0" smtClean="0"/>
              <a:t>n&lt;=</a:t>
            </a:r>
            <a:r>
              <a:rPr lang="en-US" altLang="zh-CN" dirty="0" smtClean="0"/>
              <a:t>100000</a:t>
            </a:r>
            <a:r>
              <a:rPr lang="zh-CN" altLang="en-US" dirty="0" smtClean="0"/>
              <a:t>，</a:t>
            </a:r>
            <a:r>
              <a:rPr lang="en-US" altLang="zh-CN" dirty="0" smtClean="0"/>
              <a:t>m&lt;=</a:t>
            </a:r>
            <a:r>
              <a:rPr lang="en-US" altLang="zh-CN" dirty="0" smtClean="0"/>
              <a:t>200000</a:t>
            </a:r>
            <a:endParaRPr lang="en-US" altLang="zh-CN" dirty="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28</a:t>
            </a:fld>
            <a:endParaRPr lang="zh-CN" altLang="en-US"/>
          </a:p>
        </p:txBody>
      </p:sp>
    </p:spTree>
    <p:extLst>
      <p:ext uri="{BB962C8B-B14F-4D97-AF65-F5344CB8AC3E}">
        <p14:creationId xmlns:p14="http://schemas.microsoft.com/office/powerpoint/2010/main" xmlns="" val="3264374802"/>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bzoj4501 </a:t>
            </a:r>
            <a:r>
              <a:rPr lang="zh-CN" altLang="en-US" dirty="0" smtClean="0"/>
              <a:t>旅行（简化</a:t>
            </a:r>
            <a:r>
              <a:rPr lang="en-US" altLang="zh-CN" dirty="0" smtClean="0"/>
              <a:t>+</a:t>
            </a:r>
            <a:r>
              <a:rPr lang="zh-CN" altLang="en-US" dirty="0" smtClean="0"/>
              <a:t>修改版）</a:t>
            </a:r>
            <a:endParaRPr lang="zh-CN" altLang="en-US" dirty="0"/>
          </a:p>
        </p:txBody>
      </p:sp>
      <p:sp>
        <p:nvSpPr>
          <p:cNvPr id="3" name="内容占位符 2"/>
          <p:cNvSpPr>
            <a:spLocks noGrp="1"/>
          </p:cNvSpPr>
          <p:nvPr>
            <p:ph idx="1"/>
          </p:nvPr>
        </p:nvSpPr>
        <p:spPr/>
        <p:txBody>
          <a:bodyPr/>
          <a:lstStyle/>
          <a:p>
            <a:r>
              <a:rPr lang="zh-CN" altLang="en-US" dirty="0" smtClean="0"/>
              <a:t>注意到给出的图是</a:t>
            </a:r>
            <a:r>
              <a:rPr lang="en-US" altLang="zh-CN" dirty="0" smtClean="0"/>
              <a:t>DAG</a:t>
            </a:r>
            <a:r>
              <a:rPr lang="zh-CN" altLang="en-US" dirty="0" smtClean="0"/>
              <a:t>，因此我们可以按拓扑序倒序计算每个点到终点的期望步数，记为</a:t>
            </a:r>
            <a:r>
              <a:rPr lang="en-US" altLang="zh-CN" dirty="0" smtClean="0"/>
              <a:t>f[</a:t>
            </a:r>
            <a:r>
              <a:rPr lang="en-US" altLang="zh-CN" dirty="0" err="1" smtClean="0"/>
              <a:t>i</a:t>
            </a:r>
            <a:r>
              <a:rPr lang="en-US" altLang="zh-CN" dirty="0" smtClean="0"/>
              <a:t>]</a:t>
            </a:r>
          </a:p>
          <a:p>
            <a:r>
              <a:rPr lang="zh-CN" altLang="en-US" dirty="0" smtClean="0"/>
              <a:t>对于每个点，我们已经知道了需要保留多少出边</a:t>
            </a:r>
            <a:endParaRPr lang="en-US" altLang="zh-CN" dirty="0" smtClean="0"/>
          </a:p>
          <a:p>
            <a:r>
              <a:rPr lang="zh-CN" altLang="en-US" dirty="0" smtClean="0"/>
              <a:t>设保留的边的权值为</a:t>
            </a:r>
            <a:r>
              <a:rPr lang="en-US" altLang="zh-CN" dirty="0" smtClean="0"/>
              <a:t>bi</a:t>
            </a:r>
            <a:r>
              <a:rPr lang="zh-CN" altLang="en-US" dirty="0" smtClean="0"/>
              <a:t>，那么最终的期望步数就是</a:t>
            </a:r>
            <a:endParaRPr lang="en-US" altLang="zh-CN" dirty="0" smtClean="0"/>
          </a:p>
          <a:p>
            <a:r>
              <a:rPr lang="zh-CN" altLang="en-US" dirty="0" smtClean="0"/>
              <a:t>显然要最大化    ，而要选出的边数是确定的，所有</a:t>
            </a:r>
            <a:r>
              <a:rPr lang="en-US" altLang="zh-CN" dirty="0" smtClean="0"/>
              <a:t>bi</a:t>
            </a:r>
            <a:r>
              <a:rPr lang="zh-CN" altLang="en-US" dirty="0" smtClean="0"/>
              <a:t>和</a:t>
            </a:r>
            <a:r>
              <a:rPr lang="en-US" altLang="zh-CN" dirty="0" smtClean="0"/>
              <a:t>f[to]</a:t>
            </a:r>
            <a:r>
              <a:rPr lang="zh-CN" altLang="en-US" dirty="0" smtClean="0"/>
              <a:t>也都已知</a:t>
            </a:r>
            <a:endParaRPr lang="en-US" altLang="zh-CN" dirty="0" smtClean="0"/>
          </a:p>
          <a:p>
            <a:r>
              <a:rPr lang="zh-CN" altLang="en-US" dirty="0" smtClean="0"/>
              <a:t>用一个</a:t>
            </a:r>
            <a:r>
              <a:rPr lang="en-US" altLang="zh-CN" dirty="0" smtClean="0"/>
              <a:t>01</a:t>
            </a:r>
            <a:r>
              <a:rPr lang="zh-CN" altLang="en-US" dirty="0" smtClean="0"/>
              <a:t>分数规划求出前面那个分式的最大值即可</a:t>
            </a:r>
            <a:endParaRPr lang="en-US" altLang="zh-CN" dirty="0" smtClean="0"/>
          </a:p>
          <a:p>
            <a:r>
              <a:rPr lang="zh-CN" altLang="en-US" dirty="0"/>
              <a:t>复杂</a:t>
            </a:r>
            <a:r>
              <a:rPr lang="zh-CN" altLang="en-US" dirty="0" smtClean="0"/>
              <a:t>度</a:t>
            </a:r>
            <a:r>
              <a:rPr lang="en-US" altLang="zh-CN" smtClean="0"/>
              <a:t>O(n+mlog^2n</a:t>
            </a:r>
            <a:r>
              <a:rPr lang="en-US" altLang="zh-CN" dirty="0" smtClean="0"/>
              <a:t>)</a:t>
            </a:r>
            <a:r>
              <a:rPr lang="zh-CN" altLang="en-US" dirty="0" smtClean="0"/>
              <a:t>（因为答案必定小于</a:t>
            </a:r>
            <a:r>
              <a:rPr lang="en-US" altLang="zh-CN" dirty="0" smtClean="0"/>
              <a:t>n</a:t>
            </a:r>
            <a:r>
              <a:rPr lang="zh-CN" altLang="en-US" dirty="0" smtClean="0"/>
              <a:t>）</a:t>
            </a:r>
            <a:endParaRPr lang="en-US" altLang="zh-CN" dirty="0" smtClean="0"/>
          </a:p>
        </p:txBody>
      </p:sp>
      <p:sp>
        <p:nvSpPr>
          <p:cNvPr id="4" name="日期占位符 3"/>
          <p:cNvSpPr>
            <a:spLocks noGrp="1"/>
          </p:cNvSpPr>
          <p:nvPr>
            <p:ph type="dt" sz="half" idx="10"/>
          </p:nvPr>
        </p:nvSpPr>
        <p:spPr/>
        <p:txBody>
          <a:bodyPr/>
          <a:lstStyle/>
          <a:p>
            <a:fld id="{BE3DDAE5-A9F5-40FA-98EA-AE29C5DEB0D6}"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29</a:t>
            </a:fld>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xmlns="" val="599121634"/>
              </p:ext>
            </p:extLst>
          </p:nvPr>
        </p:nvGraphicFramePr>
        <p:xfrm>
          <a:off x="6561940" y="2137420"/>
          <a:ext cx="952064" cy="657790"/>
        </p:xfrm>
        <a:graphic>
          <a:graphicData uri="http://schemas.openxmlformats.org/presentationml/2006/ole">
            <p:oleObj spid="_x0000_s5159" name="Equation" r:id="rId3" imgW="698400" imgH="482400" progId="">
              <p:embed/>
            </p:oleObj>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xmlns="" val="1028605898"/>
              </p:ext>
            </p:extLst>
          </p:nvPr>
        </p:nvGraphicFramePr>
        <p:xfrm>
          <a:off x="2411760" y="2639345"/>
          <a:ext cx="595055" cy="565721"/>
        </p:xfrm>
        <a:graphic>
          <a:graphicData uri="http://schemas.openxmlformats.org/presentationml/2006/ole">
            <p:oleObj spid="_x0000_s5160" name="Equation" r:id="rId4" imgW="507960" imgH="482400" progId="">
              <p:embed/>
            </p:oleObj>
          </a:graphicData>
        </a:graphic>
      </p:graphicFrame>
    </p:spTree>
    <p:extLst>
      <p:ext uri="{BB962C8B-B14F-4D97-AF65-F5344CB8AC3E}">
        <p14:creationId xmlns:p14="http://schemas.microsoft.com/office/powerpoint/2010/main" xmlns="" val="317403896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内容占位符 2"/>
          <p:cNvSpPr>
            <a:spLocks noGrp="1"/>
          </p:cNvSpPr>
          <p:nvPr>
            <p:ph idx="1"/>
          </p:nvPr>
        </p:nvSpPr>
        <p:spPr/>
        <p:txBody>
          <a:bodyPr/>
          <a:lstStyle/>
          <a:p>
            <a:r>
              <a:rPr lang="en-US" altLang="zh-CN" dirty="0" smtClean="0"/>
              <a:t>……</a:t>
            </a:r>
          </a:p>
          <a:p>
            <a:r>
              <a:rPr lang="zh-CN" altLang="en-US" dirty="0" smtClean="0"/>
              <a:t>概率与期望是一类比较特殊的题目</a:t>
            </a:r>
            <a:endParaRPr lang="en-US" altLang="zh-CN" dirty="0" smtClean="0"/>
          </a:p>
          <a:p>
            <a:r>
              <a:rPr lang="zh-CN" altLang="en-US" dirty="0" smtClean="0"/>
              <a:t>当然，作为</a:t>
            </a:r>
            <a:r>
              <a:rPr lang="en-US" altLang="zh-CN" dirty="0" smtClean="0"/>
              <a:t>OI</a:t>
            </a:r>
            <a:r>
              <a:rPr lang="zh-CN" altLang="en-US" dirty="0" smtClean="0"/>
              <a:t>知识，它们总会与其他类型的题目相同</a:t>
            </a:r>
            <a:r>
              <a:rPr lang="en-US" altLang="zh-CN" dirty="0" smtClean="0"/>
              <a:t>/</a:t>
            </a:r>
            <a:r>
              <a:rPr lang="zh-CN" altLang="en-US" dirty="0" smtClean="0"/>
              <a:t>结合</a:t>
            </a:r>
            <a:endParaRPr lang="en-US" altLang="zh-CN" dirty="0"/>
          </a:p>
          <a:p>
            <a:endParaRPr lang="en-US" altLang="zh-CN" dirty="0"/>
          </a:p>
          <a:p>
            <a:r>
              <a:rPr lang="zh-CN" altLang="en-US" strike="sngStrike" dirty="0" smtClean="0"/>
              <a:t>（时间有点紧，先这样吧）</a:t>
            </a:r>
            <a:endParaRPr lang="en-US" altLang="zh-CN" strike="sngStrike" dirty="0" smtClean="0"/>
          </a:p>
        </p:txBody>
      </p:sp>
      <p:sp>
        <p:nvSpPr>
          <p:cNvPr id="7" name="日期占位符 6"/>
          <p:cNvSpPr>
            <a:spLocks noGrp="1"/>
          </p:cNvSpPr>
          <p:nvPr>
            <p:ph type="dt" sz="half" idx="10"/>
          </p:nvPr>
        </p:nvSpPr>
        <p:spPr/>
        <p:txBody>
          <a:bodyPr/>
          <a:lstStyle/>
          <a:p>
            <a:fld id="{4B6E25E7-0D48-4261-9AA1-3A90A72B8CD2}" type="datetime1">
              <a:rPr lang="zh-CN" altLang="en-US" smtClean="0"/>
              <a:pPr/>
              <a:t>2017/7/26</a:t>
            </a:fld>
            <a:endParaRPr lang="zh-CN" altLang="en-US"/>
          </a:p>
        </p:txBody>
      </p:sp>
      <p:sp>
        <p:nvSpPr>
          <p:cNvPr id="8" name="页脚占位符 7"/>
          <p:cNvSpPr>
            <a:spLocks noGrp="1"/>
          </p:cNvSpPr>
          <p:nvPr>
            <p:ph type="ftr" sz="quarter" idx="11"/>
          </p:nvPr>
        </p:nvSpPr>
        <p:spPr/>
        <p:txBody>
          <a:bodyPr/>
          <a:lstStyle/>
          <a:p>
            <a:r>
              <a:rPr lang="zh-CN" altLang="en-US" smtClean="0"/>
              <a:t>概率与期望</a:t>
            </a:r>
            <a:endParaRPr lang="zh-CN" altLang="en-US"/>
          </a:p>
        </p:txBody>
      </p:sp>
      <p:sp>
        <p:nvSpPr>
          <p:cNvPr id="9" name="灯片编号占位符 8"/>
          <p:cNvSpPr>
            <a:spLocks noGrp="1"/>
          </p:cNvSpPr>
          <p:nvPr>
            <p:ph type="sldNum" sz="quarter" idx="12"/>
          </p:nvPr>
        </p:nvSpPr>
        <p:spPr/>
        <p:txBody>
          <a:bodyPr/>
          <a:lstStyle/>
          <a:p>
            <a:fld id="{E0F8888A-9164-4D0B-9F56-0AECB5CBF556}" type="slidenum">
              <a:rPr lang="zh-CN" altLang="en-US" smtClean="0"/>
              <a:pPr/>
              <a:t>30</a:t>
            </a:fld>
            <a:endParaRPr lang="zh-CN" altLang="en-US"/>
          </a:p>
        </p:txBody>
      </p:sp>
    </p:spTree>
    <p:extLst>
      <p:ext uri="{BB962C8B-B14F-4D97-AF65-F5344CB8AC3E}">
        <p14:creationId xmlns:p14="http://schemas.microsoft.com/office/powerpoint/2010/main" xmlns="" val="344607777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好了，结束了</a:t>
            </a:r>
            <a:endParaRPr lang="zh-CN" altLang="en-US" dirty="0"/>
          </a:p>
        </p:txBody>
      </p:sp>
      <p:sp>
        <p:nvSpPr>
          <p:cNvPr id="3" name="文本占位符 2"/>
          <p:cNvSpPr>
            <a:spLocks noGrp="1"/>
          </p:cNvSpPr>
          <p:nvPr>
            <p:ph type="body" idx="1"/>
          </p:nvPr>
        </p:nvSpPr>
        <p:spPr/>
        <p:txBody>
          <a:bodyPr/>
          <a:lstStyle/>
          <a:p>
            <a:r>
              <a:rPr lang="zh-CN" altLang="en-US" dirty="0" smtClean="0"/>
              <a:t>感觉还是不错的嘛</a:t>
            </a:r>
            <a:endParaRPr lang="zh-CN" altLang="en-US" dirty="0"/>
          </a:p>
        </p:txBody>
      </p:sp>
      <p:sp>
        <p:nvSpPr>
          <p:cNvPr id="4" name="日期占位符 3"/>
          <p:cNvSpPr>
            <a:spLocks noGrp="1"/>
          </p:cNvSpPr>
          <p:nvPr>
            <p:ph type="dt" sz="half" idx="10"/>
          </p:nvPr>
        </p:nvSpPr>
        <p:spPr/>
        <p:txBody>
          <a:bodyPr/>
          <a:lstStyle/>
          <a:p>
            <a:fld id="{EA17F7FE-703C-4D84-B1C3-4323611D14CF}" type="datetime1">
              <a:rPr lang="zh-CN" altLang="en-US" smtClean="0"/>
              <a:pPr/>
              <a:t>2017/7/26</a:t>
            </a:fld>
            <a:endParaRPr lang="zh-CN" altLang="en-US"/>
          </a:p>
        </p:txBody>
      </p:sp>
      <p:sp>
        <p:nvSpPr>
          <p:cNvPr id="5" name="页脚占位符 4"/>
          <p:cNvSpPr>
            <a:spLocks noGrp="1"/>
          </p:cNvSpPr>
          <p:nvPr>
            <p:ph type="ftr" sz="quarter" idx="11"/>
          </p:nvPr>
        </p:nvSpPr>
        <p:spPr/>
        <p:txBody>
          <a:bodyPr/>
          <a:lstStyle/>
          <a:p>
            <a:r>
              <a:rPr lang="zh-CN" altLang="en-US" smtClean="0"/>
              <a:t>概率与期望</a:t>
            </a:r>
            <a:endParaRPr lang="zh-CN" altLang="en-US"/>
          </a:p>
        </p:txBody>
      </p:sp>
      <p:sp>
        <p:nvSpPr>
          <p:cNvPr id="6" name="灯片编号占位符 5"/>
          <p:cNvSpPr>
            <a:spLocks noGrp="1"/>
          </p:cNvSpPr>
          <p:nvPr>
            <p:ph type="sldNum" sz="quarter" idx="12"/>
          </p:nvPr>
        </p:nvSpPr>
        <p:spPr/>
        <p:txBody>
          <a:bodyPr/>
          <a:lstStyle/>
          <a:p>
            <a:fld id="{E0F8888A-9164-4D0B-9F56-0AECB5CBF556}" type="slidenum">
              <a:rPr lang="zh-CN" altLang="en-US" smtClean="0"/>
              <a:pPr/>
              <a:t>31</a:t>
            </a:fld>
            <a:endParaRPr lang="zh-CN" altLang="en-US"/>
          </a:p>
        </p:txBody>
      </p:sp>
    </p:spTree>
  </p:cSld>
  <p:clrMapOvr>
    <a:masterClrMapping/>
  </p:clrMapOvr>
  <p:transition>
    <p:fade thruBlk="1"/>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TotalTime>
  <Words>3080</Words>
  <Application>Microsoft Office PowerPoint</Application>
  <PresentationFormat>全屏显示(16:10)</PresentationFormat>
  <Paragraphs>305</Paragraphs>
  <Slides>31</Slides>
  <Notes>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33" baseType="lpstr">
      <vt:lpstr>Office 主题</vt:lpstr>
      <vt:lpstr>Equation</vt:lpstr>
      <vt:lpstr>Probabilities and Expectations</vt:lpstr>
      <vt:lpstr>先把昨天的坑填上</vt:lpstr>
      <vt:lpstr>为什么要讲这个</vt:lpstr>
      <vt:lpstr>你要讲啥</vt:lpstr>
      <vt:lpstr>基本工具和特征</vt:lpstr>
      <vt:lpstr>来道水题热热身</vt:lpstr>
      <vt:lpstr>tyvj1952 Easy</vt:lpstr>
      <vt:lpstr>tyvj1952 Easy</vt:lpstr>
      <vt:lpstr>bzoj4318 OSU!</vt:lpstr>
      <vt:lpstr>水题的增强版(bzoj1426)</vt:lpstr>
      <vt:lpstr>水题的增强版</vt:lpstr>
      <vt:lpstr>水题的增强版</vt:lpstr>
      <vt:lpstr>水题的增强版</vt:lpstr>
      <vt:lpstr>水题的增强版</vt:lpstr>
      <vt:lpstr>水题的增强版</vt:lpstr>
      <vt:lpstr>一道我们出的水题</vt:lpstr>
      <vt:lpstr>一道我们出的水题</vt:lpstr>
      <vt:lpstr>水题的增强版</vt:lpstr>
      <vt:lpstr>COGS1487 麻球繁衍</vt:lpstr>
      <vt:lpstr>CF464D World of Darkraft-2</vt:lpstr>
      <vt:lpstr>CF464D World of Darkraft-2</vt:lpstr>
      <vt:lpstr>CF464D World of Darkraft-2</vt:lpstr>
      <vt:lpstr>CF696B Puzzles</vt:lpstr>
      <vt:lpstr>CF696B Puzzles</vt:lpstr>
      <vt:lpstr>HNOI2008 GT考试</vt:lpstr>
      <vt:lpstr>大家看好我要开始口胡了</vt:lpstr>
      <vt:lpstr>继续口胡</vt:lpstr>
      <vt:lpstr>bzoj4501 旅行（简化+修改版）</vt:lpstr>
      <vt:lpstr>bzoj4501 旅行（简化+修改版）</vt:lpstr>
      <vt:lpstr>总结</vt:lpstr>
      <vt:lpstr>好了，结束了</vt:lpstr>
    </vt:vector>
  </TitlesOfParts>
  <Company>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hzoi</dc:creator>
  <cp:lastModifiedBy>Administrator</cp:lastModifiedBy>
  <cp:revision>435</cp:revision>
  <dcterms:created xsi:type="dcterms:W3CDTF">2017-04-10T03:53:10Z</dcterms:created>
  <dcterms:modified xsi:type="dcterms:W3CDTF">2017-07-26T03:48:31Z</dcterms:modified>
</cp:coreProperties>
</file>