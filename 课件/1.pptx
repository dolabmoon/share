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7"/>
  </p:notesMasterIdLst>
  <p:sldIdLst>
    <p:sldId id="256" r:id="rId3"/>
    <p:sldId id="258" r:id="rId4"/>
    <p:sldId id="257" r:id="rId5"/>
    <p:sldId id="260" r:id="rId6"/>
    <p:sldId id="261" r:id="rId7"/>
    <p:sldId id="262" r:id="rId8"/>
    <p:sldId id="263" r:id="rId9"/>
    <p:sldId id="294" r:id="rId10"/>
    <p:sldId id="295"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80" r:id="rId27"/>
    <p:sldId id="279"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6" r:id="rId42"/>
    <p:sldId id="297" r:id="rId43"/>
    <p:sldId id="298" r:id="rId44"/>
    <p:sldId id="299" r:id="rId45"/>
    <p:sldId id="300" r:id="rId46"/>
    <p:sldId id="301" r:id="rId47"/>
    <p:sldId id="302" r:id="rId48"/>
    <p:sldId id="303" r:id="rId49"/>
    <p:sldId id="304" r:id="rId50"/>
    <p:sldId id="305" r:id="rId51"/>
    <p:sldId id="338" r:id="rId52"/>
    <p:sldId id="339" r:id="rId53"/>
    <p:sldId id="340" r:id="rId54"/>
    <p:sldId id="259" r:id="rId55"/>
    <p:sldId id="306" r:id="rId56"/>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294" autoAdjust="0"/>
    <p:restoredTop sz="94660"/>
  </p:normalViewPr>
  <p:slideViewPr>
    <p:cSldViewPr>
      <p:cViewPr>
        <p:scale>
          <a:sx n="66" d="100"/>
          <a:sy n="66" d="100"/>
        </p:scale>
        <p:origin x="-960" y="-9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0" Type="http://schemas.openxmlformats.org/officeDocument/2006/relationships/tableStyles" Target="tableStyles.xml"/><Relationship Id="rId6" Type="http://schemas.openxmlformats.org/officeDocument/2006/relationships/slide" Target="slides/slide4.xml"/><Relationship Id="rId59" Type="http://schemas.openxmlformats.org/officeDocument/2006/relationships/viewProps" Target="viewProps.xml"/><Relationship Id="rId58" Type="http://schemas.openxmlformats.org/officeDocument/2006/relationships/presProps" Target="presProps.xml"/><Relationship Id="rId57" Type="http://schemas.openxmlformats.org/officeDocument/2006/relationships/notesMaster" Target="notesMasters/notesMaster1.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8887EB1-0778-4960-B1DB-F4A9970E06F8}"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CDD5BC8-F5C7-4D2E-BA64-D4FF411E513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8" name="标题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zh-CN" altLang="en-US" smtClean="0"/>
              <a:t>单击此处编辑母版标题样式</a:t>
            </a:r>
            <a:endParaRPr kumimoji="0" lang="en-US"/>
          </a:p>
        </p:txBody>
      </p:sp>
      <p:sp>
        <p:nvSpPr>
          <p:cNvPr id="9" name="副标题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smtClean="0"/>
              <a:t>单击此处编辑母版副标题样式</a:t>
            </a:r>
            <a:endParaRPr kumimoji="0" lang="en-US"/>
          </a:p>
        </p:txBody>
      </p:sp>
      <p:sp>
        <p:nvSpPr>
          <p:cNvPr id="28" name="日期占位符 27"/>
          <p:cNvSpPr>
            <a:spLocks noGrp="1"/>
          </p:cNvSpPr>
          <p:nvPr>
            <p:ph type="dt" sz="half" idx="10"/>
          </p:nvPr>
        </p:nvSpPr>
        <p:spPr>
          <a:xfrm>
            <a:off x="6400800" y="6355080"/>
            <a:ext cx="2286000" cy="365760"/>
          </a:xfrm>
        </p:spPr>
        <p:txBody>
          <a:bodyPr/>
          <a:lstStyle>
            <a:lvl1pPr>
              <a:defRPr sz="1400"/>
            </a:lvl1pPr>
          </a:lstStyle>
          <a:p>
            <a:fld id="{530820CF-B880-4189-942D-D702A7CBA730}" type="datetimeFigureOut">
              <a:rPr lang="zh-CN" altLang="en-US" smtClean="0"/>
            </a:fld>
            <a:endParaRPr lang="zh-CN" altLang="en-US"/>
          </a:p>
        </p:txBody>
      </p:sp>
      <p:sp>
        <p:nvSpPr>
          <p:cNvPr id="17" name="页脚占位符 16"/>
          <p:cNvSpPr>
            <a:spLocks noGrp="1"/>
          </p:cNvSpPr>
          <p:nvPr>
            <p:ph type="ftr" sz="quarter" idx="11"/>
          </p:nvPr>
        </p:nvSpPr>
        <p:spPr>
          <a:xfrm>
            <a:off x="2898648" y="6355080"/>
            <a:ext cx="3474720" cy="365760"/>
          </a:xfrm>
        </p:spPr>
        <p:txBody>
          <a:bodyPr/>
          <a:lstStyle/>
          <a:p>
            <a:endParaRPr lang="zh-CN" altLang="en-US"/>
          </a:p>
        </p:txBody>
      </p:sp>
      <p:sp>
        <p:nvSpPr>
          <p:cNvPr id="29" name="灯片编号占位符 28"/>
          <p:cNvSpPr>
            <a:spLocks noGrp="1"/>
          </p:cNvSpPr>
          <p:nvPr>
            <p:ph type="sldNum" sz="quarter" idx="12"/>
          </p:nvPr>
        </p:nvSpPr>
        <p:spPr>
          <a:xfrm>
            <a:off x="1216152" y="6355080"/>
            <a:ext cx="1219200" cy="365760"/>
          </a:xfrm>
        </p:spPr>
        <p:txBody>
          <a:bodyPr/>
          <a:lstStyle/>
          <a:p>
            <a:fld id="{0C913308-F349-4B6D-A68A-DD1791B4A57B}" type="slidenum">
              <a:rPr lang="zh-CN" altLang="en-US" smtClean="0"/>
            </a:fld>
            <a:endParaRPr lang="zh-CN" altLang="en-US"/>
          </a:p>
        </p:txBody>
      </p:sp>
      <p:sp>
        <p:nvSpPr>
          <p:cNvPr id="21" name="矩形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3" name="矩形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矩形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2" name="矩形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8" name="内容占位符 7"/>
          <p:cNvSpPr>
            <a:spLocks noGrp="1"/>
          </p:cNvSpPr>
          <p:nvPr>
            <p:ph sz="quarter" idx="1"/>
          </p:nvPr>
        </p:nvSpPr>
        <p:spPr>
          <a:xfrm>
            <a:off x="457200" y="1219200"/>
            <a:ext cx="8229600" cy="4937760"/>
          </a:xfrm>
        </p:spPr>
        <p:txBody>
          <a:body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smtClean="0"/>
              <a:t>单击此处编辑母版文本样式</a:t>
            </a:r>
            <a:endParaRPr kumimoji="0" lang="zh-CN" altLang="en-US" smtClean="0"/>
          </a:p>
        </p:txBody>
      </p:sp>
      <p:sp>
        <p:nvSpPr>
          <p:cNvPr id="4" name="日期占位符 3"/>
          <p:cNvSpPr>
            <a:spLocks noGrp="1"/>
          </p:cNvSpPr>
          <p:nvPr>
            <p:ph type="dt" sz="half" idx="10"/>
          </p:nvPr>
        </p:nvSpPr>
        <p:spPr>
          <a:xfrm>
            <a:off x="6400800" y="6355080"/>
            <a:ext cx="2286000" cy="365760"/>
          </a:xfrm>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a:xfrm>
            <a:off x="2898648" y="6355080"/>
            <a:ext cx="3474720" cy="365760"/>
          </a:xfrm>
        </p:spPr>
        <p:txBody>
          <a:bodyPr/>
          <a:lstStyle/>
          <a:p>
            <a:endParaRPr lang="zh-CN" altLang="en-US"/>
          </a:p>
        </p:txBody>
      </p:sp>
      <p:sp>
        <p:nvSpPr>
          <p:cNvPr id="6" name="灯片编号占位符 5"/>
          <p:cNvSpPr>
            <a:spLocks noGrp="1"/>
          </p:cNvSpPr>
          <p:nvPr>
            <p:ph type="sldNum" sz="quarter" idx="12"/>
          </p:nvPr>
        </p:nvSpPr>
        <p:spPr>
          <a:xfrm>
            <a:off x="1069848" y="6355080"/>
            <a:ext cx="1520952" cy="365760"/>
          </a:xfrm>
        </p:spPr>
        <p:txBody>
          <a:bodyPr/>
          <a:lstStyle/>
          <a:p>
            <a:fld id="{0C913308-F349-4B6D-A68A-DD1791B4A57B}" type="slidenum">
              <a:rPr lang="zh-CN" altLang="en-US" smtClean="0"/>
            </a:fld>
            <a:endParaRPr lang="zh-CN" altLang="en-US"/>
          </a:p>
        </p:txBody>
      </p:sp>
      <p:sp>
        <p:nvSpPr>
          <p:cNvPr id="7" name="矩形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矩形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14400"/>
          </a:xfrm>
        </p:spPr>
        <p:txBody>
          <a:bodyPr/>
          <a:lstStyle/>
          <a:p>
            <a:r>
              <a:rPr kumimoji="0" lang="zh-CN" altLang="en-US" smtClean="0"/>
              <a:t>单击此处编辑母版标题样式</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9" name="内容占位符 8"/>
          <p:cNvSpPr>
            <a:spLocks noGrp="1"/>
          </p:cNvSpPr>
          <p:nvPr>
            <p:ph sz="quarter" idx="1"/>
          </p:nvPr>
        </p:nvSpPr>
        <p:spPr>
          <a:xfrm>
            <a:off x="457200" y="1219200"/>
            <a:ext cx="4041648" cy="4937760"/>
          </a:xfrm>
        </p:spPr>
        <p:txBody>
          <a:body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11" name="内容占位符 10"/>
          <p:cNvSpPr>
            <a:spLocks noGrp="1"/>
          </p:cNvSpPr>
          <p:nvPr>
            <p:ph sz="quarter" idx="2"/>
          </p:nvPr>
        </p:nvSpPr>
        <p:spPr>
          <a:xfrm>
            <a:off x="4632198" y="1216152"/>
            <a:ext cx="4041648" cy="4937760"/>
          </a:xfrm>
        </p:spPr>
        <p:txBody>
          <a:body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14400"/>
          </a:xfrm>
        </p:spPr>
        <p:txBody>
          <a:bodyPr anchor="ctr"/>
          <a:lstStyle>
            <a:lvl1pPr>
              <a:defRPr/>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endParaRPr kumimoji="0" lang="zh-CN" altLang="en-US" smtClean="0"/>
          </a:p>
        </p:txBody>
      </p:sp>
      <p:sp>
        <p:nvSpPr>
          <p:cNvPr id="4" name="文本占位符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endParaRPr kumimoji="0" lang="zh-CN" altLang="en-US" smtClean="0"/>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11" name="内容占位符 10"/>
          <p:cNvSpPr>
            <a:spLocks noGrp="1"/>
          </p:cNvSpPr>
          <p:nvPr>
            <p:ph sz="quarter" idx="2"/>
          </p:nvPr>
        </p:nvSpPr>
        <p:spPr>
          <a:xfrm>
            <a:off x="457200" y="2133600"/>
            <a:ext cx="4038600" cy="4038600"/>
          </a:xfrm>
        </p:spPr>
        <p:txBody>
          <a:body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13" name="内容占位符 12"/>
          <p:cNvSpPr>
            <a:spLocks noGrp="1"/>
          </p:cNvSpPr>
          <p:nvPr>
            <p:ph sz="quarter" idx="4"/>
          </p:nvPr>
        </p:nvSpPr>
        <p:spPr>
          <a:xfrm>
            <a:off x="4648200" y="2133600"/>
            <a:ext cx="4038600" cy="4038600"/>
          </a:xfrm>
        </p:spPr>
        <p:txBody>
          <a:body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14400"/>
          </a:xfrm>
        </p:spPr>
        <p:txBody>
          <a:bodyPr/>
          <a:lstStyle/>
          <a:p>
            <a:r>
              <a:rPr kumimoji="0" lang="zh-CN" altLang="en-US" smtClean="0"/>
              <a:t>单击此处编辑母版标题样式</a:t>
            </a:r>
            <a:endParaRPr kumimoji="0" 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6" name="等腰三角形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5" name="直接连接符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6" name="等腰三角形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zh-CN" altLang="en-US" smtClean="0"/>
              <a:t>单击此处编辑母版标题样式</a:t>
            </a:r>
            <a:endParaRPr kumimoji="0" lang="en-US"/>
          </a:p>
        </p:txBody>
      </p:sp>
      <p:sp>
        <p:nvSpPr>
          <p:cNvPr id="3" name="文本占位符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zh-CN" altLang="en-US" smtClean="0"/>
              <a:t>单击此处编辑母版文本样式</a:t>
            </a:r>
            <a:endParaRPr kumimoji="0" lang="zh-CN" altLang="en-US" smtClean="0"/>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8" name="直接连接符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直接连接符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等腰三角形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内容占位符 11"/>
          <p:cNvSpPr>
            <a:spLocks noGrp="1"/>
          </p:cNvSpPr>
          <p:nvPr>
            <p:ph sz="quarter" idx="1"/>
          </p:nvPr>
        </p:nvSpPr>
        <p:spPr>
          <a:xfrm>
            <a:off x="304800" y="304800"/>
            <a:ext cx="5715000" cy="5715000"/>
          </a:xfrm>
        </p:spPr>
        <p:txBody>
          <a:body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zh-CN" altLang="en-US" smtClean="0"/>
              <a:t>单击此处编辑母版标题样式</a:t>
            </a:r>
            <a:endParaRPr kumimoji="0" lang="en-US"/>
          </a:p>
        </p:txBody>
      </p:sp>
      <p:sp>
        <p:nvSpPr>
          <p:cNvPr id="3" name="图片占位符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zh-CN" altLang="en-US" smtClean="0"/>
              <a:t>单击图标添加图片</a:t>
            </a:r>
            <a:endParaRPr kumimoji="0" lang="en-US" dirty="0"/>
          </a:p>
        </p:txBody>
      </p:sp>
      <p:sp>
        <p:nvSpPr>
          <p:cNvPr id="4" name="文本占位符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zh-CN" altLang="en-US" smtClean="0"/>
              <a:t>单击此处编辑母版文本样式</a:t>
            </a:r>
            <a:endParaRPr kumimoji="0" lang="zh-CN" altLang="en-US" smtClean="0"/>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8" name="直接连接符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等腰三角形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矩形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274638"/>
            <a:ext cx="6019800" cy="5851525"/>
          </a:xfrm>
        </p:spPr>
        <p:txBody>
          <a:bodyPr vert="eaVert"/>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7" name="直接连接符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8" name="等腰三角形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直接连接符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5000">
              <a:schemeClr val="accent2">
                <a:lumMod val="75000"/>
                <a:alpha val="54000"/>
              </a:schemeClr>
            </a:gs>
            <a:gs pos="100000">
              <a:schemeClr val="bg1">
                <a:tint val="97000"/>
                <a:satMod val="220000"/>
              </a:schemeClr>
            </a:gs>
          </a:gsLst>
          <a:lin ang="8400000" scaled="0"/>
          <a:tileRect/>
        </a:gradFill>
        <a:effectLst/>
      </p:bgPr>
    </p:bg>
    <p:spTree>
      <p:nvGrpSpPr>
        <p:cNvPr id="1" name=""/>
        <p:cNvGrpSpPr/>
        <p:nvPr/>
      </p:nvGrpSpPr>
      <p:grpSpPr>
        <a:xfrm>
          <a:off x="0" y="0"/>
          <a:ext cx="0" cy="0"/>
          <a:chOff x="0" y="0"/>
          <a:chExt cx="0" cy="0"/>
        </a:xfrm>
      </p:grpSpPr>
      <p:sp>
        <p:nvSpPr>
          <p:cNvPr id="22" name="标题占位符 21"/>
          <p:cNvSpPr>
            <a:spLocks noGrp="1"/>
          </p:cNvSpPr>
          <p:nvPr>
            <p:ph type="title"/>
          </p:nvPr>
        </p:nvSpPr>
        <p:spPr>
          <a:xfrm>
            <a:off x="457200" y="152400"/>
            <a:ext cx="8229600" cy="990600"/>
          </a:xfrm>
          <a:prstGeom prst="rect">
            <a:avLst/>
          </a:prstGeom>
        </p:spPr>
        <p:txBody>
          <a:bodyPr vert="horz" anchor="b" anchorCtr="0">
            <a:normAutofit/>
          </a:bodyPr>
          <a:lstStyle/>
          <a:p>
            <a:r>
              <a:rPr kumimoji="0" lang="zh-CN" altLang="en-US" smtClean="0"/>
              <a:t>单击此处编辑母版标题样式</a:t>
            </a:r>
            <a:endParaRPr kumimoji="0" lang="en-US"/>
          </a:p>
        </p:txBody>
      </p:sp>
      <p:sp>
        <p:nvSpPr>
          <p:cNvPr id="13" name="文本占位符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zh-CN" altLang="en-US" smtClean="0"/>
              <a:t>单击此处编辑母版文本样式</a:t>
            </a:r>
            <a:endParaRPr kumimoji="0" lang="zh-CN" altLang="en-US" smtClean="0"/>
          </a:p>
          <a:p>
            <a:pPr lvl="1" eaLnBrk="1" latinLnBrk="0" hangingPunct="1"/>
            <a:r>
              <a:rPr kumimoji="0" lang="zh-CN" altLang="en-US" smtClean="0"/>
              <a:t>第二级</a:t>
            </a:r>
            <a:endParaRPr kumimoji="0" lang="zh-CN" altLang="en-US" smtClean="0"/>
          </a:p>
          <a:p>
            <a:pPr lvl="2" eaLnBrk="1" latinLnBrk="0" hangingPunct="1"/>
            <a:r>
              <a:rPr kumimoji="0" lang="zh-CN" altLang="en-US" smtClean="0"/>
              <a:t>第三级</a:t>
            </a:r>
            <a:endParaRPr kumimoji="0" lang="zh-CN" altLang="en-US" smtClean="0"/>
          </a:p>
          <a:p>
            <a:pPr lvl="3" eaLnBrk="1" latinLnBrk="0" hangingPunct="1"/>
            <a:r>
              <a:rPr kumimoji="0" lang="zh-CN" altLang="en-US" smtClean="0"/>
              <a:t>第四级</a:t>
            </a:r>
            <a:endParaRPr kumimoji="0" lang="zh-CN" altLang="en-US" smtClean="0"/>
          </a:p>
          <a:p>
            <a:pPr lvl="4" eaLnBrk="1" latinLnBrk="0" hangingPunct="1"/>
            <a:r>
              <a:rPr kumimoji="0" lang="zh-CN" altLang="en-US" smtClean="0"/>
              <a:t>第五级</a:t>
            </a:r>
            <a:endParaRPr kumimoji="0" lang="en-US"/>
          </a:p>
        </p:txBody>
      </p:sp>
      <p:sp>
        <p:nvSpPr>
          <p:cNvPr id="14" name="日期占位符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530820CF-B880-4189-942D-D702A7CBA730}" type="datetimeFigureOut">
              <a:rPr lang="zh-CN" altLang="en-US" smtClean="0"/>
            </a:fld>
            <a:endParaRPr lang="zh-CN" altLang="en-US"/>
          </a:p>
        </p:txBody>
      </p:sp>
      <p:sp>
        <p:nvSpPr>
          <p:cNvPr id="3" name="页脚占位符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zh-CN" altLang="en-US"/>
          </a:p>
        </p:txBody>
      </p:sp>
      <p:sp>
        <p:nvSpPr>
          <p:cNvPr id="23" name="灯片编号占位符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0C913308-F349-4B6D-A68A-DD1791B4A57B}" type="slidenum">
              <a:rPr lang="zh-CN" altLang="en-US" smtClean="0"/>
            </a:fld>
            <a:endParaRPr lang="zh-CN" altLang="en-US"/>
          </a:p>
        </p:txBody>
      </p:sp>
      <p:sp>
        <p:nvSpPr>
          <p:cNvPr id="28" name="直接连接符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29" name="直接连接符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等腰三角形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panose="05040102010807070707"/>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panose="05040102010807070707"/>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panose="05040102010807070707"/>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panose="05000000000000000000"/>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panose="05000000000000000000"/>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动态规划优化</a:t>
            </a:r>
            <a:endParaRPr lang="zh-CN" altLang="en-US" dirty="0"/>
          </a:p>
        </p:txBody>
      </p:sp>
      <p:sp>
        <p:nvSpPr>
          <p:cNvPr id="3" name="副标题 2"/>
          <p:cNvSpPr>
            <a:spLocks noGrp="1"/>
          </p:cNvSpPr>
          <p:nvPr>
            <p:ph type="subTitle" idx="1"/>
          </p:nvPr>
        </p:nvSpPr>
        <p:spPr/>
        <p:txBody>
          <a:bodyPr/>
          <a:lstStyle/>
          <a:p>
            <a:r>
              <a:rPr lang="zh-CN" altLang="en-US" dirty="0" smtClean="0"/>
              <a:t>衡水中学   刘润达</a:t>
            </a:r>
            <a:endParaRPr lang="zh-CN" alt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自我介绍</a:t>
            </a:r>
            <a:endParaRPr lang="zh-CN" altLang="en-US" dirty="0"/>
          </a:p>
        </p:txBody>
      </p:sp>
      <p:sp>
        <p:nvSpPr>
          <p:cNvPr id="3" name="内容占位符 2"/>
          <p:cNvSpPr>
            <a:spLocks noGrp="1"/>
          </p:cNvSpPr>
          <p:nvPr>
            <p:ph sz="quarter" idx="1"/>
          </p:nvPr>
        </p:nvSpPr>
        <p:spPr/>
        <p:txBody>
          <a:bodyPr/>
          <a:lstStyle/>
          <a:p>
            <a:r>
              <a:rPr lang="en-US" altLang="zh-CN" dirty="0" smtClean="0"/>
              <a:t>NOIP2016 585</a:t>
            </a:r>
            <a:r>
              <a:rPr lang="zh-CN" altLang="en-US" dirty="0" smtClean="0"/>
              <a:t> </a:t>
            </a:r>
            <a:r>
              <a:rPr lang="en-US" altLang="zh-CN" dirty="0" err="1" smtClean="0"/>
              <a:t>pts,HE</a:t>
            </a:r>
            <a:r>
              <a:rPr lang="en-US" altLang="zh-CN" dirty="0" smtClean="0"/>
              <a:t> rank 1</a:t>
            </a:r>
            <a:endParaRPr lang="en-US" altLang="zh-CN" dirty="0" smtClean="0"/>
          </a:p>
          <a:p>
            <a:r>
              <a:rPr lang="en-US" altLang="zh-CN" dirty="0" smtClean="0"/>
              <a:t>WC2017 Ag</a:t>
            </a:r>
            <a:endParaRPr lang="en-US" altLang="zh-CN" dirty="0" smtClean="0"/>
          </a:p>
          <a:p>
            <a:r>
              <a:rPr lang="en-US" altLang="zh-CN" dirty="0" smtClean="0"/>
              <a:t>THUWC2017 </a:t>
            </a:r>
            <a:r>
              <a:rPr lang="zh-CN" altLang="en-US" dirty="0" smtClean="0"/>
              <a:t>一等奖</a:t>
            </a:r>
            <a:endParaRPr lang="en-US" altLang="zh-CN" dirty="0" smtClean="0"/>
          </a:p>
          <a:p>
            <a:r>
              <a:rPr lang="en-US" altLang="zh-CN" dirty="0" smtClean="0"/>
              <a:t>CTSC2017 Au</a:t>
            </a:r>
            <a:endParaRPr lang="en-US" altLang="zh-CN" dirty="0" smtClean="0"/>
          </a:p>
          <a:p>
            <a:r>
              <a:rPr lang="en-US" altLang="zh-CN" dirty="0" smtClean="0"/>
              <a:t>APIO2017</a:t>
            </a:r>
            <a:r>
              <a:rPr lang="zh-CN" altLang="en-US" dirty="0" smtClean="0"/>
              <a:t> </a:t>
            </a:r>
            <a:r>
              <a:rPr lang="en-US" altLang="zh-CN" dirty="0" smtClean="0"/>
              <a:t>Au</a:t>
            </a:r>
            <a:endParaRPr lang="en-US" altLang="zh-CN" dirty="0" smtClean="0"/>
          </a:p>
          <a:p>
            <a:r>
              <a:rPr lang="en-US" altLang="zh-CN" dirty="0" smtClean="0"/>
              <a:t>QQ:     1790865014</a:t>
            </a:r>
            <a:endParaRPr lang="en-US" altLang="zh-CN" dirty="0" smtClean="0"/>
          </a:p>
          <a:p>
            <a:r>
              <a:rPr lang="en-US" altLang="zh-CN" dirty="0" smtClean="0"/>
              <a:t>Email:</a:t>
            </a:r>
            <a:r>
              <a:rPr lang="en-US" altLang="zh-CN" dirty="0" smtClean="0">
                <a:solidFill>
                  <a:srgbClr val="00B0F0"/>
                </a:solidFill>
              </a:rPr>
              <a:t> </a:t>
            </a:r>
            <a:r>
              <a:rPr lang="en-US" altLang="zh-CN" dirty="0" smtClean="0">
                <a:solidFill>
                  <a:schemeClr val="accent2">
                    <a:lumMod val="75000"/>
                  </a:schemeClr>
                </a:solidFill>
              </a:rPr>
              <a:t>1790865014@qq.com</a:t>
            </a:r>
            <a:endParaRPr lang="en-US" altLang="zh-CN" dirty="0" smtClean="0">
              <a:solidFill>
                <a:schemeClr val="accent2">
                  <a:lumMod val="75000"/>
                </a:schemeClr>
              </a:solidFill>
            </a:endParaRPr>
          </a:p>
          <a:p>
            <a:r>
              <a:rPr lang="en-US" altLang="zh-CN" dirty="0" smtClean="0"/>
              <a:t>Blog: </a:t>
            </a:r>
            <a:r>
              <a:rPr lang="en-US" altLang="zh-CN" u="sng" dirty="0" smtClean="0">
                <a:solidFill>
                  <a:schemeClr val="accent2">
                    <a:lumMod val="75000"/>
                  </a:schemeClr>
                </a:solidFill>
              </a:rPr>
              <a:t>www.cnblogs.com/liu-runda/</a:t>
            </a:r>
            <a:endParaRPr lang="en-US" altLang="zh-CN" u="sng" dirty="0" smtClean="0">
              <a:solidFill>
                <a:schemeClr val="accent2">
                  <a:lumMod val="75000"/>
                </a:schemeClr>
              </a:solidFill>
            </a:endParaRPr>
          </a:p>
          <a:p>
            <a:r>
              <a:rPr lang="zh-CN" altLang="en-US" smtClean="0"/>
              <a:t>其实这</a:t>
            </a:r>
            <a:r>
              <a:rPr lang="zh-CN" altLang="en-US" dirty="0" smtClean="0"/>
              <a:t>博客几万年也不更新一次</a:t>
            </a:r>
            <a:r>
              <a:rPr lang="en-US" altLang="zh-CN" dirty="0" smtClean="0"/>
              <a:t>.</a:t>
            </a:r>
            <a:endParaRPr lang="en-US" altLang="zh-CN"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今天讲的内容</a:t>
            </a:r>
            <a:endParaRPr lang="zh-CN" altLang="en-US" dirty="0"/>
          </a:p>
        </p:txBody>
      </p:sp>
      <p:sp>
        <p:nvSpPr>
          <p:cNvPr id="3" name="内容占位符 2"/>
          <p:cNvSpPr>
            <a:spLocks noGrp="1"/>
          </p:cNvSpPr>
          <p:nvPr>
            <p:ph sz="quarter" idx="1"/>
          </p:nvPr>
        </p:nvSpPr>
        <p:spPr/>
        <p:txBody>
          <a:bodyPr/>
          <a:lstStyle/>
          <a:p>
            <a:pPr marL="571500" indent="-571500">
              <a:buFont typeface="+mj-lt"/>
              <a:buAutoNum type="romanUcPeriod"/>
            </a:pPr>
            <a:r>
              <a:rPr lang="zh-CN" altLang="en-US" sz="2400" dirty="0" smtClean="0"/>
              <a:t>动态规划优化的一般思路</a:t>
            </a:r>
            <a:endParaRPr lang="en-US" altLang="zh-CN" sz="2400" dirty="0" smtClean="0"/>
          </a:p>
          <a:p>
            <a:pPr marL="571500" indent="-571500">
              <a:buFont typeface="+mj-lt"/>
              <a:buAutoNum type="romanUcPeriod"/>
            </a:pPr>
            <a:r>
              <a:rPr lang="zh-CN" altLang="en-US" sz="2400" dirty="0" smtClean="0"/>
              <a:t>线段树优化动态规划</a:t>
            </a:r>
            <a:endParaRPr lang="en-US" altLang="zh-CN" sz="2400" dirty="0" smtClean="0"/>
          </a:p>
          <a:p>
            <a:pPr marL="571500" indent="-571500">
              <a:buFont typeface="+mj-lt"/>
              <a:buAutoNum type="romanUcPeriod"/>
            </a:pPr>
            <a:r>
              <a:rPr lang="zh-CN" altLang="en-US" sz="2400" dirty="0" smtClean="0"/>
              <a:t>树状数组优化动态规划</a:t>
            </a:r>
            <a:endParaRPr lang="en-US" altLang="zh-CN" sz="2400" dirty="0" smtClean="0"/>
          </a:p>
          <a:p>
            <a:pPr marL="571500" indent="-571500">
              <a:buFont typeface="+mj-lt"/>
              <a:buAutoNum type="romanUcPeriod"/>
            </a:pPr>
            <a:r>
              <a:rPr lang="zh-CN" altLang="en-US" sz="2400" dirty="0" smtClean="0"/>
              <a:t>单调队列优化动态规划</a:t>
            </a:r>
            <a:endParaRPr lang="en-US" altLang="zh-CN" sz="2400" dirty="0" smtClean="0"/>
          </a:p>
          <a:p>
            <a:pPr marL="571500" indent="-571500">
              <a:buFont typeface="+mj-lt"/>
              <a:buAutoNum type="romanUcPeriod"/>
            </a:pPr>
            <a:r>
              <a:rPr lang="zh-CN" altLang="en-US" sz="2400" dirty="0" smtClean="0"/>
              <a:t>斜率优化动态规划</a:t>
            </a:r>
            <a:endParaRPr lang="en-US" altLang="zh-CN" sz="2400" dirty="0" smtClean="0"/>
          </a:p>
          <a:p>
            <a:pPr marL="571500" indent="-571500">
              <a:buFont typeface="+mj-lt"/>
              <a:buAutoNum type="romanUcPeriod"/>
            </a:pPr>
            <a:r>
              <a:rPr lang="zh-CN" altLang="en-US" sz="2400" dirty="0" smtClean="0"/>
              <a:t>动态规划优化题目选讲</a:t>
            </a:r>
            <a:r>
              <a:rPr lang="en-US" altLang="zh-CN" sz="2400" dirty="0" smtClean="0"/>
              <a:t>(</a:t>
            </a:r>
            <a:r>
              <a:rPr lang="zh-CN" altLang="en-US" sz="2400" strike="sngStrike" dirty="0" smtClean="0"/>
              <a:t>拖时间</a:t>
            </a:r>
            <a:r>
              <a:rPr lang="en-US" altLang="zh-CN" sz="2400" dirty="0" smtClean="0"/>
              <a:t>)</a:t>
            </a:r>
            <a:endParaRPr lang="en-US" altLang="zh-CN" sz="2400" dirty="0" smtClean="0"/>
          </a:p>
          <a:p>
            <a:pPr marL="571500" indent="-571500">
              <a:buFont typeface="+mj-lt"/>
              <a:buAutoNum type="romanUcPeriod"/>
            </a:pPr>
            <a:endParaRPr lang="en-US" altLang="zh-CN" dirty="0" smtClean="0"/>
          </a:p>
          <a:p>
            <a:pPr marL="571500" indent="-571500">
              <a:buFont typeface="+mj-lt"/>
              <a:buAutoNum type="romanUcPeriod"/>
            </a:pPr>
            <a:endParaRPr lang="en-US" altLang="zh-CN"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t>动态规划优化的一般思路</a:t>
            </a:r>
            <a:endParaRPr lang="zh-CN" altLang="en-US" dirty="0"/>
          </a:p>
        </p:txBody>
      </p:sp>
      <p:sp>
        <p:nvSpPr>
          <p:cNvPr id="6" name="内容占位符 5"/>
          <p:cNvSpPr>
            <a:spLocks noGrp="1"/>
          </p:cNvSpPr>
          <p:nvPr>
            <p:ph sz="quarter" idx="1"/>
          </p:nvPr>
        </p:nvSpPr>
        <p:spPr/>
        <p:txBody>
          <a:bodyPr>
            <a:normAutofit/>
          </a:bodyPr>
          <a:lstStyle/>
          <a:p>
            <a:r>
              <a:rPr lang="zh-CN" altLang="en-US" sz="2400" dirty="0" smtClean="0"/>
              <a:t>首先你要有一个动态规划算法</a:t>
            </a:r>
            <a:r>
              <a:rPr lang="en-US" altLang="zh-CN" sz="2400" dirty="0" smtClean="0"/>
              <a:t>,</a:t>
            </a:r>
            <a:r>
              <a:rPr lang="zh-CN" altLang="en-US" sz="2400" dirty="0" smtClean="0"/>
              <a:t>包括状态和转移方程</a:t>
            </a:r>
            <a:r>
              <a:rPr lang="en-US" altLang="zh-CN" sz="2400" dirty="0" smtClean="0"/>
              <a:t>.</a:t>
            </a:r>
            <a:endParaRPr lang="en-US" altLang="zh-CN" sz="2400" dirty="0" smtClean="0"/>
          </a:p>
          <a:p>
            <a:r>
              <a:rPr lang="zh-CN" altLang="en-US" sz="2400" dirty="0" smtClean="0"/>
              <a:t>减少状态的总数</a:t>
            </a:r>
            <a:r>
              <a:rPr lang="en-US" altLang="zh-CN" sz="2400" dirty="0" smtClean="0"/>
              <a:t>.</a:t>
            </a:r>
            <a:endParaRPr lang="en-US" altLang="zh-CN" sz="2400" dirty="0" smtClean="0"/>
          </a:p>
          <a:p>
            <a:pPr lvl="1"/>
            <a:r>
              <a:rPr lang="zh-CN" altLang="en-US" sz="2100" dirty="0" smtClean="0"/>
              <a:t>一般取决于状态的</a:t>
            </a:r>
            <a:r>
              <a:rPr lang="zh-CN" altLang="en-US" sz="2100" smtClean="0"/>
              <a:t>定义方式和存储方式</a:t>
            </a:r>
            <a:r>
              <a:rPr lang="en-US" altLang="zh-CN" sz="2100" smtClean="0"/>
              <a:t>.</a:t>
            </a:r>
            <a:r>
              <a:rPr lang="en-US" altLang="zh-CN" sz="2100" dirty="0" smtClean="0"/>
              <a:t>	</a:t>
            </a:r>
            <a:endParaRPr lang="en-US" altLang="zh-CN" sz="2100" dirty="0" smtClean="0"/>
          </a:p>
          <a:p>
            <a:pPr lvl="1"/>
            <a:r>
              <a:rPr lang="zh-CN" altLang="en-US" sz="2100" dirty="0" smtClean="0"/>
              <a:t>有时需要我们忽略必不合法的状态以达到复杂度的优化</a:t>
            </a:r>
            <a:r>
              <a:rPr lang="en-US" altLang="zh-CN" sz="2100" dirty="0" smtClean="0"/>
              <a:t>.</a:t>
            </a:r>
            <a:endParaRPr lang="en-US" altLang="zh-CN" sz="2100" dirty="0" smtClean="0"/>
          </a:p>
          <a:p>
            <a:r>
              <a:rPr lang="zh-CN" altLang="en-US" sz="2400" dirty="0" smtClean="0"/>
              <a:t>减少转移的总数</a:t>
            </a:r>
            <a:r>
              <a:rPr lang="en-US" altLang="zh-CN" sz="2400" dirty="0" smtClean="0"/>
              <a:t>.</a:t>
            </a:r>
            <a:endParaRPr lang="en-US" altLang="zh-CN" sz="2400" dirty="0" smtClean="0"/>
          </a:p>
          <a:p>
            <a:pPr lvl="1"/>
            <a:r>
              <a:rPr lang="zh-CN" altLang="en-US" sz="2100" dirty="0" smtClean="0"/>
              <a:t>一般取决于转移的方式</a:t>
            </a:r>
            <a:endParaRPr lang="en-US" altLang="zh-CN" sz="2100" dirty="0" smtClean="0"/>
          </a:p>
          <a:p>
            <a:pPr lvl="1"/>
            <a:r>
              <a:rPr lang="zh-CN" altLang="en-US" sz="2100" dirty="0" smtClean="0"/>
              <a:t>有时需要我们忽略必不合法的转移以达到复杂度的优化</a:t>
            </a:r>
            <a:r>
              <a:rPr lang="en-US" altLang="zh-CN" sz="2100" dirty="0" smtClean="0"/>
              <a:t>.</a:t>
            </a:r>
            <a:endParaRPr lang="en-US" altLang="zh-CN" sz="2100" dirty="0" smtClean="0"/>
          </a:p>
          <a:p>
            <a:pPr lvl="1"/>
            <a:r>
              <a:rPr lang="zh-CN" altLang="en-US" sz="2100" dirty="0" smtClean="0"/>
              <a:t>为了较好地转移</a:t>
            </a:r>
            <a:r>
              <a:rPr lang="en-US" altLang="zh-CN" sz="2100" dirty="0" smtClean="0"/>
              <a:t>,</a:t>
            </a:r>
            <a:r>
              <a:rPr lang="zh-CN" altLang="en-US" sz="2100" dirty="0" smtClean="0"/>
              <a:t>有时需要重新定义状态</a:t>
            </a:r>
            <a:r>
              <a:rPr lang="en-US" altLang="zh-CN" sz="2100" dirty="0" smtClean="0"/>
              <a:t>.</a:t>
            </a:r>
            <a:endParaRPr lang="en-US" altLang="zh-CN" sz="2100" dirty="0" smtClean="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t>线段树优化动态规划</a:t>
            </a:r>
            <a:endParaRPr lang="zh-CN" altLang="en-US" dirty="0"/>
          </a:p>
        </p:txBody>
      </p:sp>
      <p:sp>
        <p:nvSpPr>
          <p:cNvPr id="5" name="文本占位符 4"/>
          <p:cNvSpPr>
            <a:spLocks noGrp="1"/>
          </p:cNvSpPr>
          <p:nvPr>
            <p:ph type="body" idx="1"/>
          </p:nvPr>
        </p:nvSpPr>
        <p:spPr/>
        <p:txBody>
          <a:bodyPr/>
          <a:lstStyle/>
          <a:p>
            <a:endParaRPr lang="zh-CN" alt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线段树优化动态规划</a:t>
            </a:r>
            <a:r>
              <a:rPr lang="en-US" altLang="zh-CN" dirty="0" smtClean="0"/>
              <a:t>(</a:t>
            </a:r>
            <a:r>
              <a:rPr lang="zh-CN" altLang="en-US" dirty="0" smtClean="0"/>
              <a:t>基本概念</a:t>
            </a:r>
            <a:r>
              <a:rPr lang="en-US" altLang="zh-CN" dirty="0" smtClean="0"/>
              <a:t>)</a:t>
            </a:r>
            <a:endParaRPr lang="zh-CN" altLang="en-US" dirty="0"/>
          </a:p>
        </p:txBody>
      </p:sp>
      <p:sp>
        <p:nvSpPr>
          <p:cNvPr id="3" name="内容占位符 2"/>
          <p:cNvSpPr>
            <a:spLocks noGrp="1"/>
          </p:cNvSpPr>
          <p:nvPr>
            <p:ph sz="quarter" idx="1"/>
          </p:nvPr>
        </p:nvSpPr>
        <p:spPr/>
        <p:txBody>
          <a:bodyPr>
            <a:normAutofit/>
          </a:bodyPr>
          <a:lstStyle/>
          <a:p>
            <a:r>
              <a:rPr lang="zh-CN" altLang="en-US" sz="2400" dirty="0" smtClean="0"/>
              <a:t>听说之前</a:t>
            </a:r>
            <a:r>
              <a:rPr lang="en-US" altLang="zh-CN" sz="2400" dirty="0" smtClean="0"/>
              <a:t>jcy</a:t>
            </a:r>
            <a:r>
              <a:rPr lang="zh-CN" altLang="en-US" sz="2400" dirty="0" smtClean="0"/>
              <a:t>给你们讲过线段树了</a:t>
            </a:r>
            <a:endParaRPr lang="en-US" altLang="zh-CN" sz="2400" dirty="0" smtClean="0"/>
          </a:p>
          <a:p>
            <a:r>
              <a:rPr lang="zh-CN" altLang="en-US" sz="2400" dirty="0" smtClean="0"/>
              <a:t>优化</a:t>
            </a:r>
            <a:r>
              <a:rPr lang="en-US" altLang="zh-CN" sz="2400" dirty="0" smtClean="0"/>
              <a:t>DP</a:t>
            </a:r>
            <a:r>
              <a:rPr lang="zh-CN" altLang="en-US" sz="2400" dirty="0" smtClean="0"/>
              <a:t>的时候</a:t>
            </a:r>
            <a:r>
              <a:rPr lang="en-US" altLang="zh-CN" sz="2400" dirty="0" smtClean="0"/>
              <a:t>,</a:t>
            </a:r>
            <a:r>
              <a:rPr lang="zh-CN" altLang="en-US" sz="2400" dirty="0" smtClean="0"/>
              <a:t>一般不会用到太复杂的线段树</a:t>
            </a:r>
            <a:r>
              <a:rPr lang="en-US" altLang="zh-CN" sz="2400" dirty="0" smtClean="0"/>
              <a:t>,</a:t>
            </a:r>
            <a:r>
              <a:rPr lang="zh-CN" altLang="en-US" sz="2400" dirty="0" smtClean="0"/>
              <a:t>大多数是带修改求区间最值</a:t>
            </a:r>
            <a:endParaRPr lang="en-US" altLang="zh-CN" sz="2400" dirty="0" smtClean="0"/>
          </a:p>
          <a:p>
            <a:r>
              <a:rPr lang="zh-CN" altLang="en-US" sz="2400" dirty="0" smtClean="0"/>
              <a:t>有一些特别的动态规划虽然也可以写线段树优化但一般会写成树状数组</a:t>
            </a:r>
            <a:r>
              <a:rPr lang="en-US" altLang="zh-CN" sz="2400" dirty="0" smtClean="0"/>
              <a:t>.</a:t>
            </a:r>
            <a:endParaRPr lang="en-US" altLang="zh-CN" sz="2400" dirty="0" smtClean="0"/>
          </a:p>
          <a:p>
            <a:r>
              <a:rPr lang="zh-CN" altLang="en-US" sz="2400" dirty="0" smtClean="0"/>
              <a:t>往往复杂度有一个</a:t>
            </a:r>
            <a:r>
              <a:rPr lang="en-US" altLang="zh-CN" sz="2400" dirty="0" smtClean="0"/>
              <a:t>n</a:t>
            </a:r>
            <a:r>
              <a:rPr lang="zh-CN" altLang="en-US" sz="2400" dirty="0" smtClean="0"/>
              <a:t>变成了一个</a:t>
            </a:r>
            <a:r>
              <a:rPr lang="en-US" altLang="zh-CN" sz="2400" dirty="0" err="1" smtClean="0"/>
              <a:t>logn</a:t>
            </a:r>
            <a:r>
              <a:rPr lang="en-US" altLang="zh-CN" sz="2400" dirty="0" smtClean="0"/>
              <a:t>,</a:t>
            </a:r>
            <a:r>
              <a:rPr lang="zh-CN" altLang="en-US" sz="2400" dirty="0" smtClean="0"/>
              <a:t>比如</a:t>
            </a:r>
            <a:r>
              <a:rPr lang="en-US" altLang="zh-CN" sz="2400" dirty="0" smtClean="0"/>
              <a:t>n^2</a:t>
            </a:r>
            <a:r>
              <a:rPr lang="zh-CN" altLang="en-US" sz="2400" dirty="0" smtClean="0"/>
              <a:t>到</a:t>
            </a:r>
            <a:r>
              <a:rPr lang="en-US" altLang="zh-CN" sz="2400" dirty="0" err="1" smtClean="0"/>
              <a:t>nlogn</a:t>
            </a:r>
            <a:endParaRPr lang="en-US" altLang="zh-CN" sz="2400" dirty="0" smtClean="0"/>
          </a:p>
          <a:p>
            <a:r>
              <a:rPr lang="zh-CN" altLang="en-US" sz="2400" dirty="0" smtClean="0"/>
              <a:t>如果</a:t>
            </a:r>
            <a:r>
              <a:rPr lang="en-US" altLang="zh-CN" sz="2400" dirty="0" smtClean="0"/>
              <a:t>DP</a:t>
            </a:r>
            <a:r>
              <a:rPr lang="zh-CN" altLang="en-US" sz="2400" dirty="0" smtClean="0"/>
              <a:t>方程的转移形式看上去可以用线段树维护</a:t>
            </a:r>
            <a:r>
              <a:rPr lang="en-US" altLang="zh-CN" sz="2400" dirty="0" smtClean="0"/>
              <a:t>,</a:t>
            </a:r>
            <a:r>
              <a:rPr lang="zh-CN" altLang="en-US" sz="2400" dirty="0" smtClean="0"/>
              <a:t>那么就可以写线段树了</a:t>
            </a:r>
            <a:r>
              <a:rPr lang="en-US" altLang="zh-CN" sz="2400" dirty="0" smtClean="0"/>
              <a:t>.</a:t>
            </a:r>
            <a:endParaRPr lang="en-US" altLang="zh-CN" sz="2400" dirty="0"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线段树优化动态规划</a:t>
            </a:r>
            <a:r>
              <a:rPr lang="en-US" altLang="zh-CN" dirty="0" smtClean="0"/>
              <a:t>(hdu3698)</a:t>
            </a:r>
            <a:endParaRPr lang="zh-CN" altLang="en-US" dirty="0"/>
          </a:p>
        </p:txBody>
      </p:sp>
      <p:sp>
        <p:nvSpPr>
          <p:cNvPr id="3" name="内容占位符 2"/>
          <p:cNvSpPr>
            <a:spLocks noGrp="1"/>
          </p:cNvSpPr>
          <p:nvPr>
            <p:ph sz="quarter" idx="1"/>
          </p:nvPr>
        </p:nvSpPr>
        <p:spPr/>
        <p:txBody>
          <a:bodyPr>
            <a:normAutofit/>
          </a:bodyPr>
          <a:lstStyle/>
          <a:p>
            <a:r>
              <a:rPr lang="zh-CN" altLang="en-US" sz="2400" dirty="0" smtClean="0"/>
              <a:t>给出一个</a:t>
            </a:r>
            <a:r>
              <a:rPr lang="en-US" altLang="zh-CN" sz="2400" dirty="0" smtClean="0"/>
              <a:t>n</a:t>
            </a:r>
            <a:r>
              <a:rPr lang="zh-CN" altLang="en-US" sz="2400" dirty="0" smtClean="0"/>
              <a:t>行</a:t>
            </a:r>
            <a:r>
              <a:rPr lang="en-US" altLang="zh-CN" sz="2400" dirty="0" smtClean="0"/>
              <a:t>m</a:t>
            </a:r>
            <a:r>
              <a:rPr lang="zh-CN" altLang="en-US" sz="2400" dirty="0" smtClean="0"/>
              <a:t>列的矩阵</a:t>
            </a:r>
            <a:r>
              <a:rPr lang="en-US" altLang="zh-CN" sz="2400" dirty="0" smtClean="0"/>
              <a:t>,</a:t>
            </a:r>
            <a:r>
              <a:rPr lang="zh-CN" altLang="en-US" sz="2400" dirty="0" smtClean="0"/>
              <a:t>每个格子有一个花费</a:t>
            </a:r>
            <a:r>
              <a:rPr lang="en-US" altLang="zh-CN" sz="2400" dirty="0" err="1" smtClean="0"/>
              <a:t>Tij</a:t>
            </a:r>
            <a:r>
              <a:rPr lang="en-US" altLang="zh-CN" sz="2400" dirty="0" smtClean="0"/>
              <a:t>,</a:t>
            </a:r>
            <a:r>
              <a:rPr lang="zh-CN" altLang="en-US" sz="2400" dirty="0" smtClean="0"/>
              <a:t>要求在每行选出恰好一个格子</a:t>
            </a:r>
            <a:r>
              <a:rPr lang="en-US" altLang="zh-CN" sz="2400" dirty="0" smtClean="0"/>
              <a:t>,</a:t>
            </a:r>
            <a:r>
              <a:rPr lang="zh-CN" altLang="en-US" sz="2400" dirty="0" smtClean="0"/>
              <a:t>使得这</a:t>
            </a:r>
            <a:r>
              <a:rPr lang="en-US" altLang="zh-CN" sz="2400" dirty="0" smtClean="0"/>
              <a:t>n</a:t>
            </a:r>
            <a:r>
              <a:rPr lang="zh-CN" altLang="en-US" sz="2400" dirty="0" smtClean="0"/>
              <a:t>个格子的</a:t>
            </a:r>
            <a:r>
              <a:rPr lang="en-US" altLang="zh-CN" sz="2400" dirty="0" err="1" smtClean="0"/>
              <a:t>Tij</a:t>
            </a:r>
            <a:r>
              <a:rPr lang="zh-CN" altLang="en-US" sz="2400" dirty="0" smtClean="0"/>
              <a:t>之和最小</a:t>
            </a:r>
            <a:r>
              <a:rPr lang="en-US" altLang="zh-CN" sz="2400" dirty="0" smtClean="0"/>
              <a:t>.</a:t>
            </a:r>
            <a:endParaRPr lang="en-US" altLang="zh-CN" sz="2400" dirty="0" smtClean="0"/>
          </a:p>
          <a:p>
            <a:r>
              <a:rPr lang="zh-CN" altLang="en-US" sz="2400" dirty="0" smtClean="0"/>
              <a:t>每个格子还有一个权值</a:t>
            </a:r>
            <a:r>
              <a:rPr lang="en-US" altLang="zh-CN" sz="2400" dirty="0" err="1" smtClean="0"/>
              <a:t>Fij</a:t>
            </a:r>
            <a:r>
              <a:rPr lang="en-US" altLang="zh-CN" sz="2400" dirty="0" smtClean="0"/>
              <a:t>.</a:t>
            </a:r>
            <a:r>
              <a:rPr lang="zh-CN" altLang="en-US" sz="2400" dirty="0" smtClean="0"/>
              <a:t>对于相邻两行选择的格子</a:t>
            </a:r>
            <a:r>
              <a:rPr lang="en-US" altLang="zh-CN" sz="2400" dirty="0" smtClean="0"/>
              <a:t>(i,j1)</a:t>
            </a:r>
            <a:r>
              <a:rPr lang="zh-CN" altLang="en-US" sz="2400" dirty="0" smtClean="0"/>
              <a:t>和</a:t>
            </a:r>
            <a:r>
              <a:rPr lang="en-US" altLang="zh-CN" sz="2400" dirty="0" smtClean="0"/>
              <a:t>(i-1,j2),</a:t>
            </a:r>
            <a:r>
              <a:rPr lang="zh-CN" altLang="en-US" sz="2400" dirty="0" smtClean="0"/>
              <a:t>要求</a:t>
            </a:r>
            <a:r>
              <a:rPr lang="en-US" altLang="zh-CN" sz="2400" dirty="0" smtClean="0"/>
              <a:t>:</a:t>
            </a:r>
            <a:endParaRPr lang="en-US" altLang="zh-CN" sz="2400" dirty="0" smtClean="0"/>
          </a:p>
          <a:p>
            <a:pPr lvl="1"/>
            <a:r>
              <a:rPr lang="en-US" altLang="zh-CN" sz="2000" dirty="0" smtClean="0"/>
              <a:t>abs(j1-j2)&lt;=F(i,j1)+F(i-1,j2)</a:t>
            </a:r>
            <a:endParaRPr lang="en-US" altLang="zh-CN" sz="2000" dirty="0" smtClean="0"/>
          </a:p>
          <a:p>
            <a:r>
              <a:rPr lang="zh-CN" altLang="en-US" sz="2400" dirty="0" smtClean="0"/>
              <a:t>数据范围</a:t>
            </a:r>
            <a:endParaRPr lang="en-US" altLang="zh-CN" sz="2400" dirty="0" smtClean="0"/>
          </a:p>
          <a:p>
            <a:pPr lvl="1"/>
            <a:r>
              <a:rPr lang="en-US" altLang="zh-CN" sz="2000" dirty="0" smtClean="0"/>
              <a:t>N&lt;=100,M&lt;=5000</a:t>
            </a:r>
            <a:endParaRPr lang="en-US" altLang="zh-CN" sz="2000" dirty="0" smtClean="0"/>
          </a:p>
          <a:p>
            <a:r>
              <a:rPr lang="zh-CN" altLang="en-US" sz="2400" dirty="0" smtClean="0"/>
              <a:t>可以依次考虑每一行</a:t>
            </a:r>
            <a:r>
              <a:rPr lang="en-US" altLang="zh-CN" sz="2400" dirty="0" smtClean="0"/>
              <a:t>,f[</a:t>
            </a:r>
            <a:r>
              <a:rPr lang="en-US" altLang="zh-CN" sz="2400" dirty="0" err="1" smtClean="0"/>
              <a:t>i</a:t>
            </a:r>
            <a:r>
              <a:rPr lang="en-US" altLang="zh-CN" sz="2400" dirty="0" smtClean="0"/>
              <a:t>][j]</a:t>
            </a:r>
            <a:r>
              <a:rPr lang="zh-CN" altLang="en-US" sz="2400" dirty="0" smtClean="0"/>
              <a:t>表示考虑了前</a:t>
            </a:r>
            <a:r>
              <a:rPr lang="en-US" altLang="zh-CN" sz="2400" dirty="0" err="1" smtClean="0"/>
              <a:t>i</a:t>
            </a:r>
            <a:r>
              <a:rPr lang="zh-CN" altLang="en-US" sz="2400" dirty="0" smtClean="0"/>
              <a:t>行</a:t>
            </a:r>
            <a:r>
              <a:rPr lang="en-US" altLang="zh-CN" sz="2400" dirty="0" smtClean="0"/>
              <a:t>,</a:t>
            </a:r>
            <a:r>
              <a:rPr lang="zh-CN" altLang="en-US" sz="2400" dirty="0" smtClean="0"/>
              <a:t>第</a:t>
            </a:r>
            <a:r>
              <a:rPr lang="en-US" altLang="zh-CN" sz="2400" dirty="0" err="1" smtClean="0"/>
              <a:t>i</a:t>
            </a:r>
            <a:r>
              <a:rPr lang="zh-CN" altLang="en-US" sz="2400" dirty="0" smtClean="0"/>
              <a:t>行选择第</a:t>
            </a:r>
            <a:r>
              <a:rPr lang="en-US" altLang="zh-CN" sz="2400" dirty="0" smtClean="0"/>
              <a:t>j</a:t>
            </a:r>
            <a:r>
              <a:rPr lang="zh-CN" altLang="en-US" sz="2400" dirty="0" smtClean="0"/>
              <a:t>列时前</a:t>
            </a:r>
            <a:r>
              <a:rPr lang="en-US" altLang="zh-CN" sz="2400" dirty="0" err="1" smtClean="0"/>
              <a:t>i</a:t>
            </a:r>
            <a:r>
              <a:rPr lang="zh-CN" altLang="en-US" sz="2400" dirty="0" smtClean="0"/>
              <a:t>行当最小花费</a:t>
            </a:r>
            <a:r>
              <a:rPr lang="en-US" altLang="zh-CN" sz="2400" dirty="0" smtClean="0"/>
              <a:t>.</a:t>
            </a:r>
            <a:endParaRPr lang="en-US" altLang="zh-CN" sz="2400" dirty="0" smtClean="0"/>
          </a:p>
          <a:p>
            <a:r>
              <a:rPr lang="zh-CN" altLang="en-US" sz="2400" dirty="0" smtClean="0"/>
              <a:t>暴力枚举转移是</a:t>
            </a:r>
            <a:r>
              <a:rPr lang="en-US" altLang="zh-CN" sz="2400" dirty="0" smtClean="0"/>
              <a:t>O(nm^2)</a:t>
            </a:r>
            <a:r>
              <a:rPr lang="zh-CN" altLang="en-US" sz="2400" dirty="0" smtClean="0"/>
              <a:t>的</a:t>
            </a:r>
            <a:r>
              <a:rPr lang="en-US" altLang="zh-CN" sz="2400" dirty="0" smtClean="0"/>
              <a:t>.</a:t>
            </a:r>
            <a:r>
              <a:rPr lang="zh-CN" altLang="en-US" sz="2400" dirty="0" smtClean="0"/>
              <a:t>观察</a:t>
            </a:r>
            <a:r>
              <a:rPr lang="zh-CN" altLang="en-US" sz="2400" strike="sngStrike" dirty="0" smtClean="0"/>
              <a:t>这张</a:t>
            </a:r>
            <a:r>
              <a:rPr lang="en-US" altLang="zh-CN" sz="2400" strike="sngStrike" dirty="0" err="1" smtClean="0"/>
              <a:t>ppt</a:t>
            </a:r>
            <a:r>
              <a:rPr lang="zh-CN" altLang="en-US" sz="2400" strike="sngStrike" dirty="0" smtClean="0"/>
              <a:t>的标题</a:t>
            </a:r>
            <a:r>
              <a:rPr lang="zh-CN" altLang="en-US" sz="2400" dirty="0" smtClean="0"/>
              <a:t>可知该题适用线段树优化</a:t>
            </a:r>
            <a:r>
              <a:rPr lang="en-US" altLang="zh-CN" sz="2400" dirty="0" smtClean="0"/>
              <a:t>.</a:t>
            </a:r>
            <a:endParaRPr lang="en-US" altLang="zh-CN" sz="2400" dirty="0" smtClean="0"/>
          </a:p>
          <a:p>
            <a:r>
              <a:rPr lang="zh-CN" altLang="en-US" sz="2400" dirty="0" smtClean="0"/>
              <a:t>对于所有能转移到</a:t>
            </a:r>
            <a:r>
              <a:rPr lang="en-US" altLang="zh-CN" sz="2400" dirty="0" smtClean="0"/>
              <a:t>f[</a:t>
            </a:r>
            <a:r>
              <a:rPr lang="en-US" altLang="zh-CN" sz="2400" dirty="0" err="1" smtClean="0"/>
              <a:t>i</a:t>
            </a:r>
            <a:r>
              <a:rPr lang="en-US" altLang="zh-CN" sz="2400" dirty="0" smtClean="0"/>
              <a:t>][j]</a:t>
            </a:r>
            <a:r>
              <a:rPr lang="zh-CN" altLang="en-US" sz="2400" dirty="0" smtClean="0"/>
              <a:t>的</a:t>
            </a:r>
            <a:r>
              <a:rPr lang="en-US" altLang="zh-CN" sz="2400" dirty="0" smtClean="0"/>
              <a:t>f[i-1][k],k</a:t>
            </a:r>
            <a:r>
              <a:rPr lang="zh-CN" altLang="en-US" sz="2400" dirty="0" smtClean="0"/>
              <a:t>可能不连续</a:t>
            </a:r>
            <a:endParaRPr lang="zh-CN" altLang="en-US" sz="24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线段树优化动态规划</a:t>
            </a:r>
            <a:r>
              <a:rPr lang="en-US" altLang="zh-CN" dirty="0" smtClean="0"/>
              <a:t>(hdu3698)</a:t>
            </a:r>
            <a:endParaRPr lang="zh-CN" altLang="en-US" dirty="0"/>
          </a:p>
        </p:txBody>
      </p:sp>
      <p:sp>
        <p:nvSpPr>
          <p:cNvPr id="3" name="内容占位符 2"/>
          <p:cNvSpPr>
            <a:spLocks noGrp="1"/>
          </p:cNvSpPr>
          <p:nvPr>
            <p:ph sz="quarter" idx="1"/>
          </p:nvPr>
        </p:nvSpPr>
        <p:spPr/>
        <p:txBody>
          <a:bodyPr>
            <a:normAutofit/>
          </a:bodyPr>
          <a:lstStyle/>
          <a:p>
            <a:r>
              <a:rPr lang="zh-CN" altLang="en-US" sz="2400" dirty="0" smtClean="0"/>
              <a:t>其实相当于</a:t>
            </a:r>
            <a:r>
              <a:rPr lang="en-US" altLang="zh-CN" sz="2400" dirty="0" smtClean="0"/>
              <a:t>(</a:t>
            </a:r>
            <a:r>
              <a:rPr lang="en-US" altLang="zh-CN" sz="2400" dirty="0" err="1" smtClean="0"/>
              <a:t>i,j</a:t>
            </a:r>
            <a:r>
              <a:rPr lang="en-US" altLang="zh-CN" sz="2400" dirty="0" smtClean="0"/>
              <a:t>)</a:t>
            </a:r>
            <a:r>
              <a:rPr lang="zh-CN" altLang="en-US" sz="2400" dirty="0" smtClean="0"/>
              <a:t>可以覆盖</a:t>
            </a:r>
            <a:r>
              <a:rPr lang="en-US" altLang="zh-CN" sz="2400" dirty="0" smtClean="0"/>
              <a:t>[j-</a:t>
            </a:r>
            <a:r>
              <a:rPr lang="en-US" altLang="zh-CN" sz="2400" dirty="0" err="1" smtClean="0"/>
              <a:t>Fij,j+Fij</a:t>
            </a:r>
            <a:r>
              <a:rPr lang="en-US" altLang="zh-CN" sz="2400" dirty="0" smtClean="0"/>
              <a:t>]</a:t>
            </a:r>
            <a:r>
              <a:rPr lang="zh-CN" altLang="en-US" sz="2400" dirty="0" smtClean="0"/>
              <a:t>这段区间</a:t>
            </a:r>
            <a:r>
              <a:rPr lang="en-US" altLang="zh-CN" sz="2400" dirty="0" smtClean="0"/>
              <a:t>,</a:t>
            </a:r>
            <a:endParaRPr lang="en-US" altLang="zh-CN" sz="2400" dirty="0" smtClean="0"/>
          </a:p>
          <a:p>
            <a:r>
              <a:rPr lang="en-US" altLang="zh-CN" sz="2400" dirty="0" smtClean="0"/>
              <a:t>(i-1,k)</a:t>
            </a:r>
            <a:r>
              <a:rPr lang="zh-CN" altLang="en-US" sz="2400" dirty="0" smtClean="0"/>
              <a:t>可以覆盖</a:t>
            </a:r>
            <a:r>
              <a:rPr lang="en-US" altLang="zh-CN" sz="2400" dirty="0" smtClean="0"/>
              <a:t>[k-F(</a:t>
            </a:r>
            <a:r>
              <a:rPr lang="en-US" altLang="zh-CN" sz="2400" dirty="0" err="1" smtClean="0"/>
              <a:t>i,k</a:t>
            </a:r>
            <a:r>
              <a:rPr lang="en-US" altLang="zh-CN" sz="2400" dirty="0" smtClean="0"/>
              <a:t>),</a:t>
            </a:r>
            <a:r>
              <a:rPr lang="en-US" altLang="zh-CN" sz="2400" dirty="0" err="1" smtClean="0"/>
              <a:t>k+F</a:t>
            </a:r>
            <a:r>
              <a:rPr lang="en-US" altLang="zh-CN" sz="2400" dirty="0" smtClean="0"/>
              <a:t>(i-1,k)]</a:t>
            </a:r>
            <a:r>
              <a:rPr lang="zh-CN" altLang="en-US" sz="2400" dirty="0" smtClean="0"/>
              <a:t>这段区间</a:t>
            </a:r>
            <a:endParaRPr lang="en-US" altLang="zh-CN" sz="2400" dirty="0" smtClean="0"/>
          </a:p>
          <a:p>
            <a:r>
              <a:rPr lang="zh-CN" altLang="en-US" sz="2400" dirty="0" smtClean="0"/>
              <a:t>如果这两个点覆盖的区间有交集</a:t>
            </a:r>
            <a:r>
              <a:rPr lang="en-US" altLang="zh-CN" sz="2400" dirty="0" smtClean="0"/>
              <a:t>,</a:t>
            </a:r>
            <a:r>
              <a:rPr lang="zh-CN" altLang="en-US" sz="2400" dirty="0" smtClean="0"/>
              <a:t>就可以从</a:t>
            </a:r>
            <a:r>
              <a:rPr lang="en-US" altLang="zh-CN" sz="2400" dirty="0" smtClean="0"/>
              <a:t>(i-1,k)</a:t>
            </a:r>
            <a:r>
              <a:rPr lang="zh-CN" altLang="en-US" sz="2400" dirty="0" smtClean="0"/>
              <a:t>转移到</a:t>
            </a:r>
            <a:r>
              <a:rPr lang="en-US" altLang="zh-CN" sz="2400" dirty="0" smtClean="0"/>
              <a:t>(</a:t>
            </a:r>
            <a:r>
              <a:rPr lang="en-US" altLang="zh-CN" sz="2400" dirty="0" err="1" smtClean="0"/>
              <a:t>i,j</a:t>
            </a:r>
            <a:r>
              <a:rPr lang="en-US" altLang="zh-CN" sz="2400" dirty="0" smtClean="0"/>
              <a:t>)</a:t>
            </a:r>
            <a:endParaRPr lang="en-US" altLang="zh-CN" sz="2400" dirty="0" smtClean="0"/>
          </a:p>
          <a:p>
            <a:r>
              <a:rPr lang="zh-CN" altLang="en-US" sz="2400" dirty="0" smtClean="0"/>
              <a:t>不妨认为转移到过程中需要一个既被前一个点覆盖</a:t>
            </a:r>
            <a:r>
              <a:rPr lang="en-US" altLang="zh-CN" sz="2400" dirty="0" smtClean="0"/>
              <a:t>,</a:t>
            </a:r>
            <a:r>
              <a:rPr lang="zh-CN" altLang="en-US" sz="2400" dirty="0" smtClean="0"/>
              <a:t>又被后一个点覆盖的中转点</a:t>
            </a:r>
            <a:r>
              <a:rPr lang="en-US" altLang="zh-CN" sz="2400" dirty="0" smtClean="0"/>
              <a:t>.</a:t>
            </a:r>
            <a:endParaRPr lang="en-US" altLang="zh-CN" sz="2400" dirty="0" smtClean="0"/>
          </a:p>
          <a:p>
            <a:r>
              <a:rPr lang="zh-CN" altLang="en-US" sz="2400" dirty="0" smtClean="0"/>
              <a:t>那么我们可以把一次</a:t>
            </a:r>
            <a:r>
              <a:rPr lang="en-US" altLang="zh-CN" sz="2400" dirty="0" smtClean="0"/>
              <a:t>DP</a:t>
            </a:r>
            <a:r>
              <a:rPr lang="zh-CN" altLang="en-US" sz="2400" dirty="0" smtClean="0"/>
              <a:t>转移拆成两段进行</a:t>
            </a:r>
            <a:r>
              <a:rPr lang="en-US" altLang="zh-CN" sz="2400" dirty="0" smtClean="0"/>
              <a:t>,</a:t>
            </a:r>
            <a:r>
              <a:rPr lang="zh-CN" altLang="en-US" sz="2400" dirty="0" smtClean="0"/>
              <a:t>首先用</a:t>
            </a:r>
            <a:r>
              <a:rPr lang="en-US" altLang="zh-CN" sz="2400" dirty="0" smtClean="0"/>
              <a:t>i-1</a:t>
            </a:r>
            <a:r>
              <a:rPr lang="zh-CN" altLang="en-US" sz="2400" dirty="0" smtClean="0"/>
              <a:t>行的点转移到中转点</a:t>
            </a:r>
            <a:r>
              <a:rPr lang="en-US" altLang="zh-CN" sz="2400" dirty="0" smtClean="0"/>
              <a:t>,</a:t>
            </a:r>
            <a:r>
              <a:rPr lang="zh-CN" altLang="en-US" sz="2400" dirty="0" smtClean="0"/>
              <a:t>然后从中转点转移到第</a:t>
            </a:r>
            <a:r>
              <a:rPr lang="en-US" altLang="zh-CN" sz="2400" dirty="0" err="1" smtClean="0"/>
              <a:t>i</a:t>
            </a:r>
            <a:r>
              <a:rPr lang="zh-CN" altLang="en-US" sz="2400" dirty="0" smtClean="0"/>
              <a:t>行的点</a:t>
            </a:r>
            <a:r>
              <a:rPr lang="en-US" altLang="zh-CN" sz="2400" dirty="0" smtClean="0"/>
              <a:t>,</a:t>
            </a:r>
            <a:r>
              <a:rPr lang="zh-CN" altLang="en-US" sz="2400" dirty="0" smtClean="0"/>
              <a:t>线段树可以维护</a:t>
            </a:r>
            <a:r>
              <a:rPr lang="en-US" altLang="zh-CN" sz="2400" dirty="0" smtClean="0"/>
              <a:t>.</a:t>
            </a:r>
            <a:endParaRPr lang="en-US" altLang="zh-CN" sz="2400" dirty="0" smtClean="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线段树优化动态规划</a:t>
            </a:r>
            <a:r>
              <a:rPr lang="en-US" altLang="zh-CN" dirty="0" smtClean="0"/>
              <a:t>(</a:t>
            </a:r>
            <a:r>
              <a:rPr lang="zh-CN" altLang="en-US" dirty="0" smtClean="0"/>
              <a:t>更多题目</a:t>
            </a:r>
            <a:r>
              <a:rPr lang="en-US" altLang="zh-CN" dirty="0" smtClean="0"/>
              <a:t>)</a:t>
            </a:r>
            <a:endParaRPr lang="zh-CN" altLang="en-US" dirty="0"/>
          </a:p>
        </p:txBody>
      </p:sp>
      <p:sp>
        <p:nvSpPr>
          <p:cNvPr id="3" name="内容占位符 2"/>
          <p:cNvSpPr>
            <a:spLocks noGrp="1"/>
          </p:cNvSpPr>
          <p:nvPr>
            <p:ph sz="quarter" idx="1"/>
          </p:nvPr>
        </p:nvSpPr>
        <p:spPr/>
        <p:txBody>
          <a:bodyPr/>
          <a:lstStyle/>
          <a:p>
            <a:r>
              <a:rPr lang="en-US" altLang="zh-CN" dirty="0" err="1" smtClean="0"/>
              <a:t>Codeforces</a:t>
            </a:r>
            <a:r>
              <a:rPr lang="en-US" altLang="zh-CN" dirty="0" smtClean="0"/>
              <a:t> 675E trains and statistic</a:t>
            </a:r>
            <a:endParaRPr lang="en-US" altLang="zh-CN" dirty="0" smtClean="0"/>
          </a:p>
          <a:p>
            <a:r>
              <a:rPr lang="en-US" altLang="zh-CN" dirty="0" smtClean="0"/>
              <a:t>Poj2374</a:t>
            </a:r>
            <a:endParaRPr lang="en-US" altLang="zh-CN" dirty="0" smtClean="0"/>
          </a:p>
          <a:p>
            <a:r>
              <a:rPr lang="en-US" altLang="zh-CN" dirty="0" smtClean="0"/>
              <a:t>Bzoj1835</a:t>
            </a:r>
            <a:endParaRPr lang="en-US" altLang="zh-CN" dirty="0" smtClean="0"/>
          </a:p>
          <a:p>
            <a:r>
              <a:rPr lang="en-US" altLang="zh-CN" dirty="0" smtClean="0"/>
              <a:t>hdu4719</a:t>
            </a:r>
            <a:endParaRPr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t>树状数组优化动态规划</a:t>
            </a:r>
            <a:endParaRPr lang="zh-CN" altLang="en-US" dirty="0"/>
          </a:p>
        </p:txBody>
      </p:sp>
      <p:sp>
        <p:nvSpPr>
          <p:cNvPr id="5" name="文本占位符 4"/>
          <p:cNvSpPr>
            <a:spLocks noGrp="1"/>
          </p:cNvSpPr>
          <p:nvPr>
            <p:ph type="body" idx="1"/>
          </p:nvPr>
        </p:nvSpPr>
        <p:spPr/>
        <p:txBody>
          <a:bodyPr/>
          <a:lstStyle/>
          <a:p>
            <a:endParaRPr lang="zh-CN" alt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t>树状数组优化动态规划</a:t>
            </a:r>
            <a:r>
              <a:rPr lang="en-US" altLang="zh-CN" dirty="0" smtClean="0"/>
              <a:t>(</a:t>
            </a:r>
            <a:r>
              <a:rPr lang="zh-CN" altLang="en-US" dirty="0" smtClean="0"/>
              <a:t>基本概念</a:t>
            </a:r>
            <a:r>
              <a:rPr lang="en-US" altLang="zh-CN" dirty="0" smtClean="0"/>
              <a:t>)</a:t>
            </a:r>
            <a:endParaRPr lang="zh-CN" altLang="en-US" dirty="0"/>
          </a:p>
        </p:txBody>
      </p:sp>
      <p:sp>
        <p:nvSpPr>
          <p:cNvPr id="5" name="内容占位符 4"/>
          <p:cNvSpPr>
            <a:spLocks noGrp="1"/>
          </p:cNvSpPr>
          <p:nvPr>
            <p:ph sz="quarter" idx="1"/>
          </p:nvPr>
        </p:nvSpPr>
        <p:spPr/>
        <p:txBody>
          <a:bodyPr>
            <a:normAutofit/>
          </a:bodyPr>
          <a:lstStyle/>
          <a:p>
            <a:r>
              <a:rPr lang="zh-CN" altLang="en-US" sz="2400" dirty="0" smtClean="0"/>
              <a:t>听说</a:t>
            </a:r>
            <a:r>
              <a:rPr lang="en-US" altLang="zh-CN" sz="2400" dirty="0" smtClean="0"/>
              <a:t>jcy</a:t>
            </a:r>
            <a:r>
              <a:rPr lang="zh-CN" altLang="en-US" sz="2400" dirty="0" smtClean="0"/>
              <a:t>给你们讲了树状数组了</a:t>
            </a:r>
            <a:endParaRPr lang="en-US" altLang="zh-CN" sz="2400" dirty="0" smtClean="0"/>
          </a:p>
          <a:p>
            <a:r>
              <a:rPr lang="zh-CN" altLang="en-US" sz="2400" dirty="0" smtClean="0"/>
              <a:t>理论上都可以写成线段树优化动态规划</a:t>
            </a:r>
            <a:r>
              <a:rPr lang="en-US" altLang="zh-CN" sz="2400" dirty="0" smtClean="0"/>
              <a:t>…</a:t>
            </a:r>
            <a:endParaRPr lang="en-US" altLang="zh-CN" sz="2400" dirty="0" smtClean="0"/>
          </a:p>
          <a:p>
            <a:r>
              <a:rPr lang="zh-CN" altLang="en-US" sz="2400" dirty="0" smtClean="0"/>
              <a:t>但因为树状数组的一些优点</a:t>
            </a:r>
            <a:r>
              <a:rPr lang="en-US" altLang="zh-CN" sz="2400" dirty="0" smtClean="0"/>
              <a:t>(</a:t>
            </a:r>
            <a:r>
              <a:rPr lang="zh-CN" altLang="en-US" sz="2400" dirty="0" smtClean="0"/>
              <a:t>好写</a:t>
            </a:r>
            <a:r>
              <a:rPr lang="en-US" altLang="zh-CN" sz="2400" dirty="0" smtClean="0"/>
              <a:t>,</a:t>
            </a:r>
            <a:r>
              <a:rPr lang="zh-CN" altLang="en-US" sz="2400" dirty="0" smtClean="0"/>
              <a:t>常数小</a:t>
            </a:r>
            <a:r>
              <a:rPr lang="en-US" altLang="zh-CN" sz="2400" dirty="0" smtClean="0"/>
              <a:t>),</a:t>
            </a:r>
            <a:r>
              <a:rPr lang="zh-CN" altLang="en-US" sz="2400" dirty="0" smtClean="0"/>
              <a:t>有一类特殊的问题常常用树状数组解决</a:t>
            </a:r>
            <a:r>
              <a:rPr lang="en-US" altLang="zh-CN" sz="2400" dirty="0" smtClean="0"/>
              <a:t>.</a:t>
            </a:r>
            <a:endParaRPr lang="en-US" altLang="zh-CN" sz="2400" dirty="0" smtClean="0"/>
          </a:p>
          <a:p>
            <a:r>
              <a:rPr lang="zh-CN" altLang="en-US" sz="2400" dirty="0" smtClean="0"/>
              <a:t>主要表现为</a:t>
            </a:r>
            <a:r>
              <a:rPr lang="en-US" altLang="zh-CN" sz="2400" dirty="0" smtClean="0"/>
              <a:t>:</a:t>
            </a:r>
            <a:r>
              <a:rPr lang="zh-CN" altLang="en-US" sz="2400" dirty="0" smtClean="0"/>
              <a:t>给出一个数组</a:t>
            </a:r>
            <a:r>
              <a:rPr lang="en-US" altLang="zh-CN" sz="2400" dirty="0" smtClean="0"/>
              <a:t>,</a:t>
            </a:r>
            <a:r>
              <a:rPr lang="zh-CN" altLang="en-US" sz="2400" dirty="0" smtClean="0"/>
              <a:t>不时给某个地方赋值</a:t>
            </a:r>
            <a:r>
              <a:rPr lang="en-US" altLang="zh-CN" sz="2400" dirty="0" smtClean="0"/>
              <a:t>(</a:t>
            </a:r>
            <a:r>
              <a:rPr lang="zh-CN" altLang="en-US" sz="2400" dirty="0" smtClean="0"/>
              <a:t>保证所赋的新数值比原先的数值大</a:t>
            </a:r>
            <a:r>
              <a:rPr lang="en-US" altLang="zh-CN" sz="2400" dirty="0" smtClean="0"/>
              <a:t>),</a:t>
            </a:r>
            <a:r>
              <a:rPr lang="zh-CN" altLang="en-US" sz="2400" dirty="0" smtClean="0"/>
              <a:t>并支持查询前</a:t>
            </a:r>
            <a:r>
              <a:rPr lang="en-US" altLang="zh-CN" sz="2400" dirty="0" smtClean="0"/>
              <a:t>x</a:t>
            </a:r>
            <a:r>
              <a:rPr lang="zh-CN" altLang="en-US" sz="2400" dirty="0" smtClean="0"/>
              <a:t>个元素中的最大值</a:t>
            </a:r>
            <a:endParaRPr lang="en-US" altLang="zh-CN" sz="2400" dirty="0" smtClean="0"/>
          </a:p>
          <a:p>
            <a:r>
              <a:rPr lang="zh-CN" altLang="en-US" sz="2400" dirty="0" smtClean="0"/>
              <a:t>代码长这样</a:t>
            </a:r>
            <a:r>
              <a:rPr lang="en-US" altLang="zh-CN" sz="2400" dirty="0" smtClean="0"/>
              <a:t>:</a:t>
            </a:r>
            <a:endParaRPr lang="en-US" altLang="zh-CN" sz="2400" dirty="0" smtClean="0"/>
          </a:p>
          <a:p>
            <a:endParaRPr lang="zh-CN" altLang="en-US" sz="2400" dirty="0"/>
          </a:p>
        </p:txBody>
      </p:sp>
      <p:pic>
        <p:nvPicPr>
          <p:cNvPr id="1026" name="Picture 2"/>
          <p:cNvPicPr>
            <a:picLocks noChangeAspect="1" noChangeArrowheads="1"/>
          </p:cNvPicPr>
          <p:nvPr/>
        </p:nvPicPr>
        <p:blipFill>
          <a:blip r:embed="rId1"/>
          <a:srcRect/>
          <a:stretch>
            <a:fillRect/>
          </a:stretch>
        </p:blipFill>
        <p:spPr bwMode="auto">
          <a:xfrm>
            <a:off x="2643174" y="3857628"/>
            <a:ext cx="5857916" cy="2176465"/>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026"/>
                                        </p:tgtEl>
                                        <p:attrNameLst>
                                          <p:attrName>style.visibility</p:attrName>
                                        </p:attrNameLst>
                                      </p:cBhvr>
                                      <p:to>
                                        <p:strVal val="visible"/>
                                      </p:to>
                                    </p:set>
                                    <p:anim calcmode="lin" valueType="num">
                                      <p:cBhvr additive="base">
                                        <p:cTn id="37" dur="500" fill="hold"/>
                                        <p:tgtEl>
                                          <p:spTgt spid="1026"/>
                                        </p:tgtEl>
                                        <p:attrNameLst>
                                          <p:attrName>ppt_x</p:attrName>
                                        </p:attrNameLst>
                                      </p:cBhvr>
                                      <p:tavLst>
                                        <p:tav tm="0">
                                          <p:val>
                                            <p:strVal val="#ppt_x"/>
                                          </p:val>
                                        </p:tav>
                                        <p:tav tm="100000">
                                          <p:val>
                                            <p:strVal val="#ppt_x"/>
                                          </p:val>
                                        </p:tav>
                                      </p:tavLst>
                                    </p:anim>
                                    <p:anim calcmode="lin" valueType="num">
                                      <p:cBhvr additive="base">
                                        <p:cTn id="38"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树状数组优化动态规划</a:t>
            </a:r>
            <a:r>
              <a:rPr lang="en-US" altLang="zh-CN" dirty="0" smtClean="0"/>
              <a:t>(LIS)</a:t>
            </a:r>
            <a:endParaRPr lang="zh-CN" altLang="en-US" dirty="0"/>
          </a:p>
        </p:txBody>
      </p:sp>
      <p:sp>
        <p:nvSpPr>
          <p:cNvPr id="3" name="内容占位符 2"/>
          <p:cNvSpPr>
            <a:spLocks noGrp="1"/>
          </p:cNvSpPr>
          <p:nvPr>
            <p:ph sz="quarter" idx="1"/>
          </p:nvPr>
        </p:nvSpPr>
        <p:spPr/>
        <p:txBody>
          <a:bodyPr>
            <a:normAutofit/>
          </a:bodyPr>
          <a:lstStyle/>
          <a:p>
            <a:r>
              <a:rPr lang="zh-CN" altLang="en-US" sz="2400" dirty="0" smtClean="0"/>
              <a:t>这种优化方法最常见的用途就是</a:t>
            </a:r>
            <a:r>
              <a:rPr lang="en-US" altLang="zh-CN" sz="2400" dirty="0" err="1" smtClean="0"/>
              <a:t>nlogn</a:t>
            </a:r>
            <a:r>
              <a:rPr lang="zh-CN" altLang="en-US" sz="2400" dirty="0" smtClean="0"/>
              <a:t>求</a:t>
            </a:r>
            <a:r>
              <a:rPr lang="en-US" altLang="zh-CN" sz="2400" dirty="0" smtClean="0"/>
              <a:t>LIS(longest increasing subsequence,</a:t>
            </a:r>
            <a:r>
              <a:rPr lang="zh-CN" altLang="en-US" sz="2400" dirty="0" smtClean="0"/>
              <a:t>最长上升子序列</a:t>
            </a:r>
            <a:r>
              <a:rPr lang="en-US" altLang="zh-CN" sz="2400" dirty="0" smtClean="0"/>
              <a:t>).</a:t>
            </a:r>
            <a:endParaRPr lang="en-US" altLang="zh-CN" sz="2400" dirty="0" smtClean="0"/>
          </a:p>
          <a:p>
            <a:r>
              <a:rPr lang="zh-CN" altLang="en-US" sz="2400" dirty="0" smtClean="0"/>
              <a:t>当然大家可能之前学过另一种方法</a:t>
            </a:r>
            <a:r>
              <a:rPr lang="en-US" altLang="zh-CN" sz="2400" dirty="0" smtClean="0"/>
              <a:t>:</a:t>
            </a:r>
            <a:r>
              <a:rPr lang="zh-CN" altLang="en-US" sz="2400" dirty="0" smtClean="0"/>
              <a:t>开一个数组</a:t>
            </a:r>
            <a:r>
              <a:rPr lang="en-US" altLang="zh-CN" sz="2400" dirty="0" smtClean="0"/>
              <a:t>g[</a:t>
            </a:r>
            <a:r>
              <a:rPr lang="en-US" altLang="zh-CN" sz="2400" dirty="0" err="1" smtClean="0"/>
              <a:t>i</a:t>
            </a:r>
            <a:r>
              <a:rPr lang="en-US" altLang="zh-CN" sz="2400" dirty="0" smtClean="0"/>
              <a:t>]</a:t>
            </a:r>
            <a:r>
              <a:rPr lang="zh-CN" altLang="en-US" sz="2400" dirty="0" smtClean="0"/>
              <a:t>表示长为</a:t>
            </a:r>
            <a:r>
              <a:rPr lang="en-US" altLang="zh-CN" sz="2400" dirty="0" err="1" smtClean="0"/>
              <a:t>i</a:t>
            </a:r>
            <a:r>
              <a:rPr lang="zh-CN" altLang="en-US" sz="2400" dirty="0" smtClean="0"/>
              <a:t>的上升子序列的最小结尾数字是什么</a:t>
            </a:r>
            <a:r>
              <a:rPr lang="en-US" altLang="zh-CN" sz="2400" dirty="0" smtClean="0"/>
              <a:t>,</a:t>
            </a:r>
            <a:r>
              <a:rPr lang="zh-CN" altLang="en-US" sz="2400" dirty="0" smtClean="0"/>
              <a:t>每次在</a:t>
            </a:r>
            <a:r>
              <a:rPr lang="en-US" altLang="zh-CN" sz="2400" dirty="0" smtClean="0"/>
              <a:t>g</a:t>
            </a:r>
            <a:r>
              <a:rPr lang="zh-CN" altLang="en-US" sz="2400" dirty="0" smtClean="0"/>
              <a:t>上二分</a:t>
            </a:r>
            <a:r>
              <a:rPr lang="en-US" altLang="zh-CN" sz="2400" dirty="0" smtClean="0"/>
              <a:t>.</a:t>
            </a:r>
            <a:r>
              <a:rPr lang="zh-CN" altLang="en-US" sz="2400" dirty="0" smtClean="0"/>
              <a:t>不过这不是我们讨论的重点</a:t>
            </a:r>
            <a:r>
              <a:rPr lang="en-US" altLang="zh-CN" sz="2400" dirty="0" smtClean="0"/>
              <a:t>.</a:t>
            </a:r>
            <a:endParaRPr lang="en-US" altLang="zh-CN" sz="2400" dirty="0" smtClean="0"/>
          </a:p>
          <a:p>
            <a:r>
              <a:rPr lang="zh-CN" altLang="en-US" sz="2400" dirty="0" smtClean="0"/>
              <a:t>用树状数组求</a:t>
            </a:r>
            <a:r>
              <a:rPr lang="en-US" altLang="zh-CN" sz="2400" dirty="0" smtClean="0"/>
              <a:t>LIS</a:t>
            </a:r>
            <a:r>
              <a:rPr lang="zh-CN" altLang="en-US" sz="2400" dirty="0" smtClean="0"/>
              <a:t>时</a:t>
            </a:r>
            <a:r>
              <a:rPr lang="en-US" altLang="zh-CN" sz="2400" dirty="0" smtClean="0"/>
              <a:t>,</a:t>
            </a:r>
            <a:r>
              <a:rPr lang="zh-CN" altLang="en-US" sz="2400" dirty="0" smtClean="0"/>
              <a:t>我们开一个数组</a:t>
            </a:r>
            <a:r>
              <a:rPr lang="en-US" altLang="zh-CN" sz="2400" dirty="0" smtClean="0"/>
              <a:t>h[</a:t>
            </a:r>
            <a:r>
              <a:rPr lang="en-US" altLang="zh-CN" sz="2400" dirty="0" err="1" smtClean="0"/>
              <a:t>i</a:t>
            </a:r>
            <a:r>
              <a:rPr lang="en-US" altLang="zh-CN" sz="2400" dirty="0" smtClean="0"/>
              <a:t>][j],</a:t>
            </a:r>
            <a:r>
              <a:rPr lang="zh-CN" altLang="en-US" sz="2400" dirty="0" smtClean="0"/>
              <a:t>表示</a:t>
            </a:r>
            <a:r>
              <a:rPr lang="en-US" altLang="zh-CN" sz="2400" dirty="0" smtClean="0"/>
              <a:t>”</a:t>
            </a:r>
            <a:r>
              <a:rPr lang="zh-CN" altLang="en-US" sz="2400" dirty="0" smtClean="0"/>
              <a:t>在前</a:t>
            </a:r>
            <a:r>
              <a:rPr lang="en-US" altLang="zh-CN" sz="2400" dirty="0" err="1" smtClean="0"/>
              <a:t>i</a:t>
            </a:r>
            <a:r>
              <a:rPr lang="zh-CN" altLang="en-US" sz="2400" dirty="0" smtClean="0"/>
              <a:t>个数字中</a:t>
            </a:r>
            <a:r>
              <a:rPr lang="en-US" altLang="zh-CN" sz="2400" dirty="0" smtClean="0"/>
              <a:t>,</a:t>
            </a:r>
            <a:r>
              <a:rPr lang="zh-CN" altLang="en-US" sz="2400" dirty="0" smtClean="0"/>
              <a:t>以数值</a:t>
            </a:r>
            <a:r>
              <a:rPr lang="en-US" altLang="zh-CN" sz="2400" dirty="0" err="1" smtClean="0"/>
              <a:t>j</a:t>
            </a:r>
            <a:r>
              <a:rPr lang="zh-CN" altLang="en-US" sz="2400" dirty="0" smtClean="0"/>
              <a:t>结尾的上升子序列的最大长度</a:t>
            </a:r>
            <a:r>
              <a:rPr lang="en-US" altLang="zh-CN" sz="2400" dirty="0" smtClean="0"/>
              <a:t>”</a:t>
            </a:r>
            <a:endParaRPr lang="en-US" altLang="zh-CN" sz="2400" dirty="0" smtClean="0"/>
          </a:p>
          <a:p>
            <a:r>
              <a:rPr lang="zh-CN" altLang="en-US" sz="2400" dirty="0" smtClean="0"/>
              <a:t>在实现的时候我们只开一维数组</a:t>
            </a:r>
            <a:r>
              <a:rPr lang="en-US" altLang="zh-CN" sz="2400" dirty="0" smtClean="0"/>
              <a:t>,</a:t>
            </a:r>
            <a:r>
              <a:rPr lang="zh-CN" altLang="en-US" sz="2400" dirty="0" smtClean="0"/>
              <a:t>这个数组每次从</a:t>
            </a:r>
            <a:r>
              <a:rPr lang="en-US" altLang="zh-CN" sz="2400" dirty="0" smtClean="0"/>
              <a:t>h[i-1][]</a:t>
            </a:r>
            <a:r>
              <a:rPr lang="zh-CN" altLang="en-US" sz="2400" dirty="0" smtClean="0"/>
              <a:t>变化到</a:t>
            </a:r>
            <a:r>
              <a:rPr lang="en-US" altLang="zh-CN" sz="2400" dirty="0" smtClean="0"/>
              <a:t>h[</a:t>
            </a:r>
            <a:r>
              <a:rPr lang="en-US" altLang="zh-CN" sz="2400" dirty="0" err="1" smtClean="0"/>
              <a:t>i</a:t>
            </a:r>
            <a:r>
              <a:rPr lang="en-US" altLang="zh-CN" sz="2400" dirty="0" smtClean="0"/>
              <a:t>][]</a:t>
            </a:r>
            <a:endParaRPr lang="en-US" altLang="zh-CN" sz="2400" dirty="0" smtClean="0"/>
          </a:p>
          <a:p>
            <a:r>
              <a:rPr lang="zh-CN" altLang="en-US" sz="2400" dirty="0" smtClean="0"/>
              <a:t>定义</a:t>
            </a:r>
            <a:r>
              <a:rPr lang="en-US" altLang="zh-CN" sz="2400" dirty="0" smtClean="0"/>
              <a:t>f[</a:t>
            </a:r>
            <a:r>
              <a:rPr lang="en-US" altLang="zh-CN" sz="2400" dirty="0" err="1" smtClean="0"/>
              <a:t>i</a:t>
            </a:r>
            <a:r>
              <a:rPr lang="en-US" altLang="zh-CN" sz="2400" dirty="0" smtClean="0"/>
              <a:t>]</a:t>
            </a:r>
            <a:r>
              <a:rPr lang="zh-CN" altLang="en-US" sz="2400" dirty="0" smtClean="0"/>
              <a:t>表示在位置</a:t>
            </a:r>
            <a:r>
              <a:rPr lang="en-US" altLang="zh-CN" sz="2400" dirty="0" err="1" smtClean="0"/>
              <a:t>i</a:t>
            </a:r>
            <a:r>
              <a:rPr lang="zh-CN" altLang="en-US" sz="2400" dirty="0" smtClean="0"/>
              <a:t>结尾的</a:t>
            </a:r>
            <a:r>
              <a:rPr lang="en-US" altLang="zh-CN" sz="2400" dirty="0" smtClean="0"/>
              <a:t>LIS</a:t>
            </a:r>
            <a:r>
              <a:rPr lang="zh-CN" altLang="en-US" sz="2400" dirty="0" smtClean="0"/>
              <a:t>长度</a:t>
            </a:r>
            <a:r>
              <a:rPr lang="en-US" altLang="zh-CN" sz="2400" dirty="0" smtClean="0"/>
              <a:t>,</a:t>
            </a:r>
            <a:r>
              <a:rPr lang="zh-CN" altLang="en-US" sz="2400" dirty="0" smtClean="0"/>
              <a:t>那么我们都知道</a:t>
            </a:r>
            <a:r>
              <a:rPr lang="en-US" altLang="zh-CN" sz="2400" dirty="0" smtClean="0"/>
              <a:t>f[</a:t>
            </a:r>
            <a:r>
              <a:rPr lang="en-US" altLang="zh-CN" sz="2400" dirty="0" err="1" smtClean="0"/>
              <a:t>i</a:t>
            </a:r>
            <a:r>
              <a:rPr lang="en-US" altLang="zh-CN" sz="2400" dirty="0" smtClean="0"/>
              <a:t>]=max(f[j]+1),j&lt;</a:t>
            </a:r>
            <a:r>
              <a:rPr lang="en-US" altLang="zh-CN" sz="2400" dirty="0" err="1" smtClean="0"/>
              <a:t>i,a</a:t>
            </a:r>
            <a:r>
              <a:rPr lang="en-US" altLang="zh-CN" sz="2400" dirty="0" smtClean="0"/>
              <a:t>[j]&lt;a[</a:t>
            </a:r>
            <a:r>
              <a:rPr lang="en-US" altLang="zh-CN" sz="2400" dirty="0" err="1" smtClean="0"/>
              <a:t>i</a:t>
            </a:r>
            <a:r>
              <a:rPr lang="en-US" altLang="zh-CN" sz="2400" dirty="0" smtClean="0"/>
              <a:t>]</a:t>
            </a:r>
            <a:endParaRPr lang="en-US" altLang="zh-CN" sz="2400" dirty="0" smtClean="0"/>
          </a:p>
          <a:p>
            <a:r>
              <a:rPr lang="zh-CN" altLang="en-US" sz="2400" dirty="0" smtClean="0"/>
              <a:t>于是就是</a:t>
            </a:r>
            <a:r>
              <a:rPr lang="en-US" altLang="zh-CN" sz="2400" dirty="0" smtClean="0"/>
              <a:t>h[i-1][1…a[</a:t>
            </a:r>
            <a:r>
              <a:rPr lang="en-US" altLang="zh-CN" sz="2400" dirty="0" err="1" smtClean="0"/>
              <a:t>i</a:t>
            </a:r>
            <a:r>
              <a:rPr lang="en-US" altLang="zh-CN" sz="2400" dirty="0" smtClean="0"/>
              <a:t>]-1]</a:t>
            </a:r>
            <a:r>
              <a:rPr lang="zh-CN" altLang="en-US" sz="2400" dirty="0" smtClean="0"/>
              <a:t>的最大值</a:t>
            </a:r>
            <a:endParaRPr lang="en-US" altLang="zh-CN" sz="2400" dirty="0" smtClean="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树状数组优化动态规划</a:t>
            </a:r>
            <a:r>
              <a:rPr lang="en-US" altLang="zh-CN" dirty="0" smtClean="0"/>
              <a:t>(LIS)</a:t>
            </a:r>
            <a:endParaRPr lang="zh-CN" altLang="en-US" dirty="0"/>
          </a:p>
        </p:txBody>
      </p:sp>
      <p:sp>
        <p:nvSpPr>
          <p:cNvPr id="3" name="内容占位符 2"/>
          <p:cNvSpPr>
            <a:spLocks noGrp="1"/>
          </p:cNvSpPr>
          <p:nvPr>
            <p:ph sz="quarter" idx="1"/>
          </p:nvPr>
        </p:nvSpPr>
        <p:spPr/>
        <p:txBody>
          <a:bodyPr>
            <a:normAutofit/>
          </a:bodyPr>
          <a:lstStyle/>
          <a:p>
            <a:r>
              <a:rPr lang="zh-CN" altLang="en-US" sz="2400" dirty="0" smtClean="0"/>
              <a:t>我们发现这个形式正是树状数组可以维护的</a:t>
            </a:r>
            <a:r>
              <a:rPr lang="en-US" altLang="zh-CN" sz="2400" dirty="0" smtClean="0"/>
              <a:t>,</a:t>
            </a:r>
            <a:r>
              <a:rPr lang="zh-CN" altLang="en-US" sz="2400" dirty="0" smtClean="0"/>
              <a:t>只需要求数组中前几个元素的最大值</a:t>
            </a:r>
            <a:r>
              <a:rPr lang="en-US" altLang="zh-CN" sz="2400" dirty="0" smtClean="0"/>
              <a:t>.</a:t>
            </a:r>
            <a:r>
              <a:rPr lang="zh-CN" altLang="en-US" sz="2400" dirty="0" smtClean="0"/>
              <a:t>修改的时候只影响</a:t>
            </a:r>
            <a:r>
              <a:rPr lang="en-US" altLang="zh-CN" sz="2400" dirty="0" smtClean="0"/>
              <a:t>h[a[</a:t>
            </a:r>
            <a:r>
              <a:rPr lang="en-US" altLang="zh-CN" sz="2400" dirty="0" err="1" smtClean="0"/>
              <a:t>i</a:t>
            </a:r>
            <a:r>
              <a:rPr lang="en-US" altLang="zh-CN" sz="2400" dirty="0" smtClean="0"/>
              <a:t>]]</a:t>
            </a:r>
            <a:r>
              <a:rPr lang="zh-CN" altLang="en-US" sz="2400" dirty="0" smtClean="0"/>
              <a:t>一项</a:t>
            </a:r>
            <a:r>
              <a:rPr lang="en-US" altLang="zh-CN" sz="2400" dirty="0" smtClean="0"/>
              <a:t>.</a:t>
            </a:r>
            <a:endParaRPr lang="en-US" altLang="zh-CN" sz="2400" dirty="0" smtClean="0"/>
          </a:p>
          <a:p>
            <a:r>
              <a:rPr lang="zh-CN" altLang="en-US" sz="2400" dirty="0" smtClean="0"/>
              <a:t>最后可以用</a:t>
            </a:r>
            <a:r>
              <a:rPr lang="en-US" altLang="zh-CN" sz="2400" dirty="0" err="1" smtClean="0"/>
              <a:t>qmax</a:t>
            </a:r>
            <a:r>
              <a:rPr lang="en-US" altLang="zh-CN" sz="2400" dirty="0" smtClean="0"/>
              <a:t>(MAX_VALUE)</a:t>
            </a:r>
            <a:r>
              <a:rPr lang="zh-CN" altLang="en-US" sz="2400" dirty="0" smtClean="0"/>
              <a:t>输出最优解</a:t>
            </a:r>
            <a:endParaRPr lang="en-US" altLang="zh-CN" sz="2400" dirty="0" smtClean="0"/>
          </a:p>
          <a:p>
            <a:r>
              <a:rPr lang="zh-CN" altLang="en-US" sz="2400" dirty="0" smtClean="0"/>
              <a:t>如果输入的数值不是</a:t>
            </a:r>
            <a:r>
              <a:rPr lang="en-US" altLang="zh-CN" sz="2400" dirty="0" smtClean="0"/>
              <a:t>1</a:t>
            </a:r>
            <a:r>
              <a:rPr lang="zh-CN" altLang="en-US" sz="2400" dirty="0" smtClean="0"/>
              <a:t>到</a:t>
            </a:r>
            <a:r>
              <a:rPr lang="en-US" altLang="zh-CN" sz="2400" dirty="0" smtClean="0"/>
              <a:t>n</a:t>
            </a:r>
            <a:r>
              <a:rPr lang="zh-CN" altLang="en-US" sz="2400" dirty="0" smtClean="0"/>
              <a:t>的</a:t>
            </a:r>
            <a:r>
              <a:rPr lang="en-US" altLang="zh-CN" sz="2400" dirty="0" smtClean="0"/>
              <a:t>,</a:t>
            </a:r>
            <a:r>
              <a:rPr lang="zh-CN" altLang="en-US" sz="2400" dirty="0" smtClean="0"/>
              <a:t>需要先离散化</a:t>
            </a:r>
            <a:endParaRPr lang="en-US" altLang="zh-CN" sz="2400" dirty="0" smtClean="0"/>
          </a:p>
          <a:p>
            <a:r>
              <a:rPr lang="zh-CN" altLang="en-US" sz="2400" dirty="0" smtClean="0"/>
              <a:t>代码长这样</a:t>
            </a:r>
            <a:r>
              <a:rPr lang="en-US" altLang="zh-CN" sz="2400" dirty="0" smtClean="0"/>
              <a:t>:</a:t>
            </a:r>
            <a:endParaRPr lang="en-US" altLang="zh-CN" sz="2400" dirty="0" smtClean="0"/>
          </a:p>
        </p:txBody>
      </p:sp>
      <p:pic>
        <p:nvPicPr>
          <p:cNvPr id="2050" name="Picture 2"/>
          <p:cNvPicPr>
            <a:picLocks noChangeAspect="1" noChangeArrowheads="1"/>
          </p:cNvPicPr>
          <p:nvPr/>
        </p:nvPicPr>
        <p:blipFill>
          <a:blip r:embed="rId1"/>
          <a:srcRect/>
          <a:stretch>
            <a:fillRect/>
          </a:stretch>
        </p:blipFill>
        <p:spPr bwMode="auto">
          <a:xfrm>
            <a:off x="3071802" y="3286124"/>
            <a:ext cx="5475590" cy="2863747"/>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树状数组优化动态规划</a:t>
            </a:r>
            <a:r>
              <a:rPr lang="en-US" altLang="zh-CN" dirty="0" smtClean="0"/>
              <a:t>(LIS</a:t>
            </a:r>
            <a:r>
              <a:rPr lang="zh-CN" altLang="en-US" dirty="0" smtClean="0"/>
              <a:t>方案统计</a:t>
            </a:r>
            <a:r>
              <a:rPr lang="en-US" altLang="zh-CN" dirty="0" smtClean="0"/>
              <a:t>)</a:t>
            </a:r>
            <a:endParaRPr lang="zh-CN" altLang="en-US" dirty="0"/>
          </a:p>
        </p:txBody>
      </p:sp>
      <p:sp>
        <p:nvSpPr>
          <p:cNvPr id="3" name="内容占位符 2"/>
          <p:cNvSpPr>
            <a:spLocks noGrp="1"/>
          </p:cNvSpPr>
          <p:nvPr>
            <p:ph sz="quarter" idx="1"/>
          </p:nvPr>
        </p:nvSpPr>
        <p:spPr/>
        <p:txBody>
          <a:bodyPr>
            <a:normAutofit/>
          </a:bodyPr>
          <a:lstStyle/>
          <a:p>
            <a:r>
              <a:rPr lang="zh-CN" altLang="en-US" sz="2400" dirty="0" smtClean="0"/>
              <a:t>统计一个序列中有多少个本质不同的</a:t>
            </a:r>
            <a:r>
              <a:rPr lang="en-US" altLang="zh-CN" sz="2400" dirty="0" smtClean="0"/>
              <a:t>LIS</a:t>
            </a:r>
            <a:endParaRPr lang="en-US" altLang="zh-CN" sz="2400" dirty="0" smtClean="0"/>
          </a:p>
          <a:p>
            <a:r>
              <a:rPr lang="zh-CN" altLang="en-US" sz="2400" dirty="0" smtClean="0"/>
              <a:t>如果两个</a:t>
            </a:r>
            <a:r>
              <a:rPr lang="en-US" altLang="zh-CN" sz="2400" dirty="0" smtClean="0"/>
              <a:t>LIS</a:t>
            </a:r>
            <a:r>
              <a:rPr lang="zh-CN" altLang="en-US" sz="2400" dirty="0" smtClean="0"/>
              <a:t>包含的数值是一样的那么本质相同</a:t>
            </a:r>
            <a:endParaRPr lang="en-US" altLang="zh-CN" sz="2400" dirty="0" smtClean="0"/>
          </a:p>
          <a:p>
            <a:r>
              <a:rPr lang="zh-CN" altLang="en-US" sz="2400" dirty="0" smtClean="0"/>
              <a:t>要求</a:t>
            </a:r>
            <a:r>
              <a:rPr lang="en-US" altLang="zh-CN" sz="2400" dirty="0" err="1" smtClean="0"/>
              <a:t>nlogn</a:t>
            </a:r>
            <a:endParaRPr lang="en-US" altLang="zh-CN" sz="2400" dirty="0" smtClean="0"/>
          </a:p>
          <a:p>
            <a:r>
              <a:rPr lang="zh-CN" altLang="en-US" sz="2400" dirty="0" smtClean="0"/>
              <a:t>不妨先想一想</a:t>
            </a:r>
            <a:r>
              <a:rPr lang="en-US" altLang="zh-CN" sz="2400" dirty="0" smtClean="0"/>
              <a:t>n^2</a:t>
            </a:r>
            <a:r>
              <a:rPr lang="zh-CN" altLang="en-US" sz="2400" dirty="0" smtClean="0"/>
              <a:t>的做法</a:t>
            </a:r>
            <a:r>
              <a:rPr lang="en-US" altLang="zh-CN" sz="2400" dirty="0" smtClean="0"/>
              <a:t>,</a:t>
            </a:r>
            <a:r>
              <a:rPr lang="zh-CN" altLang="en-US" sz="2400" dirty="0" smtClean="0"/>
              <a:t>欢迎上来口胡</a:t>
            </a:r>
            <a:r>
              <a:rPr lang="en-US" altLang="zh-CN" sz="2400" dirty="0" smtClean="0"/>
              <a:t>/</a:t>
            </a:r>
            <a:r>
              <a:rPr lang="zh-CN" altLang="en-US" sz="2400" dirty="0" smtClean="0"/>
              <a:t>吐槽</a:t>
            </a:r>
            <a:r>
              <a:rPr lang="en-US" altLang="zh-CN" sz="2400" dirty="0" smtClean="0"/>
              <a:t>/</a:t>
            </a:r>
            <a:r>
              <a:rPr lang="zh-CN" altLang="en-US" sz="2400" dirty="0" smtClean="0"/>
              <a:t>乱搞</a:t>
            </a:r>
            <a:endParaRPr lang="en-US" altLang="zh-CN" sz="2400" dirty="0" smtClean="0"/>
          </a:p>
          <a:p>
            <a:r>
              <a:rPr lang="zh-CN" altLang="en-US" sz="2400" dirty="0" smtClean="0"/>
              <a:t>这里给出一种可行的方法</a:t>
            </a:r>
            <a:endParaRPr lang="en-US" altLang="zh-CN" sz="2400" dirty="0" smtClean="0"/>
          </a:p>
          <a:p>
            <a:r>
              <a:rPr lang="zh-CN" altLang="en-US" sz="2400" dirty="0" smtClean="0"/>
              <a:t>记</a:t>
            </a:r>
            <a:r>
              <a:rPr lang="en-US" altLang="zh-CN" sz="2400" dirty="0" smtClean="0"/>
              <a:t>f[</a:t>
            </a:r>
            <a:r>
              <a:rPr lang="en-US" altLang="zh-CN" sz="2400" dirty="0" err="1" smtClean="0"/>
              <a:t>i</a:t>
            </a:r>
            <a:r>
              <a:rPr lang="en-US" altLang="zh-CN" sz="2400" dirty="0" smtClean="0"/>
              <a:t>]</a:t>
            </a:r>
            <a:r>
              <a:rPr lang="zh-CN" altLang="en-US" sz="2400" dirty="0" smtClean="0"/>
              <a:t>为在第</a:t>
            </a:r>
            <a:r>
              <a:rPr lang="en-US" altLang="zh-CN" sz="2400" dirty="0" err="1" smtClean="0"/>
              <a:t>i</a:t>
            </a:r>
            <a:r>
              <a:rPr lang="zh-CN" altLang="en-US" sz="2400" dirty="0" smtClean="0"/>
              <a:t>个位置结尾的</a:t>
            </a:r>
            <a:r>
              <a:rPr lang="en-US" altLang="zh-CN" sz="2400" dirty="0" smtClean="0"/>
              <a:t>LIS</a:t>
            </a:r>
            <a:r>
              <a:rPr lang="zh-CN" altLang="en-US" sz="2400" dirty="0" smtClean="0"/>
              <a:t>长度</a:t>
            </a:r>
            <a:r>
              <a:rPr lang="en-US" altLang="zh-CN" sz="2400" dirty="0" smtClean="0"/>
              <a:t>,</a:t>
            </a:r>
            <a:endParaRPr lang="en-US" altLang="zh-CN" sz="2400" dirty="0" smtClean="0"/>
          </a:p>
          <a:p>
            <a:r>
              <a:rPr lang="zh-CN" altLang="en-US" sz="2400" dirty="0" smtClean="0"/>
              <a:t>记</a:t>
            </a:r>
            <a:r>
              <a:rPr lang="en-US" altLang="zh-CN" sz="2400" dirty="0" smtClean="0"/>
              <a:t>g[</a:t>
            </a:r>
            <a:r>
              <a:rPr lang="en-US" altLang="zh-CN" sz="2400" dirty="0" err="1" smtClean="0"/>
              <a:t>i</a:t>
            </a:r>
            <a:r>
              <a:rPr lang="en-US" altLang="zh-CN" sz="2400" dirty="0" smtClean="0"/>
              <a:t>]</a:t>
            </a:r>
            <a:r>
              <a:rPr lang="zh-CN" altLang="en-US" sz="2400" dirty="0" smtClean="0"/>
              <a:t>为在第</a:t>
            </a:r>
            <a:r>
              <a:rPr lang="en-US" altLang="zh-CN" sz="2400" dirty="0" err="1" smtClean="0"/>
              <a:t>i</a:t>
            </a:r>
            <a:r>
              <a:rPr lang="zh-CN" altLang="en-US" sz="2400" dirty="0" smtClean="0"/>
              <a:t>个位置结尾且长度等于</a:t>
            </a:r>
            <a:r>
              <a:rPr lang="en-US" altLang="zh-CN" sz="2400" dirty="0" smtClean="0"/>
              <a:t>f[</a:t>
            </a:r>
            <a:r>
              <a:rPr lang="en-US" altLang="zh-CN" sz="2400" dirty="0" err="1" smtClean="0"/>
              <a:t>i</a:t>
            </a:r>
            <a:r>
              <a:rPr lang="en-US" altLang="zh-CN" sz="2400" dirty="0" smtClean="0"/>
              <a:t>]</a:t>
            </a:r>
            <a:r>
              <a:rPr lang="zh-CN" altLang="en-US" sz="2400" dirty="0" smtClean="0"/>
              <a:t>的本质不同的</a:t>
            </a:r>
            <a:r>
              <a:rPr lang="en-US" altLang="zh-CN" sz="2400" dirty="0" smtClean="0"/>
              <a:t>LIS</a:t>
            </a:r>
            <a:r>
              <a:rPr lang="zh-CN" altLang="en-US" sz="2400" dirty="0" smtClean="0"/>
              <a:t>数目</a:t>
            </a:r>
            <a:endParaRPr lang="en-US" altLang="zh-CN" sz="2400" dirty="0" smtClean="0"/>
          </a:p>
          <a:p>
            <a:r>
              <a:rPr lang="zh-CN" altLang="en-US" sz="2400" dirty="0" smtClean="0"/>
              <a:t>考虑求出这两个数组后如何统计答案</a:t>
            </a:r>
            <a:endParaRPr lang="en-US" altLang="zh-CN" sz="2400" dirty="0" smtClean="0"/>
          </a:p>
          <a:p>
            <a:r>
              <a:rPr lang="zh-CN" altLang="en-US" sz="2400" dirty="0" smtClean="0"/>
              <a:t>对于每个不同的数值</a:t>
            </a:r>
            <a:r>
              <a:rPr lang="en-US" altLang="zh-CN" sz="2400" dirty="0" smtClean="0"/>
              <a:t>,</a:t>
            </a:r>
            <a:r>
              <a:rPr lang="zh-CN" altLang="en-US" sz="2400" dirty="0" smtClean="0"/>
              <a:t>我们只考虑它最后一次出现的位置</a:t>
            </a:r>
            <a:r>
              <a:rPr lang="en-US" altLang="zh-CN" sz="2400" dirty="0" smtClean="0"/>
              <a:t>,</a:t>
            </a:r>
            <a:r>
              <a:rPr lang="zh-CN" altLang="en-US" sz="2400" dirty="0" smtClean="0"/>
              <a:t>把这些位置的</a:t>
            </a:r>
            <a:r>
              <a:rPr lang="en-US" altLang="zh-CN" sz="2400" dirty="0" smtClean="0"/>
              <a:t>g[</a:t>
            </a:r>
            <a:r>
              <a:rPr lang="en-US" altLang="zh-CN" sz="2400" dirty="0" err="1" smtClean="0"/>
              <a:t>i</a:t>
            </a:r>
            <a:r>
              <a:rPr lang="en-US" altLang="zh-CN" sz="2400" dirty="0" smtClean="0"/>
              <a:t>]</a:t>
            </a:r>
            <a:r>
              <a:rPr lang="zh-CN" altLang="en-US" sz="2400" dirty="0" smtClean="0"/>
              <a:t>的值加起来即可</a:t>
            </a:r>
            <a:r>
              <a:rPr lang="en-US" altLang="zh-CN" sz="2400" dirty="0" smtClean="0"/>
              <a:t>.</a:t>
            </a:r>
            <a:r>
              <a:rPr lang="zh-CN" altLang="en-US" sz="2400" dirty="0" smtClean="0"/>
              <a:t>来个人解释下为什么</a:t>
            </a:r>
            <a:r>
              <a:rPr lang="en-US" altLang="zh-CN" sz="2400" dirty="0" smtClean="0"/>
              <a:t>.</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树状数组优化动态规划</a:t>
            </a:r>
            <a:r>
              <a:rPr lang="en-US" altLang="zh-CN" dirty="0" smtClean="0"/>
              <a:t>(LIS</a:t>
            </a:r>
            <a:r>
              <a:rPr lang="zh-CN" altLang="en-US" dirty="0" smtClean="0"/>
              <a:t>方案统计</a:t>
            </a:r>
            <a:r>
              <a:rPr lang="en-US" altLang="zh-CN" dirty="0" smtClean="0"/>
              <a:t>)</a:t>
            </a:r>
            <a:endParaRPr lang="zh-CN" altLang="en-US" dirty="0"/>
          </a:p>
        </p:txBody>
      </p:sp>
      <p:sp>
        <p:nvSpPr>
          <p:cNvPr id="3" name="内容占位符 2"/>
          <p:cNvSpPr>
            <a:spLocks noGrp="1"/>
          </p:cNvSpPr>
          <p:nvPr>
            <p:ph sz="quarter" idx="1"/>
          </p:nvPr>
        </p:nvSpPr>
        <p:spPr/>
        <p:txBody>
          <a:bodyPr>
            <a:normAutofit/>
          </a:bodyPr>
          <a:lstStyle/>
          <a:p>
            <a:r>
              <a:rPr lang="zh-CN" altLang="en-US" sz="2400" dirty="0" smtClean="0"/>
              <a:t>然后我们考虑怎么转移</a:t>
            </a:r>
            <a:r>
              <a:rPr lang="en-US" altLang="zh-CN" sz="2400" dirty="0" smtClean="0"/>
              <a:t>.</a:t>
            </a:r>
            <a:r>
              <a:rPr lang="zh-CN" altLang="en-US" sz="2400" dirty="0" smtClean="0"/>
              <a:t>关键是</a:t>
            </a:r>
            <a:r>
              <a:rPr lang="en-US" altLang="zh-CN" sz="2400" dirty="0" smtClean="0"/>
              <a:t>g[</a:t>
            </a:r>
            <a:r>
              <a:rPr lang="en-US" altLang="zh-CN" sz="2400" dirty="0" err="1" smtClean="0"/>
              <a:t>i</a:t>
            </a:r>
            <a:r>
              <a:rPr lang="en-US" altLang="zh-CN" sz="2400" dirty="0" smtClean="0"/>
              <a:t>]</a:t>
            </a:r>
            <a:r>
              <a:rPr lang="zh-CN" altLang="en-US" sz="2400" dirty="0" smtClean="0"/>
              <a:t>的求解</a:t>
            </a:r>
            <a:r>
              <a:rPr lang="en-US" altLang="zh-CN" sz="2400" dirty="0" smtClean="0"/>
              <a:t>.</a:t>
            </a:r>
            <a:endParaRPr lang="en-US" altLang="zh-CN" sz="2400" dirty="0" smtClean="0"/>
          </a:p>
          <a:p>
            <a:r>
              <a:rPr lang="zh-CN" altLang="en-US" sz="2400" dirty="0" smtClean="0"/>
              <a:t>先求出</a:t>
            </a:r>
            <a:r>
              <a:rPr lang="en-US" altLang="zh-CN" sz="2400" dirty="0" smtClean="0"/>
              <a:t>f[</a:t>
            </a:r>
            <a:r>
              <a:rPr lang="en-US" altLang="zh-CN" sz="2400" dirty="0" err="1" smtClean="0"/>
              <a:t>i</a:t>
            </a:r>
            <a:r>
              <a:rPr lang="en-US" altLang="zh-CN" sz="2400" dirty="0" smtClean="0"/>
              <a:t>]</a:t>
            </a:r>
            <a:r>
              <a:rPr lang="zh-CN" altLang="en-US" sz="2400" dirty="0" smtClean="0"/>
              <a:t>再求</a:t>
            </a:r>
            <a:r>
              <a:rPr lang="en-US" altLang="zh-CN" sz="2400" dirty="0" smtClean="0"/>
              <a:t>g[</a:t>
            </a:r>
            <a:r>
              <a:rPr lang="en-US" altLang="zh-CN" sz="2400" dirty="0" err="1" smtClean="0"/>
              <a:t>i</a:t>
            </a:r>
            <a:r>
              <a:rPr lang="en-US" altLang="zh-CN" sz="2400" dirty="0" smtClean="0"/>
              <a:t>].</a:t>
            </a:r>
            <a:r>
              <a:rPr lang="zh-CN" altLang="en-US" sz="2400" dirty="0" smtClean="0"/>
              <a:t>考虑枚举</a:t>
            </a:r>
            <a:r>
              <a:rPr lang="en-US" altLang="zh-CN" sz="2400" dirty="0" smtClean="0"/>
              <a:t>LIS</a:t>
            </a:r>
            <a:r>
              <a:rPr lang="zh-CN" altLang="en-US" sz="2400" dirty="0" smtClean="0"/>
              <a:t>中前一个元素的下标</a:t>
            </a:r>
            <a:r>
              <a:rPr lang="en-US" altLang="zh-CN" sz="2400" dirty="0" smtClean="0"/>
              <a:t>j,</a:t>
            </a:r>
            <a:r>
              <a:rPr lang="zh-CN" altLang="en-US" sz="2400" dirty="0" smtClean="0"/>
              <a:t>首先必须满足</a:t>
            </a:r>
            <a:r>
              <a:rPr lang="en-US" altLang="zh-CN" sz="2400" dirty="0" smtClean="0"/>
              <a:t>a[j]&lt;a[</a:t>
            </a:r>
            <a:r>
              <a:rPr lang="en-US" altLang="zh-CN" sz="2400" dirty="0" err="1" smtClean="0"/>
              <a:t>i</a:t>
            </a:r>
            <a:r>
              <a:rPr lang="en-US" altLang="zh-CN" sz="2400" dirty="0" smtClean="0"/>
              <a:t>]</a:t>
            </a:r>
            <a:r>
              <a:rPr lang="zh-CN" altLang="en-US" sz="2400" dirty="0" smtClean="0"/>
              <a:t>且</a:t>
            </a:r>
            <a:r>
              <a:rPr lang="en-US" altLang="zh-CN" sz="2400" dirty="0" smtClean="0"/>
              <a:t>f[j]+1=f[</a:t>
            </a:r>
            <a:r>
              <a:rPr lang="en-US" altLang="zh-CN" sz="2400" dirty="0" err="1" smtClean="0"/>
              <a:t>i</a:t>
            </a:r>
            <a:r>
              <a:rPr lang="en-US" altLang="zh-CN" sz="2400" dirty="0" smtClean="0"/>
              <a:t>],</a:t>
            </a:r>
            <a:r>
              <a:rPr lang="zh-CN" altLang="en-US" sz="2400" dirty="0" smtClean="0"/>
              <a:t>这说明在</a:t>
            </a:r>
            <a:r>
              <a:rPr lang="en-US" altLang="zh-CN" sz="2400" dirty="0" smtClean="0"/>
              <a:t>j</a:t>
            </a:r>
            <a:r>
              <a:rPr lang="zh-CN" altLang="en-US" sz="2400" dirty="0" smtClean="0"/>
              <a:t>结尾的</a:t>
            </a:r>
            <a:r>
              <a:rPr lang="en-US" altLang="zh-CN" sz="2400" dirty="0" smtClean="0"/>
              <a:t>LIS</a:t>
            </a:r>
            <a:r>
              <a:rPr lang="zh-CN" altLang="en-US" sz="2400" dirty="0" smtClean="0"/>
              <a:t>可以在加上</a:t>
            </a:r>
            <a:r>
              <a:rPr lang="en-US" altLang="zh-CN" sz="2400" dirty="0" smtClean="0"/>
              <a:t>a[</a:t>
            </a:r>
            <a:r>
              <a:rPr lang="en-US" altLang="zh-CN" sz="2400" dirty="0" err="1" smtClean="0"/>
              <a:t>i</a:t>
            </a:r>
            <a:r>
              <a:rPr lang="en-US" altLang="zh-CN" sz="2400" dirty="0" smtClean="0"/>
              <a:t>]</a:t>
            </a:r>
            <a:r>
              <a:rPr lang="zh-CN" altLang="en-US" sz="2400" dirty="0" smtClean="0"/>
              <a:t>后得到在</a:t>
            </a:r>
            <a:r>
              <a:rPr lang="en-US" altLang="zh-CN" sz="2400" dirty="0" err="1" smtClean="0"/>
              <a:t>i</a:t>
            </a:r>
            <a:r>
              <a:rPr lang="zh-CN" altLang="en-US" sz="2400" dirty="0" smtClean="0"/>
              <a:t>结尾的</a:t>
            </a:r>
            <a:r>
              <a:rPr lang="en-US" altLang="zh-CN" sz="2400" dirty="0" smtClean="0"/>
              <a:t>LIS.</a:t>
            </a:r>
            <a:endParaRPr lang="en-US" altLang="zh-CN" sz="2400" dirty="0" smtClean="0"/>
          </a:p>
          <a:p>
            <a:r>
              <a:rPr lang="zh-CN" altLang="en-US" sz="2400" dirty="0" smtClean="0"/>
              <a:t>如果有两个不同的</a:t>
            </a:r>
            <a:r>
              <a:rPr lang="en-US" altLang="zh-CN" sz="2400" dirty="0" smtClean="0"/>
              <a:t>j</a:t>
            </a:r>
            <a:r>
              <a:rPr lang="zh-CN" altLang="en-US" sz="2400" dirty="0" smtClean="0"/>
              <a:t>数值相同</a:t>
            </a:r>
            <a:r>
              <a:rPr lang="en-US" altLang="zh-CN" sz="2400" dirty="0" smtClean="0"/>
              <a:t>,</a:t>
            </a:r>
            <a:r>
              <a:rPr lang="zh-CN" altLang="en-US" sz="2400" dirty="0" smtClean="0"/>
              <a:t>会导致重复</a:t>
            </a:r>
            <a:r>
              <a:rPr lang="en-US" altLang="zh-CN" sz="2400" dirty="0" smtClean="0"/>
              <a:t>.</a:t>
            </a:r>
            <a:r>
              <a:rPr lang="zh-CN" altLang="en-US" sz="2400" dirty="0" smtClean="0"/>
              <a:t>怎样避免</a:t>
            </a:r>
            <a:r>
              <a:rPr lang="en-US" altLang="zh-CN" sz="2400" dirty="0" smtClean="0"/>
              <a:t>?</a:t>
            </a:r>
            <a:endParaRPr lang="en-US" altLang="zh-CN" sz="2400" dirty="0" smtClean="0"/>
          </a:p>
          <a:p>
            <a:r>
              <a:rPr lang="zh-CN" altLang="en-US" sz="2400" dirty="0" smtClean="0"/>
              <a:t>对于每种小于</a:t>
            </a:r>
            <a:r>
              <a:rPr lang="en-US" altLang="zh-CN" sz="2400" dirty="0" smtClean="0"/>
              <a:t>a[</a:t>
            </a:r>
            <a:r>
              <a:rPr lang="en-US" altLang="zh-CN" sz="2400" dirty="0" err="1" smtClean="0"/>
              <a:t>i</a:t>
            </a:r>
            <a:r>
              <a:rPr lang="en-US" altLang="zh-CN" sz="2400" dirty="0" smtClean="0"/>
              <a:t>]</a:t>
            </a:r>
            <a:r>
              <a:rPr lang="zh-CN" altLang="en-US" sz="2400" dirty="0" smtClean="0"/>
              <a:t>的数值我们只考虑它的最后一次出现位置</a:t>
            </a:r>
            <a:r>
              <a:rPr lang="en-US" altLang="zh-CN" sz="2400" dirty="0" smtClean="0"/>
              <a:t>,</a:t>
            </a:r>
            <a:r>
              <a:rPr lang="zh-CN" altLang="en-US" sz="2400" dirty="0" smtClean="0"/>
              <a:t>将其加入到</a:t>
            </a:r>
            <a:r>
              <a:rPr lang="en-US" altLang="zh-CN" sz="2400" dirty="0" smtClean="0"/>
              <a:t>g[</a:t>
            </a:r>
            <a:r>
              <a:rPr lang="en-US" altLang="zh-CN" sz="2400" dirty="0" err="1" smtClean="0"/>
              <a:t>i</a:t>
            </a:r>
            <a:r>
              <a:rPr lang="en-US" altLang="zh-CN" sz="2400" dirty="0" smtClean="0"/>
              <a:t>]</a:t>
            </a:r>
            <a:r>
              <a:rPr lang="zh-CN" altLang="en-US" sz="2400" dirty="0" smtClean="0"/>
              <a:t>里</a:t>
            </a:r>
            <a:r>
              <a:rPr lang="en-US" altLang="zh-CN" sz="2400" dirty="0" smtClean="0"/>
              <a:t>.</a:t>
            </a:r>
            <a:r>
              <a:rPr lang="zh-CN" altLang="en-US" sz="2400" dirty="0" smtClean="0"/>
              <a:t>理由和最后统计答案的时候差不多</a:t>
            </a:r>
            <a:r>
              <a:rPr lang="en-US" altLang="zh-CN" sz="2400" dirty="0" smtClean="0"/>
              <a:t>.</a:t>
            </a:r>
            <a:endParaRPr lang="en-US" altLang="zh-CN" sz="2400" dirty="0" smtClean="0"/>
          </a:p>
          <a:p>
            <a:r>
              <a:rPr lang="zh-CN" altLang="en-US" sz="2400" dirty="0" smtClean="0"/>
              <a:t>现在我们加入树状数组优化就可以做到</a:t>
            </a:r>
            <a:r>
              <a:rPr lang="en-US" altLang="zh-CN" sz="2400" dirty="0" err="1" smtClean="0"/>
              <a:t>nlogn</a:t>
            </a:r>
            <a:r>
              <a:rPr lang="zh-CN" altLang="en-US" sz="2400" dirty="0" smtClean="0"/>
              <a:t>了</a:t>
            </a:r>
            <a:r>
              <a:rPr lang="en-US" altLang="zh-CN" sz="2400" dirty="0" smtClean="0"/>
              <a:t>,Over.</a:t>
            </a:r>
            <a:endParaRPr lang="en-US" altLang="zh-CN" sz="2400" dirty="0" smtClean="0"/>
          </a:p>
          <a:p>
            <a:r>
              <a:rPr lang="zh-CN" altLang="en-US" sz="2400" dirty="0" smtClean="0"/>
              <a:t>开一个数组</a:t>
            </a:r>
            <a:r>
              <a:rPr lang="en-US" altLang="zh-CN" sz="2400" dirty="0" smtClean="0"/>
              <a:t>h[</a:t>
            </a:r>
            <a:r>
              <a:rPr lang="en-US" altLang="zh-CN" sz="2400" dirty="0" err="1" smtClean="0"/>
              <a:t>i</a:t>
            </a:r>
            <a:r>
              <a:rPr lang="en-US" altLang="zh-CN" sz="2400" dirty="0" smtClean="0"/>
              <a:t>]</a:t>
            </a:r>
            <a:r>
              <a:rPr lang="zh-CN" altLang="en-US" sz="2400" dirty="0" smtClean="0"/>
              <a:t>表示以数值</a:t>
            </a:r>
            <a:r>
              <a:rPr lang="en-US" altLang="zh-CN" sz="2400" dirty="0" err="1" smtClean="0"/>
              <a:t>i</a:t>
            </a:r>
            <a:r>
              <a:rPr lang="zh-CN" altLang="en-US" sz="2400" dirty="0" smtClean="0"/>
              <a:t>结尾的本质不同的</a:t>
            </a:r>
            <a:r>
              <a:rPr lang="en-US" altLang="zh-CN" sz="2400" dirty="0" smtClean="0"/>
              <a:t>LIS</a:t>
            </a:r>
            <a:r>
              <a:rPr lang="zh-CN" altLang="en-US" sz="2400" dirty="0" smtClean="0"/>
              <a:t>的方案数</a:t>
            </a:r>
            <a:r>
              <a:rPr lang="en-US" altLang="zh-CN" sz="2400" dirty="0" smtClean="0"/>
              <a:t>.</a:t>
            </a:r>
            <a:r>
              <a:rPr lang="zh-CN" altLang="en-US" sz="2400" dirty="0" smtClean="0"/>
              <a:t>支持单点修改和区间求和即可</a:t>
            </a:r>
            <a:r>
              <a:rPr lang="en-US" altLang="zh-CN" sz="2400" dirty="0" smtClean="0"/>
              <a:t>.</a:t>
            </a:r>
            <a:endParaRPr lang="en-US" altLang="zh-CN" sz="2400" dirty="0" smtClean="0"/>
          </a:p>
          <a:p>
            <a:r>
              <a:rPr lang="en-US" altLang="zh-CN" sz="2400" dirty="0" err="1" smtClean="0"/>
              <a:t>Luogu</a:t>
            </a:r>
            <a:r>
              <a:rPr lang="zh-CN" altLang="en-US" sz="2400" dirty="0" smtClean="0"/>
              <a:t>上有一道</a:t>
            </a:r>
            <a:r>
              <a:rPr lang="en-US" altLang="zh-CN" sz="2400" dirty="0" smtClean="0"/>
              <a:t>”</a:t>
            </a:r>
            <a:r>
              <a:rPr lang="zh-CN" altLang="en-US" sz="2400" dirty="0" smtClean="0"/>
              <a:t>低价购买</a:t>
            </a:r>
            <a:r>
              <a:rPr lang="en-US" altLang="zh-CN" sz="2400" dirty="0" smtClean="0"/>
              <a:t>”,</a:t>
            </a:r>
            <a:r>
              <a:rPr lang="zh-CN" altLang="en-US" sz="2400" dirty="0" smtClean="0"/>
              <a:t>不过那个题范围是</a:t>
            </a:r>
            <a:r>
              <a:rPr lang="en-US" altLang="zh-CN" sz="2400" dirty="0" smtClean="0"/>
              <a:t>5000…</a:t>
            </a:r>
            <a:endParaRPr lang="zh-CN" alt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树状数组优化动态规划</a:t>
            </a:r>
            <a:r>
              <a:rPr lang="en-US" altLang="zh-CN" dirty="0" smtClean="0"/>
              <a:t>(</a:t>
            </a:r>
            <a:r>
              <a:rPr lang="zh-CN" altLang="en-US" dirty="0" smtClean="0"/>
              <a:t>更多题目</a:t>
            </a:r>
            <a:r>
              <a:rPr lang="en-US" altLang="zh-CN" dirty="0" smtClean="0"/>
              <a:t>)</a:t>
            </a:r>
            <a:endParaRPr lang="zh-CN" altLang="en-US" dirty="0"/>
          </a:p>
        </p:txBody>
      </p:sp>
      <p:sp>
        <p:nvSpPr>
          <p:cNvPr id="3" name="内容占位符 2"/>
          <p:cNvSpPr>
            <a:spLocks noGrp="1"/>
          </p:cNvSpPr>
          <p:nvPr>
            <p:ph sz="quarter" idx="1"/>
          </p:nvPr>
        </p:nvSpPr>
        <p:spPr/>
        <p:txBody>
          <a:bodyPr/>
          <a:lstStyle/>
          <a:p>
            <a:r>
              <a:rPr lang="en-US" altLang="zh-CN" dirty="0" smtClean="0"/>
              <a:t>NOIP2013 </a:t>
            </a:r>
            <a:r>
              <a:rPr lang="zh-CN" altLang="en-US" dirty="0" smtClean="0"/>
              <a:t>花匠</a:t>
            </a:r>
            <a:endParaRPr lang="en-US" altLang="zh-CN" dirty="0" smtClean="0"/>
          </a:p>
          <a:p>
            <a:r>
              <a:rPr lang="en-US" altLang="zh-CN" dirty="0" smtClean="0"/>
              <a:t>Bzoj1264 </a:t>
            </a:r>
            <a:r>
              <a:rPr lang="zh-CN" altLang="en-US" dirty="0" smtClean="0"/>
              <a:t>基因匹配</a:t>
            </a:r>
            <a:r>
              <a:rPr lang="en-US" altLang="zh-CN" dirty="0" smtClean="0"/>
              <a:t>Match</a:t>
            </a:r>
            <a:endParaRPr lang="en-US" altLang="zh-CN" dirty="0" smtClean="0"/>
          </a:p>
          <a:p>
            <a:r>
              <a:rPr lang="en-US" altLang="zh-CN" dirty="0" smtClean="0"/>
              <a:t>Bzoj3594 </a:t>
            </a:r>
            <a:r>
              <a:rPr lang="zh-CN" altLang="en-US" dirty="0" smtClean="0"/>
              <a:t>方伯伯的玉米田</a:t>
            </a:r>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t>单调队列优化动态规划</a:t>
            </a:r>
            <a:endParaRPr lang="zh-CN" altLang="en-US" dirty="0"/>
          </a:p>
        </p:txBody>
      </p:sp>
      <p:sp>
        <p:nvSpPr>
          <p:cNvPr id="5" name="文本占位符 4"/>
          <p:cNvSpPr>
            <a:spLocks noGrp="1"/>
          </p:cNvSpPr>
          <p:nvPr>
            <p:ph type="body" idx="1"/>
          </p:nvPr>
        </p:nvSpPr>
        <p:spPr/>
        <p:txBody>
          <a:bodyPr/>
          <a:lstStyle/>
          <a:p>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单调队列</a:t>
            </a:r>
            <a:r>
              <a:rPr lang="en-US" altLang="zh-CN" dirty="0" smtClean="0"/>
              <a:t>(</a:t>
            </a:r>
            <a:r>
              <a:rPr lang="zh-CN" altLang="en-US" dirty="0" smtClean="0"/>
              <a:t>基本概念</a:t>
            </a:r>
            <a:r>
              <a:rPr lang="en-US" altLang="zh-CN" dirty="0" smtClean="0"/>
              <a:t>)</a:t>
            </a:r>
            <a:endParaRPr lang="zh-CN" altLang="en-US" dirty="0"/>
          </a:p>
        </p:txBody>
      </p:sp>
      <p:sp>
        <p:nvSpPr>
          <p:cNvPr id="3" name="内容占位符 2"/>
          <p:cNvSpPr>
            <a:spLocks noGrp="1"/>
          </p:cNvSpPr>
          <p:nvPr>
            <p:ph sz="quarter" idx="1"/>
          </p:nvPr>
        </p:nvSpPr>
        <p:spPr/>
        <p:txBody>
          <a:bodyPr>
            <a:normAutofit/>
          </a:bodyPr>
          <a:lstStyle/>
          <a:p>
            <a:r>
              <a:rPr lang="zh-CN" altLang="en-US" sz="2400" dirty="0" smtClean="0"/>
              <a:t>不知道前几天有没有人给你们讲单调队列</a:t>
            </a:r>
            <a:r>
              <a:rPr lang="en-US" altLang="zh-CN" sz="2400" dirty="0" smtClean="0"/>
              <a:t>…</a:t>
            </a:r>
            <a:r>
              <a:rPr lang="zh-CN" altLang="en-US" sz="2400" dirty="0" smtClean="0"/>
              <a:t>可能大部分人都会了</a:t>
            </a:r>
            <a:r>
              <a:rPr lang="en-US" altLang="zh-CN" sz="2400" dirty="0" smtClean="0"/>
              <a:t>,</a:t>
            </a:r>
            <a:r>
              <a:rPr lang="zh-CN" altLang="en-US" sz="2400" dirty="0" smtClean="0"/>
              <a:t>为了照顾少部分还不会的同学</a:t>
            </a:r>
            <a:r>
              <a:rPr lang="en-US" altLang="zh-CN" sz="2400" dirty="0" smtClean="0"/>
              <a:t>,</a:t>
            </a:r>
            <a:r>
              <a:rPr lang="zh-CN" altLang="en-US" sz="2400" dirty="0" smtClean="0"/>
              <a:t>我快速讲一遍</a:t>
            </a:r>
            <a:r>
              <a:rPr lang="en-US" altLang="zh-CN" sz="2400" dirty="0" smtClean="0"/>
              <a:t>.</a:t>
            </a:r>
            <a:endParaRPr lang="en-US" altLang="zh-CN" sz="2400" dirty="0" smtClean="0"/>
          </a:p>
          <a:p>
            <a:r>
              <a:rPr lang="zh-CN" altLang="en-US" sz="2400" dirty="0" smtClean="0"/>
              <a:t>用于解决一类</a:t>
            </a:r>
            <a:r>
              <a:rPr lang="en-US" altLang="zh-CN" sz="2400" dirty="0" smtClean="0"/>
              <a:t>”</a:t>
            </a:r>
            <a:r>
              <a:rPr lang="zh-CN" altLang="en-US" sz="2400" dirty="0" smtClean="0"/>
              <a:t>滑动窗口最大</a:t>
            </a:r>
            <a:r>
              <a:rPr lang="en-US" altLang="zh-CN" sz="2400" dirty="0" smtClean="0"/>
              <a:t>/</a:t>
            </a:r>
            <a:r>
              <a:rPr lang="zh-CN" altLang="en-US" sz="2400" dirty="0" smtClean="0"/>
              <a:t>最小值</a:t>
            </a:r>
            <a:r>
              <a:rPr lang="en-US" altLang="zh-CN" sz="2400" dirty="0" smtClean="0"/>
              <a:t>”</a:t>
            </a:r>
            <a:r>
              <a:rPr lang="zh-CN" altLang="en-US" sz="2400" dirty="0" smtClean="0"/>
              <a:t>问题</a:t>
            </a:r>
            <a:endParaRPr lang="en-US" altLang="zh-CN" sz="2400" dirty="0" smtClean="0"/>
          </a:p>
          <a:p>
            <a:r>
              <a:rPr lang="zh-CN" altLang="en-US" sz="2400" dirty="0" smtClean="0"/>
              <a:t>例如这样</a:t>
            </a:r>
            <a:r>
              <a:rPr lang="en-US" altLang="zh-CN" sz="2400" dirty="0" smtClean="0"/>
              <a:t>:</a:t>
            </a:r>
            <a:r>
              <a:rPr lang="zh-CN" altLang="en-US" sz="2400" dirty="0" smtClean="0"/>
              <a:t>给出一个队列</a:t>
            </a:r>
            <a:r>
              <a:rPr lang="en-US" altLang="zh-CN" sz="2400" dirty="0" smtClean="0"/>
              <a:t>,</a:t>
            </a:r>
            <a:r>
              <a:rPr lang="zh-CN" altLang="en-US" sz="2400" dirty="0" smtClean="0"/>
              <a:t>每次可以在队尾加入数字</a:t>
            </a:r>
            <a:r>
              <a:rPr lang="en-US" altLang="zh-CN" sz="2400" dirty="0" smtClean="0"/>
              <a:t>,</a:t>
            </a:r>
            <a:r>
              <a:rPr lang="zh-CN" altLang="en-US" sz="2400" dirty="0" smtClean="0"/>
              <a:t>或者在队首取出数字</a:t>
            </a:r>
            <a:r>
              <a:rPr lang="en-US" altLang="zh-CN" sz="2400" dirty="0" smtClean="0"/>
              <a:t>,</a:t>
            </a:r>
            <a:r>
              <a:rPr lang="zh-CN" altLang="en-US" sz="2400" dirty="0" smtClean="0"/>
              <a:t>每次操作后求出队列中当前所有数字的最大值</a:t>
            </a:r>
            <a:r>
              <a:rPr lang="en-US" altLang="zh-CN" sz="2400" dirty="0" smtClean="0"/>
              <a:t>.</a:t>
            </a:r>
            <a:endParaRPr lang="en-US" altLang="zh-CN" sz="2400" dirty="0" smtClean="0"/>
          </a:p>
          <a:p>
            <a:r>
              <a:rPr lang="zh-CN" altLang="en-US" sz="2400" dirty="0" smtClean="0"/>
              <a:t>对于两个数字</a:t>
            </a:r>
            <a:r>
              <a:rPr lang="en-US" altLang="zh-CN" sz="2400" dirty="0" err="1" smtClean="0"/>
              <a:t>a,b</a:t>
            </a:r>
            <a:r>
              <a:rPr lang="en-US" altLang="zh-CN" sz="2400" dirty="0" smtClean="0"/>
              <a:t>,</a:t>
            </a:r>
            <a:r>
              <a:rPr lang="zh-CN" altLang="en-US" sz="2400" dirty="0" smtClean="0"/>
              <a:t>如果</a:t>
            </a:r>
            <a:r>
              <a:rPr lang="en-US" altLang="zh-CN" sz="2400" dirty="0" smtClean="0"/>
              <a:t>a&lt;b,</a:t>
            </a:r>
            <a:r>
              <a:rPr lang="zh-CN" altLang="en-US" sz="2400" dirty="0" smtClean="0"/>
              <a:t>而且</a:t>
            </a:r>
            <a:r>
              <a:rPr lang="en-US" altLang="zh-CN" sz="2400" dirty="0" smtClean="0"/>
              <a:t>a</a:t>
            </a:r>
            <a:r>
              <a:rPr lang="zh-CN" altLang="en-US" sz="2400" dirty="0" smtClean="0"/>
              <a:t>在</a:t>
            </a:r>
            <a:r>
              <a:rPr lang="en-US" altLang="zh-CN" sz="2400" dirty="0" smtClean="0"/>
              <a:t>b</a:t>
            </a:r>
            <a:r>
              <a:rPr lang="zh-CN" altLang="en-US" sz="2400" dirty="0" smtClean="0"/>
              <a:t>之前加入</a:t>
            </a:r>
            <a:r>
              <a:rPr lang="en-US" altLang="zh-CN" sz="2400" dirty="0" smtClean="0"/>
              <a:t>,</a:t>
            </a:r>
            <a:r>
              <a:rPr lang="zh-CN" altLang="en-US" sz="2400" dirty="0" smtClean="0"/>
              <a:t>那么</a:t>
            </a:r>
            <a:r>
              <a:rPr lang="en-US" altLang="zh-CN" sz="2400" dirty="0" smtClean="0"/>
              <a:t>a</a:t>
            </a:r>
            <a:r>
              <a:rPr lang="zh-CN" altLang="en-US" sz="2400" dirty="0" smtClean="0"/>
              <a:t>永远不可能成为最优解</a:t>
            </a:r>
            <a:r>
              <a:rPr lang="en-US" altLang="zh-CN" sz="2400" dirty="0" smtClean="0"/>
              <a:t>.</a:t>
            </a:r>
            <a:endParaRPr lang="en-US" altLang="zh-CN" sz="2400" dirty="0" smtClean="0"/>
          </a:p>
          <a:p>
            <a:r>
              <a:rPr lang="zh-CN" altLang="en-US" sz="2400" dirty="0" smtClean="0"/>
              <a:t>如果</a:t>
            </a:r>
            <a:r>
              <a:rPr lang="en-US" altLang="zh-CN" sz="2400" dirty="0" smtClean="0"/>
              <a:t>a&lt;b,</a:t>
            </a:r>
            <a:r>
              <a:rPr lang="zh-CN" altLang="en-US" sz="2400" dirty="0" smtClean="0"/>
              <a:t>但是</a:t>
            </a:r>
            <a:r>
              <a:rPr lang="en-US" altLang="zh-CN" sz="2400" dirty="0" smtClean="0"/>
              <a:t>a</a:t>
            </a:r>
            <a:r>
              <a:rPr lang="zh-CN" altLang="en-US" sz="2400" dirty="0" smtClean="0"/>
              <a:t>在</a:t>
            </a:r>
            <a:r>
              <a:rPr lang="en-US" altLang="zh-CN" sz="2400" dirty="0" smtClean="0"/>
              <a:t>b</a:t>
            </a:r>
            <a:r>
              <a:rPr lang="zh-CN" altLang="en-US" sz="2400" dirty="0" smtClean="0"/>
              <a:t>之后加入</a:t>
            </a:r>
            <a:r>
              <a:rPr lang="en-US" altLang="zh-CN" sz="2400" dirty="0" smtClean="0"/>
              <a:t>,</a:t>
            </a:r>
            <a:r>
              <a:rPr lang="zh-CN" altLang="en-US" sz="2400" dirty="0" smtClean="0"/>
              <a:t>那么</a:t>
            </a:r>
            <a:r>
              <a:rPr lang="en-US" altLang="zh-CN" sz="2400" dirty="0" smtClean="0"/>
              <a:t>a</a:t>
            </a:r>
            <a:r>
              <a:rPr lang="zh-CN" altLang="en-US" sz="2400" dirty="0" smtClean="0"/>
              <a:t>可能成为最优解</a:t>
            </a:r>
            <a:r>
              <a:rPr lang="en-US" altLang="zh-CN" sz="2400" dirty="0" smtClean="0"/>
              <a:t>.</a:t>
            </a:r>
            <a:endParaRPr lang="en-US" altLang="zh-CN" sz="2400" dirty="0" smtClean="0"/>
          </a:p>
          <a:p>
            <a:r>
              <a:rPr lang="zh-CN" altLang="en-US" sz="2400" dirty="0" smtClean="0"/>
              <a:t>我们维护</a:t>
            </a:r>
            <a:r>
              <a:rPr lang="en-US" altLang="zh-CN" sz="2400" dirty="0" smtClean="0"/>
              <a:t>”</a:t>
            </a:r>
            <a:r>
              <a:rPr lang="zh-CN" altLang="en-US" sz="2400" dirty="0" smtClean="0"/>
              <a:t>可能成为最优解的数字集合</a:t>
            </a:r>
            <a:r>
              <a:rPr lang="en-US" altLang="zh-CN" sz="2400" dirty="0" smtClean="0"/>
              <a:t>”</a:t>
            </a:r>
            <a:endParaRPr lang="en-US" altLang="zh-CN" sz="2400" dirty="0" smtClean="0"/>
          </a:p>
          <a:p>
            <a:r>
              <a:rPr lang="zh-CN" altLang="en-US" sz="2400" dirty="0" smtClean="0"/>
              <a:t>一个数字可能成为最优解</a:t>
            </a:r>
            <a:r>
              <a:rPr lang="en-US" altLang="zh-CN" sz="2400" dirty="0" smtClean="0"/>
              <a:t>,</a:t>
            </a:r>
            <a:r>
              <a:rPr lang="zh-CN" altLang="en-US" sz="2400" dirty="0" smtClean="0"/>
              <a:t>当且仅当现在右侧不存在比它大的数字</a:t>
            </a:r>
            <a:r>
              <a:rPr lang="en-US" altLang="zh-CN" sz="2400" dirty="0" smtClean="0"/>
              <a:t>.(</a:t>
            </a:r>
            <a:r>
              <a:rPr lang="zh-CN" altLang="en-US" sz="2400" dirty="0" smtClean="0"/>
              <a:t>假设左端是队首</a:t>
            </a:r>
            <a:r>
              <a:rPr lang="en-US" altLang="zh-CN" sz="2400" dirty="0" smtClean="0"/>
              <a:t>,</a:t>
            </a:r>
            <a:r>
              <a:rPr lang="zh-CN" altLang="en-US" sz="2400" dirty="0" smtClean="0"/>
              <a:t>右端是队尾</a:t>
            </a:r>
            <a:r>
              <a:rPr lang="en-US" altLang="zh-CN" sz="2400" dirty="0" smtClean="0"/>
              <a:t>)</a:t>
            </a:r>
            <a:endParaRPr lang="en-US" altLang="zh-CN" sz="2400" dirty="0" smtClean="0"/>
          </a:p>
          <a:p>
            <a:endParaRPr lang="zh-CN" alt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单调队列</a:t>
            </a:r>
            <a:r>
              <a:rPr lang="en-US" altLang="zh-CN" dirty="0" smtClean="0"/>
              <a:t>(</a:t>
            </a:r>
            <a:r>
              <a:rPr lang="zh-CN" altLang="en-US" dirty="0" smtClean="0"/>
              <a:t>基本概念</a:t>
            </a:r>
            <a:r>
              <a:rPr lang="en-US" altLang="zh-CN" dirty="0" smtClean="0"/>
              <a:t>)</a:t>
            </a:r>
            <a:endParaRPr lang="zh-CN" altLang="en-US" dirty="0"/>
          </a:p>
        </p:txBody>
      </p:sp>
      <p:sp>
        <p:nvSpPr>
          <p:cNvPr id="3" name="内容占位符 2"/>
          <p:cNvSpPr>
            <a:spLocks noGrp="1"/>
          </p:cNvSpPr>
          <p:nvPr>
            <p:ph sz="quarter" idx="1"/>
          </p:nvPr>
        </p:nvSpPr>
        <p:spPr/>
        <p:txBody>
          <a:bodyPr>
            <a:normAutofit/>
          </a:bodyPr>
          <a:lstStyle/>
          <a:p>
            <a:r>
              <a:rPr lang="zh-CN" altLang="en-US" sz="2400" dirty="0" smtClean="0"/>
              <a:t>我们要做的是当插入一个数字或删除一个数字时</a:t>
            </a:r>
            <a:r>
              <a:rPr lang="en-US" altLang="zh-CN" sz="2400" dirty="0" smtClean="0"/>
              <a:t>,</a:t>
            </a:r>
            <a:r>
              <a:rPr lang="zh-CN" altLang="en-US" sz="2400" dirty="0" smtClean="0"/>
              <a:t>快速更新</a:t>
            </a:r>
            <a:r>
              <a:rPr lang="en-US" altLang="zh-CN" sz="2400" dirty="0" smtClean="0"/>
              <a:t>”</a:t>
            </a:r>
            <a:r>
              <a:rPr lang="zh-CN" altLang="en-US" sz="2400" dirty="0" smtClean="0"/>
              <a:t>可能成为最优解的数字集合</a:t>
            </a:r>
            <a:r>
              <a:rPr lang="en-US" altLang="zh-CN" sz="2400" dirty="0" smtClean="0"/>
              <a:t>”</a:t>
            </a:r>
            <a:endParaRPr lang="en-US" altLang="zh-CN" sz="2400" dirty="0" smtClean="0"/>
          </a:p>
          <a:p>
            <a:r>
              <a:rPr lang="zh-CN" altLang="en-US" sz="2400" dirty="0" smtClean="0"/>
              <a:t>我们另外开一个队列</a:t>
            </a:r>
            <a:r>
              <a:rPr lang="en-US" altLang="zh-CN" sz="2400" dirty="0" smtClean="0"/>
              <a:t>,</a:t>
            </a:r>
            <a:r>
              <a:rPr lang="zh-CN" altLang="en-US" sz="2400" dirty="0" smtClean="0"/>
              <a:t>在里面按下标从左到右的顺序存储</a:t>
            </a:r>
            <a:r>
              <a:rPr lang="en-US" altLang="zh-CN" sz="2400" dirty="0" smtClean="0"/>
              <a:t>”</a:t>
            </a:r>
            <a:r>
              <a:rPr lang="zh-CN" altLang="en-US" sz="2400" dirty="0" smtClean="0"/>
              <a:t>可能成为最优解的数字集合</a:t>
            </a:r>
            <a:r>
              <a:rPr lang="en-US" altLang="zh-CN" sz="2400" dirty="0" smtClean="0"/>
              <a:t>”,</a:t>
            </a:r>
            <a:r>
              <a:rPr lang="zh-CN" altLang="en-US" sz="2400" dirty="0" smtClean="0"/>
              <a:t>它们都满足当前队列右侧没有比自己大的数字</a:t>
            </a:r>
            <a:r>
              <a:rPr lang="en-US" altLang="zh-CN" sz="2400" dirty="0" smtClean="0"/>
              <a:t>.</a:t>
            </a:r>
            <a:r>
              <a:rPr lang="zh-CN" altLang="en-US" sz="2400" dirty="0" smtClean="0"/>
              <a:t>这些可能的最优解的数值大小必然从左向右递减</a:t>
            </a:r>
            <a:r>
              <a:rPr lang="en-US" altLang="zh-CN" sz="2400" dirty="0" smtClean="0"/>
              <a:t>.</a:t>
            </a:r>
            <a:endParaRPr lang="en-US" altLang="zh-CN" sz="2400" dirty="0" smtClean="0"/>
          </a:p>
          <a:p>
            <a:r>
              <a:rPr lang="zh-CN" altLang="en-US" sz="2400" dirty="0" smtClean="0"/>
              <a:t>处理插入</a:t>
            </a:r>
            <a:endParaRPr lang="en-US" altLang="zh-CN" sz="2400" dirty="0" smtClean="0"/>
          </a:p>
          <a:p>
            <a:pPr lvl="1"/>
            <a:r>
              <a:rPr lang="zh-CN" altLang="en-US" sz="2100" dirty="0" smtClean="0"/>
              <a:t>新插入的数字一定可以成为最优解</a:t>
            </a:r>
            <a:r>
              <a:rPr lang="en-US" altLang="zh-CN" sz="2100" dirty="0" smtClean="0"/>
              <a:t>,</a:t>
            </a:r>
            <a:r>
              <a:rPr lang="zh-CN" altLang="en-US" sz="2100" dirty="0" smtClean="0"/>
              <a:t>因为它的右边没有数字</a:t>
            </a:r>
            <a:endParaRPr lang="en-US" altLang="zh-CN" sz="2100" dirty="0" smtClean="0"/>
          </a:p>
          <a:p>
            <a:pPr lvl="1"/>
            <a:r>
              <a:rPr lang="zh-CN" altLang="en-US" sz="2100" dirty="0" smtClean="0"/>
              <a:t>原先不能成为最优解的位置在新插入一个数字之后还是不能成为最优解</a:t>
            </a:r>
            <a:endParaRPr lang="en-US" altLang="zh-CN" sz="2100" dirty="0" smtClean="0"/>
          </a:p>
          <a:p>
            <a:pPr lvl="1"/>
            <a:r>
              <a:rPr lang="zh-CN" altLang="en-US" sz="2100" dirty="0" smtClean="0"/>
              <a:t>原先能成为最优解的位置在新插入一个数字之后有可能不能成为最优解</a:t>
            </a:r>
            <a:r>
              <a:rPr lang="en-US" altLang="zh-CN" sz="2100" dirty="0" smtClean="0"/>
              <a:t>.</a:t>
            </a:r>
            <a:r>
              <a:rPr lang="zh-CN" altLang="en-US" sz="2100" dirty="0" smtClean="0"/>
              <a:t>如果新插入的数字比这个位置的数字大</a:t>
            </a:r>
            <a:r>
              <a:rPr lang="en-US" altLang="zh-CN" sz="2100" dirty="0" smtClean="0"/>
              <a:t>,</a:t>
            </a:r>
            <a:r>
              <a:rPr lang="zh-CN" altLang="en-US" sz="2100" dirty="0" smtClean="0"/>
              <a:t>这个位置就不再能够成为最优解</a:t>
            </a:r>
            <a:r>
              <a:rPr lang="en-US" altLang="zh-CN" sz="2100" dirty="0" smtClean="0"/>
              <a:t>.</a:t>
            </a:r>
            <a:endParaRPr lang="en-US" altLang="zh-CN" sz="2100" dirty="0" smtClean="0"/>
          </a:p>
          <a:p>
            <a:endParaRPr lang="zh-CN" alt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单调队列</a:t>
            </a:r>
            <a:r>
              <a:rPr lang="en-US" altLang="zh-CN" dirty="0" smtClean="0"/>
              <a:t>(</a:t>
            </a:r>
            <a:r>
              <a:rPr lang="zh-CN" altLang="en-US" dirty="0" smtClean="0"/>
              <a:t>基本概念</a:t>
            </a:r>
            <a:r>
              <a:rPr lang="en-US" altLang="zh-CN" dirty="0" smtClean="0"/>
              <a:t>)</a:t>
            </a:r>
            <a:endParaRPr lang="zh-CN" altLang="en-US" dirty="0"/>
          </a:p>
        </p:txBody>
      </p:sp>
      <p:sp>
        <p:nvSpPr>
          <p:cNvPr id="3" name="内容占位符 2"/>
          <p:cNvSpPr>
            <a:spLocks noGrp="1"/>
          </p:cNvSpPr>
          <p:nvPr>
            <p:ph sz="quarter" idx="1"/>
          </p:nvPr>
        </p:nvSpPr>
        <p:spPr/>
        <p:txBody>
          <a:bodyPr>
            <a:normAutofit/>
          </a:bodyPr>
          <a:lstStyle/>
          <a:p>
            <a:r>
              <a:rPr lang="zh-CN" altLang="en-US" sz="2400" dirty="0" smtClean="0"/>
              <a:t>处理删除</a:t>
            </a:r>
            <a:endParaRPr lang="en-US" altLang="zh-CN" sz="2400" dirty="0" smtClean="0"/>
          </a:p>
          <a:p>
            <a:pPr lvl="1"/>
            <a:r>
              <a:rPr lang="zh-CN" altLang="en-US" sz="2000" dirty="0" smtClean="0"/>
              <a:t>删掉的位置不在</a:t>
            </a:r>
            <a:r>
              <a:rPr lang="en-US" altLang="zh-CN" sz="2000" dirty="0" smtClean="0"/>
              <a:t>”</a:t>
            </a:r>
            <a:r>
              <a:rPr lang="zh-CN" altLang="en-US" sz="2000" dirty="0" smtClean="0"/>
              <a:t>可能的最优解</a:t>
            </a:r>
            <a:r>
              <a:rPr lang="en-US" altLang="zh-CN" sz="2000" dirty="0" smtClean="0"/>
              <a:t>”</a:t>
            </a:r>
            <a:r>
              <a:rPr lang="zh-CN" altLang="en-US" sz="2000" dirty="0" smtClean="0"/>
              <a:t>中</a:t>
            </a:r>
            <a:r>
              <a:rPr lang="en-US" altLang="zh-CN" sz="2000" dirty="0" smtClean="0"/>
              <a:t>,</a:t>
            </a:r>
            <a:r>
              <a:rPr lang="zh-CN" altLang="en-US" sz="2000" dirty="0" smtClean="0"/>
              <a:t>无影响</a:t>
            </a:r>
            <a:endParaRPr lang="en-US" altLang="zh-CN" sz="2000" dirty="0" smtClean="0"/>
          </a:p>
          <a:p>
            <a:pPr lvl="1"/>
            <a:r>
              <a:rPr lang="zh-CN" altLang="en-US" sz="2000" dirty="0" smtClean="0"/>
              <a:t>删掉的位置是可能的最优解</a:t>
            </a:r>
            <a:r>
              <a:rPr lang="en-US" altLang="zh-CN" sz="2000" dirty="0" smtClean="0"/>
              <a:t>,</a:t>
            </a:r>
            <a:r>
              <a:rPr lang="zh-CN" altLang="en-US" sz="2000" dirty="0" smtClean="0"/>
              <a:t>这个位置一定是当前可能的最优解中最靠左的</a:t>
            </a:r>
            <a:r>
              <a:rPr lang="en-US" altLang="zh-CN" sz="2000" dirty="0" smtClean="0"/>
              <a:t>,</a:t>
            </a:r>
            <a:r>
              <a:rPr lang="zh-CN" altLang="en-US" sz="2000" dirty="0" smtClean="0"/>
              <a:t>直接删掉即可</a:t>
            </a:r>
            <a:endParaRPr lang="en-US" altLang="zh-CN" sz="2000" dirty="0" smtClean="0"/>
          </a:p>
          <a:p>
            <a:r>
              <a:rPr lang="zh-CN" altLang="en-US" sz="2400" dirty="0" smtClean="0"/>
              <a:t>处理查询</a:t>
            </a:r>
            <a:endParaRPr lang="en-US" altLang="zh-CN" sz="2400" dirty="0" smtClean="0"/>
          </a:p>
          <a:p>
            <a:pPr lvl="1"/>
            <a:r>
              <a:rPr lang="zh-CN" altLang="en-US" sz="2100" dirty="0" smtClean="0"/>
              <a:t>直接输出当前保存的</a:t>
            </a:r>
            <a:r>
              <a:rPr lang="en-US" altLang="zh-CN" sz="2100" dirty="0" smtClean="0"/>
              <a:t>”</a:t>
            </a:r>
            <a:r>
              <a:rPr lang="zh-CN" altLang="en-US" sz="2100" dirty="0" smtClean="0"/>
              <a:t>可能的最优解</a:t>
            </a:r>
            <a:r>
              <a:rPr lang="en-US" altLang="zh-CN" sz="2100" dirty="0" smtClean="0"/>
              <a:t>”</a:t>
            </a:r>
            <a:r>
              <a:rPr lang="zh-CN" altLang="en-US" sz="2100" dirty="0" smtClean="0"/>
              <a:t>中最靠左的</a:t>
            </a:r>
            <a:r>
              <a:rPr lang="en-US" altLang="zh-CN" sz="2100" dirty="0" smtClean="0"/>
              <a:t>(</a:t>
            </a:r>
            <a:r>
              <a:rPr lang="zh-CN" altLang="en-US" sz="2100" dirty="0" smtClean="0"/>
              <a:t>也就是队首的</a:t>
            </a:r>
            <a:r>
              <a:rPr lang="en-US" altLang="zh-CN" sz="2100" dirty="0" smtClean="0"/>
              <a:t>,</a:t>
            </a:r>
            <a:r>
              <a:rPr lang="zh-CN" altLang="en-US" sz="2100" dirty="0" smtClean="0"/>
              <a:t>因为我们用另一个队列存储这些可能位置</a:t>
            </a:r>
            <a:r>
              <a:rPr lang="en-US" altLang="zh-CN" sz="2100" dirty="0" smtClean="0"/>
              <a:t>)</a:t>
            </a:r>
            <a:endParaRPr lang="en-US" altLang="zh-CN" sz="2100" dirty="0" smtClean="0"/>
          </a:p>
          <a:p>
            <a:r>
              <a:rPr lang="zh-CN" altLang="en-US" sz="2400" dirty="0" smtClean="0"/>
              <a:t>我们可以把一些数字不予考虑直接删掉是因为出现了比它们更优的数字</a:t>
            </a:r>
            <a:r>
              <a:rPr lang="en-US" altLang="zh-CN" sz="2400" dirty="0" smtClean="0"/>
              <a:t>,</a:t>
            </a:r>
            <a:r>
              <a:rPr lang="zh-CN" altLang="en-US" sz="2400" dirty="0" smtClean="0"/>
              <a:t>而且之间的优劣关系在之后不会发生改变</a:t>
            </a:r>
            <a:r>
              <a:rPr lang="en-US" altLang="zh-CN" sz="2400" dirty="0" smtClean="0"/>
              <a:t>.</a:t>
            </a:r>
            <a:endParaRPr lang="en-US" altLang="zh-CN" sz="2400" dirty="0" smtClean="0"/>
          </a:p>
          <a:p>
            <a:r>
              <a:rPr lang="zh-CN" altLang="en-US" sz="2400" dirty="0" smtClean="0"/>
              <a:t>如果优劣关系可以发生改变</a:t>
            </a:r>
            <a:r>
              <a:rPr lang="en-US" altLang="zh-CN" sz="2400" dirty="0" smtClean="0"/>
              <a:t>,</a:t>
            </a:r>
            <a:r>
              <a:rPr lang="zh-CN" altLang="en-US" sz="2400" dirty="0" smtClean="0"/>
              <a:t>就不能这么简单粗暴了</a:t>
            </a:r>
            <a:r>
              <a:rPr lang="en-US" altLang="zh-CN" sz="2400" dirty="0" smtClean="0"/>
              <a:t>.</a:t>
            </a:r>
            <a:endParaRPr lang="en-US" altLang="zh-CN" sz="2400" dirty="0" smtClean="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单调队列优化动态规划</a:t>
            </a:r>
            <a:r>
              <a:rPr lang="en-US" altLang="zh-CN" dirty="0" smtClean="0"/>
              <a:t>(</a:t>
            </a:r>
            <a:r>
              <a:rPr lang="zh-CN" altLang="en-US" dirty="0" smtClean="0"/>
              <a:t>基本概念</a:t>
            </a:r>
            <a:r>
              <a:rPr lang="en-US" altLang="zh-CN" dirty="0" smtClean="0"/>
              <a:t>)</a:t>
            </a:r>
            <a:endParaRPr lang="zh-CN" altLang="en-US" dirty="0"/>
          </a:p>
        </p:txBody>
      </p:sp>
      <p:sp>
        <p:nvSpPr>
          <p:cNvPr id="3" name="内容占位符 2"/>
          <p:cNvSpPr>
            <a:spLocks noGrp="1"/>
          </p:cNvSpPr>
          <p:nvPr>
            <p:ph sz="quarter" idx="1"/>
          </p:nvPr>
        </p:nvSpPr>
        <p:spPr/>
        <p:txBody>
          <a:bodyPr>
            <a:normAutofit/>
          </a:bodyPr>
          <a:lstStyle/>
          <a:p>
            <a:r>
              <a:rPr lang="zh-CN" altLang="en-US" sz="2400" dirty="0" smtClean="0"/>
              <a:t>怎样用单调队列优化动态规划</a:t>
            </a:r>
            <a:r>
              <a:rPr lang="en-US" altLang="zh-CN" sz="2400" dirty="0" smtClean="0"/>
              <a:t>?</a:t>
            </a:r>
            <a:endParaRPr lang="en-US" altLang="zh-CN" sz="2400" dirty="0" smtClean="0"/>
          </a:p>
          <a:p>
            <a:r>
              <a:rPr lang="zh-CN" altLang="en-US" sz="2400" dirty="0" smtClean="0"/>
              <a:t>动态规划方程的转移形式具有某些</a:t>
            </a:r>
            <a:r>
              <a:rPr lang="en-US" altLang="zh-CN" sz="2400" dirty="0" smtClean="0"/>
              <a:t>“</a:t>
            </a:r>
            <a:r>
              <a:rPr lang="zh-CN" altLang="en-US" sz="2400" dirty="0" smtClean="0"/>
              <a:t>单调性</a:t>
            </a:r>
            <a:r>
              <a:rPr lang="en-US" altLang="zh-CN" sz="2400" dirty="0" smtClean="0"/>
              <a:t>”,</a:t>
            </a:r>
            <a:r>
              <a:rPr lang="zh-CN" altLang="en-US" sz="2400" dirty="0" smtClean="0"/>
              <a:t>或者通过化简可以变成</a:t>
            </a:r>
            <a:r>
              <a:rPr lang="en-US" altLang="zh-CN" sz="2400" dirty="0" smtClean="0"/>
              <a:t>”</a:t>
            </a:r>
            <a:r>
              <a:rPr lang="zh-CN" altLang="en-US" sz="2400" dirty="0" smtClean="0"/>
              <a:t>滑动窗口最大</a:t>
            </a:r>
            <a:r>
              <a:rPr lang="en-US" altLang="zh-CN" sz="2400" dirty="0" smtClean="0"/>
              <a:t>/</a:t>
            </a:r>
            <a:r>
              <a:rPr lang="zh-CN" altLang="en-US" sz="2400" dirty="0" smtClean="0"/>
              <a:t>最小值</a:t>
            </a:r>
            <a:r>
              <a:rPr lang="en-US" altLang="zh-CN" sz="2400" dirty="0" smtClean="0"/>
              <a:t>”</a:t>
            </a:r>
            <a:r>
              <a:rPr lang="zh-CN" altLang="en-US" sz="2400" dirty="0" smtClean="0"/>
              <a:t>的形式</a:t>
            </a:r>
            <a:r>
              <a:rPr lang="en-US" altLang="zh-CN" sz="2400" dirty="0" smtClean="0"/>
              <a:t>.</a:t>
            </a:r>
            <a:endParaRPr lang="en-US" altLang="zh-CN" sz="2400" dirty="0" smtClean="0"/>
          </a:p>
          <a:p>
            <a:r>
              <a:rPr lang="zh-CN" altLang="en-US" sz="2400" dirty="0" smtClean="0"/>
              <a:t>最简单的例子</a:t>
            </a:r>
            <a:r>
              <a:rPr lang="en-US" altLang="zh-CN" sz="2400" dirty="0" smtClean="0"/>
              <a:t>:</a:t>
            </a:r>
            <a:r>
              <a:rPr lang="zh-CN" altLang="en-US" sz="2400" dirty="0" smtClean="0"/>
              <a:t>选出一个长度在</a:t>
            </a:r>
            <a:r>
              <a:rPr lang="en-US" altLang="zh-CN" sz="2400" dirty="0" smtClean="0"/>
              <a:t>[L,R]</a:t>
            </a:r>
            <a:r>
              <a:rPr lang="zh-CN" altLang="en-US" sz="2400" dirty="0" smtClean="0"/>
              <a:t>之间的区间</a:t>
            </a:r>
            <a:r>
              <a:rPr lang="en-US" altLang="zh-CN" sz="2400" dirty="0" smtClean="0"/>
              <a:t>,</a:t>
            </a:r>
            <a:r>
              <a:rPr lang="zh-CN" altLang="en-US" sz="2400" dirty="0" smtClean="0"/>
              <a:t>使得数字之和最大</a:t>
            </a:r>
            <a:r>
              <a:rPr lang="en-US" altLang="zh-CN" sz="2400" dirty="0" smtClean="0"/>
              <a:t>.</a:t>
            </a:r>
            <a:endParaRPr lang="en-US" altLang="zh-CN" sz="2400" dirty="0" smtClean="0"/>
          </a:p>
          <a:p>
            <a:r>
              <a:rPr lang="zh-CN" altLang="en-US" sz="2400" dirty="0" smtClean="0"/>
              <a:t>前缀和</a:t>
            </a:r>
            <a:r>
              <a:rPr lang="en-US" altLang="zh-CN" sz="2400" dirty="0" smtClean="0"/>
              <a:t>,</a:t>
            </a:r>
            <a:r>
              <a:rPr lang="zh-CN" altLang="en-US" sz="2400" dirty="0" smtClean="0"/>
              <a:t>枚举右端点</a:t>
            </a:r>
            <a:r>
              <a:rPr lang="en-US" altLang="zh-CN" sz="2400" dirty="0" smtClean="0"/>
              <a:t>,</a:t>
            </a:r>
            <a:r>
              <a:rPr lang="zh-CN" altLang="en-US" sz="2400" dirty="0" smtClean="0"/>
              <a:t>要使左端点减去的前缀和尽量小</a:t>
            </a:r>
            <a:r>
              <a:rPr lang="en-US" altLang="zh-CN" sz="2400" dirty="0" smtClean="0"/>
              <a:t>,</a:t>
            </a:r>
            <a:r>
              <a:rPr lang="zh-CN" altLang="en-US" sz="2400" dirty="0" smtClean="0"/>
              <a:t>所以是滑动窗口最小值</a:t>
            </a:r>
            <a:r>
              <a:rPr lang="en-US" altLang="zh-CN" sz="2400" dirty="0" smtClean="0"/>
              <a:t>.</a:t>
            </a:r>
            <a:endParaRPr lang="en-US" altLang="zh-CN" sz="2400" dirty="0" smtClean="0"/>
          </a:p>
          <a:p>
            <a:r>
              <a:rPr lang="zh-CN" altLang="en-US" sz="2400" dirty="0" smtClean="0"/>
              <a:t>扩展</a:t>
            </a:r>
            <a:r>
              <a:rPr lang="en-US" altLang="zh-CN" sz="2400" dirty="0" smtClean="0"/>
              <a:t>:</a:t>
            </a:r>
            <a:r>
              <a:rPr lang="zh-CN" altLang="en-US" sz="2400" dirty="0" smtClean="0"/>
              <a:t>选出长度在</a:t>
            </a:r>
            <a:r>
              <a:rPr lang="en-US" altLang="zh-CN" sz="2400" dirty="0" smtClean="0"/>
              <a:t>[L,R]</a:t>
            </a:r>
            <a:r>
              <a:rPr lang="zh-CN" altLang="en-US" sz="2400" dirty="0" smtClean="0"/>
              <a:t>之间的区间</a:t>
            </a:r>
            <a:r>
              <a:rPr lang="en-US" altLang="zh-CN" sz="2400" dirty="0" smtClean="0"/>
              <a:t>,</a:t>
            </a:r>
            <a:r>
              <a:rPr lang="zh-CN" altLang="en-US" sz="2400" dirty="0" smtClean="0"/>
              <a:t>要求分别输出区间长度为奇数和偶数时数字之和的最大值</a:t>
            </a:r>
            <a:r>
              <a:rPr lang="en-US" altLang="zh-CN" sz="2400" dirty="0" smtClean="0"/>
              <a:t>.n&lt;=500000</a:t>
            </a:r>
            <a:endParaRPr lang="en-US" altLang="zh-CN" sz="2400" dirty="0" smtClean="0"/>
          </a:p>
          <a:p>
            <a:r>
              <a:rPr lang="zh-CN" altLang="en-US" sz="2400" dirty="0" smtClean="0"/>
              <a:t>分别对奇数下标和偶数下标维护一个单调队列求最值</a:t>
            </a:r>
            <a:endParaRPr lang="en-US" altLang="zh-CN" sz="2400" dirty="0" smtClean="0"/>
          </a:p>
          <a:p>
            <a:r>
              <a:rPr lang="en-US" altLang="zh-CN" sz="2400" dirty="0" err="1" smtClean="0"/>
              <a:t>bzoj</a:t>
            </a:r>
            <a:r>
              <a:rPr lang="en-US" altLang="zh-CN" sz="2400" dirty="0" smtClean="0"/>
              <a:t> </a:t>
            </a:r>
            <a:r>
              <a:rPr lang="en-US" altLang="zh-CN" sz="2400" dirty="0" err="1" smtClean="0"/>
              <a:t>Jc</a:t>
            </a:r>
            <a:r>
              <a:rPr lang="en-US" altLang="zh-CN" sz="2400" dirty="0" smtClean="0"/>
              <a:t> loves </a:t>
            </a:r>
            <a:r>
              <a:rPr lang="en-US" altLang="zh-CN" sz="2400" dirty="0" err="1" smtClean="0"/>
              <a:t>Mkk</a:t>
            </a:r>
            <a:r>
              <a:rPr lang="en-US" altLang="zh-CN" sz="2400" dirty="0" smtClean="0"/>
              <a:t> </a:t>
            </a:r>
            <a:r>
              <a:rPr lang="zh-CN" altLang="en-US" sz="2400" dirty="0" smtClean="0"/>
              <a:t>的弱化版</a:t>
            </a:r>
            <a:r>
              <a:rPr lang="en-US" altLang="zh-CN" sz="2400" dirty="0" smtClean="0"/>
              <a:t>.</a:t>
            </a:r>
            <a:r>
              <a:rPr lang="zh-CN" altLang="en-US" sz="2400" dirty="0" smtClean="0"/>
              <a:t>原题还需要</a:t>
            </a:r>
            <a:r>
              <a:rPr lang="en-US" altLang="zh-CN" sz="2400" dirty="0" smtClean="0"/>
              <a:t>01</a:t>
            </a:r>
            <a:r>
              <a:rPr lang="zh-CN" altLang="en-US" sz="2400" dirty="0" smtClean="0"/>
              <a:t>分数规划</a:t>
            </a:r>
            <a:r>
              <a:rPr lang="en-US" altLang="zh-CN" sz="2400" dirty="0" smtClean="0"/>
              <a:t>.</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单调队列优化动态规划</a:t>
            </a:r>
            <a:r>
              <a:rPr lang="en-US" altLang="zh-CN" dirty="0" smtClean="0"/>
              <a:t>(</a:t>
            </a:r>
            <a:r>
              <a:rPr lang="zh-CN" altLang="en-US" dirty="0" smtClean="0"/>
              <a:t>多重背包</a:t>
            </a:r>
            <a:r>
              <a:rPr lang="en-US" altLang="zh-CN" dirty="0" smtClean="0"/>
              <a:t>)</a:t>
            </a:r>
            <a:endParaRPr lang="zh-CN" altLang="en-US" dirty="0"/>
          </a:p>
        </p:txBody>
      </p:sp>
      <p:sp>
        <p:nvSpPr>
          <p:cNvPr id="3" name="内容占位符 2"/>
          <p:cNvSpPr>
            <a:spLocks noGrp="1"/>
          </p:cNvSpPr>
          <p:nvPr>
            <p:ph sz="quarter" idx="1"/>
          </p:nvPr>
        </p:nvSpPr>
        <p:spPr/>
        <p:txBody>
          <a:bodyPr>
            <a:normAutofit fontScale="92500"/>
          </a:bodyPr>
          <a:lstStyle/>
          <a:p>
            <a:r>
              <a:rPr lang="zh-CN" altLang="en-US" dirty="0" smtClean="0"/>
              <a:t>状态定义</a:t>
            </a:r>
            <a:r>
              <a:rPr lang="en-US" altLang="zh-CN" dirty="0" smtClean="0"/>
              <a:t>:F[</a:t>
            </a:r>
            <a:r>
              <a:rPr lang="en-US" altLang="zh-CN" dirty="0" err="1" smtClean="0"/>
              <a:t>i</a:t>
            </a:r>
            <a:r>
              <a:rPr lang="en-US" altLang="zh-CN" dirty="0" smtClean="0"/>
              <a:t>][j]</a:t>
            </a:r>
            <a:r>
              <a:rPr lang="zh-CN" altLang="en-US" dirty="0" smtClean="0"/>
              <a:t>表示在前</a:t>
            </a:r>
            <a:r>
              <a:rPr lang="en-US" altLang="zh-CN" dirty="0" err="1" smtClean="0"/>
              <a:t>i</a:t>
            </a:r>
            <a:r>
              <a:rPr lang="zh-CN" altLang="en-US" dirty="0" smtClean="0"/>
              <a:t>种物品里花费</a:t>
            </a:r>
            <a:r>
              <a:rPr lang="en-US" altLang="zh-CN" dirty="0" smtClean="0"/>
              <a:t>j</a:t>
            </a:r>
            <a:r>
              <a:rPr lang="zh-CN" altLang="en-US" dirty="0" smtClean="0"/>
              <a:t>的代价能够取得的最大收益</a:t>
            </a:r>
            <a:endParaRPr lang="en-US" altLang="zh-CN" dirty="0" smtClean="0"/>
          </a:p>
          <a:p>
            <a:r>
              <a:rPr lang="zh-CN" altLang="en-US" dirty="0" smtClean="0"/>
              <a:t>从</a:t>
            </a:r>
            <a:r>
              <a:rPr lang="en-US" altLang="zh-CN" dirty="0" smtClean="0"/>
              <a:t>F[i-1][]</a:t>
            </a:r>
            <a:r>
              <a:rPr lang="zh-CN" altLang="en-US" dirty="0" smtClean="0"/>
              <a:t>转移到</a:t>
            </a:r>
            <a:r>
              <a:rPr lang="en-US" altLang="zh-CN" dirty="0" smtClean="0"/>
              <a:t>F[</a:t>
            </a:r>
            <a:r>
              <a:rPr lang="en-US" altLang="zh-CN" dirty="0" err="1" smtClean="0"/>
              <a:t>i</a:t>
            </a:r>
            <a:r>
              <a:rPr lang="en-US" altLang="zh-CN" dirty="0" smtClean="0"/>
              <a:t>]</a:t>
            </a:r>
            <a:endParaRPr lang="en-US" altLang="zh-CN" dirty="0" smtClean="0"/>
          </a:p>
          <a:p>
            <a:r>
              <a:rPr lang="zh-CN" altLang="en-US" dirty="0" smtClean="0"/>
              <a:t>设第</a:t>
            </a:r>
            <a:r>
              <a:rPr lang="en-US" altLang="zh-CN" dirty="0" err="1" smtClean="0"/>
              <a:t>i</a:t>
            </a:r>
            <a:r>
              <a:rPr lang="zh-CN" altLang="en-US" dirty="0" smtClean="0"/>
              <a:t>种物品每一个的花费为</a:t>
            </a:r>
            <a:r>
              <a:rPr lang="en-US" altLang="zh-CN" dirty="0" err="1" smtClean="0"/>
              <a:t>ci</a:t>
            </a:r>
            <a:r>
              <a:rPr lang="en-US" altLang="zh-CN" dirty="0" smtClean="0"/>
              <a:t>,</a:t>
            </a:r>
            <a:r>
              <a:rPr lang="zh-CN" altLang="en-US" dirty="0" smtClean="0"/>
              <a:t>收益为</a:t>
            </a:r>
            <a:r>
              <a:rPr lang="en-US" altLang="zh-CN" dirty="0" smtClean="0"/>
              <a:t>vi</a:t>
            </a:r>
            <a:endParaRPr lang="en-US" altLang="zh-CN" dirty="0" smtClean="0"/>
          </a:p>
          <a:p>
            <a:r>
              <a:rPr lang="zh-CN" altLang="en-US" dirty="0" smtClean="0"/>
              <a:t>方便起见这里用</a:t>
            </a:r>
            <a:r>
              <a:rPr lang="en-US" altLang="zh-CN" dirty="0" smtClean="0"/>
              <a:t>f[j]</a:t>
            </a:r>
            <a:r>
              <a:rPr lang="zh-CN" altLang="en-US" dirty="0" smtClean="0"/>
              <a:t>表示</a:t>
            </a:r>
            <a:r>
              <a:rPr lang="en-US" altLang="zh-CN" dirty="0" smtClean="0"/>
              <a:t>F[</a:t>
            </a:r>
            <a:r>
              <a:rPr lang="en-US" altLang="zh-CN" dirty="0" err="1" smtClean="0"/>
              <a:t>i</a:t>
            </a:r>
            <a:r>
              <a:rPr lang="en-US" altLang="zh-CN" dirty="0" smtClean="0"/>
              <a:t>][j],g[j]</a:t>
            </a:r>
            <a:r>
              <a:rPr lang="zh-CN" altLang="en-US" dirty="0" smtClean="0"/>
              <a:t>表示</a:t>
            </a:r>
            <a:r>
              <a:rPr lang="en-US" altLang="zh-CN" dirty="0" smtClean="0"/>
              <a:t>F[i-1][j]</a:t>
            </a:r>
            <a:endParaRPr lang="en-US" altLang="zh-CN" dirty="0" smtClean="0"/>
          </a:p>
          <a:p>
            <a:r>
              <a:rPr lang="en-US" altLang="zh-CN" dirty="0" smtClean="0"/>
              <a:t>f[j]=max{g[j],g[j-</a:t>
            </a:r>
            <a:r>
              <a:rPr lang="en-US" altLang="zh-CN" dirty="0" err="1" smtClean="0"/>
              <a:t>ci</a:t>
            </a:r>
            <a:r>
              <a:rPr lang="en-US" altLang="zh-CN" dirty="0" smtClean="0"/>
              <a:t>]+</a:t>
            </a:r>
            <a:r>
              <a:rPr lang="en-US" altLang="zh-CN" dirty="0" err="1" smtClean="0"/>
              <a:t>vi,g</a:t>
            </a:r>
            <a:r>
              <a:rPr lang="en-US" altLang="zh-CN" dirty="0" smtClean="0"/>
              <a:t>[j-2*</a:t>
            </a:r>
            <a:r>
              <a:rPr lang="en-US" altLang="zh-CN" dirty="0" err="1" smtClean="0"/>
              <a:t>ci</a:t>
            </a:r>
            <a:r>
              <a:rPr lang="en-US" altLang="zh-CN" dirty="0" smtClean="0"/>
              <a:t>]+2*vi….g[j-k*</a:t>
            </a:r>
            <a:r>
              <a:rPr lang="en-US" altLang="zh-CN" dirty="0" err="1" smtClean="0"/>
              <a:t>ci</a:t>
            </a:r>
            <a:r>
              <a:rPr lang="en-US" altLang="zh-CN" dirty="0" smtClean="0"/>
              <a:t>]+k*vi}</a:t>
            </a:r>
            <a:endParaRPr lang="en-US" altLang="zh-CN" dirty="0" smtClean="0"/>
          </a:p>
          <a:p>
            <a:r>
              <a:rPr lang="en-US" altLang="zh-CN" dirty="0" smtClean="0"/>
              <a:t>k</a:t>
            </a:r>
            <a:r>
              <a:rPr lang="zh-CN" altLang="en-US" dirty="0" smtClean="0"/>
              <a:t>是物品个数和</a:t>
            </a:r>
            <a:r>
              <a:rPr lang="en-US" altLang="zh-CN" dirty="0" smtClean="0"/>
              <a:t>j/</a:t>
            </a:r>
            <a:r>
              <a:rPr lang="en-US" altLang="zh-CN" dirty="0" err="1" smtClean="0"/>
              <a:t>ci</a:t>
            </a:r>
            <a:r>
              <a:rPr lang="zh-CN" altLang="en-US" dirty="0" smtClean="0"/>
              <a:t>中的较小值</a:t>
            </a:r>
            <a:endParaRPr lang="en-US" altLang="zh-CN" dirty="0" smtClean="0"/>
          </a:p>
          <a:p>
            <a:r>
              <a:rPr lang="en-US" altLang="zh-CN" dirty="0" smtClean="0"/>
              <a:t>f[j-</a:t>
            </a:r>
            <a:r>
              <a:rPr lang="en-US" altLang="zh-CN" dirty="0" err="1" smtClean="0"/>
              <a:t>ci</a:t>
            </a:r>
            <a:r>
              <a:rPr lang="en-US" altLang="zh-CN" dirty="0" smtClean="0"/>
              <a:t>]=max{g[j-</a:t>
            </a:r>
            <a:r>
              <a:rPr lang="en-US" altLang="zh-CN" dirty="0" err="1" smtClean="0"/>
              <a:t>ci</a:t>
            </a:r>
            <a:r>
              <a:rPr lang="en-US" altLang="zh-CN" dirty="0" smtClean="0"/>
              <a:t>],g[j-2*</a:t>
            </a:r>
            <a:r>
              <a:rPr lang="en-US" altLang="zh-CN" dirty="0" err="1" smtClean="0"/>
              <a:t>ci</a:t>
            </a:r>
            <a:r>
              <a:rPr lang="en-US" altLang="zh-CN" dirty="0" smtClean="0"/>
              <a:t>]+vi…..}</a:t>
            </a:r>
            <a:endParaRPr lang="en-US" altLang="zh-CN" dirty="0" smtClean="0"/>
          </a:p>
          <a:p>
            <a:r>
              <a:rPr lang="zh-CN" altLang="en-US" dirty="0" smtClean="0"/>
              <a:t>只有</a:t>
            </a:r>
            <a:r>
              <a:rPr lang="en-US" altLang="zh-CN" dirty="0" smtClean="0"/>
              <a:t>mod </a:t>
            </a:r>
            <a:r>
              <a:rPr lang="en-US" altLang="zh-CN" dirty="0" err="1" smtClean="0"/>
              <a:t>ci</a:t>
            </a:r>
            <a:r>
              <a:rPr lang="zh-CN" altLang="en-US" dirty="0" smtClean="0"/>
              <a:t>后余数相同的状态之间能够相互转移</a:t>
            </a:r>
            <a:endParaRPr lang="en-US" altLang="zh-CN" dirty="0" smtClean="0"/>
          </a:p>
          <a:p>
            <a:r>
              <a:rPr lang="zh-CN" altLang="en-US" dirty="0" smtClean="0"/>
              <a:t>我们考虑</a:t>
            </a:r>
            <a:r>
              <a:rPr lang="en-US" altLang="zh-CN" dirty="0" smtClean="0"/>
              <a:t>mod </a:t>
            </a:r>
            <a:r>
              <a:rPr lang="en-US" altLang="zh-CN" dirty="0" err="1" smtClean="0"/>
              <a:t>ci</a:t>
            </a:r>
            <a:r>
              <a:rPr lang="en-US" altLang="zh-CN" dirty="0" smtClean="0"/>
              <a:t> = r</a:t>
            </a:r>
            <a:r>
              <a:rPr lang="zh-CN" altLang="en-US" dirty="0" smtClean="0"/>
              <a:t>的所有状态</a:t>
            </a:r>
            <a:endParaRPr lang="en-US" altLang="zh-CN" dirty="0" smtClean="0"/>
          </a:p>
          <a:p>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单调队列优化动态规划</a:t>
            </a:r>
            <a:r>
              <a:rPr lang="en-US" altLang="zh-CN" dirty="0" smtClean="0"/>
              <a:t>(</a:t>
            </a:r>
            <a:r>
              <a:rPr lang="zh-CN" altLang="en-US" dirty="0" smtClean="0"/>
              <a:t>多重背包</a:t>
            </a:r>
            <a:r>
              <a:rPr lang="en-US" altLang="zh-CN" dirty="0" smtClean="0"/>
              <a:t>)</a:t>
            </a:r>
            <a:endParaRPr lang="zh-CN" altLang="en-US" dirty="0"/>
          </a:p>
        </p:txBody>
      </p:sp>
      <p:sp>
        <p:nvSpPr>
          <p:cNvPr id="3" name="内容占位符 2"/>
          <p:cNvSpPr>
            <a:spLocks noGrp="1"/>
          </p:cNvSpPr>
          <p:nvPr>
            <p:ph sz="quarter" idx="1"/>
          </p:nvPr>
        </p:nvSpPr>
        <p:spPr/>
        <p:txBody>
          <a:bodyPr>
            <a:normAutofit fontScale="92500"/>
          </a:bodyPr>
          <a:lstStyle/>
          <a:p>
            <a:r>
              <a:rPr lang="en-US" altLang="zh-CN" dirty="0" smtClean="0"/>
              <a:t>g[ r ],g[ r + </a:t>
            </a:r>
            <a:r>
              <a:rPr lang="en-US" altLang="zh-CN" dirty="0" err="1" smtClean="0"/>
              <a:t>ci</a:t>
            </a:r>
            <a:r>
              <a:rPr lang="en-US" altLang="zh-CN" dirty="0" smtClean="0"/>
              <a:t> ],g[ r + 2*</a:t>
            </a:r>
            <a:r>
              <a:rPr lang="en-US" altLang="zh-CN" dirty="0" err="1" smtClean="0"/>
              <a:t>ci</a:t>
            </a:r>
            <a:r>
              <a:rPr lang="en-US" altLang="zh-CN" dirty="0" smtClean="0"/>
              <a:t> ]…g[ r + k*</a:t>
            </a:r>
            <a:r>
              <a:rPr lang="en-US" altLang="zh-CN" dirty="0" err="1" smtClean="0"/>
              <a:t>ci</a:t>
            </a:r>
            <a:r>
              <a:rPr lang="en-US" altLang="zh-CN" dirty="0" smtClean="0"/>
              <a:t> ]…</a:t>
            </a:r>
            <a:endParaRPr lang="en-US" altLang="zh-CN" dirty="0" smtClean="0"/>
          </a:p>
          <a:p>
            <a:r>
              <a:rPr lang="en-US" altLang="zh-CN" dirty="0" smtClean="0"/>
              <a:t>f[ r ],f[ r + </a:t>
            </a:r>
            <a:r>
              <a:rPr lang="en-US" altLang="zh-CN" dirty="0" err="1" smtClean="0"/>
              <a:t>ci</a:t>
            </a:r>
            <a:r>
              <a:rPr lang="en-US" altLang="zh-CN" dirty="0" smtClean="0"/>
              <a:t> ],f[ r + 2*</a:t>
            </a:r>
            <a:r>
              <a:rPr lang="en-US" altLang="zh-CN" dirty="0" err="1" smtClean="0"/>
              <a:t>ci</a:t>
            </a:r>
            <a:r>
              <a:rPr lang="en-US" altLang="zh-CN" dirty="0" smtClean="0"/>
              <a:t> ]…f[ r + k*</a:t>
            </a:r>
            <a:r>
              <a:rPr lang="en-US" altLang="zh-CN" dirty="0" err="1" smtClean="0"/>
              <a:t>ci</a:t>
            </a:r>
            <a:r>
              <a:rPr lang="en-US" altLang="zh-CN" dirty="0" smtClean="0"/>
              <a:t> ]….</a:t>
            </a:r>
            <a:endParaRPr lang="en-US" altLang="zh-CN" dirty="0" smtClean="0"/>
          </a:p>
          <a:p>
            <a:r>
              <a:rPr lang="zh-CN" altLang="en-US" dirty="0" smtClean="0"/>
              <a:t>第一行里</a:t>
            </a:r>
            <a:r>
              <a:rPr lang="en-US" altLang="zh-CN" dirty="0" smtClean="0"/>
              <a:t>g[]</a:t>
            </a:r>
            <a:r>
              <a:rPr lang="zh-CN" altLang="en-US" dirty="0" smtClean="0"/>
              <a:t>列出来的项可以向第二行里</a:t>
            </a:r>
            <a:r>
              <a:rPr lang="en-US" altLang="zh-CN" dirty="0" smtClean="0"/>
              <a:t>f[]</a:t>
            </a:r>
            <a:r>
              <a:rPr lang="zh-CN" altLang="en-US" dirty="0" smtClean="0"/>
              <a:t>列出来的项转移</a:t>
            </a:r>
            <a:endParaRPr lang="en-US" altLang="zh-CN" dirty="0" smtClean="0"/>
          </a:p>
          <a:p>
            <a:r>
              <a:rPr lang="en-US" altLang="zh-CN" dirty="0" smtClean="0"/>
              <a:t>g2[k]</a:t>
            </a:r>
            <a:r>
              <a:rPr lang="zh-CN" altLang="en-US" dirty="0" smtClean="0"/>
              <a:t>表示</a:t>
            </a:r>
            <a:r>
              <a:rPr lang="en-US" altLang="zh-CN" dirty="0" smtClean="0"/>
              <a:t>g[</a:t>
            </a:r>
            <a:r>
              <a:rPr lang="en-US" altLang="zh-CN" dirty="0" err="1" smtClean="0"/>
              <a:t>r+k</a:t>
            </a:r>
            <a:r>
              <a:rPr lang="en-US" altLang="zh-CN" dirty="0" smtClean="0"/>
              <a:t>*</a:t>
            </a:r>
            <a:r>
              <a:rPr lang="en-US" altLang="zh-CN" dirty="0" err="1" smtClean="0"/>
              <a:t>ci</a:t>
            </a:r>
            <a:r>
              <a:rPr lang="en-US" altLang="zh-CN" dirty="0" smtClean="0"/>
              <a:t>],f2[k]</a:t>
            </a:r>
            <a:r>
              <a:rPr lang="zh-CN" altLang="en-US" dirty="0" smtClean="0"/>
              <a:t>表示</a:t>
            </a:r>
            <a:r>
              <a:rPr lang="en-US" altLang="zh-CN" dirty="0" smtClean="0"/>
              <a:t>f[</a:t>
            </a:r>
            <a:r>
              <a:rPr lang="en-US" altLang="zh-CN" dirty="0" err="1" smtClean="0"/>
              <a:t>r+k</a:t>
            </a:r>
            <a:r>
              <a:rPr lang="en-US" altLang="zh-CN" dirty="0" smtClean="0"/>
              <a:t>*</a:t>
            </a:r>
            <a:r>
              <a:rPr lang="en-US" altLang="zh-CN" dirty="0" err="1" smtClean="0"/>
              <a:t>ci</a:t>
            </a:r>
            <a:r>
              <a:rPr lang="en-US" altLang="zh-CN" dirty="0" smtClean="0"/>
              <a:t>]</a:t>
            </a:r>
            <a:endParaRPr lang="en-US" altLang="zh-CN" dirty="0" smtClean="0"/>
          </a:p>
          <a:p>
            <a:r>
              <a:rPr lang="zh-CN" altLang="en-US" dirty="0" smtClean="0"/>
              <a:t>那么</a:t>
            </a:r>
            <a:r>
              <a:rPr lang="en-US" altLang="zh-CN" dirty="0" smtClean="0"/>
              <a:t>f2[j]=max{g2[j],g2[j-1]+vi,g2[j-2]+2*vi….}</a:t>
            </a:r>
            <a:endParaRPr lang="en-US" altLang="zh-CN" dirty="0" smtClean="0"/>
          </a:p>
          <a:p>
            <a:r>
              <a:rPr lang="zh-CN" altLang="en-US" dirty="0" smtClean="0"/>
              <a:t>化成这样的形式</a:t>
            </a:r>
            <a:r>
              <a:rPr lang="en-US" altLang="zh-CN" dirty="0" smtClean="0"/>
              <a:t>:</a:t>
            </a:r>
            <a:endParaRPr lang="en-US" altLang="zh-CN" dirty="0" smtClean="0"/>
          </a:p>
          <a:p>
            <a:r>
              <a:rPr lang="en-US" altLang="zh-CN" dirty="0" smtClean="0"/>
              <a:t>f2[j]=max{g2[j]-j*vi,g2[j-1]-(j-1)*vi….}+j*vi</a:t>
            </a:r>
            <a:endParaRPr lang="en-US" altLang="zh-CN" dirty="0" smtClean="0"/>
          </a:p>
          <a:p>
            <a:r>
              <a:rPr lang="zh-CN" altLang="en-US" dirty="0" smtClean="0"/>
              <a:t>对</a:t>
            </a:r>
            <a:r>
              <a:rPr lang="en-US" altLang="zh-CN" dirty="0" smtClean="0"/>
              <a:t>g2[j]-j*vi</a:t>
            </a:r>
            <a:r>
              <a:rPr lang="zh-CN" altLang="en-US" dirty="0" smtClean="0"/>
              <a:t>用滑动窗口求最大值即可</a:t>
            </a:r>
            <a:endParaRPr lang="en-US" altLang="zh-CN" dirty="0" smtClean="0"/>
          </a:p>
          <a:p>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UESTC1132 </a:t>
            </a:r>
            <a:r>
              <a:rPr lang="zh-CN" altLang="en-US" dirty="0" smtClean="0"/>
              <a:t>酱神赏花</a:t>
            </a:r>
            <a:endParaRPr lang="zh-CN" altLang="en-US" dirty="0"/>
          </a:p>
        </p:txBody>
      </p:sp>
      <p:pic>
        <p:nvPicPr>
          <p:cNvPr id="3074" name="Picture 2"/>
          <p:cNvPicPr>
            <a:picLocks noGrp="1" noChangeAspect="1" noChangeArrowheads="1"/>
          </p:cNvPicPr>
          <p:nvPr>
            <p:ph sz="quarter" idx="1"/>
          </p:nvPr>
        </p:nvPicPr>
        <p:blipFill>
          <a:blip r:embed="rId1"/>
          <a:srcRect/>
          <a:stretch>
            <a:fillRect/>
          </a:stretch>
        </p:blipFill>
        <p:spPr bwMode="auto">
          <a:xfrm>
            <a:off x="428596" y="1428736"/>
            <a:ext cx="8525344" cy="471490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UESTC1132 </a:t>
            </a:r>
            <a:r>
              <a:rPr lang="zh-CN" altLang="en-US" dirty="0" smtClean="0"/>
              <a:t>酱神赏花</a:t>
            </a:r>
            <a:endParaRPr lang="zh-CN" altLang="en-US" dirty="0"/>
          </a:p>
        </p:txBody>
      </p:sp>
      <p:sp>
        <p:nvSpPr>
          <p:cNvPr id="3" name="内容占位符 2"/>
          <p:cNvSpPr>
            <a:spLocks noGrp="1"/>
          </p:cNvSpPr>
          <p:nvPr>
            <p:ph sz="quarter" idx="1"/>
          </p:nvPr>
        </p:nvSpPr>
        <p:spPr/>
        <p:txBody>
          <a:bodyPr>
            <a:normAutofit/>
          </a:bodyPr>
          <a:lstStyle/>
          <a:p>
            <a:r>
              <a:rPr lang="zh-CN" altLang="en-US" sz="2400" dirty="0" smtClean="0"/>
              <a:t>首先发现</a:t>
            </a:r>
            <a:r>
              <a:rPr lang="en-US" altLang="zh-CN" sz="2400" dirty="0" smtClean="0"/>
              <a:t>bi</a:t>
            </a:r>
            <a:r>
              <a:rPr lang="zh-CN" altLang="en-US" sz="2400" dirty="0" smtClean="0"/>
              <a:t>是打酱油的</a:t>
            </a:r>
            <a:r>
              <a:rPr lang="en-US" altLang="zh-CN" sz="2400" dirty="0" smtClean="0"/>
              <a:t>,</a:t>
            </a:r>
            <a:r>
              <a:rPr lang="zh-CN" altLang="en-US" sz="2400" dirty="0" smtClean="0"/>
              <a:t>直接累加就可以了</a:t>
            </a:r>
            <a:endParaRPr lang="en-US" altLang="zh-CN" sz="2400" dirty="0" smtClean="0"/>
          </a:p>
          <a:p>
            <a:r>
              <a:rPr lang="zh-CN" altLang="en-US" sz="2400" dirty="0" smtClean="0"/>
              <a:t>不妨把人的坐标和花的坐标的差的绝对值之和看作损失值</a:t>
            </a:r>
            <a:endParaRPr lang="en-US" altLang="zh-CN" sz="2400" dirty="0" smtClean="0"/>
          </a:p>
          <a:p>
            <a:r>
              <a:rPr lang="zh-CN" altLang="en-US" sz="2400" dirty="0" smtClean="0"/>
              <a:t>肯定要按照时间先后顺序和人所在的位置进行</a:t>
            </a:r>
            <a:r>
              <a:rPr lang="en-US" altLang="zh-CN" sz="2400" dirty="0" smtClean="0"/>
              <a:t>DP.</a:t>
            </a:r>
            <a:r>
              <a:rPr lang="zh-CN" altLang="en-US" sz="2400" dirty="0" smtClean="0"/>
              <a:t>定义</a:t>
            </a:r>
            <a:r>
              <a:rPr lang="en-US" altLang="zh-CN" sz="2400" dirty="0" smtClean="0"/>
              <a:t>f[</a:t>
            </a:r>
            <a:r>
              <a:rPr lang="en-US" altLang="zh-CN" sz="2400" dirty="0" err="1" smtClean="0"/>
              <a:t>i</a:t>
            </a:r>
            <a:r>
              <a:rPr lang="en-US" altLang="zh-CN" sz="2400" dirty="0" smtClean="0"/>
              <a:t>][j]</a:t>
            </a:r>
            <a:r>
              <a:rPr lang="zh-CN" altLang="en-US" sz="2400" dirty="0" smtClean="0"/>
              <a:t>表示到了第</a:t>
            </a:r>
            <a:r>
              <a:rPr lang="en-US" altLang="zh-CN" sz="2400" dirty="0" err="1" smtClean="0"/>
              <a:t>i</a:t>
            </a:r>
            <a:r>
              <a:rPr lang="zh-CN" altLang="en-US" sz="2400" dirty="0" smtClean="0"/>
              <a:t>个有花的时刻</a:t>
            </a:r>
            <a:r>
              <a:rPr lang="en-US" altLang="zh-CN" sz="2400" dirty="0" smtClean="0"/>
              <a:t>,</a:t>
            </a:r>
            <a:r>
              <a:rPr lang="zh-CN" altLang="en-US" sz="2400" dirty="0" smtClean="0"/>
              <a:t>人位于</a:t>
            </a:r>
            <a:r>
              <a:rPr lang="en-US" altLang="zh-CN" sz="2400" dirty="0" smtClean="0"/>
              <a:t>j</a:t>
            </a:r>
            <a:r>
              <a:rPr lang="zh-CN" altLang="en-US" sz="2400" dirty="0" smtClean="0"/>
              <a:t>的最小损失值</a:t>
            </a:r>
            <a:r>
              <a:rPr lang="en-US" altLang="zh-CN" sz="2400" dirty="0" smtClean="0"/>
              <a:t>.</a:t>
            </a:r>
            <a:r>
              <a:rPr lang="zh-CN" altLang="en-US" sz="2400" dirty="0" smtClean="0"/>
              <a:t>把同时出现的花合并到一个时刻处理</a:t>
            </a:r>
            <a:r>
              <a:rPr lang="en-US" altLang="zh-CN" sz="2400" dirty="0" smtClean="0"/>
              <a:t>.</a:t>
            </a:r>
            <a:endParaRPr lang="en-US" altLang="zh-CN" sz="2400" dirty="0" smtClean="0"/>
          </a:p>
          <a:p>
            <a:r>
              <a:rPr lang="zh-CN" altLang="en-US" sz="2400" dirty="0" smtClean="0"/>
              <a:t>枚举上一时刻在哪个位置</a:t>
            </a:r>
            <a:r>
              <a:rPr lang="en-US" altLang="zh-CN" sz="2400" dirty="0" smtClean="0"/>
              <a:t>,</a:t>
            </a:r>
            <a:r>
              <a:rPr lang="zh-CN" altLang="en-US" sz="2400" dirty="0" smtClean="0"/>
              <a:t>暴力</a:t>
            </a:r>
            <a:r>
              <a:rPr lang="en-US" altLang="zh-CN" sz="2400" dirty="0" smtClean="0"/>
              <a:t>DP</a:t>
            </a:r>
            <a:r>
              <a:rPr lang="zh-CN" altLang="en-US" sz="2400" dirty="0" smtClean="0"/>
              <a:t>是</a:t>
            </a:r>
            <a:r>
              <a:rPr lang="en-US" altLang="zh-CN" sz="2400" dirty="0" smtClean="0"/>
              <a:t>O(n^2m)</a:t>
            </a:r>
            <a:r>
              <a:rPr lang="zh-CN" altLang="en-US" sz="2400" dirty="0" smtClean="0"/>
              <a:t>的</a:t>
            </a:r>
            <a:endParaRPr lang="en-US" altLang="zh-CN" sz="2400" dirty="0" smtClean="0"/>
          </a:p>
          <a:p>
            <a:r>
              <a:rPr lang="zh-CN" altLang="en-US" sz="2400" dirty="0" smtClean="0"/>
              <a:t>转移的时候是一个滑动窗口最小值</a:t>
            </a:r>
            <a:endParaRPr lang="en-US" altLang="zh-CN" sz="2400" dirty="0" smtClean="0"/>
          </a:p>
          <a:p>
            <a:r>
              <a:rPr lang="zh-CN" altLang="en-US" sz="2400" dirty="0" smtClean="0"/>
              <a:t>单调队列</a:t>
            </a:r>
            <a:r>
              <a:rPr lang="en-US" altLang="zh-CN" sz="2400" dirty="0" smtClean="0"/>
              <a:t>,O(nm)</a:t>
            </a:r>
            <a:endParaRPr lang="zh-CN" alt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单调队列</a:t>
            </a:r>
            <a:r>
              <a:rPr lang="en-US" altLang="zh-CN" dirty="0" smtClean="0"/>
              <a:t>(</a:t>
            </a:r>
            <a:r>
              <a:rPr lang="zh-CN" altLang="en-US" dirty="0" smtClean="0"/>
              <a:t>更多题目</a:t>
            </a:r>
            <a:r>
              <a:rPr lang="en-US" altLang="zh-CN" dirty="0" smtClean="0"/>
              <a:t>)</a:t>
            </a:r>
            <a:endParaRPr lang="zh-CN" altLang="en-US" dirty="0"/>
          </a:p>
        </p:txBody>
      </p:sp>
      <p:sp>
        <p:nvSpPr>
          <p:cNvPr id="3" name="内容占位符 2"/>
          <p:cNvSpPr>
            <a:spLocks noGrp="1"/>
          </p:cNvSpPr>
          <p:nvPr>
            <p:ph sz="quarter" idx="1"/>
          </p:nvPr>
        </p:nvSpPr>
        <p:spPr/>
        <p:txBody>
          <a:bodyPr>
            <a:normAutofit/>
          </a:bodyPr>
          <a:lstStyle/>
          <a:p>
            <a:r>
              <a:rPr lang="en-US" altLang="zh-CN" sz="2400" dirty="0" smtClean="0"/>
              <a:t>Tyvj1305 </a:t>
            </a:r>
            <a:r>
              <a:rPr lang="zh-CN" altLang="en-US" sz="2400" dirty="0" smtClean="0"/>
              <a:t>最大子序和</a:t>
            </a:r>
            <a:endParaRPr lang="en-US" altLang="zh-CN" sz="2400" dirty="0" smtClean="0"/>
          </a:p>
          <a:p>
            <a:r>
              <a:rPr lang="en-US" altLang="zh-CN" sz="2400" dirty="0" smtClean="0"/>
              <a:t>poj2373</a:t>
            </a:r>
            <a:endParaRPr lang="en-US" altLang="zh-CN" sz="2400" dirty="0" smtClean="0"/>
          </a:p>
          <a:p>
            <a:r>
              <a:rPr lang="en-US" altLang="zh-CN" sz="2400" dirty="0" smtClean="0"/>
              <a:t>hdu1059</a:t>
            </a:r>
            <a:endParaRPr lang="en-US" altLang="zh-CN" sz="2400" dirty="0" smtClean="0"/>
          </a:p>
          <a:p>
            <a:r>
              <a:rPr lang="en-US" altLang="zh-CN" sz="2400" dirty="0" smtClean="0"/>
              <a:t>hdu3530</a:t>
            </a:r>
            <a:endParaRPr lang="en-US" altLang="zh-CN" sz="2400" dirty="0" smtClean="0"/>
          </a:p>
          <a:p>
            <a:r>
              <a:rPr lang="en-US" altLang="zh-CN" sz="2400" dirty="0" smtClean="0"/>
              <a:t>hdu5945</a:t>
            </a:r>
            <a:endParaRPr lang="en-US" altLang="zh-CN" sz="2400" dirty="0" smtClean="0"/>
          </a:p>
          <a:p>
            <a:r>
              <a:rPr lang="en-US" altLang="zh-CN" sz="2400" dirty="0" smtClean="0"/>
              <a:t>NOI2005 </a:t>
            </a:r>
            <a:r>
              <a:rPr lang="zh-CN" altLang="en-US" sz="2400" dirty="0" smtClean="0"/>
              <a:t>瑰丽华尔兹</a:t>
            </a:r>
            <a:endParaRPr lang="zh-CN" altLang="en-US" sz="2400" dirty="0" smtClean="0"/>
          </a:p>
          <a:p>
            <a:r>
              <a:rPr lang="en-US" altLang="zh-CN" sz="2400" dirty="0" smtClean="0"/>
              <a:t>USACO open11 </a:t>
            </a:r>
            <a:r>
              <a:rPr lang="zh-CN" altLang="en-US" sz="2400" dirty="0" smtClean="0"/>
              <a:t>修剪草坪</a:t>
            </a:r>
            <a:endParaRPr lang="en-US" altLang="zh-CN" sz="2400" dirty="0" smtClean="0"/>
          </a:p>
          <a:p>
            <a:r>
              <a:rPr lang="en-US" altLang="zh-CN" sz="2400" dirty="0" smtClean="0"/>
              <a:t>bzoj1293</a:t>
            </a:r>
            <a:endParaRPr lang="zh-CN" altLang="en-US" sz="2400" dirty="0" smtClean="0"/>
          </a:p>
          <a:p>
            <a:r>
              <a:rPr lang="en-US" altLang="zh-CN" sz="2400" dirty="0" smtClean="0"/>
              <a:t>bzoj3315 </a:t>
            </a:r>
            <a:endParaRPr lang="en-US" altLang="zh-CN" sz="2400" dirty="0" smtClean="0"/>
          </a:p>
          <a:p>
            <a:r>
              <a:rPr lang="en-US" altLang="zh-CN" sz="2400" dirty="0" smtClean="0"/>
              <a:t>bzoj4476</a:t>
            </a:r>
            <a:endParaRPr lang="en-US" altLang="zh-CN" sz="2400" dirty="0" smtClean="0"/>
          </a:p>
          <a:p>
            <a:endParaRPr lang="zh-CN" altLang="en-US" sz="2400"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0"/>
          <p:cNvSpPr>
            <a:spLocks noGrp="1"/>
          </p:cNvSpPr>
          <p:nvPr>
            <p:ph type="title"/>
          </p:nvPr>
        </p:nvSpPr>
        <p:spPr/>
        <p:txBody>
          <a:bodyPr/>
          <a:lstStyle/>
          <a:p>
            <a:r>
              <a:rPr lang="zh-CN" altLang="en-US" dirty="0" smtClean="0"/>
              <a:t>斜率优化动态规划</a:t>
            </a:r>
            <a:endParaRPr lang="zh-CN" altLang="en-US" dirty="0"/>
          </a:p>
        </p:txBody>
      </p:sp>
      <p:sp>
        <p:nvSpPr>
          <p:cNvPr id="4" name="文本占位符 3"/>
          <p:cNvSpPr>
            <a:spLocks noGrp="1"/>
          </p:cNvSpPr>
          <p:nvPr>
            <p:ph type="body" idx="1"/>
          </p:nvPr>
        </p:nvSpPr>
        <p:spPr/>
        <p:txBody>
          <a:bodyPr/>
          <a:lstStyle/>
          <a:p>
            <a:endParaRPr lang="zh-CN" alt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斜率优化能优化什么样的动态规划</a:t>
            </a:r>
            <a:r>
              <a:rPr lang="en-US" altLang="zh-CN" dirty="0" smtClean="0"/>
              <a:t>?</a:t>
            </a:r>
            <a:endParaRPr lang="zh-CN" altLang="en-US" dirty="0"/>
          </a:p>
        </p:txBody>
      </p:sp>
      <p:sp>
        <p:nvSpPr>
          <p:cNvPr id="3" name="内容占位符 2"/>
          <p:cNvSpPr>
            <a:spLocks noGrp="1"/>
          </p:cNvSpPr>
          <p:nvPr>
            <p:ph sz="quarter" idx="1"/>
          </p:nvPr>
        </p:nvSpPr>
        <p:spPr/>
        <p:txBody>
          <a:bodyPr>
            <a:normAutofit lnSpcReduction="10000"/>
          </a:bodyPr>
          <a:lstStyle/>
          <a:p>
            <a:r>
              <a:rPr lang="zh-CN" altLang="en-US" sz="2400" dirty="0" smtClean="0"/>
              <a:t>斜率优化用来优化一类</a:t>
            </a:r>
            <a:r>
              <a:rPr lang="en-US" altLang="zh-CN" sz="2400" dirty="0" smtClean="0"/>
              <a:t>1D1D</a:t>
            </a:r>
            <a:r>
              <a:rPr lang="zh-CN" altLang="en-US" sz="2400" dirty="0" smtClean="0"/>
              <a:t>动态规划</a:t>
            </a:r>
            <a:r>
              <a:rPr lang="en-US" altLang="zh-CN" sz="2400" dirty="0" smtClean="0"/>
              <a:t>(</a:t>
            </a:r>
            <a:r>
              <a:rPr lang="zh-CN" altLang="en-US" sz="2400" dirty="0" smtClean="0"/>
              <a:t>状态数</a:t>
            </a:r>
            <a:r>
              <a:rPr lang="en-US" altLang="zh-CN" sz="2400" dirty="0" smtClean="0"/>
              <a:t>O(n),</a:t>
            </a:r>
            <a:r>
              <a:rPr lang="zh-CN" altLang="en-US" sz="2400" dirty="0" smtClean="0"/>
              <a:t>一个状态由另一个状态作为前驱转移过来</a:t>
            </a:r>
            <a:r>
              <a:rPr lang="en-US" altLang="zh-CN" sz="2400" dirty="0" smtClean="0"/>
              <a:t>,</a:t>
            </a:r>
            <a:r>
              <a:rPr lang="zh-CN" altLang="en-US" sz="2400" dirty="0" smtClean="0"/>
              <a:t>可选的前驱数目也是</a:t>
            </a:r>
            <a:r>
              <a:rPr lang="en-US" altLang="zh-CN" sz="2400" dirty="0" smtClean="0"/>
              <a:t>O(n)</a:t>
            </a:r>
            <a:r>
              <a:rPr lang="zh-CN" altLang="en-US" sz="2400" dirty="0" smtClean="0"/>
              <a:t>的</a:t>
            </a:r>
            <a:r>
              <a:rPr lang="en-US" altLang="zh-CN" sz="2400" dirty="0" smtClean="0"/>
              <a:t>).</a:t>
            </a:r>
            <a:endParaRPr lang="en-US" altLang="zh-CN" sz="2400" dirty="0" smtClean="0"/>
          </a:p>
          <a:p>
            <a:r>
              <a:rPr lang="zh-CN" altLang="en-US" sz="2400" dirty="0" smtClean="0"/>
              <a:t>也有的</a:t>
            </a:r>
            <a:r>
              <a:rPr lang="en-US" altLang="zh-CN" sz="2400" dirty="0" smtClean="0"/>
              <a:t>DP</a:t>
            </a:r>
            <a:r>
              <a:rPr lang="zh-CN" altLang="en-US" sz="2400" dirty="0" smtClean="0"/>
              <a:t>方程形式上不是</a:t>
            </a:r>
            <a:r>
              <a:rPr lang="en-US" altLang="zh-CN" sz="2400" dirty="0" smtClean="0"/>
              <a:t>1D1D</a:t>
            </a:r>
            <a:r>
              <a:rPr lang="zh-CN" altLang="en-US" sz="2400" dirty="0" smtClean="0"/>
              <a:t>动态规划</a:t>
            </a:r>
            <a:r>
              <a:rPr lang="en-US" altLang="zh-CN" sz="2400" dirty="0" smtClean="0"/>
              <a:t>,</a:t>
            </a:r>
            <a:r>
              <a:rPr lang="zh-CN" altLang="en-US" sz="2400" dirty="0" smtClean="0"/>
              <a:t>但本质上是</a:t>
            </a:r>
            <a:r>
              <a:rPr lang="en-US" altLang="zh-CN" sz="2400" dirty="0" smtClean="0"/>
              <a:t>.</a:t>
            </a:r>
            <a:endParaRPr lang="en-US" altLang="zh-CN" sz="2400" dirty="0" smtClean="0"/>
          </a:p>
          <a:p>
            <a:r>
              <a:rPr lang="zh-CN" altLang="en-US" sz="2400" dirty="0" smtClean="0"/>
              <a:t>比如一个二维的状态</a:t>
            </a:r>
            <a:r>
              <a:rPr lang="en-US" altLang="zh-CN" sz="2400" dirty="0" smtClean="0"/>
              <a:t>f[</a:t>
            </a:r>
            <a:r>
              <a:rPr lang="en-US" altLang="zh-CN" sz="2400" dirty="0" err="1" smtClean="0"/>
              <a:t>i</a:t>
            </a:r>
            <a:r>
              <a:rPr lang="en-US" altLang="zh-CN" sz="2400" dirty="0" smtClean="0"/>
              <a:t>][j],</a:t>
            </a:r>
            <a:r>
              <a:rPr lang="zh-CN" altLang="en-US" sz="2400" dirty="0" smtClean="0"/>
              <a:t>第一维不大</a:t>
            </a:r>
            <a:r>
              <a:rPr lang="en-US" altLang="zh-CN" sz="2400" dirty="0" smtClean="0"/>
              <a:t>,</a:t>
            </a:r>
            <a:r>
              <a:rPr lang="zh-CN" altLang="en-US" sz="2400" dirty="0" smtClean="0"/>
              <a:t>第二维较大</a:t>
            </a:r>
            <a:r>
              <a:rPr lang="en-US" altLang="zh-CN" sz="2400" dirty="0" smtClean="0"/>
              <a:t>,</a:t>
            </a:r>
            <a:r>
              <a:rPr lang="zh-CN" altLang="en-US" sz="2400" dirty="0" smtClean="0"/>
              <a:t>从</a:t>
            </a:r>
            <a:r>
              <a:rPr lang="en-US" altLang="zh-CN" sz="2400" dirty="0" smtClean="0"/>
              <a:t>f[i-1]</a:t>
            </a:r>
            <a:r>
              <a:rPr lang="zh-CN" altLang="en-US" sz="2400" dirty="0" smtClean="0"/>
              <a:t>转移到</a:t>
            </a:r>
            <a:r>
              <a:rPr lang="en-US" altLang="zh-CN" sz="2400" dirty="0" smtClean="0"/>
              <a:t>f[</a:t>
            </a:r>
            <a:r>
              <a:rPr lang="en-US" altLang="zh-CN" sz="2400" dirty="0" err="1" smtClean="0"/>
              <a:t>i</a:t>
            </a:r>
            <a:r>
              <a:rPr lang="en-US" altLang="zh-CN" sz="2400" dirty="0" smtClean="0"/>
              <a:t>]</a:t>
            </a:r>
            <a:r>
              <a:rPr lang="zh-CN" altLang="en-US" sz="2400" dirty="0" smtClean="0"/>
              <a:t>的时候是一个</a:t>
            </a:r>
            <a:r>
              <a:rPr lang="en-US" altLang="zh-CN" sz="2400" dirty="0" smtClean="0"/>
              <a:t>1D1D</a:t>
            </a:r>
            <a:r>
              <a:rPr lang="zh-CN" altLang="en-US" sz="2400" dirty="0" smtClean="0"/>
              <a:t>动态规划</a:t>
            </a:r>
            <a:r>
              <a:rPr lang="en-US" altLang="zh-CN" sz="2400" dirty="0" smtClean="0"/>
              <a:t>,</a:t>
            </a:r>
            <a:r>
              <a:rPr lang="zh-CN" altLang="en-US" sz="2400" dirty="0" smtClean="0"/>
              <a:t>可能也可以斜率优化</a:t>
            </a:r>
            <a:endParaRPr lang="en-US" altLang="zh-CN" sz="2400" dirty="0" smtClean="0"/>
          </a:p>
          <a:p>
            <a:r>
              <a:rPr lang="zh-CN" altLang="en-US" sz="2400" dirty="0" smtClean="0"/>
              <a:t>斜率优化能够优化的</a:t>
            </a:r>
            <a:r>
              <a:rPr lang="en-US" altLang="zh-CN" sz="2400" dirty="0" smtClean="0"/>
              <a:t>DP</a:t>
            </a:r>
            <a:r>
              <a:rPr lang="zh-CN" altLang="en-US" sz="2400" dirty="0" smtClean="0"/>
              <a:t>方程中往往会出现一些量的平方</a:t>
            </a:r>
            <a:r>
              <a:rPr lang="en-US" altLang="zh-CN" sz="2400" dirty="0" smtClean="0"/>
              <a:t>.</a:t>
            </a:r>
            <a:r>
              <a:rPr lang="zh-CN" altLang="en-US" sz="2400" dirty="0" smtClean="0"/>
              <a:t>对于较为简单的题</a:t>
            </a:r>
            <a:r>
              <a:rPr lang="en-US" altLang="zh-CN" sz="2400" dirty="0" smtClean="0"/>
              <a:t>,</a:t>
            </a:r>
            <a:r>
              <a:rPr lang="zh-CN" altLang="en-US" sz="2400" dirty="0" smtClean="0"/>
              <a:t>都有一个显然的</a:t>
            </a:r>
            <a:r>
              <a:rPr lang="en-US" altLang="zh-CN" sz="2400" dirty="0" smtClean="0"/>
              <a:t>O(n^2)</a:t>
            </a:r>
            <a:r>
              <a:rPr lang="zh-CN" altLang="en-US" sz="2400" dirty="0" smtClean="0"/>
              <a:t>暴力</a:t>
            </a:r>
            <a:r>
              <a:rPr lang="en-US" altLang="zh-CN" sz="2400" dirty="0" smtClean="0"/>
              <a:t>DP.</a:t>
            </a:r>
            <a:endParaRPr lang="en-US" altLang="zh-CN" sz="2400" dirty="0" smtClean="0"/>
          </a:p>
          <a:p>
            <a:r>
              <a:rPr lang="zh-CN" altLang="en-US" sz="2400" dirty="0" smtClean="0"/>
              <a:t>初学的时候推式子可能会费点劲</a:t>
            </a:r>
            <a:r>
              <a:rPr lang="en-US" altLang="zh-CN" sz="2400" dirty="0" smtClean="0"/>
              <a:t>,</a:t>
            </a:r>
            <a:r>
              <a:rPr lang="zh-CN" altLang="en-US" sz="2400" dirty="0" smtClean="0"/>
              <a:t>套路是相似的</a:t>
            </a:r>
            <a:r>
              <a:rPr lang="en-US" altLang="zh-CN" sz="2400" dirty="0" smtClean="0"/>
              <a:t>,</a:t>
            </a:r>
            <a:r>
              <a:rPr lang="zh-CN" altLang="en-US" sz="2400" dirty="0" smtClean="0"/>
              <a:t>熟练掌握需要自己多尝试推</a:t>
            </a:r>
            <a:r>
              <a:rPr lang="zh-CN" altLang="en-US" sz="2400" strike="sngStrike" dirty="0" smtClean="0"/>
              <a:t>倒</a:t>
            </a:r>
            <a:r>
              <a:rPr lang="zh-CN" altLang="en-US" sz="2400" dirty="0" smtClean="0"/>
              <a:t>导</a:t>
            </a:r>
            <a:endParaRPr lang="zh-CN" altLang="en-US" sz="2400" dirty="0" smtClean="0"/>
          </a:p>
          <a:p>
            <a:r>
              <a:rPr lang="zh-CN" altLang="en-US" sz="2400" dirty="0"/>
              <a:t>已经熟悉这一套理论的同学可以先睡一会儿</a:t>
            </a:r>
            <a:r>
              <a:rPr lang="en-US" altLang="zh-CN" sz="2400" dirty="0"/>
              <a:t>,</a:t>
            </a:r>
            <a:r>
              <a:rPr lang="zh-CN" altLang="en-US" sz="2400" dirty="0"/>
              <a:t>只是针对零基础同学的科普</a:t>
            </a:r>
            <a:r>
              <a:rPr lang="en-US" altLang="zh-CN" sz="2400" dirty="0"/>
              <a:t>.</a:t>
            </a:r>
            <a:r>
              <a:rPr lang="zh-CN" altLang="en-US" sz="2400" strike="sngStrike" dirty="0">
                <a:solidFill>
                  <a:schemeClr val="tx1"/>
                </a:solidFill>
                <a:uFillTx/>
              </a:rPr>
              <a:t>复杂的斜率优化</a:t>
            </a:r>
            <a:r>
              <a:rPr lang="en-US" altLang="zh-CN" sz="2400" strike="sngStrike" dirty="0">
                <a:solidFill>
                  <a:schemeClr val="tx1"/>
                </a:solidFill>
                <a:uFillTx/>
              </a:rPr>
              <a:t>noip</a:t>
            </a:r>
            <a:r>
              <a:rPr lang="zh-CN" altLang="en-US" sz="2400" strike="sngStrike" dirty="0">
                <a:solidFill>
                  <a:schemeClr val="tx1"/>
                </a:solidFill>
                <a:uFillTx/>
              </a:rPr>
              <a:t>真的会考</a:t>
            </a:r>
            <a:r>
              <a:rPr lang="en-US" altLang="zh-CN" sz="2400" strike="sngStrike" dirty="0">
                <a:solidFill>
                  <a:schemeClr val="tx1"/>
                </a:solidFill>
                <a:uFillTx/>
              </a:rPr>
              <a:t>?</a:t>
            </a:r>
            <a:endParaRPr lang="en-US" altLang="zh-CN" sz="2400" strike="sngStrike" dirty="0">
              <a:solidFill>
                <a:schemeClr val="tx1"/>
              </a:solidFill>
              <a:uFillTx/>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斜率优化大概是什么样子的</a:t>
            </a:r>
            <a:r>
              <a:rPr lang="en-US" altLang="zh-CN" dirty="0" smtClean="0"/>
              <a:t>?</a:t>
            </a:r>
            <a:endParaRPr lang="zh-CN" altLang="en-US" dirty="0"/>
          </a:p>
        </p:txBody>
      </p:sp>
      <p:sp>
        <p:nvSpPr>
          <p:cNvPr id="3" name="内容占位符 2"/>
          <p:cNvSpPr>
            <a:spLocks noGrp="1"/>
          </p:cNvSpPr>
          <p:nvPr>
            <p:ph sz="quarter" idx="1"/>
          </p:nvPr>
        </p:nvSpPr>
        <p:spPr/>
        <p:txBody>
          <a:bodyPr>
            <a:normAutofit/>
          </a:bodyPr>
          <a:lstStyle/>
          <a:p>
            <a:r>
              <a:rPr lang="zh-CN" altLang="en-US" sz="2400" dirty="0" smtClean="0"/>
              <a:t>对于大部分</a:t>
            </a:r>
            <a:r>
              <a:rPr lang="en-US" altLang="zh-CN" sz="2400" dirty="0" smtClean="0"/>
              <a:t>1D1D</a:t>
            </a:r>
            <a:r>
              <a:rPr lang="zh-CN" altLang="en-US" sz="2400" dirty="0" smtClean="0"/>
              <a:t>动态规划</a:t>
            </a:r>
            <a:r>
              <a:rPr lang="en-US" altLang="zh-CN" sz="2400" dirty="0" smtClean="0"/>
              <a:t>,</a:t>
            </a:r>
            <a:r>
              <a:rPr lang="zh-CN" altLang="en-US" sz="2400" dirty="0" smtClean="0"/>
              <a:t>我们知道</a:t>
            </a:r>
            <a:r>
              <a:rPr lang="en-US" altLang="zh-CN" sz="2400" dirty="0" smtClean="0"/>
              <a:t>,</a:t>
            </a:r>
            <a:r>
              <a:rPr lang="zh-CN" altLang="en-US" sz="2400" dirty="0" smtClean="0"/>
              <a:t>对于一个</a:t>
            </a:r>
            <a:r>
              <a:rPr lang="en-US" altLang="zh-CN" sz="2400" dirty="0" err="1" smtClean="0"/>
              <a:t>i</a:t>
            </a:r>
            <a:r>
              <a:rPr lang="en-US" altLang="zh-CN" sz="2400" dirty="0" smtClean="0"/>
              <a:t>,</a:t>
            </a:r>
            <a:r>
              <a:rPr lang="zh-CN" altLang="en-US" sz="2400" dirty="0" smtClean="0"/>
              <a:t>有</a:t>
            </a:r>
            <a:r>
              <a:rPr lang="en-US" altLang="zh-CN" sz="2400" dirty="0" err="1" smtClean="0"/>
              <a:t>i</a:t>
            </a:r>
            <a:r>
              <a:rPr lang="zh-CN" altLang="en-US" sz="2400" dirty="0" smtClean="0"/>
              <a:t>个可行的</a:t>
            </a:r>
            <a:r>
              <a:rPr lang="en-US" altLang="zh-CN" sz="2400" dirty="0" smtClean="0"/>
              <a:t>j</a:t>
            </a:r>
            <a:r>
              <a:rPr lang="zh-CN" altLang="en-US" sz="2400" dirty="0" smtClean="0"/>
              <a:t>可以转移到它</a:t>
            </a:r>
            <a:r>
              <a:rPr lang="en-US" altLang="zh-CN" sz="2400" dirty="0" smtClean="0"/>
              <a:t>(j=0,1,2,3,…i-1)</a:t>
            </a:r>
            <a:endParaRPr lang="en-US" altLang="zh-CN" sz="2400" dirty="0" smtClean="0"/>
          </a:p>
          <a:p>
            <a:r>
              <a:rPr lang="zh-CN" altLang="en-US" sz="2400" dirty="0" smtClean="0"/>
              <a:t>考虑</a:t>
            </a:r>
            <a:r>
              <a:rPr lang="en-US" altLang="zh-CN" sz="2400" dirty="0" smtClean="0"/>
              <a:t>j</a:t>
            </a:r>
            <a:r>
              <a:rPr lang="zh-CN" altLang="en-US" sz="2400" dirty="0" smtClean="0"/>
              <a:t>的两个取值</a:t>
            </a:r>
            <a:r>
              <a:rPr lang="en-US" altLang="zh-CN" sz="2400" dirty="0" smtClean="0"/>
              <a:t>,j1</a:t>
            </a:r>
            <a:r>
              <a:rPr lang="zh-CN" altLang="en-US" sz="2400" dirty="0" smtClean="0"/>
              <a:t>和</a:t>
            </a:r>
            <a:r>
              <a:rPr lang="en-US" altLang="zh-CN" sz="2400" dirty="0" smtClean="0"/>
              <a:t>j2(j1&lt;j2,</a:t>
            </a:r>
            <a:r>
              <a:rPr lang="zh-CN" altLang="en-US" sz="2400" dirty="0" smtClean="0"/>
              <a:t>比如说</a:t>
            </a:r>
            <a:r>
              <a:rPr lang="en-US" altLang="zh-CN" sz="2400" dirty="0" smtClean="0"/>
              <a:t>j1=3,j2=5)</a:t>
            </a:r>
            <a:r>
              <a:rPr lang="zh-CN" altLang="en-US" sz="2400" dirty="0" smtClean="0"/>
              <a:t>在转移到</a:t>
            </a:r>
            <a:r>
              <a:rPr lang="en-US" altLang="zh-CN" sz="2400" dirty="0" smtClean="0"/>
              <a:t>f[</a:t>
            </a:r>
            <a:r>
              <a:rPr lang="en-US" altLang="zh-CN" sz="2400" dirty="0" err="1" smtClean="0"/>
              <a:t>i</a:t>
            </a:r>
            <a:r>
              <a:rPr lang="en-US" altLang="zh-CN" sz="2400" dirty="0" smtClean="0"/>
              <a:t>]</a:t>
            </a:r>
            <a:r>
              <a:rPr lang="zh-CN" altLang="en-US" sz="2400" dirty="0" smtClean="0"/>
              <a:t>的时候</a:t>
            </a:r>
            <a:r>
              <a:rPr lang="en-US" altLang="zh-CN" sz="2400" dirty="0" smtClean="0"/>
              <a:t>,j2</a:t>
            </a:r>
            <a:r>
              <a:rPr lang="zh-CN" altLang="en-US" sz="2400" dirty="0" smtClean="0"/>
              <a:t>优于</a:t>
            </a:r>
            <a:r>
              <a:rPr lang="en-US" altLang="zh-CN" sz="2400" dirty="0" smtClean="0"/>
              <a:t>j1</a:t>
            </a:r>
            <a:r>
              <a:rPr lang="zh-CN" altLang="en-US" sz="2400" dirty="0" smtClean="0"/>
              <a:t>的条件是什么</a:t>
            </a:r>
            <a:r>
              <a:rPr lang="en-US" altLang="zh-CN" sz="2400" dirty="0" smtClean="0"/>
              <a:t>.</a:t>
            </a:r>
            <a:r>
              <a:rPr lang="zh-CN" altLang="en-US" sz="2400" dirty="0" smtClean="0"/>
              <a:t>反过来考虑也一样</a:t>
            </a:r>
            <a:r>
              <a:rPr lang="en-US" altLang="zh-CN" sz="2400" dirty="0" smtClean="0"/>
              <a:t>.</a:t>
            </a:r>
            <a:endParaRPr lang="en-US" altLang="zh-CN" sz="2400" dirty="0" smtClean="0"/>
          </a:p>
          <a:p>
            <a:r>
              <a:rPr lang="en-US" altLang="zh-CN" sz="2400" dirty="0" smtClean="0"/>
              <a:t> </a:t>
            </a:r>
            <a:r>
              <a:rPr lang="zh-CN" altLang="en-US" sz="2400" dirty="0" smtClean="0"/>
              <a:t>据此我们可以用一个队列维护</a:t>
            </a:r>
            <a:r>
              <a:rPr lang="en-US" altLang="zh-CN" sz="2400" dirty="0" smtClean="0"/>
              <a:t>”</a:t>
            </a:r>
            <a:r>
              <a:rPr lang="zh-CN" altLang="en-US" sz="2400" dirty="0" smtClean="0"/>
              <a:t>可能成为最优转移点的</a:t>
            </a:r>
            <a:r>
              <a:rPr lang="en-US" altLang="zh-CN" sz="2400" dirty="0" smtClean="0"/>
              <a:t>j</a:t>
            </a:r>
            <a:r>
              <a:rPr lang="zh-CN" altLang="en-US" sz="2400" dirty="0" smtClean="0"/>
              <a:t>的集合</a:t>
            </a:r>
            <a:r>
              <a:rPr lang="en-US" altLang="zh-CN" sz="2400" dirty="0" smtClean="0"/>
              <a:t>”,</a:t>
            </a:r>
            <a:r>
              <a:rPr lang="zh-CN" altLang="en-US" sz="2400" dirty="0" smtClean="0"/>
              <a:t>并每次视情况在</a:t>
            </a:r>
            <a:r>
              <a:rPr lang="en-US" altLang="zh-CN" sz="2400" dirty="0" smtClean="0"/>
              <a:t>O(1)</a:t>
            </a:r>
            <a:r>
              <a:rPr lang="zh-CN" altLang="en-US" sz="2400" dirty="0" smtClean="0"/>
              <a:t>或</a:t>
            </a:r>
            <a:r>
              <a:rPr lang="en-US" altLang="zh-CN" sz="2400" dirty="0" smtClean="0"/>
              <a:t>O(</a:t>
            </a:r>
            <a:r>
              <a:rPr lang="en-US" altLang="zh-CN" sz="2400" dirty="0" err="1" smtClean="0"/>
              <a:t>logn</a:t>
            </a:r>
            <a:r>
              <a:rPr lang="en-US" altLang="zh-CN" sz="2400" dirty="0" smtClean="0"/>
              <a:t>)</a:t>
            </a:r>
            <a:r>
              <a:rPr lang="zh-CN" altLang="en-US" sz="2400" dirty="0" smtClean="0"/>
              <a:t>的时间内找出最优的</a:t>
            </a:r>
            <a:r>
              <a:rPr lang="en-US" altLang="zh-CN" sz="2400" dirty="0" smtClean="0"/>
              <a:t>j.</a:t>
            </a:r>
            <a:endParaRPr lang="en-US" altLang="zh-CN" sz="2400" dirty="0" smtClean="0"/>
          </a:p>
          <a:p>
            <a:r>
              <a:rPr lang="zh-CN" altLang="en-US" sz="2400" dirty="0" smtClean="0"/>
              <a:t>有一些奇奇怪怪的题目需要平衡树维护动态凸包或者</a:t>
            </a:r>
            <a:r>
              <a:rPr lang="en-US" altLang="zh-CN" sz="2400" dirty="0" err="1" smtClean="0"/>
              <a:t>cdq</a:t>
            </a:r>
            <a:r>
              <a:rPr lang="zh-CN" altLang="en-US" sz="2400" dirty="0" smtClean="0"/>
              <a:t>分治</a:t>
            </a:r>
            <a:r>
              <a:rPr lang="en-US" altLang="zh-CN" sz="2400" dirty="0" smtClean="0"/>
              <a:t>…</a:t>
            </a:r>
            <a:r>
              <a:rPr lang="zh-CN" altLang="en-US" sz="2400" dirty="0" smtClean="0"/>
              <a:t>我立个</a:t>
            </a:r>
            <a:r>
              <a:rPr lang="en-US" altLang="zh-CN" sz="2400" dirty="0" smtClean="0"/>
              <a:t>flag:</a:t>
            </a:r>
            <a:r>
              <a:rPr lang="zh-CN" altLang="en-US" sz="2400" dirty="0" smtClean="0"/>
              <a:t>联赛不考这种题</a:t>
            </a:r>
            <a:r>
              <a:rPr lang="en-US" altLang="zh-CN" sz="2400" dirty="0" smtClean="0"/>
              <a:t>.</a:t>
            </a:r>
            <a:endParaRPr lang="en-US" altLang="zh-CN" sz="2400" dirty="0" smtClean="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特别行动队</a:t>
            </a:r>
            <a:endParaRPr lang="zh-CN" altLang="en-US" dirty="0"/>
          </a:p>
        </p:txBody>
      </p:sp>
      <p:sp>
        <p:nvSpPr>
          <p:cNvPr id="3" name="内容占位符 2"/>
          <p:cNvSpPr>
            <a:spLocks noGrp="1"/>
          </p:cNvSpPr>
          <p:nvPr>
            <p:ph sz="quarter" idx="1"/>
          </p:nvPr>
        </p:nvSpPr>
        <p:spPr/>
        <p:txBody>
          <a:bodyPr>
            <a:normAutofit/>
          </a:bodyPr>
          <a:lstStyle/>
          <a:p>
            <a:r>
              <a:rPr lang="zh-CN" altLang="en-US" sz="2400" dirty="0" smtClean="0"/>
              <a:t>一个长为</a:t>
            </a:r>
            <a:r>
              <a:rPr lang="en-US" altLang="zh-CN" sz="2400" dirty="0" smtClean="0"/>
              <a:t>n</a:t>
            </a:r>
            <a:r>
              <a:rPr lang="zh-CN" altLang="en-US" sz="2400" dirty="0" smtClean="0"/>
              <a:t>的</a:t>
            </a:r>
            <a:r>
              <a:rPr lang="zh-CN" altLang="en-US" sz="2400" b="1" dirty="0" smtClean="0">
                <a:solidFill>
                  <a:srgbClr val="FF0000"/>
                </a:solidFill>
              </a:rPr>
              <a:t>正数</a:t>
            </a:r>
            <a:r>
              <a:rPr lang="zh-CN" altLang="en-US" sz="2400" dirty="0" smtClean="0"/>
              <a:t>数列</a:t>
            </a:r>
            <a:r>
              <a:rPr lang="en-US" altLang="zh-CN" sz="2400" dirty="0" smtClean="0"/>
              <a:t>,</a:t>
            </a:r>
            <a:r>
              <a:rPr lang="zh-CN" altLang="en-US" sz="2400" dirty="0" smtClean="0"/>
              <a:t>给定三个常数</a:t>
            </a:r>
            <a:r>
              <a:rPr lang="en-US" altLang="zh-CN" sz="2400" dirty="0" err="1" smtClean="0"/>
              <a:t>a,b,c</a:t>
            </a:r>
            <a:r>
              <a:rPr lang="en-US" altLang="zh-CN" sz="2400" dirty="0" smtClean="0"/>
              <a:t>,</a:t>
            </a:r>
            <a:r>
              <a:rPr lang="zh-CN" altLang="en-US" sz="2400" dirty="0" smtClean="0"/>
              <a:t>现在要把它任意划分成若干段</a:t>
            </a:r>
            <a:r>
              <a:rPr lang="en-US" altLang="zh-CN" sz="2400" dirty="0" smtClean="0"/>
              <a:t>(</a:t>
            </a:r>
            <a:r>
              <a:rPr lang="zh-CN" altLang="en-US" sz="2400" dirty="0" smtClean="0"/>
              <a:t>也可以整个序列是一段</a:t>
            </a:r>
            <a:r>
              <a:rPr lang="en-US" altLang="zh-CN" sz="2400" dirty="0" smtClean="0"/>
              <a:t>),</a:t>
            </a:r>
            <a:r>
              <a:rPr lang="zh-CN" altLang="en-US" sz="2400" dirty="0" smtClean="0"/>
              <a:t>如果某一段的数字之和为</a:t>
            </a:r>
            <a:r>
              <a:rPr lang="en-US" altLang="zh-CN" sz="2400" dirty="0" smtClean="0"/>
              <a:t>x,</a:t>
            </a:r>
            <a:r>
              <a:rPr lang="zh-CN" altLang="en-US" sz="2400" dirty="0" smtClean="0"/>
              <a:t>那么这一段会产生</a:t>
            </a:r>
            <a:r>
              <a:rPr lang="en-US" altLang="zh-CN" sz="2400" dirty="0" smtClean="0"/>
              <a:t>a</a:t>
            </a:r>
            <a:r>
              <a:rPr lang="zh-CN" altLang="en-US" sz="2400" dirty="0" smtClean="0"/>
              <a:t>*</a:t>
            </a:r>
            <a:r>
              <a:rPr lang="en-US" altLang="zh-CN" sz="2400" dirty="0" smtClean="0"/>
              <a:t>x^2+b*</a:t>
            </a:r>
            <a:r>
              <a:rPr lang="en-US" altLang="zh-CN" sz="2400" dirty="0" err="1" smtClean="0"/>
              <a:t>x+c</a:t>
            </a:r>
            <a:r>
              <a:rPr lang="zh-CN" altLang="en-US" sz="2400" dirty="0" smtClean="0"/>
              <a:t>的价值</a:t>
            </a:r>
            <a:r>
              <a:rPr lang="en-US" altLang="zh-CN" sz="2400" dirty="0" smtClean="0"/>
              <a:t>.</a:t>
            </a:r>
            <a:r>
              <a:rPr lang="zh-CN" altLang="en-US" sz="2400" dirty="0" smtClean="0"/>
              <a:t>要求最大化所有段的价值之和</a:t>
            </a:r>
            <a:r>
              <a:rPr lang="en-US" altLang="zh-CN" sz="2400" dirty="0" smtClean="0"/>
              <a:t>.n&lt;=10^6,</a:t>
            </a:r>
            <a:r>
              <a:rPr lang="zh-CN" altLang="en-US" sz="2400" b="1" dirty="0" smtClean="0">
                <a:solidFill>
                  <a:srgbClr val="FF0000"/>
                </a:solidFill>
              </a:rPr>
              <a:t>保证</a:t>
            </a:r>
            <a:r>
              <a:rPr lang="en-US" altLang="zh-CN" sz="2400" b="1" dirty="0" smtClean="0">
                <a:solidFill>
                  <a:srgbClr val="FF0000"/>
                </a:solidFill>
              </a:rPr>
              <a:t>a&lt;0</a:t>
            </a:r>
            <a:endParaRPr lang="en-US" altLang="zh-CN" sz="2400" b="1" dirty="0" smtClean="0">
              <a:solidFill>
                <a:srgbClr val="FF0000"/>
              </a:solidFill>
            </a:endParaRPr>
          </a:p>
          <a:p>
            <a:r>
              <a:rPr lang="en-US" altLang="zh-CN" sz="2400" dirty="0" smtClean="0"/>
              <a:t>O(n^2)</a:t>
            </a:r>
            <a:r>
              <a:rPr lang="zh-CN" altLang="en-US" sz="2400" dirty="0" smtClean="0"/>
              <a:t>暴力</a:t>
            </a:r>
            <a:r>
              <a:rPr lang="en-US" altLang="zh-CN" sz="2400" dirty="0" smtClean="0"/>
              <a:t>DP:</a:t>
            </a:r>
            <a:endParaRPr lang="en-US" altLang="zh-CN" sz="2400" dirty="0" smtClean="0"/>
          </a:p>
          <a:p>
            <a:r>
              <a:rPr lang="en-US" altLang="zh-CN" sz="2400" dirty="0" smtClean="0"/>
              <a:t>f[</a:t>
            </a:r>
            <a:r>
              <a:rPr lang="en-US" altLang="zh-CN" sz="2400" dirty="0" err="1" smtClean="0"/>
              <a:t>i</a:t>
            </a:r>
            <a:r>
              <a:rPr lang="en-US" altLang="zh-CN" sz="2400" dirty="0" smtClean="0"/>
              <a:t>]</a:t>
            </a:r>
            <a:r>
              <a:rPr lang="zh-CN" altLang="en-US" sz="2400" dirty="0" smtClean="0"/>
              <a:t>表示把前</a:t>
            </a:r>
            <a:r>
              <a:rPr lang="en-US" altLang="zh-CN" sz="2400" dirty="0" err="1" smtClean="0"/>
              <a:t>i</a:t>
            </a:r>
            <a:r>
              <a:rPr lang="zh-CN" altLang="en-US" sz="2400" dirty="0" smtClean="0"/>
              <a:t>个元素划分成若干段的最大价值之和</a:t>
            </a:r>
            <a:r>
              <a:rPr lang="en-US" altLang="zh-CN" sz="2400" dirty="0" smtClean="0"/>
              <a:t>.</a:t>
            </a:r>
            <a:endParaRPr lang="en-US" altLang="zh-CN" sz="2400" dirty="0" smtClean="0"/>
          </a:p>
          <a:p>
            <a:r>
              <a:rPr lang="zh-CN" altLang="en-US" sz="2400" dirty="0" smtClean="0"/>
              <a:t>用</a:t>
            </a:r>
            <a:r>
              <a:rPr lang="en-US" altLang="zh-CN" sz="2400" dirty="0" err="1" smtClean="0"/>
              <a:t>val</a:t>
            </a:r>
            <a:r>
              <a:rPr lang="en-US" altLang="zh-CN" sz="2400" dirty="0" smtClean="0"/>
              <a:t>(</a:t>
            </a:r>
            <a:r>
              <a:rPr lang="en-US" altLang="zh-CN" sz="2400" dirty="0" err="1" smtClean="0"/>
              <a:t>l,r</a:t>
            </a:r>
            <a:r>
              <a:rPr lang="en-US" altLang="zh-CN" sz="2400" dirty="0" smtClean="0"/>
              <a:t>) </a:t>
            </a:r>
            <a:r>
              <a:rPr lang="zh-CN" altLang="en-US" sz="2400" dirty="0" smtClean="0"/>
              <a:t>表示第 </a:t>
            </a:r>
            <a:r>
              <a:rPr lang="en-US" altLang="zh-CN" sz="2400" dirty="0" smtClean="0"/>
              <a:t>l </a:t>
            </a:r>
            <a:r>
              <a:rPr lang="zh-CN" altLang="en-US" sz="2400" dirty="0" smtClean="0"/>
              <a:t>个到第 </a:t>
            </a:r>
            <a:r>
              <a:rPr lang="en-US" altLang="zh-CN" sz="2400" dirty="0" smtClean="0"/>
              <a:t>r </a:t>
            </a:r>
            <a:r>
              <a:rPr lang="zh-CN" altLang="en-US" sz="2400" dirty="0" smtClean="0"/>
              <a:t>个元素划分成一段得到的价值</a:t>
            </a:r>
            <a:r>
              <a:rPr lang="en-US" altLang="zh-CN" sz="2400" dirty="0" smtClean="0"/>
              <a:t>.</a:t>
            </a:r>
            <a:r>
              <a:rPr lang="zh-CN" altLang="en-US" sz="2400" dirty="0" smtClean="0"/>
              <a:t>一个</a:t>
            </a:r>
            <a:r>
              <a:rPr lang="en-US" altLang="zh-CN" sz="2400" dirty="0" err="1" smtClean="0"/>
              <a:t>val</a:t>
            </a:r>
            <a:r>
              <a:rPr lang="en-US" altLang="zh-CN" sz="2400" dirty="0" smtClean="0"/>
              <a:t>(</a:t>
            </a:r>
            <a:r>
              <a:rPr lang="en-US" altLang="zh-CN" sz="2400" dirty="0" err="1" smtClean="0"/>
              <a:t>l,r</a:t>
            </a:r>
            <a:r>
              <a:rPr lang="en-US" altLang="zh-CN" sz="2400" dirty="0" smtClean="0"/>
              <a:t>)</a:t>
            </a:r>
            <a:r>
              <a:rPr lang="zh-CN" altLang="en-US" sz="2400" dirty="0" smtClean="0"/>
              <a:t>显然可以</a:t>
            </a:r>
            <a:r>
              <a:rPr lang="en-US" altLang="zh-CN" sz="2400" dirty="0" smtClean="0"/>
              <a:t>O(1)</a:t>
            </a:r>
            <a:r>
              <a:rPr lang="zh-CN" altLang="en-US" sz="2400" dirty="0" smtClean="0"/>
              <a:t>计算</a:t>
            </a:r>
            <a:r>
              <a:rPr lang="en-US" altLang="zh-CN" sz="2400" dirty="0" smtClean="0"/>
              <a:t>.</a:t>
            </a:r>
            <a:endParaRPr lang="en-US" altLang="zh-CN" sz="2400" dirty="0" smtClean="0"/>
          </a:p>
          <a:p>
            <a:r>
              <a:rPr lang="en-US" altLang="zh-CN" sz="2400" dirty="0" smtClean="0"/>
              <a:t>f[</a:t>
            </a:r>
            <a:r>
              <a:rPr lang="en-US" altLang="zh-CN" sz="2400" dirty="0" err="1" smtClean="0"/>
              <a:t>i</a:t>
            </a:r>
            <a:r>
              <a:rPr lang="en-US" altLang="zh-CN" sz="2400" dirty="0" smtClean="0"/>
              <a:t>]=max{f[j]+</a:t>
            </a:r>
            <a:r>
              <a:rPr lang="en-US" altLang="zh-CN" sz="2400" dirty="0" err="1" smtClean="0"/>
              <a:t>val</a:t>
            </a:r>
            <a:r>
              <a:rPr lang="en-US" altLang="zh-CN" sz="2400" dirty="0" smtClean="0"/>
              <a:t>(j+1,i)},0 &lt;= j &lt; </a:t>
            </a:r>
            <a:r>
              <a:rPr lang="en-US" altLang="zh-CN" sz="2400" dirty="0" err="1" smtClean="0"/>
              <a:t>i</a:t>
            </a:r>
            <a:r>
              <a:rPr lang="en-US" altLang="zh-CN" sz="2400" dirty="0" smtClean="0"/>
              <a:t>. </a:t>
            </a:r>
            <a:endParaRPr lang="en-US" altLang="zh-CN" sz="2400" dirty="0" smtClean="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按照套路推式子</a:t>
            </a:r>
            <a:endParaRPr lang="zh-CN" altLang="en-US" dirty="0"/>
          </a:p>
        </p:txBody>
      </p:sp>
      <p:sp>
        <p:nvSpPr>
          <p:cNvPr id="3" name="内容占位符 2"/>
          <p:cNvSpPr>
            <a:spLocks noGrp="1"/>
          </p:cNvSpPr>
          <p:nvPr>
            <p:ph sz="quarter" idx="1"/>
          </p:nvPr>
        </p:nvSpPr>
        <p:spPr/>
        <p:txBody>
          <a:bodyPr>
            <a:noAutofit/>
          </a:bodyPr>
          <a:lstStyle/>
          <a:p>
            <a:r>
              <a:rPr lang="zh-CN" altLang="en-US" sz="2000" dirty="0" smtClean="0"/>
              <a:t>记</a:t>
            </a:r>
            <a:r>
              <a:rPr lang="en-US" altLang="zh-CN" sz="2000" dirty="0" smtClean="0"/>
              <a:t>s[</a:t>
            </a:r>
            <a:r>
              <a:rPr lang="en-US" altLang="zh-CN" sz="2000" dirty="0" err="1" smtClean="0"/>
              <a:t>i</a:t>
            </a:r>
            <a:r>
              <a:rPr lang="en-US" altLang="zh-CN" sz="2000" dirty="0" smtClean="0"/>
              <a:t>]</a:t>
            </a:r>
            <a:r>
              <a:rPr lang="zh-CN" altLang="en-US" sz="2000" dirty="0" smtClean="0"/>
              <a:t>为前</a:t>
            </a:r>
            <a:r>
              <a:rPr lang="en-US" altLang="zh-CN" sz="2000" dirty="0" err="1" smtClean="0"/>
              <a:t>i</a:t>
            </a:r>
            <a:r>
              <a:rPr lang="zh-CN" altLang="en-US" sz="2000" dirty="0" smtClean="0"/>
              <a:t>个数字之和</a:t>
            </a:r>
            <a:r>
              <a:rPr lang="en-US" altLang="zh-CN" sz="2000" dirty="0" smtClean="0"/>
              <a:t>.s[0]=0.</a:t>
            </a:r>
            <a:endParaRPr lang="en-US" altLang="zh-CN" sz="2000" dirty="0" smtClean="0"/>
          </a:p>
          <a:p>
            <a:r>
              <a:rPr lang="zh-CN" altLang="en-US" sz="2000" dirty="0" smtClean="0"/>
              <a:t>对于</a:t>
            </a:r>
            <a:r>
              <a:rPr lang="en-US" altLang="zh-CN" sz="2000" dirty="0" smtClean="0"/>
              <a:t>f[</a:t>
            </a:r>
            <a:r>
              <a:rPr lang="en-US" altLang="zh-CN" sz="2000" dirty="0" err="1" smtClean="0"/>
              <a:t>i</a:t>
            </a:r>
            <a:r>
              <a:rPr lang="en-US" altLang="zh-CN" sz="2000" dirty="0" smtClean="0"/>
              <a:t>],</a:t>
            </a:r>
            <a:r>
              <a:rPr lang="zh-CN" altLang="en-US" sz="2000" dirty="0" smtClean="0"/>
              <a:t>我们如果让它从</a:t>
            </a:r>
            <a:r>
              <a:rPr lang="en-US" altLang="zh-CN" sz="2000" dirty="0" smtClean="0"/>
              <a:t>f[j]</a:t>
            </a:r>
            <a:r>
              <a:rPr lang="zh-CN" altLang="en-US" sz="2000" dirty="0" smtClean="0"/>
              <a:t>转移过来</a:t>
            </a:r>
            <a:r>
              <a:rPr lang="en-US" altLang="zh-CN" sz="2000" dirty="0" smtClean="0"/>
              <a:t>,</a:t>
            </a:r>
            <a:r>
              <a:rPr lang="zh-CN" altLang="en-US" sz="2000" dirty="0" smtClean="0"/>
              <a:t>那么得到的值就是</a:t>
            </a:r>
            <a:r>
              <a:rPr lang="en-US" altLang="zh-CN" sz="2000" dirty="0" smtClean="0"/>
              <a:t>f[j]+a*(s[</a:t>
            </a:r>
            <a:r>
              <a:rPr lang="en-US" altLang="zh-CN" sz="2000" dirty="0" err="1" smtClean="0"/>
              <a:t>i</a:t>
            </a:r>
            <a:r>
              <a:rPr lang="en-US" altLang="zh-CN" sz="2000" dirty="0" smtClean="0"/>
              <a:t>]-s[j-1])^2+b*(s[</a:t>
            </a:r>
            <a:r>
              <a:rPr lang="en-US" altLang="zh-CN" sz="2000" dirty="0" err="1" smtClean="0"/>
              <a:t>i</a:t>
            </a:r>
            <a:r>
              <a:rPr lang="en-US" altLang="zh-CN" sz="2000" dirty="0" smtClean="0"/>
              <a:t>]-s[j-1])+c</a:t>
            </a:r>
            <a:endParaRPr lang="en-US" altLang="zh-CN" sz="2000" dirty="0" smtClean="0"/>
          </a:p>
          <a:p>
            <a:r>
              <a:rPr lang="zh-CN" altLang="en-US" sz="2000" dirty="0" smtClean="0"/>
              <a:t>对于</a:t>
            </a:r>
            <a:r>
              <a:rPr lang="en-US" altLang="zh-CN" sz="2000" dirty="0" smtClean="0"/>
              <a:t>j</a:t>
            </a:r>
            <a:r>
              <a:rPr lang="zh-CN" altLang="en-US" sz="2000" dirty="0" smtClean="0"/>
              <a:t>的两个取值</a:t>
            </a:r>
            <a:r>
              <a:rPr lang="en-US" altLang="zh-CN" sz="2000" dirty="0" smtClean="0"/>
              <a:t>j1,j2(j1&lt;j2),j2</a:t>
            </a:r>
            <a:r>
              <a:rPr lang="zh-CN" altLang="en-US" sz="2000" dirty="0" smtClean="0"/>
              <a:t>优于</a:t>
            </a:r>
            <a:r>
              <a:rPr lang="en-US" altLang="zh-CN" sz="2000" dirty="0" smtClean="0"/>
              <a:t>j1</a:t>
            </a:r>
            <a:r>
              <a:rPr lang="zh-CN" altLang="en-US" sz="2000" dirty="0" smtClean="0"/>
              <a:t>的条件是</a:t>
            </a:r>
            <a:r>
              <a:rPr lang="en-US" altLang="zh-CN" sz="2000" dirty="0" smtClean="0"/>
              <a:t>:</a:t>
            </a:r>
            <a:endParaRPr lang="en-US" altLang="zh-CN" sz="2000" dirty="0" smtClean="0"/>
          </a:p>
          <a:p>
            <a:r>
              <a:rPr lang="en-US" altLang="zh-CN" sz="2000" dirty="0" smtClean="0"/>
              <a:t>f[j1]+a*(s[</a:t>
            </a:r>
            <a:r>
              <a:rPr lang="en-US" altLang="zh-CN" sz="2000" dirty="0" err="1" smtClean="0"/>
              <a:t>i</a:t>
            </a:r>
            <a:r>
              <a:rPr lang="en-US" altLang="zh-CN" sz="2000" dirty="0" smtClean="0"/>
              <a:t>]-s[j1-1])^2+b*(s[</a:t>
            </a:r>
            <a:r>
              <a:rPr lang="en-US" altLang="zh-CN" sz="2000" dirty="0" err="1" smtClean="0"/>
              <a:t>i</a:t>
            </a:r>
            <a:r>
              <a:rPr lang="en-US" altLang="zh-CN" sz="2000" dirty="0" smtClean="0"/>
              <a:t>]-s[j1-1])+c &lt; f[j2]+a*(s[</a:t>
            </a:r>
            <a:r>
              <a:rPr lang="en-US" altLang="zh-CN" sz="2000" dirty="0" err="1" smtClean="0"/>
              <a:t>i</a:t>
            </a:r>
            <a:r>
              <a:rPr lang="en-US" altLang="zh-CN" sz="2000" dirty="0" smtClean="0"/>
              <a:t>]-s[j2-1])^2+b*(s[</a:t>
            </a:r>
            <a:r>
              <a:rPr lang="en-US" altLang="zh-CN" sz="2000" dirty="0" err="1" smtClean="0"/>
              <a:t>i</a:t>
            </a:r>
            <a:r>
              <a:rPr lang="en-US" altLang="zh-CN" sz="2000" dirty="0" smtClean="0"/>
              <a:t>]-s[j2-1])+c</a:t>
            </a:r>
            <a:endParaRPr lang="en-US" altLang="zh-CN" sz="2000" dirty="0" smtClean="0"/>
          </a:p>
          <a:p>
            <a:r>
              <a:rPr lang="zh-CN" altLang="en-US" sz="2000" dirty="0" smtClean="0"/>
              <a:t>大力展开化简一下</a:t>
            </a:r>
            <a:r>
              <a:rPr lang="en-US" altLang="zh-CN" sz="2000" dirty="0" smtClean="0"/>
              <a:t>,</a:t>
            </a:r>
            <a:r>
              <a:rPr lang="zh-CN" altLang="en-US" sz="2000" dirty="0" smtClean="0"/>
              <a:t>试图得到一些尽量简单的结果</a:t>
            </a:r>
            <a:r>
              <a:rPr lang="en-US" altLang="zh-CN" sz="2000" dirty="0" smtClean="0"/>
              <a:t>.</a:t>
            </a:r>
            <a:endParaRPr lang="en-US" altLang="zh-CN" sz="2000" dirty="0" smtClean="0"/>
          </a:p>
          <a:p>
            <a:r>
              <a:rPr lang="en-US" altLang="zh-CN" sz="2000" dirty="0" smtClean="0"/>
              <a:t>2</a:t>
            </a:r>
            <a:r>
              <a:rPr lang="zh-CN" altLang="en-US" sz="2000" dirty="0" smtClean="0"/>
              <a:t>分钟</a:t>
            </a:r>
            <a:r>
              <a:rPr lang="en-US" altLang="zh-CN" sz="2000" dirty="0" smtClean="0"/>
              <a:t>.</a:t>
            </a:r>
            <a:endParaRPr lang="en-US" altLang="zh-CN" sz="2000" dirty="0" smtClean="0"/>
          </a:p>
          <a:p>
            <a:r>
              <a:rPr lang="en-US" altLang="zh-CN" sz="2000" dirty="0" smtClean="0"/>
              <a:t>2</a:t>
            </a:r>
            <a:r>
              <a:rPr lang="zh-CN" altLang="en-US" sz="2000" dirty="0" smtClean="0"/>
              <a:t>分钟过去了</a:t>
            </a:r>
            <a:r>
              <a:rPr lang="en-US" altLang="zh-CN" sz="2000" dirty="0" smtClean="0"/>
              <a:t>(</a:t>
            </a:r>
            <a:r>
              <a:rPr lang="zh-CN" altLang="en-US" sz="2000" dirty="0" smtClean="0"/>
              <a:t>计时</a:t>
            </a:r>
            <a:r>
              <a:rPr lang="en-US" altLang="zh-CN" sz="2000" dirty="0" smtClean="0"/>
              <a:t>by PowerPoint)</a:t>
            </a:r>
            <a:endParaRPr lang="en-US" altLang="zh-CN" sz="20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 calcmode="lin" valueType="num">
                                      <p:cBhvr additive="base">
                                        <p:cTn id="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120000"/>
                                  </p:stCondLst>
                                  <p:childTnLst>
                                    <p:set>
                                      <p:cBhvr>
                                        <p:cTn id="11" dur="1" fill="hold">
                                          <p:stCondLst>
                                            <p:cond delay="0"/>
                                          </p:stCondLst>
                                        </p:cTn>
                                        <p:tgtEl>
                                          <p:spTgt spid="3">
                                            <p:txEl>
                                              <p:pRg st="6" end="6"/>
                                            </p:txEl>
                                          </p:spTgt>
                                        </p:tgtEl>
                                        <p:attrNameLst>
                                          <p:attrName>style.visibility</p:attrName>
                                        </p:attrNameLst>
                                      </p:cBhvr>
                                      <p:to>
                                        <p:strVal val="visible"/>
                                      </p:to>
                                    </p:set>
                                    <p:anim calcmode="lin" valueType="num">
                                      <p:cBhvr additive="base">
                                        <p:cTn id="12"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这个思路可能不是很显然</a:t>
            </a:r>
            <a:endParaRPr lang="zh-CN" altLang="en-US" dirty="0"/>
          </a:p>
        </p:txBody>
      </p:sp>
      <p:sp>
        <p:nvSpPr>
          <p:cNvPr id="3" name="内容占位符 2"/>
          <p:cNvSpPr>
            <a:spLocks noGrp="1"/>
          </p:cNvSpPr>
          <p:nvPr>
            <p:ph sz="quarter" idx="1"/>
          </p:nvPr>
        </p:nvSpPr>
        <p:spPr/>
        <p:txBody>
          <a:bodyPr>
            <a:normAutofit fontScale="92500"/>
          </a:bodyPr>
          <a:lstStyle/>
          <a:p>
            <a:r>
              <a:rPr lang="en-US" altLang="zh-CN" dirty="0" smtClean="0"/>
              <a:t>f[j1]+a*s[j1-1]*s[j1-1]-2*a*s[</a:t>
            </a:r>
            <a:r>
              <a:rPr lang="en-US" altLang="zh-CN" dirty="0" err="1" smtClean="0"/>
              <a:t>i</a:t>
            </a:r>
            <a:r>
              <a:rPr lang="en-US" altLang="zh-CN" dirty="0" smtClean="0"/>
              <a:t>]*s[j1-1]-b*s[j1-1]&lt;f[j2]+a*s[j2-1]*s[j2-1]-2*a*s[</a:t>
            </a:r>
            <a:r>
              <a:rPr lang="en-US" altLang="zh-CN" dirty="0" err="1" smtClean="0"/>
              <a:t>i</a:t>
            </a:r>
            <a:r>
              <a:rPr lang="en-US" altLang="zh-CN" dirty="0" smtClean="0"/>
              <a:t>]*s[j2-1]-b*s[j2-1]</a:t>
            </a:r>
            <a:endParaRPr lang="en-US" altLang="zh-CN" dirty="0" smtClean="0"/>
          </a:p>
          <a:p>
            <a:r>
              <a:rPr lang="zh-CN" altLang="en-US" dirty="0" smtClean="0"/>
              <a:t>应该都能化到这一步吧</a:t>
            </a:r>
            <a:r>
              <a:rPr lang="en-US" altLang="zh-CN" dirty="0" smtClean="0"/>
              <a:t>.</a:t>
            </a:r>
            <a:endParaRPr lang="en-US" altLang="zh-CN" dirty="0" smtClean="0"/>
          </a:p>
          <a:p>
            <a:r>
              <a:rPr lang="zh-CN" altLang="en-US" dirty="0" smtClean="0"/>
              <a:t>对比一下自己的式子和这个式子</a:t>
            </a:r>
            <a:r>
              <a:rPr lang="en-US" altLang="zh-CN" dirty="0" smtClean="0"/>
              <a:t>.</a:t>
            </a:r>
            <a:endParaRPr lang="en-US" altLang="zh-CN" dirty="0" smtClean="0"/>
          </a:p>
          <a:p>
            <a:r>
              <a:rPr lang="zh-CN" altLang="en-US" dirty="0" smtClean="0"/>
              <a:t>上面的式子左侧</a:t>
            </a:r>
            <a:r>
              <a:rPr lang="en-US" altLang="zh-CN" dirty="0" smtClean="0"/>
              <a:t>,</a:t>
            </a:r>
            <a:r>
              <a:rPr lang="zh-CN" altLang="en-US" dirty="0" smtClean="0"/>
              <a:t>有一些量是只和</a:t>
            </a:r>
            <a:r>
              <a:rPr lang="en-US" altLang="zh-CN" dirty="0" smtClean="0"/>
              <a:t>j1</a:t>
            </a:r>
            <a:r>
              <a:rPr lang="zh-CN" altLang="en-US" dirty="0" smtClean="0"/>
              <a:t>有关的</a:t>
            </a:r>
            <a:r>
              <a:rPr lang="en-US" altLang="zh-CN" dirty="0" smtClean="0"/>
              <a:t>.</a:t>
            </a:r>
            <a:endParaRPr lang="en-US" altLang="zh-CN" dirty="0" smtClean="0"/>
          </a:p>
          <a:p>
            <a:r>
              <a:rPr lang="zh-CN" altLang="en-US" dirty="0" smtClean="0"/>
              <a:t>记</a:t>
            </a:r>
            <a:r>
              <a:rPr lang="en-US" altLang="zh-CN" dirty="0" smtClean="0"/>
              <a:t>g[j]=f[j]+a*s[j-1]*s[j-1]-b*s[j-1]</a:t>
            </a:r>
            <a:endParaRPr lang="en-US" altLang="zh-CN" dirty="0" smtClean="0"/>
          </a:p>
          <a:p>
            <a:r>
              <a:rPr lang="zh-CN" altLang="en-US" dirty="0" smtClean="0"/>
              <a:t>式子就变成了</a:t>
            </a:r>
            <a:r>
              <a:rPr lang="en-US" altLang="zh-CN" dirty="0" smtClean="0"/>
              <a:t>:</a:t>
            </a:r>
            <a:endParaRPr lang="en-US" altLang="zh-CN" dirty="0" smtClean="0"/>
          </a:p>
          <a:p>
            <a:r>
              <a:rPr lang="en-US" altLang="zh-CN" dirty="0" smtClean="0"/>
              <a:t>g[j1]-2*a*s[</a:t>
            </a:r>
            <a:r>
              <a:rPr lang="en-US" altLang="zh-CN" dirty="0" err="1" smtClean="0"/>
              <a:t>i</a:t>
            </a:r>
            <a:r>
              <a:rPr lang="en-US" altLang="zh-CN" dirty="0" smtClean="0"/>
              <a:t>]*s[j1-1]&lt;g[j2]-2*a*s[</a:t>
            </a:r>
            <a:r>
              <a:rPr lang="en-US" altLang="zh-CN" dirty="0" err="1" smtClean="0"/>
              <a:t>i</a:t>
            </a:r>
            <a:r>
              <a:rPr lang="en-US" altLang="zh-CN" dirty="0" smtClean="0"/>
              <a:t>]*s[j2-1]</a:t>
            </a:r>
            <a:endParaRPr lang="en-US" altLang="zh-CN" dirty="0" smtClean="0"/>
          </a:p>
          <a:p>
            <a:r>
              <a:rPr lang="en-US" altLang="zh-CN" dirty="0" smtClean="0"/>
              <a:t>2</a:t>
            </a:r>
            <a:r>
              <a:rPr lang="zh-CN" altLang="en-US" dirty="0" smtClean="0"/>
              <a:t>*</a:t>
            </a:r>
            <a:r>
              <a:rPr lang="en-US" altLang="zh-CN" dirty="0" smtClean="0"/>
              <a:t>a*s[j1-1]</a:t>
            </a:r>
            <a:r>
              <a:rPr lang="zh-CN" altLang="en-US" dirty="0" smtClean="0"/>
              <a:t>和</a:t>
            </a:r>
            <a:r>
              <a:rPr lang="en-US" altLang="zh-CN" dirty="0" smtClean="0"/>
              <a:t>2</a:t>
            </a:r>
            <a:r>
              <a:rPr lang="zh-CN" altLang="en-US" dirty="0" smtClean="0"/>
              <a:t>*</a:t>
            </a:r>
            <a:r>
              <a:rPr lang="en-US" altLang="zh-CN" dirty="0" smtClean="0"/>
              <a:t>a*s[j2-1]</a:t>
            </a:r>
            <a:r>
              <a:rPr lang="zh-CN" altLang="en-US" dirty="0" smtClean="0"/>
              <a:t>分别只和</a:t>
            </a:r>
            <a:r>
              <a:rPr lang="en-US" altLang="zh-CN" dirty="0" smtClean="0"/>
              <a:t>j1,j2</a:t>
            </a:r>
            <a:r>
              <a:rPr lang="zh-CN" altLang="en-US" dirty="0" smtClean="0"/>
              <a:t>有关</a:t>
            </a:r>
            <a:endParaRPr lang="en-US" altLang="zh-CN" dirty="0" smtClean="0"/>
          </a:p>
          <a:p>
            <a:r>
              <a:rPr lang="zh-CN" altLang="en-US" dirty="0" smtClean="0"/>
              <a:t>记</a:t>
            </a:r>
            <a:r>
              <a:rPr lang="en-US" altLang="zh-CN" dirty="0" smtClean="0"/>
              <a:t>h[j]=2*a*s[j-1]</a:t>
            </a:r>
            <a:endParaRPr lang="en-US" altLang="zh-CN" dirty="0" smtClean="0"/>
          </a:p>
          <a:p>
            <a:endParaRPr lang="zh-CN" alt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继续推式子</a:t>
            </a:r>
            <a:endParaRPr lang="zh-CN" altLang="en-US" dirty="0"/>
          </a:p>
        </p:txBody>
      </p:sp>
      <p:sp>
        <p:nvSpPr>
          <p:cNvPr id="3" name="内容占位符 2"/>
          <p:cNvSpPr>
            <a:spLocks noGrp="1"/>
          </p:cNvSpPr>
          <p:nvPr>
            <p:ph sz="quarter" idx="1"/>
          </p:nvPr>
        </p:nvSpPr>
        <p:spPr/>
        <p:txBody>
          <a:bodyPr>
            <a:normAutofit fontScale="92500" lnSpcReduction="20000"/>
          </a:bodyPr>
          <a:lstStyle/>
          <a:p>
            <a:r>
              <a:rPr lang="zh-CN" altLang="en-US" dirty="0" smtClean="0"/>
              <a:t>然后式子就变成了</a:t>
            </a:r>
            <a:r>
              <a:rPr lang="en-US" altLang="zh-CN" dirty="0" smtClean="0"/>
              <a:t>g[j1]-h[j1]*s[</a:t>
            </a:r>
            <a:r>
              <a:rPr lang="en-US" altLang="zh-CN" dirty="0" err="1" smtClean="0"/>
              <a:t>i</a:t>
            </a:r>
            <a:r>
              <a:rPr lang="en-US" altLang="zh-CN" dirty="0" smtClean="0"/>
              <a:t>]&lt;g[j2]-h[j2]*s[</a:t>
            </a:r>
            <a:r>
              <a:rPr lang="en-US" altLang="zh-CN" dirty="0" err="1" smtClean="0"/>
              <a:t>i</a:t>
            </a:r>
            <a:r>
              <a:rPr lang="en-US" altLang="zh-CN" dirty="0" smtClean="0"/>
              <a:t>]</a:t>
            </a:r>
            <a:endParaRPr lang="en-US" altLang="zh-CN" dirty="0" smtClean="0"/>
          </a:p>
          <a:p>
            <a:r>
              <a:rPr lang="zh-CN" altLang="en-US" dirty="0" smtClean="0"/>
              <a:t>提问</a:t>
            </a:r>
            <a:r>
              <a:rPr lang="en-US" altLang="zh-CN" dirty="0" smtClean="0"/>
              <a:t>:h[j1]&gt;0</a:t>
            </a:r>
            <a:r>
              <a:rPr lang="zh-CN" altLang="en-US" dirty="0" smtClean="0"/>
              <a:t>还是</a:t>
            </a:r>
            <a:r>
              <a:rPr lang="en-US" altLang="zh-CN" dirty="0" smtClean="0"/>
              <a:t>h[j1]&lt;0?</a:t>
            </a:r>
            <a:endParaRPr lang="en-US" altLang="zh-CN" dirty="0" smtClean="0"/>
          </a:p>
          <a:p>
            <a:r>
              <a:rPr lang="zh-CN" altLang="en-US" dirty="0" smtClean="0"/>
              <a:t>正数数列</a:t>
            </a:r>
            <a:r>
              <a:rPr lang="en-US" altLang="zh-CN" dirty="0" smtClean="0"/>
              <a:t>,a&lt;0,</a:t>
            </a:r>
            <a:r>
              <a:rPr lang="zh-CN" altLang="en-US" dirty="0" smtClean="0"/>
              <a:t>所以</a:t>
            </a:r>
            <a:r>
              <a:rPr lang="en-US" altLang="zh-CN" dirty="0" smtClean="0"/>
              <a:t>h[j1]&lt;0,h[j2]&lt;0</a:t>
            </a:r>
            <a:endParaRPr lang="en-US" altLang="zh-CN" dirty="0" smtClean="0"/>
          </a:p>
          <a:p>
            <a:r>
              <a:rPr lang="zh-CN" altLang="en-US" dirty="0" smtClean="0"/>
              <a:t>再努力化简一下就好了</a:t>
            </a:r>
            <a:r>
              <a:rPr lang="en-US" altLang="zh-CN" dirty="0" smtClean="0"/>
              <a:t>!</a:t>
            </a:r>
            <a:endParaRPr lang="en-US" altLang="zh-CN" dirty="0" smtClean="0"/>
          </a:p>
          <a:p>
            <a:r>
              <a:rPr lang="en-US" altLang="zh-CN" dirty="0" smtClean="0"/>
              <a:t>(g[j1]-g[j2])&lt;s[</a:t>
            </a:r>
            <a:r>
              <a:rPr lang="en-US" altLang="zh-CN" dirty="0" err="1" smtClean="0"/>
              <a:t>i</a:t>
            </a:r>
            <a:r>
              <a:rPr lang="en-US" altLang="zh-CN" dirty="0" smtClean="0"/>
              <a:t>]*(h[j1]-h[j2]),</a:t>
            </a:r>
            <a:r>
              <a:rPr lang="zh-CN" altLang="en-US" dirty="0" smtClean="0"/>
              <a:t>准备把</a:t>
            </a:r>
            <a:r>
              <a:rPr lang="en-US" altLang="zh-CN" dirty="0" smtClean="0"/>
              <a:t>(h[j1]-h[j2])</a:t>
            </a:r>
            <a:r>
              <a:rPr lang="zh-CN" altLang="en-US" dirty="0" smtClean="0"/>
              <a:t>除过去</a:t>
            </a:r>
            <a:endParaRPr lang="en-US" altLang="zh-CN" dirty="0" smtClean="0"/>
          </a:p>
          <a:p>
            <a:r>
              <a:rPr lang="zh-CN" altLang="en-US" dirty="0" smtClean="0"/>
              <a:t>提问</a:t>
            </a:r>
            <a:r>
              <a:rPr lang="en-US" altLang="zh-CN" dirty="0" smtClean="0"/>
              <a:t>:h[j1]-h[j2]&gt;0?h[j1]-h[j2]&lt;0?</a:t>
            </a:r>
            <a:endParaRPr lang="en-US" altLang="zh-CN" dirty="0" smtClean="0"/>
          </a:p>
          <a:p>
            <a:r>
              <a:rPr lang="en-US" altLang="zh-CN" dirty="0" smtClean="0"/>
              <a:t>j1&lt;j2,</a:t>
            </a:r>
            <a:r>
              <a:rPr lang="zh-CN" altLang="en-US" dirty="0" smtClean="0"/>
              <a:t>所以</a:t>
            </a:r>
            <a:r>
              <a:rPr lang="en-US" altLang="zh-CN" dirty="0" smtClean="0"/>
              <a:t>s[j1-1]&lt;s[j2-1],</a:t>
            </a:r>
            <a:r>
              <a:rPr lang="zh-CN" altLang="en-US" dirty="0" smtClean="0"/>
              <a:t>乘上小于</a:t>
            </a:r>
            <a:r>
              <a:rPr lang="en-US" altLang="zh-CN" dirty="0" smtClean="0"/>
              <a:t>0</a:t>
            </a:r>
            <a:r>
              <a:rPr lang="zh-CN" altLang="en-US" dirty="0" smtClean="0"/>
              <a:t>的</a:t>
            </a:r>
            <a:r>
              <a:rPr lang="en-US" altLang="zh-CN" dirty="0" smtClean="0"/>
              <a:t>a,</a:t>
            </a:r>
            <a:r>
              <a:rPr lang="zh-CN" altLang="en-US" dirty="0" smtClean="0"/>
              <a:t>就变成了</a:t>
            </a:r>
            <a:r>
              <a:rPr lang="en-US" altLang="zh-CN" dirty="0" smtClean="0"/>
              <a:t>h[j1]&gt;h[j2]</a:t>
            </a:r>
            <a:endParaRPr lang="en-US" altLang="zh-CN" dirty="0" smtClean="0"/>
          </a:p>
          <a:p>
            <a:r>
              <a:rPr lang="zh-CN" altLang="en-US" dirty="0" smtClean="0"/>
              <a:t>于是我们最后得到</a:t>
            </a:r>
            <a:r>
              <a:rPr lang="en-US" altLang="zh-CN" dirty="0" smtClean="0"/>
              <a:t>:(g[j1]-g[j2])/(h[j1]-h[j2])&lt;s[</a:t>
            </a:r>
            <a:r>
              <a:rPr lang="en-US" altLang="zh-CN" dirty="0" err="1" smtClean="0"/>
              <a:t>i</a:t>
            </a:r>
            <a:r>
              <a:rPr lang="en-US" altLang="zh-CN" dirty="0" smtClean="0"/>
              <a:t>]</a:t>
            </a:r>
            <a:endParaRPr lang="en-US" altLang="zh-CN" dirty="0" smtClean="0"/>
          </a:p>
          <a:p>
            <a:r>
              <a:rPr lang="zh-CN" altLang="en-US" dirty="0" smtClean="0"/>
              <a:t>还记得这个式子的含义是什么吗</a:t>
            </a:r>
            <a:endParaRPr lang="en-US" altLang="zh-CN" dirty="0" smtClean="0"/>
          </a:p>
          <a:p>
            <a:endParaRPr lang="zh-CN" altLang="en-US" dirty="0"/>
          </a:p>
        </p:txBody>
      </p:sp>
      <p:sp>
        <p:nvSpPr>
          <p:cNvPr id="4" name="TextBox 3"/>
          <p:cNvSpPr txBox="1"/>
          <p:nvPr/>
        </p:nvSpPr>
        <p:spPr>
          <a:xfrm>
            <a:off x="714348" y="5786454"/>
            <a:ext cx="8143932" cy="461665"/>
          </a:xfrm>
          <a:prstGeom prst="rect">
            <a:avLst/>
          </a:prstGeom>
          <a:noFill/>
        </p:spPr>
        <p:txBody>
          <a:bodyPr wrap="square" rtlCol="0">
            <a:spAutoFit/>
          </a:bodyPr>
          <a:lstStyle/>
          <a:p>
            <a:r>
              <a:rPr lang="en-US" altLang="zh-CN" sz="2400" dirty="0" smtClean="0"/>
              <a:t>j1&lt;j2</a:t>
            </a:r>
            <a:r>
              <a:rPr lang="zh-CN" altLang="en-US" sz="2400" dirty="0" smtClean="0"/>
              <a:t>的时候</a:t>
            </a:r>
            <a:r>
              <a:rPr lang="en-US" altLang="zh-CN" sz="2400" dirty="0" smtClean="0"/>
              <a:t>,</a:t>
            </a:r>
            <a:r>
              <a:rPr lang="zh-CN" altLang="en-US" sz="2400" dirty="0" smtClean="0"/>
              <a:t>要转移到</a:t>
            </a:r>
            <a:r>
              <a:rPr lang="en-US" altLang="zh-CN" sz="2400" dirty="0" smtClean="0"/>
              <a:t>f[</a:t>
            </a:r>
            <a:r>
              <a:rPr lang="en-US" altLang="zh-CN" sz="2400" dirty="0" err="1" smtClean="0"/>
              <a:t>i</a:t>
            </a:r>
            <a:r>
              <a:rPr lang="en-US" altLang="zh-CN" sz="2400" dirty="0" smtClean="0"/>
              <a:t>],j2</a:t>
            </a:r>
            <a:r>
              <a:rPr lang="zh-CN" altLang="en-US" sz="2400" dirty="0" smtClean="0"/>
              <a:t>比</a:t>
            </a:r>
            <a:r>
              <a:rPr lang="en-US" altLang="zh-CN" sz="2400" dirty="0" smtClean="0"/>
              <a:t>j1</a:t>
            </a:r>
            <a:r>
              <a:rPr lang="zh-CN" altLang="en-US" sz="2400" dirty="0" smtClean="0"/>
              <a:t>更好的条件</a:t>
            </a:r>
            <a:endParaRPr lang="en-US" altLang="zh-CN" sz="24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xit" presetSubtype="8" fill="hold" nodeType="clickEffect">
                                  <p:stCondLst>
                                    <p:cond delay="0"/>
                                  </p:stCondLst>
                                  <p:childTnLst>
                                    <p:anim calcmode="lin" valueType="num">
                                      <p:cBhvr additive="base">
                                        <p:cTn id="60" dur="500"/>
                                        <p:tgtEl>
                                          <p:spTgt spid="3">
                                            <p:txEl>
                                              <p:pRg st="8" end="8"/>
                                            </p:txEl>
                                          </p:spTgt>
                                        </p:tgtEl>
                                        <p:attrNameLst>
                                          <p:attrName>ppt_x</p:attrName>
                                        </p:attrNameLst>
                                      </p:cBhvr>
                                      <p:tavLst>
                                        <p:tav tm="0">
                                          <p:val>
                                            <p:strVal val="ppt_x"/>
                                          </p:val>
                                        </p:tav>
                                        <p:tav tm="100000">
                                          <p:val>
                                            <p:strVal val="0-ppt_w/2"/>
                                          </p:val>
                                        </p:tav>
                                      </p:tavLst>
                                    </p:anim>
                                    <p:anim calcmode="lin" valueType="num">
                                      <p:cBhvr additive="base">
                                        <p:cTn id="61" dur="500"/>
                                        <p:tgtEl>
                                          <p:spTgt spid="3">
                                            <p:txEl>
                                              <p:pRg st="8" end="8"/>
                                            </p:txEl>
                                          </p:spTgt>
                                        </p:tgtEl>
                                        <p:attrNameLst>
                                          <p:attrName>ppt_y</p:attrName>
                                        </p:attrNameLst>
                                      </p:cBhvr>
                                      <p:tavLst>
                                        <p:tav tm="0">
                                          <p:val>
                                            <p:strVal val="ppt_y"/>
                                          </p:val>
                                        </p:tav>
                                        <p:tav tm="100000">
                                          <p:val>
                                            <p:strVal val="ppt_y"/>
                                          </p:val>
                                        </p:tav>
                                      </p:tavLst>
                                    </p:anim>
                                    <p:set>
                                      <p:cBhvr>
                                        <p:cTn id="62" dur="1" fill="hold">
                                          <p:stCondLst>
                                            <p:cond delay="499"/>
                                          </p:stCondLst>
                                        </p:cTn>
                                        <p:tgtEl>
                                          <p:spTgt spid="3">
                                            <p:txEl>
                                              <p:pRg st="8" end="8"/>
                                            </p:txEl>
                                          </p:spTgt>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2" presetClass="entr" presetSubtype="2" fill="hold" grpId="0" nodeType="clickEffect">
                                  <p:stCondLst>
                                    <p:cond delay="0"/>
                                  </p:stCondLst>
                                  <p:childTnLst>
                                    <p:set>
                                      <p:cBhvr>
                                        <p:cTn id="66" dur="1" fill="hold">
                                          <p:stCondLst>
                                            <p:cond delay="0"/>
                                          </p:stCondLst>
                                        </p:cTn>
                                        <p:tgtEl>
                                          <p:spTgt spid="4"/>
                                        </p:tgtEl>
                                        <p:attrNameLst>
                                          <p:attrName>style.visibility</p:attrName>
                                        </p:attrNameLst>
                                      </p:cBhvr>
                                      <p:to>
                                        <p:strVal val="visible"/>
                                      </p:to>
                                    </p:set>
                                    <p:anim calcmode="lin" valueType="num">
                                      <p:cBhvr additive="base">
                                        <p:cTn id="67" dur="2000" fill="hold"/>
                                        <p:tgtEl>
                                          <p:spTgt spid="4"/>
                                        </p:tgtEl>
                                        <p:attrNameLst>
                                          <p:attrName>ppt_x</p:attrName>
                                        </p:attrNameLst>
                                      </p:cBhvr>
                                      <p:tavLst>
                                        <p:tav tm="0">
                                          <p:val>
                                            <p:strVal val="1+#ppt_w/2"/>
                                          </p:val>
                                        </p:tav>
                                        <p:tav tm="100000">
                                          <p:val>
                                            <p:strVal val="#ppt_x"/>
                                          </p:val>
                                        </p:tav>
                                      </p:tavLst>
                                    </p:anim>
                                    <p:anim calcmode="lin" valueType="num">
                                      <p:cBhvr additive="base">
                                        <p:cTn id="68" dur="20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暗中观察</a:t>
            </a:r>
            <a:r>
              <a:rPr lang="en-US" altLang="zh-CN" dirty="0" smtClean="0"/>
              <a:t>…</a:t>
            </a:r>
            <a:endParaRPr lang="zh-CN" altLang="en-US" dirty="0"/>
          </a:p>
        </p:txBody>
      </p:sp>
      <p:sp>
        <p:nvSpPr>
          <p:cNvPr id="3" name="内容占位符 2"/>
          <p:cNvSpPr>
            <a:spLocks noGrp="1"/>
          </p:cNvSpPr>
          <p:nvPr>
            <p:ph sz="quarter" idx="1"/>
          </p:nvPr>
        </p:nvSpPr>
        <p:spPr/>
        <p:txBody>
          <a:bodyPr>
            <a:normAutofit/>
          </a:bodyPr>
          <a:lstStyle/>
          <a:p>
            <a:r>
              <a:rPr lang="en-US" altLang="zh-CN" sz="2400" dirty="0" smtClean="0"/>
              <a:t>(g[j1]-g[j2])/(h[j1]-h[j2])</a:t>
            </a:r>
            <a:r>
              <a:rPr lang="zh-CN" altLang="en-US" sz="2400" dirty="0" smtClean="0"/>
              <a:t>这个形式很像某两个点连线的斜率</a:t>
            </a:r>
            <a:r>
              <a:rPr lang="en-US" altLang="zh-CN" sz="2400" dirty="0" smtClean="0"/>
              <a:t>,</a:t>
            </a:r>
            <a:r>
              <a:rPr lang="zh-CN" altLang="en-US" sz="2400" dirty="0" smtClean="0"/>
              <a:t>我们把</a:t>
            </a:r>
            <a:r>
              <a:rPr lang="en-US" altLang="zh-CN" sz="2400" dirty="0" smtClean="0"/>
              <a:t>j</a:t>
            </a:r>
            <a:r>
              <a:rPr lang="zh-CN" altLang="en-US" sz="2400" dirty="0" smtClean="0"/>
              <a:t>对应到点</a:t>
            </a:r>
            <a:r>
              <a:rPr lang="en-US" altLang="zh-CN" sz="2400" dirty="0" smtClean="0"/>
              <a:t>(h[j],g[j])</a:t>
            </a:r>
            <a:endParaRPr lang="en-US" altLang="zh-CN" sz="2400" dirty="0" smtClean="0"/>
          </a:p>
          <a:p>
            <a:r>
              <a:rPr lang="zh-CN" altLang="en-US" sz="2400" dirty="0" smtClean="0"/>
              <a:t>你们高考课数学讲没讲斜率是啥啊</a:t>
            </a:r>
            <a:r>
              <a:rPr lang="en-US" altLang="zh-CN" sz="2400" dirty="0" smtClean="0"/>
              <a:t>…</a:t>
            </a:r>
            <a:endParaRPr lang="en-US" altLang="zh-CN" sz="2400" dirty="0" smtClean="0"/>
          </a:p>
          <a:p>
            <a:r>
              <a:rPr lang="zh-CN" altLang="en-US" sz="2400" dirty="0" smtClean="0"/>
              <a:t>注意</a:t>
            </a:r>
            <a:r>
              <a:rPr lang="en-US" altLang="zh-CN" sz="2400" dirty="0" smtClean="0"/>
              <a:t>s[</a:t>
            </a:r>
            <a:r>
              <a:rPr lang="en-US" altLang="zh-CN" sz="2400" dirty="0" err="1" smtClean="0"/>
              <a:t>i</a:t>
            </a:r>
            <a:r>
              <a:rPr lang="en-US" altLang="zh-CN" sz="2400" dirty="0" smtClean="0"/>
              <a:t>]</a:t>
            </a:r>
            <a:r>
              <a:rPr lang="zh-CN" altLang="en-US" sz="2400" dirty="0" smtClean="0"/>
              <a:t>是递增的</a:t>
            </a:r>
            <a:r>
              <a:rPr lang="en-US" altLang="zh-CN" sz="2400" dirty="0" smtClean="0"/>
              <a:t>,</a:t>
            </a:r>
            <a:r>
              <a:rPr lang="zh-CN" altLang="en-US" sz="2400" dirty="0" smtClean="0"/>
              <a:t>也就是说</a:t>
            </a:r>
            <a:r>
              <a:rPr lang="en-US" altLang="zh-CN" sz="2400" dirty="0" smtClean="0"/>
              <a:t>,</a:t>
            </a:r>
            <a:r>
              <a:rPr lang="zh-CN" altLang="en-US" sz="2400" dirty="0" smtClean="0"/>
              <a:t>如果转移</a:t>
            </a:r>
            <a:r>
              <a:rPr lang="en-US" altLang="zh-CN" sz="2400" dirty="0" smtClean="0"/>
              <a:t>f[</a:t>
            </a:r>
            <a:r>
              <a:rPr lang="en-US" altLang="zh-CN" sz="2400" dirty="0" err="1" smtClean="0"/>
              <a:t>i</a:t>
            </a:r>
            <a:r>
              <a:rPr lang="en-US" altLang="zh-CN" sz="2400" dirty="0" smtClean="0"/>
              <a:t>]</a:t>
            </a:r>
            <a:r>
              <a:rPr lang="zh-CN" altLang="en-US" sz="2400" dirty="0" smtClean="0"/>
              <a:t>的时候</a:t>
            </a:r>
            <a:r>
              <a:rPr lang="en-US" altLang="zh-CN" sz="2400" dirty="0" smtClean="0"/>
              <a:t>j2</a:t>
            </a:r>
            <a:r>
              <a:rPr lang="zh-CN" altLang="en-US" sz="2400" dirty="0" smtClean="0"/>
              <a:t>比</a:t>
            </a:r>
            <a:r>
              <a:rPr lang="en-US" altLang="zh-CN" sz="2400" dirty="0" smtClean="0"/>
              <a:t>j1</a:t>
            </a:r>
            <a:r>
              <a:rPr lang="zh-CN" altLang="en-US" sz="2400" dirty="0" smtClean="0"/>
              <a:t>优越</a:t>
            </a:r>
            <a:r>
              <a:rPr lang="en-US" altLang="zh-CN" sz="2400" dirty="0" smtClean="0"/>
              <a:t>,</a:t>
            </a:r>
            <a:r>
              <a:rPr lang="zh-CN" altLang="en-US" sz="2400" dirty="0" smtClean="0"/>
              <a:t>转移</a:t>
            </a:r>
            <a:r>
              <a:rPr lang="en-US" altLang="zh-CN" sz="2400" dirty="0" smtClean="0"/>
              <a:t>f[i+1],f[i+2]…f[n]</a:t>
            </a:r>
            <a:r>
              <a:rPr lang="zh-CN" altLang="en-US" sz="2400" dirty="0" smtClean="0"/>
              <a:t>的时候这种优越的关系依然存在</a:t>
            </a:r>
            <a:r>
              <a:rPr lang="en-US" altLang="zh-CN" sz="2400" dirty="0" smtClean="0"/>
              <a:t>.</a:t>
            </a:r>
            <a:endParaRPr lang="en-US" altLang="zh-CN" sz="2400" dirty="0" smtClean="0"/>
          </a:p>
          <a:p>
            <a:r>
              <a:rPr lang="zh-CN" altLang="en-US" sz="2400" dirty="0" smtClean="0"/>
              <a:t>那么我们应该可以用一个队列存储所有可行的</a:t>
            </a:r>
            <a:r>
              <a:rPr lang="en-US" altLang="zh-CN" sz="2400" dirty="0" smtClean="0"/>
              <a:t>j?</a:t>
            </a:r>
            <a:r>
              <a:rPr lang="zh-CN" altLang="en-US" sz="2400" dirty="0" smtClean="0"/>
              <a:t>然后在较低的复杂度内找出最优的</a:t>
            </a:r>
            <a:r>
              <a:rPr lang="en-US" altLang="zh-CN" sz="2400" dirty="0" smtClean="0"/>
              <a:t>j?</a:t>
            </a:r>
            <a:endParaRPr lang="en-US" altLang="zh-CN" sz="2400" dirty="0" smtClean="0"/>
          </a:p>
          <a:p>
            <a:r>
              <a:rPr lang="zh-CN" altLang="en-US" sz="2400" dirty="0" smtClean="0"/>
              <a:t>但是怎么维护呢</a:t>
            </a:r>
            <a:r>
              <a:rPr lang="en-US" altLang="zh-CN" sz="2400" dirty="0" smtClean="0"/>
              <a:t>….</a:t>
            </a:r>
            <a:r>
              <a:rPr lang="zh-CN" altLang="en-US" sz="2400" dirty="0" smtClean="0"/>
              <a:t>给大家</a:t>
            </a:r>
            <a:r>
              <a:rPr lang="en-US" altLang="zh-CN" sz="2400" dirty="0" smtClean="0"/>
              <a:t>1</a:t>
            </a:r>
            <a:r>
              <a:rPr lang="zh-CN" altLang="en-US" sz="2400" dirty="0" smtClean="0"/>
              <a:t>分钟感受一下</a:t>
            </a:r>
            <a:r>
              <a:rPr lang="en-US" altLang="zh-CN" sz="2400" dirty="0" smtClean="0"/>
              <a:t>.</a:t>
            </a:r>
            <a:endParaRPr lang="en-US" altLang="zh-CN" sz="2400" dirty="0" smtClean="0"/>
          </a:p>
          <a:p>
            <a:r>
              <a:rPr lang="en-US" altLang="zh-CN" sz="2400" dirty="0" smtClean="0"/>
              <a:t>1</a:t>
            </a:r>
            <a:r>
              <a:rPr lang="zh-CN" altLang="en-US" sz="2400" dirty="0" smtClean="0"/>
              <a:t>分钟完了</a:t>
            </a:r>
            <a:r>
              <a:rPr lang="en-US" altLang="zh-CN" sz="2400" dirty="0" smtClean="0"/>
              <a:t>(</a:t>
            </a:r>
            <a:r>
              <a:rPr lang="zh-CN" altLang="en-US" sz="2400" dirty="0" smtClean="0"/>
              <a:t>计时</a:t>
            </a:r>
            <a:r>
              <a:rPr lang="en-US" altLang="zh-CN" sz="2400" dirty="0" smtClean="0"/>
              <a:t>by PowerPoint)</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par>
                          <p:cTn id="33" fill="hold">
                            <p:stCondLst>
                              <p:cond delay="500"/>
                            </p:stCondLst>
                            <p:childTnLst>
                              <p:par>
                                <p:cTn id="34" presetID="2" presetClass="entr" presetSubtype="4" fill="hold" grpId="0" nodeType="afterEffect">
                                  <p:stCondLst>
                                    <p:cond delay="60000"/>
                                  </p:stCondLst>
                                  <p:childTnLst>
                                    <p:set>
                                      <p:cBhvr>
                                        <p:cTn id="35" dur="1" fill="hold">
                                          <p:stCondLst>
                                            <p:cond delay="0"/>
                                          </p:stCondLst>
                                        </p:cTn>
                                        <p:tgtEl>
                                          <p:spTgt spid="3">
                                            <p:txEl>
                                              <p:pRg st="5" end="5"/>
                                            </p:txEl>
                                          </p:spTgt>
                                        </p:tgtEl>
                                        <p:attrNameLst>
                                          <p:attrName>style.visibility</p:attrName>
                                        </p:attrNameLst>
                                      </p:cBhvr>
                                      <p:to>
                                        <p:strVal val="visible"/>
                                      </p:to>
                                    </p:set>
                                    <p:anim calcmode="lin" valueType="num">
                                      <p:cBhvr additive="base">
                                        <p:cTn id="36"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感觉不是很好做</a:t>
            </a:r>
            <a:r>
              <a:rPr lang="en-US" altLang="zh-CN" dirty="0" smtClean="0"/>
              <a:t>?</a:t>
            </a:r>
            <a:endParaRPr lang="zh-CN" altLang="en-US" dirty="0"/>
          </a:p>
        </p:txBody>
      </p:sp>
      <p:sp>
        <p:nvSpPr>
          <p:cNvPr id="3" name="内容占位符 2"/>
          <p:cNvSpPr>
            <a:spLocks noGrp="1"/>
          </p:cNvSpPr>
          <p:nvPr>
            <p:ph sz="quarter" idx="1"/>
          </p:nvPr>
        </p:nvSpPr>
        <p:spPr/>
        <p:txBody>
          <a:bodyPr>
            <a:normAutofit fontScale="92500" lnSpcReduction="20000"/>
          </a:bodyPr>
          <a:lstStyle/>
          <a:p>
            <a:r>
              <a:rPr lang="en-US" altLang="zh-CN" dirty="0" err="1" smtClean="0"/>
              <a:t>i</a:t>
            </a:r>
            <a:r>
              <a:rPr lang="zh-CN" altLang="en-US" dirty="0" smtClean="0"/>
              <a:t>越大</a:t>
            </a:r>
            <a:r>
              <a:rPr lang="en-US" altLang="zh-CN" dirty="0" smtClean="0"/>
              <a:t>,</a:t>
            </a:r>
            <a:r>
              <a:rPr lang="zh-CN" altLang="en-US" dirty="0" smtClean="0"/>
              <a:t>可能的</a:t>
            </a:r>
            <a:r>
              <a:rPr lang="en-US" altLang="zh-CN" dirty="0" smtClean="0"/>
              <a:t>j</a:t>
            </a:r>
            <a:r>
              <a:rPr lang="zh-CN" altLang="en-US" dirty="0" smtClean="0"/>
              <a:t>越多</a:t>
            </a:r>
            <a:r>
              <a:rPr lang="en-US" altLang="zh-CN" dirty="0" smtClean="0"/>
              <a:t>.</a:t>
            </a:r>
            <a:endParaRPr lang="en-US" altLang="zh-CN" dirty="0" smtClean="0"/>
          </a:p>
          <a:p>
            <a:r>
              <a:rPr lang="en-US" altLang="zh-CN" dirty="0" smtClean="0"/>
              <a:t>j</a:t>
            </a:r>
            <a:r>
              <a:rPr lang="zh-CN" altLang="en-US" dirty="0" smtClean="0"/>
              <a:t>对应到点</a:t>
            </a:r>
            <a:r>
              <a:rPr lang="en-US" altLang="zh-CN" dirty="0" smtClean="0"/>
              <a:t>(h[j],g[j]),h[j]=2*a*s[j-1],a</a:t>
            </a:r>
            <a:r>
              <a:rPr lang="zh-CN" altLang="en-US" dirty="0" smtClean="0"/>
              <a:t>是负的</a:t>
            </a:r>
            <a:r>
              <a:rPr lang="en-US" altLang="zh-CN" dirty="0" smtClean="0"/>
              <a:t>,</a:t>
            </a:r>
            <a:r>
              <a:rPr lang="zh-CN" altLang="en-US" dirty="0" smtClean="0"/>
              <a:t>对于正数组成的数列</a:t>
            </a:r>
            <a:r>
              <a:rPr lang="en-US" altLang="zh-CN" dirty="0" smtClean="0"/>
              <a:t>,s[</a:t>
            </a:r>
            <a:r>
              <a:rPr lang="en-US" altLang="zh-CN" dirty="0" err="1" smtClean="0"/>
              <a:t>i</a:t>
            </a:r>
            <a:r>
              <a:rPr lang="en-US" altLang="zh-CN" dirty="0" smtClean="0"/>
              <a:t>]</a:t>
            </a:r>
            <a:r>
              <a:rPr lang="zh-CN" altLang="en-US" dirty="0" smtClean="0"/>
              <a:t>是递增的</a:t>
            </a:r>
            <a:r>
              <a:rPr lang="en-US" altLang="zh-CN" dirty="0" smtClean="0"/>
              <a:t>.</a:t>
            </a:r>
            <a:r>
              <a:rPr lang="zh-CN" altLang="en-US" dirty="0" smtClean="0"/>
              <a:t>所以这些</a:t>
            </a:r>
            <a:r>
              <a:rPr lang="en-US" altLang="zh-CN" dirty="0" smtClean="0"/>
              <a:t>j</a:t>
            </a:r>
            <a:r>
              <a:rPr lang="zh-CN" altLang="en-US" dirty="0" smtClean="0"/>
              <a:t>的横坐标是递减的</a:t>
            </a:r>
            <a:r>
              <a:rPr lang="en-US" altLang="zh-CN" dirty="0" smtClean="0"/>
              <a:t>.</a:t>
            </a:r>
            <a:endParaRPr lang="en-US" altLang="zh-CN" dirty="0" smtClean="0"/>
          </a:p>
          <a:p>
            <a:r>
              <a:rPr lang="zh-CN" altLang="en-US" dirty="0" smtClean="0"/>
              <a:t>处理</a:t>
            </a:r>
            <a:r>
              <a:rPr lang="en-US" altLang="zh-CN" dirty="0" smtClean="0"/>
              <a:t>f[</a:t>
            </a:r>
            <a:r>
              <a:rPr lang="en-US" altLang="zh-CN" dirty="0" err="1" smtClean="0"/>
              <a:t>i</a:t>
            </a:r>
            <a:r>
              <a:rPr lang="en-US" altLang="zh-CN" dirty="0" smtClean="0"/>
              <a:t>]</a:t>
            </a:r>
            <a:r>
              <a:rPr lang="zh-CN" altLang="en-US" dirty="0" smtClean="0"/>
              <a:t>时</a:t>
            </a:r>
            <a:r>
              <a:rPr lang="en-US" altLang="zh-CN" dirty="0" smtClean="0"/>
              <a:t>,</a:t>
            </a:r>
            <a:r>
              <a:rPr lang="zh-CN" altLang="en-US" dirty="0" smtClean="0"/>
              <a:t>考虑所有可行的点</a:t>
            </a:r>
            <a:r>
              <a:rPr lang="en-US" altLang="zh-CN" dirty="0" smtClean="0"/>
              <a:t>,</a:t>
            </a:r>
            <a:r>
              <a:rPr lang="zh-CN" altLang="en-US" dirty="0" smtClean="0"/>
              <a:t>如果两个点之间连线的斜率小于</a:t>
            </a:r>
            <a:r>
              <a:rPr lang="en-US" altLang="zh-CN" dirty="0" smtClean="0"/>
              <a:t>s[</a:t>
            </a:r>
            <a:r>
              <a:rPr lang="en-US" altLang="zh-CN" dirty="0" err="1" smtClean="0"/>
              <a:t>i</a:t>
            </a:r>
            <a:r>
              <a:rPr lang="en-US" altLang="zh-CN" dirty="0" smtClean="0"/>
              <a:t>],</a:t>
            </a:r>
            <a:r>
              <a:rPr lang="zh-CN" altLang="en-US" dirty="0" smtClean="0"/>
              <a:t>那么就得把横坐标较大的那个点删去</a:t>
            </a:r>
            <a:r>
              <a:rPr lang="en-US" altLang="zh-CN" dirty="0" smtClean="0"/>
              <a:t>,</a:t>
            </a:r>
            <a:r>
              <a:rPr lang="zh-CN" altLang="en-US" dirty="0" smtClean="0"/>
              <a:t>否则保留这两个点</a:t>
            </a:r>
            <a:r>
              <a:rPr lang="en-US" altLang="zh-CN" dirty="0" smtClean="0"/>
              <a:t>,</a:t>
            </a:r>
            <a:r>
              <a:rPr lang="zh-CN" altLang="en-US" dirty="0" smtClean="0"/>
              <a:t>这时我们知道横坐标较大的那个点比较优越</a:t>
            </a:r>
            <a:endParaRPr lang="en-US" altLang="zh-CN" dirty="0" smtClean="0"/>
          </a:p>
          <a:p>
            <a:r>
              <a:rPr lang="zh-CN" altLang="en-US" dirty="0" smtClean="0"/>
              <a:t>如果某个点处理</a:t>
            </a:r>
            <a:r>
              <a:rPr lang="en-US" altLang="zh-CN" dirty="0" err="1" smtClean="0"/>
              <a:t>i</a:t>
            </a:r>
            <a:r>
              <a:rPr lang="zh-CN" altLang="en-US" dirty="0" smtClean="0"/>
              <a:t>的时候被删去了</a:t>
            </a:r>
            <a:r>
              <a:rPr lang="en-US" altLang="zh-CN" dirty="0" smtClean="0"/>
              <a:t>,</a:t>
            </a:r>
            <a:r>
              <a:rPr lang="zh-CN" altLang="en-US" dirty="0" smtClean="0"/>
              <a:t>那么处理</a:t>
            </a:r>
            <a:r>
              <a:rPr lang="en-US" altLang="zh-CN" dirty="0" smtClean="0"/>
              <a:t>i+1</a:t>
            </a:r>
            <a:r>
              <a:rPr lang="zh-CN" altLang="en-US" dirty="0" smtClean="0"/>
              <a:t>的时候这个点也没有用处</a:t>
            </a:r>
            <a:r>
              <a:rPr lang="en-US" altLang="zh-CN" dirty="0" smtClean="0"/>
              <a:t>.</a:t>
            </a:r>
            <a:r>
              <a:rPr lang="zh-CN" altLang="en-US" dirty="0" smtClean="0"/>
              <a:t>所以删了之后就不用管了</a:t>
            </a:r>
            <a:r>
              <a:rPr lang="en-US" altLang="zh-CN" dirty="0" smtClean="0"/>
              <a:t>.</a:t>
            </a:r>
            <a:endParaRPr lang="en-US" altLang="zh-CN" dirty="0" smtClean="0"/>
          </a:p>
          <a:p>
            <a:r>
              <a:rPr lang="zh-CN" altLang="en-US" dirty="0" smtClean="0"/>
              <a:t>但是每次暴力判断任意两个点之间会不会产生需要删除的点肯定要</a:t>
            </a:r>
            <a:r>
              <a:rPr lang="en-US" altLang="zh-CN" dirty="0" smtClean="0"/>
              <a:t>T….</a:t>
            </a:r>
            <a:endParaRPr lang="en-US" altLang="zh-CN" dirty="0" smtClean="0"/>
          </a:p>
          <a:p>
            <a:r>
              <a:rPr lang="zh-CN" altLang="en-US" dirty="0" smtClean="0"/>
              <a:t>不断判断是否存在横坐标相邻的两个点导致删除</a:t>
            </a:r>
            <a:r>
              <a:rPr lang="en-US" altLang="zh-CN" dirty="0" smtClean="0"/>
              <a:t>,</a:t>
            </a:r>
            <a:r>
              <a:rPr lang="zh-CN" altLang="en-US" dirty="0" smtClean="0"/>
              <a:t>直到不存在这样的相邻两个点</a:t>
            </a:r>
            <a:r>
              <a:rPr lang="en-US" altLang="zh-CN" dirty="0" smtClean="0"/>
              <a:t>. </a:t>
            </a:r>
            <a:r>
              <a:rPr lang="zh-CN" altLang="en-US" dirty="0" smtClean="0"/>
              <a:t>不相邻且导致删除的两个点之间</a:t>
            </a:r>
            <a:r>
              <a:rPr lang="en-US" altLang="zh-CN" dirty="0" smtClean="0"/>
              <a:t>,</a:t>
            </a:r>
            <a:r>
              <a:rPr lang="zh-CN" altLang="en-US" dirty="0" smtClean="0"/>
              <a:t>一定会有两个点相邻而且导致删除</a:t>
            </a:r>
            <a:r>
              <a:rPr lang="en-US" altLang="zh-CN" dirty="0" smtClean="0"/>
              <a:t>.</a:t>
            </a:r>
            <a:endParaRPr lang="zh-CN" altLang="en-US"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这还是会</a:t>
            </a:r>
            <a:r>
              <a:rPr lang="en-US" altLang="zh-CN" dirty="0" smtClean="0"/>
              <a:t>TLE</a:t>
            </a:r>
            <a:endParaRPr lang="zh-CN" altLang="en-US" dirty="0"/>
          </a:p>
        </p:txBody>
      </p:sp>
      <p:sp>
        <p:nvSpPr>
          <p:cNvPr id="3" name="内容占位符 2"/>
          <p:cNvSpPr>
            <a:spLocks noGrp="1"/>
          </p:cNvSpPr>
          <p:nvPr>
            <p:ph sz="quarter" idx="1"/>
          </p:nvPr>
        </p:nvSpPr>
        <p:spPr/>
        <p:txBody>
          <a:bodyPr>
            <a:normAutofit/>
          </a:bodyPr>
          <a:lstStyle/>
          <a:p>
            <a:r>
              <a:rPr lang="zh-CN" altLang="en-US" sz="2400" dirty="0" smtClean="0"/>
              <a:t>刚才这个做法还是暴力</a:t>
            </a:r>
            <a:r>
              <a:rPr lang="en-US" altLang="zh-CN" sz="2400" dirty="0" smtClean="0"/>
              <a:t>….</a:t>
            </a:r>
            <a:r>
              <a:rPr lang="zh-CN" altLang="en-US" sz="2400" dirty="0" smtClean="0"/>
              <a:t>不过只要这样维护</a:t>
            </a:r>
            <a:r>
              <a:rPr lang="en-US" altLang="zh-CN" sz="2400" dirty="0" smtClean="0"/>
              <a:t>,</a:t>
            </a:r>
            <a:r>
              <a:rPr lang="zh-CN" altLang="en-US" sz="2400" dirty="0" smtClean="0"/>
              <a:t>删掉该删的点之后</a:t>
            </a:r>
            <a:r>
              <a:rPr lang="en-US" altLang="zh-CN" sz="2400" dirty="0" smtClean="0"/>
              <a:t>,</a:t>
            </a:r>
            <a:r>
              <a:rPr lang="zh-CN" altLang="en-US" sz="2400" dirty="0" smtClean="0"/>
              <a:t>保留下的所有点当中横坐标最大的</a:t>
            </a:r>
            <a:r>
              <a:rPr lang="en-US" altLang="zh-CN" sz="2400" dirty="0" smtClean="0"/>
              <a:t>j</a:t>
            </a:r>
            <a:r>
              <a:rPr lang="zh-CN" altLang="en-US" sz="2400" dirty="0" smtClean="0"/>
              <a:t>就是最优的转移点</a:t>
            </a:r>
            <a:r>
              <a:rPr lang="en-US" altLang="zh-CN" sz="2400" dirty="0" smtClean="0"/>
              <a:t>.</a:t>
            </a:r>
            <a:r>
              <a:rPr lang="zh-CN" altLang="en-US" sz="2400" dirty="0" smtClean="0"/>
              <a:t>因为此时任意相邻两个点都满足右边比较优越</a:t>
            </a:r>
            <a:r>
              <a:rPr lang="en-US" altLang="zh-CN" sz="2400" dirty="0" smtClean="0"/>
              <a:t>.</a:t>
            </a:r>
            <a:endParaRPr lang="en-US" altLang="zh-CN" sz="2400" dirty="0" smtClean="0"/>
          </a:p>
          <a:p>
            <a:r>
              <a:rPr lang="zh-CN" altLang="en-US" sz="2400" dirty="0" smtClean="0"/>
              <a:t>为了降低复杂度</a:t>
            </a:r>
            <a:r>
              <a:rPr lang="en-US" altLang="zh-CN" sz="2400" dirty="0" smtClean="0"/>
              <a:t>,</a:t>
            </a:r>
            <a:r>
              <a:rPr lang="zh-CN" altLang="en-US" sz="2400" dirty="0" smtClean="0"/>
              <a:t>我们需要更加仔细地观察</a:t>
            </a:r>
            <a:r>
              <a:rPr lang="en-US" altLang="zh-CN" sz="2400" dirty="0" smtClean="0"/>
              <a:t>.</a:t>
            </a:r>
            <a:endParaRPr lang="en-US" altLang="zh-CN" sz="2400" dirty="0" smtClean="0"/>
          </a:p>
          <a:p>
            <a:r>
              <a:rPr lang="zh-CN" altLang="en-US" sz="2400" dirty="0" smtClean="0"/>
              <a:t>假如有三个点</a:t>
            </a:r>
            <a:r>
              <a:rPr lang="en-US" altLang="zh-CN" sz="2400" dirty="0" smtClean="0"/>
              <a:t>,</a:t>
            </a:r>
            <a:r>
              <a:rPr lang="zh-CN" altLang="en-US" sz="2400" dirty="0" smtClean="0"/>
              <a:t>它们按横坐标从左到右为</a:t>
            </a:r>
            <a:r>
              <a:rPr lang="en-US" altLang="zh-CN" sz="2400" dirty="0" smtClean="0"/>
              <a:t>A,B,C,</a:t>
            </a:r>
            <a:r>
              <a:rPr lang="zh-CN" altLang="en-US" sz="2400" dirty="0" smtClean="0"/>
              <a:t>且</a:t>
            </a:r>
            <a:r>
              <a:rPr lang="en-US" altLang="zh-CN" sz="2400" dirty="0" smtClean="0"/>
              <a:t>AB</a:t>
            </a:r>
            <a:r>
              <a:rPr lang="zh-CN" altLang="en-US" sz="2400" dirty="0" smtClean="0"/>
              <a:t>之间的斜率小于</a:t>
            </a:r>
            <a:r>
              <a:rPr lang="en-US" altLang="zh-CN" sz="2400" dirty="0" smtClean="0"/>
              <a:t>BC</a:t>
            </a:r>
            <a:r>
              <a:rPr lang="zh-CN" altLang="en-US" sz="2400" dirty="0" smtClean="0"/>
              <a:t>之间的斜率</a:t>
            </a:r>
            <a:r>
              <a:rPr lang="en-US" altLang="zh-CN" sz="2400" dirty="0" smtClean="0"/>
              <a:t>,</a:t>
            </a:r>
            <a:r>
              <a:rPr lang="zh-CN" altLang="en-US" sz="2400" dirty="0" smtClean="0"/>
              <a:t>那么如果</a:t>
            </a:r>
            <a:r>
              <a:rPr lang="en-US" altLang="zh-CN" sz="2400" dirty="0" smtClean="0"/>
              <a:t>BC</a:t>
            </a:r>
            <a:r>
              <a:rPr lang="zh-CN" altLang="en-US" sz="2400" dirty="0" smtClean="0"/>
              <a:t>之间的斜率小于</a:t>
            </a:r>
            <a:r>
              <a:rPr lang="en-US" altLang="zh-CN" sz="2400" dirty="0" smtClean="0"/>
              <a:t>s[i],</a:t>
            </a:r>
            <a:r>
              <a:rPr lang="zh-CN" altLang="en-US" sz="2400" dirty="0" smtClean="0"/>
              <a:t>那么</a:t>
            </a:r>
            <a:r>
              <a:rPr lang="en-US" altLang="zh-CN" sz="2400" dirty="0" smtClean="0"/>
              <a:t>AB</a:t>
            </a:r>
            <a:r>
              <a:rPr lang="zh-CN" altLang="en-US" sz="2400" dirty="0" smtClean="0"/>
              <a:t>之间的斜率必然也是小于</a:t>
            </a:r>
            <a:r>
              <a:rPr lang="en-US" altLang="zh-CN" sz="2400" dirty="0" smtClean="0"/>
              <a:t>s[i],</a:t>
            </a:r>
            <a:r>
              <a:rPr lang="zh-CN" altLang="en-US" sz="2400" dirty="0" smtClean="0"/>
              <a:t>那么</a:t>
            </a:r>
            <a:r>
              <a:rPr lang="en-US" altLang="zh-CN" sz="2400" dirty="0" smtClean="0"/>
              <a:t>,B</a:t>
            </a:r>
            <a:r>
              <a:rPr lang="zh-CN" altLang="en-US" sz="2400" dirty="0" smtClean="0"/>
              <a:t>永远不会是最优转移点</a:t>
            </a:r>
            <a:endParaRPr lang="zh-CN" altLang="en-US" sz="2400" dirty="0" smtClean="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这思路有希望</a:t>
            </a:r>
            <a:endParaRPr lang="zh-CN" altLang="en-US"/>
          </a:p>
        </p:txBody>
      </p:sp>
      <p:sp>
        <p:nvSpPr>
          <p:cNvPr id="3" name="内容占位符 2"/>
          <p:cNvSpPr>
            <a:spLocks noGrp="1"/>
          </p:cNvSpPr>
          <p:nvPr>
            <p:ph sz="quarter" idx="1"/>
          </p:nvPr>
        </p:nvSpPr>
        <p:spPr/>
        <p:txBody>
          <a:bodyPr>
            <a:normAutofit/>
          </a:bodyPr>
          <a:lstStyle/>
          <a:p>
            <a:r>
              <a:rPr lang="zh-CN" altLang="en-US" sz="2400" dirty="0"/>
              <a:t>根据刚才的思路</a:t>
            </a:r>
            <a:r>
              <a:rPr lang="en-US" altLang="zh-CN" sz="2400" dirty="0"/>
              <a:t>,</a:t>
            </a:r>
            <a:r>
              <a:rPr lang="zh-CN" altLang="en-US" sz="2400" dirty="0"/>
              <a:t>我们又可以筛选出一部分不可能成为最优解的决策</a:t>
            </a:r>
            <a:r>
              <a:rPr lang="en-US" altLang="zh-CN" sz="2400" dirty="0"/>
              <a:t>.</a:t>
            </a:r>
            <a:endParaRPr lang="en-US" altLang="zh-CN" sz="2400" dirty="0"/>
          </a:p>
          <a:p>
            <a:r>
              <a:rPr lang="zh-CN" altLang="en-US" sz="2400" dirty="0"/>
              <a:t>最后留下的可能成为最优解的决策点，必然满足相邻的点之间斜率是单调变化的</a:t>
            </a:r>
            <a:r>
              <a:rPr lang="en-US" altLang="zh-CN" sz="2400" dirty="0"/>
              <a:t>.</a:t>
            </a:r>
            <a:endParaRPr lang="en-US" altLang="zh-CN" sz="2400" dirty="0"/>
          </a:p>
          <a:p>
            <a:r>
              <a:rPr lang="zh-CN" altLang="en-US" sz="2400" dirty="0"/>
              <a:t>假设在转移</a:t>
            </a:r>
            <a:r>
              <a:rPr lang="en-US" altLang="zh-CN" sz="2400" dirty="0"/>
              <a:t>f[</a:t>
            </a:r>
            <a:r>
              <a:rPr lang="en-US" altLang="zh-CN" sz="2400" dirty="0" err="1"/>
              <a:t>i</a:t>
            </a:r>
            <a:r>
              <a:rPr lang="en-US" altLang="zh-CN" sz="2400" dirty="0"/>
              <a:t>]</a:t>
            </a:r>
            <a:r>
              <a:rPr lang="zh-CN" altLang="en-US" sz="2400" dirty="0"/>
              <a:t>的时候之前的所有可能的决策点已经按照相邻的斜率单调变化的方式维护好了</a:t>
            </a:r>
            <a:r>
              <a:rPr lang="en-US" altLang="zh-CN" sz="2400" dirty="0"/>
              <a:t>,</a:t>
            </a:r>
            <a:r>
              <a:rPr lang="zh-CN" altLang="en-US" sz="2400" dirty="0"/>
              <a:t>现在在所有可能的决策左侧加入一个新的点</a:t>
            </a:r>
            <a:endParaRPr lang="zh-CN" altLang="en-US" sz="2400" dirty="0"/>
          </a:p>
          <a:p>
            <a:r>
              <a:rPr lang="zh-CN" altLang="en-US" sz="2400" dirty="0"/>
              <a:t>斜率单调变化的性质在端点处可能被破坏</a:t>
            </a:r>
            <a:endParaRPr lang="zh-CN" altLang="en-US" sz="2400" dirty="0"/>
          </a:p>
          <a:p>
            <a:r>
              <a:rPr lang="zh-CN" altLang="en-US" sz="2400" dirty="0"/>
              <a:t>在左侧不断删除即可维护这个性质</a:t>
            </a:r>
            <a:endParaRPr lang="zh-CN" altLang="en-US" sz="2400" dirty="0"/>
          </a:p>
          <a:p>
            <a:r>
              <a:rPr lang="zh-CN" altLang="en-US" sz="2400" dirty="0"/>
              <a:t>现在</a:t>
            </a:r>
            <a:r>
              <a:rPr lang="en-US" altLang="zh-CN" sz="2400" dirty="0"/>
              <a:t>“</a:t>
            </a:r>
            <a:r>
              <a:rPr lang="zh-CN" altLang="en-US" sz="2400" dirty="0"/>
              <a:t>任意相邻点的斜率小于等于</a:t>
            </a:r>
            <a:r>
              <a:rPr lang="en-US" altLang="zh-CN" sz="2400" dirty="0"/>
              <a:t>s[</a:t>
            </a:r>
            <a:r>
              <a:rPr lang="en-US" altLang="zh-CN" sz="2400" dirty="0" err="1"/>
              <a:t>i</a:t>
            </a:r>
            <a:r>
              <a:rPr lang="en-US" altLang="zh-CN" sz="2400" dirty="0"/>
              <a:t>]”</a:t>
            </a:r>
            <a:r>
              <a:rPr lang="zh-CN" altLang="en-US" sz="2400" dirty="0"/>
              <a:t>的限制也很好满足</a:t>
            </a:r>
            <a:r>
              <a:rPr lang="en-US" altLang="zh-CN" sz="2400" dirty="0"/>
              <a:t>,</a:t>
            </a:r>
            <a:r>
              <a:rPr lang="zh-CN" altLang="en-US" sz="2400" dirty="0"/>
              <a:t>从左到右任意相邻点之间的斜率递减</a:t>
            </a:r>
            <a:r>
              <a:rPr lang="en-US" altLang="zh-CN" sz="2400" dirty="0"/>
              <a:t>,</a:t>
            </a:r>
            <a:r>
              <a:rPr lang="zh-CN" altLang="en-US" sz="2400" dirty="0"/>
              <a:t>不断尝试在最右侧删除即可</a:t>
            </a:r>
            <a:r>
              <a:rPr lang="en-US" altLang="zh-CN" sz="2400" dirty="0"/>
              <a:t>,</a:t>
            </a:r>
            <a:r>
              <a:rPr lang="zh-CN" altLang="en-US" sz="2400" dirty="0"/>
              <a:t>复杂度</a:t>
            </a:r>
            <a:r>
              <a:rPr lang="en-US" altLang="zh-CN" sz="2400" dirty="0"/>
              <a:t>O(n)</a:t>
            </a:r>
            <a:endParaRPr lang="en-US" altLang="zh-CN" sz="2400"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一点扩展</a:t>
            </a:r>
            <a:endParaRPr lang="zh-CN" altLang="en-US" dirty="0"/>
          </a:p>
        </p:txBody>
      </p:sp>
      <p:sp>
        <p:nvSpPr>
          <p:cNvPr id="3" name="内容占位符 2"/>
          <p:cNvSpPr>
            <a:spLocks noGrp="1"/>
          </p:cNvSpPr>
          <p:nvPr>
            <p:ph sz="quarter" idx="1"/>
          </p:nvPr>
        </p:nvSpPr>
        <p:spPr/>
        <p:txBody>
          <a:bodyPr>
            <a:normAutofit/>
          </a:bodyPr>
          <a:lstStyle/>
          <a:p>
            <a:r>
              <a:rPr lang="zh-CN" altLang="en-US" sz="2400" dirty="0"/>
              <a:t>要是把</a:t>
            </a:r>
            <a:r>
              <a:rPr lang="en-US" altLang="zh-CN" sz="2400" dirty="0"/>
              <a:t>(g[j1]-g[j2])/(h[j1]-h[j2])&lt;s[</a:t>
            </a:r>
            <a:r>
              <a:rPr lang="en-US" altLang="zh-CN" sz="2400" dirty="0" err="1"/>
              <a:t>i</a:t>
            </a:r>
            <a:r>
              <a:rPr lang="en-US" altLang="zh-CN" sz="2400" dirty="0"/>
              <a:t>]</a:t>
            </a:r>
            <a:r>
              <a:rPr lang="zh-CN" altLang="en-US" sz="2400" dirty="0"/>
              <a:t>里的</a:t>
            </a:r>
            <a:r>
              <a:rPr lang="en-US" altLang="zh-CN" sz="2400" dirty="0"/>
              <a:t>s[</a:t>
            </a:r>
            <a:r>
              <a:rPr lang="en-US" altLang="zh-CN" sz="2400" dirty="0" err="1"/>
              <a:t>i</a:t>
            </a:r>
            <a:r>
              <a:rPr lang="en-US" altLang="zh-CN" sz="2400" dirty="0"/>
              <a:t>]</a:t>
            </a:r>
            <a:r>
              <a:rPr lang="zh-CN" altLang="en-US" sz="2400" dirty="0"/>
              <a:t>换成一个不随</a:t>
            </a:r>
            <a:r>
              <a:rPr lang="en-US" altLang="zh-CN" sz="2400" dirty="0" err="1"/>
              <a:t>i</a:t>
            </a:r>
            <a:r>
              <a:rPr lang="zh-CN" altLang="en-US" sz="2400" dirty="0"/>
              <a:t>单调变化的量呢？</a:t>
            </a:r>
            <a:endParaRPr lang="zh-CN" altLang="en-US" sz="2400" dirty="0"/>
          </a:p>
          <a:p>
            <a:r>
              <a:rPr lang="zh-CN" altLang="en-US" sz="2400" dirty="0"/>
              <a:t>依然可以维护相邻的点之间斜率单调变化</a:t>
            </a:r>
            <a:r>
              <a:rPr lang="en-US" altLang="zh-CN" sz="2400" dirty="0"/>
              <a:t>,</a:t>
            </a:r>
            <a:r>
              <a:rPr lang="zh-CN" altLang="en-US" sz="2400" dirty="0"/>
              <a:t>但最优决策点需要二分出来</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斜率优化</a:t>
            </a:r>
            <a:r>
              <a:rPr lang="en-US" altLang="zh-CN" dirty="0" smtClean="0"/>
              <a:t>(</a:t>
            </a:r>
            <a:r>
              <a:rPr lang="zh-CN" altLang="en-US" dirty="0" smtClean="0"/>
              <a:t>更多题目</a:t>
            </a:r>
            <a:r>
              <a:rPr lang="en-US" altLang="zh-CN" dirty="0" smtClean="0"/>
              <a:t>)</a:t>
            </a:r>
            <a:endParaRPr lang="en-US" altLang="zh-CN" dirty="0"/>
          </a:p>
        </p:txBody>
      </p:sp>
      <p:sp>
        <p:nvSpPr>
          <p:cNvPr id="3" name="内容占位符 2"/>
          <p:cNvSpPr>
            <a:spLocks noGrp="1"/>
          </p:cNvSpPr>
          <p:nvPr>
            <p:ph sz="quarter" idx="1"/>
          </p:nvPr>
        </p:nvSpPr>
        <p:spPr/>
        <p:txBody>
          <a:bodyPr>
            <a:normAutofit/>
          </a:bodyPr>
          <a:lstStyle/>
          <a:p>
            <a:r>
              <a:rPr lang="zh-CN" altLang="en-US" sz="2400" dirty="0"/>
              <a:t>大概按照难度顺序来的</a:t>
            </a:r>
            <a:endParaRPr lang="zh-CN" altLang="en-US" sz="2400" dirty="0"/>
          </a:p>
          <a:p>
            <a:r>
              <a:rPr lang="zh-CN" altLang="en-US" sz="2400" dirty="0"/>
              <a:t>bzoj1911[APIO2010]特别行动队 </a:t>
            </a:r>
            <a:endParaRPr lang="zh-CN" altLang="en-US" sz="2400" dirty="0"/>
          </a:p>
          <a:p>
            <a:r>
              <a:rPr lang="zh-CN" altLang="en-US" sz="2400" dirty="0"/>
              <a:t>bzoj1096[ZJOI2007]仓库建设</a:t>
            </a:r>
            <a:endParaRPr lang="zh-CN" altLang="en-US" sz="2400" dirty="0"/>
          </a:p>
          <a:p>
            <a:r>
              <a:rPr lang="zh-CN" altLang="en-US" sz="2400" dirty="0">
                <a:sym typeface="+mn-ea"/>
              </a:rPr>
              <a:t>bzoj3437 小P的牧场</a:t>
            </a:r>
            <a:endParaRPr lang="zh-CN" altLang="en-US" sz="2400" dirty="0"/>
          </a:p>
          <a:p>
            <a:r>
              <a:rPr lang="zh-CN" altLang="en-US" sz="2400" dirty="0">
                <a:sym typeface="+mn-ea"/>
              </a:rPr>
              <a:t>CodeForces-631E Product Sum </a:t>
            </a:r>
            <a:r>
              <a:rPr lang="zh-CN" altLang="en-US" sz="2400" dirty="0"/>
              <a:t> </a:t>
            </a:r>
            <a:endParaRPr lang="zh-CN" altLang="en-US" sz="2400" dirty="0"/>
          </a:p>
          <a:p>
            <a:r>
              <a:rPr lang="zh-CN" altLang="en-US" sz="2400" dirty="0"/>
              <a:t>bzoj1597[USACO Mar08]土地购买</a:t>
            </a:r>
            <a:endParaRPr lang="zh-CN" altLang="en-US" sz="2400" dirty="0"/>
          </a:p>
          <a:p>
            <a:r>
              <a:rPr lang="zh-CN" altLang="en-US" sz="2400" dirty="0">
                <a:sym typeface="+mn-ea"/>
              </a:rPr>
              <a:t>bzoj4518[SDOI2016]征途</a:t>
            </a:r>
            <a:endParaRPr lang="zh-CN" altLang="en-US" sz="2400" dirty="0"/>
          </a:p>
          <a:p>
            <a:r>
              <a:rPr lang="zh-CN" altLang="en-US" sz="2400" dirty="0"/>
              <a:t>bzoj3675[APIO2014]序列分割 </a:t>
            </a:r>
            <a:endParaRPr lang="zh-CN" altLang="en-US" sz="2400" dirty="0"/>
          </a:p>
          <a:p>
            <a:r>
              <a:rPr lang="zh-CN" altLang="en-US" sz="2400" dirty="0"/>
              <a:t>bzoj4709[JSOI2011]柠檬 </a:t>
            </a:r>
            <a:endParaRPr lang="zh-CN" altLang="en-US" sz="2400" dirty="0"/>
          </a:p>
          <a:p>
            <a:endParaRPr lang="zh-CN" altLang="en-US" sz="2400"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0"/>
          <p:cNvSpPr>
            <a:spLocks noGrp="1"/>
          </p:cNvSpPr>
          <p:nvPr>
            <p:ph type="title"/>
          </p:nvPr>
        </p:nvSpPr>
        <p:spPr/>
        <p:txBody>
          <a:bodyPr/>
          <a:lstStyle/>
          <a:p>
            <a:r>
              <a:rPr lang="zh-CN" altLang="en-US" dirty="0" smtClean="0"/>
              <a:t>动态规划优化题目选讲</a:t>
            </a:r>
            <a:endParaRPr lang="zh-CN" altLang="en-US" dirty="0"/>
          </a:p>
        </p:txBody>
      </p:sp>
      <p:sp>
        <p:nvSpPr>
          <p:cNvPr id="4" name="文本占位符 3"/>
          <p:cNvSpPr>
            <a:spLocks noGrp="1"/>
          </p:cNvSpPr>
          <p:nvPr>
            <p:ph type="body" idx="1"/>
          </p:nvPr>
        </p:nvSpPr>
        <p:spPr/>
        <p:txBody>
          <a:bodyPr/>
          <a:lstStyle/>
          <a:p>
            <a:r>
              <a:rPr lang="zh-CN" altLang="en-US" dirty="0" smtClean="0"/>
              <a:t>主要是防止讲完了还没到时间的尴尬情况</a:t>
            </a:r>
            <a:endParaRPr lang="zh-CN" altLang="en-US"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dirty="0" smtClean="0"/>
              <a:t>﻿</a:t>
            </a:r>
            <a:r>
              <a:rPr lang="en-US" altLang="zh-CN" dirty="0" smtClean="0"/>
              <a:t>bzoj</a:t>
            </a:r>
            <a:r>
              <a:rPr lang="en-US" dirty="0" smtClean="0"/>
              <a:t>1801: [Ahoi2009]chess </a:t>
            </a:r>
            <a:r>
              <a:rPr lang="zh-CN" altLang="en-US" dirty="0" smtClean="0"/>
              <a:t>中国象棋</a:t>
            </a:r>
            <a:endParaRPr lang="zh-CN" altLang="en-US" dirty="0"/>
          </a:p>
        </p:txBody>
      </p:sp>
      <p:sp>
        <p:nvSpPr>
          <p:cNvPr id="3" name="内容占位符 2"/>
          <p:cNvSpPr>
            <a:spLocks noGrp="1"/>
          </p:cNvSpPr>
          <p:nvPr>
            <p:ph sz="quarter" idx="1"/>
          </p:nvPr>
        </p:nvSpPr>
        <p:spPr/>
        <p:txBody>
          <a:bodyPr>
            <a:normAutofit/>
          </a:bodyPr>
          <a:lstStyle/>
          <a:p>
            <a:r>
              <a:rPr lang="zh-CN" altLang="en-US" sz="2400" dirty="0" smtClean="0"/>
              <a:t>﻿在</a:t>
            </a:r>
            <a:r>
              <a:rPr lang="en-US" altLang="zh-CN" sz="2400" dirty="0" smtClean="0"/>
              <a:t>N</a:t>
            </a:r>
            <a:r>
              <a:rPr lang="zh-CN" altLang="en-US" sz="2400" dirty="0" smtClean="0"/>
              <a:t>行</a:t>
            </a:r>
            <a:r>
              <a:rPr lang="en-US" altLang="zh-CN" sz="2400" dirty="0" smtClean="0"/>
              <a:t>M</a:t>
            </a:r>
            <a:r>
              <a:rPr lang="zh-CN" altLang="en-US" sz="2400" dirty="0" smtClean="0"/>
              <a:t>列的棋盘上</a:t>
            </a:r>
            <a:r>
              <a:rPr lang="en-US" altLang="zh-CN" sz="2400" dirty="0" smtClean="0"/>
              <a:t>,</a:t>
            </a:r>
            <a:r>
              <a:rPr lang="zh-CN" altLang="en-US" sz="2400" dirty="0" smtClean="0"/>
              <a:t>放若干个炮</a:t>
            </a:r>
            <a:r>
              <a:rPr lang="en-US" altLang="zh-CN" sz="2400" dirty="0" smtClean="0"/>
              <a:t>,</a:t>
            </a:r>
            <a:r>
              <a:rPr lang="zh-CN" altLang="en-US" sz="2400" dirty="0" smtClean="0"/>
              <a:t>可以是</a:t>
            </a:r>
            <a:r>
              <a:rPr lang="en-US" altLang="zh-CN" sz="2400" dirty="0" smtClean="0"/>
              <a:t>0</a:t>
            </a:r>
            <a:r>
              <a:rPr lang="zh-CN" altLang="en-US" sz="2400" dirty="0" smtClean="0"/>
              <a:t>个</a:t>
            </a:r>
            <a:r>
              <a:rPr lang="en-US" altLang="zh-CN" sz="2400" dirty="0" smtClean="0"/>
              <a:t>,</a:t>
            </a:r>
            <a:r>
              <a:rPr lang="zh-CN" altLang="en-US" sz="2400" dirty="0" smtClean="0"/>
              <a:t>使得没有任何一个炮可以攻击另一个炮。</a:t>
            </a:r>
            <a:r>
              <a:rPr lang="en-US" altLang="zh-CN" sz="2400" dirty="0" smtClean="0"/>
              <a:t>,</a:t>
            </a:r>
            <a:r>
              <a:rPr lang="zh-CN" altLang="en-US" sz="2400" dirty="0" smtClean="0"/>
              <a:t>请问有多少种放置方法</a:t>
            </a:r>
            <a:endParaRPr lang="en-US" altLang="zh-CN" sz="2400" dirty="0" smtClean="0"/>
          </a:p>
          <a:p>
            <a:r>
              <a:rPr lang="zh-CN" altLang="en-US" sz="2400" dirty="0" smtClean="0"/>
              <a:t>数据范围</a:t>
            </a:r>
            <a:r>
              <a:rPr lang="en-US" altLang="zh-CN" sz="2400" dirty="0" smtClean="0"/>
              <a:t>:</a:t>
            </a:r>
            <a:endParaRPr lang="en-US" altLang="zh-CN" sz="2400" dirty="0" smtClean="0"/>
          </a:p>
          <a:p>
            <a:pPr lvl="1"/>
            <a:r>
              <a:rPr lang="en-US" altLang="zh-CN" sz="2000" dirty="0" smtClean="0"/>
              <a:t>30%  N,M</a:t>
            </a:r>
            <a:r>
              <a:rPr lang="zh-CN" altLang="en-US" sz="2000" dirty="0" smtClean="0"/>
              <a:t>均不超过</a:t>
            </a:r>
            <a:r>
              <a:rPr lang="en-US" altLang="zh-CN" sz="2000" dirty="0" smtClean="0"/>
              <a:t>6</a:t>
            </a:r>
            <a:endParaRPr lang="en-US" altLang="zh-CN" sz="2000" dirty="0" smtClean="0"/>
          </a:p>
          <a:p>
            <a:pPr lvl="1"/>
            <a:r>
              <a:rPr lang="en-US" altLang="zh-CN" sz="2000" dirty="0" smtClean="0"/>
              <a:t>50%</a:t>
            </a:r>
            <a:r>
              <a:rPr lang="zh-CN" altLang="en-US" sz="2000" dirty="0" smtClean="0"/>
              <a:t>  </a:t>
            </a:r>
            <a:r>
              <a:rPr lang="en-US" altLang="zh-CN" sz="2000" dirty="0" smtClean="0"/>
              <a:t>N,M</a:t>
            </a:r>
            <a:r>
              <a:rPr lang="zh-CN" altLang="en-US" sz="2000" dirty="0" smtClean="0"/>
              <a:t>至少有一个数不超过</a:t>
            </a:r>
            <a:r>
              <a:rPr lang="en-US" altLang="zh-CN" sz="2000" dirty="0" smtClean="0"/>
              <a:t>8</a:t>
            </a:r>
            <a:endParaRPr lang="en-US" altLang="zh-CN" sz="2000" dirty="0" smtClean="0"/>
          </a:p>
          <a:p>
            <a:pPr lvl="1"/>
            <a:r>
              <a:rPr lang="zh-CN" altLang="en-US" sz="2000" dirty="0" smtClean="0"/>
              <a:t>﻿</a:t>
            </a:r>
            <a:r>
              <a:rPr lang="en-US" altLang="zh-CN" sz="2000" dirty="0" smtClean="0"/>
              <a:t>100% N,M</a:t>
            </a:r>
            <a:r>
              <a:rPr lang="zh-CN" altLang="en-US" sz="2000" dirty="0" smtClean="0"/>
              <a:t>不超过</a:t>
            </a:r>
            <a:r>
              <a:rPr lang="en-US" altLang="zh-CN" sz="2000" dirty="0" smtClean="0"/>
              <a:t>100</a:t>
            </a:r>
            <a:endParaRPr lang="en-US" altLang="zh-CN" sz="2000" dirty="0" smtClean="0"/>
          </a:p>
          <a:p>
            <a:r>
              <a:rPr lang="zh-CN" altLang="en-US" sz="2400" dirty="0" smtClean="0"/>
              <a:t>题意就是每行每列都是最多放两个</a:t>
            </a:r>
            <a:r>
              <a:rPr lang="en-US" altLang="zh-CN" sz="2400" dirty="0" smtClean="0"/>
              <a:t>,</a:t>
            </a:r>
            <a:r>
              <a:rPr lang="zh-CN" altLang="en-US" sz="2400" dirty="0" smtClean="0"/>
              <a:t>不能放三个</a:t>
            </a:r>
            <a:endParaRPr lang="en-US" altLang="zh-CN" sz="2400" dirty="0" smtClean="0"/>
          </a:p>
          <a:p>
            <a:r>
              <a:rPr lang="zh-CN" altLang="en-US" sz="2400" dirty="0" smtClean="0"/>
              <a:t>讨论一下部分分怎么写</a:t>
            </a:r>
            <a:r>
              <a:rPr lang="en-US" altLang="zh-CN" sz="2400" dirty="0" smtClean="0"/>
              <a:t>?</a:t>
            </a:r>
            <a:endParaRPr lang="en-US" altLang="zh-CN" sz="2400" dirty="0" smtClean="0"/>
          </a:p>
          <a:p>
            <a:pPr lvl="1"/>
            <a:r>
              <a:rPr lang="en-US" altLang="zh-CN" sz="2100" dirty="0" smtClean="0"/>
              <a:t>30%</a:t>
            </a:r>
            <a:r>
              <a:rPr lang="zh-CN" altLang="en-US" sz="2100" dirty="0" smtClean="0"/>
              <a:t>大力搜</a:t>
            </a:r>
            <a:endParaRPr lang="en-US" altLang="zh-CN" sz="2100" dirty="0" smtClean="0"/>
          </a:p>
          <a:p>
            <a:pPr lvl="1"/>
            <a:r>
              <a:rPr lang="en-US" altLang="zh-CN" sz="2100" dirty="0" smtClean="0"/>
              <a:t>50%</a:t>
            </a:r>
            <a:r>
              <a:rPr lang="zh-CN" altLang="en-US" sz="2100" dirty="0" smtClean="0"/>
              <a:t>大力状压</a:t>
            </a:r>
            <a:endParaRPr lang="zh-CN" altLang="en-US" sz="2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 calcmode="lin" valueType="num">
                                      <p:cBhvr additive="base">
                                        <p:cTn id="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anim calcmode="lin" valueType="num">
                                      <p:cBhvr additive="base">
                                        <p:cTn id="1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t>﻿</a:t>
            </a:r>
            <a:r>
              <a:rPr lang="en-US" altLang="zh-CN" dirty="0" smtClean="0"/>
              <a:t>bzoj</a:t>
            </a:r>
            <a:r>
              <a:rPr lang="en-US" dirty="0" smtClean="0"/>
              <a:t>1801: [Ahoi2009]chess </a:t>
            </a:r>
            <a:r>
              <a:rPr lang="zh-CN" altLang="en-US" dirty="0" smtClean="0"/>
              <a:t>中国象棋</a:t>
            </a:r>
            <a:endParaRPr lang="zh-CN" altLang="en-US" dirty="0"/>
          </a:p>
        </p:txBody>
      </p:sp>
      <p:sp>
        <p:nvSpPr>
          <p:cNvPr id="3" name="内容占位符 2"/>
          <p:cNvSpPr>
            <a:spLocks noGrp="1"/>
          </p:cNvSpPr>
          <p:nvPr>
            <p:ph sz="quarter" idx="1"/>
          </p:nvPr>
        </p:nvSpPr>
        <p:spPr/>
        <p:txBody>
          <a:bodyPr>
            <a:normAutofit/>
          </a:bodyPr>
          <a:lstStyle/>
          <a:p>
            <a:r>
              <a:rPr lang="zh-CN" altLang="en-US" sz="2400" dirty="0" smtClean="0"/>
              <a:t>考虑状压的写法</a:t>
            </a:r>
            <a:r>
              <a:rPr lang="en-US" altLang="zh-CN" sz="2400" dirty="0" smtClean="0"/>
              <a:t>.</a:t>
            </a:r>
            <a:r>
              <a:rPr lang="zh-CN" altLang="en-US" sz="2400" dirty="0" smtClean="0"/>
              <a:t>假如列数比较少</a:t>
            </a:r>
            <a:r>
              <a:rPr lang="en-US" altLang="zh-CN" sz="2400" dirty="0" smtClean="0"/>
              <a:t>,</a:t>
            </a:r>
            <a:r>
              <a:rPr lang="zh-CN" altLang="en-US" sz="2400" dirty="0" smtClean="0"/>
              <a:t>当前所有的列可以分为三种</a:t>
            </a:r>
            <a:r>
              <a:rPr lang="en-US" altLang="zh-CN" sz="2400" dirty="0" smtClean="0"/>
              <a:t>,</a:t>
            </a:r>
            <a:r>
              <a:rPr lang="zh-CN" altLang="en-US" sz="2400" dirty="0" smtClean="0"/>
              <a:t>有的还没有放棋子</a:t>
            </a:r>
            <a:r>
              <a:rPr lang="en-US" altLang="zh-CN" sz="2400" dirty="0" smtClean="0"/>
              <a:t>,</a:t>
            </a:r>
            <a:r>
              <a:rPr lang="zh-CN" altLang="en-US" sz="2400" dirty="0" smtClean="0"/>
              <a:t>有的有一个</a:t>
            </a:r>
            <a:r>
              <a:rPr lang="en-US" altLang="zh-CN" sz="2400" dirty="0" smtClean="0"/>
              <a:t>,</a:t>
            </a:r>
            <a:r>
              <a:rPr lang="zh-CN" altLang="en-US" sz="2400" dirty="0" smtClean="0"/>
              <a:t>有的有两个</a:t>
            </a:r>
            <a:r>
              <a:rPr lang="en-US" altLang="zh-CN" sz="2400" dirty="0" smtClean="0"/>
              <a:t>,</a:t>
            </a:r>
            <a:r>
              <a:rPr lang="zh-CN" altLang="en-US" sz="2400" dirty="0" smtClean="0"/>
              <a:t>我们可以三进制状压哪些列分别是哪一种情况</a:t>
            </a:r>
            <a:r>
              <a:rPr lang="en-US" altLang="zh-CN" sz="2400" dirty="0" smtClean="0"/>
              <a:t>.</a:t>
            </a:r>
            <a:r>
              <a:rPr lang="zh-CN" altLang="en-US" sz="2400" dirty="0" smtClean="0"/>
              <a:t>但是对于</a:t>
            </a:r>
            <a:r>
              <a:rPr lang="en-US" altLang="zh-CN" sz="2400" dirty="0" smtClean="0"/>
              <a:t>100%</a:t>
            </a:r>
            <a:r>
              <a:rPr lang="zh-CN" altLang="en-US" sz="2400" dirty="0" smtClean="0"/>
              <a:t>的数据范围</a:t>
            </a:r>
            <a:r>
              <a:rPr lang="en-US" altLang="zh-CN" sz="2400" dirty="0" smtClean="0"/>
              <a:t>,</a:t>
            </a:r>
            <a:r>
              <a:rPr lang="zh-CN" altLang="en-US" sz="2400" dirty="0" smtClean="0"/>
              <a:t>状压无能为力</a:t>
            </a:r>
            <a:r>
              <a:rPr lang="en-US" altLang="zh-CN" sz="2400" dirty="0" smtClean="0"/>
              <a:t>.</a:t>
            </a:r>
            <a:endParaRPr lang="en-US" altLang="zh-CN" sz="2400" dirty="0" smtClean="0"/>
          </a:p>
          <a:p>
            <a:r>
              <a:rPr lang="zh-CN" altLang="en-US" sz="2400" dirty="0" smtClean="0"/>
              <a:t>为什么一定要知道具体是哪几列有一个棋子呢</a:t>
            </a:r>
            <a:endParaRPr lang="en-US" altLang="zh-CN" sz="2400" dirty="0" smtClean="0"/>
          </a:p>
          <a:p>
            <a:r>
              <a:rPr lang="zh-CN" altLang="en-US" sz="2400" dirty="0" smtClean="0"/>
              <a:t>我们只需知道有一个棋子的列数</a:t>
            </a:r>
            <a:r>
              <a:rPr lang="en-US" altLang="zh-CN" sz="2400" dirty="0" smtClean="0"/>
              <a:t>,</a:t>
            </a:r>
            <a:r>
              <a:rPr lang="zh-CN" altLang="en-US" sz="2400" dirty="0" smtClean="0"/>
              <a:t>有两个棋子的列数即可</a:t>
            </a:r>
            <a:r>
              <a:rPr lang="en-US" altLang="zh-CN" sz="2400" dirty="0" smtClean="0"/>
              <a:t>(</a:t>
            </a:r>
            <a:r>
              <a:rPr lang="zh-CN" altLang="en-US" sz="2400" dirty="0" smtClean="0"/>
              <a:t>没有棋子的列数不需单独记录</a:t>
            </a:r>
            <a:r>
              <a:rPr lang="en-US" altLang="zh-CN" sz="2400" dirty="0" smtClean="0"/>
              <a:t>)</a:t>
            </a:r>
            <a:endParaRPr lang="en-US" altLang="zh-CN" sz="2400" dirty="0" smtClean="0"/>
          </a:p>
          <a:p>
            <a:r>
              <a:rPr lang="en-US" altLang="zh-CN" sz="2400" dirty="0" smtClean="0"/>
              <a:t>F[</a:t>
            </a:r>
            <a:r>
              <a:rPr lang="en-US" altLang="zh-CN" sz="2400" dirty="0" err="1" smtClean="0"/>
              <a:t>i</a:t>
            </a:r>
            <a:r>
              <a:rPr lang="en-US" altLang="zh-CN" sz="2400" dirty="0" smtClean="0"/>
              <a:t>][j][k]</a:t>
            </a:r>
            <a:r>
              <a:rPr lang="zh-CN" altLang="en-US" sz="2400" dirty="0" smtClean="0"/>
              <a:t>表示处理了前</a:t>
            </a:r>
            <a:r>
              <a:rPr lang="en-US" altLang="zh-CN" sz="2400" dirty="0" err="1" smtClean="0"/>
              <a:t>i</a:t>
            </a:r>
            <a:r>
              <a:rPr lang="zh-CN" altLang="en-US" sz="2400" dirty="0" smtClean="0"/>
              <a:t>行</a:t>
            </a:r>
            <a:r>
              <a:rPr lang="en-US" altLang="zh-CN" sz="2400" dirty="0" smtClean="0"/>
              <a:t>,j</a:t>
            </a:r>
            <a:r>
              <a:rPr lang="zh-CN" altLang="en-US" sz="2400" dirty="0" smtClean="0"/>
              <a:t>列有</a:t>
            </a:r>
            <a:r>
              <a:rPr lang="en-US" altLang="zh-CN" sz="2400" dirty="0" smtClean="0"/>
              <a:t>1</a:t>
            </a:r>
            <a:r>
              <a:rPr lang="zh-CN" altLang="en-US" sz="2400" dirty="0" smtClean="0"/>
              <a:t>个棋子</a:t>
            </a:r>
            <a:r>
              <a:rPr lang="en-US" altLang="zh-CN" sz="2400" dirty="0" smtClean="0"/>
              <a:t>,k</a:t>
            </a:r>
            <a:r>
              <a:rPr lang="zh-CN" altLang="en-US" sz="2400" dirty="0" smtClean="0"/>
              <a:t>列有</a:t>
            </a:r>
            <a:r>
              <a:rPr lang="en-US" altLang="zh-CN" sz="2400" dirty="0" smtClean="0"/>
              <a:t>2</a:t>
            </a:r>
            <a:r>
              <a:rPr lang="zh-CN" altLang="en-US" sz="2400" dirty="0" smtClean="0"/>
              <a:t>个棋子的方案数</a:t>
            </a:r>
            <a:r>
              <a:rPr lang="en-US" altLang="zh-CN" sz="2400" dirty="0" smtClean="0"/>
              <a:t>,</a:t>
            </a:r>
            <a:r>
              <a:rPr lang="zh-CN" altLang="en-US" sz="2400" dirty="0" smtClean="0"/>
              <a:t>复杂度</a:t>
            </a:r>
            <a:r>
              <a:rPr lang="en-US" altLang="zh-CN" sz="2400" dirty="0" smtClean="0"/>
              <a:t>O(n^3)</a:t>
            </a:r>
            <a:endParaRPr lang="en-US" altLang="zh-CN" sz="2400" dirty="0" smtClean="0"/>
          </a:p>
          <a:p>
            <a:r>
              <a:rPr lang="zh-CN" altLang="en-US" sz="2400" dirty="0" smtClean="0"/>
              <a:t>接下来是喜闻乐见的分类讨论时间</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Codeforces</a:t>
            </a:r>
            <a:r>
              <a:rPr lang="en-US" altLang="zh-CN" dirty="0" smtClean="0"/>
              <a:t> 464D World of </a:t>
            </a:r>
            <a:r>
              <a:rPr lang="en-US" altLang="zh-CN" dirty="0" err="1" smtClean="0"/>
              <a:t>Darkraft</a:t>
            </a:r>
            <a:r>
              <a:rPr lang="en-US" altLang="zh-CN" dirty="0" smtClean="0"/>
              <a:t> - 2 </a:t>
            </a:r>
            <a:endParaRPr lang="zh-CN" altLang="en-US" dirty="0"/>
          </a:p>
        </p:txBody>
      </p:sp>
      <p:sp>
        <p:nvSpPr>
          <p:cNvPr id="3" name="内容占位符 2"/>
          <p:cNvSpPr>
            <a:spLocks noGrp="1"/>
          </p:cNvSpPr>
          <p:nvPr>
            <p:ph sz="quarter" idx="1"/>
          </p:nvPr>
        </p:nvSpPr>
        <p:spPr/>
        <p:txBody>
          <a:bodyPr>
            <a:noAutofit/>
          </a:bodyPr>
          <a:lstStyle/>
          <a:p>
            <a:r>
              <a:rPr lang="en-US" sz="1400" dirty="0" smtClean="0"/>
              <a:t>﻿Roma found a new character in the game "World of </a:t>
            </a:r>
            <a:r>
              <a:rPr lang="en-US" sz="1400" dirty="0" err="1" smtClean="0"/>
              <a:t>Darkraft</a:t>
            </a:r>
            <a:r>
              <a:rPr lang="en-US" sz="1400" dirty="0" smtClean="0"/>
              <a:t> - 2". In this game the character fights monsters, finds the more and more advanced stuff that lets him fight stronger monsters.</a:t>
            </a:r>
            <a:endParaRPr lang="en-US" sz="1400" dirty="0" smtClean="0"/>
          </a:p>
          <a:p>
            <a:r>
              <a:rPr lang="en-US" sz="1400" dirty="0" smtClean="0"/>
              <a:t>The character can equip himself with </a:t>
            </a:r>
            <a:r>
              <a:rPr lang="en-US" sz="1400" i="1" dirty="0" smtClean="0"/>
              <a:t>k</a:t>
            </a:r>
            <a:r>
              <a:rPr lang="en-US" sz="1400" dirty="0" smtClean="0"/>
              <a:t> distinct types of items. Power of each item depends on its level (positive integer number). Initially the character has one 1-level item of each of the </a:t>
            </a:r>
            <a:r>
              <a:rPr lang="en-US" sz="1400" i="1" dirty="0" smtClean="0"/>
              <a:t>k</a:t>
            </a:r>
            <a:r>
              <a:rPr lang="en-US" sz="1400" dirty="0" smtClean="0"/>
              <a:t> types.</a:t>
            </a:r>
            <a:endParaRPr lang="en-US" sz="1400" dirty="0" smtClean="0"/>
          </a:p>
          <a:p>
            <a:r>
              <a:rPr lang="en-US" sz="1400" dirty="0" smtClean="0"/>
              <a:t>After the victory over the monster the character finds exactly one new randomly generated item. The generation process looks as follows. Firstly the type of the item is defined; each of the </a:t>
            </a:r>
            <a:r>
              <a:rPr lang="en-US" sz="1400" i="1" dirty="0" smtClean="0"/>
              <a:t>k</a:t>
            </a:r>
            <a:r>
              <a:rPr lang="en-US" sz="1400" dirty="0" smtClean="0"/>
              <a:t> types has the same probability. Then the level of the new item is defined. Let's assume that the level of player's item of the chosen type is equal to </a:t>
            </a:r>
            <a:r>
              <a:rPr lang="en-US" sz="1400" i="1" dirty="0" smtClean="0"/>
              <a:t>t</a:t>
            </a:r>
            <a:r>
              <a:rPr lang="en-US" sz="1400" dirty="0" smtClean="0"/>
              <a:t> at the moment. Level of the new item will be chosen uniformly among integers from segment [1; </a:t>
            </a:r>
            <a:r>
              <a:rPr lang="en-US" sz="1400" i="1" dirty="0" smtClean="0"/>
              <a:t>t</a:t>
            </a:r>
            <a:r>
              <a:rPr lang="en-US" sz="1400" dirty="0" smtClean="0"/>
              <a:t> + 1].</a:t>
            </a:r>
            <a:endParaRPr lang="en-US" sz="1400" dirty="0" smtClean="0"/>
          </a:p>
          <a:p>
            <a:r>
              <a:rPr lang="en-US" sz="1400" dirty="0" smtClean="0"/>
              <a:t>From the new item and the current player's item of the same type Roma chooses the best one (i.e. the one with greater level) and equips it (if both of them has the same level Roma </a:t>
            </a:r>
            <a:r>
              <a:rPr lang="en-US" sz="1400" dirty="0" err="1" smtClean="0"/>
              <a:t>choses</a:t>
            </a:r>
            <a:r>
              <a:rPr lang="en-US" sz="1400" dirty="0" smtClean="0"/>
              <a:t> any). The remaining item is sold for coins. Roma sells an item of level x of any type for </a:t>
            </a:r>
            <a:r>
              <a:rPr lang="en-US" sz="1400" i="1" dirty="0" smtClean="0"/>
              <a:t>x</a:t>
            </a:r>
            <a:r>
              <a:rPr lang="en-US" sz="1400" dirty="0" smtClean="0"/>
              <a:t> coins.</a:t>
            </a:r>
            <a:endParaRPr lang="en-US" sz="1400" dirty="0" smtClean="0"/>
          </a:p>
          <a:p>
            <a:r>
              <a:rPr lang="en-US" sz="1400" dirty="0" smtClean="0"/>
              <a:t>Help Roma determine the expected number of earned coins after the victory over </a:t>
            </a:r>
            <a:r>
              <a:rPr lang="en-US" sz="1400" i="1" dirty="0" smtClean="0"/>
              <a:t>n</a:t>
            </a:r>
            <a:r>
              <a:rPr lang="en-US" sz="1400" dirty="0" smtClean="0"/>
              <a:t> monsters</a:t>
            </a:r>
            <a:r>
              <a:rPr lang="en-US" altLang="zh-CN" sz="1400" dirty="0" smtClean="0"/>
              <a:t>.</a:t>
            </a:r>
            <a:r>
              <a:rPr lang="pt-BR" sz="1400" dirty="0" smtClean="0"/>
              <a:t> ﻿1 ≤ </a:t>
            </a:r>
            <a:r>
              <a:rPr lang="pt-BR" sz="1400" i="1" dirty="0" smtClean="0"/>
              <a:t>n</a:t>
            </a:r>
            <a:r>
              <a:rPr lang="pt-BR" sz="1400" dirty="0" smtClean="0"/>
              <a:t> ≤ 10</a:t>
            </a:r>
            <a:r>
              <a:rPr lang="pt-BR" sz="1400" baseline="30000" dirty="0" smtClean="0"/>
              <a:t>5</a:t>
            </a:r>
            <a:r>
              <a:rPr lang="pt-BR" sz="1400" dirty="0" smtClean="0"/>
              <a:t>; 1 ≤ </a:t>
            </a:r>
            <a:r>
              <a:rPr lang="pt-BR" sz="1400" i="1" dirty="0" smtClean="0"/>
              <a:t>k</a:t>
            </a:r>
            <a:r>
              <a:rPr lang="pt-BR" sz="1400" dirty="0" smtClean="0"/>
              <a:t> ≤ 100</a:t>
            </a:r>
            <a:endParaRPr lang="en-US" sz="1400" dirty="0" smtClean="0"/>
          </a:p>
          <a:p>
            <a:r>
              <a:rPr lang="en-US" sz="1400" dirty="0" smtClean="0"/>
              <a:t>﻿Print a real number — expected number of earned coins after victory over </a:t>
            </a:r>
            <a:r>
              <a:rPr lang="en-US" sz="1400" i="1" dirty="0" smtClean="0"/>
              <a:t>n</a:t>
            </a:r>
            <a:r>
              <a:rPr lang="en-US" sz="1400" dirty="0" smtClean="0"/>
              <a:t> monsters. The answer is considered correct if its relative or absolute error doesn't exceed 10</a:t>
            </a:r>
            <a:r>
              <a:rPr lang="en-US" sz="1400" baseline="30000" dirty="0" smtClean="0"/>
              <a:t> - 9</a:t>
            </a:r>
            <a:r>
              <a:rPr lang="en-US" sz="1400" dirty="0" smtClean="0"/>
              <a:t>.</a:t>
            </a:r>
            <a:endParaRPr lang="en-US" sz="1400" dirty="0" smtClean="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Codeforces</a:t>
            </a:r>
            <a:r>
              <a:rPr lang="en-US" altLang="zh-CN" dirty="0" smtClean="0"/>
              <a:t> 464D World of </a:t>
            </a:r>
            <a:r>
              <a:rPr lang="en-US" altLang="zh-CN" dirty="0" err="1" smtClean="0"/>
              <a:t>Darkraft</a:t>
            </a:r>
            <a:r>
              <a:rPr lang="en-US" altLang="zh-CN" dirty="0" smtClean="0"/>
              <a:t> - 2 </a:t>
            </a:r>
            <a:endParaRPr lang="zh-CN" altLang="en-US" dirty="0"/>
          </a:p>
        </p:txBody>
      </p:sp>
      <p:sp>
        <p:nvSpPr>
          <p:cNvPr id="3" name="内容占位符 2"/>
          <p:cNvSpPr>
            <a:spLocks noGrp="1"/>
          </p:cNvSpPr>
          <p:nvPr>
            <p:ph sz="quarter" idx="1"/>
          </p:nvPr>
        </p:nvSpPr>
        <p:spPr/>
        <p:txBody>
          <a:bodyPr>
            <a:noAutofit/>
          </a:bodyPr>
          <a:lstStyle/>
          <a:p>
            <a:r>
              <a:rPr lang="zh-CN" altLang="en-US" sz="2400" dirty="0" smtClean="0"/>
              <a:t>每一种装备是等价的</a:t>
            </a:r>
            <a:r>
              <a:rPr lang="en-US" altLang="zh-CN" sz="2400" dirty="0" smtClean="0"/>
              <a:t>.</a:t>
            </a:r>
            <a:r>
              <a:rPr lang="zh-CN" altLang="en-US" sz="2400" dirty="0" smtClean="0"/>
              <a:t>我们算出一种装备带来的收益期望</a:t>
            </a:r>
            <a:r>
              <a:rPr lang="en-US" altLang="zh-CN" sz="2400" dirty="0" smtClean="0"/>
              <a:t>,</a:t>
            </a:r>
            <a:r>
              <a:rPr lang="zh-CN" altLang="en-US" sz="2400" dirty="0" smtClean="0"/>
              <a:t>乘</a:t>
            </a:r>
            <a:r>
              <a:rPr lang="en-US" altLang="zh-CN" sz="2400" dirty="0" smtClean="0"/>
              <a:t>k</a:t>
            </a:r>
            <a:r>
              <a:rPr lang="zh-CN" altLang="en-US" sz="2400" dirty="0" smtClean="0"/>
              <a:t>即可</a:t>
            </a:r>
            <a:r>
              <a:rPr lang="en-US" altLang="zh-CN" sz="2400" dirty="0" smtClean="0"/>
              <a:t>.</a:t>
            </a:r>
            <a:r>
              <a:rPr lang="zh-CN" altLang="en-US" sz="2400" dirty="0" smtClean="0"/>
              <a:t>每胜利一场</a:t>
            </a:r>
            <a:r>
              <a:rPr lang="en-US" altLang="zh-CN" sz="2400" dirty="0" smtClean="0"/>
              <a:t>,</a:t>
            </a:r>
            <a:r>
              <a:rPr lang="zh-CN" altLang="en-US" sz="2400" dirty="0" smtClean="0"/>
              <a:t>掉落这种装备的概率是</a:t>
            </a:r>
            <a:r>
              <a:rPr lang="en-US" altLang="zh-CN" sz="2400" dirty="0" smtClean="0"/>
              <a:t>1/k</a:t>
            </a:r>
            <a:endParaRPr lang="en-US" altLang="zh-CN" sz="2400" dirty="0" smtClean="0"/>
          </a:p>
          <a:p>
            <a:r>
              <a:rPr lang="zh-CN" altLang="en-US" sz="2400" dirty="0" smtClean="0"/>
              <a:t>定义</a:t>
            </a:r>
            <a:r>
              <a:rPr lang="en-US" altLang="zh-CN" sz="2400" dirty="0" smtClean="0"/>
              <a:t>f[</a:t>
            </a:r>
            <a:r>
              <a:rPr lang="en-US" altLang="zh-CN" sz="2400" dirty="0" err="1" smtClean="0"/>
              <a:t>i</a:t>
            </a:r>
            <a:r>
              <a:rPr lang="en-US" altLang="zh-CN" sz="2400" dirty="0" smtClean="0"/>
              <a:t>][j]</a:t>
            </a:r>
            <a:r>
              <a:rPr lang="zh-CN" altLang="en-US" sz="2400" dirty="0" smtClean="0"/>
              <a:t>表示已经进行了</a:t>
            </a:r>
            <a:r>
              <a:rPr lang="en-US" altLang="zh-CN" sz="2400" dirty="0" err="1" smtClean="0"/>
              <a:t>i</a:t>
            </a:r>
            <a:r>
              <a:rPr lang="zh-CN" altLang="en-US" sz="2400" dirty="0" smtClean="0"/>
              <a:t>场战斗</a:t>
            </a:r>
            <a:r>
              <a:rPr lang="en-US" altLang="zh-CN" sz="2400" dirty="0" smtClean="0"/>
              <a:t>,</a:t>
            </a:r>
            <a:r>
              <a:rPr lang="zh-CN" altLang="en-US" sz="2400" dirty="0" smtClean="0"/>
              <a:t>这种装备的等级是</a:t>
            </a:r>
            <a:r>
              <a:rPr lang="en-US" altLang="zh-CN" sz="2400" dirty="0" smtClean="0"/>
              <a:t>j</a:t>
            </a:r>
            <a:r>
              <a:rPr lang="zh-CN" altLang="en-US" sz="2400" dirty="0" smtClean="0"/>
              <a:t>的概率</a:t>
            </a:r>
            <a:r>
              <a:rPr lang="en-US" altLang="zh-CN" sz="2400" dirty="0" smtClean="0"/>
              <a:t>.f[0][1]=1.0</a:t>
            </a:r>
            <a:endParaRPr lang="en-US" altLang="zh-CN" sz="2400" dirty="0" smtClean="0"/>
          </a:p>
          <a:p>
            <a:r>
              <a:rPr lang="zh-CN" altLang="en-US" sz="2400" dirty="0" smtClean="0"/>
              <a:t>我们使用期望的线性性计算期望</a:t>
            </a:r>
            <a:r>
              <a:rPr lang="en-US" altLang="zh-CN" sz="2400" dirty="0" smtClean="0"/>
              <a:t>.</a:t>
            </a:r>
            <a:endParaRPr lang="en-US" altLang="zh-CN" sz="2400" dirty="0" smtClean="0"/>
          </a:p>
          <a:p>
            <a:r>
              <a:rPr lang="zh-CN" altLang="en-US" sz="2400" dirty="0" smtClean="0"/>
              <a:t>这种装备在</a:t>
            </a:r>
            <a:r>
              <a:rPr lang="en-US" altLang="zh-CN" sz="2400" dirty="0" smtClean="0"/>
              <a:t>n</a:t>
            </a:r>
            <a:r>
              <a:rPr lang="zh-CN" altLang="en-US" sz="2400" dirty="0" smtClean="0"/>
              <a:t>场战斗后带来的收益期望</a:t>
            </a:r>
            <a:r>
              <a:rPr lang="en-US" altLang="zh-CN" sz="2400" dirty="0" smtClean="0"/>
              <a:t>=(</a:t>
            </a:r>
            <a:r>
              <a:rPr lang="zh-CN" altLang="en-US" sz="2400" dirty="0" smtClean="0"/>
              <a:t>这种装备在第</a:t>
            </a:r>
            <a:r>
              <a:rPr lang="en-US" altLang="zh-CN" sz="2400" dirty="0" smtClean="0"/>
              <a:t>1</a:t>
            </a:r>
            <a:r>
              <a:rPr lang="zh-CN" altLang="en-US" sz="2400" dirty="0" smtClean="0"/>
              <a:t>场战斗时带来的收益期望</a:t>
            </a:r>
            <a:r>
              <a:rPr lang="en-US" altLang="zh-CN" sz="2400" dirty="0" smtClean="0"/>
              <a:t>)+(</a:t>
            </a:r>
            <a:r>
              <a:rPr lang="zh-CN" altLang="en-US" sz="2400" dirty="0" smtClean="0"/>
              <a:t>在第</a:t>
            </a:r>
            <a:r>
              <a:rPr lang="en-US" altLang="zh-CN" sz="2400" dirty="0" smtClean="0"/>
              <a:t>2</a:t>
            </a:r>
            <a:r>
              <a:rPr lang="zh-CN" altLang="en-US" sz="2400" dirty="0" smtClean="0"/>
              <a:t>场战斗时带来的收益期望</a:t>
            </a:r>
            <a:r>
              <a:rPr lang="en-US" altLang="zh-CN" sz="2400" dirty="0" smtClean="0"/>
              <a:t>)+…+(</a:t>
            </a:r>
            <a:r>
              <a:rPr lang="zh-CN" altLang="en-US" sz="2400" dirty="0" smtClean="0"/>
              <a:t>在最后一场战斗时带来的收益期望</a:t>
            </a:r>
            <a:r>
              <a:rPr lang="en-US" altLang="zh-CN" sz="2400" dirty="0" smtClean="0"/>
              <a:t>)</a:t>
            </a:r>
            <a:endParaRPr lang="en-US" altLang="zh-CN" sz="2400" dirty="0" smtClean="0"/>
          </a:p>
          <a:p>
            <a:r>
              <a:rPr lang="zh-CN" altLang="en-US" sz="2400" dirty="0" smtClean="0"/>
              <a:t>在第</a:t>
            </a:r>
            <a:r>
              <a:rPr lang="en-US" altLang="zh-CN" sz="2400" dirty="0" smtClean="0"/>
              <a:t>1</a:t>
            </a:r>
            <a:r>
              <a:rPr lang="zh-CN" altLang="en-US" sz="2400" dirty="0" smtClean="0"/>
              <a:t>场战斗时</a:t>
            </a:r>
            <a:r>
              <a:rPr lang="en-US" altLang="zh-CN" sz="2400" dirty="0" smtClean="0"/>
              <a:t>,</a:t>
            </a:r>
            <a:r>
              <a:rPr lang="zh-CN" altLang="en-US" sz="2400" dirty="0" smtClean="0"/>
              <a:t>等级一定是</a:t>
            </a:r>
            <a:r>
              <a:rPr lang="en-US" altLang="zh-CN" sz="2400" dirty="0" smtClean="0"/>
              <a:t>1,</a:t>
            </a:r>
            <a:r>
              <a:rPr lang="zh-CN" altLang="en-US" sz="2400" dirty="0" smtClean="0"/>
              <a:t>如果带来收益</a:t>
            </a:r>
            <a:r>
              <a:rPr lang="en-US" altLang="zh-CN" sz="2400" dirty="0" smtClean="0"/>
              <a:t>,</a:t>
            </a:r>
            <a:r>
              <a:rPr lang="zh-CN" altLang="en-US" sz="2400" dirty="0" smtClean="0"/>
              <a:t>首先需要掉落这种装备</a:t>
            </a:r>
            <a:r>
              <a:rPr lang="en-US" altLang="zh-CN" sz="2400" dirty="0" smtClean="0"/>
              <a:t>,</a:t>
            </a:r>
            <a:r>
              <a:rPr lang="zh-CN" altLang="en-US" sz="2400" dirty="0" smtClean="0"/>
              <a:t>所以要乘一个</a:t>
            </a:r>
            <a:r>
              <a:rPr lang="en-US" altLang="zh-CN" sz="2400" dirty="0" smtClean="0"/>
              <a:t>1/k</a:t>
            </a:r>
            <a:r>
              <a:rPr lang="zh-CN" altLang="en-US" sz="2400" dirty="0" smtClean="0"/>
              <a:t>的概率</a:t>
            </a:r>
            <a:r>
              <a:rPr lang="en-US" altLang="zh-CN" sz="2400" dirty="0" smtClean="0"/>
              <a:t>.</a:t>
            </a:r>
            <a:r>
              <a:rPr lang="zh-CN" altLang="en-US" sz="2400" dirty="0" smtClean="0"/>
              <a:t>而且无论掉落的是</a:t>
            </a:r>
            <a:r>
              <a:rPr lang="en-US" altLang="zh-CN" sz="2400" dirty="0" smtClean="0"/>
              <a:t>1</a:t>
            </a:r>
            <a:r>
              <a:rPr lang="zh-CN" altLang="en-US" sz="2400" dirty="0" smtClean="0"/>
              <a:t>级还是</a:t>
            </a:r>
            <a:r>
              <a:rPr lang="en-US" altLang="zh-CN" sz="2400" dirty="0" smtClean="0"/>
              <a:t>2</a:t>
            </a:r>
            <a:r>
              <a:rPr lang="zh-CN" altLang="en-US" sz="2400" dirty="0" smtClean="0"/>
              <a:t>级</a:t>
            </a:r>
            <a:r>
              <a:rPr lang="en-US" altLang="zh-CN" sz="2400" dirty="0" smtClean="0"/>
              <a:t>,</a:t>
            </a:r>
            <a:r>
              <a:rPr lang="zh-CN" altLang="en-US" sz="2400" dirty="0" smtClean="0"/>
              <a:t>带来的收益都是</a:t>
            </a:r>
            <a:r>
              <a:rPr lang="en-US" altLang="zh-CN" sz="2400" dirty="0" smtClean="0"/>
              <a:t>1,</a:t>
            </a:r>
            <a:r>
              <a:rPr lang="zh-CN" altLang="en-US" sz="2400" dirty="0" smtClean="0"/>
              <a:t>因此在第</a:t>
            </a:r>
            <a:r>
              <a:rPr lang="en-US" altLang="zh-CN" sz="2400" dirty="0" smtClean="0"/>
              <a:t>1</a:t>
            </a:r>
            <a:r>
              <a:rPr lang="zh-CN" altLang="en-US" sz="2400" dirty="0" smtClean="0"/>
              <a:t>场战斗时收益的期望是</a:t>
            </a:r>
            <a:r>
              <a:rPr lang="en-US" altLang="zh-CN" sz="2400" dirty="0" smtClean="0"/>
              <a:t>1/k</a:t>
            </a:r>
            <a:br>
              <a:rPr lang="en-US" altLang="zh-CN" sz="2400" dirty="0" smtClean="0"/>
            </a:br>
            <a:endParaRPr lang="en-US" altLang="zh-CN" sz="2400" dirty="0" smtClean="0"/>
          </a:p>
          <a:p>
            <a:endParaRPr lang="zh-CN" altLang="en-US" sz="2400"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Codeforces</a:t>
            </a:r>
            <a:r>
              <a:rPr lang="en-US" altLang="zh-CN" dirty="0" smtClean="0"/>
              <a:t> 464D World of </a:t>
            </a:r>
            <a:r>
              <a:rPr lang="en-US" altLang="zh-CN" dirty="0" err="1" smtClean="0"/>
              <a:t>Darkraft</a:t>
            </a:r>
            <a:r>
              <a:rPr lang="en-US" altLang="zh-CN" dirty="0" smtClean="0"/>
              <a:t> - 2 </a:t>
            </a:r>
            <a:endParaRPr lang="zh-CN" altLang="en-US" dirty="0"/>
          </a:p>
        </p:txBody>
      </p:sp>
      <p:sp>
        <p:nvSpPr>
          <p:cNvPr id="3" name="内容占位符 2"/>
          <p:cNvSpPr>
            <a:spLocks noGrp="1"/>
          </p:cNvSpPr>
          <p:nvPr>
            <p:ph sz="quarter" idx="1"/>
          </p:nvPr>
        </p:nvSpPr>
        <p:spPr/>
        <p:txBody>
          <a:bodyPr>
            <a:normAutofit/>
          </a:bodyPr>
          <a:lstStyle/>
          <a:p>
            <a:r>
              <a:rPr lang="zh-CN" altLang="en-US" sz="2400" dirty="0" smtClean="0"/>
              <a:t>在将要进行第</a:t>
            </a:r>
            <a:r>
              <a:rPr lang="en-US" altLang="zh-CN" sz="2400" dirty="0" err="1" smtClean="0"/>
              <a:t>i</a:t>
            </a:r>
            <a:r>
              <a:rPr lang="zh-CN" altLang="en-US" sz="2400" dirty="0" smtClean="0"/>
              <a:t>场战斗时</a:t>
            </a:r>
            <a:r>
              <a:rPr lang="en-US" altLang="zh-CN" sz="2400" dirty="0" smtClean="0"/>
              <a:t>,</a:t>
            </a:r>
            <a:r>
              <a:rPr lang="zh-CN" altLang="en-US" sz="2400" dirty="0" smtClean="0"/>
              <a:t>装备等级为</a:t>
            </a:r>
            <a:r>
              <a:rPr lang="en-US" altLang="zh-CN" sz="2400" dirty="0" smtClean="0"/>
              <a:t>j</a:t>
            </a:r>
            <a:r>
              <a:rPr lang="zh-CN" altLang="en-US" sz="2400" dirty="0" smtClean="0"/>
              <a:t>的概率为</a:t>
            </a:r>
            <a:r>
              <a:rPr lang="en-US" altLang="zh-CN" sz="2400" dirty="0" smtClean="0"/>
              <a:t>f[i-1][j]</a:t>
            </a:r>
            <a:endParaRPr lang="en-US" altLang="zh-CN" sz="2400" dirty="0" smtClean="0"/>
          </a:p>
          <a:p>
            <a:r>
              <a:rPr lang="zh-CN" altLang="en-US" sz="2400" dirty="0" smtClean="0"/>
              <a:t>我们算出装备等级为</a:t>
            </a:r>
            <a:r>
              <a:rPr lang="en-US" altLang="zh-CN" sz="2400" dirty="0" smtClean="0"/>
              <a:t>j</a:t>
            </a:r>
            <a:r>
              <a:rPr lang="zh-CN" altLang="en-US" sz="2400" dirty="0" smtClean="0"/>
              <a:t>时第</a:t>
            </a:r>
            <a:r>
              <a:rPr lang="en-US" altLang="zh-CN" sz="2400" dirty="0" err="1" smtClean="0"/>
              <a:t>i</a:t>
            </a:r>
            <a:r>
              <a:rPr lang="zh-CN" altLang="en-US" sz="2400" dirty="0" smtClean="0"/>
              <a:t>场战斗的收益期望</a:t>
            </a:r>
            <a:r>
              <a:rPr lang="en-US" altLang="zh-CN" sz="2400" dirty="0" smtClean="0"/>
              <a:t>E(</a:t>
            </a:r>
            <a:r>
              <a:rPr lang="en-US" altLang="zh-CN" sz="2400" dirty="0" err="1" smtClean="0"/>
              <a:t>i,j</a:t>
            </a:r>
            <a:r>
              <a:rPr lang="en-US" altLang="zh-CN" sz="2400" dirty="0" smtClean="0"/>
              <a:t>),</a:t>
            </a:r>
            <a:r>
              <a:rPr lang="zh-CN" altLang="en-US" sz="2400" dirty="0" smtClean="0"/>
              <a:t>乘上对应的概率</a:t>
            </a:r>
            <a:r>
              <a:rPr lang="en-US" altLang="zh-CN" sz="2400" dirty="0" smtClean="0"/>
              <a:t>f[i-1][j],</a:t>
            </a:r>
            <a:r>
              <a:rPr lang="zh-CN" altLang="en-US" sz="2400" dirty="0" smtClean="0"/>
              <a:t>对所有的</a:t>
            </a:r>
            <a:r>
              <a:rPr lang="en-US" altLang="zh-CN" sz="2400" dirty="0" smtClean="0"/>
              <a:t>j</a:t>
            </a:r>
            <a:r>
              <a:rPr lang="zh-CN" altLang="en-US" sz="2400" dirty="0" smtClean="0"/>
              <a:t>把</a:t>
            </a:r>
            <a:r>
              <a:rPr lang="en-US" altLang="zh-CN" sz="2400" dirty="0" smtClean="0"/>
              <a:t>E(</a:t>
            </a:r>
            <a:r>
              <a:rPr lang="en-US" altLang="zh-CN" sz="2400" dirty="0" err="1" smtClean="0"/>
              <a:t>i,j</a:t>
            </a:r>
            <a:r>
              <a:rPr lang="en-US" altLang="zh-CN" sz="2400" dirty="0" smtClean="0"/>
              <a:t>)*f[i-1][j]</a:t>
            </a:r>
            <a:r>
              <a:rPr lang="zh-CN" altLang="en-US" sz="2400" dirty="0" smtClean="0"/>
              <a:t>求和</a:t>
            </a:r>
            <a:r>
              <a:rPr lang="en-US" altLang="zh-CN" sz="2400" dirty="0" smtClean="0"/>
              <a:t>,</a:t>
            </a:r>
            <a:r>
              <a:rPr lang="zh-CN" altLang="en-US" sz="2400" dirty="0" smtClean="0"/>
              <a:t>就得到了第</a:t>
            </a:r>
            <a:r>
              <a:rPr lang="en-US" altLang="zh-CN" sz="2400" dirty="0" err="1" smtClean="0"/>
              <a:t>i</a:t>
            </a:r>
            <a:r>
              <a:rPr lang="zh-CN" altLang="en-US" sz="2400" dirty="0" smtClean="0"/>
              <a:t>场战斗的期望收益</a:t>
            </a:r>
            <a:r>
              <a:rPr lang="en-US" altLang="zh-CN" sz="2400" dirty="0" smtClean="0"/>
              <a:t>.</a:t>
            </a:r>
            <a:endParaRPr lang="en-US" altLang="zh-CN" sz="2400" dirty="0" smtClean="0"/>
          </a:p>
          <a:p>
            <a:r>
              <a:rPr lang="en-US" altLang="zh-CN" sz="2400" dirty="0" smtClean="0"/>
              <a:t>E(</a:t>
            </a:r>
            <a:r>
              <a:rPr lang="en-US" altLang="zh-CN" sz="2400" dirty="0" err="1" smtClean="0"/>
              <a:t>i,j</a:t>
            </a:r>
            <a:r>
              <a:rPr lang="en-US" altLang="zh-CN" sz="2400" dirty="0" smtClean="0"/>
              <a:t>):</a:t>
            </a:r>
            <a:endParaRPr lang="en-US" altLang="zh-CN" sz="2400" dirty="0" smtClean="0"/>
          </a:p>
          <a:p>
            <a:pPr lvl="1"/>
            <a:r>
              <a:rPr lang="zh-CN" altLang="en-US" sz="2400" dirty="0" smtClean="0"/>
              <a:t>首先需要掉落这种装备</a:t>
            </a:r>
            <a:r>
              <a:rPr lang="en-US" altLang="zh-CN" sz="2400" dirty="0" smtClean="0"/>
              <a:t>,</a:t>
            </a:r>
            <a:r>
              <a:rPr lang="zh-CN" altLang="en-US" sz="2400" dirty="0" smtClean="0"/>
              <a:t>乘</a:t>
            </a:r>
            <a:r>
              <a:rPr lang="en-US" altLang="zh-CN" sz="2400" dirty="0" smtClean="0"/>
              <a:t>1/k</a:t>
            </a:r>
            <a:r>
              <a:rPr lang="zh-CN" altLang="en-US" sz="2400" dirty="0" smtClean="0"/>
              <a:t>的概率</a:t>
            </a:r>
            <a:endParaRPr lang="en-US" altLang="zh-CN" sz="2400" dirty="0" smtClean="0"/>
          </a:p>
          <a:p>
            <a:pPr lvl="1"/>
            <a:r>
              <a:rPr lang="zh-CN" altLang="en-US" sz="2400" dirty="0" smtClean="0"/>
              <a:t>等级在</a:t>
            </a:r>
            <a:r>
              <a:rPr lang="en-US" altLang="zh-CN" sz="2400" dirty="0" smtClean="0"/>
              <a:t>[1,j+1]</a:t>
            </a:r>
            <a:r>
              <a:rPr lang="zh-CN" altLang="en-US" sz="2400" dirty="0" smtClean="0"/>
              <a:t>均匀分布</a:t>
            </a:r>
            <a:r>
              <a:rPr lang="en-US" altLang="zh-CN" sz="2400" dirty="0" smtClean="0"/>
              <a:t>,</a:t>
            </a:r>
            <a:r>
              <a:rPr lang="zh-CN" altLang="en-US" sz="2400" dirty="0" smtClean="0"/>
              <a:t>收益分别是</a:t>
            </a:r>
            <a:r>
              <a:rPr lang="en-US" altLang="zh-CN" sz="2400" dirty="0" smtClean="0"/>
              <a:t>1,2,3,…j-1,j,j</a:t>
            </a:r>
            <a:endParaRPr lang="en-US" altLang="zh-CN" sz="2400" dirty="0" smtClean="0"/>
          </a:p>
          <a:p>
            <a:pPr lvl="1"/>
            <a:r>
              <a:rPr lang="zh-CN" altLang="en-US" sz="2400" dirty="0" smtClean="0"/>
              <a:t>把这些收益等差数列求和</a:t>
            </a:r>
            <a:r>
              <a:rPr lang="en-US" altLang="zh-CN" sz="2400" dirty="0" smtClean="0"/>
              <a:t>(</a:t>
            </a:r>
            <a:r>
              <a:rPr lang="zh-CN" altLang="en-US" sz="2400" dirty="0" smtClean="0"/>
              <a:t>注意最后两项一样</a:t>
            </a:r>
            <a:r>
              <a:rPr lang="en-US" altLang="zh-CN" sz="2400" dirty="0" smtClean="0"/>
              <a:t>),</a:t>
            </a:r>
            <a:r>
              <a:rPr lang="zh-CN" altLang="en-US" sz="2400" dirty="0" smtClean="0"/>
              <a:t>除以</a:t>
            </a:r>
            <a:r>
              <a:rPr lang="en-US" altLang="zh-CN" sz="2400" dirty="0" smtClean="0"/>
              <a:t>(j+1),</a:t>
            </a:r>
            <a:r>
              <a:rPr lang="zh-CN" altLang="en-US" sz="2400" dirty="0" smtClean="0"/>
              <a:t>乘</a:t>
            </a:r>
            <a:r>
              <a:rPr lang="en-US" altLang="zh-CN" sz="2400" dirty="0" smtClean="0"/>
              <a:t>1/k</a:t>
            </a:r>
            <a:r>
              <a:rPr lang="zh-CN" altLang="en-US" sz="2400" dirty="0" smtClean="0"/>
              <a:t>的概率即可</a:t>
            </a:r>
            <a:r>
              <a:rPr lang="en-US" altLang="zh-CN" sz="2400" dirty="0" smtClean="0"/>
              <a:t>.</a:t>
            </a:r>
            <a:endParaRPr lang="en-US" altLang="zh-CN" sz="2400" dirty="0" smtClean="0"/>
          </a:p>
          <a:p>
            <a:r>
              <a:rPr lang="en-US" altLang="zh-CN" sz="2400" dirty="0" smtClean="0"/>
              <a:t>F[</a:t>
            </a:r>
            <a:r>
              <a:rPr lang="en-US" altLang="zh-CN" sz="2400" dirty="0" err="1" smtClean="0"/>
              <a:t>i</a:t>
            </a:r>
            <a:r>
              <a:rPr lang="en-US" altLang="zh-CN" sz="2400" dirty="0" smtClean="0"/>
              <a:t>][j]:</a:t>
            </a:r>
            <a:endParaRPr lang="en-US" altLang="zh-CN" sz="2400" dirty="0" smtClean="0"/>
          </a:p>
          <a:p>
            <a:pPr lvl="1"/>
            <a:r>
              <a:rPr lang="en-US" altLang="zh-CN" sz="2100" dirty="0" smtClean="0"/>
              <a:t>F[</a:t>
            </a:r>
            <a:r>
              <a:rPr lang="en-US" altLang="zh-CN" sz="2100" dirty="0" err="1" smtClean="0"/>
              <a:t>i</a:t>
            </a:r>
            <a:r>
              <a:rPr lang="en-US" altLang="zh-CN" sz="2100" dirty="0" smtClean="0"/>
              <a:t>][j]=F[i-1][j]*((k-1)/k+(1/k)*j/(j+1))+F[i-1][j-1]*(1/k)*(1/j)</a:t>
            </a:r>
            <a:endParaRPr lang="zh-CN" altLang="en-US" sz="2100"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Codeforces</a:t>
            </a:r>
            <a:r>
              <a:rPr lang="en-US" altLang="zh-CN" dirty="0" smtClean="0"/>
              <a:t> 464D World of </a:t>
            </a:r>
            <a:r>
              <a:rPr lang="en-US" altLang="zh-CN" dirty="0" err="1" smtClean="0"/>
              <a:t>Darkraft</a:t>
            </a:r>
            <a:r>
              <a:rPr lang="en-US" altLang="zh-CN" dirty="0" smtClean="0"/>
              <a:t> - 2 </a:t>
            </a:r>
            <a:endParaRPr lang="zh-CN" altLang="en-US" dirty="0"/>
          </a:p>
        </p:txBody>
      </p:sp>
      <p:sp>
        <p:nvSpPr>
          <p:cNvPr id="3" name="内容占位符 2"/>
          <p:cNvSpPr>
            <a:spLocks noGrp="1"/>
          </p:cNvSpPr>
          <p:nvPr>
            <p:ph sz="quarter" idx="1"/>
          </p:nvPr>
        </p:nvSpPr>
        <p:spPr/>
        <p:txBody>
          <a:bodyPr>
            <a:normAutofit lnSpcReduction="10000"/>
          </a:bodyPr>
          <a:lstStyle/>
          <a:p>
            <a:r>
              <a:rPr lang="zh-CN" altLang="en-US" sz="2400" dirty="0" smtClean="0"/>
              <a:t>现在我们得到的复杂度是</a:t>
            </a:r>
            <a:r>
              <a:rPr lang="en-US" altLang="zh-CN" sz="2400" dirty="0" smtClean="0"/>
              <a:t>O(n^2),</a:t>
            </a:r>
            <a:r>
              <a:rPr lang="zh-CN" altLang="en-US" sz="2400" dirty="0" smtClean="0"/>
              <a:t>胜利</a:t>
            </a:r>
            <a:r>
              <a:rPr lang="en-US" altLang="zh-CN" sz="2400" dirty="0" smtClean="0"/>
              <a:t>n</a:t>
            </a:r>
            <a:r>
              <a:rPr lang="zh-CN" altLang="en-US" sz="2400" dirty="0" smtClean="0"/>
              <a:t>次</a:t>
            </a:r>
            <a:r>
              <a:rPr lang="en-US" altLang="zh-CN" sz="2400" dirty="0" smtClean="0"/>
              <a:t>,</a:t>
            </a:r>
            <a:r>
              <a:rPr lang="zh-CN" altLang="en-US" sz="2400" dirty="0" smtClean="0"/>
              <a:t>有</a:t>
            </a:r>
            <a:r>
              <a:rPr lang="en-US" altLang="zh-CN" sz="2400" dirty="0" smtClean="0"/>
              <a:t>n</a:t>
            </a:r>
            <a:r>
              <a:rPr lang="zh-CN" altLang="en-US" sz="2400" dirty="0" smtClean="0"/>
              <a:t>种可能的等级</a:t>
            </a:r>
            <a:r>
              <a:rPr lang="en-US" altLang="zh-CN" sz="2400" dirty="0" smtClean="0"/>
              <a:t>.</a:t>
            </a:r>
            <a:endParaRPr lang="en-US" altLang="zh-CN" sz="2400" dirty="0" smtClean="0"/>
          </a:p>
          <a:p>
            <a:r>
              <a:rPr lang="zh-CN" altLang="en-US" sz="2400" dirty="0" smtClean="0"/>
              <a:t>显然可以忽略一些无用状态</a:t>
            </a:r>
            <a:r>
              <a:rPr lang="en-US" altLang="zh-CN" sz="2400" dirty="0" smtClean="0"/>
              <a:t>,</a:t>
            </a:r>
            <a:r>
              <a:rPr lang="zh-CN" altLang="en-US" sz="2400" dirty="0" smtClean="0"/>
              <a:t>比如胜利了</a:t>
            </a:r>
            <a:r>
              <a:rPr lang="en-US" altLang="zh-CN" sz="2400" dirty="0" err="1" smtClean="0"/>
              <a:t>i</a:t>
            </a:r>
            <a:r>
              <a:rPr lang="zh-CN" altLang="en-US" sz="2400" dirty="0" smtClean="0"/>
              <a:t>次时等级不可能大于</a:t>
            </a:r>
            <a:r>
              <a:rPr lang="en-US" altLang="zh-CN" sz="2400" dirty="0" smtClean="0"/>
              <a:t>i+1,</a:t>
            </a:r>
            <a:r>
              <a:rPr lang="zh-CN" altLang="en-US" sz="2400" dirty="0" smtClean="0"/>
              <a:t>但这还不够</a:t>
            </a:r>
            <a:r>
              <a:rPr lang="en-US" altLang="zh-CN" sz="2400" dirty="0" smtClean="0"/>
              <a:t>.</a:t>
            </a:r>
            <a:endParaRPr lang="en-US" altLang="zh-CN" sz="2400" dirty="0" smtClean="0"/>
          </a:p>
          <a:p>
            <a:r>
              <a:rPr lang="zh-CN" altLang="en-US" sz="2400" dirty="0" smtClean="0"/>
              <a:t>一个条件</a:t>
            </a:r>
            <a:r>
              <a:rPr lang="en-US" altLang="zh-CN" sz="2400" dirty="0" smtClean="0"/>
              <a:t>:</a:t>
            </a:r>
            <a:r>
              <a:rPr lang="en-US" sz="2400" i="1" dirty="0" smtClean="0"/>
              <a:t>﻿</a:t>
            </a:r>
            <a:r>
              <a:rPr lang="en-US" sz="1600" i="1" dirty="0" smtClean="0"/>
              <a:t>Print a real number — expected number of earned coins after victory over n monsters. The answer is considered correct if its relative or absolute error doesn't exceed 10</a:t>
            </a:r>
            <a:r>
              <a:rPr lang="en-US" sz="1600" i="1" baseline="30000" dirty="0" smtClean="0"/>
              <a:t> - 9</a:t>
            </a:r>
            <a:r>
              <a:rPr lang="en-US" sz="1600" i="1" dirty="0" smtClean="0"/>
              <a:t>.</a:t>
            </a:r>
            <a:endParaRPr lang="en-US" sz="1600" i="1" dirty="0" smtClean="0"/>
          </a:p>
          <a:p>
            <a:r>
              <a:rPr lang="zh-CN" altLang="en-US" sz="2400" dirty="0" smtClean="0"/>
              <a:t>考虑这个</a:t>
            </a:r>
            <a:r>
              <a:rPr lang="en-US" altLang="zh-CN" sz="2400" dirty="0" smtClean="0"/>
              <a:t>DP</a:t>
            </a:r>
            <a:r>
              <a:rPr lang="zh-CN" altLang="en-US" sz="2400" dirty="0" smtClean="0"/>
              <a:t>的过程</a:t>
            </a:r>
            <a:r>
              <a:rPr lang="en-US" altLang="zh-CN" sz="2400" dirty="0" smtClean="0"/>
              <a:t>.</a:t>
            </a:r>
            <a:r>
              <a:rPr lang="zh-CN" altLang="en-US" sz="2400" dirty="0" smtClean="0"/>
              <a:t>可以发现到了后面某些项的数值会非常小</a:t>
            </a:r>
            <a:r>
              <a:rPr lang="en-US" altLang="zh-CN" sz="2400" dirty="0" smtClean="0"/>
              <a:t>.</a:t>
            </a:r>
            <a:r>
              <a:rPr lang="zh-CN" altLang="en-US" sz="2400" dirty="0" smtClean="0"/>
              <a:t>比如</a:t>
            </a:r>
            <a:r>
              <a:rPr lang="en-US" altLang="zh-CN" sz="2400" dirty="0" smtClean="0"/>
              <a:t>:</a:t>
            </a:r>
            <a:r>
              <a:rPr lang="en-US" altLang="zh-CN" sz="2400" dirty="0" err="1" smtClean="0"/>
              <a:t>i</a:t>
            </a:r>
            <a:r>
              <a:rPr lang="zh-CN" altLang="en-US" sz="2400" dirty="0" smtClean="0"/>
              <a:t>场胜利之后</a:t>
            </a:r>
            <a:r>
              <a:rPr lang="en-US" altLang="zh-CN" sz="2400" dirty="0" smtClean="0"/>
              <a:t>,</a:t>
            </a:r>
            <a:r>
              <a:rPr lang="zh-CN" altLang="en-US" sz="2400" dirty="0" smtClean="0"/>
              <a:t>等级恰好达到</a:t>
            </a:r>
            <a:r>
              <a:rPr lang="en-US" altLang="zh-CN" sz="2400" dirty="0" smtClean="0"/>
              <a:t>i+1</a:t>
            </a:r>
            <a:r>
              <a:rPr lang="zh-CN" altLang="en-US" sz="2400" dirty="0" smtClean="0"/>
              <a:t>的概率</a:t>
            </a:r>
            <a:r>
              <a:rPr lang="en-US" altLang="zh-CN" sz="2400" dirty="0" smtClean="0"/>
              <a:t>.</a:t>
            </a:r>
            <a:r>
              <a:rPr lang="zh-CN" altLang="en-US" sz="2400" dirty="0" smtClean="0"/>
              <a:t>这要求每一次都掉落这一种装备</a:t>
            </a:r>
            <a:r>
              <a:rPr lang="en-US" altLang="zh-CN" sz="2400" dirty="0" smtClean="0"/>
              <a:t>,</a:t>
            </a:r>
            <a:r>
              <a:rPr lang="zh-CN" altLang="en-US" sz="2400" dirty="0" smtClean="0"/>
              <a:t>而且每次都能够升级</a:t>
            </a:r>
            <a:r>
              <a:rPr lang="en-US" altLang="zh-CN" sz="2400" dirty="0" smtClean="0"/>
              <a:t>,</a:t>
            </a:r>
            <a:r>
              <a:rPr lang="zh-CN" altLang="en-US" sz="2400" dirty="0" smtClean="0"/>
              <a:t>概率是</a:t>
            </a:r>
            <a:r>
              <a:rPr lang="en-US" altLang="zh-CN" sz="2400" dirty="0" smtClean="0"/>
              <a:t>…1/(i+1)! * (1/k)</a:t>
            </a:r>
            <a:r>
              <a:rPr lang="en-US" altLang="zh-CN" sz="2400" baseline="30000" dirty="0" err="1" smtClean="0"/>
              <a:t>i</a:t>
            </a:r>
            <a:endParaRPr lang="en-US" altLang="zh-CN" sz="2400" baseline="30000" dirty="0" smtClean="0"/>
          </a:p>
          <a:p>
            <a:r>
              <a:rPr lang="zh-CN" altLang="en-US" sz="2400" dirty="0" smtClean="0"/>
              <a:t>这样的状态数目非常多</a:t>
            </a:r>
            <a:r>
              <a:rPr lang="en-US" altLang="zh-CN" sz="2400" dirty="0" smtClean="0"/>
              <a:t>,</a:t>
            </a:r>
            <a:r>
              <a:rPr lang="zh-CN" altLang="en-US" sz="2400" dirty="0" smtClean="0"/>
              <a:t>以至于我们忽略这些状态就可以通过本题</a:t>
            </a:r>
            <a:r>
              <a:rPr lang="en-US" altLang="zh-CN" sz="2400" dirty="0" smtClean="0"/>
              <a:t>. </a:t>
            </a:r>
            <a:endParaRPr lang="en-US" altLang="zh-CN" sz="2400" dirty="0" smtClean="0"/>
          </a:p>
          <a:p>
            <a:r>
              <a:rPr lang="zh-CN" altLang="en-US" sz="2400" dirty="0" smtClean="0"/>
              <a:t>某些允许精度误差的题目</a:t>
            </a:r>
            <a:r>
              <a:rPr lang="en-US" altLang="zh-CN" sz="2400" dirty="0" smtClean="0"/>
              <a:t>,</a:t>
            </a:r>
            <a:r>
              <a:rPr lang="zh-CN" altLang="en-US" sz="2400" dirty="0" smtClean="0"/>
              <a:t>可以忽略对答案影响不大的项</a:t>
            </a:r>
            <a:r>
              <a:rPr lang="en-US" altLang="zh-CN" sz="2400" dirty="0" smtClean="0"/>
              <a:t>.</a:t>
            </a:r>
            <a:endParaRPr lang="en-US" altLang="zh-CN" sz="24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t>bzoj4300 </a:t>
            </a:r>
            <a:r>
              <a:rPr lang="zh-CN" altLang="en-US" dirty="0" smtClean="0"/>
              <a:t>绝世好</a:t>
            </a:r>
            <a:r>
              <a:rPr lang="en-US" altLang="zh-CN" dirty="0" smtClean="0"/>
              <a:t>(</a:t>
            </a:r>
            <a:r>
              <a:rPr lang="en-US" altLang="zh-CN" dirty="0" err="1" smtClean="0"/>
              <a:t>sb</a:t>
            </a:r>
            <a:r>
              <a:rPr lang="en-US" altLang="zh-CN" dirty="0" smtClean="0"/>
              <a:t>)</a:t>
            </a:r>
            <a:r>
              <a:rPr lang="zh-CN" altLang="en-US" dirty="0" smtClean="0"/>
              <a:t>题</a:t>
            </a:r>
            <a:endParaRPr lang="zh-CN" altLang="en-US" dirty="0"/>
          </a:p>
        </p:txBody>
      </p:sp>
      <p:sp>
        <p:nvSpPr>
          <p:cNvPr id="3" name="内容占位符 2"/>
          <p:cNvSpPr>
            <a:spLocks noGrp="1"/>
          </p:cNvSpPr>
          <p:nvPr>
            <p:ph sz="quarter" idx="1"/>
          </p:nvPr>
        </p:nvSpPr>
        <p:spPr/>
        <p:txBody>
          <a:bodyPr>
            <a:normAutofit/>
          </a:bodyPr>
          <a:lstStyle/>
          <a:p>
            <a:r>
              <a:rPr lang="zh-CN" altLang="en-US" sz="2400" dirty="0" smtClean="0"/>
              <a:t>给出一个长为</a:t>
            </a:r>
            <a:r>
              <a:rPr lang="en-US" altLang="zh-CN" sz="2400" dirty="0" smtClean="0"/>
              <a:t>n</a:t>
            </a:r>
            <a:r>
              <a:rPr lang="zh-CN" altLang="en-US" sz="2400" dirty="0" smtClean="0"/>
              <a:t>的整数序列</a:t>
            </a:r>
            <a:r>
              <a:rPr lang="en-US" altLang="zh-CN" sz="2400" dirty="0" smtClean="0"/>
              <a:t>a1…an,</a:t>
            </a:r>
            <a:r>
              <a:rPr lang="zh-CN" altLang="en-US" sz="2400" dirty="0" smtClean="0"/>
              <a:t>选出一个最长的子序列使得相邻两个元素位与运算后不为</a:t>
            </a:r>
            <a:r>
              <a:rPr lang="en-US" altLang="zh-CN" sz="2400" dirty="0" smtClean="0"/>
              <a:t>0.n&lt;=10</a:t>
            </a:r>
            <a:r>
              <a:rPr lang="en-US" altLang="zh-CN" sz="2400" baseline="30000" dirty="0" smtClean="0"/>
              <a:t>5</a:t>
            </a:r>
            <a:r>
              <a:rPr lang="en-US" altLang="zh-CN" sz="2400" dirty="0" smtClean="0"/>
              <a:t>,ai&lt;=2*10</a:t>
            </a:r>
            <a:r>
              <a:rPr lang="en-US" altLang="zh-CN" sz="2400" baseline="30000" dirty="0" smtClean="0"/>
              <a:t>9</a:t>
            </a:r>
            <a:endParaRPr lang="en-US" altLang="zh-CN" sz="2400" baseline="30000" dirty="0" smtClean="0"/>
          </a:p>
          <a:p>
            <a:r>
              <a:rPr lang="zh-CN" altLang="en-US" sz="2400" dirty="0" smtClean="0"/>
              <a:t>相信大家都能一眼秒出</a:t>
            </a:r>
            <a:r>
              <a:rPr lang="en-US" altLang="zh-CN" sz="2400" dirty="0" smtClean="0"/>
              <a:t>O(n^2)</a:t>
            </a:r>
            <a:r>
              <a:rPr lang="zh-CN" altLang="en-US" sz="2400" dirty="0" smtClean="0"/>
              <a:t>的暴力</a:t>
            </a:r>
            <a:r>
              <a:rPr lang="en-US" altLang="zh-CN" sz="2400" dirty="0" smtClean="0"/>
              <a:t>.</a:t>
            </a:r>
            <a:r>
              <a:rPr lang="zh-CN" altLang="en-US" sz="2400" dirty="0" smtClean="0"/>
              <a:t>如何优化</a:t>
            </a:r>
            <a:r>
              <a:rPr lang="en-US" altLang="zh-CN" sz="2400" dirty="0" smtClean="0"/>
              <a:t>?</a:t>
            </a:r>
            <a:endParaRPr lang="en-US" altLang="zh-CN" sz="2400" dirty="0" smtClean="0"/>
          </a:p>
          <a:p>
            <a:r>
              <a:rPr lang="zh-CN" altLang="en-US" sz="2400" dirty="0" smtClean="0"/>
              <a:t>这里我们考虑和树状数组优化</a:t>
            </a:r>
            <a:r>
              <a:rPr lang="en-US" altLang="zh-CN" sz="2400" dirty="0" smtClean="0"/>
              <a:t>LIS</a:t>
            </a:r>
            <a:r>
              <a:rPr lang="zh-CN" altLang="en-US" sz="2400" dirty="0" smtClean="0"/>
              <a:t>类似的一种思路</a:t>
            </a:r>
            <a:endParaRPr lang="en-US" altLang="zh-CN" sz="2400" dirty="0" smtClean="0"/>
          </a:p>
          <a:p>
            <a:r>
              <a:rPr lang="en-US" altLang="zh-CN" sz="2400" dirty="0" smtClean="0"/>
              <a:t>g[</a:t>
            </a:r>
            <a:r>
              <a:rPr lang="en-US" altLang="zh-CN" sz="2400" dirty="0" err="1" smtClean="0"/>
              <a:t>i</a:t>
            </a:r>
            <a:r>
              <a:rPr lang="en-US" altLang="zh-CN" sz="2400" dirty="0" smtClean="0"/>
              <a:t>]</a:t>
            </a:r>
            <a:r>
              <a:rPr lang="zh-CN" altLang="en-US" sz="2400" dirty="0" smtClean="0"/>
              <a:t>表示以第</a:t>
            </a:r>
            <a:r>
              <a:rPr lang="en-US" altLang="zh-CN" sz="2400" dirty="0" err="1" smtClean="0"/>
              <a:t>i</a:t>
            </a:r>
            <a:r>
              <a:rPr lang="zh-CN" altLang="en-US" sz="2400" dirty="0" smtClean="0"/>
              <a:t>位非</a:t>
            </a:r>
            <a:r>
              <a:rPr lang="en-US" altLang="zh-CN" sz="2400" dirty="0" smtClean="0"/>
              <a:t>0</a:t>
            </a:r>
            <a:r>
              <a:rPr lang="zh-CN" altLang="en-US" sz="2400" dirty="0" smtClean="0"/>
              <a:t>的数字结尾时最长的序列长度</a:t>
            </a:r>
            <a:r>
              <a:rPr lang="en-US" altLang="zh-CN" sz="2400" dirty="0" smtClean="0"/>
              <a:t>,</a:t>
            </a:r>
            <a:r>
              <a:rPr lang="zh-CN" altLang="en-US" sz="2400" dirty="0" smtClean="0"/>
              <a:t>相信大家接下来都会做了</a:t>
            </a:r>
            <a:r>
              <a:rPr lang="en-US" altLang="zh-CN" sz="2400" dirty="0" smtClean="0"/>
              <a:t>.</a:t>
            </a:r>
            <a:endParaRPr lang="en-US" altLang="zh-CN" sz="2400" dirty="0" smtClean="0"/>
          </a:p>
          <a:p>
            <a:r>
              <a:rPr lang="zh-CN" altLang="en-US" sz="2400" dirty="0" smtClean="0"/>
              <a:t>复杂度</a:t>
            </a:r>
            <a:r>
              <a:rPr lang="en-US" altLang="zh-CN" sz="2400" dirty="0" smtClean="0"/>
              <a:t>O(</a:t>
            </a:r>
            <a:r>
              <a:rPr lang="en-US" altLang="zh-CN" sz="2400" dirty="0" err="1" smtClean="0"/>
              <a:t>nlogW</a:t>
            </a:r>
            <a:r>
              <a:rPr lang="en-US" altLang="zh-CN" sz="2400" dirty="0" smtClean="0"/>
              <a:t>),W</a:t>
            </a:r>
            <a:r>
              <a:rPr lang="zh-CN" altLang="en-US" sz="2400" dirty="0" smtClean="0"/>
              <a:t>为权值大小</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bzoj3791 </a:t>
            </a:r>
            <a:r>
              <a:rPr lang="zh-CN" altLang="en-US" dirty="0" smtClean="0"/>
              <a:t>作业</a:t>
            </a:r>
            <a:endParaRPr lang="zh-CN" altLang="en-US" dirty="0"/>
          </a:p>
        </p:txBody>
      </p:sp>
      <p:sp>
        <p:nvSpPr>
          <p:cNvPr id="3" name="内容占位符 2"/>
          <p:cNvSpPr>
            <a:spLocks noGrp="1"/>
          </p:cNvSpPr>
          <p:nvPr>
            <p:ph sz="quarter" idx="1"/>
          </p:nvPr>
        </p:nvSpPr>
        <p:spPr/>
        <p:txBody>
          <a:bodyPr>
            <a:normAutofit fontScale="92500" lnSpcReduction="10000"/>
          </a:bodyPr>
          <a:lstStyle/>
          <a:p>
            <a:r>
              <a:rPr lang="zh-CN" altLang="en-US" dirty="0" smtClean="0"/>
              <a:t>白神对数学作业说一声“数”，数学作业就会出于畏惧而自己完成；对语文作业说一声“语”，语文作业就会出于畏惧而自己完成。</a:t>
            </a:r>
            <a:endParaRPr lang="en-US" altLang="zh-CN" dirty="0" smtClean="0"/>
          </a:p>
          <a:p>
            <a:r>
              <a:rPr lang="zh-CN" altLang="en-US" dirty="0" smtClean="0"/>
              <a:t>语文老师和数学老师布置了许多作业，同学们纷纷寻找白神寻求帮助。白神作为一个助人为乐的人，便答应下来。</a:t>
            </a:r>
            <a:endParaRPr lang="en-US" altLang="zh-CN" dirty="0" smtClean="0"/>
          </a:p>
          <a:p>
            <a:r>
              <a:rPr lang="zh-CN" altLang="en-US" dirty="0" smtClean="0"/>
              <a:t>回到家，白神将这</a:t>
            </a:r>
            <a:r>
              <a:rPr lang="en-US" altLang="zh-CN" dirty="0" smtClean="0"/>
              <a:t>N</a:t>
            </a:r>
            <a:r>
              <a:rPr lang="zh-CN" altLang="en-US" dirty="0" smtClean="0"/>
              <a:t>份作业按顺序摊开，发现语文作业数学作业混在一起，这就让白神苦恼起来，他如果对连续一段作业喊出“数”，那么里面的语文作业就会由于过于慌乱而写满错解，不过如果白神再对其喊一声“语”，它又会写满正确答案。</a:t>
            </a:r>
            <a:endParaRPr lang="en-US" altLang="zh-CN" dirty="0" smtClean="0"/>
          </a:p>
          <a:p>
            <a:r>
              <a:rPr lang="zh-CN" altLang="en-US" dirty="0" smtClean="0"/>
              <a:t>虽然白神很强大，但是能力还是有限制的，一天只能使用</a:t>
            </a:r>
            <a:r>
              <a:rPr lang="en-US" altLang="zh-CN" dirty="0" smtClean="0"/>
              <a:t>K</a:t>
            </a:r>
            <a:r>
              <a:rPr lang="zh-CN" altLang="en-US" dirty="0" smtClean="0"/>
              <a:t>次，现在，白神想知道他能正确的完成多少份作业。</a:t>
            </a:r>
            <a:endParaRPr lang="en-US" altLang="zh-CN" dirty="0" smtClean="0"/>
          </a:p>
          <a:p>
            <a:r>
              <a:rPr lang="zh-CN" altLang="en-US" dirty="0" smtClean="0"/>
              <a:t>﻿</a:t>
            </a:r>
            <a:r>
              <a:rPr lang="en-US" altLang="zh-CN" dirty="0" smtClean="0"/>
              <a:t>100%</a:t>
            </a:r>
            <a:r>
              <a:rPr lang="zh-CN" altLang="en-US" dirty="0" smtClean="0"/>
              <a:t>的数据中</a:t>
            </a:r>
            <a:r>
              <a:rPr lang="en-US" altLang="zh-CN" dirty="0" smtClean="0"/>
              <a:t>N ≤ 100000</a:t>
            </a:r>
            <a:r>
              <a:rPr lang="zh-CN" altLang="en-US" dirty="0" smtClean="0"/>
              <a:t>，</a:t>
            </a:r>
            <a:r>
              <a:rPr lang="en-US" altLang="zh-CN" dirty="0" smtClean="0"/>
              <a:t>K&lt;=50.</a:t>
            </a:r>
            <a:endParaRPr lang="zh-CN" altLang="en-US" dirty="0" smtClean="0"/>
          </a:p>
          <a:p>
            <a:endParaRPr lang="zh-CN" altLang="en-US"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bzoj3791 </a:t>
            </a:r>
            <a:r>
              <a:rPr lang="zh-CN" altLang="en-US" dirty="0" smtClean="0"/>
              <a:t>作业</a:t>
            </a:r>
            <a:endParaRPr lang="zh-CN" altLang="en-US" dirty="0"/>
          </a:p>
        </p:txBody>
      </p:sp>
      <p:sp>
        <p:nvSpPr>
          <p:cNvPr id="3" name="内容占位符 2"/>
          <p:cNvSpPr>
            <a:spLocks noGrp="1"/>
          </p:cNvSpPr>
          <p:nvPr>
            <p:ph sz="quarter" idx="1"/>
          </p:nvPr>
        </p:nvSpPr>
        <p:spPr/>
        <p:txBody>
          <a:bodyPr>
            <a:normAutofit/>
          </a:bodyPr>
          <a:lstStyle/>
          <a:p>
            <a:r>
              <a:rPr lang="zh-CN" altLang="en-US" sz="2400" dirty="0" smtClean="0"/>
              <a:t>注意写作业的区间可以相互重叠</a:t>
            </a:r>
            <a:r>
              <a:rPr lang="en-US" altLang="zh-CN" sz="2400" dirty="0" smtClean="0"/>
              <a:t>,</a:t>
            </a:r>
            <a:r>
              <a:rPr lang="zh-CN" altLang="en-US" sz="2400" dirty="0" smtClean="0"/>
              <a:t>来回覆盖</a:t>
            </a:r>
            <a:r>
              <a:rPr lang="en-US" altLang="zh-CN" sz="2400" dirty="0" smtClean="0"/>
              <a:t>,</a:t>
            </a:r>
            <a:r>
              <a:rPr lang="zh-CN" altLang="en-US" sz="2400" dirty="0" smtClean="0"/>
              <a:t>但最后一定是若干个黑白相间的区间</a:t>
            </a:r>
            <a:r>
              <a:rPr lang="en-US" altLang="zh-CN" sz="2400" dirty="0" smtClean="0"/>
              <a:t>.</a:t>
            </a:r>
            <a:endParaRPr lang="en-US" altLang="zh-CN" sz="2400" dirty="0" smtClean="0"/>
          </a:p>
          <a:p>
            <a:r>
              <a:rPr lang="zh-CN" altLang="en-US" sz="2400" dirty="0" smtClean="0"/>
              <a:t>最多可以分成</a:t>
            </a:r>
            <a:r>
              <a:rPr lang="en-US" altLang="zh-CN" sz="2400" dirty="0" smtClean="0"/>
              <a:t>2k-1</a:t>
            </a:r>
            <a:r>
              <a:rPr lang="zh-CN" altLang="en-US" sz="2400" dirty="0" smtClean="0"/>
              <a:t>个黑白相间的区间</a:t>
            </a:r>
            <a:endParaRPr lang="en-US" altLang="zh-CN" sz="2400" dirty="0" smtClean="0"/>
          </a:p>
          <a:p>
            <a:r>
              <a:rPr lang="en-US" altLang="zh-CN" sz="2400" dirty="0" smtClean="0"/>
              <a:t>f[</a:t>
            </a:r>
            <a:r>
              <a:rPr lang="en-US" altLang="zh-CN" sz="2400" dirty="0" err="1" smtClean="0"/>
              <a:t>i</a:t>
            </a:r>
            <a:r>
              <a:rPr lang="en-US" altLang="zh-CN" sz="2400" dirty="0" smtClean="0"/>
              <a:t>][j][0/1]</a:t>
            </a:r>
            <a:r>
              <a:rPr lang="zh-CN" altLang="en-US" sz="2400" dirty="0" smtClean="0"/>
              <a:t>表示前</a:t>
            </a:r>
            <a:r>
              <a:rPr lang="en-US" altLang="zh-CN" sz="2400" dirty="0" err="1" smtClean="0"/>
              <a:t>i</a:t>
            </a:r>
            <a:r>
              <a:rPr lang="zh-CN" altLang="en-US" sz="2400" dirty="0" smtClean="0"/>
              <a:t>件作业分为</a:t>
            </a:r>
            <a:r>
              <a:rPr lang="en-US" altLang="zh-CN" sz="2400" dirty="0" smtClean="0"/>
              <a:t>j</a:t>
            </a:r>
            <a:r>
              <a:rPr lang="zh-CN" altLang="en-US" sz="2400" dirty="0" smtClean="0"/>
              <a:t>个区间</a:t>
            </a:r>
            <a:r>
              <a:rPr lang="en-US" altLang="zh-CN" sz="2400" dirty="0" smtClean="0"/>
              <a:t>,</a:t>
            </a:r>
            <a:r>
              <a:rPr lang="zh-CN" altLang="en-US" sz="2400" dirty="0" smtClean="0"/>
              <a:t>最后一件作业为黑色</a:t>
            </a:r>
            <a:r>
              <a:rPr lang="en-US" altLang="zh-CN" sz="2400" dirty="0" smtClean="0"/>
              <a:t>/</a:t>
            </a:r>
            <a:r>
              <a:rPr lang="zh-CN" altLang="en-US" sz="2400" dirty="0" smtClean="0"/>
              <a:t>白色时的最大收益</a:t>
            </a:r>
            <a:r>
              <a:rPr lang="en-US" altLang="zh-CN" sz="2400" dirty="0" smtClean="0"/>
              <a:t>.</a:t>
            </a:r>
            <a:endParaRPr lang="en-US" altLang="zh-CN" sz="2400" dirty="0" smtClean="0"/>
          </a:p>
          <a:p>
            <a:r>
              <a:rPr lang="zh-CN" altLang="en-US" sz="2400" dirty="0" smtClean="0"/>
              <a:t>考虑新加一件作业的时候是否会新加一个区间即可</a:t>
            </a:r>
            <a:r>
              <a:rPr lang="en-US" altLang="zh-CN" sz="2400" dirty="0" smtClean="0"/>
              <a:t>.</a:t>
            </a:r>
            <a:endParaRPr lang="en-US" altLang="zh-CN" sz="2400" dirty="0" smtClean="0"/>
          </a:p>
          <a:p>
            <a:r>
              <a:rPr lang="zh-CN" altLang="en-US" sz="2400" dirty="0" smtClean="0"/>
              <a:t>复杂度</a:t>
            </a:r>
            <a:r>
              <a:rPr lang="en-US" altLang="zh-CN" sz="2400" dirty="0" smtClean="0"/>
              <a:t>O(</a:t>
            </a:r>
            <a:r>
              <a:rPr lang="en-US" altLang="zh-CN" sz="2400" dirty="0" err="1" smtClean="0"/>
              <a:t>nk</a:t>
            </a:r>
            <a:r>
              <a:rPr lang="en-US" altLang="zh-CN" sz="2400" dirty="0" smtClean="0"/>
              <a:t>).</a:t>
            </a:r>
            <a:r>
              <a:rPr lang="zh-CN" altLang="en-US" sz="2400" dirty="0" smtClean="0"/>
              <a:t>可以滚动数组优化空间复杂度到</a:t>
            </a:r>
            <a:r>
              <a:rPr lang="en-US" altLang="zh-CN" sz="2400" dirty="0" smtClean="0"/>
              <a:t>O(k)</a:t>
            </a:r>
            <a:endParaRPr lang="zh-CN" altLang="en-US" sz="2400"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hdu4719 Oh my holy FFF</a:t>
            </a:r>
            <a:endParaRPr lang="en-US" altLang="zh-CN"/>
          </a:p>
        </p:txBody>
      </p:sp>
      <p:sp>
        <p:nvSpPr>
          <p:cNvPr id="3" name="内容占位符 2"/>
          <p:cNvSpPr>
            <a:spLocks noGrp="1"/>
          </p:cNvSpPr>
          <p:nvPr>
            <p:ph sz="quarter" idx="1"/>
          </p:nvPr>
        </p:nvSpPr>
        <p:spPr/>
        <p:txBody>
          <a:bodyPr/>
          <a:p>
            <a:r>
              <a:rPr lang="en-US" altLang="zh-CN" sz="2400"/>
              <a:t>holy</a:t>
            </a:r>
            <a:r>
              <a:rPr lang="zh-CN" altLang="en-US" sz="2400"/>
              <a:t>的意思是</a:t>
            </a:r>
            <a:r>
              <a:rPr lang="en-US" altLang="zh-CN" sz="2400"/>
              <a:t>”</a:t>
            </a:r>
            <a:r>
              <a:rPr lang="zh-CN" altLang="en-US" sz="2400"/>
              <a:t>神圣的</a:t>
            </a:r>
            <a:r>
              <a:rPr lang="en-US" altLang="zh-CN" sz="2400"/>
              <a:t>”.</a:t>
            </a:r>
            <a:r>
              <a:rPr lang="zh-CN" altLang="en-US" sz="2400" strike="sngStrike">
                <a:solidFill>
                  <a:schemeClr val="tx1"/>
                </a:solidFill>
                <a:uFillTx/>
              </a:rPr>
              <a:t>所以这个题的题面是什么样大家自己脑补</a:t>
            </a:r>
            <a:endParaRPr lang="zh-CN" altLang="en-US" sz="2400" strike="sngStrike">
              <a:solidFill>
                <a:schemeClr val="tx1"/>
              </a:solidFill>
              <a:uFillTx/>
            </a:endParaRPr>
          </a:p>
          <a:p>
            <a:r>
              <a:rPr lang="zh-CN" altLang="en-US" sz="2400">
                <a:solidFill>
                  <a:schemeClr val="tx1"/>
                </a:solidFill>
                <a:uFillTx/>
              </a:rPr>
              <a:t>题意</a:t>
            </a:r>
            <a:r>
              <a:rPr lang="en-US" altLang="zh-CN" sz="2400">
                <a:solidFill>
                  <a:schemeClr val="tx1"/>
                </a:solidFill>
                <a:uFillTx/>
              </a:rPr>
              <a:t>:</a:t>
            </a:r>
            <a:r>
              <a:rPr lang="zh-CN" altLang="en-US" sz="2400">
                <a:solidFill>
                  <a:schemeClr val="tx1"/>
                </a:solidFill>
                <a:uFillTx/>
              </a:rPr>
              <a:t>给出一个长度为</a:t>
            </a:r>
            <a:r>
              <a:rPr lang="en-US" altLang="zh-CN" sz="2400">
                <a:solidFill>
                  <a:schemeClr val="tx1"/>
                </a:solidFill>
                <a:uFillTx/>
              </a:rPr>
              <a:t>n</a:t>
            </a:r>
            <a:r>
              <a:rPr lang="zh-CN" altLang="en-US" sz="2400">
                <a:solidFill>
                  <a:schemeClr val="tx1"/>
                </a:solidFill>
                <a:uFillTx/>
              </a:rPr>
              <a:t>的序列</a:t>
            </a:r>
            <a:r>
              <a:rPr lang="en-US" altLang="zh-CN" sz="2400">
                <a:solidFill>
                  <a:schemeClr val="tx1"/>
                </a:solidFill>
                <a:uFillTx/>
              </a:rPr>
              <a:t>,</a:t>
            </a:r>
            <a:r>
              <a:rPr lang="zh-CN" altLang="en-US" sz="2400">
                <a:solidFill>
                  <a:schemeClr val="tx1"/>
                </a:solidFill>
                <a:uFillTx/>
              </a:rPr>
              <a:t>将其划分为若干个区间</a:t>
            </a:r>
            <a:r>
              <a:rPr lang="en-US" altLang="zh-CN" sz="2400">
                <a:solidFill>
                  <a:schemeClr val="tx1"/>
                </a:solidFill>
                <a:uFillTx/>
              </a:rPr>
              <a:t>,</a:t>
            </a:r>
            <a:r>
              <a:rPr lang="zh-CN" altLang="en-US" sz="2400">
                <a:solidFill>
                  <a:schemeClr val="tx1"/>
                </a:solidFill>
                <a:uFillTx/>
              </a:rPr>
              <a:t>使得每个区间包含不超过</a:t>
            </a:r>
            <a:r>
              <a:rPr lang="en-US" altLang="zh-CN" sz="2400">
                <a:solidFill>
                  <a:schemeClr val="tx1"/>
                </a:solidFill>
                <a:uFillTx/>
              </a:rPr>
              <a:t>L</a:t>
            </a:r>
            <a:r>
              <a:rPr lang="zh-CN" altLang="en-US" sz="2400">
                <a:solidFill>
                  <a:schemeClr val="tx1"/>
                </a:solidFill>
                <a:uFillTx/>
              </a:rPr>
              <a:t>个数字</a:t>
            </a:r>
            <a:r>
              <a:rPr lang="en-US" altLang="zh-CN" sz="2400">
                <a:solidFill>
                  <a:schemeClr val="tx1"/>
                </a:solidFill>
                <a:uFillTx/>
              </a:rPr>
              <a:t>.</a:t>
            </a:r>
            <a:r>
              <a:rPr lang="zh-CN" altLang="en-US" sz="2400">
                <a:solidFill>
                  <a:schemeClr val="tx1"/>
                </a:solidFill>
                <a:uFillTx/>
              </a:rPr>
              <a:t>从左到右第</a:t>
            </a:r>
            <a:r>
              <a:rPr lang="en-US" altLang="zh-CN" sz="2400">
                <a:solidFill>
                  <a:schemeClr val="tx1"/>
                </a:solidFill>
                <a:uFillTx/>
              </a:rPr>
              <a:t>k</a:t>
            </a:r>
            <a:r>
              <a:rPr lang="zh-CN" altLang="en-US" sz="2400">
                <a:solidFill>
                  <a:schemeClr val="tx1"/>
                </a:solidFill>
                <a:uFillTx/>
              </a:rPr>
              <a:t>个区间的最后一个数字记为</a:t>
            </a:r>
            <a:r>
              <a:rPr lang="en-US" altLang="zh-CN" sz="2400">
                <a:solidFill>
                  <a:schemeClr val="tx1"/>
                </a:solidFill>
                <a:uFillTx/>
              </a:rPr>
              <a:t>B</a:t>
            </a:r>
            <a:r>
              <a:rPr lang="en-US" altLang="zh-CN" sz="2400" baseline="-25000">
                <a:solidFill>
                  <a:schemeClr val="tx1"/>
                </a:solidFill>
                <a:uFillTx/>
              </a:rPr>
              <a:t>k</a:t>
            </a:r>
            <a:r>
              <a:rPr lang="en-US" altLang="zh-CN" sz="2400">
                <a:solidFill>
                  <a:schemeClr val="tx1"/>
                </a:solidFill>
                <a:uFillTx/>
              </a:rPr>
              <a:t>,</a:t>
            </a:r>
            <a:r>
              <a:rPr lang="zh-CN" altLang="en-US" sz="2400">
                <a:solidFill>
                  <a:schemeClr val="tx1"/>
                </a:solidFill>
                <a:uFillTx/>
              </a:rPr>
              <a:t>合法的划分方案必须满足</a:t>
            </a:r>
            <a:r>
              <a:rPr lang="en-US" altLang="zh-CN" sz="2400">
                <a:solidFill>
                  <a:schemeClr val="tx1"/>
                </a:solidFill>
                <a:uFillTx/>
              </a:rPr>
              <a:t>B</a:t>
            </a:r>
            <a:r>
              <a:rPr lang="en-US" altLang="zh-CN" sz="2400" baseline="-25000">
                <a:solidFill>
                  <a:schemeClr val="tx1"/>
                </a:solidFill>
                <a:uFillTx/>
              </a:rPr>
              <a:t>1,</a:t>
            </a:r>
            <a:r>
              <a:rPr lang="en-US" altLang="zh-CN" sz="2400">
                <a:solidFill>
                  <a:schemeClr val="tx1"/>
                </a:solidFill>
                <a:uFillTx/>
              </a:rPr>
              <a:t>B</a:t>
            </a:r>
            <a:r>
              <a:rPr lang="en-US" altLang="zh-CN" sz="2400" baseline="-25000">
                <a:solidFill>
                  <a:schemeClr val="tx1"/>
                </a:solidFill>
                <a:uFillTx/>
              </a:rPr>
              <a:t>2,</a:t>
            </a:r>
            <a:r>
              <a:rPr lang="en-US" altLang="zh-CN" sz="2400">
                <a:solidFill>
                  <a:schemeClr val="tx1"/>
                </a:solidFill>
                <a:uFillTx/>
              </a:rPr>
              <a:t>B</a:t>
            </a:r>
            <a:r>
              <a:rPr lang="en-US" altLang="zh-CN" sz="2400" baseline="-25000">
                <a:solidFill>
                  <a:schemeClr val="tx1"/>
                </a:solidFill>
                <a:uFillTx/>
              </a:rPr>
              <a:t>3...</a:t>
            </a:r>
            <a:r>
              <a:rPr lang="zh-CN" altLang="en-US" sz="2400">
                <a:solidFill>
                  <a:schemeClr val="tx1"/>
                </a:solidFill>
                <a:uFillTx/>
              </a:rPr>
              <a:t>严格递增</a:t>
            </a:r>
            <a:r>
              <a:rPr lang="en-US" altLang="zh-CN" sz="2400">
                <a:solidFill>
                  <a:schemeClr val="tx1"/>
                </a:solidFill>
                <a:uFillTx/>
              </a:rPr>
              <a:t>.</a:t>
            </a:r>
            <a:endParaRPr lang="en-US" altLang="zh-CN" sz="2400">
              <a:solidFill>
                <a:schemeClr val="tx1"/>
              </a:solidFill>
              <a:uFillTx/>
            </a:endParaRPr>
          </a:p>
          <a:p>
            <a:r>
              <a:rPr lang="zh-CN" altLang="en-US" sz="2400">
                <a:solidFill>
                  <a:schemeClr val="tx1"/>
                </a:solidFill>
                <a:uFillTx/>
              </a:rPr>
              <a:t>如果划分成</a:t>
            </a:r>
            <a:r>
              <a:rPr lang="en-US" altLang="zh-CN" sz="2400">
                <a:solidFill>
                  <a:schemeClr val="tx1"/>
                </a:solidFill>
                <a:uFillTx/>
              </a:rPr>
              <a:t>m</a:t>
            </a:r>
            <a:r>
              <a:rPr lang="zh-CN" altLang="en-US" sz="2400">
                <a:solidFill>
                  <a:schemeClr val="tx1"/>
                </a:solidFill>
                <a:uFillTx/>
              </a:rPr>
              <a:t>个区间</a:t>
            </a:r>
            <a:r>
              <a:rPr lang="en-US" altLang="zh-CN" sz="2400">
                <a:solidFill>
                  <a:schemeClr val="tx1"/>
                </a:solidFill>
                <a:uFillTx/>
              </a:rPr>
              <a:t>,</a:t>
            </a:r>
            <a:r>
              <a:rPr lang="zh-CN" altLang="en-US" sz="2400">
                <a:solidFill>
                  <a:schemeClr val="tx1"/>
                </a:solidFill>
                <a:uFillTx/>
              </a:rPr>
              <a:t>那么一种划分方案的总代价为从</a:t>
            </a:r>
            <a:r>
              <a:rPr lang="en-US" altLang="zh-CN" sz="2400">
                <a:solidFill>
                  <a:schemeClr val="tx1"/>
                </a:solidFill>
                <a:uFillTx/>
              </a:rPr>
              <a:t>B</a:t>
            </a:r>
            <a:r>
              <a:rPr lang="en-US" altLang="zh-CN" sz="2400" baseline="-25000">
                <a:solidFill>
                  <a:schemeClr val="tx1"/>
                </a:solidFill>
                <a:uFillTx/>
              </a:rPr>
              <a:t>1</a:t>
            </a:r>
            <a:r>
              <a:rPr lang="zh-CN" altLang="en-US" sz="2400">
                <a:solidFill>
                  <a:schemeClr val="tx1"/>
                </a:solidFill>
                <a:uFillTx/>
              </a:rPr>
              <a:t>到</a:t>
            </a:r>
            <a:r>
              <a:rPr lang="en-US" altLang="zh-CN" sz="2400">
                <a:solidFill>
                  <a:schemeClr val="tx1"/>
                </a:solidFill>
                <a:uFillTx/>
              </a:rPr>
              <a:t>B</a:t>
            </a:r>
            <a:r>
              <a:rPr lang="en-US" altLang="zh-CN" sz="2400" baseline="-25000">
                <a:solidFill>
                  <a:schemeClr val="tx1"/>
                </a:solidFill>
                <a:uFillTx/>
              </a:rPr>
              <a:t>k</a:t>
            </a:r>
            <a:r>
              <a:rPr lang="zh-CN" altLang="en-US" sz="2400">
                <a:solidFill>
                  <a:schemeClr val="tx1"/>
                </a:solidFill>
                <a:uFillTx/>
              </a:rPr>
              <a:t>所有数的平方和减去</a:t>
            </a:r>
            <a:r>
              <a:rPr lang="zh-CN" altLang="en-US" sz="2400">
                <a:uFillTx/>
                <a:sym typeface="+mn-ea"/>
              </a:rPr>
              <a:t>从</a:t>
            </a:r>
            <a:r>
              <a:rPr lang="en-US" altLang="zh-CN" sz="2400">
                <a:uFillTx/>
                <a:sym typeface="+mn-ea"/>
              </a:rPr>
              <a:t>B</a:t>
            </a:r>
            <a:r>
              <a:rPr lang="en-US" altLang="zh-CN" sz="2400" baseline="-25000">
                <a:uFillTx/>
                <a:sym typeface="+mn-ea"/>
              </a:rPr>
              <a:t>0</a:t>
            </a:r>
            <a:r>
              <a:rPr lang="zh-CN" altLang="en-US" sz="2400">
                <a:uFillTx/>
                <a:sym typeface="+mn-ea"/>
              </a:rPr>
              <a:t>到</a:t>
            </a:r>
            <a:r>
              <a:rPr lang="en-US" altLang="zh-CN" sz="2400">
                <a:uFillTx/>
                <a:sym typeface="+mn-ea"/>
              </a:rPr>
              <a:t>B</a:t>
            </a:r>
            <a:r>
              <a:rPr lang="en-US" altLang="zh-CN" sz="2400" baseline="-25000">
                <a:uFillTx/>
                <a:sym typeface="+mn-ea"/>
              </a:rPr>
              <a:t>k-1</a:t>
            </a:r>
            <a:r>
              <a:rPr lang="zh-CN" altLang="en-US" sz="2400">
                <a:uFillTx/>
                <a:sym typeface="+mn-ea"/>
              </a:rPr>
              <a:t>所有数的和</a:t>
            </a:r>
            <a:r>
              <a:rPr lang="en-US" altLang="zh-CN" sz="2400">
                <a:uFillTx/>
                <a:sym typeface="+mn-ea"/>
              </a:rPr>
              <a:t>.</a:t>
            </a:r>
            <a:r>
              <a:rPr lang="zh-CN" altLang="en-US" sz="2400">
                <a:uFillTx/>
                <a:sym typeface="+mn-ea"/>
              </a:rPr>
              <a:t>求最小的代价</a:t>
            </a:r>
            <a:r>
              <a:rPr lang="en-US" altLang="zh-CN" sz="2400">
                <a:uFillTx/>
                <a:sym typeface="+mn-ea"/>
              </a:rPr>
              <a:t>.</a:t>
            </a:r>
            <a:endParaRPr lang="en-US" altLang="zh-CN" sz="2400">
              <a:uFillTx/>
              <a:sym typeface="+mn-ea"/>
            </a:endParaRPr>
          </a:p>
          <a:p>
            <a:r>
              <a:rPr lang="en-US" altLang="zh-CN" sz="2400">
                <a:uFillTx/>
                <a:sym typeface="+mn-ea"/>
              </a:rPr>
              <a:t>L&lt;=n&lt;=10</a:t>
            </a:r>
            <a:r>
              <a:rPr lang="en-US" altLang="zh-CN" sz="2400" baseline="30000">
                <a:uFillTx/>
                <a:sym typeface="+mn-ea"/>
              </a:rPr>
              <a:t>5</a:t>
            </a:r>
            <a:r>
              <a:rPr lang="en-US" altLang="zh-CN" sz="2400">
                <a:uFillTx/>
                <a:sym typeface="+mn-ea"/>
              </a:rPr>
              <a:t>,</a:t>
            </a:r>
            <a:r>
              <a:rPr lang="zh-CN" altLang="en-US" sz="2400">
                <a:uFillTx/>
                <a:sym typeface="+mn-ea"/>
              </a:rPr>
              <a:t>数字均为</a:t>
            </a:r>
            <a:r>
              <a:rPr lang="en-US" altLang="zh-CN" sz="2400">
                <a:uFillTx/>
                <a:sym typeface="+mn-ea"/>
              </a:rPr>
              <a:t>[1,10</a:t>
            </a:r>
            <a:r>
              <a:rPr lang="en-US" altLang="zh-CN" sz="2400" baseline="30000">
                <a:uFillTx/>
                <a:sym typeface="+mn-ea"/>
              </a:rPr>
              <a:t>5</a:t>
            </a:r>
            <a:r>
              <a:rPr lang="en-US" altLang="zh-CN" sz="2400">
                <a:uFillTx/>
                <a:sym typeface="+mn-ea"/>
              </a:rPr>
              <a:t>]</a:t>
            </a:r>
            <a:r>
              <a:rPr lang="zh-CN" altLang="en-US" sz="2400">
                <a:uFillTx/>
                <a:sym typeface="+mn-ea"/>
              </a:rPr>
              <a:t>的正整数</a:t>
            </a:r>
            <a:r>
              <a:rPr lang="en-US" altLang="zh-CN" sz="2400">
                <a:uFillTx/>
                <a:sym typeface="+mn-ea"/>
              </a:rPr>
              <a:t>.</a:t>
            </a:r>
            <a:endParaRPr lang="en-US" altLang="zh-CN" sz="2400">
              <a:solidFill>
                <a:schemeClr val="tx1"/>
              </a:solidFill>
              <a:uFillTx/>
              <a:sym typeface="+mn-ea"/>
            </a:endParaRPr>
          </a:p>
          <a:p>
            <a:endParaRPr lang="en-US" altLang="zh-CN" sz="2400" baseline="-25000">
              <a:solidFill>
                <a:schemeClr val="tx1"/>
              </a:solidFill>
              <a:uFillTx/>
              <a:sym typeface="+mn-ea"/>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en-US" altLang="zh-CN">
                <a:sym typeface="+mn-ea"/>
              </a:rPr>
              <a:t>hdu4719 Oh my holy FFF</a:t>
            </a:r>
            <a:endParaRPr lang="zh-CN" altLang="en-US"/>
          </a:p>
        </p:txBody>
      </p:sp>
      <p:sp>
        <p:nvSpPr>
          <p:cNvPr id="3" name="内容占位符 2"/>
          <p:cNvSpPr>
            <a:spLocks noGrp="1"/>
          </p:cNvSpPr>
          <p:nvPr>
            <p:ph sz="quarter" idx="1"/>
          </p:nvPr>
        </p:nvSpPr>
        <p:spPr/>
        <p:txBody>
          <a:bodyPr>
            <a:normAutofit lnSpcReduction="10000"/>
          </a:bodyPr>
          <a:p>
            <a:r>
              <a:rPr lang="zh-CN" altLang="en-US" sz="2400"/>
              <a:t>定义</a:t>
            </a:r>
            <a:r>
              <a:rPr lang="en-US" altLang="zh-CN" sz="2400"/>
              <a:t>f[i]</a:t>
            </a:r>
            <a:r>
              <a:rPr lang="zh-CN" altLang="en-US" sz="2400"/>
              <a:t>表示前</a:t>
            </a:r>
            <a:r>
              <a:rPr lang="en-US" altLang="zh-CN" sz="2400"/>
              <a:t>i</a:t>
            </a:r>
            <a:r>
              <a:rPr lang="zh-CN" altLang="en-US" sz="2400"/>
              <a:t>个数字划分为若干区间时的总代价之和</a:t>
            </a:r>
            <a:r>
              <a:rPr lang="en-US" altLang="zh-CN" sz="2400"/>
              <a:t>.</a:t>
            </a:r>
            <a:r>
              <a:rPr lang="zh-CN" altLang="en-US" sz="2400"/>
              <a:t>对于最后一个区间我们只加上它的</a:t>
            </a:r>
            <a:r>
              <a:rPr lang="en-US" altLang="zh-CN" sz="2400"/>
              <a:t>B</a:t>
            </a:r>
            <a:r>
              <a:rPr lang="en-US" altLang="zh-CN" sz="2400" baseline="-25000"/>
              <a:t>i</a:t>
            </a:r>
            <a:r>
              <a:rPr lang="zh-CN" altLang="en-US" sz="2400"/>
              <a:t>的平方</a:t>
            </a:r>
            <a:r>
              <a:rPr lang="en-US" altLang="zh-CN" sz="2400"/>
              <a:t>,</a:t>
            </a:r>
            <a:r>
              <a:rPr lang="zh-CN" altLang="en-US" sz="2400"/>
              <a:t>不减去</a:t>
            </a:r>
            <a:r>
              <a:rPr lang="en-US" altLang="zh-CN" sz="2400"/>
              <a:t>B</a:t>
            </a:r>
            <a:r>
              <a:rPr lang="en-US" altLang="zh-CN" sz="2400" baseline="-25000"/>
              <a:t>i</a:t>
            </a:r>
            <a:r>
              <a:rPr lang="en-US" altLang="zh-CN" sz="2400"/>
              <a:t>,</a:t>
            </a:r>
            <a:r>
              <a:rPr lang="zh-CN" altLang="en-US" sz="2400"/>
              <a:t>在后面接上另一个区间的时候再减去这个区间的</a:t>
            </a:r>
            <a:r>
              <a:rPr lang="en-US" altLang="zh-CN" sz="2400"/>
              <a:t>B</a:t>
            </a:r>
            <a:r>
              <a:rPr lang="en-US" altLang="zh-CN" sz="2400" baseline="-25000"/>
              <a:t>i</a:t>
            </a:r>
            <a:endParaRPr lang="en-US" altLang="zh-CN" sz="2400" baseline="-25000"/>
          </a:p>
          <a:p>
            <a:r>
              <a:rPr lang="zh-CN" altLang="en-US" sz="2400"/>
              <a:t>那么对于一个</a:t>
            </a:r>
            <a:r>
              <a:rPr lang="en-US" altLang="zh-CN" sz="2400"/>
              <a:t>i,</a:t>
            </a:r>
            <a:r>
              <a:rPr lang="zh-CN" altLang="en-US" sz="2400"/>
              <a:t>我们要找到最优的一个</a:t>
            </a:r>
            <a:r>
              <a:rPr lang="en-US" altLang="zh-CN" sz="2400"/>
              <a:t>j</a:t>
            </a:r>
            <a:r>
              <a:rPr lang="zh-CN" altLang="en-US" sz="2400"/>
              <a:t>转移到它</a:t>
            </a:r>
            <a:r>
              <a:rPr lang="en-US" altLang="zh-CN" sz="2400"/>
              <a:t>,</a:t>
            </a:r>
            <a:r>
              <a:rPr lang="zh-CN" altLang="en-US" sz="2400"/>
              <a:t>转移方程为</a:t>
            </a:r>
            <a:r>
              <a:rPr lang="en-US" altLang="zh-CN" sz="2400"/>
              <a:t>f[i]=f[j]-a[j]+a[i]^2,</a:t>
            </a:r>
            <a:r>
              <a:rPr lang="zh-CN" altLang="en-US" sz="2400"/>
              <a:t>同时这个</a:t>
            </a:r>
            <a:r>
              <a:rPr lang="en-US" altLang="zh-CN" sz="2400"/>
              <a:t>j</a:t>
            </a:r>
            <a:r>
              <a:rPr lang="zh-CN" altLang="en-US" sz="2400"/>
              <a:t>必须是合法的转移点</a:t>
            </a:r>
            <a:r>
              <a:rPr lang="en-US" altLang="zh-CN" sz="2400"/>
              <a:t>(i-j&lt;=L,a[j]&lt;a[i])</a:t>
            </a:r>
            <a:r>
              <a:rPr lang="en-US" altLang="zh-CN" sz="2400"/>
              <a:t>.</a:t>
            </a:r>
            <a:endParaRPr lang="en-US" altLang="zh-CN" sz="2400"/>
          </a:p>
          <a:p>
            <a:r>
              <a:rPr lang="zh-CN" altLang="en-US" sz="2400"/>
              <a:t>先简化问题</a:t>
            </a:r>
            <a:r>
              <a:rPr lang="en-US" altLang="zh-CN" sz="2400"/>
              <a:t>,</a:t>
            </a:r>
            <a:r>
              <a:rPr lang="zh-CN" altLang="en-US" sz="2400"/>
              <a:t>考虑数字大小互不相同时怎么做</a:t>
            </a:r>
            <a:r>
              <a:rPr lang="en-US" altLang="zh-CN" sz="2400"/>
              <a:t>.</a:t>
            </a:r>
            <a:endParaRPr lang="en-US" altLang="zh-CN" sz="2400"/>
          </a:p>
          <a:p>
            <a:r>
              <a:rPr lang="zh-CN" altLang="en-US" sz="2400"/>
              <a:t>我们定义一个数列</a:t>
            </a:r>
            <a:r>
              <a:rPr lang="en-US" altLang="zh-CN" sz="2400"/>
              <a:t>g[i],g[i]</a:t>
            </a:r>
            <a:r>
              <a:rPr lang="zh-CN" altLang="en-US" sz="2400"/>
              <a:t>表示前</a:t>
            </a:r>
            <a:r>
              <a:rPr lang="en-US" altLang="zh-CN" sz="2400"/>
              <a:t>x</a:t>
            </a:r>
            <a:r>
              <a:rPr lang="zh-CN" altLang="en-US" sz="2400"/>
              <a:t>个</a:t>
            </a:r>
            <a:r>
              <a:rPr lang="zh-CN" altLang="en-US" sz="2400"/>
              <a:t>数的</a:t>
            </a:r>
            <a:r>
              <a:rPr lang="zh-CN" altLang="en-US" sz="2400"/>
              <a:t>划分方案中最后一个区间的最后一个数大小为</a:t>
            </a:r>
            <a:r>
              <a:rPr lang="en-US" altLang="zh-CN" sz="2400"/>
              <a:t>i</a:t>
            </a:r>
            <a:r>
              <a:rPr lang="zh-CN" altLang="en-US" sz="2400"/>
              <a:t>的时候</a:t>
            </a:r>
            <a:r>
              <a:rPr lang="en-US" altLang="zh-CN" sz="2400"/>
              <a:t>,</a:t>
            </a:r>
            <a:r>
              <a:rPr lang="zh-CN" altLang="en-US" sz="2400"/>
              <a:t>对应的</a:t>
            </a:r>
            <a:r>
              <a:rPr lang="en-US" altLang="zh-CN" sz="2400"/>
              <a:t>f[x]-i</a:t>
            </a:r>
            <a:endParaRPr lang="en-US" altLang="zh-CN" sz="2400"/>
          </a:p>
          <a:p>
            <a:r>
              <a:rPr lang="zh-CN" altLang="en-US" sz="2400"/>
              <a:t>显然一个</a:t>
            </a:r>
            <a:r>
              <a:rPr lang="en-US" altLang="zh-CN" sz="2400"/>
              <a:t>i</a:t>
            </a:r>
            <a:r>
              <a:rPr lang="zh-CN" altLang="en-US" sz="2400"/>
              <a:t>只对应一个</a:t>
            </a:r>
            <a:r>
              <a:rPr lang="en-US" altLang="zh-CN" sz="2400"/>
              <a:t>x,</a:t>
            </a:r>
            <a:r>
              <a:rPr lang="zh-CN" altLang="en-US" sz="2400"/>
              <a:t>我们对一个确定的</a:t>
            </a:r>
            <a:r>
              <a:rPr lang="en-US" altLang="zh-CN" sz="2400"/>
              <a:t>i</a:t>
            </a:r>
            <a:r>
              <a:rPr lang="zh-CN" altLang="en-US" sz="2400"/>
              <a:t>找最优的</a:t>
            </a:r>
            <a:r>
              <a:rPr lang="en-US" altLang="zh-CN" sz="2400"/>
              <a:t>j</a:t>
            </a:r>
            <a:r>
              <a:rPr lang="zh-CN" altLang="en-US" sz="2400"/>
              <a:t>就是在</a:t>
            </a:r>
            <a:r>
              <a:rPr lang="en-US" altLang="zh-CN" sz="2400"/>
              <a:t>g[]</a:t>
            </a:r>
            <a:r>
              <a:rPr lang="zh-CN" altLang="en-US" sz="2400"/>
              <a:t>上做</a:t>
            </a:r>
            <a:r>
              <a:rPr lang="en-US" altLang="zh-CN" sz="2400"/>
              <a:t>RMQ.</a:t>
            </a:r>
            <a:r>
              <a:rPr lang="zh-CN" altLang="en-US" sz="2400"/>
              <a:t>决策点</a:t>
            </a:r>
            <a:r>
              <a:rPr lang="en-US" altLang="zh-CN" sz="2400"/>
              <a:t>j</a:t>
            </a:r>
            <a:r>
              <a:rPr lang="zh-CN" altLang="en-US" sz="2400"/>
              <a:t>该插入插入</a:t>
            </a:r>
            <a:r>
              <a:rPr lang="en-US" altLang="zh-CN" sz="2400"/>
              <a:t>,</a:t>
            </a:r>
            <a:r>
              <a:rPr lang="zh-CN" altLang="en-US" sz="2400"/>
              <a:t>该删除删除</a:t>
            </a:r>
            <a:r>
              <a:rPr lang="en-US" altLang="zh-CN" sz="2400"/>
              <a:t>.</a:t>
            </a:r>
            <a:endParaRPr lang="en-US" altLang="zh-CN" sz="2400"/>
          </a:p>
          <a:p>
            <a:r>
              <a:rPr lang="zh-CN" altLang="en-US" sz="2400"/>
              <a:t>数字大小可以相同时</a:t>
            </a:r>
            <a:r>
              <a:rPr lang="en-US" altLang="zh-CN" sz="2400"/>
              <a:t>,</a:t>
            </a:r>
            <a:r>
              <a:rPr lang="zh-CN" altLang="en-US" sz="2400"/>
              <a:t>我们对每一个数值维护一个单调队列</a:t>
            </a:r>
            <a:r>
              <a:rPr lang="en-US" altLang="zh-CN" sz="2400"/>
              <a:t>,</a:t>
            </a:r>
            <a:r>
              <a:rPr lang="zh-CN" altLang="en-US" sz="2400"/>
              <a:t>然后依然可以维护线段树</a:t>
            </a:r>
            <a:r>
              <a:rPr lang="en-US" altLang="zh-CN" sz="2400"/>
              <a:t>.</a:t>
            </a:r>
            <a:endParaRPr lang="en-US" altLang="zh-CN" sz="24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en-US" altLang="zh-CN">
                <a:sym typeface="+mn-ea"/>
              </a:rPr>
              <a:t>hdu4719 Oh my holy FFF</a:t>
            </a:r>
            <a:endParaRPr lang="zh-CN" altLang="en-US"/>
          </a:p>
        </p:txBody>
      </p:sp>
      <p:sp>
        <p:nvSpPr>
          <p:cNvPr id="3" name="内容占位符 2"/>
          <p:cNvSpPr>
            <a:spLocks noGrp="1"/>
          </p:cNvSpPr>
          <p:nvPr>
            <p:ph sz="quarter" idx="1"/>
          </p:nvPr>
        </p:nvSpPr>
        <p:spPr/>
        <p:txBody>
          <a:bodyPr/>
          <a:p>
            <a:r>
              <a:rPr lang="zh-CN" altLang="en-US"/>
              <a:t>这个题还有一个做法</a:t>
            </a:r>
            <a:r>
              <a:rPr lang="en-US" altLang="zh-CN"/>
              <a:t>,</a:t>
            </a:r>
            <a:r>
              <a:rPr lang="zh-CN" altLang="en-US"/>
              <a:t>把所有元素先按数值顺序</a:t>
            </a:r>
            <a:r>
              <a:rPr lang="en-US" altLang="zh-CN"/>
              <a:t>,</a:t>
            </a:r>
            <a:r>
              <a:rPr lang="zh-CN" altLang="en-US"/>
              <a:t>再按下标倒序排序</a:t>
            </a:r>
            <a:r>
              <a:rPr lang="en-US" altLang="zh-CN"/>
              <a:t>,</a:t>
            </a:r>
            <a:r>
              <a:rPr lang="zh-CN" altLang="en-US"/>
              <a:t>依次处理对应的</a:t>
            </a:r>
            <a:r>
              <a:rPr lang="en-US" altLang="zh-CN"/>
              <a:t>f[i],</a:t>
            </a:r>
            <a:r>
              <a:rPr lang="zh-CN" altLang="en-US"/>
              <a:t>线段树维护</a:t>
            </a:r>
            <a:r>
              <a:rPr lang="en-US" altLang="zh-CN"/>
              <a:t>f[i]-a[i]</a:t>
            </a:r>
            <a:r>
              <a:rPr lang="zh-CN" altLang="en-US"/>
              <a:t>的</a:t>
            </a:r>
            <a:r>
              <a:rPr lang="en-US" altLang="zh-CN"/>
              <a:t>rmq,</a:t>
            </a:r>
            <a:r>
              <a:rPr lang="zh-CN" altLang="en-US"/>
              <a:t>保证处理到某个</a:t>
            </a:r>
            <a:r>
              <a:rPr lang="en-US" altLang="zh-CN"/>
              <a:t>f[i]</a:t>
            </a:r>
            <a:r>
              <a:rPr lang="zh-CN" altLang="en-US"/>
              <a:t>的时候能转移到它的</a:t>
            </a:r>
            <a:r>
              <a:rPr lang="en-US" altLang="zh-CN"/>
              <a:t>f[j]</a:t>
            </a:r>
            <a:r>
              <a:rPr lang="zh-CN" altLang="en-US"/>
              <a:t>都满足</a:t>
            </a:r>
            <a:r>
              <a:rPr lang="en-US" altLang="zh-CN"/>
              <a:t>a[j]&lt;a[i]</a:t>
            </a:r>
            <a:endParaRPr lang="en-US" altLang="zh-CN"/>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670932" y="2967335"/>
            <a:ext cx="8196476" cy="923330"/>
          </a:xfrm>
          <a:prstGeom prst="rect">
            <a:avLst/>
          </a:prstGeom>
          <a:noFill/>
        </p:spPr>
        <p:txBody>
          <a:bodyPr wrap="none" lIns="91440" tIns="45720" rIns="91440" bIns="45720">
            <a:spAutoFit/>
          </a:bodyPr>
          <a:lstStyle/>
          <a:p>
            <a:pPr algn="ctr"/>
            <a:r>
              <a:rPr lang="en-US" altLang="zh-CN" sz="5400" b="1" dirty="0" smtClean="0">
                <a:ln w="18000">
                  <a:solidFill>
                    <a:schemeClr val="accent2">
                      <a:satMod val="140000"/>
                    </a:schemeClr>
                  </a:solidFill>
                  <a:prstDash val="solid"/>
                  <a:miter lim="800000"/>
                </a:ln>
                <a:noFill/>
                <a:effectLst>
                  <a:outerShdw blurRad="25500" dist="23000" dir="7020000" algn="tl">
                    <a:srgbClr val="000000">
                      <a:alpha val="50000"/>
                    </a:srgbClr>
                  </a:outerShdw>
                </a:effectLst>
              </a:rPr>
              <a:t>Thanks for listening!</a:t>
            </a:r>
            <a:endParaRPr lang="zh-CN" altLang="en-US" sz="5400" b="1" cap="none" spc="0" dirty="0">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t>Bzoj4446[SCOI2015]</a:t>
            </a:r>
            <a:r>
              <a:rPr lang="zh-CN" altLang="en-US" dirty="0" smtClean="0"/>
              <a:t>小凸玩密室</a:t>
            </a:r>
            <a:endParaRPr lang="zh-CN" altLang="en-US" dirty="0"/>
          </a:p>
        </p:txBody>
      </p:sp>
      <p:sp>
        <p:nvSpPr>
          <p:cNvPr id="3" name="内容占位符 2"/>
          <p:cNvSpPr>
            <a:spLocks noGrp="1"/>
          </p:cNvSpPr>
          <p:nvPr>
            <p:ph sz="quarter" idx="1"/>
          </p:nvPr>
        </p:nvSpPr>
        <p:spPr/>
        <p:txBody>
          <a:bodyPr/>
          <a:lstStyle/>
          <a:p>
            <a:r>
              <a:rPr lang="zh-CN" altLang="en-US" dirty="0" smtClean="0"/>
              <a:t>万一拖时间大失败了我就讲这个题</a:t>
            </a:r>
            <a:r>
              <a:rPr lang="en-US" altLang="zh-CN" dirty="0" smtClean="0"/>
              <a:t>,</a:t>
            </a:r>
            <a:r>
              <a:rPr lang="zh-CN" altLang="en-US" dirty="0" smtClean="0"/>
              <a:t>肯定讲不完</a:t>
            </a:r>
            <a:endParaRPr lang="en-US" altLang="zh-CN" dirty="0" smtClean="0"/>
          </a:p>
          <a:p>
            <a:r>
              <a:rPr lang="zh-CN" altLang="en-US" dirty="0" smtClean="0"/>
              <a:t>感觉不太可能讲到这里</a:t>
            </a:r>
            <a:r>
              <a:rPr lang="en-US" altLang="zh-CN" dirty="0" smtClean="0"/>
              <a:t>.</a:t>
            </a:r>
            <a:r>
              <a:rPr lang="zh-CN" altLang="en-US" dirty="0" smtClean="0"/>
              <a:t>所以就没有做对应的</a:t>
            </a:r>
            <a:r>
              <a:rPr lang="en-US" altLang="zh-CN" dirty="0" err="1" smtClean="0"/>
              <a:t>ppt</a:t>
            </a:r>
            <a:r>
              <a:rPr lang="en-US" altLang="zh-CN" dirty="0" smtClean="0"/>
              <a:t>…</a:t>
            </a:r>
            <a:endParaRPr lang="en-US" altLang="zh-CN" dirty="0" smtClean="0"/>
          </a:p>
          <a:p>
            <a:r>
              <a:rPr lang="zh-CN" altLang="en-US" dirty="0" smtClean="0"/>
              <a:t>总之如果不幸讲到这里我就直接带你们去</a:t>
            </a:r>
            <a:r>
              <a:rPr lang="en-US" altLang="zh-CN" dirty="0" err="1" smtClean="0"/>
              <a:t>bzoj</a:t>
            </a:r>
            <a:r>
              <a:rPr lang="zh-CN" altLang="en-US" smtClean="0"/>
              <a:t>看题</a:t>
            </a:r>
            <a:endParaRPr lang="zh-CN" altLang="en-US" dirty="0"/>
          </a:p>
        </p:txBody>
      </p:sp>
    </p:spTree>
  </p:cSld>
  <p:clrMapOvr>
    <a:masterClrMapping/>
  </p:clrMapOvr>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质朴">
  <a:themeElements>
    <a:clrScheme name="质朴">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自定义 1">
      <a:majorFont>
        <a:latin typeface="Trebuchet MS"/>
        <a:ea typeface="方正姚体"/>
        <a:cs typeface=""/>
      </a:majorFont>
      <a:minorFont>
        <a:latin typeface="Consolas"/>
        <a:ea typeface="微软雅黑"/>
        <a:cs typeface=""/>
      </a:minorFont>
    </a:fontScheme>
    <a:fmtScheme name="质朴">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Origin</Template>
  <TotalTime>0</TotalTime>
  <Words>11613</Words>
  <Application>WPS 演示</Application>
  <PresentationFormat>全屏显示(4:3)</PresentationFormat>
  <Paragraphs>453</Paragraphs>
  <Slides>54</Slides>
  <Notes>0</Notes>
  <HiddenSlides>1</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54</vt:i4>
      </vt:variant>
    </vt:vector>
  </HeadingPairs>
  <TitlesOfParts>
    <vt:vector size="65" baseType="lpstr">
      <vt:lpstr>Arial</vt:lpstr>
      <vt:lpstr>宋体</vt:lpstr>
      <vt:lpstr>Wingdings</vt:lpstr>
      <vt:lpstr>Wingdings 3</vt:lpstr>
      <vt:lpstr>Wingdings</vt:lpstr>
      <vt:lpstr>Consolas</vt:lpstr>
      <vt:lpstr>方正姚体</vt:lpstr>
      <vt:lpstr>Trebuchet MS</vt:lpstr>
      <vt:lpstr>微软雅黑</vt:lpstr>
      <vt:lpstr>Calibri</vt:lpstr>
      <vt:lpstr>质朴</vt:lpstr>
      <vt:lpstr>动态规划优化</vt:lpstr>
      <vt:lpstr>自我介绍</vt:lpstr>
      <vt:lpstr>今天讲的内容</vt:lpstr>
      <vt:lpstr>动态规划优化的一般思路</vt:lpstr>
      <vt:lpstr>线段树优化动态规划</vt:lpstr>
      <vt:lpstr>线段树优化动态规划(基本概念)</vt:lpstr>
      <vt:lpstr>线段树优化动态规划(hdu3698)</vt:lpstr>
      <vt:lpstr>线段树优化动态规划(hdu3698)</vt:lpstr>
      <vt:lpstr>线段树优化动态规划(更多题目)</vt:lpstr>
      <vt:lpstr>树状数组优化动态规划</vt:lpstr>
      <vt:lpstr>树状数组优化动态规划(基本概念)</vt:lpstr>
      <vt:lpstr>树状数组优化动态规划(LIS)</vt:lpstr>
      <vt:lpstr>树状数组优化动态规划(LIS)</vt:lpstr>
      <vt:lpstr>树状数组优化动态规划(LIS方案统计)</vt:lpstr>
      <vt:lpstr>树状数组优化动态规划(LIS方案统计)</vt:lpstr>
      <vt:lpstr>树状数组优化动态规划(更多题目)</vt:lpstr>
      <vt:lpstr>单调队列优化动态规划</vt:lpstr>
      <vt:lpstr>单调队列(基本概念)</vt:lpstr>
      <vt:lpstr>单调队列(基本概念)</vt:lpstr>
      <vt:lpstr>单调队列(基本概念)</vt:lpstr>
      <vt:lpstr>单调队列优化动态规划(基本概念)</vt:lpstr>
      <vt:lpstr>单调队列优化动态规划(多重背包)</vt:lpstr>
      <vt:lpstr>单调队列优化动态规划(多重背包)</vt:lpstr>
      <vt:lpstr>UESTC1132 酱神赏花</vt:lpstr>
      <vt:lpstr>UESTC1132 酱神赏花</vt:lpstr>
      <vt:lpstr>单调队列(更多题目)</vt:lpstr>
      <vt:lpstr>斜率优化动态规划</vt:lpstr>
      <vt:lpstr>斜率优化能优化什么样的动态规划?</vt:lpstr>
      <vt:lpstr>斜率优化大概是什么样子的?</vt:lpstr>
      <vt:lpstr>特别行动队</vt:lpstr>
      <vt:lpstr>按照套路推式子</vt:lpstr>
      <vt:lpstr>这个思路可能不是很显然</vt:lpstr>
      <vt:lpstr>继续推式子</vt:lpstr>
      <vt:lpstr>暗中观察…</vt:lpstr>
      <vt:lpstr>感觉不是很好做?</vt:lpstr>
      <vt:lpstr>这还是会TLE</vt:lpstr>
      <vt:lpstr>这思路有希望</vt:lpstr>
      <vt:lpstr>一点扩展</vt:lpstr>
      <vt:lpstr>斜率优化(更多题目)</vt:lpstr>
      <vt:lpstr>动态规划优化题目选讲</vt:lpstr>
      <vt:lpstr>﻿bzoj1801: [Ahoi2009]chess 中国象棋</vt:lpstr>
      <vt:lpstr>﻿bzoj1801: [Ahoi2009]chess 中国象棋</vt:lpstr>
      <vt:lpstr>Codeforces 464D World of Darkraft - 2 </vt:lpstr>
      <vt:lpstr>Codeforces 464D World of Darkraft - 2 </vt:lpstr>
      <vt:lpstr>Codeforces 464D World of Darkraft - 2 </vt:lpstr>
      <vt:lpstr>Codeforces 464D World of Darkraft - 2 </vt:lpstr>
      <vt:lpstr>bzoj4300 绝世好(sb)题</vt:lpstr>
      <vt:lpstr>bzoj3791 作业</vt:lpstr>
      <vt:lpstr>bzoj3791 作业</vt:lpstr>
      <vt:lpstr>PowerPoint 演示文稿</vt:lpstr>
      <vt:lpstr>PowerPoint 演示文稿</vt:lpstr>
      <vt:lpstr>PowerPoint 演示文稿</vt:lpstr>
      <vt:lpstr>PowerPoint 演示文稿</vt:lpstr>
      <vt:lpstr>Bzoj4446[SCOI2015]小凸玩密室</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动态规划1</dc:title>
  <dc:creator>hzoi</dc:creator>
  <cp:lastModifiedBy>stu</cp:lastModifiedBy>
  <cp:revision>762</cp:revision>
  <dcterms:created xsi:type="dcterms:W3CDTF">2017-05-24T07:31:00Z</dcterms:created>
  <dcterms:modified xsi:type="dcterms:W3CDTF">2017-06-01T08:13:35Z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2052-10.1.0.6490</vt:lpwstr>
  </property>
</Properties>
</file>