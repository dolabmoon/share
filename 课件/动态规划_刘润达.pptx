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8" r:id="rId4"/>
    <p:sldId id="257" r:id="rId5"/>
    <p:sldId id="277" r:id="rId6"/>
    <p:sldId id="259" r:id="rId8"/>
    <p:sldId id="261" r:id="rId9"/>
    <p:sldId id="265" r:id="rId10"/>
    <p:sldId id="260" r:id="rId11"/>
    <p:sldId id="262" r:id="rId12"/>
    <p:sldId id="263" r:id="rId13"/>
    <p:sldId id="264" r:id="rId14"/>
    <p:sldId id="266" r:id="rId15"/>
    <p:sldId id="267" r:id="rId16"/>
    <p:sldId id="268" r:id="rId17"/>
    <p:sldId id="269" r:id="rId18"/>
    <p:sldId id="335" r:id="rId19"/>
    <p:sldId id="271"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94" r:id="rId68"/>
    <p:sldId id="395" r:id="rId69"/>
    <p:sldId id="326" r:id="rId70"/>
    <p:sldId id="325" r:id="rId71"/>
    <p:sldId id="331" r:id="rId72"/>
    <p:sldId id="332" r:id="rId73"/>
    <p:sldId id="333" r:id="rId74"/>
    <p:sldId id="334" r:id="rId75"/>
    <p:sldId id="329" r:id="rId76"/>
    <p:sldId id="328" r:id="rId7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94" autoAdjust="0"/>
    <p:restoredTop sz="94660"/>
  </p:normalViewPr>
  <p:slideViewPr>
    <p:cSldViewPr>
      <p:cViewPr>
        <p:scale>
          <a:sx n="66" d="100"/>
          <a:sy n="66" d="100"/>
        </p:scale>
        <p:origin x="-151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887EB1-0778-4960-B1DB-F4A9970E06F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D5BC8-F5C7-4D2E-BA64-D4FF411E51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CDD5BC8-F5C7-4D2E-BA64-D4FF411E51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6400800" y="6355080"/>
            <a:ext cx="2286000" cy="365760"/>
          </a:xfrm>
        </p:spPr>
        <p:txBody>
          <a:bodyPr/>
          <a:lstStyle>
            <a:lvl1pPr>
              <a:defRPr sz="1400"/>
            </a:lvl1pPr>
          </a:lstStyle>
          <a:p>
            <a:fld id="{530820CF-B880-4189-942D-D702A7CBA730}" type="datetimeFigureOut">
              <a:rPr lang="zh-CN" altLang="en-US" smtClean="0"/>
            </a:fld>
            <a:endParaRPr lang="zh-CN" altLang="en-US"/>
          </a:p>
        </p:txBody>
      </p:sp>
      <p:sp>
        <p:nvSpPr>
          <p:cNvPr id="17" name="页脚占位符 16"/>
          <p:cNvSpPr>
            <a:spLocks noGrp="1"/>
          </p:cNvSpPr>
          <p:nvPr>
            <p:ph type="ftr" sz="quarter" idx="11"/>
          </p:nvPr>
        </p:nvSpPr>
        <p:spPr>
          <a:xfrm>
            <a:off x="2898648" y="6355080"/>
            <a:ext cx="3474720" cy="365760"/>
          </a:xfrm>
        </p:spPr>
        <p:txBody>
          <a:bodyPr/>
          <a:lstStyle/>
          <a:p>
            <a:endParaRPr lang="zh-CN" altLang="en-US"/>
          </a:p>
        </p:txBody>
      </p:sp>
      <p:sp>
        <p:nvSpPr>
          <p:cNvPr id="29" name="灯片编号占位符 28"/>
          <p:cNvSpPr>
            <a:spLocks noGrp="1"/>
          </p:cNvSpPr>
          <p:nvPr>
            <p:ph type="sldNum" sz="quarter" idx="12"/>
          </p:nvPr>
        </p:nvSpPr>
        <p:spPr>
          <a:xfrm>
            <a:off x="1216152" y="6355080"/>
            <a:ext cx="1219200" cy="365760"/>
          </a:xfrm>
        </p:spPr>
        <p:txBody>
          <a:bodyPr/>
          <a:lstStyle/>
          <a:p>
            <a:fld id="{0C913308-F349-4B6D-A68A-DD1791B4A57B}" type="slidenum">
              <a:rPr lang="zh-CN" altLang="en-US" smtClean="0"/>
            </a:fld>
            <a:endParaRPr lang="zh-CN" altLang="en-US"/>
          </a:p>
        </p:txBody>
      </p:sp>
      <p:sp>
        <p:nvSpPr>
          <p:cNvPr id="21" name="矩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矩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矩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矩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内容占位符 7"/>
          <p:cNvSpPr>
            <a:spLocks noGrp="1"/>
          </p:cNvSpPr>
          <p:nvPr>
            <p:ph sz="quarter" idx="1"/>
          </p:nvPr>
        </p:nvSpPr>
        <p:spPr>
          <a:xfrm>
            <a:off x="457200" y="1219200"/>
            <a:ext cx="8229600"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a:xfrm>
            <a:off x="6400800" y="6355080"/>
            <a:ext cx="2286000" cy="365760"/>
          </a:xfr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2898648" y="6355080"/>
            <a:ext cx="3474720" cy="365760"/>
          </a:xfrm>
        </p:spPr>
        <p:txBody>
          <a:bodyPr/>
          <a:lstStyle/>
          <a:p>
            <a:endParaRPr lang="zh-CN" altLang="en-US"/>
          </a:p>
        </p:txBody>
      </p:sp>
      <p:sp>
        <p:nvSpPr>
          <p:cNvPr id="6" name="灯片编号占位符 5"/>
          <p:cNvSpPr>
            <a:spLocks noGrp="1"/>
          </p:cNvSpPr>
          <p:nvPr>
            <p:ph type="sldNum" sz="quarter" idx="12"/>
          </p:nvPr>
        </p:nvSpPr>
        <p:spPr>
          <a:xfrm>
            <a:off x="1069848" y="6355080"/>
            <a:ext cx="1520952" cy="365760"/>
          </a:xfrm>
        </p:spPr>
        <p:txBody>
          <a:bodyPr/>
          <a:lstStyle/>
          <a:p>
            <a:fld id="{0C913308-F349-4B6D-A68A-DD1791B4A57B}" type="slidenum">
              <a:rPr lang="zh-CN" altLang="en-US" smtClean="0"/>
            </a:fld>
            <a:endParaRPr lang="zh-CN"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内容占位符 8"/>
          <p:cNvSpPr>
            <a:spLocks noGrp="1"/>
          </p:cNvSpPr>
          <p:nvPr>
            <p:ph sz="quarter" idx="1"/>
          </p:nvPr>
        </p:nvSpPr>
        <p:spPr>
          <a:xfrm>
            <a:off x="457200" y="1219200"/>
            <a:ext cx="4041648"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632198" y="1216152"/>
            <a:ext cx="4041648"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内容占位符 10"/>
          <p:cNvSpPr>
            <a:spLocks noGrp="1"/>
          </p:cNvSpPr>
          <p:nvPr>
            <p:ph sz="quarter" idx="2"/>
          </p:nvPr>
        </p:nvSpPr>
        <p:spPr>
          <a:xfrm>
            <a:off x="457200" y="2133600"/>
            <a:ext cx="4038600" cy="40386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648200" y="2133600"/>
            <a:ext cx="4038600" cy="40386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直接连接符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直接连接符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内容占位符 11"/>
          <p:cNvSpPr>
            <a:spLocks noGrp="1"/>
          </p:cNvSpPr>
          <p:nvPr>
            <p:ph sz="quarter" idx="1"/>
          </p:nvPr>
        </p:nvSpPr>
        <p:spPr>
          <a:xfrm>
            <a:off x="304800" y="304800"/>
            <a:ext cx="5715000" cy="57150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直接连接符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直接连接符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000">
              <a:schemeClr val="accent2">
                <a:lumMod val="75000"/>
                <a:alpha val="54000"/>
              </a:schemeClr>
            </a:gs>
            <a:gs pos="100000">
              <a:schemeClr val="bg1">
                <a:tint val="97000"/>
                <a:satMod val="220000"/>
              </a:schemeClr>
            </a:gs>
          </a:gsLst>
          <a:lin ang="8400000" scaled="0"/>
          <a:tileRect/>
        </a:gradFill>
        <a:effectLst/>
      </p:bgPr>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152400"/>
            <a:ext cx="8229600" cy="990600"/>
          </a:xfrm>
          <a:prstGeom prst="rect">
            <a:avLst/>
          </a:prstGeom>
        </p:spPr>
        <p:txBody>
          <a:bodyPr vert="horz" anchor="b" anchorCtr="0">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530820CF-B880-4189-942D-D702A7CBA730}" type="datetimeFigureOut">
              <a:rPr lang="zh-CN" altLang="en-US" smtClean="0"/>
            </a:fld>
            <a:endParaRPr lang="zh-CN" altLang="en-US"/>
          </a:p>
        </p:txBody>
      </p:sp>
      <p:sp>
        <p:nvSpPr>
          <p:cNvPr id="3" name="页脚占位符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CN" altLang="en-US"/>
          </a:p>
        </p:txBody>
      </p:sp>
      <p:sp>
        <p:nvSpPr>
          <p:cNvPr id="23" name="灯片编号占位符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0C913308-F349-4B6D-A68A-DD1791B4A57B}" type="slidenum">
              <a:rPr lang="zh-CN" altLang="en-US" smtClean="0"/>
            </a:fld>
            <a:endParaRPr lang="zh-CN" altLang="en-US"/>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uoj.ac/problem/265"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动态规划</a:t>
            </a:r>
            <a:endParaRPr lang="zh-CN" altLang="en-US" dirty="0"/>
          </a:p>
        </p:txBody>
      </p:sp>
      <p:sp>
        <p:nvSpPr>
          <p:cNvPr id="3" name="副标题 2"/>
          <p:cNvSpPr>
            <a:spLocks noGrp="1"/>
          </p:cNvSpPr>
          <p:nvPr>
            <p:ph type="subTitle" idx="1"/>
          </p:nvPr>
        </p:nvSpPr>
        <p:spPr/>
        <p:txBody>
          <a:bodyPr/>
          <a:lstStyle/>
          <a:p>
            <a:r>
              <a:rPr lang="zh-CN" altLang="en-US" dirty="0" smtClean="0"/>
              <a:t>衡水中学   刘润达</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自我介绍</a:t>
            </a:r>
            <a:endParaRPr lang="zh-CN" altLang="en-US" dirty="0"/>
          </a:p>
        </p:txBody>
      </p:sp>
      <p:sp>
        <p:nvSpPr>
          <p:cNvPr id="3" name="内容占位符 2"/>
          <p:cNvSpPr>
            <a:spLocks noGrp="1"/>
          </p:cNvSpPr>
          <p:nvPr>
            <p:ph sz="quarter" idx="1"/>
          </p:nvPr>
        </p:nvSpPr>
        <p:spPr/>
        <p:txBody>
          <a:bodyPr/>
          <a:lstStyle/>
          <a:p>
            <a:r>
              <a:rPr lang="en-US" altLang="zh-CN" dirty="0" smtClean="0"/>
              <a:t>NOIP2016 585</a:t>
            </a:r>
            <a:r>
              <a:rPr lang="zh-CN" altLang="en-US" dirty="0" smtClean="0"/>
              <a:t> </a:t>
            </a:r>
            <a:r>
              <a:rPr lang="en-US" altLang="zh-CN" dirty="0" err="1" smtClean="0"/>
              <a:t>pts,HE</a:t>
            </a:r>
            <a:r>
              <a:rPr lang="en-US" altLang="zh-CN" dirty="0" smtClean="0"/>
              <a:t> rank 1</a:t>
            </a:r>
            <a:endParaRPr lang="en-US" altLang="zh-CN" dirty="0" smtClean="0"/>
          </a:p>
          <a:p>
            <a:r>
              <a:rPr lang="en-US" altLang="zh-CN" dirty="0" smtClean="0"/>
              <a:t>WC2017 Ag</a:t>
            </a:r>
            <a:endParaRPr lang="en-US" altLang="zh-CN" dirty="0" smtClean="0"/>
          </a:p>
          <a:p>
            <a:r>
              <a:rPr lang="en-US" altLang="zh-CN" dirty="0" smtClean="0"/>
              <a:t>THUWC2017 </a:t>
            </a:r>
            <a:r>
              <a:rPr lang="zh-CN" altLang="en-US" dirty="0" smtClean="0"/>
              <a:t>一等奖</a:t>
            </a:r>
            <a:endParaRPr lang="en-US" altLang="zh-CN" dirty="0" smtClean="0"/>
          </a:p>
          <a:p>
            <a:r>
              <a:rPr lang="en-US" altLang="zh-CN" dirty="0" smtClean="0"/>
              <a:t>CTSC2017 Au</a:t>
            </a:r>
            <a:endParaRPr lang="en-US" altLang="zh-CN" dirty="0" smtClean="0"/>
          </a:p>
          <a:p>
            <a:r>
              <a:rPr lang="en-US" altLang="zh-CN" dirty="0" smtClean="0"/>
              <a:t>APIO2017</a:t>
            </a:r>
            <a:r>
              <a:rPr lang="zh-CN" altLang="en-US" dirty="0" smtClean="0"/>
              <a:t> </a:t>
            </a:r>
            <a:r>
              <a:rPr lang="en-US" altLang="zh-CN" dirty="0" smtClean="0"/>
              <a:t>Au</a:t>
            </a:r>
            <a:endParaRPr lang="en-US" altLang="zh-CN" dirty="0" smtClean="0"/>
          </a:p>
          <a:p>
            <a:r>
              <a:rPr lang="en-US" altLang="zh-CN" dirty="0" smtClean="0"/>
              <a:t>QQ:     1790865014</a:t>
            </a:r>
            <a:endParaRPr lang="en-US" altLang="zh-CN" dirty="0" smtClean="0"/>
          </a:p>
          <a:p>
            <a:r>
              <a:rPr lang="en-US" altLang="zh-CN" dirty="0" smtClean="0"/>
              <a:t>Email:</a:t>
            </a:r>
            <a:r>
              <a:rPr lang="en-US" altLang="zh-CN" dirty="0" smtClean="0">
                <a:solidFill>
                  <a:srgbClr val="00B0F0"/>
                </a:solidFill>
              </a:rPr>
              <a:t> </a:t>
            </a:r>
            <a:r>
              <a:rPr lang="en-US" altLang="zh-CN" dirty="0" smtClean="0">
                <a:solidFill>
                  <a:schemeClr val="accent2">
                    <a:lumMod val="75000"/>
                  </a:schemeClr>
                </a:solidFill>
              </a:rPr>
              <a:t>1790865014@qq.com</a:t>
            </a:r>
            <a:endParaRPr lang="en-US" altLang="zh-CN" dirty="0" smtClean="0">
              <a:solidFill>
                <a:schemeClr val="accent2">
                  <a:lumMod val="75000"/>
                </a:schemeClr>
              </a:solidFill>
            </a:endParaRPr>
          </a:p>
          <a:p>
            <a:r>
              <a:rPr lang="en-US" altLang="zh-CN" dirty="0" smtClean="0"/>
              <a:t>Blog: </a:t>
            </a:r>
            <a:r>
              <a:rPr lang="en-US" altLang="zh-CN" u="sng" dirty="0" smtClean="0">
                <a:solidFill>
                  <a:schemeClr val="accent2">
                    <a:lumMod val="75000"/>
                  </a:schemeClr>
                </a:solidFill>
              </a:rPr>
              <a:t>www.cnblogs.com/liu-runda/</a:t>
            </a:r>
            <a:endParaRPr lang="en-US" altLang="zh-CN" u="sng" dirty="0" smtClean="0">
              <a:solidFill>
                <a:schemeClr val="accent2">
                  <a:lumMod val="75000"/>
                </a:schemeClr>
              </a:solidFill>
            </a:endParaRPr>
          </a:p>
          <a:p>
            <a:r>
              <a:rPr lang="zh-CN" altLang="en-US" smtClean="0"/>
              <a:t>其实这</a:t>
            </a:r>
            <a:r>
              <a:rPr lang="zh-CN" altLang="en-US" dirty="0" smtClean="0"/>
              <a:t>博客几万年也不更新一次</a:t>
            </a: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今天讲的内容</a:t>
            </a:r>
            <a:endParaRPr lang="zh-CN" altLang="en-US" dirty="0"/>
          </a:p>
        </p:txBody>
      </p:sp>
      <p:sp>
        <p:nvSpPr>
          <p:cNvPr id="3" name="内容占位符 2"/>
          <p:cNvSpPr>
            <a:spLocks noGrp="1"/>
          </p:cNvSpPr>
          <p:nvPr>
            <p:ph sz="quarter" idx="1"/>
          </p:nvPr>
        </p:nvSpPr>
        <p:spPr/>
        <p:txBody>
          <a:bodyPr/>
          <a:lstStyle/>
          <a:p>
            <a:pPr marL="571500" indent="-571500">
              <a:buFont typeface="+mj-lt"/>
              <a:buAutoNum type="romanUcPeriod"/>
            </a:pPr>
            <a:r>
              <a:rPr lang="zh-CN" altLang="en-US" dirty="0" smtClean="0"/>
              <a:t>背包动态规划</a:t>
            </a:r>
            <a:endParaRPr lang="en-US" altLang="zh-CN" dirty="0" smtClean="0"/>
          </a:p>
          <a:p>
            <a:pPr marL="571500" indent="-571500">
              <a:buFont typeface="+mj-lt"/>
              <a:buAutoNum type="romanUcPeriod"/>
            </a:pPr>
            <a:r>
              <a:rPr lang="zh-CN" altLang="en-US" dirty="0" smtClean="0"/>
              <a:t>树形动态规划</a:t>
            </a:r>
            <a:endParaRPr lang="en-US" altLang="zh-CN" dirty="0" smtClean="0"/>
          </a:p>
          <a:p>
            <a:pPr marL="571500" indent="-571500">
              <a:buFont typeface="+mj-lt"/>
              <a:buAutoNum type="romanUcPeriod"/>
            </a:pPr>
            <a:r>
              <a:rPr lang="zh-CN" altLang="en-US" dirty="0" smtClean="0"/>
              <a:t>状态压缩动态规划</a:t>
            </a:r>
            <a:r>
              <a:rPr lang="en-US" altLang="zh-CN" dirty="0" smtClean="0">
                <a:solidFill>
                  <a:schemeClr val="accent2">
                    <a:lumMod val="75000"/>
                  </a:schemeClr>
                </a:solidFill>
              </a:rPr>
              <a:t>(noip2016</a:t>
            </a:r>
            <a:r>
              <a:rPr lang="zh-CN" altLang="en-US" dirty="0" smtClean="0">
                <a:solidFill>
                  <a:schemeClr val="accent2">
                    <a:lumMod val="75000"/>
                  </a:schemeClr>
                </a:solidFill>
              </a:rPr>
              <a:t>是联赛第一次考状压</a:t>
            </a:r>
            <a:r>
              <a:rPr lang="en-US" altLang="zh-CN" dirty="0" smtClean="0">
                <a:solidFill>
                  <a:schemeClr val="accent2">
                    <a:lumMod val="75000"/>
                  </a:schemeClr>
                </a:solidFill>
              </a:rPr>
              <a:t>)</a:t>
            </a:r>
            <a:endParaRPr lang="en-US" altLang="zh-CN" dirty="0" smtClean="0">
              <a:solidFill>
                <a:schemeClr val="accent2">
                  <a:lumMod val="75000"/>
                </a:schemeClr>
              </a:solidFill>
            </a:endParaRPr>
          </a:p>
          <a:p>
            <a:pPr marL="571500" indent="-571500">
              <a:buFont typeface="+mj-lt"/>
              <a:buAutoNum type="romanUcPeriod"/>
            </a:pPr>
            <a:r>
              <a:rPr lang="zh-CN" altLang="en-US" dirty="0" smtClean="0"/>
              <a:t>数位动态规划</a:t>
            </a:r>
            <a:endParaRPr lang="en-US" altLang="zh-CN" dirty="0" smtClean="0"/>
          </a:p>
          <a:p>
            <a:pPr marL="571500" indent="-571500">
              <a:buFont typeface="+mj-lt"/>
              <a:buAutoNum type="romanUcPeriod"/>
            </a:pPr>
            <a:r>
              <a:rPr lang="zh-CN" altLang="en-US" dirty="0" smtClean="0"/>
              <a:t>期望</a:t>
            </a:r>
            <a:r>
              <a:rPr lang="en-US" altLang="zh-CN" dirty="0" smtClean="0"/>
              <a:t>,</a:t>
            </a:r>
            <a:r>
              <a:rPr lang="zh-CN" altLang="en-US" dirty="0" smtClean="0"/>
              <a:t>概率动态规划</a:t>
            </a:r>
            <a:r>
              <a:rPr lang="en-US" altLang="zh-CN" dirty="0" smtClean="0">
                <a:solidFill>
                  <a:schemeClr val="accent2">
                    <a:lumMod val="75000"/>
                  </a:schemeClr>
                </a:solidFill>
              </a:rPr>
              <a:t>(noip2016</a:t>
            </a:r>
            <a:r>
              <a:rPr lang="zh-CN" altLang="en-US" dirty="0" smtClean="0">
                <a:solidFill>
                  <a:schemeClr val="accent2">
                    <a:lumMod val="75000"/>
                  </a:schemeClr>
                </a:solidFill>
              </a:rPr>
              <a:t>是联赛第一次考期望</a:t>
            </a:r>
            <a:r>
              <a:rPr lang="en-US" altLang="zh-CN" dirty="0" smtClean="0">
                <a:solidFill>
                  <a:schemeClr val="accent2">
                    <a:lumMod val="75000"/>
                  </a:schemeClr>
                </a:solidFill>
              </a:rPr>
              <a:t>)</a:t>
            </a:r>
            <a:endParaRPr lang="en-US" altLang="zh-CN" dirty="0" smtClean="0">
              <a:solidFill>
                <a:schemeClr val="accent2">
                  <a:lumMod val="75000"/>
                </a:schemeClr>
              </a:solidFill>
            </a:endParaRPr>
          </a:p>
          <a:p>
            <a:pPr marL="571500" indent="-571500">
              <a:buNone/>
            </a:pPr>
            <a:r>
              <a:rPr lang="en-US" altLang="zh-CN" dirty="0" smtClean="0"/>
              <a:t>	</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solidFill>
                  <a:schemeClr val="tx2">
                    <a:lumMod val="75000"/>
                  </a:schemeClr>
                </a:solidFill>
              </a:rPr>
              <a:t>背包动态规划</a:t>
            </a:r>
            <a:endParaRPr lang="zh-CN" altLang="en-US" dirty="0">
              <a:solidFill>
                <a:schemeClr val="tx2">
                  <a:lumMod val="75000"/>
                </a:schemeClr>
              </a:solidFill>
            </a:endParaRPr>
          </a:p>
        </p:txBody>
      </p:sp>
      <p:sp>
        <p:nvSpPr>
          <p:cNvPr id="5" name="文本占位符 4"/>
          <p:cNvSpPr>
            <a:spLocks noGrp="1"/>
          </p:cNvSpPr>
          <p:nvPr>
            <p:ph type="body" idx="1"/>
          </p:nvPr>
        </p:nvSpPr>
        <p:spPr/>
        <p:txBody>
          <a:bodyPr/>
          <a:lstStyle/>
          <a:p>
            <a:endParaRPr lang="zh-CN" altLang="en-US" dirty="0">
              <a:solidFill>
                <a:schemeClr val="tx2">
                  <a:lumMod val="75000"/>
                </a:schemeClr>
              </a:solidFill>
              <a:latin typeface="+mj-ea"/>
              <a:ea typeface="+mj-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(01</a:t>
            </a:r>
            <a:r>
              <a:rPr lang="zh-CN" altLang="en-US" dirty="0" smtClean="0"/>
              <a:t>背包</a:t>
            </a:r>
            <a:r>
              <a:rPr lang="en-US" altLang="zh-CN" dirty="0" smtClean="0"/>
              <a:t>,</a:t>
            </a:r>
            <a:r>
              <a:rPr lang="zh-CN" altLang="en-US" dirty="0" smtClean="0"/>
              <a:t>完全背包</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基本背包问题大家应该都掌握了</a:t>
            </a:r>
            <a:r>
              <a:rPr lang="en-US" altLang="zh-CN" sz="2400" dirty="0" smtClean="0"/>
              <a:t>,</a:t>
            </a:r>
            <a:r>
              <a:rPr lang="zh-CN" altLang="en-US" sz="2400" dirty="0" smtClean="0"/>
              <a:t>快速回顾一下</a:t>
            </a:r>
            <a:endParaRPr lang="en-US" altLang="zh-CN" sz="2400" dirty="0" smtClean="0"/>
          </a:p>
          <a:p>
            <a:r>
              <a:rPr lang="zh-CN" altLang="en-US" sz="2400" dirty="0" smtClean="0"/>
              <a:t>一般的背包问题中都有</a:t>
            </a:r>
            <a:r>
              <a:rPr lang="en-US" altLang="zh-CN" sz="2400" dirty="0" smtClean="0"/>
              <a:t>n</a:t>
            </a:r>
            <a:r>
              <a:rPr lang="zh-CN" altLang="en-US" sz="2400" dirty="0" smtClean="0"/>
              <a:t>种物品</a:t>
            </a:r>
            <a:r>
              <a:rPr lang="en-US" altLang="zh-CN" sz="2400" dirty="0" smtClean="0"/>
              <a:t>,</a:t>
            </a:r>
            <a:r>
              <a:rPr lang="zh-CN" altLang="en-US" sz="2400" dirty="0" smtClean="0"/>
              <a:t>第</a:t>
            </a:r>
            <a:r>
              <a:rPr lang="en-US" altLang="zh-CN" sz="2400" dirty="0" err="1" smtClean="0"/>
              <a:t>i</a:t>
            </a:r>
            <a:r>
              <a:rPr lang="zh-CN" altLang="en-US" sz="2400" dirty="0" smtClean="0"/>
              <a:t>种物品重量为</a:t>
            </a:r>
            <a:r>
              <a:rPr lang="en-US" altLang="zh-CN" sz="2400" dirty="0" err="1" smtClean="0"/>
              <a:t>wi</a:t>
            </a:r>
            <a:r>
              <a:rPr lang="en-US" altLang="zh-CN" sz="2400" dirty="0" smtClean="0"/>
              <a:t>,</a:t>
            </a:r>
            <a:r>
              <a:rPr lang="zh-CN" altLang="en-US" sz="2400" dirty="0" smtClean="0"/>
              <a:t>价值为</a:t>
            </a:r>
            <a:r>
              <a:rPr lang="en-US" altLang="zh-CN" sz="2400" dirty="0" smtClean="0"/>
              <a:t>vi,</a:t>
            </a:r>
            <a:r>
              <a:rPr lang="zh-CN" altLang="en-US" sz="2400" dirty="0" smtClean="0"/>
              <a:t>在一定的限制下选出总重量不超过容量</a:t>
            </a:r>
            <a:r>
              <a:rPr lang="en-US" altLang="zh-CN" sz="2400" dirty="0" smtClean="0"/>
              <a:t>m</a:t>
            </a:r>
            <a:r>
              <a:rPr lang="zh-CN" altLang="en-US" sz="2400" dirty="0" smtClean="0"/>
              <a:t>的物品</a:t>
            </a:r>
            <a:r>
              <a:rPr lang="en-US" altLang="zh-CN" sz="2400" dirty="0" smtClean="0"/>
              <a:t>,</a:t>
            </a:r>
            <a:r>
              <a:rPr lang="zh-CN" altLang="en-US" sz="2400" dirty="0" smtClean="0"/>
              <a:t>最大化价值之和</a:t>
            </a:r>
            <a:r>
              <a:rPr lang="en-US" altLang="zh-CN" sz="2400" dirty="0" smtClean="0"/>
              <a:t>.</a:t>
            </a:r>
            <a:endParaRPr lang="en-US" altLang="zh-CN" sz="2400" dirty="0" smtClean="0"/>
          </a:p>
          <a:p>
            <a:r>
              <a:rPr lang="en-US" altLang="zh-CN" sz="2400" dirty="0" smtClean="0"/>
              <a:t>01</a:t>
            </a:r>
            <a:r>
              <a:rPr lang="zh-CN" altLang="en-US" sz="2400" dirty="0" smtClean="0"/>
              <a:t>背包</a:t>
            </a:r>
            <a:r>
              <a:rPr lang="en-US" altLang="zh-CN" sz="2400" dirty="0" smtClean="0"/>
              <a:t>:</a:t>
            </a:r>
            <a:r>
              <a:rPr lang="zh-CN" altLang="en-US" sz="2400" dirty="0" smtClean="0"/>
              <a:t>每种物品最多选一个</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][j]=max(f[i-1][j],f[i-1][j-</a:t>
            </a:r>
            <a:r>
              <a:rPr lang="en-US" altLang="zh-CN" sz="2400" dirty="0" err="1" smtClean="0"/>
              <a:t>wi</a:t>
            </a:r>
            <a:r>
              <a:rPr lang="en-US" altLang="zh-CN" sz="2400" dirty="0" smtClean="0"/>
              <a:t>]+vi)</a:t>
            </a:r>
            <a:endParaRPr lang="en-US" altLang="zh-CN" sz="2400" dirty="0" smtClean="0"/>
          </a:p>
          <a:p>
            <a:r>
              <a:rPr lang="zh-CN" altLang="en-US" sz="2400" dirty="0" smtClean="0"/>
              <a:t>完全背包</a:t>
            </a:r>
            <a:r>
              <a:rPr lang="en-US" altLang="zh-CN" sz="2400" dirty="0" smtClean="0"/>
              <a:t>:</a:t>
            </a:r>
            <a:r>
              <a:rPr lang="zh-CN" altLang="en-US" sz="2400" dirty="0" smtClean="0"/>
              <a:t>每种物品的数量有无限个</a:t>
            </a:r>
            <a:endParaRPr lang="en-US" altLang="zh-CN" sz="2400" dirty="0" smtClean="0"/>
          </a:p>
          <a:p>
            <a:r>
              <a:rPr lang="en-US" altLang="zh-CN" sz="2400" dirty="0" smtClean="0"/>
              <a:t>f[</a:t>
            </a:r>
            <a:r>
              <a:rPr lang="en-US" altLang="zh-CN" sz="2400" dirty="0" err="1" smtClean="0"/>
              <a:t>i</a:t>
            </a:r>
            <a:r>
              <a:rPr lang="en-US" altLang="zh-CN" sz="2400" dirty="0" smtClean="0"/>
              <a:t>][j]=max(f[i-1][j],f[</a:t>
            </a:r>
            <a:r>
              <a:rPr lang="en-US" altLang="zh-CN" sz="2400" dirty="0" err="1" smtClean="0"/>
              <a:t>i</a:t>
            </a:r>
            <a:r>
              <a:rPr lang="en-US" altLang="zh-CN" sz="2400" dirty="0" smtClean="0"/>
              <a:t>][j-</a:t>
            </a:r>
            <a:r>
              <a:rPr lang="en-US" altLang="zh-CN" sz="2400" dirty="0" err="1" smtClean="0"/>
              <a:t>wi</a:t>
            </a:r>
            <a:r>
              <a:rPr lang="en-US" altLang="zh-CN" sz="2400" dirty="0" smtClean="0"/>
              <a:t>]+vi)</a:t>
            </a:r>
            <a:endParaRPr lang="en-US" altLang="zh-CN" sz="2400" dirty="0" smtClean="0"/>
          </a:p>
          <a:p>
            <a:r>
              <a:rPr lang="zh-CN" altLang="en-US" sz="2400" dirty="0" smtClean="0"/>
              <a:t>这两个问题的空间复杂度都可以做到</a:t>
            </a:r>
            <a:r>
              <a:rPr lang="en-US" altLang="zh-CN" sz="2400" dirty="0" smtClean="0"/>
              <a:t>O(m),</a:t>
            </a:r>
            <a:r>
              <a:rPr lang="zh-CN" altLang="en-US" sz="2400" dirty="0" smtClean="0"/>
              <a:t>只需要开一个大小为</a:t>
            </a:r>
            <a:r>
              <a:rPr lang="en-US" altLang="zh-CN" sz="2400" dirty="0" smtClean="0"/>
              <a:t>m</a:t>
            </a:r>
            <a:r>
              <a:rPr lang="zh-CN" altLang="en-US" sz="2400" dirty="0" smtClean="0"/>
              <a:t>的数组</a:t>
            </a:r>
            <a:r>
              <a:rPr lang="en-US" altLang="zh-CN" sz="2400" dirty="0" smtClean="0"/>
              <a:t>.</a:t>
            </a:r>
            <a:r>
              <a:rPr lang="zh-CN" altLang="en-US" sz="2400" dirty="0" smtClean="0"/>
              <a:t>在</a:t>
            </a:r>
            <a:r>
              <a:rPr lang="en-US" altLang="zh-CN" sz="2400" dirty="0" err="1" smtClean="0"/>
              <a:t>Dp</a:t>
            </a:r>
            <a:r>
              <a:rPr lang="zh-CN" altLang="en-US" sz="2400" dirty="0" smtClean="0"/>
              <a:t>的过程中</a:t>
            </a:r>
            <a:r>
              <a:rPr lang="en-US" altLang="zh-CN" sz="2400" dirty="0" smtClean="0"/>
              <a:t>,</a:t>
            </a:r>
            <a:r>
              <a:rPr lang="zh-CN" altLang="en-US" sz="2400" dirty="0" smtClean="0"/>
              <a:t>这个数组的前一半和后一半分别属于第</a:t>
            </a:r>
            <a:r>
              <a:rPr lang="en-US" altLang="zh-CN" sz="2400" dirty="0" err="1" smtClean="0"/>
              <a:t>i</a:t>
            </a:r>
            <a:r>
              <a:rPr lang="zh-CN" altLang="en-US" sz="2400" dirty="0" smtClean="0"/>
              <a:t>层和第</a:t>
            </a:r>
            <a:r>
              <a:rPr lang="en-US" altLang="zh-CN" sz="2400" dirty="0" smtClean="0"/>
              <a:t>i-1</a:t>
            </a:r>
            <a:r>
              <a:rPr lang="zh-CN" altLang="en-US" sz="2400" dirty="0" smtClean="0"/>
              <a:t>层</a:t>
            </a:r>
            <a:r>
              <a:rPr lang="en-US" altLang="zh-CN" sz="2400" dirty="0" smtClean="0"/>
              <a:t>.</a:t>
            </a:r>
            <a:endParaRPr lang="zh-CN" altLang="en-US" sz="2400" dirty="0" smtClean="0"/>
          </a:p>
          <a:p>
            <a:endParaRPr lang="zh-CN"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(01</a:t>
            </a:r>
            <a:r>
              <a:rPr lang="zh-CN" altLang="en-US" dirty="0" smtClean="0"/>
              <a:t>背包</a:t>
            </a:r>
            <a:r>
              <a:rPr lang="en-US" altLang="zh-CN" dirty="0" smtClean="0"/>
              <a:t>,</a:t>
            </a:r>
            <a:r>
              <a:rPr lang="zh-CN" altLang="en-US" dirty="0" smtClean="0"/>
              <a:t>完全背包</a:t>
            </a:r>
            <a:r>
              <a:rPr lang="en-US" altLang="zh-CN" dirty="0" smtClean="0"/>
              <a:t>)</a:t>
            </a:r>
            <a:endParaRPr lang="zh-CN" altLang="en-US" dirty="0"/>
          </a:p>
        </p:txBody>
      </p:sp>
      <p:pic>
        <p:nvPicPr>
          <p:cNvPr id="1027" name="Picture 3"/>
          <p:cNvPicPr>
            <a:picLocks noGrp="1" noChangeAspect="1" noChangeArrowheads="1"/>
          </p:cNvPicPr>
          <p:nvPr>
            <p:ph sz="quarter" idx="1"/>
          </p:nvPr>
        </p:nvPicPr>
        <p:blipFill>
          <a:blip r:embed="rId1"/>
          <a:srcRect/>
          <a:stretch>
            <a:fillRect/>
          </a:stretch>
        </p:blipFill>
        <p:spPr bwMode="auto">
          <a:xfrm>
            <a:off x="714348" y="1500174"/>
            <a:ext cx="7286676" cy="474072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(01</a:t>
            </a:r>
            <a:r>
              <a:rPr lang="zh-CN" altLang="en-US" dirty="0" smtClean="0"/>
              <a:t>背包</a:t>
            </a:r>
            <a:r>
              <a:rPr lang="en-US" altLang="zh-CN" dirty="0" smtClean="0"/>
              <a:t>,</a:t>
            </a:r>
            <a:r>
              <a:rPr lang="zh-CN" altLang="en-US" dirty="0" smtClean="0"/>
              <a:t>完全背包</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输出</a:t>
            </a:r>
            <a:r>
              <a:rPr lang="en-US" altLang="zh-CN" sz="2400" dirty="0" smtClean="0"/>
              <a:t>01</a:t>
            </a:r>
            <a:r>
              <a:rPr lang="zh-CN" altLang="en-US" sz="2400" dirty="0" smtClean="0"/>
              <a:t>背包的一组方案</a:t>
            </a:r>
            <a:r>
              <a:rPr lang="en-US" altLang="zh-CN" sz="2400" dirty="0" smtClean="0"/>
              <a:t>?(thuwc2017</a:t>
            </a:r>
            <a:r>
              <a:rPr lang="zh-CN" altLang="en-US" sz="2400" dirty="0" smtClean="0"/>
              <a:t>提答的一个点</a:t>
            </a:r>
            <a:r>
              <a:rPr lang="en-US" altLang="zh-CN" sz="2400" dirty="0" smtClean="0"/>
              <a:t>)</a:t>
            </a:r>
            <a:endParaRPr lang="en-US" altLang="zh-CN" sz="2400" dirty="0" smtClean="0"/>
          </a:p>
          <a:p>
            <a:r>
              <a:rPr lang="zh-CN" altLang="en-US" sz="2400" dirty="0" smtClean="0"/>
              <a:t>此时无法使用滚动数组</a:t>
            </a:r>
            <a:r>
              <a:rPr lang="en-US" altLang="zh-CN" sz="2400" dirty="0" smtClean="0"/>
              <a:t>,</a:t>
            </a:r>
            <a:r>
              <a:rPr lang="zh-CN" altLang="en-US" sz="2400" dirty="0" smtClean="0"/>
              <a:t>必须用</a:t>
            </a:r>
            <a:r>
              <a:rPr lang="en-US" altLang="zh-CN" sz="2400" dirty="0" smtClean="0"/>
              <a:t>O(nm)</a:t>
            </a:r>
            <a:r>
              <a:rPr lang="zh-CN" altLang="en-US" sz="2400" dirty="0" smtClean="0"/>
              <a:t>的空间保存整个</a:t>
            </a:r>
            <a:r>
              <a:rPr lang="en-US" altLang="zh-CN" sz="2400" dirty="0" smtClean="0"/>
              <a:t>DP</a:t>
            </a:r>
            <a:r>
              <a:rPr lang="zh-CN" altLang="en-US" sz="2400" dirty="0" smtClean="0"/>
              <a:t>数组</a:t>
            </a:r>
            <a:r>
              <a:rPr lang="en-US" altLang="zh-CN" sz="2400" dirty="0" smtClean="0"/>
              <a:t>.</a:t>
            </a:r>
            <a:endParaRPr lang="en-US" altLang="zh-CN" sz="2400" dirty="0" smtClean="0"/>
          </a:p>
          <a:p>
            <a:r>
              <a:rPr lang="zh-CN" altLang="en-US" sz="2400" dirty="0" smtClean="0"/>
              <a:t>考虑输出</a:t>
            </a:r>
            <a:r>
              <a:rPr lang="en-US" altLang="zh-CN" sz="2400" dirty="0" smtClean="0"/>
              <a:t>f[</a:t>
            </a:r>
            <a:r>
              <a:rPr lang="en-US" altLang="zh-CN" sz="2400" dirty="0" err="1" smtClean="0"/>
              <a:t>i</a:t>
            </a:r>
            <a:r>
              <a:rPr lang="en-US" altLang="zh-CN" sz="2400" dirty="0" smtClean="0"/>
              <a:t>][j]</a:t>
            </a:r>
            <a:r>
              <a:rPr lang="zh-CN" altLang="en-US" sz="2400" dirty="0" smtClean="0"/>
              <a:t>的方案</a:t>
            </a:r>
            <a:r>
              <a:rPr lang="en-US" altLang="zh-CN" sz="2400" dirty="0" smtClean="0"/>
              <a:t>.</a:t>
            </a:r>
            <a:endParaRPr lang="en-US" altLang="zh-CN" sz="2400" dirty="0" smtClean="0"/>
          </a:p>
          <a:p>
            <a:r>
              <a:rPr lang="zh-CN" altLang="en-US" sz="2400" dirty="0" smtClean="0"/>
              <a:t>比较</a:t>
            </a:r>
            <a:r>
              <a:rPr lang="en-US" altLang="zh-CN" sz="2400" dirty="0" smtClean="0"/>
              <a:t>f[i-1][j]</a:t>
            </a:r>
            <a:r>
              <a:rPr lang="zh-CN" altLang="en-US" sz="2400" dirty="0" smtClean="0"/>
              <a:t>和</a:t>
            </a:r>
            <a:r>
              <a:rPr lang="en-US" altLang="zh-CN" sz="2400" dirty="0" smtClean="0"/>
              <a:t>f[i-1][j-w[</a:t>
            </a:r>
            <a:r>
              <a:rPr lang="en-US" altLang="zh-CN" sz="2400" dirty="0" err="1" smtClean="0"/>
              <a:t>i</a:t>
            </a:r>
            <a:r>
              <a:rPr lang="en-US" altLang="zh-CN" sz="2400" dirty="0" smtClean="0"/>
              <a:t>]]+v[</a:t>
            </a:r>
            <a:r>
              <a:rPr lang="en-US" altLang="zh-CN" sz="2400" dirty="0" err="1" smtClean="0"/>
              <a:t>i</a:t>
            </a:r>
            <a:r>
              <a:rPr lang="en-US" altLang="zh-CN" sz="2400" dirty="0" smtClean="0"/>
              <a:t>]</a:t>
            </a:r>
            <a:r>
              <a:rPr lang="zh-CN" altLang="en-US" sz="2400" dirty="0" smtClean="0"/>
              <a:t>的大小</a:t>
            </a:r>
            <a:r>
              <a:rPr lang="en-US" altLang="zh-CN" sz="2400" dirty="0" smtClean="0"/>
              <a:t>,</a:t>
            </a:r>
            <a:r>
              <a:rPr lang="zh-CN" altLang="en-US" sz="2400" dirty="0" smtClean="0"/>
              <a:t>决定是否选择第</a:t>
            </a:r>
            <a:r>
              <a:rPr lang="en-US" altLang="zh-CN" sz="2400" dirty="0" err="1" smtClean="0"/>
              <a:t>i</a:t>
            </a:r>
            <a:r>
              <a:rPr lang="zh-CN" altLang="en-US" sz="2400" dirty="0" smtClean="0"/>
              <a:t>个物品</a:t>
            </a:r>
            <a:r>
              <a:rPr lang="en-US" altLang="zh-CN" sz="2400" dirty="0" smtClean="0"/>
              <a:t>,</a:t>
            </a:r>
            <a:r>
              <a:rPr lang="zh-CN" altLang="en-US" sz="2400" dirty="0" smtClean="0"/>
              <a:t>递归打印即可</a:t>
            </a:r>
            <a:r>
              <a:rPr lang="en-US" altLang="zh-CN" sz="2400" dirty="0" smtClean="0"/>
              <a:t>.</a:t>
            </a:r>
            <a:endParaRPr lang="en-US" altLang="zh-CN" sz="2400" dirty="0" smtClean="0"/>
          </a:p>
          <a:p>
            <a:endParaRPr lang="zh-CN" altLang="en-US" sz="2400" dirty="0"/>
          </a:p>
        </p:txBody>
      </p:sp>
      <p:pic>
        <p:nvPicPr>
          <p:cNvPr id="3076" name="Picture 4"/>
          <p:cNvPicPr>
            <a:picLocks noChangeAspect="1" noChangeArrowheads="1"/>
          </p:cNvPicPr>
          <p:nvPr/>
        </p:nvPicPr>
        <p:blipFill>
          <a:blip r:embed="rId1"/>
          <a:srcRect/>
          <a:stretch>
            <a:fillRect/>
          </a:stretch>
        </p:blipFill>
        <p:spPr bwMode="auto">
          <a:xfrm>
            <a:off x="857224" y="4000504"/>
            <a:ext cx="6735361" cy="22526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a:t>
            </a:r>
            <a:r>
              <a:rPr lang="zh-CN" altLang="en-US" dirty="0" smtClean="0"/>
              <a:t>多重背包</a:t>
            </a:r>
            <a:r>
              <a:rPr lang="en-US" altLang="zh-CN" dirty="0" smtClean="0"/>
              <a:t>,</a:t>
            </a:r>
            <a:r>
              <a:rPr lang="zh-CN" altLang="en-US" dirty="0" smtClean="0"/>
              <a:t>分组背包</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多重背包</a:t>
            </a:r>
            <a:r>
              <a:rPr lang="en-US" altLang="zh-CN" sz="2400" dirty="0" smtClean="0"/>
              <a:t>(</a:t>
            </a:r>
            <a:r>
              <a:rPr lang="zh-CN" altLang="en-US" sz="2400" dirty="0" smtClean="0"/>
              <a:t>每种物品有一个数量限制</a:t>
            </a:r>
            <a:r>
              <a:rPr lang="en-US" altLang="zh-CN" sz="2400" dirty="0" smtClean="0"/>
              <a:t>C):</a:t>
            </a:r>
            <a:endParaRPr lang="en-US" altLang="zh-CN" sz="2400" dirty="0" smtClean="0"/>
          </a:p>
          <a:p>
            <a:r>
              <a:rPr lang="zh-CN" altLang="en-US" sz="2400" dirty="0" smtClean="0"/>
              <a:t>算法</a:t>
            </a:r>
            <a:r>
              <a:rPr lang="en-US" altLang="zh-CN" sz="2400" dirty="0" smtClean="0"/>
              <a:t>1:</a:t>
            </a:r>
            <a:r>
              <a:rPr lang="zh-CN" altLang="en-US" sz="2400" dirty="0" smtClean="0"/>
              <a:t>二进制分组</a:t>
            </a:r>
            <a:r>
              <a:rPr lang="en-US" altLang="zh-CN" sz="2400" dirty="0" smtClean="0"/>
              <a:t>,</a:t>
            </a:r>
            <a:r>
              <a:rPr lang="zh-CN" altLang="en-US" sz="2400" dirty="0" smtClean="0"/>
              <a:t>我们可以把某种物品按照二进制捆绑成几组</a:t>
            </a:r>
            <a:r>
              <a:rPr lang="en-US" altLang="zh-CN" sz="2400" dirty="0" smtClean="0"/>
              <a:t>,</a:t>
            </a:r>
            <a:r>
              <a:rPr lang="zh-CN" altLang="en-US" sz="2400" dirty="0" smtClean="0"/>
              <a:t>某一组要么都选要么都不选</a:t>
            </a:r>
            <a:r>
              <a:rPr lang="en-US" altLang="zh-CN" sz="2400" dirty="0" smtClean="0"/>
              <a:t>,</a:t>
            </a:r>
            <a:r>
              <a:rPr lang="zh-CN" altLang="en-US" sz="2400" dirty="0" smtClean="0"/>
              <a:t>使得任意数目的选择方式都可以用这几组表示出来</a:t>
            </a:r>
            <a:r>
              <a:rPr lang="en-US" altLang="zh-CN" sz="2400" dirty="0" smtClean="0"/>
              <a:t>.</a:t>
            </a:r>
            <a:endParaRPr lang="en-US" altLang="zh-CN" sz="2400" dirty="0" smtClean="0"/>
          </a:p>
          <a:p>
            <a:r>
              <a:rPr lang="zh-CN" altLang="en-US" sz="2400" dirty="0" smtClean="0"/>
              <a:t>例如有</a:t>
            </a:r>
            <a:r>
              <a:rPr lang="en-US" altLang="zh-CN" sz="2400" dirty="0" smtClean="0"/>
              <a:t>13</a:t>
            </a:r>
            <a:r>
              <a:rPr lang="zh-CN" altLang="en-US" sz="2400" dirty="0" smtClean="0"/>
              <a:t>个物品</a:t>
            </a:r>
            <a:r>
              <a:rPr lang="en-US" altLang="zh-CN" sz="2400" dirty="0" smtClean="0"/>
              <a:t>,</a:t>
            </a:r>
            <a:r>
              <a:rPr lang="zh-CN" altLang="en-US" sz="2400" dirty="0" smtClean="0"/>
              <a:t>重量均为</a:t>
            </a:r>
            <a:r>
              <a:rPr lang="en-US" altLang="zh-CN" sz="2400" dirty="0" err="1" smtClean="0"/>
              <a:t>wi</a:t>
            </a:r>
            <a:r>
              <a:rPr lang="en-US" altLang="zh-CN" sz="2400" dirty="0" smtClean="0"/>
              <a:t>,</a:t>
            </a:r>
            <a:r>
              <a:rPr lang="zh-CN" altLang="en-US" sz="2400" dirty="0" smtClean="0"/>
              <a:t>价值均为</a:t>
            </a:r>
            <a:r>
              <a:rPr lang="en-US" altLang="zh-CN" sz="2400" dirty="0" smtClean="0"/>
              <a:t>vi,</a:t>
            </a:r>
            <a:r>
              <a:rPr lang="zh-CN" altLang="en-US" sz="2400" dirty="0" smtClean="0"/>
              <a:t>那么拆成</a:t>
            </a:r>
            <a:r>
              <a:rPr lang="en-US" altLang="zh-CN" sz="2400" dirty="0" smtClean="0"/>
              <a:t>1,2,4,6</a:t>
            </a:r>
            <a:r>
              <a:rPr lang="zh-CN" altLang="en-US" sz="2400" dirty="0" smtClean="0"/>
              <a:t>四个物品</a:t>
            </a:r>
            <a:r>
              <a:rPr lang="en-US" altLang="zh-CN" sz="2400" dirty="0" smtClean="0"/>
              <a:t>(</a:t>
            </a:r>
            <a:r>
              <a:rPr lang="zh-CN" altLang="en-US" sz="2400" dirty="0" smtClean="0"/>
              <a:t>重量分别为</a:t>
            </a:r>
            <a:r>
              <a:rPr lang="en-US" altLang="zh-CN" sz="2400" dirty="0" err="1" smtClean="0"/>
              <a:t>wi</a:t>
            </a:r>
            <a:r>
              <a:rPr lang="zh-CN" altLang="en-US" sz="2400" dirty="0" smtClean="0"/>
              <a:t>的</a:t>
            </a:r>
            <a:r>
              <a:rPr lang="en-US" altLang="zh-CN" sz="2400" dirty="0" smtClean="0"/>
              <a:t>1,2,4,6</a:t>
            </a:r>
            <a:r>
              <a:rPr lang="zh-CN" altLang="en-US" sz="2400" dirty="0" smtClean="0"/>
              <a:t>倍</a:t>
            </a:r>
            <a:r>
              <a:rPr lang="en-US" altLang="zh-CN" sz="2400" dirty="0" smtClean="0"/>
              <a:t>,</a:t>
            </a:r>
            <a:r>
              <a:rPr lang="zh-CN" altLang="en-US" sz="2400" dirty="0" smtClean="0"/>
              <a:t>价值分别为</a:t>
            </a:r>
            <a:r>
              <a:rPr lang="en-US" altLang="zh-CN" sz="2400" dirty="0" smtClean="0"/>
              <a:t>vi</a:t>
            </a:r>
            <a:r>
              <a:rPr lang="zh-CN" altLang="en-US" sz="2400" dirty="0" smtClean="0"/>
              <a:t>的</a:t>
            </a:r>
            <a:r>
              <a:rPr lang="en-US" altLang="zh-CN" sz="2400" dirty="0" smtClean="0"/>
              <a:t>1,2,4,6</a:t>
            </a:r>
            <a:r>
              <a:rPr lang="zh-CN" altLang="en-US" sz="2400" dirty="0" smtClean="0"/>
              <a:t>倍</a:t>
            </a:r>
            <a:r>
              <a:rPr lang="en-US" altLang="zh-CN" sz="2400" dirty="0" smtClean="0"/>
              <a:t>).</a:t>
            </a:r>
            <a:endParaRPr lang="en-US" altLang="zh-CN" sz="2400" dirty="0" smtClean="0"/>
          </a:p>
          <a:p>
            <a:r>
              <a:rPr lang="zh-CN" altLang="en-US" sz="2400" dirty="0" smtClean="0"/>
              <a:t>然后对新的物品</a:t>
            </a:r>
            <a:r>
              <a:rPr lang="en-US" altLang="zh-CN" sz="2400" dirty="0" smtClean="0"/>
              <a:t>(</a:t>
            </a:r>
            <a:r>
              <a:rPr lang="en-US" altLang="zh-CN" sz="2400" dirty="0" err="1" smtClean="0"/>
              <a:t>nlogC</a:t>
            </a:r>
            <a:r>
              <a:rPr lang="zh-CN" altLang="en-US" sz="2400" dirty="0" smtClean="0"/>
              <a:t>个</a:t>
            </a:r>
            <a:r>
              <a:rPr lang="en-US" altLang="zh-CN" sz="2400" dirty="0" smtClean="0"/>
              <a:t>)</a:t>
            </a:r>
            <a:r>
              <a:rPr lang="zh-CN" altLang="en-US" sz="2400" dirty="0" smtClean="0"/>
              <a:t>跑</a:t>
            </a:r>
            <a:r>
              <a:rPr lang="en-US" altLang="zh-CN" sz="2400" dirty="0" smtClean="0"/>
              <a:t>01</a:t>
            </a:r>
            <a:r>
              <a:rPr lang="zh-CN" altLang="en-US" sz="2400" dirty="0" smtClean="0"/>
              <a:t>背包</a:t>
            </a:r>
            <a:endParaRPr lang="en-US" altLang="zh-CN" sz="2400" dirty="0" smtClean="0"/>
          </a:p>
          <a:p>
            <a:r>
              <a:rPr lang="zh-CN" altLang="en-US" sz="2400" dirty="0" smtClean="0"/>
              <a:t>算法</a:t>
            </a:r>
            <a:r>
              <a:rPr lang="en-US" altLang="zh-CN" sz="2400" dirty="0" smtClean="0"/>
              <a:t>2:</a:t>
            </a:r>
            <a:r>
              <a:rPr lang="zh-CN" altLang="en-US" sz="2400" dirty="0" smtClean="0"/>
              <a:t>单调队列优化</a:t>
            </a:r>
            <a:r>
              <a:rPr lang="en-US" altLang="zh-CN" sz="2400" dirty="0" smtClean="0"/>
              <a:t>,</a:t>
            </a:r>
            <a:r>
              <a:rPr lang="zh-CN" altLang="en-US" sz="2400" dirty="0" smtClean="0"/>
              <a:t>时间复杂度为</a:t>
            </a:r>
            <a:r>
              <a:rPr lang="en-US" altLang="zh-CN" sz="2400" dirty="0" smtClean="0"/>
              <a:t>O(nm),</a:t>
            </a:r>
            <a:r>
              <a:rPr lang="zh-CN" altLang="en-US" sz="2400" dirty="0" smtClean="0"/>
              <a:t>和</a:t>
            </a:r>
            <a:r>
              <a:rPr lang="en-US" altLang="zh-CN" sz="2400" dirty="0" smtClean="0"/>
              <a:t>01</a:t>
            </a:r>
            <a:r>
              <a:rPr lang="zh-CN" altLang="en-US" sz="2400" dirty="0" smtClean="0"/>
              <a:t>背包相同</a:t>
            </a:r>
            <a:r>
              <a:rPr lang="en-US" altLang="zh-CN" sz="2400" dirty="0" smtClean="0"/>
              <a:t>.</a:t>
            </a:r>
            <a:r>
              <a:rPr lang="zh-CN" altLang="en-US" sz="2400" dirty="0" smtClean="0"/>
              <a:t>这个明天讲单调队列优化</a:t>
            </a:r>
            <a:r>
              <a:rPr lang="en-US" altLang="zh-CN" sz="2400" dirty="0" smtClean="0"/>
              <a:t>DP</a:t>
            </a:r>
            <a:r>
              <a:rPr lang="zh-CN" altLang="en-US" sz="2400" dirty="0" smtClean="0"/>
              <a:t>时会讲</a:t>
            </a:r>
            <a:r>
              <a:rPr lang="en-US" altLang="zh-CN" sz="2400" dirty="0" smtClean="0"/>
              <a:t>.</a:t>
            </a:r>
            <a:endParaRPr lang="en-US" altLang="zh-CN" sz="2400" dirty="0" smtClean="0"/>
          </a:p>
          <a:p>
            <a:r>
              <a:rPr lang="zh-CN" altLang="en-US" sz="2400" dirty="0" smtClean="0"/>
              <a:t>分组背包</a:t>
            </a:r>
            <a:r>
              <a:rPr lang="en-US" altLang="zh-CN" sz="2400" dirty="0" smtClean="0"/>
              <a:t>:</a:t>
            </a:r>
            <a:r>
              <a:rPr lang="zh-CN" altLang="en-US" sz="2400" dirty="0" smtClean="0"/>
              <a:t>物品分成几组</a:t>
            </a:r>
            <a:r>
              <a:rPr lang="en-US" altLang="zh-CN" sz="2400" dirty="0" smtClean="0"/>
              <a:t>,</a:t>
            </a:r>
            <a:r>
              <a:rPr lang="zh-CN" altLang="en-US" sz="2400" dirty="0" smtClean="0"/>
              <a:t>一组中最多选一个</a:t>
            </a:r>
            <a:r>
              <a:rPr lang="en-US" altLang="zh-CN" sz="2400" dirty="0" smtClean="0"/>
              <a:t>,</a:t>
            </a:r>
            <a:r>
              <a:rPr lang="zh-CN" altLang="en-US" sz="2400" dirty="0" smtClean="0"/>
              <a:t>比</a:t>
            </a:r>
            <a:r>
              <a:rPr lang="en-US" altLang="zh-CN" sz="2400" dirty="0" smtClean="0"/>
              <a:t>01</a:t>
            </a:r>
            <a:r>
              <a:rPr lang="zh-CN" altLang="en-US" sz="2400" dirty="0" smtClean="0"/>
              <a:t>背包多一层循环即可</a:t>
            </a: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a:t>
            </a:r>
            <a:r>
              <a:rPr lang="zh-CN" altLang="en-US" dirty="0" smtClean="0"/>
              <a:t>树形依赖背包</a:t>
            </a:r>
            <a:r>
              <a:rPr lang="en-US" altLang="zh-CN" dirty="0" smtClean="0"/>
              <a:t>)</a:t>
            </a:r>
            <a:endParaRPr lang="zh-CN" altLang="en-US" dirty="0"/>
          </a:p>
        </p:txBody>
      </p:sp>
      <p:sp>
        <p:nvSpPr>
          <p:cNvPr id="3" name="内容占位符 2"/>
          <p:cNvSpPr>
            <a:spLocks noGrp="1"/>
          </p:cNvSpPr>
          <p:nvPr>
            <p:ph sz="quarter" idx="1"/>
          </p:nvPr>
        </p:nvSpPr>
        <p:spPr/>
        <p:txBody>
          <a:bodyPr>
            <a:normAutofit fontScale="92500"/>
          </a:bodyPr>
          <a:lstStyle/>
          <a:p>
            <a:r>
              <a:rPr lang="en-US" altLang="zh-CN" dirty="0" smtClean="0"/>
              <a:t>n</a:t>
            </a:r>
            <a:r>
              <a:rPr lang="zh-CN" altLang="en-US" dirty="0" smtClean="0"/>
              <a:t>个物品</a:t>
            </a:r>
            <a:r>
              <a:rPr lang="en-US" altLang="zh-CN" dirty="0" smtClean="0"/>
              <a:t>,</a:t>
            </a:r>
            <a:r>
              <a:rPr lang="zh-CN" altLang="en-US" dirty="0" smtClean="0"/>
              <a:t>给出一棵有根树表示物品之间的依赖关系</a:t>
            </a:r>
            <a:r>
              <a:rPr lang="en-US" altLang="zh-CN" dirty="0" smtClean="0"/>
              <a:t>,</a:t>
            </a:r>
            <a:r>
              <a:rPr lang="zh-CN" altLang="en-US" dirty="0" smtClean="0"/>
              <a:t>如果选了某个物品</a:t>
            </a:r>
            <a:r>
              <a:rPr lang="en-US" altLang="zh-CN" dirty="0" smtClean="0"/>
              <a:t>,</a:t>
            </a:r>
            <a:r>
              <a:rPr lang="zh-CN" altLang="en-US" dirty="0" smtClean="0"/>
              <a:t>它的所有祖先都必须选</a:t>
            </a:r>
            <a:r>
              <a:rPr lang="en-US" altLang="zh-CN" dirty="0" smtClean="0"/>
              <a:t>.</a:t>
            </a:r>
            <a:endParaRPr lang="en-US" altLang="zh-CN" dirty="0" smtClean="0"/>
          </a:p>
          <a:p>
            <a:r>
              <a:rPr lang="zh-CN" altLang="en-US" dirty="0" smtClean="0"/>
              <a:t>有</a:t>
            </a:r>
            <a:r>
              <a:rPr lang="en-US" altLang="zh-CN" dirty="0" smtClean="0"/>
              <a:t>O(nm)</a:t>
            </a:r>
            <a:r>
              <a:rPr lang="zh-CN" altLang="en-US" dirty="0" smtClean="0"/>
              <a:t>做法</a:t>
            </a:r>
            <a:r>
              <a:rPr lang="en-US" altLang="zh-CN" dirty="0" smtClean="0"/>
              <a:t>,</a:t>
            </a:r>
            <a:r>
              <a:rPr lang="zh-CN" altLang="en-US" dirty="0" smtClean="0"/>
              <a:t>但较难理解</a:t>
            </a:r>
            <a:r>
              <a:rPr lang="en-US" altLang="zh-CN" dirty="0" smtClean="0"/>
              <a:t>.</a:t>
            </a:r>
            <a:r>
              <a:rPr lang="zh-CN" altLang="en-US" dirty="0" smtClean="0"/>
              <a:t>这里只讲</a:t>
            </a:r>
            <a:r>
              <a:rPr lang="en-US" altLang="zh-CN" dirty="0" smtClean="0"/>
              <a:t>O(nm^2)</a:t>
            </a:r>
            <a:r>
              <a:rPr lang="zh-CN" altLang="en-US" dirty="0" smtClean="0"/>
              <a:t>的做法</a:t>
            </a:r>
            <a:endParaRPr lang="en-US" altLang="zh-CN" dirty="0" smtClean="0"/>
          </a:p>
          <a:p>
            <a:r>
              <a:rPr lang="zh-CN" altLang="en-US" dirty="0" smtClean="0"/>
              <a:t>对于子树</a:t>
            </a:r>
            <a:r>
              <a:rPr lang="en-US" altLang="zh-CN" dirty="0" err="1" smtClean="0"/>
              <a:t>i,f</a:t>
            </a:r>
            <a:r>
              <a:rPr lang="en-US" altLang="zh-CN" dirty="0" smtClean="0"/>
              <a:t>[</a:t>
            </a:r>
            <a:r>
              <a:rPr lang="en-US" altLang="zh-CN" dirty="0" err="1" smtClean="0"/>
              <a:t>i</a:t>
            </a:r>
            <a:r>
              <a:rPr lang="en-US" altLang="zh-CN" dirty="0" smtClean="0"/>
              <a:t>][j]</a:t>
            </a:r>
            <a:r>
              <a:rPr lang="zh-CN" altLang="en-US" dirty="0" smtClean="0"/>
              <a:t>表示在这棵子树中选择总重量为</a:t>
            </a:r>
            <a:r>
              <a:rPr lang="en-US" altLang="zh-CN" dirty="0" smtClean="0"/>
              <a:t>j</a:t>
            </a:r>
            <a:r>
              <a:rPr lang="zh-CN" altLang="en-US" dirty="0" smtClean="0"/>
              <a:t>的物品所能获得的最大价值</a:t>
            </a:r>
            <a:r>
              <a:rPr lang="en-US" altLang="zh-CN" dirty="0" smtClean="0"/>
              <a:t>.</a:t>
            </a:r>
            <a:endParaRPr lang="en-US" altLang="zh-CN" dirty="0" smtClean="0"/>
          </a:p>
          <a:p>
            <a:r>
              <a:rPr lang="zh-CN" altLang="en-US" dirty="0" smtClean="0"/>
              <a:t>考虑从某个节点的所有儿子的状态合并得到这个节点的状态</a:t>
            </a:r>
            <a:r>
              <a:rPr lang="en-US" altLang="zh-CN" dirty="0" smtClean="0"/>
              <a:t>.</a:t>
            </a:r>
            <a:r>
              <a:rPr lang="zh-CN" altLang="en-US" dirty="0" smtClean="0"/>
              <a:t> 如果要选择儿子中的节点</a:t>
            </a:r>
            <a:r>
              <a:rPr lang="en-US" altLang="zh-CN" dirty="0" smtClean="0"/>
              <a:t>,</a:t>
            </a:r>
            <a:r>
              <a:rPr lang="zh-CN" altLang="en-US" dirty="0" smtClean="0"/>
              <a:t>就必须选择</a:t>
            </a:r>
            <a:r>
              <a:rPr lang="en-US" altLang="zh-CN" dirty="0" err="1" smtClean="0"/>
              <a:t>i</a:t>
            </a:r>
            <a:r>
              <a:rPr lang="zh-CN" altLang="en-US" dirty="0" smtClean="0"/>
              <a:t>号物品</a:t>
            </a:r>
            <a:r>
              <a:rPr lang="en-US" altLang="zh-CN" dirty="0" smtClean="0"/>
              <a:t>.</a:t>
            </a:r>
            <a:r>
              <a:rPr lang="zh-CN" altLang="en-US" dirty="0" smtClean="0"/>
              <a:t>于是初始化</a:t>
            </a:r>
            <a:r>
              <a:rPr lang="en-US" altLang="zh-CN" dirty="0" smtClean="0"/>
              <a:t>f[</a:t>
            </a:r>
            <a:r>
              <a:rPr lang="en-US" altLang="zh-CN" dirty="0" err="1" smtClean="0"/>
              <a:t>i</a:t>
            </a:r>
            <a:r>
              <a:rPr lang="en-US" altLang="zh-CN" dirty="0" smtClean="0"/>
              <a:t>][w[</a:t>
            </a:r>
            <a:r>
              <a:rPr lang="en-US" altLang="zh-CN" dirty="0" err="1" smtClean="0"/>
              <a:t>i</a:t>
            </a:r>
            <a:r>
              <a:rPr lang="en-US" altLang="zh-CN" dirty="0" smtClean="0"/>
              <a:t>]]=v[</a:t>
            </a:r>
            <a:r>
              <a:rPr lang="en-US" altLang="zh-CN" dirty="0" err="1" smtClean="0"/>
              <a:t>i</a:t>
            </a:r>
            <a:r>
              <a:rPr lang="en-US" altLang="zh-CN" dirty="0" smtClean="0"/>
              <a:t>].</a:t>
            </a:r>
            <a:r>
              <a:rPr lang="zh-CN" altLang="en-US" dirty="0" smtClean="0"/>
              <a:t>其他状态初始化为负无穷</a:t>
            </a:r>
            <a:r>
              <a:rPr lang="en-US" altLang="zh-CN" dirty="0" smtClean="0"/>
              <a:t>.</a:t>
            </a:r>
            <a:endParaRPr lang="en-US" altLang="zh-CN" dirty="0" smtClean="0"/>
          </a:p>
          <a:p>
            <a:r>
              <a:rPr lang="zh-CN" altLang="en-US" dirty="0" smtClean="0"/>
              <a:t>假如只有一棵子树</a:t>
            </a:r>
            <a:r>
              <a:rPr lang="en-US" altLang="zh-CN" dirty="0" smtClean="0"/>
              <a:t>s,</a:t>
            </a:r>
            <a:r>
              <a:rPr lang="zh-CN" altLang="en-US" dirty="0" smtClean="0"/>
              <a:t>我们枚举这棵子树</a:t>
            </a:r>
            <a:r>
              <a:rPr lang="en-US" altLang="zh-CN" dirty="0" smtClean="0"/>
              <a:t>s</a:t>
            </a:r>
            <a:r>
              <a:rPr lang="zh-CN" altLang="en-US" dirty="0" smtClean="0"/>
              <a:t>内所用的重量</a:t>
            </a:r>
            <a:r>
              <a:rPr lang="en-US" altLang="zh-CN" dirty="0" smtClean="0"/>
              <a:t>a</a:t>
            </a:r>
            <a:r>
              <a:rPr lang="zh-CN" altLang="en-US" dirty="0" smtClean="0"/>
              <a:t>和根节点所用的重量</a:t>
            </a:r>
            <a:r>
              <a:rPr lang="en-US" altLang="zh-CN" dirty="0" smtClean="0"/>
              <a:t>b,</a:t>
            </a:r>
            <a:r>
              <a:rPr lang="zh-CN" altLang="en-US" dirty="0" smtClean="0"/>
              <a:t>用</a:t>
            </a:r>
            <a:r>
              <a:rPr lang="en-US" altLang="zh-CN" dirty="0" smtClean="0"/>
              <a:t>f[s][a]+f[</a:t>
            </a:r>
            <a:r>
              <a:rPr lang="en-US" altLang="zh-CN" dirty="0" err="1" smtClean="0"/>
              <a:t>i</a:t>
            </a:r>
            <a:r>
              <a:rPr lang="en-US" altLang="zh-CN" dirty="0" smtClean="0"/>
              <a:t>][b]</a:t>
            </a:r>
            <a:r>
              <a:rPr lang="zh-CN" altLang="en-US" dirty="0" smtClean="0"/>
              <a:t>更新</a:t>
            </a:r>
            <a:r>
              <a:rPr lang="en-US" altLang="zh-CN" dirty="0" smtClean="0"/>
              <a:t>f[</a:t>
            </a:r>
            <a:r>
              <a:rPr lang="en-US" altLang="zh-CN" dirty="0" err="1" smtClean="0"/>
              <a:t>i</a:t>
            </a:r>
            <a:r>
              <a:rPr lang="en-US" altLang="zh-CN" dirty="0" smtClean="0"/>
              <a:t>][</a:t>
            </a:r>
            <a:r>
              <a:rPr lang="en-US" altLang="zh-CN" dirty="0" err="1" smtClean="0"/>
              <a:t>a+b</a:t>
            </a:r>
            <a:r>
              <a:rPr lang="en-US" altLang="zh-CN" dirty="0" smtClean="0"/>
              <a:t>]</a:t>
            </a:r>
            <a:endParaRPr lang="en-US" altLang="zh-CN" dirty="0" smtClean="0"/>
          </a:p>
          <a:p>
            <a:r>
              <a:rPr lang="zh-CN" altLang="en-US" dirty="0" smtClean="0"/>
              <a:t>如果有多个子树</a:t>
            </a:r>
            <a:r>
              <a:rPr lang="en-US" altLang="zh-CN" dirty="0" smtClean="0"/>
              <a:t>,</a:t>
            </a:r>
            <a:r>
              <a:rPr lang="zh-CN" altLang="en-US" dirty="0" smtClean="0"/>
              <a:t>用同样的方法合并</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a:t>
            </a:r>
            <a:r>
              <a:rPr lang="zh-CN" altLang="en-US" dirty="0" smtClean="0"/>
              <a:t>树形依赖背包</a:t>
            </a:r>
            <a:r>
              <a:rPr lang="en-US" altLang="zh-CN" dirty="0" smtClean="0"/>
              <a:t>)</a:t>
            </a:r>
            <a:endParaRPr lang="zh-CN" altLang="en-US" dirty="0"/>
          </a:p>
        </p:txBody>
      </p:sp>
      <p:pic>
        <p:nvPicPr>
          <p:cNvPr id="2051" name="Picture 3"/>
          <p:cNvPicPr>
            <a:picLocks noGrp="1" noChangeAspect="1" noChangeArrowheads="1"/>
          </p:cNvPicPr>
          <p:nvPr>
            <p:ph sz="quarter" idx="1"/>
          </p:nvPr>
        </p:nvPicPr>
        <p:blipFill>
          <a:blip r:embed="rId1"/>
          <a:srcRect/>
          <a:stretch>
            <a:fillRect/>
          </a:stretch>
        </p:blipFill>
        <p:spPr bwMode="auto">
          <a:xfrm>
            <a:off x="229548" y="1714488"/>
            <a:ext cx="8914452" cy="42862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a:t>
            </a:r>
            <a:r>
              <a:rPr lang="zh-CN" altLang="en-US" dirty="0" smtClean="0"/>
              <a:t>树形依赖背包</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这里还要提到一类特殊的树形背包问题</a:t>
            </a:r>
            <a:r>
              <a:rPr lang="en-US" altLang="zh-CN" sz="2400" dirty="0" smtClean="0"/>
              <a:t>,</a:t>
            </a:r>
            <a:r>
              <a:rPr lang="zh-CN" altLang="en-US" sz="2400" dirty="0" smtClean="0"/>
              <a:t>这类问题中每个点的重量均为</a:t>
            </a:r>
            <a:r>
              <a:rPr lang="en-US" altLang="zh-CN" sz="2400" dirty="0" smtClean="0"/>
              <a:t>1,m=n.</a:t>
            </a:r>
            <a:r>
              <a:rPr lang="zh-CN" altLang="en-US" sz="2400" dirty="0" smtClean="0"/>
              <a:t>特殊性在于其复杂度为</a:t>
            </a:r>
            <a:r>
              <a:rPr lang="en-US" altLang="zh-CN" sz="2400" dirty="0" smtClean="0"/>
              <a:t>O(n^2)</a:t>
            </a:r>
            <a:endParaRPr lang="en-US" altLang="zh-CN" sz="2400" dirty="0" smtClean="0"/>
          </a:p>
          <a:p>
            <a:r>
              <a:rPr lang="zh-CN" altLang="en-US" sz="2400" dirty="0" smtClean="0"/>
              <a:t>考虑新合并一棵大小为</a:t>
            </a:r>
            <a:r>
              <a:rPr lang="en-US" altLang="zh-CN" sz="2400" dirty="0" err="1" smtClean="0"/>
              <a:t>sz</a:t>
            </a:r>
            <a:r>
              <a:rPr lang="zh-CN" altLang="en-US" sz="2400" dirty="0" smtClean="0"/>
              <a:t>的子树</a:t>
            </a:r>
            <a:r>
              <a:rPr lang="en-US" altLang="zh-CN" sz="2400" dirty="0" smtClean="0"/>
              <a:t>,</a:t>
            </a:r>
            <a:r>
              <a:rPr lang="zh-CN" altLang="en-US" sz="2400" dirty="0" smtClean="0"/>
              <a:t>我们在枚举这棵子树中所选重量为多少的时候只需枚举到</a:t>
            </a:r>
            <a:r>
              <a:rPr lang="en-US" altLang="zh-CN" sz="2400" dirty="0" err="1" smtClean="0"/>
              <a:t>sz</a:t>
            </a:r>
            <a:r>
              <a:rPr lang="en-US" altLang="zh-CN" sz="2400" dirty="0" smtClean="0"/>
              <a:t>,</a:t>
            </a:r>
            <a:r>
              <a:rPr lang="zh-CN" altLang="en-US" sz="2400" dirty="0" smtClean="0"/>
              <a:t>不需要枚举到</a:t>
            </a:r>
            <a:r>
              <a:rPr lang="en-US" altLang="zh-CN" sz="2400" dirty="0" smtClean="0"/>
              <a:t>m.</a:t>
            </a:r>
            <a:r>
              <a:rPr lang="zh-CN" altLang="en-US" sz="2400" dirty="0" smtClean="0"/>
              <a:t>同样</a:t>
            </a:r>
            <a:r>
              <a:rPr lang="en-US" altLang="zh-CN" sz="2400" dirty="0" smtClean="0"/>
              <a:t>,</a:t>
            </a:r>
            <a:r>
              <a:rPr lang="zh-CN" altLang="en-US" sz="2400" dirty="0" smtClean="0"/>
              <a:t>枚举已经合并的子树中所选的总重量也不需要枚举到</a:t>
            </a:r>
            <a:r>
              <a:rPr lang="en-US" altLang="zh-CN" sz="2400" dirty="0" smtClean="0"/>
              <a:t>m.</a:t>
            </a:r>
            <a:endParaRPr lang="en-US" altLang="zh-CN" sz="2400" dirty="0" smtClean="0"/>
          </a:p>
          <a:p>
            <a:r>
              <a:rPr lang="zh-CN" altLang="en-US" sz="2400" dirty="0" smtClean="0"/>
              <a:t>一次合并复杂度是新合并的子树大小</a:t>
            </a:r>
            <a:r>
              <a:rPr lang="en-US" altLang="zh-CN" sz="2400" dirty="0" smtClean="0"/>
              <a:t>*</a:t>
            </a:r>
            <a:r>
              <a:rPr lang="zh-CN" altLang="en-US" sz="2400" dirty="0" smtClean="0"/>
              <a:t>已经合并的子树大小</a:t>
            </a:r>
            <a:r>
              <a:rPr lang="en-US" altLang="zh-CN" sz="2400" dirty="0" smtClean="0"/>
              <a:t>,</a:t>
            </a:r>
            <a:r>
              <a:rPr lang="zh-CN" altLang="en-US" sz="2400" dirty="0" smtClean="0"/>
              <a:t>所有的合并复杂度加起来等于树中点对数目</a:t>
            </a:r>
            <a:r>
              <a:rPr lang="en-US" altLang="zh-CN" sz="2400" dirty="0" smtClean="0"/>
              <a:t>.</a:t>
            </a:r>
            <a:endParaRPr lang="en-US" altLang="zh-CN" sz="2400" dirty="0" smtClean="0"/>
          </a:p>
          <a:p>
            <a:r>
              <a:rPr lang="zh-CN" altLang="en-US" sz="2400" dirty="0" smtClean="0"/>
              <a:t>徐持衡</a:t>
            </a:r>
            <a:r>
              <a:rPr lang="en-US" altLang="zh-CN" sz="2400" dirty="0" smtClean="0"/>
              <a:t>&lt;</a:t>
            </a:r>
            <a:r>
              <a:rPr lang="zh-CN" altLang="en-US" sz="2400" dirty="0" smtClean="0"/>
              <a:t>浅谈几类背包题</a:t>
            </a:r>
            <a:r>
              <a:rPr lang="en-US" altLang="zh-CN" sz="2400" dirty="0" smtClean="0"/>
              <a:t>&gt;</a:t>
            </a:r>
            <a:r>
              <a:rPr lang="zh-CN" altLang="en-US" sz="2400" dirty="0" smtClean="0"/>
              <a:t>是一篇不错的资料</a:t>
            </a:r>
            <a:r>
              <a:rPr lang="en-US" altLang="zh-CN" sz="2400" dirty="0" smtClean="0"/>
              <a:t>,</a:t>
            </a:r>
            <a:r>
              <a:rPr lang="zh-CN" altLang="en-US" sz="2400" dirty="0" smtClean="0"/>
              <a:t>里面用泛化物品的概念解释树形背包</a:t>
            </a:r>
            <a:r>
              <a:rPr lang="en-US" altLang="zh-CN" sz="2400" dirty="0" smtClean="0"/>
              <a:t>.</a:t>
            </a:r>
            <a:r>
              <a:rPr lang="zh-CN" altLang="en-US" sz="2400" dirty="0" smtClean="0"/>
              <a:t>也介绍了</a:t>
            </a:r>
            <a:r>
              <a:rPr lang="en-US" altLang="zh-CN" sz="2400" dirty="0" smtClean="0"/>
              <a:t>O(nm)</a:t>
            </a:r>
            <a:r>
              <a:rPr lang="zh-CN" altLang="en-US" sz="2400" dirty="0" smtClean="0"/>
              <a:t>的树形背包方法</a:t>
            </a:r>
            <a:r>
              <a:rPr lang="en-US" altLang="zh-CN" sz="2400" dirty="0" smtClean="0"/>
              <a:t>,</a:t>
            </a:r>
            <a:r>
              <a:rPr lang="zh-CN" altLang="en-US" sz="2400" dirty="0" smtClean="0"/>
              <a:t>感兴趣的可以自己研究</a:t>
            </a:r>
            <a:r>
              <a:rPr lang="en-US" altLang="zh-CN" sz="2400" dirty="0" smtClean="0"/>
              <a:t>.</a:t>
            </a: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2427: [HAOI2010]</a:t>
            </a:r>
            <a:r>
              <a:rPr lang="zh-CN" altLang="en-US" dirty="0" smtClean="0"/>
              <a:t>软件安装</a:t>
            </a:r>
            <a:endParaRPr lang="zh-CN" altLang="en-US" dirty="0"/>
          </a:p>
        </p:txBody>
      </p:sp>
      <p:sp>
        <p:nvSpPr>
          <p:cNvPr id="3" name="内容占位符 2"/>
          <p:cNvSpPr>
            <a:spLocks noGrp="1"/>
          </p:cNvSpPr>
          <p:nvPr>
            <p:ph sz="quarter" idx="1"/>
          </p:nvPr>
        </p:nvSpPr>
        <p:spPr/>
        <p:txBody>
          <a:bodyPr>
            <a:noAutofit/>
          </a:bodyPr>
          <a:lstStyle/>
          <a:p>
            <a:r>
              <a:rPr lang="zh-CN" altLang="en-US" sz="2400" dirty="0" smtClean="0">
                <a:latin typeface="+mn-ea"/>
              </a:rPr>
              <a:t>有</a:t>
            </a:r>
            <a:r>
              <a:rPr lang="en-US" altLang="zh-CN" sz="2400" dirty="0" smtClean="0">
                <a:latin typeface="+mn-ea"/>
              </a:rPr>
              <a:t>N</a:t>
            </a:r>
            <a:r>
              <a:rPr lang="zh-CN" altLang="en-US" sz="2400" dirty="0" smtClean="0">
                <a:latin typeface="+mn-ea"/>
              </a:rPr>
              <a:t>个软件，软件</a:t>
            </a:r>
            <a:r>
              <a:rPr lang="en-US" altLang="zh-CN" sz="2400" dirty="0" err="1" smtClean="0">
                <a:latin typeface="+mn-ea"/>
              </a:rPr>
              <a:t>i</a:t>
            </a:r>
            <a:r>
              <a:rPr lang="zh-CN" altLang="en-US" sz="2400" dirty="0" smtClean="0">
                <a:latin typeface="+mn-ea"/>
              </a:rPr>
              <a:t>要占用</a:t>
            </a:r>
            <a:r>
              <a:rPr lang="en-US" altLang="zh-CN" sz="2400" dirty="0" err="1" smtClean="0">
                <a:latin typeface="+mn-ea"/>
              </a:rPr>
              <a:t>W</a:t>
            </a:r>
            <a:r>
              <a:rPr lang="en-US" altLang="zh-CN" sz="2400" baseline="-25000" dirty="0" err="1" smtClean="0">
                <a:latin typeface="+mn-ea"/>
              </a:rPr>
              <a:t>i</a:t>
            </a:r>
            <a:r>
              <a:rPr lang="zh-CN" altLang="en-US" sz="2400" dirty="0" smtClean="0">
                <a:latin typeface="+mn-ea"/>
              </a:rPr>
              <a:t>的磁盘空间，它的价值为</a:t>
            </a:r>
            <a:r>
              <a:rPr lang="en-US" altLang="zh-CN" sz="2400" dirty="0" smtClean="0">
                <a:latin typeface="+mn-ea"/>
              </a:rPr>
              <a:t>V</a:t>
            </a:r>
            <a:r>
              <a:rPr lang="en-US" altLang="zh-CN" sz="2400" baseline="-25000" dirty="0" smtClean="0">
                <a:latin typeface="+mn-ea"/>
              </a:rPr>
              <a:t>i</a:t>
            </a:r>
            <a:r>
              <a:rPr lang="zh-CN" altLang="en-US" sz="2400" dirty="0" smtClean="0">
                <a:latin typeface="+mn-ea"/>
              </a:rPr>
              <a:t>。我们希望从中选择一些软件安装到一台磁盘容量为</a:t>
            </a:r>
            <a:r>
              <a:rPr lang="en-US" altLang="zh-CN" sz="2400" dirty="0" smtClean="0">
                <a:latin typeface="+mn-ea"/>
              </a:rPr>
              <a:t>M</a:t>
            </a:r>
            <a:r>
              <a:rPr lang="zh-CN" altLang="en-US" sz="2400" dirty="0" smtClean="0">
                <a:latin typeface="+mn-ea"/>
              </a:rPr>
              <a:t>计算机上，使得这些软件的价值尽可能大（即</a:t>
            </a:r>
            <a:r>
              <a:rPr lang="en-US" altLang="zh-CN" sz="2400" dirty="0" smtClean="0">
                <a:latin typeface="+mn-ea"/>
              </a:rPr>
              <a:t>V</a:t>
            </a:r>
            <a:r>
              <a:rPr lang="en-US" altLang="zh-CN" sz="2400" baseline="-25000" dirty="0" smtClean="0">
                <a:latin typeface="+mn-ea"/>
              </a:rPr>
              <a:t>i</a:t>
            </a:r>
            <a:r>
              <a:rPr lang="zh-CN" altLang="en-US" sz="2400" dirty="0" smtClean="0">
                <a:latin typeface="+mn-ea"/>
              </a:rPr>
              <a:t>的和最大）。</a:t>
            </a:r>
            <a:endParaRPr lang="en-US" altLang="zh-CN" sz="2400" dirty="0" smtClean="0">
              <a:latin typeface="+mn-ea"/>
            </a:endParaRPr>
          </a:p>
          <a:p>
            <a:r>
              <a:rPr lang="zh-CN" altLang="en-US" sz="2400" dirty="0" smtClean="0">
                <a:latin typeface="+mn-ea"/>
              </a:rPr>
              <a:t>软件之间存在依赖关系，软件</a:t>
            </a:r>
            <a:r>
              <a:rPr lang="en-US" altLang="zh-CN" sz="2400" dirty="0" err="1" smtClean="0">
                <a:latin typeface="+mn-ea"/>
              </a:rPr>
              <a:t>i</a:t>
            </a:r>
            <a:r>
              <a:rPr lang="zh-CN" altLang="en-US" sz="2400" dirty="0" smtClean="0">
                <a:latin typeface="+mn-ea"/>
              </a:rPr>
              <a:t>依赖软件</a:t>
            </a:r>
            <a:r>
              <a:rPr lang="en-US" altLang="zh-CN" sz="2400" dirty="0" smtClean="0">
                <a:latin typeface="+mn-ea"/>
              </a:rPr>
              <a:t>j,</a:t>
            </a:r>
            <a:r>
              <a:rPr lang="zh-CN" altLang="en-US" sz="2400" dirty="0" smtClean="0">
                <a:latin typeface="+mn-ea"/>
              </a:rPr>
              <a:t>则软件</a:t>
            </a:r>
            <a:r>
              <a:rPr lang="en-US" altLang="zh-CN" sz="2400" dirty="0" err="1" smtClean="0">
                <a:latin typeface="+mn-ea"/>
              </a:rPr>
              <a:t>i</a:t>
            </a:r>
            <a:r>
              <a:rPr lang="zh-CN" altLang="en-US" sz="2400" dirty="0" smtClean="0">
                <a:latin typeface="+mn-ea"/>
              </a:rPr>
              <a:t>只有在软件</a:t>
            </a:r>
            <a:r>
              <a:rPr lang="en-US" altLang="zh-CN" sz="2400" dirty="0" smtClean="0">
                <a:latin typeface="+mn-ea"/>
              </a:rPr>
              <a:t>j</a:t>
            </a:r>
            <a:r>
              <a:rPr lang="zh-CN" altLang="en-US" sz="2400" dirty="0" smtClean="0">
                <a:latin typeface="+mn-ea"/>
              </a:rPr>
              <a:t>被安装的情况下才能正常工作。一个软件最多依赖另外一个软件。如果一个软件不能正常工作，那么它带来的价值为</a:t>
            </a:r>
            <a:r>
              <a:rPr lang="en-US" altLang="zh-CN" sz="2400" dirty="0" smtClean="0">
                <a:latin typeface="+mn-ea"/>
              </a:rPr>
              <a:t>0</a:t>
            </a:r>
            <a:r>
              <a:rPr lang="zh-CN" altLang="en-US" sz="2400" dirty="0" smtClean="0">
                <a:latin typeface="+mn-ea"/>
              </a:rPr>
              <a:t>。</a:t>
            </a:r>
            <a:endParaRPr lang="en-US" altLang="zh-CN" sz="2400" dirty="0" smtClean="0">
              <a:latin typeface="+mn-ea"/>
            </a:endParaRPr>
          </a:p>
          <a:p>
            <a:r>
              <a:rPr lang="zh-CN" altLang="en-US" sz="2400" dirty="0" smtClean="0">
                <a:latin typeface="+mn-ea"/>
              </a:rPr>
              <a:t>我们现在知道了软件之间的依赖关系：软件</a:t>
            </a:r>
            <a:r>
              <a:rPr lang="en-US" altLang="zh-CN" sz="2400" dirty="0" err="1" smtClean="0">
                <a:latin typeface="+mn-ea"/>
              </a:rPr>
              <a:t>i</a:t>
            </a:r>
            <a:r>
              <a:rPr lang="zh-CN" altLang="en-US" sz="2400" dirty="0" smtClean="0">
                <a:latin typeface="+mn-ea"/>
              </a:rPr>
              <a:t>依赖软件</a:t>
            </a:r>
            <a:r>
              <a:rPr lang="en-US" altLang="zh-CN" sz="2400" dirty="0" smtClean="0">
                <a:latin typeface="+mn-ea"/>
              </a:rPr>
              <a:t>D</a:t>
            </a:r>
            <a:r>
              <a:rPr lang="en-US" altLang="zh-CN" sz="2400" baseline="-25000" dirty="0" smtClean="0">
                <a:latin typeface="+mn-ea"/>
              </a:rPr>
              <a:t>i</a:t>
            </a:r>
            <a:r>
              <a:rPr lang="zh-CN" altLang="en-US" sz="2400" dirty="0" smtClean="0">
                <a:latin typeface="+mn-ea"/>
              </a:rPr>
              <a:t>。现在请你设计出一种方案，安装价值尽量大的软件。一个软件只能被安装一次，如果一个软件没有依赖则</a:t>
            </a:r>
            <a:r>
              <a:rPr lang="en-US" altLang="zh-CN" sz="2400" dirty="0" smtClean="0">
                <a:latin typeface="+mn-ea"/>
              </a:rPr>
              <a:t>D</a:t>
            </a:r>
            <a:r>
              <a:rPr lang="en-US" altLang="zh-CN" sz="2400" baseline="-25000" dirty="0" smtClean="0">
                <a:latin typeface="+mn-ea"/>
              </a:rPr>
              <a:t>i</a:t>
            </a:r>
            <a:r>
              <a:rPr lang="en-US" altLang="zh-CN" sz="2400" dirty="0" smtClean="0">
                <a:latin typeface="+mn-ea"/>
              </a:rPr>
              <a:t>=0</a:t>
            </a:r>
            <a:r>
              <a:rPr lang="zh-CN" altLang="en-US" sz="2400" dirty="0" smtClean="0">
                <a:latin typeface="+mn-ea"/>
              </a:rPr>
              <a:t>，这时只要这个软件安装了，它就能正常工作。</a:t>
            </a:r>
            <a:endParaRPr lang="en-US" altLang="zh-CN" sz="2400" dirty="0" smtClean="0">
              <a:latin typeface="+mn-ea"/>
            </a:endParaRPr>
          </a:p>
          <a:p>
            <a:r>
              <a:rPr lang="en-US" altLang="zh-CN" sz="2400" dirty="0" smtClean="0">
                <a:latin typeface="+mn-ea"/>
              </a:rPr>
              <a:t>N&lt;=100,M&lt;=500</a:t>
            </a:r>
            <a:br>
              <a:rPr lang="zh-CN" altLang="en-US" sz="2400" dirty="0" smtClean="0">
                <a:latin typeface="+mn-ea"/>
              </a:rPr>
            </a:br>
            <a:br>
              <a:rPr lang="zh-CN" altLang="en-US" sz="2400" dirty="0" smtClean="0">
                <a:latin typeface="+mn-ea"/>
              </a:rPr>
            </a:br>
            <a:endParaRPr lang="zh-CN" altLang="en-US" sz="2400" dirty="0" smtClean="0">
              <a:latin typeface="+mn-ea"/>
            </a:endParaRPr>
          </a:p>
          <a:p>
            <a:br>
              <a:rPr lang="zh-CN" altLang="en-US" sz="2400" dirty="0" smtClean="0">
                <a:latin typeface="+mn-ea"/>
              </a:rPr>
            </a:br>
            <a:endParaRPr lang="zh-CN" altLang="en-US" sz="2400" dirty="0">
              <a:latin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2427: [HAOI2010]</a:t>
            </a:r>
            <a:r>
              <a:rPr lang="zh-CN" altLang="en-US" dirty="0" smtClean="0"/>
              <a:t>软件安装</a:t>
            </a:r>
            <a:endParaRPr lang="zh-CN" altLang="en-US" dirty="0"/>
          </a:p>
        </p:txBody>
      </p:sp>
      <p:sp>
        <p:nvSpPr>
          <p:cNvPr id="3" name="内容占位符 2"/>
          <p:cNvSpPr>
            <a:spLocks noGrp="1"/>
          </p:cNvSpPr>
          <p:nvPr>
            <p:ph sz="quarter" idx="1"/>
          </p:nvPr>
        </p:nvSpPr>
        <p:spPr/>
        <p:txBody>
          <a:bodyPr>
            <a:noAutofit/>
          </a:bodyPr>
          <a:lstStyle/>
          <a:p>
            <a:r>
              <a:rPr lang="zh-CN" altLang="en-US" sz="2400" dirty="0" smtClean="0"/>
              <a:t>基本上是个裸的树形背包</a:t>
            </a:r>
            <a:r>
              <a:rPr lang="en-US" altLang="zh-CN" sz="2400" dirty="0" smtClean="0"/>
              <a:t>,O(nm^2)</a:t>
            </a:r>
            <a:r>
              <a:rPr lang="zh-CN" altLang="en-US" sz="2400" dirty="0" smtClean="0"/>
              <a:t>算法足矣</a:t>
            </a:r>
            <a:endParaRPr lang="en-US" altLang="zh-CN" sz="2400" dirty="0" smtClean="0"/>
          </a:p>
          <a:p>
            <a:r>
              <a:rPr lang="zh-CN" altLang="en-US" sz="2400" dirty="0" smtClean="0"/>
              <a:t>有个坑点</a:t>
            </a:r>
            <a:endParaRPr lang="en-US" altLang="zh-CN" sz="2400" dirty="0" smtClean="0"/>
          </a:p>
          <a:p>
            <a:r>
              <a:rPr lang="zh-CN" altLang="en-US" sz="2400" dirty="0" smtClean="0"/>
              <a:t>题目没有保证给出的是棵树</a:t>
            </a:r>
            <a:r>
              <a:rPr lang="en-US" altLang="zh-CN" sz="2400" dirty="0" smtClean="0"/>
              <a:t>,</a:t>
            </a:r>
            <a:r>
              <a:rPr lang="zh-CN" altLang="en-US" sz="2400" dirty="0" smtClean="0"/>
              <a:t>依赖关系有环也是合法的数据</a:t>
            </a:r>
            <a:endParaRPr lang="en-US" altLang="zh-CN" sz="2400" dirty="0" smtClean="0"/>
          </a:p>
          <a:p>
            <a:r>
              <a:rPr lang="zh-CN" altLang="en-US" sz="2400" dirty="0" smtClean="0"/>
              <a:t>比如</a:t>
            </a:r>
            <a:r>
              <a:rPr lang="en-US" altLang="zh-CN" sz="2400" dirty="0" smtClean="0"/>
              <a:t>1</a:t>
            </a:r>
            <a:r>
              <a:rPr lang="zh-CN" altLang="en-US" sz="2400" dirty="0" smtClean="0"/>
              <a:t>依赖</a:t>
            </a:r>
            <a:r>
              <a:rPr lang="en-US" altLang="zh-CN" sz="2400" dirty="0" smtClean="0"/>
              <a:t>2,2</a:t>
            </a:r>
            <a:r>
              <a:rPr lang="zh-CN" altLang="en-US" sz="2400" dirty="0" smtClean="0"/>
              <a:t>依赖</a:t>
            </a:r>
            <a:r>
              <a:rPr lang="en-US" altLang="zh-CN" sz="2400" dirty="0" smtClean="0"/>
              <a:t>1,</a:t>
            </a:r>
            <a:r>
              <a:rPr lang="zh-CN" altLang="en-US" sz="2400" dirty="0" smtClean="0"/>
              <a:t>没有问题</a:t>
            </a:r>
            <a:r>
              <a:rPr lang="en-US" altLang="zh-CN" sz="2400" dirty="0" smtClean="0"/>
              <a:t>.</a:t>
            </a:r>
            <a:endParaRPr lang="en-US" altLang="zh-CN" sz="2400" dirty="0" smtClean="0"/>
          </a:p>
          <a:p>
            <a:r>
              <a:rPr lang="zh-CN" altLang="en-US" sz="2400" dirty="0" smtClean="0"/>
              <a:t>一个强连通分量中的所有物品要么全选</a:t>
            </a:r>
            <a:r>
              <a:rPr lang="en-US" altLang="zh-CN" sz="2400" dirty="0" smtClean="0"/>
              <a:t>,</a:t>
            </a:r>
            <a:r>
              <a:rPr lang="zh-CN" altLang="en-US" sz="2400" dirty="0" smtClean="0"/>
              <a:t>要么全不选</a:t>
            </a:r>
            <a:r>
              <a:rPr lang="en-US" altLang="zh-CN" sz="2400" dirty="0" smtClean="0"/>
              <a:t>,</a:t>
            </a:r>
            <a:r>
              <a:rPr lang="zh-CN" altLang="en-US" sz="2400" dirty="0" smtClean="0"/>
              <a:t>需要</a:t>
            </a:r>
            <a:r>
              <a:rPr lang="en-US" altLang="zh-CN" sz="2400" dirty="0" err="1" smtClean="0"/>
              <a:t>tarjan</a:t>
            </a:r>
            <a:r>
              <a:rPr lang="zh-CN" altLang="en-US" sz="2400" dirty="0" smtClean="0"/>
              <a:t>缩点再跑树形背包</a:t>
            </a:r>
            <a:r>
              <a:rPr lang="en-US" altLang="zh-CN" sz="2400" dirty="0" smtClean="0"/>
              <a:t>.</a:t>
            </a: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4753: [Jsoi2016]</a:t>
            </a:r>
            <a:r>
              <a:rPr lang="zh-CN" altLang="en-US" dirty="0" smtClean="0"/>
              <a:t>最佳团体</a:t>
            </a:r>
            <a:endParaRPr lang="zh-CN" altLang="en-US" dirty="0"/>
          </a:p>
        </p:txBody>
      </p:sp>
      <p:sp>
        <p:nvSpPr>
          <p:cNvPr id="3" name="内容占位符 2"/>
          <p:cNvSpPr>
            <a:spLocks noGrp="1"/>
          </p:cNvSpPr>
          <p:nvPr>
            <p:ph sz="quarter" idx="1"/>
          </p:nvPr>
        </p:nvSpPr>
        <p:spPr/>
        <p:txBody>
          <a:bodyPr>
            <a:normAutofit fontScale="92500"/>
          </a:bodyPr>
          <a:lstStyle/>
          <a:p>
            <a:r>
              <a:rPr lang="en-US" altLang="zh-CN" dirty="0" smtClean="0"/>
              <a:t>JSOI</a:t>
            </a:r>
            <a:r>
              <a:rPr lang="zh-CN" altLang="en-US" dirty="0" smtClean="0"/>
              <a:t>信息学代表队一共有</a:t>
            </a:r>
            <a:r>
              <a:rPr lang="en-US" altLang="zh-CN" dirty="0" smtClean="0"/>
              <a:t>N</a:t>
            </a:r>
            <a:r>
              <a:rPr lang="zh-CN" altLang="en-US" dirty="0" smtClean="0"/>
              <a:t>名候选人，这些候选人从</a:t>
            </a:r>
            <a:r>
              <a:rPr lang="en-US" altLang="zh-CN" dirty="0" smtClean="0"/>
              <a:t>1</a:t>
            </a:r>
            <a:r>
              <a:rPr lang="zh-CN" altLang="en-US" dirty="0" smtClean="0"/>
              <a:t>到</a:t>
            </a:r>
            <a:r>
              <a:rPr lang="en-US" altLang="zh-CN" dirty="0" smtClean="0"/>
              <a:t>N</a:t>
            </a:r>
            <a:r>
              <a:rPr lang="zh-CN" altLang="en-US" dirty="0" smtClean="0"/>
              <a:t>编号。方便起见，</a:t>
            </a:r>
            <a:r>
              <a:rPr lang="en-US" altLang="zh-CN" dirty="0" smtClean="0"/>
              <a:t>JYY</a:t>
            </a:r>
            <a:r>
              <a:rPr lang="zh-CN" altLang="en-US" dirty="0" smtClean="0"/>
              <a:t>的编号是</a:t>
            </a:r>
            <a:r>
              <a:rPr lang="en-US" altLang="zh-CN" dirty="0" smtClean="0"/>
              <a:t>0</a:t>
            </a:r>
            <a:r>
              <a:rPr lang="zh-CN" altLang="en-US" dirty="0" smtClean="0"/>
              <a:t>号。</a:t>
            </a:r>
            <a:endParaRPr lang="en-US" altLang="zh-CN" dirty="0" smtClean="0"/>
          </a:p>
          <a:p>
            <a:r>
              <a:rPr lang="zh-CN" altLang="en-US" dirty="0" smtClean="0"/>
              <a:t>每个候选人都由一位编号比他小的候选人</a:t>
            </a:r>
            <a:r>
              <a:rPr lang="en-US" altLang="zh-CN" dirty="0" err="1" smtClean="0"/>
              <a:t>Ri</a:t>
            </a:r>
            <a:r>
              <a:rPr lang="zh-CN" altLang="en-US" dirty="0" smtClean="0"/>
              <a:t>推荐。如果</a:t>
            </a:r>
            <a:r>
              <a:rPr lang="en-US" altLang="zh-CN" dirty="0" err="1" smtClean="0"/>
              <a:t>Ri</a:t>
            </a:r>
            <a:r>
              <a:rPr lang="en-US" altLang="zh-CN" dirty="0" smtClean="0"/>
              <a:t>=0</a:t>
            </a:r>
            <a:r>
              <a:rPr lang="zh-CN" altLang="en-US" dirty="0" smtClean="0"/>
              <a:t>则说明这个候选人是</a:t>
            </a:r>
            <a:r>
              <a:rPr lang="en-US" altLang="zh-CN" dirty="0" smtClean="0"/>
              <a:t>JYY</a:t>
            </a:r>
            <a:r>
              <a:rPr lang="zh-CN" altLang="en-US" dirty="0" smtClean="0"/>
              <a:t>自己看上的。</a:t>
            </a:r>
            <a:endParaRPr lang="en-US" altLang="zh-CN" dirty="0" smtClean="0"/>
          </a:p>
          <a:p>
            <a:r>
              <a:rPr lang="zh-CN" altLang="en-US" dirty="0" smtClean="0"/>
              <a:t>为了保证团队的和谐，</a:t>
            </a:r>
            <a:r>
              <a:rPr lang="en-US" altLang="zh-CN" dirty="0" smtClean="0"/>
              <a:t>JYY</a:t>
            </a:r>
            <a:r>
              <a:rPr lang="zh-CN" altLang="en-US" dirty="0" smtClean="0"/>
              <a:t>需要保证，如果招募了候选人</a:t>
            </a:r>
            <a:r>
              <a:rPr lang="en-US" altLang="zh-CN" dirty="0" err="1" smtClean="0"/>
              <a:t>i</a:t>
            </a:r>
            <a:r>
              <a:rPr lang="zh-CN" altLang="en-US" dirty="0" smtClean="0"/>
              <a:t>，那么候选人</a:t>
            </a:r>
            <a:r>
              <a:rPr lang="en-US" altLang="zh-CN" dirty="0" err="1" smtClean="0"/>
              <a:t>Ri</a:t>
            </a:r>
            <a:r>
              <a:rPr lang="en-US" altLang="zh-CN" dirty="0" smtClean="0"/>
              <a:t>"</a:t>
            </a:r>
            <a:r>
              <a:rPr lang="zh-CN" altLang="en-US" dirty="0" smtClean="0"/>
              <a:t>也一定需要在团队中。当然了，</a:t>
            </a:r>
            <a:r>
              <a:rPr lang="en-US" altLang="zh-CN" dirty="0" smtClean="0"/>
              <a:t>JYY</a:t>
            </a:r>
            <a:r>
              <a:rPr lang="zh-CN" altLang="en-US" dirty="0" smtClean="0"/>
              <a:t>自己总是在团队里的。</a:t>
            </a:r>
            <a:endParaRPr lang="en-US" altLang="zh-CN" dirty="0" smtClean="0"/>
          </a:p>
          <a:p>
            <a:r>
              <a:rPr lang="zh-CN" altLang="en-US" dirty="0" smtClean="0"/>
              <a:t>每一个候选人都有一个战斗值</a:t>
            </a:r>
            <a:r>
              <a:rPr lang="en-US" altLang="zh-CN" dirty="0" smtClean="0"/>
              <a:t>Pi</a:t>
            </a:r>
            <a:r>
              <a:rPr lang="zh-CN" altLang="en-US" dirty="0" smtClean="0"/>
              <a:t>，也有一个招募费用</a:t>
            </a:r>
            <a:r>
              <a:rPr lang="en-US" altLang="zh-CN" dirty="0" smtClean="0"/>
              <a:t>Si</a:t>
            </a:r>
            <a:r>
              <a:rPr lang="zh-CN" altLang="en-US" dirty="0" smtClean="0"/>
              <a:t>。</a:t>
            </a:r>
            <a:r>
              <a:rPr lang="en-US" altLang="zh-CN" dirty="0" smtClean="0"/>
              <a:t>JYY</a:t>
            </a:r>
            <a:r>
              <a:rPr lang="zh-CN" altLang="en-US" dirty="0" smtClean="0"/>
              <a:t>希望招募</a:t>
            </a:r>
            <a:r>
              <a:rPr lang="en-US" altLang="zh-CN" dirty="0" smtClean="0"/>
              <a:t>K</a:t>
            </a:r>
            <a:r>
              <a:rPr lang="zh-CN" altLang="en-US" dirty="0" smtClean="0"/>
              <a:t>个候选人（</a:t>
            </a:r>
            <a:r>
              <a:rPr lang="en-US" altLang="zh-CN" dirty="0" smtClean="0"/>
              <a:t>JYY</a:t>
            </a:r>
            <a:r>
              <a:rPr lang="zh-CN" altLang="en-US" dirty="0" smtClean="0"/>
              <a:t>自己不算），组成一个性价比最高的团队。也就是，这</a:t>
            </a:r>
            <a:r>
              <a:rPr lang="en-US" altLang="zh-CN" dirty="0" smtClean="0"/>
              <a:t>K</a:t>
            </a:r>
            <a:r>
              <a:rPr lang="zh-CN" altLang="en-US" dirty="0" smtClean="0"/>
              <a:t>个被</a:t>
            </a:r>
            <a:r>
              <a:rPr lang="en-US" altLang="zh-CN" dirty="0" smtClean="0"/>
              <a:t>JYY</a:t>
            </a:r>
            <a:r>
              <a:rPr lang="zh-CN" altLang="en-US" dirty="0" smtClean="0"/>
              <a:t>选择的候选人的总战斗值与总招募费用的比值最大。</a:t>
            </a:r>
            <a:r>
              <a:rPr lang="en-US" altLang="zh-CN" dirty="0" smtClean="0"/>
              <a:t>N&lt;=2500.</a:t>
            </a:r>
            <a:br>
              <a:rPr lang="zh-CN" altLang="en-US" dirty="0" smtClean="0"/>
            </a:b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4753: [Jsoi2016]</a:t>
            </a:r>
            <a:r>
              <a:rPr lang="zh-CN" altLang="en-US" dirty="0" smtClean="0"/>
              <a:t>最佳团体</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这里最优化的目标是两种权值的比值</a:t>
            </a:r>
            <a:r>
              <a:rPr lang="en-US" altLang="zh-CN" sz="2400" dirty="0" smtClean="0"/>
              <a:t>,</a:t>
            </a:r>
            <a:r>
              <a:rPr lang="zh-CN" altLang="en-US" sz="2400" dirty="0" smtClean="0"/>
              <a:t>这种问题往往通过二分答案进行简化</a:t>
            </a:r>
            <a:r>
              <a:rPr lang="en-US" altLang="zh-CN" sz="2400" dirty="0" smtClean="0"/>
              <a:t>.</a:t>
            </a:r>
            <a:r>
              <a:rPr lang="zh-CN" altLang="en-US" sz="2400" dirty="0" smtClean="0"/>
              <a:t>即</a:t>
            </a:r>
            <a:r>
              <a:rPr lang="en-US" altLang="zh-CN" sz="2400" dirty="0" smtClean="0"/>
              <a:t>:</a:t>
            </a:r>
            <a:r>
              <a:rPr lang="zh-CN" altLang="en-US" sz="2400" dirty="0" smtClean="0"/>
              <a:t>每次判断是否存在一个解使得比值大于等于</a:t>
            </a:r>
            <a:r>
              <a:rPr lang="en-US" altLang="zh-CN" sz="2400" dirty="0" smtClean="0"/>
              <a:t>ans.</a:t>
            </a:r>
            <a:endParaRPr lang="en-US" altLang="zh-CN" sz="2400" dirty="0" smtClean="0"/>
          </a:p>
          <a:p>
            <a:r>
              <a:rPr lang="zh-CN" altLang="en-US" sz="2400" dirty="0" smtClean="0"/>
              <a:t>假设</a:t>
            </a:r>
            <a:r>
              <a:rPr lang="en-US" altLang="zh-CN" sz="2400" dirty="0" smtClean="0"/>
              <a:t>sigma(Pi)/sigma(Si)&gt;=</a:t>
            </a:r>
            <a:r>
              <a:rPr lang="en-US" altLang="zh-CN" sz="2400" dirty="0" err="1" smtClean="0"/>
              <a:t>ans</a:t>
            </a:r>
            <a:r>
              <a:rPr lang="en-US" altLang="zh-CN" sz="2400" dirty="0" smtClean="0"/>
              <a:t>,</a:t>
            </a:r>
            <a:r>
              <a:rPr lang="zh-CN" altLang="en-US" sz="2400" dirty="0" smtClean="0"/>
              <a:t>对式子变形</a:t>
            </a:r>
            <a:r>
              <a:rPr lang="en-US" altLang="zh-CN" sz="2400" dirty="0" smtClean="0"/>
              <a:t>.</a:t>
            </a:r>
            <a:endParaRPr lang="en-US" altLang="zh-CN" sz="2400" dirty="0" smtClean="0"/>
          </a:p>
          <a:p>
            <a:r>
              <a:rPr lang="zh-CN" altLang="en-US" sz="2400" dirty="0" smtClean="0"/>
              <a:t>则</a:t>
            </a:r>
            <a:r>
              <a:rPr lang="en-US" altLang="zh-CN" sz="2400" dirty="0" smtClean="0"/>
              <a:t>sigma(Pi-</a:t>
            </a:r>
            <a:r>
              <a:rPr lang="en-US" altLang="zh-CN" sz="2400" dirty="0" err="1" smtClean="0"/>
              <a:t>ans</a:t>
            </a:r>
            <a:r>
              <a:rPr lang="en-US" altLang="zh-CN" sz="2400" dirty="0" smtClean="0"/>
              <a:t>*Si)&gt;=0</a:t>
            </a:r>
            <a:endParaRPr lang="en-US" altLang="zh-CN" sz="2400" dirty="0" smtClean="0"/>
          </a:p>
          <a:p>
            <a:r>
              <a:rPr lang="zh-CN" altLang="en-US" sz="2400" dirty="0" smtClean="0"/>
              <a:t>也就是说</a:t>
            </a:r>
            <a:r>
              <a:rPr lang="en-US" altLang="zh-CN" sz="2400" dirty="0" smtClean="0"/>
              <a:t>,</a:t>
            </a:r>
            <a:r>
              <a:rPr lang="zh-CN" altLang="en-US" sz="2400" dirty="0" smtClean="0"/>
              <a:t>我们把</a:t>
            </a:r>
            <a:r>
              <a:rPr lang="en-US" altLang="zh-CN" sz="2400" dirty="0" smtClean="0"/>
              <a:t>Pi-</a:t>
            </a:r>
            <a:r>
              <a:rPr lang="en-US" altLang="zh-CN" sz="2400" dirty="0" err="1" smtClean="0"/>
              <a:t>ans</a:t>
            </a:r>
            <a:r>
              <a:rPr lang="en-US" altLang="zh-CN" sz="2400" dirty="0" smtClean="0"/>
              <a:t>*Si</a:t>
            </a:r>
            <a:r>
              <a:rPr lang="zh-CN" altLang="en-US" sz="2400" dirty="0" smtClean="0"/>
              <a:t>作为新的价值</a:t>
            </a:r>
            <a:r>
              <a:rPr lang="en-US" altLang="zh-CN" sz="2400" dirty="0" smtClean="0"/>
              <a:t>.</a:t>
            </a:r>
            <a:r>
              <a:rPr lang="zh-CN" altLang="en-US" sz="2400" dirty="0" smtClean="0"/>
              <a:t>每个人的重量为</a:t>
            </a:r>
            <a:r>
              <a:rPr lang="en-US" altLang="zh-CN" sz="2400" dirty="0" smtClean="0"/>
              <a:t>1,</a:t>
            </a:r>
            <a:r>
              <a:rPr lang="zh-CN" altLang="en-US" sz="2400" dirty="0" smtClean="0"/>
              <a:t>装满大小为</a:t>
            </a:r>
            <a:r>
              <a:rPr lang="en-US" altLang="zh-CN" sz="2400" dirty="0" smtClean="0"/>
              <a:t>k</a:t>
            </a:r>
            <a:r>
              <a:rPr lang="zh-CN" altLang="en-US" sz="2400" dirty="0" smtClean="0"/>
              <a:t>的背包</a:t>
            </a:r>
            <a:r>
              <a:rPr lang="en-US" altLang="zh-CN" sz="2400" dirty="0" smtClean="0"/>
              <a:t>.</a:t>
            </a:r>
            <a:endParaRPr lang="en-US" altLang="zh-CN" sz="2400" dirty="0" smtClean="0"/>
          </a:p>
          <a:p>
            <a:r>
              <a:rPr lang="zh-CN" altLang="en-US" sz="2400" dirty="0" smtClean="0"/>
              <a:t>之前分析过</a:t>
            </a:r>
            <a:r>
              <a:rPr lang="en-US" altLang="zh-CN" sz="2400" dirty="0" smtClean="0"/>
              <a:t>,</a:t>
            </a:r>
            <a:r>
              <a:rPr lang="zh-CN" altLang="en-US" sz="2400" dirty="0" smtClean="0"/>
              <a:t>复杂度是平方的</a:t>
            </a:r>
            <a:r>
              <a:rPr lang="en-US" altLang="zh-CN" sz="2400" dirty="0" smtClean="0"/>
              <a:t>.</a:t>
            </a:r>
            <a:r>
              <a:rPr lang="zh-CN" altLang="en-US" sz="2400" dirty="0" smtClean="0"/>
              <a:t>这里还要带一个二分答案的</a:t>
            </a:r>
            <a:r>
              <a:rPr lang="en-US" altLang="zh-CN" sz="2400" dirty="0" smtClean="0"/>
              <a:t>log,</a:t>
            </a:r>
            <a:r>
              <a:rPr lang="zh-CN" altLang="en-US" sz="2400" dirty="0" smtClean="0"/>
              <a:t>不过确实可以跑过去</a:t>
            </a: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Poj3093:</a:t>
            </a:r>
            <a:r>
              <a:rPr lang="en-US" dirty="0" smtClean="0"/>
              <a:t>Margaritas on the River Walk</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a:t>
            </a:r>
            <a:r>
              <a:rPr lang="en-US" altLang="zh-CN" sz="2400" dirty="0" smtClean="0"/>
              <a:t>n</a:t>
            </a:r>
            <a:r>
              <a:rPr lang="zh-CN" altLang="en-US" sz="2400" dirty="0" smtClean="0"/>
              <a:t>个只有重量没有价值的物品和一个大小为</a:t>
            </a:r>
            <a:r>
              <a:rPr lang="en-US" altLang="zh-CN" sz="2400" dirty="0" smtClean="0"/>
              <a:t>m</a:t>
            </a:r>
            <a:r>
              <a:rPr lang="zh-CN" altLang="en-US" sz="2400" dirty="0" smtClean="0"/>
              <a:t>的背包</a:t>
            </a:r>
            <a:r>
              <a:rPr lang="en-US" altLang="zh-CN" sz="2400" dirty="0" smtClean="0"/>
              <a:t>,</a:t>
            </a:r>
            <a:r>
              <a:rPr lang="zh-CN" altLang="en-US" sz="2400" dirty="0" smtClean="0"/>
              <a:t>现在要求选出一些物品放进背包</a:t>
            </a:r>
            <a:r>
              <a:rPr lang="en-US" altLang="zh-CN" sz="2400" dirty="0" smtClean="0"/>
              <a:t>(</a:t>
            </a:r>
            <a:r>
              <a:rPr lang="zh-CN" altLang="en-US" sz="2400" dirty="0" smtClean="0"/>
              <a:t>不能超过重量限制</a:t>
            </a:r>
            <a:r>
              <a:rPr lang="en-US" altLang="zh-CN" sz="2400" dirty="0" smtClean="0"/>
              <a:t>m),</a:t>
            </a:r>
            <a:r>
              <a:rPr lang="zh-CN" altLang="en-US" sz="2400" dirty="0" smtClean="0"/>
              <a:t>使得剩下的物品都不能再放进去</a:t>
            </a:r>
            <a:r>
              <a:rPr lang="en-US" altLang="zh-CN" sz="2400" dirty="0" smtClean="0"/>
              <a:t>,</a:t>
            </a:r>
            <a:r>
              <a:rPr lang="zh-CN" altLang="en-US" sz="2400" dirty="0" smtClean="0"/>
              <a:t>问不同的方案数有多少</a:t>
            </a:r>
            <a:r>
              <a:rPr lang="en-US" altLang="zh-CN" sz="2400" dirty="0" smtClean="0"/>
              <a:t>.</a:t>
            </a:r>
            <a:r>
              <a:rPr lang="zh-CN" altLang="en-US" sz="2400" dirty="0" smtClean="0"/>
              <a:t>如果两个方案中存在一件物品</a:t>
            </a:r>
            <a:r>
              <a:rPr lang="en-US" altLang="zh-CN" sz="2400" dirty="0" smtClean="0"/>
              <a:t>,</a:t>
            </a:r>
            <a:r>
              <a:rPr lang="zh-CN" altLang="en-US" sz="2400" dirty="0" smtClean="0"/>
              <a:t>在一个方案中放进去了</a:t>
            </a:r>
            <a:r>
              <a:rPr lang="en-US" altLang="zh-CN" sz="2400" dirty="0" smtClean="0"/>
              <a:t>,</a:t>
            </a:r>
            <a:r>
              <a:rPr lang="zh-CN" altLang="en-US" sz="2400" dirty="0" smtClean="0"/>
              <a:t>在另一个方案中没有放进去</a:t>
            </a:r>
            <a:r>
              <a:rPr lang="en-US" altLang="zh-CN" sz="2400" dirty="0" smtClean="0"/>
              <a:t>,</a:t>
            </a:r>
            <a:r>
              <a:rPr lang="zh-CN" altLang="en-US" sz="2400" dirty="0" smtClean="0"/>
              <a:t>那么这两个方案不同</a:t>
            </a:r>
            <a:r>
              <a:rPr lang="en-US" altLang="zh-CN" sz="2400" dirty="0" smtClean="0"/>
              <a:t>.1000</a:t>
            </a:r>
            <a:r>
              <a:rPr lang="zh-CN" altLang="en-US" sz="2400" dirty="0" smtClean="0"/>
              <a:t>组数据</a:t>
            </a:r>
            <a:r>
              <a:rPr lang="en-US" altLang="zh-CN" sz="2400" dirty="0" smtClean="0"/>
              <a:t>,n&lt;=30,m&lt;=1000</a:t>
            </a:r>
            <a:endParaRPr lang="en-US" altLang="zh-CN" sz="2400" dirty="0" smtClean="0"/>
          </a:p>
          <a:p>
            <a:r>
              <a:rPr lang="zh-CN" altLang="en-US" sz="2400" dirty="0" smtClean="0"/>
              <a:t>剩下的物品都不能再放进去等价于剩下的物品中最小的一个不能再放进去</a:t>
            </a:r>
            <a:endParaRPr lang="en-US" altLang="zh-CN" sz="2400" dirty="0" smtClean="0"/>
          </a:p>
          <a:p>
            <a:r>
              <a:rPr lang="zh-CN" altLang="en-US" sz="2400" dirty="0" smtClean="0"/>
              <a:t>枚举剩下的物品中最小的一个是哪一个</a:t>
            </a:r>
            <a:r>
              <a:rPr lang="en-US" altLang="zh-CN" sz="2400" dirty="0" smtClean="0"/>
              <a:t>,</a:t>
            </a:r>
            <a:r>
              <a:rPr lang="zh-CN" altLang="en-US" sz="2400" dirty="0" smtClean="0"/>
              <a:t>那么比它小的物品都必须选中</a:t>
            </a:r>
            <a:r>
              <a:rPr lang="en-US" altLang="zh-CN" sz="2400" dirty="0" smtClean="0"/>
              <a:t>,</a:t>
            </a:r>
            <a:r>
              <a:rPr lang="zh-CN" altLang="en-US" sz="2400" dirty="0" smtClean="0"/>
              <a:t>这个物品本身不能被选中</a:t>
            </a:r>
            <a:endParaRPr lang="en-US" altLang="zh-CN" sz="2400" dirty="0" smtClean="0"/>
          </a:p>
          <a:p>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Poj3093:</a:t>
            </a:r>
            <a:r>
              <a:rPr lang="en-US" dirty="0" smtClean="0"/>
              <a:t>Margaritas on the River Walk</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假设当前枚举不放进去的重量最小的物品的重量为</a:t>
            </a:r>
            <a:r>
              <a:rPr lang="en-US" altLang="zh-CN" sz="2400" dirty="0" err="1" smtClean="0"/>
              <a:t>wi</a:t>
            </a:r>
            <a:r>
              <a:rPr lang="en-US" altLang="zh-CN" sz="2400" dirty="0" smtClean="0"/>
              <a:t>,</a:t>
            </a:r>
            <a:r>
              <a:rPr lang="zh-CN" altLang="en-US" sz="2400" dirty="0" smtClean="0"/>
              <a:t>重量比</a:t>
            </a:r>
            <a:r>
              <a:rPr lang="en-US" altLang="zh-CN" sz="2400" dirty="0" err="1" smtClean="0"/>
              <a:t>wi</a:t>
            </a:r>
            <a:r>
              <a:rPr lang="zh-CN" altLang="en-US" sz="2400" dirty="0" smtClean="0"/>
              <a:t>小的物品的重量之和为</a:t>
            </a:r>
            <a:r>
              <a:rPr lang="en-US" altLang="zh-CN" sz="2400" dirty="0" smtClean="0"/>
              <a:t>sum,</a:t>
            </a:r>
            <a:r>
              <a:rPr lang="zh-CN" altLang="en-US" sz="2400" dirty="0" smtClean="0"/>
              <a:t>重量比</a:t>
            </a:r>
            <a:r>
              <a:rPr lang="en-US" altLang="zh-CN" sz="2400" dirty="0" err="1" smtClean="0"/>
              <a:t>wi</a:t>
            </a:r>
            <a:r>
              <a:rPr lang="zh-CN" altLang="en-US" sz="2400" dirty="0" smtClean="0"/>
              <a:t>大的物品中选出的重量之和为</a:t>
            </a:r>
            <a:r>
              <a:rPr lang="en-US" altLang="zh-CN" sz="2400" dirty="0" err="1" smtClean="0"/>
              <a:t>val</a:t>
            </a:r>
            <a:r>
              <a:rPr lang="en-US" altLang="zh-CN" sz="2400" dirty="0" smtClean="0"/>
              <a:t>,</a:t>
            </a:r>
            <a:r>
              <a:rPr lang="zh-CN" altLang="en-US" sz="2400" dirty="0" smtClean="0"/>
              <a:t>那么</a:t>
            </a:r>
            <a:r>
              <a:rPr lang="en-US" altLang="zh-CN" sz="2400" dirty="0" err="1" smtClean="0"/>
              <a:t>sum+val</a:t>
            </a:r>
            <a:r>
              <a:rPr lang="en-US" altLang="zh-CN" sz="2400" dirty="0" smtClean="0"/>
              <a:t>&lt;=</a:t>
            </a:r>
            <a:r>
              <a:rPr lang="en-US" altLang="zh-CN" sz="2400" dirty="0" err="1" smtClean="0"/>
              <a:t>m,sum+val+wi</a:t>
            </a:r>
            <a:r>
              <a:rPr lang="en-US" altLang="zh-CN" sz="2400" dirty="0" smtClean="0"/>
              <a:t>&gt;m</a:t>
            </a:r>
            <a:endParaRPr lang="en-US" altLang="zh-CN" sz="2400" dirty="0" smtClean="0"/>
          </a:p>
          <a:p>
            <a:r>
              <a:rPr lang="zh-CN" altLang="en-US" sz="2400" dirty="0" smtClean="0"/>
              <a:t>也就是说</a:t>
            </a:r>
            <a:r>
              <a:rPr lang="en-US" altLang="zh-CN" sz="2400" dirty="0" smtClean="0"/>
              <a:t>,m-sum-</a:t>
            </a:r>
            <a:r>
              <a:rPr lang="en-US" altLang="zh-CN" sz="2400" dirty="0" err="1" smtClean="0"/>
              <a:t>wi</a:t>
            </a:r>
            <a:r>
              <a:rPr lang="en-US" altLang="zh-CN" sz="2400" dirty="0" smtClean="0"/>
              <a:t>&lt;</a:t>
            </a:r>
            <a:r>
              <a:rPr lang="en-US" altLang="zh-CN" sz="2400" dirty="0" err="1" smtClean="0"/>
              <a:t>val</a:t>
            </a:r>
            <a:r>
              <a:rPr lang="en-US" altLang="zh-CN" sz="2400" dirty="0" smtClean="0"/>
              <a:t>&lt;=m-sum</a:t>
            </a:r>
            <a:endParaRPr lang="en-US" altLang="zh-CN" sz="2400" dirty="0" smtClean="0"/>
          </a:p>
          <a:p>
            <a:r>
              <a:rPr lang="zh-CN" altLang="en-US" sz="2400" dirty="0" smtClean="0"/>
              <a:t>我们需要求出</a:t>
            </a:r>
            <a:r>
              <a:rPr lang="en-US" altLang="zh-CN" sz="2400" dirty="0" smtClean="0"/>
              <a:t>”</a:t>
            </a:r>
            <a:r>
              <a:rPr lang="zh-CN" altLang="en-US" sz="2400" dirty="0" smtClean="0"/>
              <a:t>较大的</a:t>
            </a:r>
            <a:r>
              <a:rPr lang="en-US" altLang="zh-CN" sz="2400" dirty="0" err="1" smtClean="0"/>
              <a:t>i</a:t>
            </a:r>
            <a:r>
              <a:rPr lang="zh-CN" altLang="en-US" sz="2400" dirty="0" smtClean="0"/>
              <a:t>个物品组合出重量</a:t>
            </a:r>
            <a:r>
              <a:rPr lang="en-US" altLang="zh-CN" sz="2400" dirty="0" smtClean="0"/>
              <a:t>j</a:t>
            </a:r>
            <a:r>
              <a:rPr lang="zh-CN" altLang="en-US" sz="2400" dirty="0" smtClean="0"/>
              <a:t>的方案数</a:t>
            </a:r>
            <a:r>
              <a:rPr lang="en-US" altLang="zh-CN" sz="2400" dirty="0" smtClean="0"/>
              <a:t>”</a:t>
            </a:r>
            <a:endParaRPr lang="en-US" altLang="zh-CN" sz="2400" dirty="0" smtClean="0"/>
          </a:p>
          <a:p>
            <a:r>
              <a:rPr lang="zh-CN" altLang="en-US" sz="2400" dirty="0" smtClean="0"/>
              <a:t>对物品按照重量排序</a:t>
            </a:r>
            <a:r>
              <a:rPr lang="en-US" altLang="zh-CN" sz="2400" dirty="0" smtClean="0"/>
              <a:t>,</a:t>
            </a:r>
            <a:r>
              <a:rPr lang="zh-CN" altLang="en-US" sz="2400" dirty="0" smtClean="0"/>
              <a:t>定义</a:t>
            </a:r>
            <a:r>
              <a:rPr lang="en-US" altLang="zh-CN" sz="2400" dirty="0" smtClean="0"/>
              <a:t>f[</a:t>
            </a:r>
            <a:r>
              <a:rPr lang="en-US" altLang="zh-CN" sz="2400" dirty="0" err="1" smtClean="0"/>
              <a:t>i</a:t>
            </a:r>
            <a:r>
              <a:rPr lang="en-US" altLang="zh-CN" sz="2400" dirty="0" smtClean="0"/>
              <a:t>][j]</a:t>
            </a:r>
            <a:r>
              <a:rPr lang="zh-CN" altLang="en-US" sz="2400" dirty="0" smtClean="0"/>
              <a:t>表示最大的</a:t>
            </a:r>
            <a:r>
              <a:rPr lang="en-US" altLang="zh-CN" sz="2400" dirty="0" err="1" smtClean="0"/>
              <a:t>i</a:t>
            </a:r>
            <a:r>
              <a:rPr lang="zh-CN" altLang="en-US" sz="2400" dirty="0" smtClean="0"/>
              <a:t>个物品组合出重量</a:t>
            </a:r>
            <a:r>
              <a:rPr lang="en-US" altLang="zh-CN" sz="2400" dirty="0" smtClean="0"/>
              <a:t>j</a:t>
            </a:r>
            <a:r>
              <a:rPr lang="zh-CN" altLang="en-US" sz="2400" dirty="0" smtClean="0"/>
              <a:t>的方案数</a:t>
            </a:r>
            <a:endParaRPr lang="en-US" altLang="zh-CN" sz="2400" dirty="0" smtClean="0"/>
          </a:p>
          <a:p>
            <a:r>
              <a:rPr lang="en-US" altLang="zh-CN" sz="2400" dirty="0" smtClean="0"/>
              <a:t>f[</a:t>
            </a:r>
            <a:r>
              <a:rPr lang="en-US" altLang="zh-CN" sz="2400" dirty="0" err="1" smtClean="0"/>
              <a:t>i</a:t>
            </a:r>
            <a:r>
              <a:rPr lang="en-US" altLang="zh-CN" sz="2400" dirty="0" smtClean="0"/>
              <a:t>][j]=f[i-1][j]+f[i-1][j-w[</a:t>
            </a:r>
            <a:r>
              <a:rPr lang="en-US" altLang="zh-CN" sz="2400" dirty="0" err="1" smtClean="0"/>
              <a:t>i</a:t>
            </a:r>
            <a:r>
              <a:rPr lang="en-US" altLang="zh-CN" sz="2400" dirty="0" smtClean="0"/>
              <a:t>]]</a:t>
            </a:r>
            <a:endParaRPr lang="en-US" altLang="zh-CN" sz="2400" dirty="0" smtClean="0"/>
          </a:p>
          <a:p>
            <a:r>
              <a:rPr lang="zh-CN" altLang="en-US" sz="2400" dirty="0" smtClean="0"/>
              <a:t>复杂度</a:t>
            </a:r>
            <a:r>
              <a:rPr lang="en-US" altLang="zh-CN" sz="2400" dirty="0" smtClean="0"/>
              <a:t>O(nm</a:t>
            </a:r>
            <a:r>
              <a:rPr lang="zh-CN" altLang="en-US" sz="2400" dirty="0" smtClean="0"/>
              <a:t>*数据组数</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背包动态规划</a:t>
            </a:r>
            <a:r>
              <a:rPr lang="en-US" altLang="zh-CN" dirty="0" smtClean="0"/>
              <a:t>(</a:t>
            </a:r>
            <a:r>
              <a:rPr lang="zh-CN" altLang="en-US" dirty="0" smtClean="0"/>
              <a:t>一些题目</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en-US" sz="3200" dirty="0" smtClean="0"/>
              <a:t>bzoj2748[HAOI2012]</a:t>
            </a:r>
            <a:r>
              <a:rPr lang="en-US" sz="3200" dirty="0" err="1" smtClean="0"/>
              <a:t>音量调节</a:t>
            </a:r>
            <a:endParaRPr lang="zh-CN" altLang="en-US" sz="3200" dirty="0" smtClean="0"/>
          </a:p>
          <a:p>
            <a:r>
              <a:rPr lang="en-US" sz="3200" dirty="0" smtClean="0"/>
              <a:t>bzoj1190[HNOI2007]</a:t>
            </a:r>
            <a:r>
              <a:rPr lang="en-US" sz="3200" dirty="0" err="1" smtClean="0"/>
              <a:t>梦幻岛宝珠</a:t>
            </a:r>
            <a:endParaRPr lang="zh-CN" altLang="en-US" sz="3200" dirty="0" smtClean="0"/>
          </a:p>
          <a:p>
            <a:r>
              <a:rPr lang="en-US" sz="3200" dirty="0" smtClean="0"/>
              <a:t>bzoj1334[Baltic2008]Elect</a:t>
            </a:r>
            <a:endParaRPr lang="zh-CN" altLang="en-US" sz="3200" dirty="0" smtClean="0"/>
          </a:p>
          <a:p>
            <a:r>
              <a:rPr lang="en-US" sz="3200" dirty="0" smtClean="0"/>
              <a:t>bzoj2287[POJ Challenge]</a:t>
            </a:r>
            <a:r>
              <a:rPr lang="en-US" sz="3200" dirty="0" err="1" smtClean="0"/>
              <a:t>消失之物</a:t>
            </a:r>
            <a:endParaRPr lang="zh-CN" altLang="en-US" sz="3200" dirty="0" smtClean="0"/>
          </a:p>
          <a:p>
            <a:endParaRPr lang="zh-CN"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树形动态规划</a:t>
            </a:r>
            <a:endParaRPr lang="zh-CN" altLang="en-US" dirty="0"/>
          </a:p>
        </p:txBody>
      </p:sp>
      <p:sp>
        <p:nvSpPr>
          <p:cNvPr id="5" name="文本占位符 4"/>
          <p:cNvSpPr>
            <a:spLocks noGrp="1"/>
          </p:cNvSpPr>
          <p:nvPr>
            <p:ph type="body"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树形动态规划</a:t>
            </a:r>
            <a:r>
              <a:rPr lang="en-US" altLang="zh-CN" dirty="0" smtClean="0"/>
              <a:t>(</a:t>
            </a:r>
            <a:r>
              <a:rPr lang="zh-CN" altLang="en-US" dirty="0" smtClean="0"/>
              <a:t>概述</a:t>
            </a:r>
            <a:r>
              <a:rPr lang="en-US" altLang="zh-CN" dirty="0" smtClean="0"/>
              <a:t>)</a:t>
            </a:r>
            <a:endParaRPr lang="zh-CN" altLang="en-US" dirty="0"/>
          </a:p>
        </p:txBody>
      </p:sp>
      <p:sp>
        <p:nvSpPr>
          <p:cNvPr id="5" name="内容占位符 4"/>
          <p:cNvSpPr>
            <a:spLocks noGrp="1"/>
          </p:cNvSpPr>
          <p:nvPr>
            <p:ph sz="quarter" idx="1"/>
          </p:nvPr>
        </p:nvSpPr>
        <p:spPr/>
        <p:txBody>
          <a:bodyPr>
            <a:normAutofit/>
          </a:bodyPr>
          <a:lstStyle/>
          <a:p>
            <a:r>
              <a:rPr lang="zh-CN" altLang="en-US" sz="2400" dirty="0" smtClean="0"/>
              <a:t>顾名思义</a:t>
            </a:r>
            <a:r>
              <a:rPr lang="en-US" altLang="zh-CN" sz="2400" dirty="0" smtClean="0"/>
              <a:t>,</a:t>
            </a:r>
            <a:r>
              <a:rPr lang="zh-CN" altLang="en-US" sz="2400" dirty="0" smtClean="0"/>
              <a:t>在树形结构上进行的动态规划</a:t>
            </a:r>
            <a:endParaRPr lang="en-US" altLang="zh-CN" sz="2400" dirty="0" smtClean="0"/>
          </a:p>
          <a:p>
            <a:r>
              <a:rPr lang="zh-CN" altLang="en-US" sz="2400" dirty="0" smtClean="0"/>
              <a:t>一般需要把输入的无根树建成有根树</a:t>
            </a:r>
            <a:endParaRPr lang="en-US" altLang="zh-CN" sz="2400" dirty="0" smtClean="0"/>
          </a:p>
          <a:p>
            <a:r>
              <a:rPr lang="zh-CN" altLang="en-US" sz="2400" dirty="0" smtClean="0"/>
              <a:t>往往对某一棵子树进行状态定义</a:t>
            </a:r>
            <a:r>
              <a:rPr lang="en-US" altLang="zh-CN" sz="2400" dirty="0" smtClean="0"/>
              <a:t>,</a:t>
            </a:r>
            <a:r>
              <a:rPr lang="zh-CN" altLang="en-US" sz="2400" dirty="0" smtClean="0"/>
              <a:t>例如</a:t>
            </a:r>
            <a:r>
              <a:rPr lang="en-US" altLang="zh-CN" sz="2400" dirty="0" smtClean="0"/>
              <a:t>f[</a:t>
            </a:r>
            <a:r>
              <a:rPr lang="en-US" altLang="zh-CN" sz="2400" dirty="0" err="1" smtClean="0"/>
              <a:t>i</a:t>
            </a:r>
            <a:r>
              <a:rPr lang="en-US" altLang="zh-CN" sz="2400" dirty="0" smtClean="0"/>
              <a:t>]</a:t>
            </a:r>
            <a:r>
              <a:rPr lang="zh-CN" altLang="en-US" sz="2400" dirty="0" smtClean="0"/>
              <a:t>表示</a:t>
            </a:r>
            <a:r>
              <a:rPr lang="en-US" altLang="zh-CN" sz="2400" dirty="0" err="1" smtClean="0"/>
              <a:t>i</a:t>
            </a:r>
            <a:r>
              <a:rPr lang="zh-CN" altLang="en-US" sz="2400" dirty="0" smtClean="0"/>
              <a:t>这一棵子树的某种信息</a:t>
            </a:r>
            <a:r>
              <a:rPr lang="en-US" altLang="zh-CN" sz="2400" dirty="0" smtClean="0"/>
              <a:t>,</a:t>
            </a:r>
            <a:r>
              <a:rPr lang="zh-CN" altLang="en-US" sz="2400" dirty="0" smtClean="0"/>
              <a:t>从</a:t>
            </a:r>
            <a:r>
              <a:rPr lang="en-US" altLang="zh-CN" sz="2400" dirty="0" err="1" smtClean="0"/>
              <a:t>i</a:t>
            </a:r>
            <a:r>
              <a:rPr lang="zh-CN" altLang="en-US" sz="2400" dirty="0" smtClean="0"/>
              <a:t>的儿子的状态合并得到</a:t>
            </a:r>
            <a:r>
              <a:rPr lang="en-US" altLang="zh-CN" sz="2400" dirty="0" err="1" smtClean="0"/>
              <a:t>i</a:t>
            </a:r>
            <a:r>
              <a:rPr lang="zh-CN" altLang="en-US" sz="2400" dirty="0" smtClean="0"/>
              <a:t>的状态</a:t>
            </a:r>
            <a:endParaRPr lang="en-US" altLang="zh-CN" sz="2400" dirty="0" smtClean="0"/>
          </a:p>
          <a:p>
            <a:r>
              <a:rPr lang="zh-CN" altLang="en-US" sz="2400" dirty="0" smtClean="0"/>
              <a:t>可以出得丧心病狂</a:t>
            </a:r>
            <a:r>
              <a:rPr lang="en-US" altLang="zh-CN" sz="2400" dirty="0" smtClean="0"/>
              <a:t>(</a:t>
            </a:r>
            <a:r>
              <a:rPr lang="zh-CN" altLang="en-US" sz="2400" dirty="0" smtClean="0"/>
              <a:t>参见</a:t>
            </a:r>
            <a:r>
              <a:rPr lang="en-US" altLang="zh-CN" sz="2400" dirty="0" smtClean="0"/>
              <a:t>HEOI2017</a:t>
            </a:r>
            <a:r>
              <a:rPr lang="zh-CN" altLang="en-US" sz="2400" dirty="0" smtClean="0"/>
              <a:t>摧毁树形图</a:t>
            </a:r>
            <a:r>
              <a:rPr lang="en-US" altLang="zh-CN" sz="2400" dirty="0" smtClean="0"/>
              <a:t>),</a:t>
            </a:r>
            <a:r>
              <a:rPr lang="zh-CN" altLang="en-US" sz="2400" dirty="0" smtClean="0"/>
              <a:t>但</a:t>
            </a:r>
            <a:r>
              <a:rPr lang="en-US" altLang="zh-CN" sz="2400" dirty="0" err="1" smtClean="0"/>
              <a:t>noip</a:t>
            </a:r>
            <a:r>
              <a:rPr lang="zh-CN" altLang="en-US" sz="2400" dirty="0" smtClean="0"/>
              <a:t>范围内一般不会那么难</a:t>
            </a:r>
            <a:r>
              <a:rPr lang="en-US" altLang="zh-CN" sz="2400" dirty="0" smtClean="0"/>
              <a:t>,</a:t>
            </a:r>
            <a:r>
              <a:rPr lang="zh-CN" altLang="en-US" sz="2400" dirty="0" smtClean="0"/>
              <a:t>所以请放轻松</a:t>
            </a: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树的重心</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给大家热热身</a:t>
            </a:r>
            <a:r>
              <a:rPr lang="en-US" altLang="zh-CN" sz="2400" dirty="0" smtClean="0"/>
              <a:t>…</a:t>
            </a:r>
            <a:endParaRPr lang="en-US" altLang="zh-CN" sz="2400" dirty="0" smtClean="0"/>
          </a:p>
          <a:p>
            <a:r>
              <a:rPr lang="zh-CN" altLang="en-US" sz="2400" dirty="0" smtClean="0"/>
              <a:t>树的重心</a:t>
            </a:r>
            <a:r>
              <a:rPr lang="en-US" altLang="zh-CN" sz="2400" dirty="0" smtClean="0"/>
              <a:t>:</a:t>
            </a:r>
            <a:r>
              <a:rPr lang="zh-CN" altLang="en-US" sz="2400" dirty="0" smtClean="0"/>
              <a:t>删掉这个点后可以使得剩下的每个连通块中节点数的最大值最小</a:t>
            </a:r>
            <a:endParaRPr lang="en-US" altLang="zh-CN" sz="2400" dirty="0" smtClean="0"/>
          </a:p>
          <a:p>
            <a:r>
              <a:rPr lang="zh-CN" altLang="en-US" sz="2400" dirty="0" smtClean="0"/>
              <a:t>一些性质</a:t>
            </a:r>
            <a:r>
              <a:rPr lang="en-US" altLang="zh-CN" sz="2400" dirty="0" smtClean="0"/>
              <a:t>:</a:t>
            </a:r>
            <a:endParaRPr lang="en-US" altLang="zh-CN" sz="2400" dirty="0" smtClean="0"/>
          </a:p>
          <a:p>
            <a:pPr lvl="1"/>
            <a:r>
              <a:rPr lang="zh-CN" altLang="en-US" dirty="0" smtClean="0"/>
              <a:t>删掉重心后剩下的每个连通块大小不超过</a:t>
            </a:r>
            <a:r>
              <a:rPr lang="en-US" altLang="zh-CN" dirty="0" smtClean="0"/>
              <a:t>n/2</a:t>
            </a:r>
            <a:endParaRPr lang="en-US" altLang="zh-CN" dirty="0" smtClean="0"/>
          </a:p>
          <a:p>
            <a:pPr lvl="1"/>
            <a:r>
              <a:rPr lang="zh-CN" altLang="en-US" dirty="0" smtClean="0"/>
              <a:t>对任意树</a:t>
            </a:r>
            <a:r>
              <a:rPr lang="en-US" altLang="zh-CN" dirty="0" smtClean="0"/>
              <a:t>,</a:t>
            </a:r>
            <a:r>
              <a:rPr lang="zh-CN" altLang="en-US" dirty="0" smtClean="0"/>
              <a:t>重心只有</a:t>
            </a:r>
            <a:r>
              <a:rPr lang="en-US" altLang="zh-CN" dirty="0" smtClean="0"/>
              <a:t>1</a:t>
            </a:r>
            <a:r>
              <a:rPr lang="zh-CN" altLang="en-US" dirty="0" smtClean="0"/>
              <a:t>个或</a:t>
            </a:r>
            <a:r>
              <a:rPr lang="en-US" altLang="zh-CN" dirty="0" smtClean="0"/>
              <a:t>2</a:t>
            </a:r>
            <a:r>
              <a:rPr lang="zh-CN" altLang="en-US" dirty="0" smtClean="0"/>
              <a:t>个</a:t>
            </a:r>
            <a:r>
              <a:rPr lang="en-US" altLang="zh-CN" dirty="0" smtClean="0"/>
              <a:t>.</a:t>
            </a:r>
            <a:r>
              <a:rPr lang="zh-CN" altLang="en-US" dirty="0" smtClean="0"/>
              <a:t>有</a:t>
            </a:r>
            <a:r>
              <a:rPr lang="en-US" altLang="zh-CN" dirty="0" smtClean="0"/>
              <a:t>2</a:t>
            </a:r>
            <a:r>
              <a:rPr lang="zh-CN" altLang="en-US" dirty="0" smtClean="0"/>
              <a:t>个重心时这两个重心必然是一条边的两个端点</a:t>
            </a:r>
            <a:r>
              <a:rPr lang="en-US" altLang="zh-CN" dirty="0" smtClean="0"/>
              <a:t>,</a:t>
            </a:r>
            <a:r>
              <a:rPr lang="zh-CN" altLang="en-US" dirty="0" smtClean="0"/>
              <a:t>且这条边两侧各有</a:t>
            </a:r>
            <a:r>
              <a:rPr lang="en-US" altLang="zh-CN" dirty="0" smtClean="0"/>
              <a:t>n/2</a:t>
            </a:r>
            <a:r>
              <a:rPr lang="zh-CN" altLang="en-US" dirty="0" smtClean="0"/>
              <a:t>个点</a:t>
            </a:r>
            <a:r>
              <a:rPr lang="en-US" altLang="zh-CN" dirty="0" smtClean="0"/>
              <a:t>.</a:t>
            </a:r>
            <a:endParaRPr lang="en-US" altLang="zh-CN" dirty="0" smtClean="0"/>
          </a:p>
          <a:p>
            <a:pPr lvl="1"/>
            <a:r>
              <a:rPr lang="zh-CN" altLang="en-US" dirty="0" smtClean="0"/>
              <a:t>重心到其他所有点的距离之和是树中所有点最小的</a:t>
            </a:r>
            <a:endParaRPr lang="en-US" altLang="zh-CN" dirty="0" smtClean="0"/>
          </a:p>
          <a:p>
            <a:r>
              <a:rPr lang="zh-CN" altLang="en-US" sz="2400" dirty="0" smtClean="0"/>
              <a:t>找重心很容易</a:t>
            </a:r>
            <a:r>
              <a:rPr lang="en-US" altLang="zh-CN" sz="2400" dirty="0" smtClean="0"/>
              <a:t>,f[</a:t>
            </a:r>
            <a:r>
              <a:rPr lang="en-US" altLang="zh-CN" sz="2400" dirty="0" err="1" smtClean="0"/>
              <a:t>i</a:t>
            </a:r>
            <a:r>
              <a:rPr lang="en-US" altLang="zh-CN" sz="2400" dirty="0" smtClean="0"/>
              <a:t>]</a:t>
            </a:r>
            <a:r>
              <a:rPr lang="zh-CN" altLang="en-US" sz="2400" dirty="0" smtClean="0"/>
              <a:t>表示子树</a:t>
            </a:r>
            <a:r>
              <a:rPr lang="en-US" altLang="zh-CN" sz="2400" dirty="0" err="1" smtClean="0"/>
              <a:t>i</a:t>
            </a:r>
            <a:r>
              <a:rPr lang="zh-CN" altLang="en-US" sz="2400" dirty="0" smtClean="0"/>
              <a:t>中的节点个数</a:t>
            </a:r>
            <a:r>
              <a:rPr lang="en-US" altLang="zh-CN" sz="2400" dirty="0" smtClean="0"/>
              <a:t>,</a:t>
            </a:r>
            <a:r>
              <a:rPr lang="zh-CN" altLang="en-US" sz="2400" dirty="0" smtClean="0"/>
              <a:t>那么</a:t>
            </a:r>
            <a:r>
              <a:rPr lang="en-US" altLang="zh-CN" sz="2400" dirty="0" smtClean="0"/>
              <a:t>f[</a:t>
            </a:r>
            <a:r>
              <a:rPr lang="en-US" altLang="zh-CN" sz="2400" dirty="0" err="1" smtClean="0"/>
              <a:t>i</a:t>
            </a:r>
            <a:r>
              <a:rPr lang="en-US" altLang="zh-CN" sz="2400" dirty="0" smtClean="0"/>
              <a:t>]</a:t>
            </a:r>
            <a:r>
              <a:rPr lang="zh-CN" altLang="en-US" sz="2400" dirty="0" smtClean="0"/>
              <a:t>等于</a:t>
            </a:r>
            <a:r>
              <a:rPr lang="en-US" altLang="zh-CN" sz="2400" dirty="0" err="1" smtClean="0"/>
              <a:t>i</a:t>
            </a:r>
            <a:r>
              <a:rPr lang="zh-CN" altLang="en-US" sz="2400" dirty="0" smtClean="0"/>
              <a:t>的所有儿子的</a:t>
            </a:r>
            <a:r>
              <a:rPr lang="en-US" altLang="zh-CN" sz="2400" dirty="0" smtClean="0"/>
              <a:t>f</a:t>
            </a:r>
            <a:r>
              <a:rPr lang="zh-CN" altLang="en-US" sz="2400" dirty="0" smtClean="0"/>
              <a:t>值的和再加</a:t>
            </a:r>
            <a:r>
              <a:rPr lang="en-US" altLang="zh-CN" sz="2400" dirty="0" smtClean="0"/>
              <a:t>1(</a:t>
            </a:r>
            <a:r>
              <a:rPr lang="en-US" altLang="zh-CN" sz="2400" dirty="0" err="1" smtClean="0"/>
              <a:t>i</a:t>
            </a:r>
            <a:r>
              <a:rPr lang="zh-CN" altLang="en-US" sz="2400" dirty="0" smtClean="0"/>
              <a:t>本身是一个节点</a:t>
            </a:r>
            <a:r>
              <a:rPr lang="en-US" altLang="zh-CN" sz="2400" dirty="0" smtClean="0"/>
              <a:t>)</a:t>
            </a:r>
            <a:endParaRPr lang="en-US" altLang="zh-CN" sz="2400" dirty="0" smtClean="0"/>
          </a:p>
          <a:p>
            <a:r>
              <a:rPr lang="zh-CN" altLang="en-US" sz="2400" dirty="0" smtClean="0"/>
              <a:t>删掉</a:t>
            </a:r>
            <a:r>
              <a:rPr lang="en-US" altLang="zh-CN" sz="2400" dirty="0" err="1" smtClean="0"/>
              <a:t>i</a:t>
            </a:r>
            <a:r>
              <a:rPr lang="zh-CN" altLang="en-US" sz="2400" dirty="0" smtClean="0"/>
              <a:t>之后最大连通块大小为</a:t>
            </a:r>
            <a:r>
              <a:rPr lang="en-US" altLang="zh-CN" sz="2400" dirty="0" smtClean="0"/>
              <a:t>max{n-f[</a:t>
            </a:r>
            <a:r>
              <a:rPr lang="en-US" altLang="zh-CN" sz="2400" dirty="0" err="1" smtClean="0"/>
              <a:t>i</a:t>
            </a:r>
            <a:r>
              <a:rPr lang="en-US" altLang="zh-CN" sz="2400" dirty="0" smtClean="0"/>
              <a:t>],</a:t>
            </a:r>
            <a:r>
              <a:rPr lang="en-US" altLang="zh-CN" sz="2400" dirty="0" err="1" smtClean="0"/>
              <a:t>i</a:t>
            </a:r>
            <a:r>
              <a:rPr lang="zh-CN" altLang="en-US" sz="2400" dirty="0" smtClean="0"/>
              <a:t>的儿子的</a:t>
            </a:r>
            <a:r>
              <a:rPr lang="en-US" altLang="zh-CN" sz="2400" dirty="0" smtClean="0"/>
              <a:t>f</a:t>
            </a:r>
            <a:r>
              <a:rPr lang="zh-CN" altLang="en-US" sz="2400" dirty="0" smtClean="0"/>
              <a:t>值的最大值</a:t>
            </a:r>
            <a:r>
              <a:rPr lang="en-US" altLang="zh-CN" sz="2400" dirty="0" smtClean="0"/>
              <a:t>}</a:t>
            </a:r>
            <a:endParaRPr lang="zh-CN" altLang="en-US" sz="2400" dirty="0" smtClean="0"/>
          </a:p>
          <a:p>
            <a:endParaRPr lang="en-US" altLang="zh-CN"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树的直径</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zh-CN" altLang="en-US" dirty="0" smtClean="0"/>
              <a:t>树的直径是指树中最长的一条简单路径</a:t>
            </a:r>
            <a:endParaRPr lang="en-US" altLang="zh-CN" dirty="0" smtClean="0"/>
          </a:p>
          <a:p>
            <a:r>
              <a:rPr lang="zh-CN" altLang="en-US" dirty="0" smtClean="0"/>
              <a:t>有多种</a:t>
            </a:r>
            <a:r>
              <a:rPr lang="en-US" altLang="zh-CN" dirty="0" smtClean="0"/>
              <a:t>O(n)</a:t>
            </a:r>
            <a:r>
              <a:rPr lang="zh-CN" altLang="en-US" dirty="0" smtClean="0"/>
              <a:t>的做法</a:t>
            </a:r>
            <a:r>
              <a:rPr lang="en-US" altLang="zh-CN" dirty="0" smtClean="0"/>
              <a:t>.</a:t>
            </a:r>
            <a:endParaRPr lang="en-US" altLang="zh-CN" dirty="0" smtClean="0"/>
          </a:p>
          <a:p>
            <a:r>
              <a:rPr lang="zh-CN" altLang="en-US" dirty="0" smtClean="0"/>
              <a:t>算法</a:t>
            </a:r>
            <a:r>
              <a:rPr lang="en-US" altLang="zh-CN" dirty="0" smtClean="0"/>
              <a:t>1:</a:t>
            </a:r>
            <a:r>
              <a:rPr lang="zh-CN" altLang="en-US" dirty="0" smtClean="0"/>
              <a:t>对于树中任意一个点</a:t>
            </a:r>
            <a:r>
              <a:rPr lang="en-US" altLang="zh-CN" dirty="0" smtClean="0"/>
              <a:t>x,</a:t>
            </a:r>
            <a:r>
              <a:rPr lang="zh-CN" altLang="en-US" dirty="0" smtClean="0"/>
              <a:t>它的最远点是某条直径的一个端点</a:t>
            </a:r>
            <a:r>
              <a:rPr lang="en-US" altLang="zh-CN" dirty="0" smtClean="0"/>
              <a:t>.</a:t>
            </a:r>
            <a:r>
              <a:rPr lang="zh-CN" altLang="en-US" dirty="0" smtClean="0"/>
              <a:t>找出了某条直径的一个端点</a:t>
            </a:r>
            <a:r>
              <a:rPr lang="en-US" altLang="zh-CN" dirty="0" smtClean="0"/>
              <a:t>,</a:t>
            </a:r>
            <a:r>
              <a:rPr lang="zh-CN" altLang="en-US" dirty="0" smtClean="0"/>
              <a:t>它在树中的最远点就一定是直径的另一个端点</a:t>
            </a:r>
            <a:r>
              <a:rPr lang="en-US" altLang="zh-CN" dirty="0" smtClean="0"/>
              <a:t>,over.</a:t>
            </a:r>
            <a:endParaRPr lang="en-US" altLang="zh-CN" dirty="0" smtClean="0"/>
          </a:p>
          <a:p>
            <a:r>
              <a:rPr lang="zh-CN" altLang="en-US" dirty="0" smtClean="0"/>
              <a:t>算法</a:t>
            </a:r>
            <a:r>
              <a:rPr lang="en-US" altLang="zh-CN" dirty="0" smtClean="0"/>
              <a:t>2:</a:t>
            </a:r>
            <a:r>
              <a:rPr lang="zh-CN" altLang="en-US" dirty="0" smtClean="0"/>
              <a:t>转有根树</a:t>
            </a:r>
            <a:r>
              <a:rPr lang="en-US" altLang="zh-CN" dirty="0" smtClean="0"/>
              <a:t>,</a:t>
            </a:r>
            <a:r>
              <a:rPr lang="zh-CN" altLang="en-US" dirty="0" smtClean="0"/>
              <a:t>定义</a:t>
            </a:r>
            <a:r>
              <a:rPr lang="en-US" altLang="zh-CN" dirty="0" smtClean="0"/>
              <a:t>f[</a:t>
            </a:r>
            <a:r>
              <a:rPr lang="en-US" altLang="zh-CN" dirty="0" err="1" smtClean="0"/>
              <a:t>i</a:t>
            </a:r>
            <a:r>
              <a:rPr lang="en-US" altLang="zh-CN" dirty="0" smtClean="0"/>
              <a:t>]</a:t>
            </a:r>
            <a:r>
              <a:rPr lang="zh-CN" altLang="en-US" dirty="0" smtClean="0"/>
              <a:t>表示从</a:t>
            </a:r>
            <a:r>
              <a:rPr lang="en-US" altLang="zh-CN" dirty="0" err="1" smtClean="0"/>
              <a:t>i</a:t>
            </a:r>
            <a:r>
              <a:rPr lang="zh-CN" altLang="en-US" dirty="0" smtClean="0"/>
              <a:t>向远离根节点方向走的最长路径的长度</a:t>
            </a:r>
            <a:r>
              <a:rPr lang="en-US" altLang="zh-CN" dirty="0" smtClean="0"/>
              <a:t>,g[</a:t>
            </a:r>
            <a:r>
              <a:rPr lang="en-US" altLang="zh-CN" dirty="0" err="1" smtClean="0"/>
              <a:t>i</a:t>
            </a:r>
            <a:r>
              <a:rPr lang="en-US" altLang="zh-CN" dirty="0" smtClean="0"/>
              <a:t>]</a:t>
            </a:r>
            <a:r>
              <a:rPr lang="zh-CN" altLang="en-US" dirty="0" smtClean="0"/>
              <a:t>表示从</a:t>
            </a:r>
            <a:r>
              <a:rPr lang="en-US" altLang="zh-CN" dirty="0" err="1" smtClean="0"/>
              <a:t>i</a:t>
            </a:r>
            <a:r>
              <a:rPr lang="zh-CN" altLang="en-US" dirty="0" smtClean="0"/>
              <a:t>向远离根节点方向走的次长路径的长度</a:t>
            </a:r>
            <a:r>
              <a:rPr lang="en-US" altLang="zh-CN" dirty="0" smtClean="0"/>
              <a:t>.</a:t>
            </a:r>
            <a:r>
              <a:rPr lang="zh-CN" altLang="en-US" dirty="0" smtClean="0"/>
              <a:t>注意</a:t>
            </a:r>
            <a:r>
              <a:rPr lang="en-US" altLang="zh-CN" dirty="0" smtClean="0"/>
              <a:t>f[</a:t>
            </a:r>
            <a:r>
              <a:rPr lang="en-US" altLang="zh-CN" dirty="0" err="1" smtClean="0"/>
              <a:t>i</a:t>
            </a:r>
            <a:r>
              <a:rPr lang="en-US" altLang="zh-CN" dirty="0" smtClean="0"/>
              <a:t>]</a:t>
            </a:r>
            <a:r>
              <a:rPr lang="zh-CN" altLang="en-US" dirty="0" smtClean="0"/>
              <a:t>和</a:t>
            </a:r>
            <a:r>
              <a:rPr lang="en-US" altLang="zh-CN" dirty="0" smtClean="0"/>
              <a:t>g[</a:t>
            </a:r>
            <a:r>
              <a:rPr lang="en-US" altLang="zh-CN" dirty="0" err="1" smtClean="0"/>
              <a:t>i</a:t>
            </a:r>
            <a:r>
              <a:rPr lang="en-US" altLang="zh-CN" dirty="0" smtClean="0"/>
              <a:t>]</a:t>
            </a:r>
            <a:r>
              <a:rPr lang="zh-CN" altLang="en-US" dirty="0" smtClean="0"/>
              <a:t>不能沿着</a:t>
            </a:r>
            <a:r>
              <a:rPr lang="en-US" altLang="zh-CN" dirty="0" err="1" smtClean="0"/>
              <a:t>i</a:t>
            </a:r>
            <a:r>
              <a:rPr lang="zh-CN" altLang="en-US" dirty="0" smtClean="0"/>
              <a:t>的同一个儿子走</a:t>
            </a:r>
            <a:r>
              <a:rPr lang="en-US" altLang="zh-CN" dirty="0" smtClean="0"/>
              <a:t>.</a:t>
            </a:r>
            <a:r>
              <a:rPr lang="zh-CN" altLang="en-US" dirty="0" smtClean="0"/>
              <a:t>如果</a:t>
            </a:r>
            <a:r>
              <a:rPr lang="en-US" altLang="zh-CN" dirty="0" err="1" smtClean="0"/>
              <a:t>i</a:t>
            </a:r>
            <a:r>
              <a:rPr lang="zh-CN" altLang="en-US" dirty="0" smtClean="0"/>
              <a:t>只有一个儿子</a:t>
            </a:r>
            <a:r>
              <a:rPr lang="en-US" altLang="zh-CN" dirty="0" smtClean="0"/>
              <a:t>,g[</a:t>
            </a:r>
            <a:r>
              <a:rPr lang="en-US" altLang="zh-CN" dirty="0" err="1" smtClean="0"/>
              <a:t>i</a:t>
            </a:r>
            <a:r>
              <a:rPr lang="en-US" altLang="zh-CN" dirty="0" smtClean="0"/>
              <a:t>]=0.</a:t>
            </a:r>
            <a:endParaRPr lang="en-US" altLang="zh-CN" dirty="0" smtClean="0"/>
          </a:p>
          <a:p>
            <a:r>
              <a:rPr lang="zh-CN" altLang="en-US" dirty="0" smtClean="0"/>
              <a:t>答案为</a:t>
            </a:r>
            <a:r>
              <a:rPr lang="en-US" altLang="zh-CN" dirty="0" smtClean="0"/>
              <a:t>max{f[</a:t>
            </a:r>
            <a:r>
              <a:rPr lang="en-US" altLang="zh-CN" dirty="0" err="1" smtClean="0"/>
              <a:t>i</a:t>
            </a:r>
            <a:r>
              <a:rPr lang="en-US" altLang="zh-CN" dirty="0" smtClean="0"/>
              <a:t>]+g[</a:t>
            </a:r>
            <a:r>
              <a:rPr lang="en-US" altLang="zh-CN" dirty="0" err="1" smtClean="0"/>
              <a:t>i</a:t>
            </a: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
          <a:srcRect/>
          <a:stretch>
            <a:fillRect/>
          </a:stretch>
        </p:blipFill>
        <p:spPr bwMode="auto">
          <a:xfrm>
            <a:off x="3500430" y="3786190"/>
            <a:ext cx="4143375" cy="2305050"/>
          </a:xfrm>
          <a:prstGeom prst="rect">
            <a:avLst/>
          </a:prstGeom>
          <a:noFill/>
          <a:ln w="9525">
            <a:noFill/>
            <a:miter lim="800000"/>
            <a:headEnd/>
            <a:tailEnd/>
          </a:ln>
          <a:effectLst/>
        </p:spPr>
      </p:pic>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树的直径</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zh-CN" altLang="en-US" sz="2400" dirty="0" smtClean="0"/>
              <a:t>如何对每个节点求出树中距离这个节点最远的点</a:t>
            </a:r>
            <a:r>
              <a:rPr lang="en-US" altLang="zh-CN" sz="2400" dirty="0" smtClean="0"/>
              <a:t>?</a:t>
            </a:r>
            <a:endParaRPr lang="en-US" altLang="zh-CN" sz="2400" dirty="0" smtClean="0"/>
          </a:p>
          <a:p>
            <a:r>
              <a:rPr lang="zh-CN" altLang="en-US" sz="2400" dirty="0" smtClean="0"/>
              <a:t>随便找出一条直径</a:t>
            </a:r>
            <a:r>
              <a:rPr lang="en-US" altLang="zh-CN" sz="2400" dirty="0" smtClean="0"/>
              <a:t>,</a:t>
            </a:r>
            <a:r>
              <a:rPr lang="zh-CN" altLang="en-US" sz="2400" dirty="0" smtClean="0"/>
              <a:t>最远点必然是两个端点之一</a:t>
            </a:r>
            <a:r>
              <a:rPr lang="en-US" altLang="zh-CN" sz="2400" dirty="0" smtClean="0"/>
              <a:t>.</a:t>
            </a:r>
            <a:endParaRPr lang="en-US" altLang="zh-CN" sz="2400" dirty="0" smtClean="0"/>
          </a:p>
          <a:p>
            <a:r>
              <a:rPr lang="zh-CN" altLang="en-US" sz="2400" dirty="0" smtClean="0"/>
              <a:t>如何证明</a:t>
            </a:r>
            <a:r>
              <a:rPr lang="en-US" altLang="zh-CN" sz="2400" dirty="0" smtClean="0"/>
              <a:t>?</a:t>
            </a:r>
            <a:endParaRPr lang="en-US" altLang="zh-CN" sz="2400" dirty="0" smtClean="0"/>
          </a:p>
          <a:p>
            <a:r>
              <a:rPr lang="zh-CN" altLang="en-US" sz="2400" dirty="0" smtClean="0"/>
              <a:t>分类讨论</a:t>
            </a:r>
            <a:r>
              <a:rPr lang="en-US" altLang="zh-CN" sz="2400" dirty="0" smtClean="0"/>
              <a:t>,</a:t>
            </a:r>
            <a:r>
              <a:rPr lang="zh-CN" altLang="en-US" sz="2400" dirty="0" smtClean="0"/>
              <a:t>反证法即可</a:t>
            </a:r>
            <a:r>
              <a:rPr lang="en-US" altLang="zh-CN" sz="2400" dirty="0" smtClean="0"/>
              <a:t>.</a:t>
            </a:r>
            <a:r>
              <a:rPr lang="zh-CN" altLang="en-US" sz="2400" dirty="0" smtClean="0"/>
              <a:t>假设某个点的最远点不是直径的端点之一</a:t>
            </a:r>
            <a:r>
              <a:rPr lang="en-US" altLang="zh-CN" sz="2400" dirty="0" smtClean="0"/>
              <a:t>,</a:t>
            </a:r>
            <a:r>
              <a:rPr lang="zh-CN" altLang="en-US" sz="2400" dirty="0" smtClean="0"/>
              <a:t>那么必然可以找到一条比直径更长的路径</a:t>
            </a:r>
            <a:endParaRPr lang="en-US" altLang="zh-CN" sz="2400" dirty="0" smtClean="0"/>
          </a:p>
          <a:p>
            <a:r>
              <a:rPr lang="zh-CN" altLang="en-US" sz="2400" dirty="0" smtClean="0"/>
              <a:t>例如这种情况</a:t>
            </a:r>
            <a:r>
              <a:rPr lang="en-US" altLang="zh-CN" sz="2400" dirty="0" smtClean="0"/>
              <a:t>:</a:t>
            </a:r>
            <a:endParaRPr lang="en-US" altLang="zh-CN" sz="2400" dirty="0" smtClean="0"/>
          </a:p>
          <a:p>
            <a:pPr lvl="1"/>
            <a:r>
              <a:rPr lang="zh-CN" altLang="en-US" dirty="0" smtClean="0"/>
              <a:t>假设</a:t>
            </a:r>
            <a:r>
              <a:rPr lang="en-US" altLang="zh-CN" dirty="0" smtClean="0"/>
              <a:t>AB</a:t>
            </a:r>
            <a:r>
              <a:rPr lang="zh-CN" altLang="en-US" dirty="0" smtClean="0"/>
              <a:t>为直径</a:t>
            </a:r>
            <a:endParaRPr lang="en-US" altLang="zh-CN" dirty="0" smtClean="0"/>
          </a:p>
          <a:p>
            <a:pPr lvl="1"/>
            <a:r>
              <a:rPr lang="zh-CN" altLang="en-US" dirty="0" smtClean="0"/>
              <a:t>假设</a:t>
            </a:r>
            <a:r>
              <a:rPr lang="en-US" altLang="zh-CN" dirty="0" smtClean="0"/>
              <a:t>C</a:t>
            </a:r>
            <a:r>
              <a:rPr lang="zh-CN" altLang="en-US" dirty="0" smtClean="0"/>
              <a:t>的最远点为</a:t>
            </a:r>
            <a:r>
              <a:rPr lang="en-US" altLang="zh-CN" dirty="0" smtClean="0"/>
              <a:t>D</a:t>
            </a:r>
            <a:endParaRPr lang="en-US" altLang="zh-CN" dirty="0" smtClean="0"/>
          </a:p>
          <a:p>
            <a:pPr lvl="1"/>
            <a:r>
              <a:rPr lang="zh-CN" altLang="en-US" dirty="0" smtClean="0"/>
              <a:t>可以推出</a:t>
            </a:r>
            <a:r>
              <a:rPr lang="en-US" altLang="zh-CN" dirty="0" smtClean="0"/>
              <a:t>AD</a:t>
            </a:r>
            <a:r>
              <a:rPr lang="zh-CN" altLang="en-US" dirty="0" smtClean="0"/>
              <a:t>比</a:t>
            </a:r>
            <a:r>
              <a:rPr lang="en-US" altLang="zh-CN" dirty="0" smtClean="0"/>
              <a:t>AB</a:t>
            </a:r>
            <a:r>
              <a:rPr lang="zh-CN" altLang="en-US" dirty="0" smtClean="0"/>
              <a:t>长</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28"/>
                                        </p:tgtEl>
                                        <p:attrNameLst>
                                          <p:attrName>style.visibility</p:attrName>
                                        </p:attrNameLst>
                                      </p:cBhvr>
                                      <p:to>
                                        <p:strVal val="visible"/>
                                      </p:to>
                                    </p:set>
                                    <p:anim calcmode="lin" valueType="num">
                                      <p:cBhvr additive="base">
                                        <p:cTn id="49" dur="500" fill="hold"/>
                                        <p:tgtEl>
                                          <p:spTgt spid="1028"/>
                                        </p:tgtEl>
                                        <p:attrNameLst>
                                          <p:attrName>ppt_x</p:attrName>
                                        </p:attrNameLst>
                                      </p:cBhvr>
                                      <p:tavLst>
                                        <p:tav tm="0">
                                          <p:val>
                                            <p:strVal val="#ppt_x"/>
                                          </p:val>
                                        </p:tav>
                                        <p:tav tm="100000">
                                          <p:val>
                                            <p:strVal val="#ppt_x"/>
                                          </p:val>
                                        </p:tav>
                                      </p:tavLst>
                                    </p:anim>
                                    <p:anim calcmode="lin" valueType="num">
                                      <p:cBhvr additive="base">
                                        <p:cTn id="50"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nodeType="clickEffect">
                                  <p:stCondLst>
                                    <p:cond delay="0"/>
                                  </p:stCondLst>
                                  <p:childTnLst>
                                    <p:animScale>
                                      <p:cBhvr>
                                        <p:cTn id="54" dur="2000" fill="hold"/>
                                        <p:tgtEl>
                                          <p:spTgt spid="102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最大独立集</a:t>
            </a:r>
            <a:r>
              <a:rPr lang="en-US" altLang="zh-CN" dirty="0" smtClean="0"/>
              <a:t>)</a:t>
            </a:r>
            <a:endParaRPr lang="zh-CN" altLang="en-US" dirty="0"/>
          </a:p>
        </p:txBody>
      </p:sp>
      <p:sp>
        <p:nvSpPr>
          <p:cNvPr id="3" name="内容占位符 2"/>
          <p:cNvSpPr>
            <a:spLocks noGrp="1"/>
          </p:cNvSpPr>
          <p:nvPr>
            <p:ph sz="quarter" idx="1"/>
          </p:nvPr>
        </p:nvSpPr>
        <p:spPr/>
        <p:txBody>
          <a:bodyPr>
            <a:normAutofit fontScale="92500" lnSpcReduction="20000"/>
          </a:bodyPr>
          <a:lstStyle/>
          <a:p>
            <a:r>
              <a:rPr lang="zh-CN" altLang="en-US" dirty="0" smtClean="0"/>
              <a:t>选出尽量多的点</a:t>
            </a:r>
            <a:r>
              <a:rPr lang="en-US" altLang="zh-CN" dirty="0" smtClean="0"/>
              <a:t>,</a:t>
            </a:r>
            <a:r>
              <a:rPr lang="zh-CN" altLang="en-US" dirty="0" smtClean="0"/>
              <a:t>使得两两没有边直接相连</a:t>
            </a:r>
            <a:endParaRPr lang="en-US" altLang="zh-CN" dirty="0" smtClean="0"/>
          </a:p>
          <a:p>
            <a:r>
              <a:rPr lang="zh-CN" altLang="en-US" strike="sngStrike" dirty="0" smtClean="0"/>
              <a:t>树是二分图直接使用二分图匹配算法求解</a:t>
            </a:r>
            <a:endParaRPr lang="en-US" altLang="zh-CN" strike="sngStrike" dirty="0" smtClean="0"/>
          </a:p>
          <a:p>
            <a:r>
              <a:rPr lang="en-US" altLang="zh-CN" dirty="0" smtClean="0"/>
              <a:t>f[</a:t>
            </a:r>
            <a:r>
              <a:rPr lang="en-US" altLang="zh-CN" dirty="0" err="1" smtClean="0"/>
              <a:t>i</a:t>
            </a:r>
            <a:r>
              <a:rPr lang="en-US" altLang="zh-CN" dirty="0" smtClean="0"/>
              <a:t>]</a:t>
            </a:r>
            <a:r>
              <a:rPr lang="zh-CN" altLang="en-US" dirty="0" smtClean="0"/>
              <a:t>表示子树</a:t>
            </a:r>
            <a:r>
              <a:rPr lang="en-US" altLang="zh-CN" dirty="0" err="1" smtClean="0"/>
              <a:t>i</a:t>
            </a:r>
            <a:r>
              <a:rPr lang="zh-CN" altLang="en-US" dirty="0" smtClean="0"/>
              <a:t>的最大独立集大小</a:t>
            </a:r>
            <a:r>
              <a:rPr lang="en-US" altLang="zh-CN" dirty="0" smtClean="0"/>
              <a:t>?</a:t>
            </a:r>
            <a:endParaRPr lang="en-US" altLang="zh-CN" strike="sngStrike" dirty="0" smtClean="0"/>
          </a:p>
          <a:p>
            <a:r>
              <a:rPr lang="zh-CN" altLang="en-US" strike="sngStrike" dirty="0" smtClean="0"/>
              <a:t>聪明的你一定已经发现</a:t>
            </a:r>
            <a:r>
              <a:rPr lang="en-US" altLang="zh-CN" strike="sngStrike" dirty="0" smtClean="0"/>
              <a:t>,</a:t>
            </a:r>
            <a:r>
              <a:rPr lang="zh-CN" altLang="en-US" strike="sngStrike" dirty="0" smtClean="0"/>
              <a:t>这样是不好转移的</a:t>
            </a:r>
            <a:endParaRPr lang="en-US" altLang="zh-CN" strike="sngStrike" dirty="0" smtClean="0"/>
          </a:p>
          <a:p>
            <a:r>
              <a:rPr lang="zh-CN" altLang="en-US" dirty="0" smtClean="0"/>
              <a:t>实际上这样也可以转移</a:t>
            </a:r>
            <a:r>
              <a:rPr lang="en-US" altLang="zh-CN" dirty="0" smtClean="0"/>
              <a:t>.</a:t>
            </a:r>
            <a:r>
              <a:rPr lang="zh-CN" altLang="en-US" dirty="0" smtClean="0"/>
              <a:t>如果不选</a:t>
            </a:r>
            <a:r>
              <a:rPr lang="en-US" altLang="zh-CN" dirty="0" err="1" smtClean="0"/>
              <a:t>i</a:t>
            </a:r>
            <a:r>
              <a:rPr lang="en-US" altLang="zh-CN" dirty="0" smtClean="0"/>
              <a:t>,</a:t>
            </a:r>
            <a:r>
              <a:rPr lang="zh-CN" altLang="en-US" dirty="0" smtClean="0"/>
              <a:t>对</a:t>
            </a:r>
            <a:r>
              <a:rPr lang="en-US" altLang="zh-CN" dirty="0" err="1" smtClean="0"/>
              <a:t>i</a:t>
            </a:r>
            <a:r>
              <a:rPr lang="zh-CN" altLang="en-US" dirty="0" smtClean="0"/>
              <a:t>的儿子的</a:t>
            </a:r>
            <a:r>
              <a:rPr lang="en-US" altLang="zh-CN" dirty="0" smtClean="0"/>
              <a:t>f[]</a:t>
            </a:r>
            <a:r>
              <a:rPr lang="zh-CN" altLang="en-US" dirty="0" smtClean="0"/>
              <a:t>进行求和</a:t>
            </a:r>
            <a:r>
              <a:rPr lang="en-US" altLang="zh-CN" dirty="0" smtClean="0"/>
              <a:t>.</a:t>
            </a:r>
            <a:r>
              <a:rPr lang="zh-CN" altLang="en-US" dirty="0" smtClean="0"/>
              <a:t>如果选</a:t>
            </a:r>
            <a:r>
              <a:rPr lang="en-US" altLang="zh-CN" dirty="0" err="1" smtClean="0"/>
              <a:t>i,i</a:t>
            </a:r>
            <a:r>
              <a:rPr lang="zh-CN" altLang="en-US" dirty="0" smtClean="0"/>
              <a:t>的儿子都不能选</a:t>
            </a:r>
            <a:r>
              <a:rPr lang="en-US" altLang="zh-CN" dirty="0" smtClean="0"/>
              <a:t>,</a:t>
            </a:r>
            <a:r>
              <a:rPr lang="zh-CN" altLang="en-US" dirty="0" smtClean="0"/>
              <a:t>对</a:t>
            </a:r>
            <a:r>
              <a:rPr lang="en-US" altLang="zh-CN" dirty="0" err="1" smtClean="0"/>
              <a:t>i</a:t>
            </a:r>
            <a:r>
              <a:rPr lang="zh-CN" altLang="en-US" dirty="0" smtClean="0"/>
              <a:t>的儿子的儿子的</a:t>
            </a:r>
            <a:r>
              <a:rPr lang="en-US" altLang="zh-CN" dirty="0" smtClean="0"/>
              <a:t>f[]</a:t>
            </a:r>
            <a:r>
              <a:rPr lang="zh-CN" altLang="en-US" dirty="0" smtClean="0"/>
              <a:t>进行求和再加</a:t>
            </a:r>
            <a:r>
              <a:rPr lang="en-US" altLang="zh-CN" dirty="0" smtClean="0"/>
              <a:t>1(</a:t>
            </a:r>
            <a:r>
              <a:rPr lang="en-US" altLang="zh-CN" dirty="0" err="1" smtClean="0"/>
              <a:t>i</a:t>
            </a:r>
            <a:r>
              <a:rPr lang="zh-CN" altLang="en-US" dirty="0" smtClean="0"/>
              <a:t>本身选了</a:t>
            </a:r>
            <a:r>
              <a:rPr lang="en-US" altLang="zh-CN" dirty="0" smtClean="0"/>
              <a:t>),</a:t>
            </a:r>
            <a:r>
              <a:rPr lang="zh-CN" altLang="en-US" dirty="0" smtClean="0"/>
              <a:t>但转移时需要用到儿子节点和孙子节点</a:t>
            </a:r>
            <a:r>
              <a:rPr lang="en-US" altLang="zh-CN" dirty="0" smtClean="0"/>
              <a:t>,</a:t>
            </a:r>
            <a:r>
              <a:rPr lang="zh-CN" altLang="en-US" dirty="0" smtClean="0"/>
              <a:t>颇为不便</a:t>
            </a:r>
            <a:r>
              <a:rPr lang="en-US" altLang="zh-CN" dirty="0" smtClean="0"/>
              <a:t>.</a:t>
            </a:r>
            <a:endParaRPr lang="en-US" altLang="zh-CN" dirty="0" smtClean="0"/>
          </a:p>
          <a:p>
            <a:r>
              <a:rPr lang="zh-CN" altLang="en-US" dirty="0" smtClean="0"/>
              <a:t>常用这样的定义方式</a:t>
            </a:r>
            <a:r>
              <a:rPr lang="en-US" altLang="zh-CN" dirty="0" smtClean="0"/>
              <a:t>:f[</a:t>
            </a:r>
            <a:r>
              <a:rPr lang="en-US" altLang="zh-CN" dirty="0" err="1" smtClean="0"/>
              <a:t>i</a:t>
            </a:r>
            <a:r>
              <a:rPr lang="en-US" altLang="zh-CN" dirty="0" smtClean="0"/>
              <a:t>][0]</a:t>
            </a:r>
            <a:r>
              <a:rPr lang="zh-CN" altLang="en-US" dirty="0" smtClean="0"/>
              <a:t>表示不选</a:t>
            </a:r>
            <a:r>
              <a:rPr lang="en-US" altLang="zh-CN" dirty="0" err="1" smtClean="0"/>
              <a:t>i</a:t>
            </a:r>
            <a:r>
              <a:rPr lang="zh-CN" altLang="en-US" dirty="0" smtClean="0"/>
              <a:t>号节点时子树</a:t>
            </a:r>
            <a:r>
              <a:rPr lang="en-US" altLang="zh-CN" dirty="0" err="1" smtClean="0"/>
              <a:t>i</a:t>
            </a:r>
            <a:r>
              <a:rPr lang="zh-CN" altLang="en-US" dirty="0" smtClean="0"/>
              <a:t>的最大独立集</a:t>
            </a:r>
            <a:r>
              <a:rPr lang="en-US" altLang="zh-CN" dirty="0" smtClean="0"/>
              <a:t>,f[</a:t>
            </a:r>
            <a:r>
              <a:rPr lang="en-US" altLang="zh-CN" dirty="0" err="1" smtClean="0"/>
              <a:t>i</a:t>
            </a:r>
            <a:r>
              <a:rPr lang="en-US" altLang="zh-CN" dirty="0" smtClean="0"/>
              <a:t>][1]</a:t>
            </a:r>
            <a:r>
              <a:rPr lang="zh-CN" altLang="en-US" dirty="0" smtClean="0"/>
              <a:t>表示选</a:t>
            </a:r>
            <a:r>
              <a:rPr lang="en-US" altLang="zh-CN" dirty="0" err="1" smtClean="0"/>
              <a:t>i</a:t>
            </a:r>
            <a:r>
              <a:rPr lang="zh-CN" altLang="en-US" dirty="0" smtClean="0"/>
              <a:t>号节点时的最大独立集</a:t>
            </a:r>
            <a:r>
              <a:rPr lang="en-US" altLang="zh-CN" dirty="0" smtClean="0"/>
              <a:t>.</a:t>
            </a:r>
            <a:endParaRPr lang="en-US" altLang="zh-CN" dirty="0" smtClean="0"/>
          </a:p>
          <a:p>
            <a:r>
              <a:rPr lang="en-US" altLang="zh-CN" dirty="0" smtClean="0"/>
              <a:t>f[</a:t>
            </a:r>
            <a:r>
              <a:rPr lang="en-US" altLang="zh-CN" dirty="0" err="1" smtClean="0"/>
              <a:t>i</a:t>
            </a:r>
            <a:r>
              <a:rPr lang="en-US" altLang="zh-CN" dirty="0" smtClean="0"/>
              <a:t>][0]=sigma(max(f[j][0],f[j][1]))</a:t>
            </a:r>
            <a:endParaRPr lang="en-US" altLang="zh-CN" dirty="0" smtClean="0"/>
          </a:p>
          <a:p>
            <a:r>
              <a:rPr lang="en-US" altLang="zh-CN" dirty="0" smtClean="0"/>
              <a:t>f[</a:t>
            </a:r>
            <a:r>
              <a:rPr lang="en-US" altLang="zh-CN" dirty="0" err="1" smtClean="0"/>
              <a:t>i</a:t>
            </a:r>
            <a:r>
              <a:rPr lang="en-US" altLang="zh-CN" dirty="0" smtClean="0"/>
              <a:t>][1]=1+sigma(f[j][0])</a:t>
            </a:r>
            <a:endParaRPr lang="en-US" altLang="zh-CN" dirty="0" smtClean="0"/>
          </a:p>
          <a:p>
            <a:r>
              <a:rPr lang="en-US" altLang="zh-CN" dirty="0" smtClean="0"/>
              <a:t>j</a:t>
            </a:r>
            <a:r>
              <a:rPr lang="zh-CN" altLang="en-US" dirty="0" smtClean="0"/>
              <a:t>是</a:t>
            </a:r>
            <a:r>
              <a:rPr lang="en-US" altLang="zh-CN" dirty="0" err="1" smtClean="0"/>
              <a:t>i</a:t>
            </a:r>
            <a:r>
              <a:rPr lang="zh-CN" altLang="en-US" dirty="0" smtClean="0"/>
              <a:t>的子节点</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最大独立集</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如果在求出最大独立集的基础上</a:t>
            </a:r>
            <a:r>
              <a:rPr lang="en-US" altLang="zh-CN" sz="2400" dirty="0" smtClean="0"/>
              <a:t>,</a:t>
            </a:r>
            <a:r>
              <a:rPr lang="zh-CN" altLang="en-US" sz="2400" dirty="0" smtClean="0"/>
              <a:t>还要求判断方案是否唯一</a:t>
            </a:r>
            <a:r>
              <a:rPr lang="en-US" altLang="zh-CN" sz="2400" dirty="0" smtClean="0"/>
              <a:t>?(</a:t>
            </a:r>
            <a:r>
              <a:rPr lang="en-US" altLang="zh-CN" sz="2400" dirty="0" err="1" smtClean="0"/>
              <a:t>Uva</a:t>
            </a:r>
            <a:r>
              <a:rPr lang="en-US" altLang="zh-CN" sz="2400" dirty="0" smtClean="0"/>
              <a:t> 1220)</a:t>
            </a:r>
            <a:endParaRPr lang="en-US" altLang="zh-CN" sz="2400" dirty="0" smtClean="0"/>
          </a:p>
          <a:p>
            <a:r>
              <a:rPr lang="zh-CN" altLang="en-US" sz="2400" dirty="0" smtClean="0"/>
              <a:t>沿用第二种状态定义方式</a:t>
            </a:r>
            <a:r>
              <a:rPr lang="en-US" altLang="zh-CN" sz="2400" dirty="0" smtClean="0"/>
              <a:t>,</a:t>
            </a:r>
            <a:r>
              <a:rPr lang="zh-CN" altLang="en-US" sz="2400" dirty="0" smtClean="0"/>
              <a:t>再加上两个</a:t>
            </a:r>
            <a:r>
              <a:rPr lang="en-US" altLang="zh-CN" sz="2400" dirty="0" smtClean="0"/>
              <a:t>DP</a:t>
            </a:r>
            <a:r>
              <a:rPr lang="zh-CN" altLang="en-US" sz="2400" dirty="0" smtClean="0"/>
              <a:t>数组</a:t>
            </a:r>
            <a:r>
              <a:rPr lang="en-US" altLang="zh-CN" sz="2400" dirty="0" smtClean="0"/>
              <a:t>g[</a:t>
            </a:r>
            <a:r>
              <a:rPr lang="en-US" altLang="zh-CN" sz="2400" dirty="0" err="1" smtClean="0"/>
              <a:t>i</a:t>
            </a:r>
            <a:r>
              <a:rPr lang="en-US" altLang="zh-CN" sz="2400" dirty="0" smtClean="0"/>
              <a:t>][0]</a:t>
            </a:r>
            <a:r>
              <a:rPr lang="zh-CN" altLang="en-US" sz="2400" dirty="0" smtClean="0"/>
              <a:t>和</a:t>
            </a:r>
            <a:r>
              <a:rPr lang="en-US" altLang="zh-CN" sz="2400" dirty="0" smtClean="0"/>
              <a:t>g[</a:t>
            </a:r>
            <a:r>
              <a:rPr lang="en-US" altLang="zh-CN" sz="2400" dirty="0" err="1" smtClean="0"/>
              <a:t>i</a:t>
            </a:r>
            <a:r>
              <a:rPr lang="en-US" altLang="zh-CN" sz="2400" dirty="0" smtClean="0"/>
              <a:t>][1],</a:t>
            </a:r>
            <a:r>
              <a:rPr lang="zh-CN" altLang="en-US" sz="2400" dirty="0" smtClean="0"/>
              <a:t>分别表示</a:t>
            </a:r>
            <a:r>
              <a:rPr lang="en-US" altLang="zh-CN" sz="2400" dirty="0" smtClean="0"/>
              <a:t>f[</a:t>
            </a:r>
            <a:r>
              <a:rPr lang="en-US" altLang="zh-CN" sz="2400" dirty="0" err="1" smtClean="0"/>
              <a:t>i</a:t>
            </a:r>
            <a:r>
              <a:rPr lang="en-US" altLang="zh-CN" sz="2400" dirty="0" smtClean="0"/>
              <a:t>][0]</a:t>
            </a:r>
            <a:r>
              <a:rPr lang="zh-CN" altLang="en-US" sz="2400" dirty="0" smtClean="0"/>
              <a:t>和</a:t>
            </a:r>
            <a:r>
              <a:rPr lang="en-US" altLang="zh-CN" sz="2400" dirty="0" smtClean="0"/>
              <a:t>f[</a:t>
            </a:r>
            <a:r>
              <a:rPr lang="en-US" altLang="zh-CN" sz="2400" dirty="0" err="1" smtClean="0"/>
              <a:t>i</a:t>
            </a:r>
            <a:r>
              <a:rPr lang="en-US" altLang="zh-CN" sz="2400" dirty="0" smtClean="0"/>
              <a:t>][1]</a:t>
            </a:r>
            <a:r>
              <a:rPr lang="zh-CN" altLang="en-US" sz="2400" dirty="0" smtClean="0"/>
              <a:t>的方案是否唯一</a:t>
            </a:r>
            <a:r>
              <a:rPr lang="en-US" altLang="zh-CN" sz="2400" dirty="0" smtClean="0"/>
              <a:t>.</a:t>
            </a:r>
            <a:endParaRPr lang="en-US" altLang="zh-CN" sz="2400" dirty="0" smtClean="0"/>
          </a:p>
          <a:p>
            <a:r>
              <a:rPr lang="en-US" altLang="zh-CN" sz="2400" dirty="0" smtClean="0"/>
              <a:t>g[][]</a:t>
            </a:r>
            <a:r>
              <a:rPr lang="zh-CN" altLang="en-US" sz="2400" dirty="0" smtClean="0"/>
              <a:t>的具体更新方式</a:t>
            </a:r>
            <a:r>
              <a:rPr lang="en-US" altLang="zh-CN" sz="2400" dirty="0" smtClean="0"/>
              <a:t>:</a:t>
            </a:r>
            <a:endParaRPr lang="en-US" altLang="zh-CN" sz="2400" dirty="0" smtClean="0"/>
          </a:p>
          <a:p>
            <a:pPr lvl="1"/>
            <a:r>
              <a:rPr lang="en-US" altLang="zh-CN" dirty="0" smtClean="0"/>
              <a:t>g[</a:t>
            </a:r>
            <a:r>
              <a:rPr lang="en-US" altLang="zh-CN" dirty="0" err="1" smtClean="0"/>
              <a:t>i</a:t>
            </a:r>
            <a:r>
              <a:rPr lang="en-US" altLang="zh-CN" dirty="0" smtClean="0"/>
              <a:t>][1]:</a:t>
            </a:r>
            <a:endParaRPr lang="en-US" altLang="zh-CN" dirty="0" smtClean="0"/>
          </a:p>
          <a:p>
            <a:pPr lvl="2"/>
            <a:r>
              <a:rPr lang="zh-CN" altLang="en-US" dirty="0" smtClean="0"/>
              <a:t>如果所有儿子</a:t>
            </a:r>
            <a:r>
              <a:rPr lang="en-US" altLang="zh-CN" dirty="0" smtClean="0"/>
              <a:t>j</a:t>
            </a:r>
            <a:r>
              <a:rPr lang="zh-CN" altLang="en-US" dirty="0" smtClean="0"/>
              <a:t>的</a:t>
            </a:r>
            <a:r>
              <a:rPr lang="en-US" altLang="zh-CN" dirty="0" smtClean="0"/>
              <a:t>g[j][1]</a:t>
            </a:r>
            <a:r>
              <a:rPr lang="zh-CN" altLang="en-US" dirty="0" smtClean="0"/>
              <a:t>均唯一则</a:t>
            </a:r>
            <a:r>
              <a:rPr lang="en-US" altLang="zh-CN" dirty="0" smtClean="0"/>
              <a:t>g[</a:t>
            </a:r>
            <a:r>
              <a:rPr lang="en-US" altLang="zh-CN" dirty="0" err="1" smtClean="0"/>
              <a:t>i</a:t>
            </a:r>
            <a:r>
              <a:rPr lang="en-US" altLang="zh-CN" dirty="0" smtClean="0"/>
              <a:t>][1]</a:t>
            </a:r>
            <a:r>
              <a:rPr lang="zh-CN" altLang="en-US" dirty="0" smtClean="0"/>
              <a:t>唯一</a:t>
            </a:r>
            <a:endParaRPr lang="en-US" altLang="zh-CN" dirty="0" smtClean="0"/>
          </a:p>
          <a:p>
            <a:pPr lvl="1"/>
            <a:r>
              <a:rPr lang="en-US" altLang="zh-CN" dirty="0" smtClean="0"/>
              <a:t>g[</a:t>
            </a:r>
            <a:r>
              <a:rPr lang="en-US" altLang="zh-CN" dirty="0" err="1" smtClean="0"/>
              <a:t>i</a:t>
            </a:r>
            <a:r>
              <a:rPr lang="en-US" altLang="zh-CN" dirty="0" smtClean="0"/>
              <a:t>][0]:</a:t>
            </a:r>
            <a:endParaRPr lang="en-US" altLang="zh-CN" dirty="0" smtClean="0"/>
          </a:p>
          <a:p>
            <a:pPr lvl="2"/>
            <a:r>
              <a:rPr lang="zh-CN" altLang="en-US" dirty="0" smtClean="0"/>
              <a:t>如果某个儿子</a:t>
            </a:r>
            <a:r>
              <a:rPr lang="en-US" altLang="zh-CN" dirty="0" smtClean="0"/>
              <a:t>f[j][0]=f[j][1]</a:t>
            </a:r>
            <a:r>
              <a:rPr lang="zh-CN" altLang="en-US" dirty="0" smtClean="0"/>
              <a:t>则不唯一</a:t>
            </a:r>
            <a:r>
              <a:rPr lang="en-US" altLang="zh-CN" dirty="0" smtClean="0"/>
              <a:t>  </a:t>
            </a:r>
            <a:endParaRPr lang="en-US" altLang="zh-CN" dirty="0" smtClean="0"/>
          </a:p>
          <a:p>
            <a:pPr lvl="2"/>
            <a:r>
              <a:rPr lang="zh-CN" altLang="en-US" dirty="0" smtClean="0"/>
              <a:t>如果某个儿子较大的</a:t>
            </a:r>
            <a:r>
              <a:rPr lang="en-US" altLang="zh-CN" dirty="0" smtClean="0"/>
              <a:t>f</a:t>
            </a:r>
            <a:r>
              <a:rPr lang="zh-CN" altLang="en-US" dirty="0" smtClean="0"/>
              <a:t>值对应的</a:t>
            </a:r>
            <a:r>
              <a:rPr lang="en-US" altLang="zh-CN" dirty="0" smtClean="0"/>
              <a:t>g</a:t>
            </a:r>
            <a:r>
              <a:rPr lang="zh-CN" altLang="en-US" dirty="0" smtClean="0"/>
              <a:t>不唯一则不唯一</a:t>
            </a:r>
            <a:endParaRPr lang="en-US" altLang="zh-CN" dirty="0" smtClean="0"/>
          </a:p>
          <a:p>
            <a:r>
              <a:rPr lang="zh-CN" altLang="en-US" sz="2400" dirty="0" smtClean="0"/>
              <a:t>注意最后如果树根的</a:t>
            </a:r>
            <a:r>
              <a:rPr lang="en-US" altLang="zh-CN" sz="2400" dirty="0" smtClean="0"/>
              <a:t>f[</a:t>
            </a:r>
            <a:r>
              <a:rPr lang="en-US" altLang="zh-CN" sz="2400" dirty="0" err="1" smtClean="0"/>
              <a:t>i</a:t>
            </a:r>
            <a:r>
              <a:rPr lang="en-US" altLang="zh-CN" sz="2400" dirty="0" smtClean="0"/>
              <a:t>][0]=f[</a:t>
            </a:r>
            <a:r>
              <a:rPr lang="en-US" altLang="zh-CN" sz="2400" dirty="0" err="1" smtClean="0"/>
              <a:t>i</a:t>
            </a:r>
            <a:r>
              <a:rPr lang="en-US" altLang="zh-CN" sz="2400" dirty="0" smtClean="0"/>
              <a:t>][1],</a:t>
            </a:r>
            <a:r>
              <a:rPr lang="zh-CN" altLang="en-US" sz="2400" dirty="0" smtClean="0"/>
              <a:t>整棵树的独立集也不唯一</a:t>
            </a:r>
            <a:endParaRPr lang="en-US" altLang="zh-CN" sz="2400" dirty="0" smtClean="0"/>
          </a:p>
          <a:p>
            <a:pPr lvl="1"/>
            <a:endParaRPr lang="en-US" altLang="zh-CN" dirty="0" smtClean="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1864: [Zjoi2006]</a:t>
            </a:r>
            <a:r>
              <a:rPr lang="zh-CN" altLang="en-US" dirty="0" smtClean="0"/>
              <a:t>三色二叉树</a:t>
            </a:r>
            <a:endParaRPr lang="zh-CN" altLang="en-US" dirty="0"/>
          </a:p>
        </p:txBody>
      </p:sp>
      <p:pic>
        <p:nvPicPr>
          <p:cNvPr id="4" name="内容占位符 3" descr="1864.jpg"/>
          <p:cNvPicPr>
            <a:picLocks noGrp="1" noChangeAspect="1"/>
          </p:cNvPicPr>
          <p:nvPr>
            <p:ph sz="quarter" idx="1"/>
          </p:nvPr>
        </p:nvPicPr>
        <p:blipFill>
          <a:blip r:embed="rId1">
            <a:duotone>
              <a:prstClr val="black"/>
              <a:schemeClr val="accent2">
                <a:lumMod val="60000"/>
                <a:lumOff val="40000"/>
                <a:tint val="45000"/>
                <a:satMod val="400000"/>
              </a:schemeClr>
            </a:duotone>
          </a:blip>
          <a:stretch>
            <a:fillRect/>
          </a:stretch>
        </p:blipFill>
        <p:spPr>
          <a:xfrm>
            <a:off x="571472" y="1428736"/>
            <a:ext cx="7500990" cy="4392260"/>
          </a:xfrm>
        </p:spPr>
      </p:pic>
      <p:sp>
        <p:nvSpPr>
          <p:cNvPr id="5" name="TextBox 4"/>
          <p:cNvSpPr txBox="1"/>
          <p:nvPr/>
        </p:nvSpPr>
        <p:spPr>
          <a:xfrm>
            <a:off x="571472" y="5929330"/>
            <a:ext cx="5643602" cy="369332"/>
          </a:xfrm>
          <a:prstGeom prst="rect">
            <a:avLst/>
          </a:prstGeom>
          <a:noFill/>
        </p:spPr>
        <p:txBody>
          <a:bodyPr wrap="square" rtlCol="0">
            <a:spAutoFit/>
          </a:bodyPr>
          <a:lstStyle/>
          <a:p>
            <a:r>
              <a:rPr lang="en-US" altLang="zh-CN" dirty="0" smtClean="0"/>
              <a:t>HINT:</a:t>
            </a:r>
            <a:r>
              <a:rPr lang="zh-CN" altLang="en-US" dirty="0" smtClean="0"/>
              <a:t>二叉树序列长度不超过</a:t>
            </a:r>
            <a:r>
              <a:rPr lang="en-US" altLang="zh-CN" dirty="0" smtClean="0"/>
              <a:t>500000</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1864: [Zjoi2006]</a:t>
            </a:r>
            <a:r>
              <a:rPr lang="zh-CN" altLang="en-US" dirty="0" smtClean="0"/>
              <a:t>三色二叉树</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给出的二叉树序列只需要递归处理就能建出一棵二叉树</a:t>
            </a:r>
            <a:r>
              <a:rPr lang="en-US" altLang="zh-CN" sz="2400" dirty="0" smtClean="0"/>
              <a:t>,</a:t>
            </a:r>
            <a:r>
              <a:rPr lang="zh-CN" altLang="en-US" sz="2400" dirty="0" smtClean="0"/>
              <a:t>这一步不是我们的重点</a:t>
            </a:r>
            <a:r>
              <a:rPr lang="en-US" altLang="zh-CN" sz="2400" dirty="0" smtClean="0"/>
              <a:t>,</a:t>
            </a:r>
            <a:r>
              <a:rPr lang="zh-CN" altLang="en-US" sz="2400" dirty="0" smtClean="0"/>
              <a:t>在此略过</a:t>
            </a:r>
            <a:r>
              <a:rPr lang="en-US" altLang="zh-CN" sz="2400" dirty="0" smtClean="0"/>
              <a:t>,</a:t>
            </a:r>
            <a:r>
              <a:rPr lang="zh-CN" altLang="en-US" sz="2400" dirty="0" smtClean="0"/>
              <a:t>假设我们建好树了</a:t>
            </a:r>
            <a:r>
              <a:rPr lang="en-US" altLang="zh-CN" sz="2400" dirty="0" smtClean="0"/>
              <a:t>.</a:t>
            </a:r>
            <a:endParaRPr lang="en-US" altLang="zh-CN" sz="2400" dirty="0" smtClean="0"/>
          </a:p>
          <a:p>
            <a:r>
              <a:rPr lang="zh-CN" altLang="en-US" sz="2400" dirty="0" smtClean="0"/>
              <a:t>状态定义应该都能想到吧</a:t>
            </a:r>
            <a:endParaRPr lang="en-US" altLang="zh-CN" sz="2400" dirty="0" smtClean="0"/>
          </a:p>
          <a:p>
            <a:r>
              <a:rPr lang="en-US" altLang="zh-CN" sz="2400" dirty="0" smtClean="0"/>
              <a:t>f[</a:t>
            </a:r>
            <a:r>
              <a:rPr lang="en-US" altLang="zh-CN" sz="2400" dirty="0" err="1" smtClean="0"/>
              <a:t>i</a:t>
            </a:r>
            <a:r>
              <a:rPr lang="en-US" altLang="zh-CN" sz="2400" dirty="0" smtClean="0"/>
              <a:t>][0/1/2]</a:t>
            </a:r>
            <a:r>
              <a:rPr lang="zh-CN" altLang="en-US" sz="2400" dirty="0" smtClean="0"/>
              <a:t>表示</a:t>
            </a:r>
            <a:r>
              <a:rPr lang="en-US" altLang="zh-CN" sz="2400" dirty="0" err="1" smtClean="0"/>
              <a:t>i</a:t>
            </a:r>
            <a:r>
              <a:rPr lang="zh-CN" altLang="en-US" sz="2400" dirty="0" smtClean="0"/>
              <a:t>涂成红</a:t>
            </a:r>
            <a:r>
              <a:rPr lang="en-US" altLang="zh-CN" sz="2400" dirty="0" smtClean="0"/>
              <a:t>/</a:t>
            </a:r>
            <a:r>
              <a:rPr lang="zh-CN" altLang="en-US" sz="2400" dirty="0" smtClean="0"/>
              <a:t>蓝</a:t>
            </a:r>
            <a:r>
              <a:rPr lang="en-US" altLang="zh-CN" sz="2400" dirty="0" smtClean="0"/>
              <a:t>/</a:t>
            </a:r>
            <a:r>
              <a:rPr lang="zh-CN" altLang="en-US" sz="2400" dirty="0" smtClean="0"/>
              <a:t>绿时子树</a:t>
            </a:r>
            <a:r>
              <a:rPr lang="en-US" altLang="zh-CN" sz="2400" dirty="0" err="1" smtClean="0"/>
              <a:t>i</a:t>
            </a:r>
            <a:r>
              <a:rPr lang="zh-CN" altLang="en-US" sz="2400" dirty="0" smtClean="0"/>
              <a:t>最多有多少个绿点</a:t>
            </a:r>
            <a:r>
              <a:rPr lang="en-US" altLang="zh-CN" sz="2400" dirty="0" smtClean="0"/>
              <a:t>.</a:t>
            </a:r>
            <a:endParaRPr lang="en-US" altLang="zh-CN" sz="2400" dirty="0" smtClean="0"/>
          </a:p>
          <a:p>
            <a:r>
              <a:rPr lang="zh-CN" altLang="en-US" sz="2400" dirty="0" smtClean="0"/>
              <a:t>实际上只需要</a:t>
            </a:r>
            <a:r>
              <a:rPr lang="en-US" altLang="zh-CN" sz="2400" dirty="0" smtClean="0"/>
              <a:t>f[</a:t>
            </a:r>
            <a:r>
              <a:rPr lang="en-US" altLang="zh-CN" sz="2400" dirty="0" err="1" smtClean="0"/>
              <a:t>i</a:t>
            </a:r>
            <a:r>
              <a:rPr lang="en-US" altLang="zh-CN" sz="2400" dirty="0" smtClean="0"/>
              <a:t>][0/1],</a:t>
            </a:r>
            <a:r>
              <a:rPr lang="zh-CN" altLang="en-US" sz="2400" dirty="0" smtClean="0"/>
              <a:t>因为</a:t>
            </a:r>
            <a:r>
              <a:rPr lang="en-US" altLang="zh-CN" sz="2400" dirty="0" err="1" smtClean="0"/>
              <a:t>i</a:t>
            </a:r>
            <a:r>
              <a:rPr lang="zh-CN" altLang="en-US" sz="2400" dirty="0" smtClean="0"/>
              <a:t>涂成红</a:t>
            </a:r>
            <a:r>
              <a:rPr lang="en-US" altLang="zh-CN" sz="2400" dirty="0" smtClean="0"/>
              <a:t>/</a:t>
            </a:r>
            <a:r>
              <a:rPr lang="zh-CN" altLang="en-US" sz="2400" dirty="0" smtClean="0"/>
              <a:t>蓝的答案是一样的</a:t>
            </a:r>
            <a:endParaRPr lang="en-US" altLang="zh-CN" sz="2400" dirty="0" smtClean="0"/>
          </a:p>
          <a:p>
            <a:r>
              <a:rPr lang="zh-CN" altLang="en-US" sz="2400" dirty="0" smtClean="0"/>
              <a:t>枚举儿子的涂法</a:t>
            </a:r>
            <a:r>
              <a:rPr lang="en-US" altLang="zh-CN" sz="2400" dirty="0" smtClean="0"/>
              <a:t>,</a:t>
            </a:r>
            <a:r>
              <a:rPr lang="zh-CN" altLang="en-US" sz="2400" dirty="0" smtClean="0"/>
              <a:t>取较大</a:t>
            </a:r>
            <a:r>
              <a:rPr lang="en-US" altLang="zh-CN" sz="2400" dirty="0" smtClean="0"/>
              <a:t>/</a:t>
            </a:r>
            <a:r>
              <a:rPr lang="zh-CN" altLang="en-US" sz="2400" dirty="0" smtClean="0"/>
              <a:t>较小值即可</a:t>
            </a:r>
            <a:r>
              <a:rPr lang="en-US" altLang="zh-CN" sz="2400" dirty="0" smtClean="0"/>
              <a:t>.</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Hdu5834 </a:t>
            </a:r>
            <a:r>
              <a:rPr lang="en-US" dirty="0" smtClean="0"/>
              <a:t>Magic boy Bi </a:t>
            </a:r>
            <a:r>
              <a:rPr lang="en-US" dirty="0" err="1" smtClean="0"/>
              <a:t>Luo</a:t>
            </a:r>
            <a:r>
              <a:rPr lang="en-US" dirty="0" smtClean="0"/>
              <a:t> with his excited tree</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一棵树</a:t>
            </a:r>
            <a:r>
              <a:rPr lang="en-US" altLang="zh-CN" sz="2400" dirty="0" smtClean="0"/>
              <a:t>,</a:t>
            </a:r>
            <a:r>
              <a:rPr lang="zh-CN" altLang="en-US" sz="2400" dirty="0" smtClean="0"/>
              <a:t>每条边有一个经过的代价</a:t>
            </a:r>
            <a:r>
              <a:rPr lang="en-US" altLang="zh-CN" sz="2400" dirty="0" smtClean="0"/>
              <a:t>,</a:t>
            </a:r>
            <a:r>
              <a:rPr lang="zh-CN" altLang="en-US" sz="2400" dirty="0" smtClean="0"/>
              <a:t>每个点有一个价值</a:t>
            </a:r>
            <a:r>
              <a:rPr lang="en-US" altLang="zh-CN" sz="2400" dirty="0" err="1" smtClean="0"/>
              <a:t>val</a:t>
            </a:r>
            <a:r>
              <a:rPr lang="en-US" altLang="zh-CN" sz="2400" dirty="0" smtClean="0"/>
              <a:t>[</a:t>
            </a:r>
            <a:r>
              <a:rPr lang="en-US" altLang="zh-CN" sz="2400" dirty="0" err="1" smtClean="0"/>
              <a:t>i</a:t>
            </a:r>
            <a:r>
              <a:rPr lang="en-US" altLang="zh-CN" sz="2400" dirty="0" smtClean="0"/>
              <a:t>].</a:t>
            </a:r>
            <a:endParaRPr lang="en-US" altLang="zh-CN" sz="2400" dirty="0" smtClean="0"/>
          </a:p>
          <a:p>
            <a:r>
              <a:rPr lang="zh-CN" altLang="en-US" sz="2400" dirty="0" smtClean="0"/>
              <a:t>如果多次经过某条边</a:t>
            </a:r>
            <a:r>
              <a:rPr lang="en-US" altLang="zh-CN" sz="2400" dirty="0" smtClean="0"/>
              <a:t>,</a:t>
            </a:r>
            <a:r>
              <a:rPr lang="zh-CN" altLang="en-US" sz="2400" dirty="0" smtClean="0"/>
              <a:t>每次经过都需要付出代价</a:t>
            </a:r>
            <a:r>
              <a:rPr lang="en-US" altLang="zh-CN" sz="2400" dirty="0" smtClean="0"/>
              <a:t>,</a:t>
            </a:r>
            <a:r>
              <a:rPr lang="zh-CN" altLang="en-US" sz="2400" dirty="0" smtClean="0"/>
              <a:t>但每个点的价值只能获得一次</a:t>
            </a:r>
            <a:r>
              <a:rPr lang="en-US" altLang="zh-CN" sz="2400" dirty="0" smtClean="0"/>
              <a:t>.(</a:t>
            </a:r>
            <a:r>
              <a:rPr lang="zh-CN" altLang="en-US" sz="2400" dirty="0" smtClean="0"/>
              <a:t>可以认为这个宝物拿走之后就没有了</a:t>
            </a:r>
            <a:r>
              <a:rPr lang="en-US" altLang="zh-CN" sz="2400" dirty="0" smtClean="0"/>
              <a:t>).</a:t>
            </a:r>
            <a:endParaRPr lang="en-US" altLang="zh-CN" sz="2400" dirty="0" smtClean="0"/>
          </a:p>
          <a:p>
            <a:r>
              <a:rPr lang="zh-CN" altLang="en-US" sz="2400" dirty="0" smtClean="0"/>
              <a:t>点数</a:t>
            </a:r>
            <a:r>
              <a:rPr lang="en-US" altLang="zh-CN" sz="2400" dirty="0" smtClean="0"/>
              <a:t>10^5.</a:t>
            </a:r>
            <a:r>
              <a:rPr lang="zh-CN" altLang="en-US" sz="2400" dirty="0" smtClean="0"/>
              <a:t>数据组数</a:t>
            </a:r>
            <a:r>
              <a:rPr lang="en-US" altLang="zh-CN" sz="2400" dirty="0" smtClean="0"/>
              <a:t>10000,</a:t>
            </a:r>
            <a:r>
              <a:rPr lang="zh-CN" altLang="en-US" sz="2400" dirty="0" smtClean="0"/>
              <a:t>总点数不超过</a:t>
            </a:r>
            <a:r>
              <a:rPr lang="en-US" altLang="zh-CN" sz="2400" dirty="0" smtClean="0"/>
              <a:t>10^6.</a:t>
            </a:r>
            <a:endParaRPr lang="en-US" altLang="zh-CN" sz="2400" dirty="0" smtClean="0"/>
          </a:p>
          <a:p>
            <a:r>
              <a:rPr lang="zh-CN" altLang="en-US" sz="2400" dirty="0" smtClean="0"/>
              <a:t>从某个点出发任意行走得到的收益为经过的点的价值之和减去经过的边的代价之和</a:t>
            </a:r>
            <a:r>
              <a:rPr lang="en-US" altLang="zh-CN" sz="2400" dirty="0" smtClean="0"/>
              <a:t>.</a:t>
            </a:r>
            <a:r>
              <a:rPr lang="zh-CN" altLang="en-US" sz="2400" dirty="0" smtClean="0"/>
              <a:t>最后不必回到出发点</a:t>
            </a:r>
            <a:r>
              <a:rPr lang="en-US" altLang="zh-CN" sz="2400" dirty="0" smtClean="0"/>
              <a:t>,</a:t>
            </a:r>
            <a:r>
              <a:rPr lang="zh-CN" altLang="en-US" sz="2400" dirty="0" smtClean="0"/>
              <a:t>可以在任意点终止</a:t>
            </a:r>
            <a:r>
              <a:rPr lang="en-US" altLang="zh-CN" sz="2400" dirty="0" smtClean="0"/>
              <a:t>.</a:t>
            </a:r>
            <a:endParaRPr lang="en-US" altLang="zh-CN" sz="2400" dirty="0" smtClean="0"/>
          </a:p>
          <a:p>
            <a:r>
              <a:rPr lang="zh-CN" altLang="en-US" sz="2400" dirty="0" smtClean="0"/>
              <a:t>对每个点</a:t>
            </a:r>
            <a:r>
              <a:rPr lang="en-US" altLang="zh-CN" sz="2400" dirty="0" smtClean="0"/>
              <a:t>,</a:t>
            </a:r>
            <a:r>
              <a:rPr lang="zh-CN" altLang="en-US" sz="2400" dirty="0" smtClean="0"/>
              <a:t>输出从这个点出发能得到的最大收益</a:t>
            </a:r>
            <a:r>
              <a:rPr lang="en-US" altLang="zh-CN" sz="2400" dirty="0" smtClean="0"/>
              <a:t>.</a:t>
            </a: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Hdu5834 </a:t>
            </a:r>
            <a:r>
              <a:rPr lang="en-US" dirty="0" smtClean="0"/>
              <a:t>Magic boy Bi </a:t>
            </a:r>
            <a:r>
              <a:rPr lang="en-US" dirty="0" err="1" smtClean="0"/>
              <a:t>Luo</a:t>
            </a:r>
            <a:r>
              <a:rPr lang="en-US" dirty="0" smtClean="0"/>
              <a:t> with his excited tree</a:t>
            </a:r>
            <a:endParaRPr lang="zh-CN" altLang="en-US" dirty="0"/>
          </a:p>
        </p:txBody>
      </p:sp>
      <p:sp>
        <p:nvSpPr>
          <p:cNvPr id="5" name="内容占位符 4"/>
          <p:cNvSpPr>
            <a:spLocks noGrp="1"/>
          </p:cNvSpPr>
          <p:nvPr>
            <p:ph sz="quarter" idx="1"/>
          </p:nvPr>
        </p:nvSpPr>
        <p:spPr/>
        <p:txBody>
          <a:bodyPr>
            <a:normAutofit/>
          </a:bodyPr>
          <a:lstStyle/>
          <a:p>
            <a:r>
              <a:rPr lang="zh-CN" altLang="en-US" sz="2400" dirty="0" smtClean="0"/>
              <a:t>每条边最多经过两次</a:t>
            </a:r>
            <a:endParaRPr lang="en-US" altLang="zh-CN" sz="2400" dirty="0" smtClean="0"/>
          </a:p>
          <a:p>
            <a:r>
              <a:rPr lang="zh-CN" altLang="en-US" sz="2400" dirty="0" smtClean="0"/>
              <a:t>先考虑问题的简化版</a:t>
            </a:r>
            <a:r>
              <a:rPr lang="en-US" altLang="zh-CN" sz="2400" dirty="0" smtClean="0"/>
              <a:t>:</a:t>
            </a:r>
            <a:r>
              <a:rPr lang="zh-CN" altLang="en-US" sz="2400" dirty="0" smtClean="0"/>
              <a:t>如果只求从</a:t>
            </a:r>
            <a:r>
              <a:rPr lang="en-US" altLang="zh-CN" sz="2400" dirty="0" smtClean="0"/>
              <a:t>1</a:t>
            </a:r>
            <a:r>
              <a:rPr lang="zh-CN" altLang="en-US" sz="2400" dirty="0" smtClean="0"/>
              <a:t>号点出发点最大收益而不是全部</a:t>
            </a:r>
            <a:r>
              <a:rPr lang="en-US" altLang="zh-CN" sz="2400" dirty="0" smtClean="0"/>
              <a:t>n</a:t>
            </a:r>
            <a:r>
              <a:rPr lang="zh-CN" altLang="en-US" sz="2400" dirty="0" smtClean="0"/>
              <a:t>个点的答案</a:t>
            </a:r>
            <a:r>
              <a:rPr lang="en-US" altLang="zh-CN" sz="2400" dirty="0" smtClean="0"/>
              <a:t>,</a:t>
            </a:r>
            <a:r>
              <a:rPr lang="zh-CN" altLang="en-US" sz="2400" dirty="0" smtClean="0"/>
              <a:t>怎么做</a:t>
            </a:r>
            <a:r>
              <a:rPr lang="en-US" altLang="zh-CN" sz="2400" dirty="0" smtClean="0"/>
              <a:t>.</a:t>
            </a:r>
            <a:endParaRPr lang="en-US" altLang="zh-CN" sz="2400" dirty="0" smtClean="0"/>
          </a:p>
          <a:p>
            <a:r>
              <a:rPr lang="zh-CN" altLang="en-US" sz="2400" dirty="0" smtClean="0"/>
              <a:t>再简化一下</a:t>
            </a:r>
            <a:r>
              <a:rPr lang="en-US" altLang="zh-CN" sz="2400" dirty="0" smtClean="0"/>
              <a:t>,</a:t>
            </a:r>
            <a:r>
              <a:rPr lang="zh-CN" altLang="en-US" sz="2400" dirty="0" smtClean="0"/>
              <a:t>假设必须回到</a:t>
            </a:r>
            <a:r>
              <a:rPr lang="en-US" altLang="zh-CN" sz="2400" dirty="0" smtClean="0"/>
              <a:t>1</a:t>
            </a:r>
            <a:r>
              <a:rPr lang="zh-CN" altLang="en-US" sz="2400" dirty="0" smtClean="0"/>
              <a:t>号点</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a:t>
            </a:r>
            <a:r>
              <a:rPr lang="zh-CN" altLang="en-US" sz="2400" dirty="0" smtClean="0"/>
              <a:t>表示从</a:t>
            </a:r>
            <a:r>
              <a:rPr lang="en-US" altLang="zh-CN" sz="2400" dirty="0" err="1" smtClean="0"/>
              <a:t>i</a:t>
            </a:r>
            <a:r>
              <a:rPr lang="zh-CN" altLang="en-US" sz="2400" dirty="0" smtClean="0"/>
              <a:t>号点向子树</a:t>
            </a:r>
            <a:r>
              <a:rPr lang="en-US" altLang="zh-CN" sz="2400" dirty="0" err="1" smtClean="0"/>
              <a:t>i</a:t>
            </a:r>
            <a:r>
              <a:rPr lang="zh-CN" altLang="en-US" sz="2400" dirty="0" smtClean="0"/>
              <a:t>内部走</a:t>
            </a:r>
            <a:r>
              <a:rPr lang="en-US" altLang="zh-CN" sz="2400" dirty="0" smtClean="0"/>
              <a:t>,</a:t>
            </a:r>
            <a:r>
              <a:rPr lang="zh-CN" altLang="en-US" sz="2400" dirty="0" smtClean="0"/>
              <a:t>回到点</a:t>
            </a:r>
            <a:r>
              <a:rPr lang="en-US" altLang="zh-CN" sz="2400" dirty="0" err="1" smtClean="0"/>
              <a:t>i</a:t>
            </a:r>
            <a:r>
              <a:rPr lang="zh-CN" altLang="en-US" sz="2400" dirty="0" smtClean="0"/>
              <a:t>时的最大收益</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a:t>
            </a:r>
            <a:r>
              <a:rPr lang="en-US" altLang="zh-CN" sz="2400" dirty="0" err="1" smtClean="0"/>
              <a:t>val</a:t>
            </a:r>
            <a:r>
              <a:rPr lang="en-US" altLang="zh-CN" sz="2400" dirty="0" smtClean="0"/>
              <a:t>[</a:t>
            </a:r>
            <a:r>
              <a:rPr lang="en-US" altLang="zh-CN" sz="2400" dirty="0" err="1" smtClean="0"/>
              <a:t>i</a:t>
            </a:r>
            <a:r>
              <a:rPr lang="en-US" altLang="zh-CN" sz="2400" dirty="0" smtClean="0"/>
              <a:t>]+sigma{max(0,f[j]-2*w(</a:t>
            </a:r>
            <a:r>
              <a:rPr lang="en-US" altLang="zh-CN" sz="2400" dirty="0" err="1" smtClean="0"/>
              <a:t>i,j</a:t>
            </a:r>
            <a:r>
              <a:rPr lang="en-US" altLang="zh-CN" sz="2400" dirty="0" smtClean="0"/>
              <a:t>))}</a:t>
            </a:r>
            <a:endParaRPr lang="en-US" altLang="zh-CN" sz="2400" dirty="0" smtClean="0"/>
          </a:p>
          <a:p>
            <a:r>
              <a:rPr lang="zh-CN" altLang="en-US" sz="2400" dirty="0" smtClean="0"/>
              <a:t>如果不必须回到</a:t>
            </a:r>
            <a:r>
              <a:rPr lang="en-US" altLang="zh-CN" sz="2400" dirty="0" smtClean="0"/>
              <a:t>1</a:t>
            </a:r>
            <a:r>
              <a:rPr lang="zh-CN" altLang="en-US" sz="2400" dirty="0" smtClean="0"/>
              <a:t>号点</a:t>
            </a:r>
            <a:r>
              <a:rPr lang="en-US" altLang="zh-CN" sz="2400" dirty="0" smtClean="0"/>
              <a:t>?</a:t>
            </a:r>
            <a:endParaRPr lang="en-US" altLang="zh-CN" sz="2400" dirty="0" smtClean="0"/>
          </a:p>
          <a:p>
            <a:r>
              <a:rPr lang="zh-CN" altLang="en-US" sz="2400" dirty="0" smtClean="0"/>
              <a:t>考虑</a:t>
            </a:r>
            <a:r>
              <a:rPr lang="en-US" altLang="zh-CN" sz="2400" dirty="0" err="1" smtClean="0"/>
              <a:t>1</a:t>
            </a:r>
            <a:r>
              <a:rPr lang="zh-CN" altLang="en-US" sz="2400" dirty="0" smtClean="0"/>
              <a:t>号点的所有儿子</a:t>
            </a:r>
            <a:r>
              <a:rPr lang="en-US" altLang="zh-CN" sz="2400" dirty="0" smtClean="0"/>
              <a:t>,</a:t>
            </a:r>
            <a:r>
              <a:rPr lang="zh-CN" altLang="en-US" sz="2400" dirty="0" smtClean="0"/>
              <a:t>最多允许有一个儿子是走过去之后不一定返回</a:t>
            </a:r>
            <a:r>
              <a:rPr lang="en-US" altLang="zh-CN" sz="2400" dirty="0" smtClean="0"/>
              <a:t>,</a:t>
            </a:r>
            <a:r>
              <a:rPr lang="zh-CN" altLang="en-US" sz="2400" dirty="0" smtClean="0"/>
              <a:t>其他儿子必须走到子树里之后再返回</a:t>
            </a:r>
            <a:r>
              <a:rPr lang="en-US" altLang="zh-CN" sz="2400" dirty="0" smtClean="0"/>
              <a:t>.</a:t>
            </a:r>
            <a:endParaRPr lang="en-US" altLang="zh-CN" sz="2400" dirty="0" smtClean="0"/>
          </a:p>
          <a:p>
            <a:r>
              <a:rPr lang="zh-CN" altLang="en-US" sz="2400" dirty="0" smtClean="0"/>
              <a:t>定义</a:t>
            </a:r>
            <a:r>
              <a:rPr lang="en-US" altLang="zh-CN" sz="2400" dirty="0" smtClean="0"/>
              <a:t>f[</a:t>
            </a:r>
            <a:r>
              <a:rPr lang="en-US" altLang="zh-CN" sz="2400" dirty="0" err="1" smtClean="0"/>
              <a:t>i</a:t>
            </a:r>
            <a:r>
              <a:rPr lang="en-US" altLang="zh-CN" sz="2400" dirty="0" smtClean="0"/>
              <a:t>][1]</a:t>
            </a:r>
            <a:r>
              <a:rPr lang="zh-CN" altLang="en-US" sz="2400" dirty="0" smtClean="0"/>
              <a:t>表示从</a:t>
            </a:r>
            <a:r>
              <a:rPr lang="en-US" altLang="zh-CN" sz="2400" dirty="0" err="1" smtClean="0"/>
              <a:t>i</a:t>
            </a:r>
            <a:r>
              <a:rPr lang="zh-CN" altLang="en-US" sz="2400" dirty="0" smtClean="0"/>
              <a:t>出发向子树</a:t>
            </a:r>
            <a:r>
              <a:rPr lang="en-US" altLang="zh-CN" sz="2400" dirty="0" err="1" smtClean="0"/>
              <a:t>i</a:t>
            </a:r>
            <a:r>
              <a:rPr lang="zh-CN" altLang="en-US" sz="2400" dirty="0" smtClean="0"/>
              <a:t>内部走必须回到点</a:t>
            </a:r>
            <a:r>
              <a:rPr lang="en-US" altLang="zh-CN" sz="2400" dirty="0" err="1" smtClean="0"/>
              <a:t>i</a:t>
            </a:r>
            <a:r>
              <a:rPr lang="zh-CN" altLang="en-US" sz="2400" dirty="0" smtClean="0"/>
              <a:t>的最大收益</a:t>
            </a:r>
            <a:r>
              <a:rPr lang="en-US" altLang="zh-CN" sz="2400" dirty="0" smtClean="0"/>
              <a:t>,f[</a:t>
            </a:r>
            <a:r>
              <a:rPr lang="en-US" altLang="zh-CN" sz="2400" dirty="0" err="1" smtClean="0"/>
              <a:t>i</a:t>
            </a:r>
            <a:r>
              <a:rPr lang="en-US" altLang="zh-CN" sz="2400" dirty="0" smtClean="0"/>
              <a:t>][0]</a:t>
            </a:r>
            <a:r>
              <a:rPr lang="zh-CN" altLang="en-US" sz="2400" dirty="0" smtClean="0"/>
              <a:t>表示不一定回到点</a:t>
            </a:r>
            <a:r>
              <a:rPr lang="en-US" altLang="zh-CN" sz="2400" dirty="0" err="1" smtClean="0"/>
              <a:t>i</a:t>
            </a:r>
            <a:r>
              <a:rPr lang="zh-CN" altLang="en-US" sz="2400" dirty="0" smtClean="0"/>
              <a:t>的最大收益</a:t>
            </a:r>
            <a:endParaRPr lang="zh-CN" altLang="en-US" sz="2400" dirty="0" smtClean="0"/>
          </a:p>
          <a:p>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Hdu5834 </a:t>
            </a:r>
            <a:r>
              <a:rPr lang="en-US" dirty="0" smtClean="0"/>
              <a:t>Magic boy Bi </a:t>
            </a:r>
            <a:r>
              <a:rPr lang="en-US" dirty="0" err="1" smtClean="0"/>
              <a:t>Luo</a:t>
            </a:r>
            <a:r>
              <a:rPr lang="en-US" dirty="0" smtClean="0"/>
              <a:t> with his excited tree</a:t>
            </a:r>
            <a:endParaRPr lang="zh-CN" altLang="en-US" dirty="0"/>
          </a:p>
        </p:txBody>
      </p:sp>
      <p:sp>
        <p:nvSpPr>
          <p:cNvPr id="3" name="内容占位符 2"/>
          <p:cNvSpPr>
            <a:spLocks noGrp="1"/>
          </p:cNvSpPr>
          <p:nvPr>
            <p:ph sz="quarter" idx="1"/>
          </p:nvPr>
        </p:nvSpPr>
        <p:spPr/>
        <p:txBody>
          <a:bodyPr>
            <a:normAutofit/>
          </a:bodyPr>
          <a:lstStyle/>
          <a:p>
            <a:r>
              <a:rPr lang="en-US" altLang="zh-CN" sz="2400" dirty="0" smtClean="0"/>
              <a:t>f[</a:t>
            </a:r>
            <a:r>
              <a:rPr lang="en-US" altLang="zh-CN" sz="2400" dirty="0" err="1" smtClean="0"/>
              <a:t>i</a:t>
            </a:r>
            <a:r>
              <a:rPr lang="en-US" altLang="zh-CN" sz="2400" dirty="0" smtClean="0"/>
              <a:t>][1]</a:t>
            </a:r>
            <a:r>
              <a:rPr lang="zh-CN" altLang="en-US" sz="2400" dirty="0" smtClean="0"/>
              <a:t>相当于原先的</a:t>
            </a:r>
            <a:r>
              <a:rPr lang="en-US" altLang="zh-CN" sz="2400" dirty="0" smtClean="0"/>
              <a:t>f[</a:t>
            </a:r>
            <a:r>
              <a:rPr lang="en-US" altLang="zh-CN" sz="2400" dirty="0" err="1" smtClean="0"/>
              <a:t>i</a:t>
            </a:r>
            <a:r>
              <a:rPr lang="en-US" altLang="zh-CN" sz="2400" dirty="0" smtClean="0"/>
              <a:t>],</a:t>
            </a:r>
            <a:r>
              <a:rPr lang="zh-CN" altLang="en-US" sz="2400" dirty="0" smtClean="0"/>
              <a:t>等于</a:t>
            </a:r>
            <a:r>
              <a:rPr lang="en-US" altLang="zh-CN" sz="2400" dirty="0" err="1" smtClean="0"/>
              <a:t>val</a:t>
            </a:r>
            <a:r>
              <a:rPr lang="en-US" altLang="zh-CN" sz="2400" dirty="0" smtClean="0"/>
              <a:t>[</a:t>
            </a:r>
            <a:r>
              <a:rPr lang="en-US" altLang="zh-CN" sz="2400" dirty="0" err="1" smtClean="0"/>
              <a:t>i</a:t>
            </a:r>
            <a:r>
              <a:rPr lang="en-US" altLang="zh-CN" sz="2400" dirty="0" smtClean="0"/>
              <a:t>]+sigma{max(0,f[j][1]-2*w(</a:t>
            </a:r>
            <a:r>
              <a:rPr lang="en-US" altLang="zh-CN" sz="2400" dirty="0" err="1" smtClean="0"/>
              <a:t>i,j</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][0]</a:t>
            </a:r>
            <a:r>
              <a:rPr lang="zh-CN" altLang="en-US" sz="2400" dirty="0" smtClean="0"/>
              <a:t>中</a:t>
            </a:r>
            <a:r>
              <a:rPr lang="en-US" altLang="zh-CN" sz="2400" dirty="0" smtClean="0"/>
              <a:t>,</a:t>
            </a:r>
            <a:r>
              <a:rPr lang="zh-CN" altLang="en-US" sz="2400" dirty="0" smtClean="0"/>
              <a:t>允许有一棵子树的收益是</a:t>
            </a:r>
            <a:r>
              <a:rPr lang="en-US" altLang="zh-CN" sz="2400" dirty="0" smtClean="0"/>
              <a:t>f[j][0]-w(</a:t>
            </a:r>
            <a:r>
              <a:rPr lang="en-US" altLang="zh-CN" sz="2400" dirty="0" err="1" smtClean="0"/>
              <a:t>i,j</a:t>
            </a:r>
            <a:r>
              <a:rPr lang="en-US" altLang="zh-CN" sz="2400" dirty="0" smtClean="0"/>
              <a:t>)</a:t>
            </a:r>
            <a:r>
              <a:rPr lang="zh-CN" altLang="en-US" sz="2400" dirty="0" smtClean="0"/>
              <a:t>而不是</a:t>
            </a:r>
            <a:r>
              <a:rPr lang="en-US" altLang="zh-CN" sz="2400" dirty="0" smtClean="0"/>
              <a:t>f[j][1]-2*w(</a:t>
            </a:r>
            <a:r>
              <a:rPr lang="en-US" altLang="zh-CN" sz="2400" dirty="0" err="1" smtClean="0"/>
              <a:t>i,j</a:t>
            </a:r>
            <a:r>
              <a:rPr lang="en-US" altLang="zh-CN" sz="2400" dirty="0" smtClean="0"/>
              <a:t>)</a:t>
            </a:r>
            <a:endParaRPr lang="en-US" altLang="zh-CN" sz="2400" dirty="0" smtClean="0"/>
          </a:p>
          <a:p>
            <a:r>
              <a:rPr lang="zh-CN" altLang="en-US" sz="2400" dirty="0" smtClean="0"/>
              <a:t>对于每棵子树</a:t>
            </a:r>
            <a:r>
              <a:rPr lang="en-US" altLang="zh-CN" sz="2400" dirty="0" smtClean="0"/>
              <a:t>,</a:t>
            </a:r>
            <a:r>
              <a:rPr lang="zh-CN" altLang="en-US" sz="2400" dirty="0" smtClean="0"/>
              <a:t>我们求出它从</a:t>
            </a:r>
            <a:r>
              <a:rPr lang="en-US" altLang="zh-CN" sz="2400" dirty="0" smtClean="0"/>
              <a:t>max(0,f[j][1]-2*w(</a:t>
            </a:r>
            <a:r>
              <a:rPr lang="en-US" altLang="zh-CN" sz="2400" dirty="0" err="1" smtClean="0"/>
              <a:t>i,j</a:t>
            </a:r>
            <a:r>
              <a:rPr lang="en-US" altLang="zh-CN" sz="2400" dirty="0" smtClean="0"/>
              <a:t>))</a:t>
            </a:r>
            <a:r>
              <a:rPr lang="zh-CN" altLang="en-US" sz="2400" dirty="0" smtClean="0"/>
              <a:t>变化到</a:t>
            </a:r>
            <a:r>
              <a:rPr lang="en-US" altLang="zh-CN" sz="2400" dirty="0" smtClean="0"/>
              <a:t>f[j][0]-w(</a:t>
            </a:r>
            <a:r>
              <a:rPr lang="en-US" altLang="zh-CN" sz="2400" dirty="0" err="1" smtClean="0"/>
              <a:t>i,j</a:t>
            </a:r>
            <a:r>
              <a:rPr lang="en-US" altLang="zh-CN" sz="2400" dirty="0" smtClean="0"/>
              <a:t>)</a:t>
            </a:r>
            <a:r>
              <a:rPr lang="zh-CN" altLang="en-US" sz="2400" dirty="0" smtClean="0"/>
              <a:t>时增加的收益</a:t>
            </a:r>
            <a:endParaRPr lang="en-US" altLang="zh-CN" sz="2400" dirty="0" smtClean="0"/>
          </a:p>
          <a:p>
            <a:r>
              <a:rPr lang="zh-CN" altLang="en-US" sz="2400" dirty="0" smtClean="0"/>
              <a:t>把增加收益最多的子树变成</a:t>
            </a:r>
            <a:r>
              <a:rPr lang="en-US" altLang="zh-CN" sz="2400" dirty="0" smtClean="0"/>
              <a:t>f[j][0]-w(</a:t>
            </a:r>
            <a:r>
              <a:rPr lang="en-US" altLang="zh-CN" sz="2400" dirty="0" err="1" smtClean="0"/>
              <a:t>i,j</a:t>
            </a:r>
            <a:r>
              <a:rPr lang="en-US" altLang="zh-CN" sz="2400" dirty="0" smtClean="0"/>
              <a:t>),f[</a:t>
            </a:r>
            <a:r>
              <a:rPr lang="en-US" altLang="zh-CN" sz="2400" dirty="0" err="1" smtClean="0"/>
              <a:t>i</a:t>
            </a:r>
            <a:r>
              <a:rPr lang="en-US" altLang="zh-CN" sz="2400" dirty="0" smtClean="0"/>
              <a:t>][0]</a:t>
            </a:r>
            <a:r>
              <a:rPr lang="zh-CN" altLang="en-US" sz="2400" dirty="0" smtClean="0"/>
              <a:t>等于</a:t>
            </a:r>
            <a:r>
              <a:rPr lang="en-US" altLang="zh-CN" sz="2400" dirty="0" smtClean="0"/>
              <a:t>f[</a:t>
            </a:r>
            <a:r>
              <a:rPr lang="en-US" altLang="zh-CN" sz="2400" dirty="0" err="1" smtClean="0"/>
              <a:t>i</a:t>
            </a:r>
            <a:r>
              <a:rPr lang="en-US" altLang="zh-CN" sz="2400" dirty="0" smtClean="0"/>
              <a:t>][1]</a:t>
            </a:r>
            <a:r>
              <a:rPr lang="zh-CN" altLang="en-US" sz="2400" dirty="0" smtClean="0"/>
              <a:t>加上这个最大的增加值</a:t>
            </a:r>
            <a:r>
              <a:rPr lang="en-US" altLang="zh-CN" sz="2400" dirty="0" smtClean="0"/>
              <a:t>.</a:t>
            </a:r>
            <a:endParaRPr lang="en-US" altLang="zh-CN" sz="2400" dirty="0" smtClean="0"/>
          </a:p>
          <a:p>
            <a:r>
              <a:rPr lang="zh-CN" altLang="en-US" sz="2400" dirty="0" smtClean="0"/>
              <a:t>这样我们可以求出从整个树的根节点出发的答案</a:t>
            </a:r>
            <a:r>
              <a:rPr lang="en-US" altLang="zh-CN" sz="2400" dirty="0" smtClean="0"/>
              <a:t>,</a:t>
            </a:r>
            <a:r>
              <a:rPr lang="zh-CN" altLang="en-US" sz="2400" dirty="0" smtClean="0"/>
              <a:t>但不能求出</a:t>
            </a:r>
            <a:r>
              <a:rPr lang="en-US" altLang="zh-CN" sz="2400" dirty="0" smtClean="0"/>
              <a:t>n</a:t>
            </a:r>
            <a:r>
              <a:rPr lang="zh-CN" altLang="en-US" sz="2400" dirty="0" smtClean="0"/>
              <a:t>个答案</a:t>
            </a:r>
            <a:r>
              <a:rPr lang="en-US" altLang="zh-CN" sz="2400" dirty="0" smtClean="0"/>
              <a:t>,</a:t>
            </a:r>
            <a:r>
              <a:rPr lang="zh-CN" altLang="en-US" sz="2400" dirty="0" smtClean="0"/>
              <a:t>因为其他的点还可以向根节点的方向</a:t>
            </a:r>
            <a:r>
              <a:rPr lang="en-US" altLang="zh-CN" sz="2400" dirty="0" smtClean="0"/>
              <a:t>(</a:t>
            </a:r>
            <a:r>
              <a:rPr lang="zh-CN" altLang="en-US" sz="2400" dirty="0" smtClean="0"/>
              <a:t>即不在自己的子树之内的方向</a:t>
            </a:r>
            <a:r>
              <a:rPr lang="en-US" altLang="zh-CN" sz="2400" dirty="0" smtClean="0"/>
              <a:t>)</a:t>
            </a:r>
            <a:r>
              <a:rPr lang="zh-CN" altLang="en-US" sz="2400" dirty="0" smtClean="0"/>
              <a:t>行走</a:t>
            </a:r>
            <a:r>
              <a:rPr lang="en-US" altLang="zh-CN" sz="2400" dirty="0" smtClean="0"/>
              <a:t>.</a:t>
            </a:r>
            <a:endParaRPr lang="en-US" altLang="zh-CN" sz="2400" dirty="0" smtClean="0"/>
          </a:p>
          <a:p>
            <a:r>
              <a:rPr lang="zh-CN" altLang="en-US" sz="2400" dirty="0" smtClean="0"/>
              <a:t>做法是再对其他一些量进行</a:t>
            </a:r>
            <a:r>
              <a:rPr lang="en-US" altLang="zh-CN" sz="2400" dirty="0" smtClean="0"/>
              <a:t>DP.</a:t>
            </a:r>
            <a:r>
              <a:rPr lang="zh-CN" altLang="en-US" sz="2400" dirty="0" smtClean="0"/>
              <a:t>具体</a:t>
            </a:r>
            <a:r>
              <a:rPr lang="en-US" altLang="zh-CN" sz="2400" dirty="0" smtClean="0"/>
              <a:t>DP</a:t>
            </a:r>
            <a:r>
              <a:rPr lang="zh-CN" altLang="en-US" sz="2400" dirty="0" smtClean="0"/>
              <a:t>什么呢</a:t>
            </a: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Hdu5834 </a:t>
            </a:r>
            <a:r>
              <a:rPr lang="en-US" dirty="0" smtClean="0"/>
              <a:t>Magic boy Bi </a:t>
            </a:r>
            <a:r>
              <a:rPr lang="en-US" dirty="0" err="1" smtClean="0"/>
              <a:t>Luo</a:t>
            </a:r>
            <a:r>
              <a:rPr lang="en-US" dirty="0" smtClean="0"/>
              <a:t> with his excited tree</a:t>
            </a:r>
            <a:endParaRPr lang="zh-CN" altLang="en-US" dirty="0"/>
          </a:p>
        </p:txBody>
      </p:sp>
      <p:sp>
        <p:nvSpPr>
          <p:cNvPr id="3" name="内容占位符 2"/>
          <p:cNvSpPr>
            <a:spLocks noGrp="1"/>
          </p:cNvSpPr>
          <p:nvPr>
            <p:ph sz="quarter" idx="1"/>
          </p:nvPr>
        </p:nvSpPr>
        <p:spPr/>
        <p:txBody>
          <a:bodyPr>
            <a:normAutofit/>
          </a:bodyPr>
          <a:lstStyle/>
          <a:p>
            <a:r>
              <a:rPr lang="en-US" altLang="zh-CN" sz="2400" dirty="0" smtClean="0"/>
              <a:t>g[</a:t>
            </a:r>
            <a:r>
              <a:rPr lang="en-US" altLang="zh-CN" sz="2400" dirty="0" err="1" smtClean="0"/>
              <a:t>i</a:t>
            </a:r>
            <a:r>
              <a:rPr lang="en-US" altLang="zh-CN" sz="2400" dirty="0" smtClean="0"/>
              <a:t>][1]</a:t>
            </a:r>
            <a:r>
              <a:rPr lang="zh-CN" altLang="en-US" sz="2400" dirty="0" smtClean="0"/>
              <a:t>表示从</a:t>
            </a:r>
            <a:r>
              <a:rPr lang="en-US" altLang="zh-CN" sz="2400" dirty="0" err="1" smtClean="0"/>
              <a:t>i</a:t>
            </a:r>
            <a:r>
              <a:rPr lang="zh-CN" altLang="en-US" sz="2400" dirty="0" smtClean="0"/>
              <a:t>向</a:t>
            </a:r>
            <a:r>
              <a:rPr lang="en-US" altLang="zh-CN" sz="2400" dirty="0" err="1" smtClean="0"/>
              <a:t>i</a:t>
            </a:r>
            <a:r>
              <a:rPr lang="zh-CN" altLang="en-US" sz="2400" dirty="0" smtClean="0"/>
              <a:t>的父亲方向走且必须回到</a:t>
            </a:r>
            <a:r>
              <a:rPr lang="en-US" altLang="zh-CN" sz="2400" dirty="0" err="1" smtClean="0"/>
              <a:t>i</a:t>
            </a:r>
            <a:r>
              <a:rPr lang="zh-CN" altLang="en-US" sz="2400" dirty="0" smtClean="0"/>
              <a:t>能够得到的最大收益</a:t>
            </a:r>
            <a:r>
              <a:rPr lang="en-US" altLang="zh-CN" sz="2400" dirty="0" smtClean="0"/>
              <a:t>(</a:t>
            </a:r>
            <a:r>
              <a:rPr lang="zh-CN" altLang="en-US" sz="2400" dirty="0" smtClean="0"/>
              <a:t>不包括</a:t>
            </a:r>
            <a:r>
              <a:rPr lang="en-US" altLang="zh-CN" sz="2400" dirty="0" err="1" smtClean="0"/>
              <a:t>val</a:t>
            </a:r>
            <a:r>
              <a:rPr lang="en-US" altLang="zh-CN" sz="2400" dirty="0" smtClean="0"/>
              <a:t>[</a:t>
            </a:r>
            <a:r>
              <a:rPr lang="en-US" altLang="zh-CN" sz="2400" dirty="0" err="1" smtClean="0"/>
              <a:t>i</a:t>
            </a:r>
            <a:r>
              <a:rPr lang="en-US" altLang="zh-CN" sz="2400" dirty="0" smtClean="0"/>
              <a:t>],</a:t>
            </a:r>
            <a:r>
              <a:rPr lang="zh-CN" altLang="en-US" sz="2400" dirty="0" smtClean="0"/>
              <a:t>在</a:t>
            </a:r>
            <a:r>
              <a:rPr lang="en-US" altLang="zh-CN" sz="2400" dirty="0" smtClean="0"/>
              <a:t>f[</a:t>
            </a:r>
            <a:r>
              <a:rPr lang="en-US" altLang="zh-CN" sz="2400" dirty="0" err="1" smtClean="0"/>
              <a:t>i</a:t>
            </a:r>
            <a:r>
              <a:rPr lang="en-US" altLang="zh-CN" sz="2400" dirty="0" smtClean="0"/>
              <a:t>][0],f[</a:t>
            </a:r>
            <a:r>
              <a:rPr lang="en-US" altLang="zh-CN" sz="2400" dirty="0" err="1" smtClean="0"/>
              <a:t>i</a:t>
            </a:r>
            <a:r>
              <a:rPr lang="en-US" altLang="zh-CN" sz="2400" dirty="0" smtClean="0"/>
              <a:t>][1]</a:t>
            </a:r>
            <a:r>
              <a:rPr lang="zh-CN" altLang="en-US" sz="2400" dirty="0" smtClean="0"/>
              <a:t>中算了</a:t>
            </a:r>
            <a:r>
              <a:rPr lang="en-US" altLang="zh-CN" sz="2400" dirty="0" smtClean="0"/>
              <a:t>)</a:t>
            </a:r>
            <a:endParaRPr lang="en-US" altLang="zh-CN" sz="2400" dirty="0" smtClean="0"/>
          </a:p>
          <a:p>
            <a:r>
              <a:rPr lang="en-US" altLang="zh-CN" sz="2400" dirty="0" smtClean="0"/>
              <a:t>g[</a:t>
            </a:r>
            <a:r>
              <a:rPr lang="en-US" altLang="zh-CN" sz="2400" dirty="0" err="1" smtClean="0"/>
              <a:t>i</a:t>
            </a:r>
            <a:r>
              <a:rPr lang="en-US" altLang="zh-CN" sz="2400" dirty="0" smtClean="0"/>
              <a:t>][0]</a:t>
            </a:r>
            <a:r>
              <a:rPr lang="zh-CN" altLang="en-US" sz="2400" dirty="0" smtClean="0"/>
              <a:t>表示从</a:t>
            </a:r>
            <a:r>
              <a:rPr lang="en-US" altLang="zh-CN" sz="2400" dirty="0" err="1" smtClean="0"/>
              <a:t>i</a:t>
            </a:r>
            <a:r>
              <a:rPr lang="zh-CN" altLang="en-US" sz="2400" dirty="0" smtClean="0"/>
              <a:t>向父亲方向走</a:t>
            </a:r>
            <a:r>
              <a:rPr lang="en-US" altLang="zh-CN" sz="2400" dirty="0" smtClean="0"/>
              <a:t>,</a:t>
            </a:r>
            <a:r>
              <a:rPr lang="zh-CN" altLang="en-US" sz="2400" dirty="0" smtClean="0"/>
              <a:t>不一定回到</a:t>
            </a:r>
            <a:r>
              <a:rPr lang="en-US" altLang="zh-CN" sz="2400" dirty="0" err="1" smtClean="0"/>
              <a:t>i</a:t>
            </a:r>
            <a:r>
              <a:rPr lang="zh-CN" altLang="en-US" sz="2400" dirty="0" smtClean="0"/>
              <a:t>能够得到的最大收益</a:t>
            </a:r>
            <a:r>
              <a:rPr lang="en-US" altLang="zh-CN" sz="2400" dirty="0" smtClean="0"/>
              <a:t>.</a:t>
            </a:r>
            <a:endParaRPr lang="en-US" altLang="zh-CN" sz="2400" dirty="0" smtClean="0"/>
          </a:p>
          <a:p>
            <a:r>
              <a:rPr lang="zh-CN" altLang="en-US" sz="2400" dirty="0" smtClean="0"/>
              <a:t>枚举和</a:t>
            </a:r>
            <a:r>
              <a:rPr lang="en-US" altLang="zh-CN" sz="2400" dirty="0" err="1" smtClean="0"/>
              <a:t>i</a:t>
            </a:r>
            <a:r>
              <a:rPr lang="zh-CN" altLang="en-US" sz="2400" dirty="0" smtClean="0"/>
              <a:t>的父亲相连的所有子树</a:t>
            </a:r>
            <a:r>
              <a:rPr lang="en-US" altLang="zh-CN" sz="2400" dirty="0" smtClean="0"/>
              <a:t>(</a:t>
            </a:r>
            <a:r>
              <a:rPr lang="zh-CN" altLang="en-US" sz="2400" dirty="0" smtClean="0"/>
              <a:t>不包括</a:t>
            </a:r>
            <a:r>
              <a:rPr lang="en-US" altLang="zh-CN" sz="2400" dirty="0" err="1" smtClean="0"/>
              <a:t>i</a:t>
            </a:r>
            <a:r>
              <a:rPr lang="en-US" altLang="zh-CN" sz="2400" dirty="0" smtClean="0"/>
              <a:t>),</a:t>
            </a:r>
            <a:r>
              <a:rPr lang="zh-CN" altLang="en-US" sz="2400" dirty="0" smtClean="0"/>
              <a:t>对状态进行更新</a:t>
            </a:r>
            <a:r>
              <a:rPr lang="en-US" altLang="zh-CN" sz="2400" dirty="0" smtClean="0"/>
              <a:t>,</a:t>
            </a:r>
            <a:r>
              <a:rPr lang="zh-CN" altLang="en-US" sz="2400" dirty="0" smtClean="0"/>
              <a:t>类似于</a:t>
            </a:r>
            <a:r>
              <a:rPr lang="en-US" altLang="zh-CN" sz="2400" dirty="0" smtClean="0"/>
              <a:t>f</a:t>
            </a:r>
            <a:r>
              <a:rPr lang="zh-CN" altLang="en-US" sz="2400" dirty="0" smtClean="0"/>
              <a:t>的求解</a:t>
            </a:r>
            <a:r>
              <a:rPr lang="en-US" altLang="zh-CN" sz="2400" dirty="0" smtClean="0"/>
              <a:t>.</a:t>
            </a:r>
            <a:endParaRPr lang="en-US" altLang="zh-CN" sz="2400" dirty="0" smtClean="0"/>
          </a:p>
          <a:p>
            <a:r>
              <a:rPr lang="zh-CN" altLang="en-US" sz="2400" dirty="0" smtClean="0"/>
              <a:t>最后每个点的答案可以是</a:t>
            </a:r>
            <a:endParaRPr lang="en-US" altLang="zh-CN" sz="2400" dirty="0" smtClean="0"/>
          </a:p>
          <a:p>
            <a:pPr lvl="1"/>
            <a:r>
              <a:rPr lang="en-US" altLang="zh-CN" sz="2100" dirty="0" smtClean="0"/>
              <a:t>f[</a:t>
            </a:r>
            <a:r>
              <a:rPr lang="en-US" altLang="zh-CN" sz="2100" dirty="0" err="1" smtClean="0"/>
              <a:t>i</a:t>
            </a:r>
            <a:r>
              <a:rPr lang="en-US" altLang="zh-CN" sz="2100" dirty="0" smtClean="0"/>
              <a:t>][1]+g[</a:t>
            </a:r>
            <a:r>
              <a:rPr lang="en-US" altLang="zh-CN" sz="2100" dirty="0" err="1" smtClean="0"/>
              <a:t>i</a:t>
            </a:r>
            <a:r>
              <a:rPr lang="en-US" altLang="zh-CN" sz="2100" dirty="0" smtClean="0"/>
              <a:t>][1]</a:t>
            </a:r>
            <a:endParaRPr lang="en-US" altLang="zh-CN" sz="2100" dirty="0" smtClean="0"/>
          </a:p>
          <a:p>
            <a:pPr lvl="1"/>
            <a:r>
              <a:rPr lang="en-US" altLang="zh-CN" sz="2100" dirty="0" smtClean="0"/>
              <a:t>f[</a:t>
            </a:r>
            <a:r>
              <a:rPr lang="en-US" altLang="zh-CN" sz="2100" dirty="0" err="1" smtClean="0"/>
              <a:t>i</a:t>
            </a:r>
            <a:r>
              <a:rPr lang="en-US" altLang="zh-CN" sz="2100" dirty="0" smtClean="0"/>
              <a:t>][1]+g[</a:t>
            </a:r>
            <a:r>
              <a:rPr lang="en-US" altLang="zh-CN" sz="2100" dirty="0" err="1" smtClean="0"/>
              <a:t>i</a:t>
            </a:r>
            <a:r>
              <a:rPr lang="en-US" altLang="zh-CN" sz="2100" dirty="0" smtClean="0"/>
              <a:t>][0]</a:t>
            </a:r>
            <a:endParaRPr lang="en-US" altLang="zh-CN" sz="2100" dirty="0" smtClean="0"/>
          </a:p>
          <a:p>
            <a:pPr lvl="1"/>
            <a:r>
              <a:rPr lang="en-US" altLang="zh-CN" sz="2100" dirty="0" smtClean="0"/>
              <a:t>f[</a:t>
            </a:r>
            <a:r>
              <a:rPr lang="en-US" altLang="zh-CN" sz="2100" dirty="0" err="1" smtClean="0"/>
              <a:t>i</a:t>
            </a:r>
            <a:r>
              <a:rPr lang="en-US" altLang="zh-CN" sz="2100" dirty="0" smtClean="0"/>
              <a:t>][0]+g[</a:t>
            </a:r>
            <a:r>
              <a:rPr lang="en-US" altLang="zh-CN" sz="2100" dirty="0" err="1" smtClean="0"/>
              <a:t>i</a:t>
            </a:r>
            <a:r>
              <a:rPr lang="en-US" altLang="zh-CN" sz="2100" dirty="0" smtClean="0"/>
              <a:t>][1]</a:t>
            </a:r>
            <a:endParaRPr lang="en-US" altLang="zh-CN" sz="2100" dirty="0" smtClean="0"/>
          </a:p>
          <a:p>
            <a:r>
              <a:rPr lang="zh-CN" altLang="en-US" sz="2400" dirty="0" smtClean="0"/>
              <a:t>注意控制每组数据初始化复杂度为</a:t>
            </a:r>
            <a:r>
              <a:rPr lang="en-US" altLang="zh-CN" sz="2400" dirty="0" smtClean="0"/>
              <a:t>O(n).</a:t>
            </a:r>
            <a:r>
              <a:rPr lang="zh-CN" altLang="en-US" sz="2400" dirty="0" smtClean="0"/>
              <a:t>如果初始化复杂度为</a:t>
            </a:r>
            <a:r>
              <a:rPr lang="en-US" altLang="zh-CN" sz="2400" dirty="0" smtClean="0"/>
              <a:t>10^5,</a:t>
            </a:r>
            <a:r>
              <a:rPr lang="zh-CN" altLang="en-US" sz="2400" dirty="0" smtClean="0"/>
              <a:t>有</a:t>
            </a:r>
            <a:r>
              <a:rPr lang="en-US" altLang="zh-CN" sz="2400" dirty="0" smtClean="0"/>
              <a:t>10^4</a:t>
            </a:r>
            <a:r>
              <a:rPr lang="zh-CN" altLang="en-US" sz="2400" dirty="0" smtClean="0"/>
              <a:t>组数据</a:t>
            </a:r>
            <a:r>
              <a:rPr lang="en-US" altLang="zh-CN" sz="2400" dirty="0" smtClean="0"/>
              <a:t>,</a:t>
            </a:r>
            <a:r>
              <a:rPr lang="zh-CN" altLang="en-US" sz="2400" dirty="0" smtClean="0"/>
              <a:t>基本上药丸</a:t>
            </a: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树形动态规划</a:t>
            </a:r>
            <a:r>
              <a:rPr lang="en-US" altLang="zh-CN" dirty="0" smtClean="0"/>
              <a:t>(</a:t>
            </a:r>
            <a:r>
              <a:rPr lang="zh-CN" altLang="en-US" dirty="0" smtClean="0"/>
              <a:t>一些题目</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en-US" sz="3200" dirty="0" smtClean="0"/>
              <a:t>bzoj1060[ZJOI2007]</a:t>
            </a:r>
            <a:r>
              <a:rPr lang="en-US" sz="3200" dirty="0" err="1" smtClean="0"/>
              <a:t>时态同步</a:t>
            </a:r>
            <a:endParaRPr lang="zh-CN" altLang="en-US" sz="3200" dirty="0" smtClean="0"/>
          </a:p>
          <a:p>
            <a:r>
              <a:rPr lang="en-US" sz="3200" dirty="0" smtClean="0"/>
              <a:t>bzoj4033[HAOI2015]T1</a:t>
            </a:r>
            <a:endParaRPr lang="zh-CN" altLang="en-US" sz="3200" dirty="0" smtClean="0"/>
          </a:p>
          <a:p>
            <a:r>
              <a:rPr lang="en-US" sz="3200" dirty="0" smtClean="0"/>
              <a:t>bzoj4446[SCOI2015]</a:t>
            </a:r>
            <a:r>
              <a:rPr lang="en-US" sz="3200" dirty="0" err="1" smtClean="0"/>
              <a:t>小凸玩密室</a:t>
            </a:r>
            <a:endParaRPr lang="zh-CN" altLang="en-US" sz="3200" dirty="0" smtClean="0"/>
          </a:p>
          <a:p>
            <a:r>
              <a:rPr lang="en-US" sz="3200" dirty="0" smtClean="0"/>
              <a:t>bzoj4472[JSOI2015]salesman</a:t>
            </a:r>
            <a:endParaRPr lang="zh-CN" altLang="en-US" sz="3200" dirty="0" smtClean="0"/>
          </a:p>
          <a:p>
            <a:r>
              <a:rPr lang="en-US" sz="3200" dirty="0" smtClean="0"/>
              <a:t>bzoj4753[JSOI2016]</a:t>
            </a:r>
            <a:r>
              <a:rPr lang="en-US" sz="3200" dirty="0" err="1" smtClean="0"/>
              <a:t>最佳团体</a:t>
            </a:r>
            <a:endParaRPr lang="en-US" sz="3200" dirty="0" smtClean="0"/>
          </a:p>
          <a:p>
            <a:r>
              <a:rPr lang="en-US" sz="3200" dirty="0" smtClean="0"/>
              <a:t>bzoj4824[CQOI2017]</a:t>
            </a:r>
            <a:r>
              <a:rPr lang="en-US" sz="3200" dirty="0" err="1" smtClean="0"/>
              <a:t>老C的键盘</a:t>
            </a:r>
            <a:endParaRPr lang="en-US" sz="3200" dirty="0" smtClean="0"/>
          </a:p>
          <a:p>
            <a:r>
              <a:rPr lang="en-US" altLang="zh-CN" sz="3200" dirty="0" smtClean="0"/>
              <a:t>bzoj1131[POI2008]STA</a:t>
            </a:r>
            <a:endParaRPr lang="zh-CN" altLang="en-US" sz="3200" dirty="0" smtClean="0"/>
          </a:p>
          <a:p>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状态压缩动态规划</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状态压缩动态规划</a:t>
            </a:r>
            <a:r>
              <a:rPr lang="en-US" altLang="zh-CN" dirty="0" smtClean="0"/>
              <a:t>(</a:t>
            </a:r>
            <a:r>
              <a:rPr lang="zh-CN" altLang="en-US" dirty="0" smtClean="0"/>
              <a:t>基本概念</a:t>
            </a:r>
            <a:r>
              <a:rPr lang="en-US" altLang="zh-CN" dirty="0" smtClean="0"/>
              <a:t>)</a:t>
            </a:r>
            <a:endParaRPr lang="zh-CN" altLang="en-US" dirty="0"/>
          </a:p>
        </p:txBody>
      </p:sp>
      <p:sp>
        <p:nvSpPr>
          <p:cNvPr id="5" name="内容占位符 4"/>
          <p:cNvSpPr>
            <a:spLocks noGrp="1"/>
          </p:cNvSpPr>
          <p:nvPr>
            <p:ph sz="quarter" idx="1"/>
          </p:nvPr>
        </p:nvSpPr>
        <p:spPr/>
        <p:txBody>
          <a:bodyPr/>
          <a:lstStyle/>
          <a:p>
            <a:r>
              <a:rPr lang="en-US" altLang="zh-CN" sz="2400" dirty="0" smtClean="0"/>
              <a:t>“</a:t>
            </a:r>
            <a:r>
              <a:rPr lang="zh-CN" altLang="en-US" sz="2400" dirty="0" smtClean="0"/>
              <a:t>状态压缩</a:t>
            </a:r>
            <a:r>
              <a:rPr lang="en-US" altLang="zh-CN" sz="2400" dirty="0" smtClean="0"/>
              <a:t>”</a:t>
            </a:r>
            <a:r>
              <a:rPr lang="zh-CN" altLang="en-US" sz="2400" dirty="0" smtClean="0"/>
              <a:t>指用数字表示一个二进制集合</a:t>
            </a:r>
            <a:r>
              <a:rPr lang="en-US" altLang="zh-CN" sz="2400" dirty="0" smtClean="0"/>
              <a:t>,</a:t>
            </a:r>
            <a:r>
              <a:rPr lang="zh-CN" altLang="en-US" sz="2400" dirty="0" smtClean="0"/>
              <a:t>可以用这种形式作为</a:t>
            </a:r>
            <a:r>
              <a:rPr lang="en-US" altLang="zh-CN" sz="2400" dirty="0" smtClean="0"/>
              <a:t>DP</a:t>
            </a:r>
            <a:r>
              <a:rPr lang="zh-CN" altLang="en-US" sz="2400" dirty="0" smtClean="0"/>
              <a:t>的一维</a:t>
            </a:r>
            <a:endParaRPr lang="zh-CN" altLang="en-US" sz="2400" dirty="0" smtClean="0"/>
          </a:p>
          <a:p>
            <a:r>
              <a:rPr lang="zh-CN" altLang="en-US" sz="2400" dirty="0" smtClean="0"/>
              <a:t>状态数目为指数级</a:t>
            </a:r>
            <a:r>
              <a:rPr lang="en-US" altLang="zh-CN" sz="2400" dirty="0" smtClean="0"/>
              <a:t>,</a:t>
            </a:r>
            <a:r>
              <a:rPr lang="zh-CN" altLang="en-US" sz="2400" dirty="0" smtClean="0"/>
              <a:t>数据范围一般不大</a:t>
            </a:r>
            <a:r>
              <a:rPr lang="en-US" altLang="zh-CN" sz="2400" dirty="0" smtClean="0"/>
              <a:t>.</a:t>
            </a:r>
            <a:endParaRPr lang="en-US" altLang="zh-CN" sz="2400" dirty="0" smtClean="0"/>
          </a:p>
          <a:p>
            <a:r>
              <a:rPr lang="zh-CN" altLang="en-US" sz="2400" dirty="0" smtClean="0"/>
              <a:t>例如全集中有</a:t>
            </a:r>
            <a:r>
              <a:rPr lang="en-US" altLang="zh-CN" sz="2400" dirty="0" smtClean="0"/>
              <a:t>3</a:t>
            </a:r>
            <a:r>
              <a:rPr lang="zh-CN" altLang="en-US" sz="2400" dirty="0" smtClean="0"/>
              <a:t>个元素</a:t>
            </a:r>
            <a:r>
              <a:rPr lang="en-US" altLang="zh-CN" sz="2400" dirty="0" smtClean="0"/>
              <a:t>1,2,3,</a:t>
            </a:r>
            <a:r>
              <a:rPr lang="zh-CN" altLang="en-US" sz="2400" dirty="0" smtClean="0"/>
              <a:t>那么我可以用一个三位二进制数表示全集的任意子集</a:t>
            </a:r>
            <a:endParaRPr lang="zh-CN" altLang="en-US" sz="2400" dirty="0" smtClean="0"/>
          </a:p>
          <a:p>
            <a:r>
              <a:rPr lang="zh-CN" altLang="en-US" sz="2400" dirty="0" smtClean="0"/>
              <a:t>一个二进制位对应一个元素</a:t>
            </a:r>
            <a:r>
              <a:rPr lang="en-US" altLang="zh-CN" sz="2400" dirty="0" smtClean="0"/>
              <a:t>,</a:t>
            </a:r>
            <a:r>
              <a:rPr lang="zh-CN" altLang="en-US" sz="2400" dirty="0" smtClean="0"/>
              <a:t>数字某一位是否为</a:t>
            </a:r>
            <a:r>
              <a:rPr lang="en-US" altLang="zh-CN" sz="2400" dirty="0" smtClean="0"/>
              <a:t>1</a:t>
            </a:r>
            <a:r>
              <a:rPr lang="zh-CN" altLang="en-US" sz="2400" dirty="0" smtClean="0"/>
              <a:t>表示对应元素是否存在</a:t>
            </a:r>
            <a:endParaRPr lang="zh-CN" altLang="en-US" sz="2400" dirty="0" smtClean="0"/>
          </a:p>
          <a:p>
            <a:r>
              <a:rPr lang="zh-CN" altLang="en-US" sz="2400" dirty="0" smtClean="0"/>
              <a:t>往往需要用到位运算</a:t>
            </a:r>
            <a:endParaRPr lang="zh-CN" altLang="en-US" sz="2400" dirty="0" smtClean="0"/>
          </a:p>
          <a:p>
            <a:r>
              <a:rPr lang="zh-CN" altLang="en-US" sz="2400" dirty="0" smtClean="0"/>
              <a:t>位运算优先级是个坑</a:t>
            </a:r>
            <a:r>
              <a:rPr lang="en-US" altLang="zh-CN" sz="2400" dirty="0" smtClean="0"/>
              <a:t>,1&lt;&lt;1+1=4,(1&lt;&lt;1)+1=3</a:t>
            </a:r>
            <a:endParaRPr lang="en-US" altLang="zh-CN" sz="2400" dirty="0" smtClean="0"/>
          </a:p>
          <a:p>
            <a:r>
              <a:rPr lang="zh-CN" altLang="en-US" sz="2400" dirty="0" smtClean="0"/>
              <a:t>不确定时</a:t>
            </a:r>
            <a:r>
              <a:rPr lang="en-US" altLang="zh-CN" sz="2400" dirty="0" smtClean="0"/>
              <a:t>,</a:t>
            </a:r>
            <a:r>
              <a:rPr lang="zh-CN" altLang="en-US" sz="2400" dirty="0" smtClean="0"/>
              <a:t>多加括号</a:t>
            </a:r>
            <a:endParaRPr lang="zh-CN" altLang="en-US" sz="2400" dirty="0" smtClean="0"/>
          </a:p>
          <a:p>
            <a:r>
              <a:rPr lang="zh-CN" altLang="en-US" sz="2400" dirty="0" smtClean="0"/>
              <a:t>话说前几天是不是有人给你们讲了位运算了</a:t>
            </a:r>
            <a:r>
              <a:rPr lang="en-US" altLang="zh-CN" sz="2400" dirty="0" smtClean="0"/>
              <a:t>?</a:t>
            </a:r>
            <a:endParaRPr lang="zh-CN" altLang="en-US" sz="2400" dirty="0" smtClean="0"/>
          </a:p>
          <a:p>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状态压缩动态规划</a:t>
            </a:r>
            <a:r>
              <a:rPr lang="en-US" altLang="zh-CN" dirty="0" smtClean="0"/>
              <a:t>(TSP,</a:t>
            </a:r>
            <a:r>
              <a:rPr lang="zh-CN" altLang="en-US" dirty="0" smtClean="0"/>
              <a:t>旅行商问题</a:t>
            </a:r>
            <a:r>
              <a:rPr lang="en-US" altLang="zh-CN" dirty="0" smtClean="0"/>
              <a:t>)</a:t>
            </a:r>
            <a:endParaRPr lang="en-US" altLang="zh-CN" dirty="0"/>
          </a:p>
        </p:txBody>
      </p:sp>
      <p:sp>
        <p:nvSpPr>
          <p:cNvPr id="3" name="内容占位符 2"/>
          <p:cNvSpPr>
            <a:spLocks noGrp="1"/>
          </p:cNvSpPr>
          <p:nvPr>
            <p:ph sz="quarter" idx="1"/>
          </p:nvPr>
        </p:nvSpPr>
        <p:spPr/>
        <p:txBody>
          <a:bodyPr>
            <a:normAutofit/>
          </a:bodyPr>
          <a:lstStyle/>
          <a:p>
            <a:r>
              <a:rPr lang="en-US" altLang="zh-CN" sz="2400" dirty="0"/>
              <a:t>n</a:t>
            </a:r>
            <a:r>
              <a:rPr lang="zh-CN" altLang="en-US" sz="2400" dirty="0"/>
              <a:t>个点</a:t>
            </a:r>
            <a:r>
              <a:rPr lang="en-US" altLang="zh-CN" sz="2400" dirty="0"/>
              <a:t>(n&lt;=15)</a:t>
            </a:r>
            <a:r>
              <a:rPr lang="zh-CN" altLang="en-US" sz="2400" dirty="0"/>
              <a:t>的完全图</a:t>
            </a:r>
            <a:r>
              <a:rPr lang="en-US" altLang="zh-CN" sz="2400" dirty="0"/>
              <a:t>,</a:t>
            </a:r>
            <a:r>
              <a:rPr lang="zh-CN" altLang="en-US" sz="2400" dirty="0"/>
              <a:t>给出边权</a:t>
            </a:r>
            <a:r>
              <a:rPr lang="en-US" altLang="zh-CN" sz="2400" dirty="0"/>
              <a:t>,</a:t>
            </a:r>
            <a:r>
              <a:rPr lang="zh-CN" altLang="en-US" sz="2400" dirty="0"/>
              <a:t>求一条回路经过每个点恰好一次</a:t>
            </a:r>
            <a:r>
              <a:rPr lang="en-US" altLang="zh-CN" sz="2400" dirty="0"/>
              <a:t>,</a:t>
            </a:r>
            <a:r>
              <a:rPr lang="zh-CN" altLang="en-US" sz="2400" dirty="0"/>
              <a:t>使</a:t>
            </a:r>
            <a:r>
              <a:rPr lang="en-US" altLang="zh-CN" sz="2400" dirty="0"/>
              <a:t>n</a:t>
            </a:r>
            <a:r>
              <a:rPr lang="zh-CN" altLang="en-US" sz="2400" dirty="0"/>
              <a:t>条边权值之和最小</a:t>
            </a:r>
            <a:r>
              <a:rPr lang="en-US" altLang="zh-CN" sz="2400" dirty="0"/>
              <a:t>.</a:t>
            </a:r>
            <a:endParaRPr lang="en-US" altLang="zh-CN" sz="2400" dirty="0"/>
          </a:p>
          <a:p>
            <a:r>
              <a:rPr lang="zh-CN" altLang="en-US" sz="2400" dirty="0"/>
              <a:t>考虑状态压缩</a:t>
            </a:r>
            <a:r>
              <a:rPr lang="en-US" altLang="zh-CN" sz="2400" dirty="0"/>
              <a:t>.</a:t>
            </a:r>
            <a:r>
              <a:rPr lang="zh-CN" altLang="en-US" sz="2400" dirty="0"/>
              <a:t>回路无始无终</a:t>
            </a:r>
            <a:r>
              <a:rPr lang="en-US" altLang="zh-CN" sz="2400" dirty="0"/>
              <a:t>,</a:t>
            </a:r>
            <a:r>
              <a:rPr lang="zh-CN" altLang="en-US" sz="2400" dirty="0"/>
              <a:t>可以强制从</a:t>
            </a:r>
            <a:r>
              <a:rPr lang="en-US" altLang="zh-CN" sz="2400" dirty="0"/>
              <a:t>1</a:t>
            </a:r>
            <a:r>
              <a:rPr lang="zh-CN" altLang="en-US" sz="2400" dirty="0"/>
              <a:t>号点开始走</a:t>
            </a:r>
            <a:r>
              <a:rPr lang="en-US" altLang="zh-CN" sz="2400" dirty="0"/>
              <a:t>.</a:t>
            </a:r>
            <a:endParaRPr lang="en-US" altLang="zh-CN" sz="2400" dirty="0"/>
          </a:p>
          <a:p>
            <a:r>
              <a:rPr lang="zh-CN" altLang="en-US" sz="2400" dirty="0"/>
              <a:t>一维是走过的点数</a:t>
            </a:r>
            <a:r>
              <a:rPr lang="en-US" altLang="zh-CN" sz="2400" dirty="0"/>
              <a:t>,</a:t>
            </a:r>
            <a:r>
              <a:rPr lang="zh-CN" altLang="en-US" sz="2400" dirty="0"/>
              <a:t>一维是走过的点的集合</a:t>
            </a:r>
            <a:r>
              <a:rPr lang="en-US" altLang="zh-CN" sz="2400" dirty="0"/>
              <a:t>,</a:t>
            </a:r>
            <a:r>
              <a:rPr lang="zh-CN" altLang="en-US" sz="2400" dirty="0"/>
              <a:t>一维是当前在哪个点</a:t>
            </a:r>
            <a:r>
              <a:rPr lang="en-US" altLang="zh-CN" sz="2400" dirty="0"/>
              <a:t>.</a:t>
            </a:r>
            <a:endParaRPr lang="en-US" altLang="zh-CN" sz="2400" dirty="0"/>
          </a:p>
          <a:p>
            <a:r>
              <a:rPr lang="zh-CN" altLang="en-US" sz="2400" dirty="0"/>
              <a:t>走过的点数不用存</a:t>
            </a:r>
            <a:r>
              <a:rPr lang="en-US" altLang="zh-CN" sz="2400" dirty="0"/>
              <a:t>...</a:t>
            </a:r>
            <a:endParaRPr lang="en-US" altLang="zh-CN" sz="2400" dirty="0"/>
          </a:p>
          <a:p>
            <a:r>
              <a:rPr lang="zh-CN" altLang="en-US" sz="2400" dirty="0"/>
              <a:t>对每个状态</a:t>
            </a:r>
            <a:r>
              <a:rPr lang="en-US" altLang="zh-CN" sz="2400" dirty="0"/>
              <a:t>f[S][</a:t>
            </a:r>
            <a:r>
              <a:rPr lang="en-US" altLang="zh-CN" sz="2400" dirty="0" err="1"/>
              <a:t>i</a:t>
            </a:r>
            <a:r>
              <a:rPr lang="en-US" altLang="zh-CN" sz="2400" dirty="0"/>
              <a:t>],</a:t>
            </a:r>
            <a:r>
              <a:rPr lang="zh-CN" altLang="en-US" sz="2400" dirty="0"/>
              <a:t>枚举上一次从哪个点走到了</a:t>
            </a:r>
            <a:r>
              <a:rPr lang="en-US" altLang="zh-CN" sz="2400" dirty="0" err="1"/>
              <a:t>i</a:t>
            </a:r>
            <a:endParaRPr lang="en-US" altLang="zh-CN" sz="2400" dirty="0"/>
          </a:p>
          <a:p>
            <a:r>
              <a:rPr lang="zh-CN" altLang="en-US" sz="2400" dirty="0"/>
              <a:t>如果只要求每个点至少经过一次？</a:t>
            </a:r>
            <a:endParaRPr lang="zh-CN" altLang="en-US" sz="2400" dirty="0"/>
          </a:p>
          <a:p>
            <a:r>
              <a:rPr lang="zh-CN" altLang="en-US" sz="2400" dirty="0"/>
              <a:t>先用</a:t>
            </a:r>
            <a:r>
              <a:rPr lang="en-US" altLang="zh-CN" sz="2400" dirty="0" err="1"/>
              <a:t>floyd</a:t>
            </a:r>
            <a:r>
              <a:rPr lang="zh-CN" altLang="en-US" sz="2400" dirty="0"/>
              <a:t>求一遍最短路</a:t>
            </a:r>
            <a:endParaRPr lang="zh-CN" altLang="en-US" sz="2400"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NOIP2016 </a:t>
            </a:r>
            <a:r>
              <a:rPr lang="zh-CN" altLang="en-US" dirty="0" smtClean="0"/>
              <a:t>愤怒的小鸟</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懒得粘题面</a:t>
            </a:r>
            <a:r>
              <a:rPr lang="en-US" altLang="zh-CN" sz="2400" dirty="0" smtClean="0"/>
              <a:t>,</a:t>
            </a:r>
            <a:r>
              <a:rPr lang="zh-CN" altLang="en-US" sz="2400" dirty="0" smtClean="0"/>
              <a:t>去</a:t>
            </a:r>
            <a:r>
              <a:rPr lang="en-US" altLang="zh-CN" sz="2400" dirty="0" smtClean="0"/>
              <a:t>UOJ</a:t>
            </a:r>
            <a:r>
              <a:rPr lang="zh-CN" altLang="en-US" sz="2400" dirty="0" smtClean="0"/>
              <a:t>看题吧</a:t>
            </a:r>
            <a:r>
              <a:rPr lang="en-US" altLang="zh-CN" sz="2400" dirty="0" smtClean="0"/>
              <a:t>.</a:t>
            </a:r>
            <a:endParaRPr lang="en-US" altLang="zh-CN" sz="2400" dirty="0" smtClean="0"/>
          </a:p>
          <a:p>
            <a:r>
              <a:rPr lang="en-US" altLang="zh-CN" sz="2400" dirty="0" smtClean="0">
                <a:hlinkClick r:id="rId1"/>
              </a:rPr>
              <a:t>http://uoj.ac/problem/265</a:t>
            </a:r>
            <a:r>
              <a:rPr lang="en-US" altLang="zh-CN" sz="2400" dirty="0" smtClean="0"/>
              <a:t> </a:t>
            </a:r>
            <a:endParaRPr lang="en-US" altLang="zh-CN" sz="2400" dirty="0" smtClean="0"/>
          </a:p>
          <a:p>
            <a:r>
              <a:rPr lang="zh-CN" altLang="en-US" sz="2400" dirty="0" smtClean="0"/>
              <a:t>注意到抛物线有无限条</a:t>
            </a:r>
            <a:r>
              <a:rPr lang="en-US" altLang="zh-CN" sz="2400" dirty="0" smtClean="0"/>
              <a:t>,</a:t>
            </a:r>
            <a:r>
              <a:rPr lang="zh-CN" altLang="en-US" sz="2400" dirty="0" smtClean="0"/>
              <a:t>但不是所有抛物线都有用</a:t>
            </a:r>
            <a:endParaRPr lang="en-US" altLang="zh-CN" sz="2400" dirty="0" smtClean="0"/>
          </a:p>
          <a:p>
            <a:r>
              <a:rPr lang="zh-CN" altLang="en-US" sz="2400" dirty="0" smtClean="0"/>
              <a:t>比如一只猪都打不着的抛物线是没有用的</a:t>
            </a:r>
            <a:endParaRPr lang="en-US" altLang="zh-CN" sz="2400" dirty="0" smtClean="0"/>
          </a:p>
          <a:p>
            <a:r>
              <a:rPr lang="zh-CN" altLang="en-US" sz="2400" dirty="0" smtClean="0"/>
              <a:t>三点确定一条抛物线</a:t>
            </a:r>
            <a:r>
              <a:rPr lang="en-US" altLang="zh-CN" sz="2400" dirty="0" smtClean="0"/>
              <a:t>,</a:t>
            </a:r>
            <a:r>
              <a:rPr lang="zh-CN" altLang="en-US" sz="2400" dirty="0" smtClean="0"/>
              <a:t>也就是说我们可以枚举两只被打中的猪</a:t>
            </a:r>
            <a:r>
              <a:rPr lang="en-US" altLang="zh-CN" sz="2400" dirty="0" smtClean="0"/>
              <a:t>,</a:t>
            </a:r>
            <a:r>
              <a:rPr lang="zh-CN" altLang="en-US" sz="2400" dirty="0" smtClean="0"/>
              <a:t>加上</a:t>
            </a:r>
            <a:r>
              <a:rPr lang="en-US" altLang="zh-CN" sz="2400" dirty="0" smtClean="0"/>
              <a:t>(0,0),</a:t>
            </a:r>
            <a:r>
              <a:rPr lang="zh-CN" altLang="en-US" sz="2400" dirty="0" smtClean="0"/>
              <a:t>这条抛物线就确定了</a:t>
            </a:r>
            <a:r>
              <a:rPr lang="en-US" altLang="zh-CN" sz="2400" dirty="0" smtClean="0"/>
              <a:t>.</a:t>
            </a:r>
            <a:endParaRPr lang="en-US" altLang="zh-CN" sz="2400" dirty="0" smtClean="0"/>
          </a:p>
          <a:p>
            <a:r>
              <a:rPr lang="zh-CN" altLang="en-US" sz="2400" dirty="0" smtClean="0"/>
              <a:t>这条抛物线也可能打到不止两只的猪</a:t>
            </a:r>
            <a:r>
              <a:rPr lang="en-US" altLang="zh-CN" sz="2400" dirty="0" smtClean="0"/>
              <a:t>.</a:t>
            </a:r>
            <a:endParaRPr lang="en-US" altLang="zh-CN" sz="2400" dirty="0" smtClean="0"/>
          </a:p>
          <a:p>
            <a:r>
              <a:rPr lang="zh-CN" altLang="en-US" sz="2400" dirty="0" smtClean="0"/>
              <a:t>总共</a:t>
            </a:r>
            <a:r>
              <a:rPr lang="en-US" altLang="zh-CN" sz="2400" dirty="0" smtClean="0"/>
              <a:t>O(n^2)</a:t>
            </a:r>
            <a:r>
              <a:rPr lang="zh-CN" altLang="en-US" sz="2400" dirty="0" smtClean="0"/>
              <a:t>条抛物线</a:t>
            </a:r>
            <a:r>
              <a:rPr lang="en-US" altLang="zh-CN" sz="2400" dirty="0" smtClean="0"/>
              <a:t>,</a:t>
            </a:r>
            <a:r>
              <a:rPr lang="zh-CN" altLang="en-US" sz="2400" dirty="0" smtClean="0"/>
              <a:t>对每条抛物线预处理出能打到的猪的集合</a:t>
            </a:r>
            <a:endParaRPr lang="en-US" altLang="zh-CN" sz="2400" dirty="0" smtClean="0"/>
          </a:p>
          <a:p>
            <a:r>
              <a:rPr lang="zh-CN" altLang="en-US" sz="2400" dirty="0" smtClean="0"/>
              <a:t>我们要选出尽量少的抛物线使得打到的猪的集合的并集为全集</a:t>
            </a:r>
            <a:endParaRPr lang="zh-CN" alt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NOIP2016 </a:t>
            </a:r>
            <a:r>
              <a:rPr lang="zh-CN" altLang="en-US" dirty="0" smtClean="0"/>
              <a:t>愤怒的小鸟</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依次考虑使用每一条抛物线</a:t>
            </a:r>
            <a:r>
              <a:rPr lang="en-US" altLang="zh-CN" sz="2400" dirty="0" smtClean="0"/>
              <a:t>.</a:t>
            </a:r>
            <a:r>
              <a:rPr lang="zh-CN" altLang="en-US" sz="2400" dirty="0" smtClean="0"/>
              <a:t>这里似乎和背包有些像</a:t>
            </a:r>
            <a:r>
              <a:rPr lang="en-US" altLang="zh-CN" sz="2400" dirty="0" smtClean="0"/>
              <a:t>.</a:t>
            </a:r>
            <a:endParaRPr lang="en-US" altLang="zh-CN" sz="2400" dirty="0" smtClean="0"/>
          </a:p>
          <a:p>
            <a:r>
              <a:rPr lang="zh-CN" altLang="en-US" sz="2400" dirty="0" smtClean="0"/>
              <a:t>定义</a:t>
            </a:r>
            <a:r>
              <a:rPr lang="en-US" altLang="zh-CN" sz="2400" dirty="0" smtClean="0"/>
              <a:t>f[</a:t>
            </a:r>
            <a:r>
              <a:rPr lang="en-US" altLang="zh-CN" sz="2400" dirty="0" err="1" smtClean="0"/>
              <a:t>i</a:t>
            </a:r>
            <a:r>
              <a:rPr lang="en-US" altLang="zh-CN" sz="2400" dirty="0" smtClean="0"/>
              <a:t>][j]</a:t>
            </a:r>
            <a:r>
              <a:rPr lang="zh-CN" altLang="en-US" sz="2400" dirty="0" smtClean="0"/>
              <a:t>表示在前</a:t>
            </a:r>
            <a:r>
              <a:rPr lang="en-US" altLang="zh-CN" sz="2400" dirty="0" err="1" smtClean="0"/>
              <a:t>i</a:t>
            </a:r>
            <a:r>
              <a:rPr lang="zh-CN" altLang="en-US" sz="2400" dirty="0" smtClean="0"/>
              <a:t>条抛物线中使用若干条</a:t>
            </a:r>
            <a:r>
              <a:rPr lang="en-US" altLang="zh-CN" sz="2400" dirty="0" smtClean="0"/>
              <a:t>,</a:t>
            </a:r>
            <a:r>
              <a:rPr lang="zh-CN" altLang="en-US" sz="2400" dirty="0" smtClean="0"/>
              <a:t>打掉集合</a:t>
            </a:r>
            <a:r>
              <a:rPr lang="en-US" altLang="zh-CN" sz="2400" dirty="0" smtClean="0"/>
              <a:t>j</a:t>
            </a:r>
            <a:r>
              <a:rPr lang="zh-CN" altLang="en-US" sz="2400" dirty="0" smtClean="0"/>
              <a:t>里的猪</a:t>
            </a:r>
            <a:r>
              <a:rPr lang="en-US" altLang="zh-CN" sz="2400" dirty="0" smtClean="0"/>
              <a:t>,</a:t>
            </a:r>
            <a:r>
              <a:rPr lang="zh-CN" altLang="en-US" sz="2400" dirty="0" smtClean="0"/>
              <a:t>所使用的抛物线最小条数</a:t>
            </a:r>
            <a:r>
              <a:rPr lang="en-US" altLang="zh-CN" sz="2400" dirty="0" smtClean="0"/>
              <a:t>.</a:t>
            </a:r>
            <a:endParaRPr lang="en-US" altLang="zh-CN" sz="2400" dirty="0" smtClean="0"/>
          </a:p>
          <a:p>
            <a:r>
              <a:rPr lang="zh-CN" altLang="en-US" sz="2400" dirty="0" smtClean="0"/>
              <a:t>每条抛物线需要</a:t>
            </a:r>
            <a:r>
              <a:rPr lang="en-US" altLang="zh-CN" sz="2400" dirty="0" smtClean="0"/>
              <a:t>O(2^n)</a:t>
            </a:r>
            <a:r>
              <a:rPr lang="zh-CN" altLang="en-US" sz="2400" dirty="0" smtClean="0"/>
              <a:t>进行更新</a:t>
            </a:r>
            <a:r>
              <a:rPr lang="en-US" altLang="zh-CN" sz="2400" dirty="0" smtClean="0"/>
              <a:t>,</a:t>
            </a:r>
            <a:r>
              <a:rPr lang="zh-CN" altLang="en-US" sz="2400" dirty="0" smtClean="0"/>
              <a:t>总复杂度为</a:t>
            </a:r>
            <a:r>
              <a:rPr lang="en-US" altLang="zh-CN" sz="2400" dirty="0" smtClean="0"/>
              <a:t>O(2^n*n^2*T)</a:t>
            </a:r>
            <a:endParaRPr lang="en-US" altLang="zh-CN" sz="2400" dirty="0" smtClean="0"/>
          </a:p>
          <a:p>
            <a:r>
              <a:rPr lang="zh-CN" altLang="en-US" sz="2400" dirty="0" smtClean="0"/>
              <a:t>状压的常数比较小</a:t>
            </a:r>
            <a:r>
              <a:rPr lang="en-US" altLang="zh-CN" sz="2400" dirty="0" smtClean="0"/>
              <a:t>,</a:t>
            </a:r>
            <a:r>
              <a:rPr lang="zh-CN" altLang="en-US" sz="2400" dirty="0" smtClean="0"/>
              <a:t>是可以跑过去的</a:t>
            </a:r>
            <a:r>
              <a:rPr lang="en-US" altLang="zh-CN" sz="2400" dirty="0" smtClean="0"/>
              <a:t>.</a:t>
            </a:r>
            <a:endParaRPr lang="en-US" altLang="zh-CN" sz="2400" dirty="0" smtClean="0"/>
          </a:p>
          <a:p>
            <a:r>
              <a:rPr lang="zh-CN" altLang="en-US" sz="2400" dirty="0" smtClean="0"/>
              <a:t>空间复杂度可以做到</a:t>
            </a:r>
            <a:r>
              <a:rPr lang="en-US" altLang="zh-CN" sz="2400" dirty="0" smtClean="0"/>
              <a:t>O(2^n)</a:t>
            </a:r>
            <a:endParaRPr lang="zh-CN"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bzoj4145: [AMPPZ2014]The Prices</a:t>
            </a:r>
            <a:endParaRPr lang="en-US" dirty="0"/>
          </a:p>
        </p:txBody>
      </p:sp>
      <p:sp>
        <p:nvSpPr>
          <p:cNvPr id="3" name="内容占位符 2"/>
          <p:cNvSpPr>
            <a:spLocks noGrp="1"/>
          </p:cNvSpPr>
          <p:nvPr>
            <p:ph sz="quarter" idx="1"/>
          </p:nvPr>
        </p:nvSpPr>
        <p:spPr/>
        <p:txBody>
          <a:bodyPr>
            <a:normAutofit/>
          </a:bodyPr>
          <a:lstStyle/>
          <a:p>
            <a:r>
              <a:rPr lang="zh-CN" altLang="en-US" sz="2400" dirty="0" smtClean="0"/>
              <a:t>你要购买</a:t>
            </a:r>
            <a:r>
              <a:rPr lang="en-US" altLang="zh-CN" sz="2400" dirty="0" smtClean="0"/>
              <a:t>m</a:t>
            </a:r>
            <a:r>
              <a:rPr lang="zh-CN" altLang="en-US" sz="2400" dirty="0" smtClean="0"/>
              <a:t>种物品各一件</a:t>
            </a:r>
            <a:r>
              <a:rPr lang="en-US" altLang="zh-CN" sz="2400" dirty="0" smtClean="0"/>
              <a:t>,</a:t>
            </a:r>
            <a:r>
              <a:rPr lang="zh-CN" altLang="en-US" sz="2400" dirty="0" smtClean="0"/>
              <a:t>一共有</a:t>
            </a:r>
            <a:r>
              <a:rPr lang="en-US" altLang="zh-CN" sz="2400" dirty="0" smtClean="0"/>
              <a:t>n</a:t>
            </a:r>
            <a:r>
              <a:rPr lang="zh-CN" altLang="en-US" sz="2400" dirty="0" smtClean="0"/>
              <a:t>家商店</a:t>
            </a:r>
            <a:r>
              <a:rPr lang="en-US" altLang="zh-CN" sz="2400" dirty="0" smtClean="0"/>
              <a:t>,</a:t>
            </a:r>
            <a:r>
              <a:rPr lang="zh-CN" altLang="en-US" sz="2400" dirty="0" smtClean="0"/>
              <a:t>到第</a:t>
            </a:r>
            <a:r>
              <a:rPr lang="en-US" altLang="zh-CN" sz="2400" dirty="0" err="1" smtClean="0"/>
              <a:t>i</a:t>
            </a:r>
            <a:r>
              <a:rPr lang="zh-CN" altLang="en-US" sz="2400" dirty="0" smtClean="0"/>
              <a:t>家商店的路费为</a:t>
            </a:r>
            <a:r>
              <a:rPr lang="en-US" altLang="zh-CN" sz="2400" dirty="0" smtClean="0"/>
              <a:t>d[</a:t>
            </a:r>
            <a:r>
              <a:rPr lang="en-US" altLang="zh-CN" sz="2400" dirty="0" err="1" smtClean="0"/>
              <a:t>i</a:t>
            </a:r>
            <a:r>
              <a:rPr lang="en-US" altLang="zh-CN" sz="2400" dirty="0" smtClean="0"/>
              <a:t>],</a:t>
            </a:r>
            <a:r>
              <a:rPr lang="zh-CN" altLang="en-US" sz="2400" dirty="0" smtClean="0"/>
              <a:t>在第</a:t>
            </a:r>
            <a:r>
              <a:rPr lang="en-US" altLang="zh-CN" sz="2400" dirty="0" err="1" smtClean="0"/>
              <a:t>i</a:t>
            </a:r>
            <a:r>
              <a:rPr lang="zh-CN" altLang="en-US" sz="2400" dirty="0" smtClean="0"/>
              <a:t>家商店购买第</a:t>
            </a:r>
            <a:r>
              <a:rPr lang="en-US" altLang="zh-CN" sz="2400" dirty="0" smtClean="0"/>
              <a:t>j</a:t>
            </a:r>
            <a:r>
              <a:rPr lang="zh-CN" altLang="en-US" sz="2400" dirty="0" smtClean="0"/>
              <a:t>种物品的费用为</a:t>
            </a:r>
            <a:r>
              <a:rPr lang="en-US" altLang="zh-CN" sz="2400" dirty="0" smtClean="0"/>
              <a:t>c[</a:t>
            </a:r>
            <a:r>
              <a:rPr lang="en-US" altLang="zh-CN" sz="2400" dirty="0" err="1" smtClean="0"/>
              <a:t>i</a:t>
            </a:r>
            <a:r>
              <a:rPr lang="en-US" altLang="zh-CN" sz="2400" dirty="0" smtClean="0"/>
              <a:t>][j],</a:t>
            </a:r>
            <a:r>
              <a:rPr lang="zh-CN" altLang="en-US" sz="2400" dirty="0" smtClean="0"/>
              <a:t>求最小总费用</a:t>
            </a:r>
            <a:r>
              <a:rPr lang="en-US" altLang="zh-CN" sz="2400" dirty="0" smtClean="0"/>
              <a:t>.</a:t>
            </a:r>
            <a:endParaRPr lang="en-US" altLang="zh-CN" sz="2400" dirty="0" smtClean="0"/>
          </a:p>
          <a:p>
            <a:r>
              <a:rPr lang="zh-CN" altLang="en-US" sz="2400" dirty="0" smtClean="0"/>
              <a:t>如果在某家商店不买物品</a:t>
            </a:r>
            <a:r>
              <a:rPr lang="en-US" altLang="zh-CN" sz="2400" dirty="0" smtClean="0"/>
              <a:t>,</a:t>
            </a:r>
            <a:r>
              <a:rPr lang="zh-CN" altLang="en-US" sz="2400" dirty="0" smtClean="0"/>
              <a:t>则不需要花费到达这家商店的路费</a:t>
            </a:r>
            <a:r>
              <a:rPr lang="en-US" altLang="zh-CN" sz="2400" dirty="0" smtClean="0"/>
              <a:t>.</a:t>
            </a:r>
            <a:r>
              <a:rPr lang="zh-CN" altLang="en-US" sz="2400" dirty="0" smtClean="0"/>
              <a:t>如果在这家商店买了至少一件物品</a:t>
            </a:r>
            <a:r>
              <a:rPr lang="en-US" altLang="zh-CN" sz="2400" dirty="0" smtClean="0"/>
              <a:t>,</a:t>
            </a:r>
            <a:r>
              <a:rPr lang="zh-CN" altLang="en-US" sz="2400" dirty="0" smtClean="0"/>
              <a:t>则需要花费</a:t>
            </a:r>
            <a:r>
              <a:rPr lang="en-US" altLang="zh-CN" sz="2400" dirty="0" smtClean="0"/>
              <a:t>d[</a:t>
            </a:r>
            <a:r>
              <a:rPr lang="en-US" altLang="zh-CN" sz="2400" dirty="0" err="1" smtClean="0"/>
              <a:t>i</a:t>
            </a:r>
            <a:r>
              <a:rPr lang="en-US" altLang="zh-CN" sz="2400" dirty="0" smtClean="0"/>
              <a:t>].</a:t>
            </a:r>
            <a:endParaRPr lang="en-US" altLang="zh-CN" sz="2400" dirty="0" smtClean="0"/>
          </a:p>
          <a:p>
            <a:r>
              <a:rPr lang="pt-BR" sz="2400" dirty="0" smtClean="0"/>
              <a:t>1&lt;=n&lt;=1</a:t>
            </a:r>
            <a:r>
              <a:rPr lang="en-US" altLang="zh-CN" sz="2400" dirty="0" smtClean="0"/>
              <a:t>60</a:t>
            </a:r>
            <a:r>
              <a:rPr lang="pt-BR" sz="2400" dirty="0" smtClean="0"/>
              <a:t>,1&lt;=m&lt;=16,</a:t>
            </a:r>
            <a:r>
              <a:rPr lang="en-US" sz="2400" dirty="0" smtClean="0"/>
              <a:t> 1&lt;=d[</a:t>
            </a:r>
            <a:r>
              <a:rPr lang="en-US" sz="2400" dirty="0" err="1" smtClean="0"/>
              <a:t>i</a:t>
            </a:r>
            <a:r>
              <a:rPr lang="en-US" sz="2400" dirty="0" smtClean="0"/>
              <a:t>]&lt;=1000000, 1&lt;=c[</a:t>
            </a:r>
            <a:r>
              <a:rPr lang="en-US" sz="2400" dirty="0" err="1" smtClean="0"/>
              <a:t>i</a:t>
            </a:r>
            <a:r>
              <a:rPr lang="en-US" sz="2400" dirty="0" smtClean="0"/>
              <a:t>][j]&lt;=1000000</a:t>
            </a:r>
            <a:endParaRPr lang="zh-CN" altLang="en-US" sz="2400" dirty="0" smtClean="0"/>
          </a:p>
          <a:p>
            <a:r>
              <a:rPr lang="zh-CN" altLang="en-US" sz="2400" dirty="0" smtClean="0"/>
              <a:t>有人不知道该对什么东西做状压吗</a:t>
            </a: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bzoj4145: [AMPPZ2014]The Prices</a:t>
            </a:r>
            <a:endParaRPr lang="zh-CN" altLang="en-US" dirty="0"/>
          </a:p>
        </p:txBody>
      </p:sp>
      <p:sp>
        <p:nvSpPr>
          <p:cNvPr id="3" name="内容占位符 2"/>
          <p:cNvSpPr>
            <a:spLocks noGrp="1"/>
          </p:cNvSpPr>
          <p:nvPr>
            <p:ph sz="quarter" idx="1"/>
          </p:nvPr>
        </p:nvSpPr>
        <p:spPr/>
        <p:txBody>
          <a:bodyPr/>
          <a:lstStyle/>
          <a:p>
            <a:r>
              <a:rPr lang="zh-CN" altLang="en-US" dirty="0" smtClean="0"/>
              <a:t>在看到</a:t>
            </a:r>
            <a:r>
              <a:rPr lang="en-US" altLang="zh-CN" dirty="0" smtClean="0"/>
              <a:t>m&lt;=16</a:t>
            </a:r>
            <a:r>
              <a:rPr lang="zh-CN" altLang="en-US" dirty="0" smtClean="0"/>
              <a:t>的数据范围时</a:t>
            </a:r>
            <a:r>
              <a:rPr lang="en-US" altLang="zh-CN" dirty="0" smtClean="0"/>
              <a:t>,</a:t>
            </a:r>
            <a:r>
              <a:rPr lang="zh-CN" altLang="en-US" dirty="0" smtClean="0"/>
              <a:t>应当考虑状压</a:t>
            </a:r>
            <a:r>
              <a:rPr lang="en-US" altLang="zh-CN" dirty="0" smtClean="0"/>
              <a:t>.</a:t>
            </a:r>
            <a:endParaRPr lang="en-US" altLang="zh-CN" dirty="0" smtClean="0"/>
          </a:p>
          <a:p>
            <a:r>
              <a:rPr lang="zh-CN" altLang="en-US" dirty="0" smtClean="0"/>
              <a:t>然后依次考虑每一家店</a:t>
            </a:r>
            <a:endParaRPr lang="en-US" altLang="zh-CN" dirty="0" smtClean="0"/>
          </a:p>
          <a:p>
            <a:r>
              <a:rPr lang="en-US" altLang="zh-CN" dirty="0" smtClean="0"/>
              <a:t>f[</a:t>
            </a:r>
            <a:r>
              <a:rPr lang="en-US" altLang="zh-CN" dirty="0" err="1" smtClean="0"/>
              <a:t>i</a:t>
            </a:r>
            <a:r>
              <a:rPr lang="en-US" altLang="zh-CN" dirty="0" smtClean="0"/>
              <a:t>][S]</a:t>
            </a:r>
            <a:r>
              <a:rPr lang="zh-CN" altLang="en-US" dirty="0" smtClean="0"/>
              <a:t>表示考虑了前</a:t>
            </a:r>
            <a:r>
              <a:rPr lang="en-US" altLang="zh-CN" dirty="0" err="1" smtClean="0"/>
              <a:t>i</a:t>
            </a:r>
            <a:r>
              <a:rPr lang="zh-CN" altLang="en-US" dirty="0" smtClean="0"/>
              <a:t>家店</a:t>
            </a:r>
            <a:r>
              <a:rPr lang="en-US" altLang="zh-CN" dirty="0" smtClean="0"/>
              <a:t>,</a:t>
            </a:r>
            <a:r>
              <a:rPr lang="zh-CN" altLang="en-US" dirty="0" smtClean="0"/>
              <a:t>买了集合</a:t>
            </a:r>
            <a:r>
              <a:rPr lang="en-US" altLang="zh-CN" dirty="0" smtClean="0"/>
              <a:t>S</a:t>
            </a:r>
            <a:r>
              <a:rPr lang="zh-CN" altLang="en-US" dirty="0" smtClean="0"/>
              <a:t>的物品</a:t>
            </a:r>
            <a:r>
              <a:rPr lang="en-US" altLang="zh-CN" dirty="0" smtClean="0"/>
              <a:t>,</a:t>
            </a:r>
            <a:r>
              <a:rPr lang="zh-CN" altLang="en-US" dirty="0" smtClean="0"/>
              <a:t>最小的花费</a:t>
            </a:r>
            <a:r>
              <a:rPr lang="en-US" altLang="zh-CN" dirty="0" smtClean="0"/>
              <a:t>(</a:t>
            </a:r>
            <a:r>
              <a:rPr lang="zh-CN" altLang="en-US" dirty="0" smtClean="0"/>
              <a:t>包括物品价格和路费</a:t>
            </a:r>
            <a:r>
              <a:rPr lang="en-US" altLang="zh-CN" dirty="0" smtClean="0"/>
              <a:t>)</a:t>
            </a:r>
            <a:endParaRPr lang="en-US" altLang="zh-CN" dirty="0" smtClean="0"/>
          </a:p>
          <a:p>
            <a:r>
              <a:rPr lang="zh-CN" altLang="en-US" dirty="0" smtClean="0"/>
              <a:t>转移会有两种</a:t>
            </a:r>
            <a:r>
              <a:rPr lang="en-US" altLang="zh-CN" dirty="0" smtClean="0"/>
              <a:t>,</a:t>
            </a:r>
            <a:r>
              <a:rPr lang="zh-CN" altLang="en-US" dirty="0" smtClean="0"/>
              <a:t>考虑是否在第</a:t>
            </a:r>
            <a:r>
              <a:rPr lang="en-US" altLang="zh-CN" dirty="0" err="1" smtClean="0"/>
              <a:t>i</a:t>
            </a:r>
            <a:r>
              <a:rPr lang="zh-CN" altLang="en-US" dirty="0" smtClean="0"/>
              <a:t>家店买东西</a:t>
            </a:r>
            <a:r>
              <a:rPr lang="en-US" altLang="zh-CN" dirty="0" smtClean="0"/>
              <a:t>.</a:t>
            </a:r>
            <a:endParaRPr lang="en-US" altLang="zh-CN" dirty="0" smtClean="0"/>
          </a:p>
          <a:p>
            <a:r>
              <a:rPr lang="zh-CN" altLang="en-US" dirty="0" smtClean="0"/>
              <a:t>如果不在第</a:t>
            </a:r>
            <a:r>
              <a:rPr lang="en-US" altLang="zh-CN" dirty="0" err="1" smtClean="0"/>
              <a:t>i</a:t>
            </a:r>
            <a:r>
              <a:rPr lang="zh-CN" altLang="en-US" dirty="0" smtClean="0"/>
              <a:t>家店买东西</a:t>
            </a:r>
            <a:r>
              <a:rPr lang="en-US" altLang="zh-CN" dirty="0" smtClean="0"/>
              <a:t>,</a:t>
            </a:r>
            <a:r>
              <a:rPr lang="zh-CN" altLang="en-US" dirty="0" smtClean="0"/>
              <a:t>直接把上一层数组拿下来就好了</a:t>
            </a:r>
            <a:r>
              <a:rPr lang="en-US" altLang="zh-CN" dirty="0" smtClean="0"/>
              <a:t>.</a:t>
            </a:r>
            <a:endParaRPr lang="en-US" altLang="zh-CN" dirty="0" smtClean="0"/>
          </a:p>
          <a:p>
            <a:r>
              <a:rPr lang="zh-CN" altLang="en-US" dirty="0" smtClean="0"/>
              <a:t>如果在第</a:t>
            </a:r>
            <a:r>
              <a:rPr lang="en-US" altLang="zh-CN" dirty="0" err="1" smtClean="0"/>
              <a:t>i</a:t>
            </a:r>
            <a:r>
              <a:rPr lang="zh-CN" altLang="en-US" dirty="0" smtClean="0"/>
              <a:t>家店买东西</a:t>
            </a:r>
            <a:r>
              <a:rPr lang="en-US" altLang="zh-CN" dirty="0" smtClean="0"/>
              <a:t>,</a:t>
            </a:r>
            <a:r>
              <a:rPr lang="zh-CN" altLang="en-US" dirty="0" smtClean="0"/>
              <a:t>肯定要付出</a:t>
            </a:r>
            <a:r>
              <a:rPr lang="en-US" altLang="zh-CN" dirty="0" smtClean="0"/>
              <a:t>d[</a:t>
            </a:r>
            <a:r>
              <a:rPr lang="en-US" altLang="zh-CN" dirty="0" err="1" smtClean="0"/>
              <a:t>i</a:t>
            </a:r>
            <a:r>
              <a:rPr lang="en-US" altLang="zh-CN" dirty="0" smtClean="0"/>
              <a:t>]</a:t>
            </a:r>
            <a:r>
              <a:rPr lang="zh-CN" altLang="en-US" dirty="0" smtClean="0"/>
              <a:t>的代价</a:t>
            </a:r>
            <a:r>
              <a:rPr lang="en-US" altLang="zh-CN" dirty="0" smtClean="0"/>
              <a:t>,</a:t>
            </a:r>
            <a:r>
              <a:rPr lang="zh-CN" altLang="en-US" dirty="0" smtClean="0"/>
              <a:t>然后呢</a:t>
            </a:r>
            <a:r>
              <a:rPr lang="en-US" altLang="zh-CN" dirty="0" smtClean="0"/>
              <a:t>?</a:t>
            </a:r>
            <a:r>
              <a:rPr lang="zh-CN" altLang="en-US" dirty="0" smtClean="0"/>
              <a:t>枚举在前</a:t>
            </a:r>
            <a:r>
              <a:rPr lang="en-US" altLang="zh-CN" dirty="0" smtClean="0"/>
              <a:t>i-1</a:t>
            </a:r>
            <a:r>
              <a:rPr lang="zh-CN" altLang="en-US" dirty="0" smtClean="0"/>
              <a:t>家店和第</a:t>
            </a:r>
            <a:r>
              <a:rPr lang="en-US" altLang="zh-CN" dirty="0" err="1" smtClean="0"/>
              <a:t>i</a:t>
            </a:r>
            <a:r>
              <a:rPr lang="zh-CN" altLang="en-US" dirty="0" smtClean="0"/>
              <a:t>家店买的物品的集合</a:t>
            </a:r>
            <a:r>
              <a:rPr lang="en-US" altLang="zh-CN" dirty="0" smtClean="0"/>
              <a:t>?</a:t>
            </a:r>
            <a:r>
              <a:rPr lang="zh-CN" altLang="en-US" dirty="0" smtClean="0"/>
              <a:t>好像会</a:t>
            </a:r>
            <a:r>
              <a:rPr lang="en-US" altLang="zh-CN" dirty="0" smtClean="0"/>
              <a:t>TLE</a:t>
            </a:r>
            <a:r>
              <a:rPr lang="zh-CN" altLang="en-US" dirty="0" smtClean="0"/>
              <a:t>的</a:t>
            </a:r>
            <a:r>
              <a:rPr lang="en-US" altLang="zh-CN" dirty="0" smtClean="0"/>
              <a:t>…</a:t>
            </a:r>
            <a:endParaRPr lang="en-US" altLang="zh-CN"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bzoj4145: [AMPPZ2014]The Prices</a:t>
            </a:r>
            <a:endParaRPr lang="zh-CN" altLang="en-US" dirty="0"/>
          </a:p>
        </p:txBody>
      </p:sp>
      <p:sp>
        <p:nvSpPr>
          <p:cNvPr id="3" name="内容占位符 2"/>
          <p:cNvSpPr>
            <a:spLocks noGrp="1"/>
          </p:cNvSpPr>
          <p:nvPr>
            <p:ph sz="quarter" idx="1"/>
          </p:nvPr>
        </p:nvSpPr>
        <p:spPr/>
        <p:txBody>
          <a:bodyPr>
            <a:normAutofit fontScale="92500"/>
          </a:bodyPr>
          <a:lstStyle/>
          <a:p>
            <a:r>
              <a:rPr lang="zh-CN" altLang="en-US" dirty="0" smtClean="0"/>
              <a:t>不妨先转移在第</a:t>
            </a:r>
            <a:r>
              <a:rPr lang="en-US" altLang="zh-CN" dirty="0" err="1" smtClean="0"/>
              <a:t>i</a:t>
            </a:r>
            <a:r>
              <a:rPr lang="zh-CN" altLang="en-US" dirty="0" smtClean="0"/>
              <a:t>家店买了东西的情况</a:t>
            </a:r>
            <a:r>
              <a:rPr lang="en-US" altLang="zh-CN" dirty="0" smtClean="0"/>
              <a:t>,</a:t>
            </a:r>
            <a:r>
              <a:rPr lang="zh-CN" altLang="en-US" dirty="0" smtClean="0"/>
              <a:t>另一种情况很好更新</a:t>
            </a:r>
            <a:r>
              <a:rPr lang="en-US" altLang="zh-CN" dirty="0" smtClean="0"/>
              <a:t>.</a:t>
            </a:r>
            <a:endParaRPr lang="en-US" altLang="zh-CN" dirty="0" smtClean="0"/>
          </a:p>
          <a:p>
            <a:r>
              <a:rPr lang="zh-CN" altLang="en-US" dirty="0" smtClean="0"/>
              <a:t>先求出</a:t>
            </a:r>
            <a:r>
              <a:rPr lang="en-US" altLang="zh-CN" dirty="0" smtClean="0"/>
              <a:t>f[</a:t>
            </a:r>
            <a:r>
              <a:rPr lang="en-US" altLang="zh-CN" dirty="0" err="1" smtClean="0"/>
              <a:t>i</a:t>
            </a:r>
            <a:r>
              <a:rPr lang="en-US" altLang="zh-CN" dirty="0" smtClean="0"/>
              <a:t>][j]</a:t>
            </a:r>
            <a:r>
              <a:rPr lang="zh-CN" altLang="en-US" dirty="0" smtClean="0"/>
              <a:t>表示已经为第</a:t>
            </a:r>
            <a:r>
              <a:rPr lang="en-US" altLang="zh-CN" dirty="0" err="1" smtClean="0"/>
              <a:t>i</a:t>
            </a:r>
            <a:r>
              <a:rPr lang="zh-CN" altLang="en-US" dirty="0" smtClean="0"/>
              <a:t>家店付出了</a:t>
            </a:r>
            <a:r>
              <a:rPr lang="en-US" altLang="zh-CN" dirty="0" smtClean="0"/>
              <a:t>d[</a:t>
            </a:r>
            <a:r>
              <a:rPr lang="en-US" altLang="zh-CN" dirty="0" err="1" smtClean="0"/>
              <a:t>i</a:t>
            </a:r>
            <a:r>
              <a:rPr lang="en-US" altLang="zh-CN" dirty="0" smtClean="0"/>
              <a:t>]</a:t>
            </a:r>
            <a:r>
              <a:rPr lang="zh-CN" altLang="en-US" dirty="0" smtClean="0"/>
              <a:t>的路费</a:t>
            </a:r>
            <a:r>
              <a:rPr lang="en-US" altLang="zh-CN" dirty="0" smtClean="0"/>
              <a:t>,</a:t>
            </a:r>
            <a:r>
              <a:rPr lang="zh-CN" altLang="en-US" dirty="0" smtClean="0"/>
              <a:t>在前</a:t>
            </a:r>
            <a:r>
              <a:rPr lang="en-US" altLang="zh-CN" dirty="0" err="1" smtClean="0"/>
              <a:t>i</a:t>
            </a:r>
            <a:r>
              <a:rPr lang="zh-CN" altLang="en-US" dirty="0" smtClean="0"/>
              <a:t>家店买了集合</a:t>
            </a:r>
            <a:r>
              <a:rPr lang="en-US" altLang="zh-CN" dirty="0" smtClean="0"/>
              <a:t>j</a:t>
            </a:r>
            <a:r>
              <a:rPr lang="zh-CN" altLang="en-US" dirty="0" smtClean="0"/>
              <a:t>的物品时的最小花费</a:t>
            </a:r>
            <a:r>
              <a:rPr lang="en-US" altLang="zh-CN" dirty="0" smtClean="0"/>
              <a:t>.</a:t>
            </a:r>
            <a:endParaRPr lang="en-US" altLang="zh-CN" dirty="0" smtClean="0"/>
          </a:p>
          <a:p>
            <a:r>
              <a:rPr lang="zh-CN" altLang="en-US" dirty="0" smtClean="0"/>
              <a:t>然后</a:t>
            </a:r>
            <a:r>
              <a:rPr lang="en-US" altLang="zh-CN" dirty="0" smtClean="0"/>
              <a:t>f[</a:t>
            </a:r>
            <a:r>
              <a:rPr lang="en-US" altLang="zh-CN" dirty="0" err="1" smtClean="0"/>
              <a:t>i</a:t>
            </a:r>
            <a:r>
              <a:rPr lang="en-US" altLang="zh-CN" dirty="0" smtClean="0"/>
              <a:t>][j]=min(f[</a:t>
            </a:r>
            <a:r>
              <a:rPr lang="en-US" altLang="zh-CN" dirty="0" err="1" smtClean="0"/>
              <a:t>i</a:t>
            </a:r>
            <a:r>
              <a:rPr lang="en-US" altLang="zh-CN" dirty="0" smtClean="0"/>
              <a:t>][j],f[i-1][j]),</a:t>
            </a:r>
            <a:r>
              <a:rPr lang="zh-CN" altLang="en-US" dirty="0" smtClean="0"/>
              <a:t>转移不去第</a:t>
            </a:r>
            <a:r>
              <a:rPr lang="en-US" altLang="zh-CN" dirty="0" err="1" smtClean="0"/>
              <a:t>i</a:t>
            </a:r>
            <a:r>
              <a:rPr lang="zh-CN" altLang="en-US" dirty="0" smtClean="0"/>
              <a:t>家店的情况</a:t>
            </a:r>
            <a:r>
              <a:rPr lang="en-US" altLang="zh-CN" dirty="0" smtClean="0"/>
              <a:t>.</a:t>
            </a:r>
            <a:endParaRPr lang="en-US" altLang="zh-CN" dirty="0" smtClean="0"/>
          </a:p>
          <a:p>
            <a:r>
              <a:rPr lang="zh-CN" altLang="en-US" dirty="0" smtClean="0"/>
              <a:t>首先对所有的</a:t>
            </a:r>
            <a:r>
              <a:rPr lang="en-US" altLang="zh-CN" dirty="0" smtClean="0"/>
              <a:t>j,</a:t>
            </a:r>
            <a:r>
              <a:rPr lang="zh-CN" altLang="en-US" dirty="0" smtClean="0"/>
              <a:t>令</a:t>
            </a:r>
            <a:r>
              <a:rPr lang="en-US" altLang="zh-CN" dirty="0" smtClean="0"/>
              <a:t>f[</a:t>
            </a:r>
            <a:r>
              <a:rPr lang="en-US" altLang="zh-CN" dirty="0" err="1" smtClean="0"/>
              <a:t>i</a:t>
            </a:r>
            <a:r>
              <a:rPr lang="en-US" altLang="zh-CN" dirty="0" smtClean="0"/>
              <a:t>][j]=f[i-1][j]+d[</a:t>
            </a:r>
            <a:r>
              <a:rPr lang="en-US" altLang="zh-CN" dirty="0" err="1" smtClean="0"/>
              <a:t>i</a:t>
            </a:r>
            <a:r>
              <a:rPr lang="en-US" altLang="zh-CN" dirty="0" smtClean="0"/>
              <a:t>],</a:t>
            </a:r>
            <a:r>
              <a:rPr lang="zh-CN" altLang="en-US" dirty="0" smtClean="0"/>
              <a:t>这相当于去了第</a:t>
            </a:r>
            <a:r>
              <a:rPr lang="en-US" altLang="zh-CN" dirty="0" err="1" smtClean="0"/>
              <a:t>i</a:t>
            </a:r>
            <a:r>
              <a:rPr lang="zh-CN" altLang="en-US" dirty="0" smtClean="0"/>
              <a:t>家店但是不买东西</a:t>
            </a:r>
            <a:r>
              <a:rPr lang="en-US" altLang="zh-CN" dirty="0" smtClean="0"/>
              <a:t>.</a:t>
            </a:r>
            <a:r>
              <a:rPr lang="zh-CN" altLang="en-US" dirty="0" smtClean="0"/>
              <a:t>接下来需要考虑在第</a:t>
            </a:r>
            <a:r>
              <a:rPr lang="en-US" altLang="zh-CN" dirty="0" err="1" smtClean="0"/>
              <a:t>i</a:t>
            </a:r>
            <a:r>
              <a:rPr lang="zh-CN" altLang="en-US" dirty="0" smtClean="0"/>
              <a:t>家店买东西的情况</a:t>
            </a:r>
            <a:r>
              <a:rPr lang="en-US" altLang="zh-CN" dirty="0" smtClean="0"/>
              <a:t>,</a:t>
            </a:r>
            <a:r>
              <a:rPr lang="zh-CN" altLang="en-US" dirty="0" smtClean="0"/>
              <a:t>以此更新</a:t>
            </a:r>
            <a:r>
              <a:rPr lang="en-US" altLang="zh-CN" dirty="0" smtClean="0"/>
              <a:t>f[</a:t>
            </a:r>
            <a:r>
              <a:rPr lang="en-US" altLang="zh-CN" dirty="0" err="1" smtClean="0"/>
              <a:t>i</a:t>
            </a:r>
            <a:r>
              <a:rPr lang="en-US" altLang="zh-CN" dirty="0" smtClean="0"/>
              <a:t>][j].</a:t>
            </a:r>
            <a:r>
              <a:rPr lang="zh-CN" altLang="en-US" dirty="0" smtClean="0"/>
              <a:t>我们枚举集合中</a:t>
            </a:r>
            <a:r>
              <a:rPr lang="en-US" altLang="zh-CN" dirty="0" smtClean="0"/>
              <a:t>j</a:t>
            </a:r>
            <a:r>
              <a:rPr lang="zh-CN" altLang="en-US" dirty="0" smtClean="0"/>
              <a:t>中一件在第</a:t>
            </a:r>
            <a:r>
              <a:rPr lang="en-US" altLang="zh-CN" dirty="0" err="1" smtClean="0"/>
              <a:t>i</a:t>
            </a:r>
            <a:r>
              <a:rPr lang="zh-CN" altLang="en-US" dirty="0" smtClean="0"/>
              <a:t>家店买的物品</a:t>
            </a:r>
            <a:r>
              <a:rPr lang="en-US" altLang="zh-CN" dirty="0" smtClean="0"/>
              <a:t>k,</a:t>
            </a:r>
            <a:r>
              <a:rPr lang="zh-CN" altLang="en-US" dirty="0" smtClean="0"/>
              <a:t>以</a:t>
            </a:r>
            <a:r>
              <a:rPr lang="en-US" altLang="zh-CN" dirty="0" smtClean="0"/>
              <a:t>f[</a:t>
            </a:r>
            <a:r>
              <a:rPr lang="en-US" altLang="zh-CN" dirty="0" err="1" smtClean="0"/>
              <a:t>i</a:t>
            </a:r>
            <a:r>
              <a:rPr lang="en-US" altLang="zh-CN" dirty="0" smtClean="0"/>
              <a:t>][j^(1&lt;&lt;k)]+c[</a:t>
            </a:r>
            <a:r>
              <a:rPr lang="en-US" altLang="zh-CN" dirty="0" err="1" smtClean="0"/>
              <a:t>i</a:t>
            </a:r>
            <a:r>
              <a:rPr lang="en-US" altLang="zh-CN" dirty="0" smtClean="0"/>
              <a:t>][k]</a:t>
            </a:r>
            <a:r>
              <a:rPr lang="zh-CN" altLang="en-US" dirty="0" smtClean="0"/>
              <a:t>更新</a:t>
            </a:r>
            <a:r>
              <a:rPr lang="en-US" altLang="zh-CN" dirty="0" smtClean="0"/>
              <a:t>f[</a:t>
            </a:r>
            <a:r>
              <a:rPr lang="en-US" altLang="zh-CN" dirty="0" err="1" smtClean="0"/>
              <a:t>i</a:t>
            </a:r>
            <a:r>
              <a:rPr lang="en-US" altLang="zh-CN" dirty="0" smtClean="0"/>
              <a:t>][j].</a:t>
            </a:r>
            <a:r>
              <a:rPr lang="zh-CN" altLang="en-US" dirty="0" smtClean="0"/>
              <a:t>顺着推过来即可</a:t>
            </a:r>
            <a:r>
              <a:rPr lang="en-US" altLang="zh-CN" dirty="0" smtClean="0"/>
              <a:t>.</a:t>
            </a:r>
            <a:endParaRPr lang="en-US" altLang="zh-CN" dirty="0" smtClean="0"/>
          </a:p>
          <a:p>
            <a:r>
              <a:rPr lang="zh-CN" altLang="en-US" dirty="0" smtClean="0"/>
              <a:t>复杂度</a:t>
            </a:r>
            <a:r>
              <a:rPr lang="en-US" altLang="zh-CN" dirty="0" smtClean="0"/>
              <a:t>O(nm*2^m)</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bzoj4145: [AMPPZ2014]The Prices</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动态规划有两种写法</a:t>
            </a:r>
            <a:r>
              <a:rPr lang="en-US" altLang="zh-CN" sz="2400" dirty="0" smtClean="0"/>
              <a:t>:</a:t>
            </a:r>
            <a:r>
              <a:rPr lang="zh-CN" altLang="en-US" sz="2400" dirty="0" smtClean="0"/>
              <a:t>填表法和刷表法</a:t>
            </a:r>
            <a:r>
              <a:rPr lang="en-US" altLang="zh-CN" sz="2400" dirty="0" smtClean="0"/>
              <a:t>(</a:t>
            </a:r>
            <a:r>
              <a:rPr lang="zh-CN" altLang="en-US" sz="2400" dirty="0" smtClean="0"/>
              <a:t>紫书的叫法</a:t>
            </a:r>
            <a:r>
              <a:rPr lang="en-US" altLang="zh-CN" sz="2400" dirty="0" smtClean="0"/>
              <a:t>)</a:t>
            </a:r>
            <a:endParaRPr lang="en-US" altLang="zh-CN" sz="2400" dirty="0" smtClean="0"/>
          </a:p>
          <a:p>
            <a:r>
              <a:rPr lang="zh-CN" altLang="en-US" sz="2400" dirty="0" smtClean="0"/>
              <a:t>比如这道题刚才描述的解法就是</a:t>
            </a:r>
            <a:r>
              <a:rPr lang="en-US" altLang="zh-CN" sz="2400" dirty="0" smtClean="0"/>
              <a:t>”</a:t>
            </a:r>
            <a:r>
              <a:rPr lang="zh-CN" altLang="en-US" sz="2400" dirty="0" smtClean="0"/>
              <a:t>填表法</a:t>
            </a:r>
            <a:r>
              <a:rPr lang="en-US" altLang="zh-CN" sz="2400" dirty="0" smtClean="0"/>
              <a:t>”:</a:t>
            </a:r>
            <a:r>
              <a:rPr lang="zh-CN" altLang="en-US" sz="2400" dirty="0" smtClean="0"/>
              <a:t>对于每个状态</a:t>
            </a:r>
            <a:r>
              <a:rPr lang="en-US" altLang="zh-CN" sz="2400" dirty="0" smtClean="0"/>
              <a:t>f[</a:t>
            </a:r>
            <a:r>
              <a:rPr lang="en-US" altLang="zh-CN" sz="2400" dirty="0" err="1" smtClean="0"/>
              <a:t>i</a:t>
            </a:r>
            <a:r>
              <a:rPr lang="en-US" altLang="zh-CN" sz="2400" dirty="0" smtClean="0"/>
              <a:t>][j],</a:t>
            </a:r>
            <a:r>
              <a:rPr lang="zh-CN" altLang="en-US" sz="2400" dirty="0" smtClean="0"/>
              <a:t>我们考虑哪些</a:t>
            </a:r>
            <a:r>
              <a:rPr lang="en-US" altLang="zh-CN" sz="2400" dirty="0" smtClean="0"/>
              <a:t>”</a:t>
            </a:r>
            <a:r>
              <a:rPr lang="zh-CN" altLang="en-US" sz="2400" dirty="0" smtClean="0"/>
              <a:t>前驱状态</a:t>
            </a:r>
            <a:r>
              <a:rPr lang="en-US" altLang="zh-CN" sz="2400" dirty="0" smtClean="0"/>
              <a:t>”</a:t>
            </a:r>
            <a:r>
              <a:rPr lang="zh-CN" altLang="en-US" sz="2400" dirty="0" smtClean="0"/>
              <a:t>能更新它</a:t>
            </a:r>
            <a:r>
              <a:rPr lang="en-US" altLang="zh-CN" sz="2400" dirty="0" smtClean="0"/>
              <a:t>,</a:t>
            </a:r>
            <a:r>
              <a:rPr lang="zh-CN" altLang="en-US" sz="2400" dirty="0" smtClean="0"/>
              <a:t>求最优解</a:t>
            </a:r>
            <a:r>
              <a:rPr lang="en-US" altLang="zh-CN" sz="2400" dirty="0" smtClean="0"/>
              <a:t>.</a:t>
            </a:r>
            <a:endParaRPr lang="en-US" altLang="zh-CN" sz="2400" dirty="0" smtClean="0"/>
          </a:p>
          <a:p>
            <a:r>
              <a:rPr lang="zh-CN" altLang="en-US" sz="2400" dirty="0" smtClean="0"/>
              <a:t>刷表法</a:t>
            </a:r>
            <a:r>
              <a:rPr lang="en-US" altLang="zh-CN" sz="2400" dirty="0" smtClean="0"/>
              <a:t>:</a:t>
            </a:r>
            <a:r>
              <a:rPr lang="zh-CN" altLang="en-US" sz="2400" dirty="0" smtClean="0"/>
              <a:t>对于每个状态</a:t>
            </a:r>
            <a:r>
              <a:rPr lang="en-US" altLang="zh-CN" sz="2400" dirty="0" smtClean="0"/>
              <a:t>f[</a:t>
            </a:r>
            <a:r>
              <a:rPr lang="en-US" altLang="zh-CN" sz="2400" dirty="0" err="1" smtClean="0"/>
              <a:t>i</a:t>
            </a:r>
            <a:r>
              <a:rPr lang="en-US" altLang="zh-CN" sz="2400" dirty="0" smtClean="0"/>
              <a:t>][j],</a:t>
            </a:r>
            <a:r>
              <a:rPr lang="zh-CN" altLang="en-US" sz="2400" dirty="0" smtClean="0"/>
              <a:t>用它更新它能更新的所有状态</a:t>
            </a:r>
            <a:r>
              <a:rPr lang="en-US" altLang="zh-CN" sz="2400" dirty="0" smtClean="0"/>
              <a:t>.</a:t>
            </a:r>
            <a:endParaRPr lang="en-US" altLang="zh-CN" sz="2400" dirty="0" smtClean="0"/>
          </a:p>
          <a:p>
            <a:r>
              <a:rPr lang="zh-CN" altLang="en-US" sz="2400" dirty="0" smtClean="0"/>
              <a:t>动态规划的转移是有向的</a:t>
            </a:r>
            <a:r>
              <a:rPr lang="en-US" altLang="zh-CN" sz="2400" dirty="0" smtClean="0"/>
              <a:t>,</a:t>
            </a:r>
            <a:r>
              <a:rPr lang="zh-CN" altLang="en-US" sz="2400" dirty="0" smtClean="0"/>
              <a:t>不会出现环</a:t>
            </a:r>
            <a:r>
              <a:rPr lang="en-US" altLang="zh-CN" sz="2400" dirty="0" smtClean="0"/>
              <a:t>,</a:t>
            </a:r>
            <a:r>
              <a:rPr lang="zh-CN" altLang="en-US" sz="2400" dirty="0" smtClean="0"/>
              <a:t>只要顺序合适</a:t>
            </a:r>
            <a:r>
              <a:rPr lang="en-US" altLang="zh-CN" sz="2400" dirty="0" smtClean="0"/>
              <a:t>,</a:t>
            </a:r>
            <a:r>
              <a:rPr lang="zh-CN" altLang="en-US" sz="2400" dirty="0" smtClean="0"/>
              <a:t>两种方法完全等价</a:t>
            </a:r>
            <a:r>
              <a:rPr lang="en-US" altLang="zh-CN" sz="2400" dirty="0" smtClean="0"/>
              <a:t>.</a:t>
            </a:r>
            <a:r>
              <a:rPr lang="zh-CN" altLang="en-US" sz="2400" dirty="0" smtClean="0"/>
              <a:t>但某些题一种方法比另一种方法好写</a:t>
            </a:r>
            <a:r>
              <a:rPr lang="en-US" altLang="zh-CN" sz="2400" dirty="0" smtClean="0"/>
              <a:t>.</a:t>
            </a:r>
            <a:endParaRPr lang="en-US" altLang="zh-CN" sz="2400" dirty="0" smtClean="0"/>
          </a:p>
          <a:p>
            <a:r>
              <a:rPr lang="zh-CN" altLang="en-US" sz="2400" dirty="0" smtClean="0"/>
              <a:t>下一张幻灯片是本题的一份代码</a:t>
            </a:r>
            <a:r>
              <a:rPr lang="en-US" altLang="zh-CN" sz="2400" dirty="0" smtClean="0"/>
              <a:t>,</a:t>
            </a:r>
            <a:r>
              <a:rPr lang="zh-CN" altLang="en-US" sz="2400" dirty="0" smtClean="0"/>
              <a:t>可以判断一下是刷表法还是填表法</a:t>
            </a:r>
            <a:r>
              <a:rPr lang="en-US" altLang="zh-CN" sz="2400" dirty="0" smtClean="0"/>
              <a:t>.</a:t>
            </a:r>
            <a:endParaRPr lang="en-US" altLang="zh-CN" sz="2400"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bzoj4145: [AMPPZ2014]The Prices</a:t>
            </a:r>
            <a:endParaRPr lang="zh-CN" altLang="en-US" dirty="0"/>
          </a:p>
        </p:txBody>
      </p:sp>
      <p:pic>
        <p:nvPicPr>
          <p:cNvPr id="4" name="Picture 2"/>
          <p:cNvPicPr>
            <a:picLocks noGrp="1" noChangeAspect="1" noChangeArrowheads="1"/>
          </p:cNvPicPr>
          <p:nvPr>
            <p:ph sz="quarter" idx="1"/>
          </p:nvPr>
        </p:nvPicPr>
        <p:blipFill>
          <a:blip r:embed="rId1"/>
          <a:srcRect/>
          <a:stretch>
            <a:fillRect/>
          </a:stretch>
        </p:blipFill>
        <p:spPr bwMode="auto">
          <a:xfrm>
            <a:off x="642910" y="1428736"/>
            <a:ext cx="6453213" cy="4970574"/>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数位动态规划</a:t>
            </a:r>
            <a:endParaRPr lang="zh-CN" altLang="en-US" dirty="0"/>
          </a:p>
        </p:txBody>
      </p:sp>
      <p:sp>
        <p:nvSpPr>
          <p:cNvPr id="5" name="文本占位符 4"/>
          <p:cNvSpPr>
            <a:spLocks noGrp="1"/>
          </p:cNvSpPr>
          <p:nvPr>
            <p:ph type="body"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数位动态规划</a:t>
            </a:r>
            <a:r>
              <a:rPr lang="en-US" altLang="zh-CN" dirty="0" smtClean="0"/>
              <a:t>(</a:t>
            </a:r>
            <a:r>
              <a:rPr lang="zh-CN" altLang="en-US" dirty="0" smtClean="0"/>
              <a:t>基本概念</a:t>
            </a:r>
            <a:r>
              <a:rPr lang="en-US" altLang="zh-CN" dirty="0" smtClean="0"/>
              <a:t>)</a:t>
            </a:r>
            <a:endParaRPr lang="zh-CN" altLang="en-US" dirty="0"/>
          </a:p>
        </p:txBody>
      </p:sp>
      <p:sp>
        <p:nvSpPr>
          <p:cNvPr id="5" name="内容占位符 4"/>
          <p:cNvSpPr>
            <a:spLocks noGrp="1"/>
          </p:cNvSpPr>
          <p:nvPr>
            <p:ph sz="quarter" idx="1"/>
          </p:nvPr>
        </p:nvSpPr>
        <p:spPr/>
        <p:txBody>
          <a:bodyPr>
            <a:normAutofit fontScale="92500"/>
          </a:bodyPr>
          <a:lstStyle/>
          <a:p>
            <a:r>
              <a:rPr lang="zh-CN" altLang="en-US" sz="2400" dirty="0" smtClean="0"/>
              <a:t>把数字视为字符串并进行一些统计</a:t>
            </a:r>
            <a:r>
              <a:rPr lang="en-US" altLang="zh-CN" sz="2400" dirty="0" smtClean="0"/>
              <a:t>,</a:t>
            </a:r>
            <a:r>
              <a:rPr lang="zh-CN" altLang="en-US" sz="2400" dirty="0" smtClean="0"/>
              <a:t>例如</a:t>
            </a:r>
            <a:r>
              <a:rPr lang="en-US" altLang="zh-CN" sz="2400" dirty="0" smtClean="0"/>
              <a:t>[L,R]</a:t>
            </a:r>
            <a:r>
              <a:rPr lang="zh-CN" altLang="en-US" sz="2400" dirty="0" smtClean="0"/>
              <a:t>内有多少个数字不包含</a:t>
            </a:r>
            <a:r>
              <a:rPr lang="en-US" altLang="zh-CN" sz="2400" dirty="0" smtClean="0"/>
              <a:t>3</a:t>
            </a:r>
            <a:r>
              <a:rPr lang="zh-CN" altLang="en-US" sz="2400" dirty="0" smtClean="0"/>
              <a:t>个及以上连续的</a:t>
            </a:r>
            <a:r>
              <a:rPr lang="en-US" altLang="zh-CN" sz="2400" dirty="0" smtClean="0"/>
              <a:t>6,[L,R]</a:t>
            </a:r>
            <a:r>
              <a:rPr lang="zh-CN" altLang="en-US" sz="2400" dirty="0" smtClean="0"/>
              <a:t>内有多少个数字的各位数字之积为</a:t>
            </a:r>
            <a:r>
              <a:rPr lang="en-US" altLang="zh-CN" sz="2400" dirty="0" smtClean="0"/>
              <a:t>42…</a:t>
            </a:r>
            <a:endParaRPr lang="en-US" altLang="zh-CN" sz="2400" dirty="0" smtClean="0"/>
          </a:p>
          <a:p>
            <a:r>
              <a:rPr lang="zh-CN" altLang="en-US" sz="2400" dirty="0" smtClean="0"/>
              <a:t>当然不可能让你从</a:t>
            </a:r>
            <a:r>
              <a:rPr lang="en-US" altLang="zh-CN" sz="2400" dirty="0" smtClean="0"/>
              <a:t>L</a:t>
            </a:r>
            <a:r>
              <a:rPr lang="zh-CN" altLang="en-US" sz="2400" dirty="0" smtClean="0"/>
              <a:t>循环到</a:t>
            </a:r>
            <a:r>
              <a:rPr lang="en-US" altLang="zh-CN" sz="2400" dirty="0" smtClean="0"/>
              <a:t>R</a:t>
            </a:r>
            <a:r>
              <a:rPr lang="zh-CN" altLang="en-US" sz="2400" dirty="0" smtClean="0"/>
              <a:t>就</a:t>
            </a:r>
            <a:r>
              <a:rPr lang="en-US" altLang="zh-CN" sz="2400" dirty="0" smtClean="0"/>
              <a:t>AC.</a:t>
            </a:r>
            <a:r>
              <a:rPr lang="zh-CN" altLang="en-US" sz="2400" dirty="0" smtClean="0"/>
              <a:t>数据范围</a:t>
            </a:r>
            <a:r>
              <a:rPr lang="en-US" altLang="zh-CN" sz="2400" dirty="0" smtClean="0"/>
              <a:t>10^9</a:t>
            </a:r>
            <a:r>
              <a:rPr lang="zh-CN" altLang="en-US" sz="2400" dirty="0" smtClean="0"/>
              <a:t>起步</a:t>
            </a:r>
            <a:r>
              <a:rPr lang="en-US" altLang="zh-CN" sz="2400" dirty="0" smtClean="0"/>
              <a:t>.</a:t>
            </a:r>
            <a:endParaRPr lang="en-US" altLang="zh-CN" sz="2400" dirty="0" smtClean="0"/>
          </a:p>
          <a:p>
            <a:r>
              <a:rPr lang="zh-CN" altLang="en-US" sz="2400" dirty="0" smtClean="0"/>
              <a:t>大部分题都具有可减性</a:t>
            </a:r>
            <a:r>
              <a:rPr lang="en-US" altLang="zh-CN" sz="2400" dirty="0" smtClean="0"/>
              <a:t>,</a:t>
            </a:r>
            <a:r>
              <a:rPr lang="zh-CN" altLang="en-US" sz="2400" dirty="0" smtClean="0"/>
              <a:t>求出</a:t>
            </a:r>
            <a:r>
              <a:rPr lang="en-US" altLang="zh-CN" sz="2400" dirty="0" smtClean="0"/>
              <a:t>[0,R]</a:t>
            </a:r>
            <a:r>
              <a:rPr lang="zh-CN" altLang="en-US" sz="2400" dirty="0" smtClean="0"/>
              <a:t>和</a:t>
            </a:r>
            <a:r>
              <a:rPr lang="en-US" altLang="zh-CN" sz="2400" dirty="0" smtClean="0"/>
              <a:t>[0,L-1]</a:t>
            </a:r>
            <a:r>
              <a:rPr lang="zh-CN" altLang="en-US" sz="2400" dirty="0" smtClean="0"/>
              <a:t>的答案就好</a:t>
            </a:r>
            <a:endParaRPr lang="en-US" altLang="zh-CN" sz="2400" dirty="0" smtClean="0"/>
          </a:p>
          <a:p>
            <a:r>
              <a:rPr lang="zh-CN" altLang="en-US" sz="2400" dirty="0" smtClean="0"/>
              <a:t>当然不可能让你从</a:t>
            </a:r>
            <a:r>
              <a:rPr lang="en-US" altLang="zh-CN" sz="2400" dirty="0" smtClean="0"/>
              <a:t>1</a:t>
            </a:r>
            <a:r>
              <a:rPr lang="zh-CN" altLang="en-US" sz="2400" dirty="0" smtClean="0"/>
              <a:t>循环到</a:t>
            </a:r>
            <a:r>
              <a:rPr lang="en-US" altLang="zh-CN" sz="2400" dirty="0" smtClean="0"/>
              <a:t>R</a:t>
            </a:r>
            <a:r>
              <a:rPr lang="zh-CN" altLang="en-US" sz="2400" dirty="0" smtClean="0"/>
              <a:t>再从</a:t>
            </a:r>
            <a:r>
              <a:rPr lang="en-US" altLang="zh-CN" sz="2400" dirty="0" smtClean="0"/>
              <a:t>1</a:t>
            </a:r>
            <a:r>
              <a:rPr lang="zh-CN" altLang="en-US" sz="2400" dirty="0" smtClean="0"/>
              <a:t>循环到</a:t>
            </a:r>
            <a:r>
              <a:rPr lang="en-US" altLang="zh-CN" sz="2400" dirty="0" smtClean="0"/>
              <a:t>L-1</a:t>
            </a:r>
            <a:r>
              <a:rPr lang="zh-CN" altLang="en-US" sz="2400" dirty="0" smtClean="0"/>
              <a:t>就</a:t>
            </a:r>
            <a:r>
              <a:rPr lang="en-US" altLang="zh-CN" sz="2400" dirty="0" smtClean="0"/>
              <a:t>AC</a:t>
            </a:r>
            <a:endParaRPr lang="en-US" altLang="zh-CN" sz="2400" dirty="0" smtClean="0"/>
          </a:p>
          <a:p>
            <a:r>
              <a:rPr lang="zh-CN" altLang="en-US" sz="2400" dirty="0" smtClean="0"/>
              <a:t>如你所见</a:t>
            </a:r>
            <a:r>
              <a:rPr lang="en-US" altLang="zh-CN" sz="2400" dirty="0" smtClean="0"/>
              <a:t>,</a:t>
            </a:r>
            <a:r>
              <a:rPr lang="zh-CN" altLang="en-US" sz="2400" dirty="0" smtClean="0"/>
              <a:t>暴力非常好写</a:t>
            </a:r>
            <a:r>
              <a:rPr lang="en-US" altLang="zh-CN" sz="2400" dirty="0" smtClean="0"/>
              <a:t>.</a:t>
            </a:r>
            <a:r>
              <a:rPr lang="zh-CN" altLang="en-US" sz="2400" dirty="0" smtClean="0"/>
              <a:t>这类问题的正解的细节一般较多</a:t>
            </a:r>
            <a:r>
              <a:rPr lang="en-US" altLang="zh-CN" sz="2400" dirty="0" smtClean="0"/>
              <a:t>,</a:t>
            </a:r>
            <a:r>
              <a:rPr lang="zh-CN" altLang="en-US" sz="2400" dirty="0" smtClean="0"/>
              <a:t>不对拍迟早要完</a:t>
            </a:r>
            <a:r>
              <a:rPr lang="en-US" altLang="zh-CN" sz="2400" dirty="0" smtClean="0"/>
              <a:t>.</a:t>
            </a:r>
            <a:endParaRPr lang="en-US" altLang="zh-CN" sz="2400" dirty="0" smtClean="0"/>
          </a:p>
          <a:p>
            <a:r>
              <a:rPr lang="zh-CN" altLang="en-US" sz="2400" dirty="0" smtClean="0"/>
              <a:t>统计</a:t>
            </a:r>
            <a:r>
              <a:rPr lang="en-US" altLang="zh-CN" sz="2400" dirty="0" smtClean="0"/>
              <a:t>[0,x]</a:t>
            </a:r>
            <a:r>
              <a:rPr lang="zh-CN" altLang="en-US" sz="2400" dirty="0" smtClean="0"/>
              <a:t>的答案时相当于统计所有小于等于</a:t>
            </a:r>
            <a:r>
              <a:rPr lang="en-US" altLang="zh-CN" sz="2400" dirty="0" smtClean="0"/>
              <a:t>x</a:t>
            </a:r>
            <a:r>
              <a:rPr lang="zh-CN" altLang="en-US" sz="2400" dirty="0" smtClean="0"/>
              <a:t>的数字</a:t>
            </a:r>
            <a:r>
              <a:rPr lang="en-US" altLang="zh-CN" sz="2400" dirty="0" smtClean="0"/>
              <a:t>.</a:t>
            </a:r>
            <a:r>
              <a:rPr lang="zh-CN" altLang="en-US" sz="2400" dirty="0" smtClean="0"/>
              <a:t>等于</a:t>
            </a:r>
            <a:r>
              <a:rPr lang="en-US" altLang="zh-CN" sz="2400" dirty="0" smtClean="0"/>
              <a:t>x</a:t>
            </a:r>
            <a:r>
              <a:rPr lang="zh-CN" altLang="en-US" sz="2400" dirty="0" smtClean="0"/>
              <a:t>的特判一下</a:t>
            </a:r>
            <a:r>
              <a:rPr lang="en-US" altLang="zh-CN" sz="2400" dirty="0" smtClean="0"/>
              <a:t>.</a:t>
            </a:r>
            <a:r>
              <a:rPr lang="zh-CN" altLang="en-US" sz="2400" dirty="0" smtClean="0"/>
              <a:t>那么只考虑小于</a:t>
            </a:r>
            <a:r>
              <a:rPr lang="en-US" altLang="zh-CN" sz="2400" dirty="0" smtClean="0"/>
              <a:t>x</a:t>
            </a:r>
            <a:r>
              <a:rPr lang="zh-CN" altLang="en-US" sz="2400" dirty="0" smtClean="0"/>
              <a:t>的数字</a:t>
            </a:r>
            <a:r>
              <a:rPr lang="en-US" altLang="zh-CN" sz="2400" dirty="0" smtClean="0"/>
              <a:t>.</a:t>
            </a:r>
            <a:r>
              <a:rPr lang="zh-CN" altLang="en-US" sz="2400" dirty="0" smtClean="0"/>
              <a:t>如果位数小于</a:t>
            </a:r>
            <a:r>
              <a:rPr lang="en-US" altLang="zh-CN" sz="2400" dirty="0" smtClean="0"/>
              <a:t>x,</a:t>
            </a:r>
            <a:r>
              <a:rPr lang="zh-CN" altLang="en-US" sz="2400" dirty="0" smtClean="0"/>
              <a:t>相当于所有的</a:t>
            </a:r>
            <a:r>
              <a:rPr lang="en-US" altLang="zh-CN" sz="2400" dirty="0" smtClean="0"/>
              <a:t>1,2,…</a:t>
            </a:r>
            <a:r>
              <a:rPr lang="zh-CN" altLang="en-US" sz="2400" dirty="0" smtClean="0"/>
              <a:t>位数的答案</a:t>
            </a:r>
            <a:r>
              <a:rPr lang="en-US" altLang="zh-CN" sz="2400" dirty="0" smtClean="0"/>
              <a:t>,</a:t>
            </a:r>
            <a:r>
              <a:rPr lang="zh-CN" altLang="en-US" sz="2400" dirty="0" smtClean="0"/>
              <a:t>我们直接</a:t>
            </a:r>
            <a:r>
              <a:rPr lang="en-US" altLang="zh-CN" sz="2400" dirty="0" smtClean="0"/>
              <a:t>DP</a:t>
            </a:r>
            <a:r>
              <a:rPr lang="zh-CN" altLang="en-US" sz="2400" dirty="0" smtClean="0"/>
              <a:t>出</a:t>
            </a:r>
            <a:r>
              <a:rPr lang="en-US" altLang="zh-CN" sz="2400" dirty="0" smtClean="0"/>
              <a:t>f[</a:t>
            </a:r>
            <a:r>
              <a:rPr lang="en-US" altLang="zh-CN" sz="2400" dirty="0" err="1" smtClean="0"/>
              <a:t>i</a:t>
            </a:r>
            <a:r>
              <a:rPr lang="en-US" altLang="zh-CN" sz="2400" dirty="0" smtClean="0"/>
              <a:t>]</a:t>
            </a:r>
            <a:r>
              <a:rPr lang="zh-CN" altLang="en-US" sz="2400" dirty="0" smtClean="0"/>
              <a:t>表示所有</a:t>
            </a:r>
            <a:r>
              <a:rPr lang="en-US" altLang="zh-CN" sz="2400" dirty="0" err="1" smtClean="0"/>
              <a:t>i</a:t>
            </a:r>
            <a:r>
              <a:rPr lang="zh-CN" altLang="en-US" sz="2400" dirty="0" smtClean="0"/>
              <a:t>位数的答案</a:t>
            </a:r>
            <a:endParaRPr lang="en-US" altLang="zh-CN" sz="2400" dirty="0" smtClean="0"/>
          </a:p>
          <a:p>
            <a:r>
              <a:rPr lang="zh-CN" altLang="en-US" sz="2400" dirty="0" smtClean="0"/>
              <a:t>和</a:t>
            </a:r>
            <a:r>
              <a:rPr lang="en-US" altLang="zh-CN" sz="2400" dirty="0" smtClean="0"/>
              <a:t>x</a:t>
            </a:r>
            <a:r>
              <a:rPr lang="zh-CN" altLang="en-US" sz="2400" dirty="0" smtClean="0"/>
              <a:t>位数相同且小于</a:t>
            </a:r>
            <a:r>
              <a:rPr lang="en-US" altLang="zh-CN" sz="2400" dirty="0" smtClean="0"/>
              <a:t>x</a:t>
            </a:r>
            <a:r>
              <a:rPr lang="zh-CN" altLang="en-US" sz="2400" dirty="0" smtClean="0"/>
              <a:t>的数字</a:t>
            </a:r>
            <a:r>
              <a:rPr lang="en-US" altLang="zh-CN" sz="2400" dirty="0" smtClean="0"/>
              <a:t>,</a:t>
            </a:r>
            <a:r>
              <a:rPr lang="zh-CN" altLang="en-US" sz="2400" dirty="0" smtClean="0"/>
              <a:t>必然存在某一位</a:t>
            </a:r>
            <a:r>
              <a:rPr lang="en-US" altLang="zh-CN" sz="2400" dirty="0" smtClean="0"/>
              <a:t>,</a:t>
            </a:r>
            <a:r>
              <a:rPr lang="zh-CN" altLang="en-US" sz="2400" dirty="0" smtClean="0"/>
              <a:t>前面和</a:t>
            </a:r>
            <a:r>
              <a:rPr lang="en-US" altLang="zh-CN" sz="2400" dirty="0" smtClean="0"/>
              <a:t>x</a:t>
            </a:r>
            <a:r>
              <a:rPr lang="zh-CN" altLang="en-US" sz="2400" dirty="0" smtClean="0"/>
              <a:t>一样</a:t>
            </a:r>
            <a:r>
              <a:rPr lang="en-US" altLang="zh-CN" sz="2400" dirty="0" smtClean="0"/>
              <a:t>,</a:t>
            </a:r>
            <a:r>
              <a:rPr lang="zh-CN" altLang="en-US" sz="2400" dirty="0" smtClean="0"/>
              <a:t>这一位小于</a:t>
            </a:r>
            <a:r>
              <a:rPr lang="en-US" altLang="zh-CN" sz="2400" dirty="0" smtClean="0"/>
              <a:t>x.</a:t>
            </a:r>
            <a:r>
              <a:rPr lang="zh-CN" altLang="en-US" sz="2400" dirty="0" smtClean="0"/>
              <a:t>统计时一般会枚举这一位的位置</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数位动态规划</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pPr fontAlgn="base"/>
            <a:r>
              <a:rPr lang="zh-CN" altLang="en-US" sz="2400" dirty="0" smtClean="0"/>
              <a:t>考虑数</a:t>
            </a:r>
            <a:r>
              <a:rPr lang="en-US" altLang="zh-CN" sz="2400" dirty="0" smtClean="0"/>
              <a:t>[0,123]</a:t>
            </a:r>
            <a:r>
              <a:rPr lang="zh-CN" altLang="en-US" sz="2400" dirty="0" smtClean="0"/>
              <a:t>有多少个数字为偶数</a:t>
            </a:r>
            <a:r>
              <a:rPr lang="en-US" altLang="zh-CN" sz="2400" dirty="0" smtClean="0"/>
              <a:t>.</a:t>
            </a:r>
            <a:endParaRPr lang="en-US" altLang="zh-CN" sz="2400" dirty="0" smtClean="0"/>
          </a:p>
          <a:p>
            <a:pPr fontAlgn="base"/>
            <a:r>
              <a:rPr lang="zh-CN" altLang="en-US" sz="2400" dirty="0" smtClean="0"/>
              <a:t>这里的数法看上去比较</a:t>
            </a:r>
            <a:r>
              <a:rPr lang="en-US" altLang="zh-CN" sz="2400" dirty="0" smtClean="0"/>
              <a:t>naïve.</a:t>
            </a:r>
            <a:endParaRPr lang="en-US" altLang="zh-CN" sz="2400" dirty="0" smtClean="0"/>
          </a:p>
          <a:p>
            <a:pPr fontAlgn="base"/>
            <a:r>
              <a:rPr lang="zh-CN" altLang="en-US" sz="2400" dirty="0" smtClean="0"/>
              <a:t>但它可以扩展到更加复杂的问题</a:t>
            </a:r>
            <a:r>
              <a:rPr lang="en-US" altLang="zh-CN" sz="2400" dirty="0" smtClean="0"/>
              <a:t>.</a:t>
            </a:r>
            <a:endParaRPr lang="en-US" altLang="zh-CN" sz="2400" dirty="0" smtClean="0"/>
          </a:p>
          <a:p>
            <a:pPr fontAlgn="base"/>
            <a:r>
              <a:rPr lang="zh-CN" altLang="en-US" sz="2400" dirty="0" smtClean="0"/>
              <a:t>先数和上界相等的</a:t>
            </a:r>
            <a:r>
              <a:rPr lang="en-US" altLang="zh-CN" sz="2400" dirty="0" smtClean="0"/>
              <a:t>,123,1</a:t>
            </a:r>
            <a:r>
              <a:rPr lang="zh-CN" altLang="en-US" sz="2400" dirty="0" smtClean="0"/>
              <a:t>个</a:t>
            </a:r>
            <a:endParaRPr lang="zh-CN" altLang="en-US" sz="2400" dirty="0" smtClean="0"/>
          </a:p>
          <a:p>
            <a:pPr fontAlgn="base"/>
            <a:r>
              <a:rPr lang="zh-CN" altLang="en-US" sz="2400" dirty="0" smtClean="0"/>
              <a:t>然后数从高到低第一个小于上界的位置在百位的</a:t>
            </a:r>
            <a:r>
              <a:rPr lang="en-US" altLang="zh-CN" sz="2400" dirty="0" smtClean="0"/>
              <a:t>.</a:t>
            </a:r>
            <a:r>
              <a:rPr lang="zh-CN" altLang="en-US" sz="2400" dirty="0" smtClean="0"/>
              <a:t>也就是</a:t>
            </a:r>
            <a:r>
              <a:rPr lang="en-US" altLang="zh-CN" sz="2400" dirty="0" smtClean="0"/>
              <a:t>[0,99]</a:t>
            </a:r>
            <a:r>
              <a:rPr lang="zh-CN" altLang="en-US" sz="2400" dirty="0" smtClean="0"/>
              <a:t>有多少个偶数</a:t>
            </a:r>
            <a:r>
              <a:rPr lang="en-US" altLang="zh-CN" sz="2400" dirty="0" smtClean="0"/>
              <a:t>.</a:t>
            </a:r>
            <a:r>
              <a:rPr lang="zh-CN" altLang="en-US" sz="2400" dirty="0" smtClean="0"/>
              <a:t>我们知道是</a:t>
            </a:r>
            <a:r>
              <a:rPr lang="en-US" altLang="zh-CN" sz="2400" dirty="0" smtClean="0"/>
              <a:t>50</a:t>
            </a:r>
            <a:r>
              <a:rPr lang="zh-CN" altLang="en-US" sz="2400" dirty="0" smtClean="0"/>
              <a:t>个</a:t>
            </a:r>
            <a:r>
              <a:rPr lang="en-US" altLang="zh-CN" sz="2400" dirty="0" smtClean="0"/>
              <a:t>.</a:t>
            </a:r>
            <a:endParaRPr lang="en-US" altLang="zh-CN" sz="2400" dirty="0" smtClean="0"/>
          </a:p>
          <a:p>
            <a:pPr fontAlgn="base"/>
            <a:r>
              <a:rPr lang="zh-CN" altLang="en-US" sz="2400" dirty="0" smtClean="0"/>
              <a:t>然后数从高到低第一个小于上界的位置在十位的</a:t>
            </a:r>
            <a:r>
              <a:rPr lang="en-US" altLang="zh-CN" sz="2400" dirty="0" smtClean="0"/>
              <a:t>.</a:t>
            </a:r>
            <a:r>
              <a:rPr lang="zh-CN" altLang="en-US" sz="2400" dirty="0" smtClean="0"/>
              <a:t>也就是</a:t>
            </a:r>
            <a:r>
              <a:rPr lang="en-US" altLang="zh-CN" sz="2400" dirty="0" smtClean="0"/>
              <a:t>[100,119]</a:t>
            </a:r>
            <a:r>
              <a:rPr lang="zh-CN" altLang="en-US" sz="2400" dirty="0" smtClean="0"/>
              <a:t>有多少个偶数</a:t>
            </a:r>
            <a:r>
              <a:rPr lang="en-US" altLang="zh-CN" sz="2400" dirty="0" smtClean="0"/>
              <a:t>.</a:t>
            </a:r>
            <a:r>
              <a:rPr lang="zh-CN" altLang="en-US" sz="2400" dirty="0" smtClean="0"/>
              <a:t>我们枚举这一位是</a:t>
            </a:r>
            <a:r>
              <a:rPr lang="en-US" altLang="zh-CN" sz="2400" dirty="0" smtClean="0"/>
              <a:t>0</a:t>
            </a:r>
            <a:r>
              <a:rPr lang="zh-CN" altLang="en-US" sz="2400" dirty="0" smtClean="0"/>
              <a:t>还是</a:t>
            </a:r>
            <a:r>
              <a:rPr lang="en-US" altLang="zh-CN" sz="2400" dirty="0" smtClean="0"/>
              <a:t>1,</a:t>
            </a:r>
            <a:r>
              <a:rPr lang="zh-CN" altLang="en-US" sz="2400" dirty="0" smtClean="0"/>
              <a:t>发现分别有</a:t>
            </a:r>
            <a:r>
              <a:rPr lang="en-US" altLang="zh-CN" sz="2400" dirty="0" smtClean="0"/>
              <a:t>5</a:t>
            </a:r>
            <a:r>
              <a:rPr lang="zh-CN" altLang="en-US" sz="2400" dirty="0" smtClean="0"/>
              <a:t>个</a:t>
            </a:r>
            <a:r>
              <a:rPr lang="en-US" altLang="zh-CN" sz="2400" dirty="0" smtClean="0"/>
              <a:t>.</a:t>
            </a:r>
            <a:endParaRPr lang="en-US" altLang="zh-CN" sz="2400" dirty="0" smtClean="0"/>
          </a:p>
          <a:p>
            <a:pPr fontAlgn="base"/>
            <a:r>
              <a:rPr lang="zh-CN" altLang="en-US" sz="2400" dirty="0" smtClean="0"/>
              <a:t>然后数从高到低第一个小于上界的位置在十位的</a:t>
            </a:r>
            <a:r>
              <a:rPr lang="en-US" altLang="zh-CN" sz="2400" dirty="0" smtClean="0"/>
              <a:t>.</a:t>
            </a:r>
            <a:r>
              <a:rPr lang="zh-CN" altLang="en-US" sz="2400" dirty="0" smtClean="0"/>
              <a:t>也就是</a:t>
            </a:r>
            <a:r>
              <a:rPr lang="en-US" altLang="zh-CN" sz="2400" dirty="0" smtClean="0"/>
              <a:t>[120,122]</a:t>
            </a:r>
            <a:r>
              <a:rPr lang="zh-CN" altLang="en-US" sz="2400" dirty="0" smtClean="0"/>
              <a:t>有多少个偶数</a:t>
            </a:r>
            <a:r>
              <a:rPr lang="en-US" altLang="zh-CN" sz="2400" dirty="0" smtClean="0"/>
              <a:t>.</a:t>
            </a:r>
            <a:r>
              <a:rPr lang="zh-CN" altLang="en-US" sz="2400" dirty="0" smtClean="0"/>
              <a:t>枚举个位是</a:t>
            </a:r>
            <a:r>
              <a:rPr lang="en-US" altLang="zh-CN" sz="2400" dirty="0" smtClean="0"/>
              <a:t>0</a:t>
            </a:r>
            <a:r>
              <a:rPr lang="zh-CN" altLang="en-US" sz="2400" dirty="0" smtClean="0"/>
              <a:t>还是</a:t>
            </a:r>
            <a:r>
              <a:rPr lang="en-US" altLang="zh-CN" sz="2400" dirty="0" smtClean="0"/>
              <a:t>1</a:t>
            </a:r>
            <a:r>
              <a:rPr lang="zh-CN" altLang="en-US" sz="2400" dirty="0" smtClean="0"/>
              <a:t>还是</a:t>
            </a:r>
            <a:r>
              <a:rPr lang="en-US" altLang="zh-CN" sz="2400" dirty="0" smtClean="0"/>
              <a:t>2,</a:t>
            </a:r>
            <a:r>
              <a:rPr lang="zh-CN" altLang="en-US" sz="2400" dirty="0" smtClean="0"/>
              <a:t>发现有</a:t>
            </a:r>
            <a:r>
              <a:rPr lang="en-US" altLang="zh-CN" sz="2400" dirty="0" smtClean="0"/>
              <a:t>2</a:t>
            </a:r>
            <a:r>
              <a:rPr lang="zh-CN" altLang="en-US" sz="2400" dirty="0" smtClean="0"/>
              <a:t>个</a:t>
            </a:r>
            <a:r>
              <a:rPr lang="en-US" altLang="zh-CN" sz="2400" dirty="0" smtClean="0"/>
              <a:t>.</a:t>
            </a:r>
            <a:endParaRPr lang="en-US" altLang="zh-CN" sz="2400" dirty="0" smtClean="0"/>
          </a:p>
          <a:p>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1833: [ZJOI2010]count </a:t>
            </a:r>
            <a:r>
              <a:rPr lang="zh-CN" altLang="en-US" dirty="0" smtClean="0"/>
              <a:t>数字计数</a:t>
            </a:r>
            <a:endParaRPr lang="zh-CN" altLang="en-US" dirty="0"/>
          </a:p>
        </p:txBody>
      </p:sp>
      <p:sp>
        <p:nvSpPr>
          <p:cNvPr id="3" name="内容占位符 2"/>
          <p:cNvSpPr>
            <a:spLocks noGrp="1"/>
          </p:cNvSpPr>
          <p:nvPr>
            <p:ph sz="quarter" idx="1"/>
          </p:nvPr>
        </p:nvSpPr>
        <p:spPr/>
        <p:txBody>
          <a:bodyPr>
            <a:normAutofit lnSpcReduction="10000"/>
          </a:bodyPr>
          <a:lstStyle/>
          <a:p>
            <a:r>
              <a:rPr lang="zh-CN" altLang="en-US" sz="2400" dirty="0" smtClean="0"/>
              <a:t>给定两个正整数</a:t>
            </a:r>
            <a:r>
              <a:rPr lang="en-US" altLang="zh-CN" sz="2400" dirty="0" smtClean="0"/>
              <a:t>a</a:t>
            </a:r>
            <a:r>
              <a:rPr lang="zh-CN" altLang="en-US" sz="2400" dirty="0" smtClean="0"/>
              <a:t>和</a:t>
            </a:r>
            <a:r>
              <a:rPr lang="en-US" altLang="zh-CN" sz="2400" dirty="0" smtClean="0"/>
              <a:t>b,</a:t>
            </a:r>
            <a:r>
              <a:rPr lang="zh-CN" altLang="en-US" sz="2400" dirty="0" smtClean="0"/>
              <a:t>求在</a:t>
            </a:r>
            <a:r>
              <a:rPr lang="en-US" altLang="zh-CN" sz="2400" dirty="0" smtClean="0"/>
              <a:t>[</a:t>
            </a:r>
            <a:r>
              <a:rPr lang="en-US" altLang="zh-CN" sz="2400" dirty="0" err="1" smtClean="0"/>
              <a:t>a,b</a:t>
            </a:r>
            <a:r>
              <a:rPr lang="en-US" altLang="zh-CN" sz="2400" dirty="0" smtClean="0"/>
              <a:t>]</a:t>
            </a:r>
            <a:r>
              <a:rPr lang="zh-CN" altLang="en-US" sz="2400" dirty="0" smtClean="0"/>
              <a:t>中的所有整数中</a:t>
            </a:r>
            <a:r>
              <a:rPr lang="en-US" altLang="zh-CN" sz="2400" dirty="0" smtClean="0"/>
              <a:t>,</a:t>
            </a:r>
            <a:r>
              <a:rPr lang="zh-CN" altLang="en-US" sz="2400" dirty="0" smtClean="0"/>
              <a:t>每个数码</a:t>
            </a:r>
            <a:r>
              <a:rPr lang="en-US" altLang="zh-CN" sz="2400" dirty="0" smtClean="0"/>
              <a:t>(digit)</a:t>
            </a:r>
            <a:r>
              <a:rPr lang="zh-CN" altLang="en-US" sz="2400" dirty="0" smtClean="0"/>
              <a:t>各出现了多少次</a:t>
            </a:r>
            <a:r>
              <a:rPr lang="en-US" altLang="zh-CN" sz="2400" dirty="0" smtClean="0"/>
              <a:t>.a&lt;=b&lt;=10^12</a:t>
            </a:r>
            <a:endParaRPr lang="en-US" altLang="zh-CN" sz="2400" dirty="0" smtClean="0"/>
          </a:p>
          <a:p>
            <a:r>
              <a:rPr lang="zh-CN" altLang="en-US" sz="2400" dirty="0" smtClean="0"/>
              <a:t>比如</a:t>
            </a:r>
            <a:r>
              <a:rPr lang="en-US" altLang="zh-CN" sz="2400" dirty="0" smtClean="0"/>
              <a:t>[1,12],1,2,3,4,5,6,7,8,9,10,12,0</a:t>
            </a:r>
            <a:r>
              <a:rPr lang="zh-CN" altLang="en-US" sz="2400" dirty="0" smtClean="0"/>
              <a:t>出现</a:t>
            </a:r>
            <a:r>
              <a:rPr lang="en-US" altLang="zh-CN" sz="2400" dirty="0" smtClean="0"/>
              <a:t>1</a:t>
            </a:r>
            <a:r>
              <a:rPr lang="zh-CN" altLang="en-US" sz="2400" dirty="0" smtClean="0"/>
              <a:t>次</a:t>
            </a:r>
            <a:r>
              <a:rPr lang="en-US" altLang="zh-CN" sz="2400" dirty="0" smtClean="0"/>
              <a:t>,1</a:t>
            </a:r>
            <a:r>
              <a:rPr lang="zh-CN" altLang="en-US" sz="2400" dirty="0" smtClean="0"/>
              <a:t>出现</a:t>
            </a:r>
            <a:r>
              <a:rPr lang="en-US" altLang="zh-CN" sz="2400" dirty="0" smtClean="0"/>
              <a:t>3</a:t>
            </a:r>
            <a:r>
              <a:rPr lang="zh-CN" altLang="en-US" sz="2400" dirty="0" smtClean="0"/>
              <a:t>次</a:t>
            </a:r>
            <a:r>
              <a:rPr lang="en-US" altLang="zh-CN" sz="2400" dirty="0" smtClean="0"/>
              <a:t>,2</a:t>
            </a:r>
            <a:r>
              <a:rPr lang="zh-CN" altLang="en-US" sz="2400" dirty="0" smtClean="0"/>
              <a:t>出现</a:t>
            </a:r>
            <a:r>
              <a:rPr lang="en-US" altLang="zh-CN" sz="2400" dirty="0" smtClean="0"/>
              <a:t>2</a:t>
            </a:r>
            <a:r>
              <a:rPr lang="zh-CN" altLang="en-US" sz="2400" dirty="0" smtClean="0"/>
              <a:t>次</a:t>
            </a:r>
            <a:r>
              <a:rPr lang="en-US" altLang="zh-CN" sz="2400" dirty="0" smtClean="0"/>
              <a:t>.</a:t>
            </a:r>
            <a:endParaRPr lang="en-US" altLang="zh-CN" sz="2400" dirty="0" smtClean="0"/>
          </a:p>
          <a:p>
            <a:r>
              <a:rPr lang="zh-CN" altLang="en-US" sz="2400" dirty="0" smtClean="0"/>
              <a:t>先只考虑数字</a:t>
            </a:r>
            <a:r>
              <a:rPr lang="en-US" altLang="zh-CN" sz="2400" dirty="0" smtClean="0"/>
              <a:t>1,</a:t>
            </a:r>
            <a:r>
              <a:rPr lang="zh-CN" altLang="en-US" sz="2400" dirty="0" smtClean="0"/>
              <a:t>其他数字是类似的</a:t>
            </a:r>
            <a:r>
              <a:rPr lang="en-US" altLang="zh-CN" sz="2400" dirty="0" smtClean="0"/>
              <a:t>.</a:t>
            </a:r>
            <a:endParaRPr lang="en-US" altLang="zh-CN" sz="2400" dirty="0" smtClean="0"/>
          </a:p>
          <a:p>
            <a:r>
              <a:rPr lang="zh-CN" altLang="en-US" sz="2400" dirty="0" smtClean="0"/>
              <a:t>拆成两个前缀和相减</a:t>
            </a:r>
            <a:r>
              <a:rPr lang="en-US" altLang="zh-CN" sz="2400" dirty="0" smtClean="0"/>
              <a:t>,</a:t>
            </a:r>
            <a:r>
              <a:rPr lang="zh-CN" altLang="en-US" sz="2400" dirty="0" smtClean="0"/>
              <a:t>问题相当于</a:t>
            </a:r>
            <a:r>
              <a:rPr lang="en-US" altLang="zh-CN" sz="2400" dirty="0" smtClean="0"/>
              <a:t>[0,x]</a:t>
            </a:r>
            <a:r>
              <a:rPr lang="zh-CN" altLang="en-US" sz="2400" dirty="0" smtClean="0"/>
              <a:t>所有整数中</a:t>
            </a:r>
            <a:r>
              <a:rPr lang="en-US" altLang="zh-CN" sz="2400" dirty="0" smtClean="0"/>
              <a:t>1</a:t>
            </a:r>
            <a:r>
              <a:rPr lang="zh-CN" altLang="en-US" sz="2400" dirty="0" smtClean="0"/>
              <a:t>的出现次数</a:t>
            </a:r>
            <a:r>
              <a:rPr lang="en-US" altLang="zh-CN" sz="2400" dirty="0" smtClean="0"/>
              <a:t>.</a:t>
            </a:r>
            <a:endParaRPr lang="en-US" altLang="zh-CN" sz="2400" dirty="0" smtClean="0"/>
          </a:p>
          <a:p>
            <a:r>
              <a:rPr lang="zh-CN" altLang="en-US" sz="2400" dirty="0" smtClean="0"/>
              <a:t>先考虑位数小于</a:t>
            </a:r>
            <a:r>
              <a:rPr lang="en-US" altLang="zh-CN" sz="2400" dirty="0" smtClean="0"/>
              <a:t>x</a:t>
            </a:r>
            <a:r>
              <a:rPr lang="zh-CN" altLang="en-US" sz="2400" dirty="0" smtClean="0"/>
              <a:t>的</a:t>
            </a:r>
            <a:r>
              <a:rPr lang="en-US" altLang="zh-CN" sz="2400" dirty="0" smtClean="0"/>
              <a:t>.</a:t>
            </a:r>
            <a:r>
              <a:rPr lang="zh-CN" altLang="en-US" sz="2400" dirty="0" smtClean="0"/>
              <a:t>那么预处理</a:t>
            </a:r>
            <a:r>
              <a:rPr lang="en-US" altLang="zh-CN" sz="2400" dirty="0" smtClean="0"/>
              <a:t>f[</a:t>
            </a:r>
            <a:r>
              <a:rPr lang="en-US" altLang="zh-CN" sz="2400" dirty="0" err="1" smtClean="0"/>
              <a:t>i</a:t>
            </a:r>
            <a:r>
              <a:rPr lang="en-US" altLang="zh-CN" sz="2400" dirty="0" smtClean="0"/>
              <a:t>]</a:t>
            </a:r>
            <a:r>
              <a:rPr lang="zh-CN" altLang="en-US" sz="2400" dirty="0" smtClean="0"/>
              <a:t>表示所有</a:t>
            </a:r>
            <a:r>
              <a:rPr lang="en-US" altLang="zh-CN" sz="2400" dirty="0" err="1" smtClean="0"/>
              <a:t>i</a:t>
            </a:r>
            <a:r>
              <a:rPr lang="zh-CN" altLang="en-US" sz="2400" dirty="0" smtClean="0"/>
              <a:t>位无前导零整数中共有多少个</a:t>
            </a:r>
            <a:r>
              <a:rPr lang="en-US" altLang="zh-CN" sz="2400" dirty="0" smtClean="0"/>
              <a:t>1.</a:t>
            </a:r>
            <a:endParaRPr lang="en-US" altLang="zh-CN" sz="2400" dirty="0" smtClean="0"/>
          </a:p>
          <a:p>
            <a:r>
              <a:rPr lang="en-US" altLang="zh-CN" sz="2400" dirty="0" smtClean="0"/>
              <a:t>f[</a:t>
            </a:r>
            <a:r>
              <a:rPr lang="en-US" altLang="zh-CN" sz="2400" dirty="0" err="1" smtClean="0"/>
              <a:t>i</a:t>
            </a:r>
            <a:r>
              <a:rPr lang="en-US" altLang="zh-CN" sz="2400" dirty="0" smtClean="0"/>
              <a:t>]=f[i-1]*10+9*10^(i-2)</a:t>
            </a:r>
            <a:endParaRPr lang="en-US" altLang="zh-CN" sz="2400" dirty="0" smtClean="0"/>
          </a:p>
          <a:p>
            <a:r>
              <a:rPr lang="zh-CN" altLang="en-US" sz="2400" dirty="0" smtClean="0"/>
              <a:t>方程的含义是分别考虑数字的最后一位和其他位</a:t>
            </a:r>
            <a:r>
              <a:rPr lang="en-US" altLang="zh-CN" sz="2400" dirty="0" smtClean="0"/>
              <a:t>.</a:t>
            </a:r>
            <a:endParaRPr lang="en-US" altLang="zh-CN" sz="2400" dirty="0" smtClean="0"/>
          </a:p>
          <a:p>
            <a:r>
              <a:rPr lang="en-US" altLang="zh-CN" sz="2400" dirty="0" smtClean="0"/>
              <a:t>2-9</a:t>
            </a:r>
            <a:r>
              <a:rPr lang="zh-CN" altLang="en-US" sz="2400" dirty="0" smtClean="0"/>
              <a:t>是一样的</a:t>
            </a:r>
            <a:r>
              <a:rPr lang="en-US" altLang="zh-CN" sz="2400" dirty="0" smtClean="0"/>
              <a:t>,0</a:t>
            </a:r>
            <a:r>
              <a:rPr lang="zh-CN" altLang="en-US" sz="2400" dirty="0" smtClean="0"/>
              <a:t>的转移略有不同</a:t>
            </a:r>
            <a:r>
              <a:rPr lang="en-US" altLang="zh-CN" sz="2400" dirty="0" smtClean="0"/>
              <a:t>,</a:t>
            </a:r>
            <a:r>
              <a:rPr lang="zh-CN" altLang="en-US" sz="2400" dirty="0" smtClean="0"/>
              <a:t>留作思考</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1833: [ZJOI2010]count </a:t>
            </a:r>
            <a:r>
              <a:rPr lang="zh-CN" altLang="en-US" dirty="0" smtClean="0"/>
              <a:t>数字计数</a:t>
            </a:r>
            <a:endParaRPr lang="zh-CN" altLang="en-US" dirty="0"/>
          </a:p>
        </p:txBody>
      </p:sp>
      <p:sp>
        <p:nvSpPr>
          <p:cNvPr id="3" name="内容占位符 2"/>
          <p:cNvSpPr>
            <a:spLocks noGrp="1"/>
          </p:cNvSpPr>
          <p:nvPr>
            <p:ph sz="quarter" idx="1"/>
          </p:nvPr>
        </p:nvSpPr>
        <p:spPr/>
        <p:txBody>
          <a:bodyPr>
            <a:normAutofit lnSpcReduction="10000"/>
          </a:bodyPr>
          <a:lstStyle/>
          <a:p>
            <a:r>
              <a:rPr lang="zh-CN" altLang="en-US" sz="2400" dirty="0" smtClean="0"/>
              <a:t>于是我们就可以快速求出位数比</a:t>
            </a:r>
            <a:r>
              <a:rPr lang="en-US" altLang="zh-CN" sz="2400" dirty="0" smtClean="0"/>
              <a:t>x</a:t>
            </a:r>
            <a:r>
              <a:rPr lang="zh-CN" altLang="en-US" sz="2400" dirty="0" smtClean="0"/>
              <a:t>小的数字里有多少个</a:t>
            </a:r>
            <a:r>
              <a:rPr lang="en-US" altLang="zh-CN" sz="2400" dirty="0" smtClean="0"/>
              <a:t>1,</a:t>
            </a:r>
            <a:r>
              <a:rPr lang="zh-CN" altLang="en-US" sz="2400" dirty="0" smtClean="0"/>
              <a:t>然后特判掉等于</a:t>
            </a:r>
            <a:r>
              <a:rPr lang="en-US" altLang="zh-CN" sz="2400" dirty="0" smtClean="0"/>
              <a:t>x</a:t>
            </a:r>
            <a:r>
              <a:rPr lang="zh-CN" altLang="en-US" sz="2400" dirty="0" smtClean="0"/>
              <a:t>的数里有多少个</a:t>
            </a:r>
            <a:r>
              <a:rPr lang="en-US" altLang="zh-CN" sz="2400" dirty="0" smtClean="0"/>
              <a:t>1.</a:t>
            </a:r>
            <a:r>
              <a:rPr lang="zh-CN" altLang="en-US" sz="2400" dirty="0" smtClean="0"/>
              <a:t>接下来只考虑与</a:t>
            </a:r>
            <a:r>
              <a:rPr lang="en-US" altLang="zh-CN" sz="2400" dirty="0" smtClean="0"/>
              <a:t>x</a:t>
            </a:r>
            <a:r>
              <a:rPr lang="zh-CN" altLang="en-US" sz="2400" dirty="0" smtClean="0"/>
              <a:t>位数相同且小于</a:t>
            </a:r>
            <a:r>
              <a:rPr lang="en-US" altLang="zh-CN" sz="2400" dirty="0" smtClean="0"/>
              <a:t>x</a:t>
            </a:r>
            <a:r>
              <a:rPr lang="zh-CN" altLang="en-US" sz="2400" dirty="0" smtClean="0"/>
              <a:t>的所有数中有多少个</a:t>
            </a:r>
            <a:r>
              <a:rPr lang="en-US" altLang="zh-CN" sz="2400" dirty="0" smtClean="0"/>
              <a:t>1.</a:t>
            </a:r>
            <a:endParaRPr lang="en-US" altLang="zh-CN" sz="2400" dirty="0" smtClean="0"/>
          </a:p>
          <a:p>
            <a:r>
              <a:rPr lang="zh-CN" altLang="en-US" sz="2400" dirty="0" smtClean="0"/>
              <a:t>这样的数字必然有一个位置</a:t>
            </a:r>
            <a:r>
              <a:rPr lang="en-US" altLang="zh-CN" sz="2400" dirty="0" smtClean="0"/>
              <a:t>,</a:t>
            </a:r>
            <a:r>
              <a:rPr lang="zh-CN" altLang="en-US" sz="2400" dirty="0" smtClean="0"/>
              <a:t>左边的数字都和</a:t>
            </a:r>
            <a:r>
              <a:rPr lang="en-US" altLang="zh-CN" sz="2400" dirty="0" smtClean="0"/>
              <a:t>x</a:t>
            </a:r>
            <a:r>
              <a:rPr lang="zh-CN" altLang="en-US" sz="2400" dirty="0" smtClean="0"/>
              <a:t>相同</a:t>
            </a:r>
            <a:r>
              <a:rPr lang="en-US" altLang="zh-CN" sz="2400" dirty="0" smtClean="0"/>
              <a:t>,</a:t>
            </a:r>
            <a:r>
              <a:rPr lang="zh-CN" altLang="en-US" sz="2400" dirty="0" smtClean="0"/>
              <a:t>这个位置小于</a:t>
            </a:r>
            <a:r>
              <a:rPr lang="en-US" altLang="zh-CN" sz="2400" dirty="0" smtClean="0"/>
              <a:t>x.</a:t>
            </a:r>
            <a:r>
              <a:rPr lang="zh-CN" altLang="en-US" sz="2400" dirty="0" smtClean="0"/>
              <a:t>枚举这个位置</a:t>
            </a:r>
            <a:r>
              <a:rPr lang="en-US" altLang="zh-CN" sz="2400" dirty="0" smtClean="0"/>
              <a:t>.</a:t>
            </a:r>
            <a:endParaRPr lang="en-US" altLang="zh-CN" sz="2400" dirty="0" smtClean="0"/>
          </a:p>
          <a:p>
            <a:r>
              <a:rPr lang="zh-CN" altLang="en-US" sz="2400" dirty="0" smtClean="0"/>
              <a:t>我们考虑</a:t>
            </a:r>
            <a:r>
              <a:rPr lang="en-US" altLang="zh-CN" sz="2400" dirty="0" smtClean="0"/>
              <a:t>1</a:t>
            </a:r>
            <a:r>
              <a:rPr lang="zh-CN" altLang="en-US" sz="2400" dirty="0" smtClean="0"/>
              <a:t>出现的位置</a:t>
            </a:r>
            <a:r>
              <a:rPr lang="en-US" altLang="zh-CN" sz="2400" dirty="0" smtClean="0"/>
              <a:t>:</a:t>
            </a:r>
            <a:r>
              <a:rPr lang="zh-CN" altLang="en-US" sz="2400" dirty="0" smtClean="0"/>
              <a:t>可能恰好在这个位置</a:t>
            </a:r>
            <a:r>
              <a:rPr lang="en-US" altLang="zh-CN" sz="2400" dirty="0" smtClean="0"/>
              <a:t>,</a:t>
            </a:r>
            <a:r>
              <a:rPr lang="zh-CN" altLang="en-US" sz="2400" dirty="0" smtClean="0"/>
              <a:t>可能在这个位置之前</a:t>
            </a:r>
            <a:r>
              <a:rPr lang="en-US" altLang="zh-CN" sz="2400" dirty="0" smtClean="0"/>
              <a:t>,</a:t>
            </a:r>
            <a:r>
              <a:rPr lang="zh-CN" altLang="en-US" sz="2400" dirty="0" smtClean="0"/>
              <a:t>可能在这个位置之后</a:t>
            </a:r>
            <a:r>
              <a:rPr lang="en-US" altLang="zh-CN" sz="2400" dirty="0" smtClean="0"/>
              <a:t>.</a:t>
            </a:r>
            <a:endParaRPr lang="en-US" altLang="zh-CN" sz="2400" dirty="0" smtClean="0"/>
          </a:p>
          <a:p>
            <a:r>
              <a:rPr lang="zh-CN" altLang="en-US" sz="2400" dirty="0" smtClean="0"/>
              <a:t>如果在这个位置之后</a:t>
            </a:r>
            <a:r>
              <a:rPr lang="en-US" altLang="zh-CN" sz="2400" dirty="0" smtClean="0"/>
              <a:t>,</a:t>
            </a:r>
            <a:r>
              <a:rPr lang="zh-CN" altLang="en-US" sz="2400" dirty="0" smtClean="0"/>
              <a:t>假如后面有</a:t>
            </a:r>
            <a:r>
              <a:rPr lang="en-US" altLang="zh-CN" sz="2400" dirty="0" err="1" smtClean="0"/>
              <a:t>i</a:t>
            </a:r>
            <a:r>
              <a:rPr lang="zh-CN" altLang="en-US" sz="2400" dirty="0" smtClean="0"/>
              <a:t>位</a:t>
            </a:r>
            <a:r>
              <a:rPr lang="en-US" altLang="zh-CN" sz="2400" dirty="0" smtClean="0"/>
              <a:t>,</a:t>
            </a:r>
            <a:r>
              <a:rPr lang="zh-CN" altLang="en-US" sz="2400" dirty="0" smtClean="0"/>
              <a:t>那么出现的</a:t>
            </a:r>
            <a:r>
              <a:rPr lang="en-US" altLang="zh-CN" sz="2400" dirty="0" smtClean="0"/>
              <a:t>1</a:t>
            </a:r>
            <a:r>
              <a:rPr lang="zh-CN" altLang="en-US" sz="2400" dirty="0" smtClean="0"/>
              <a:t>的总数是不是</a:t>
            </a:r>
            <a:r>
              <a:rPr lang="en-US" altLang="zh-CN" sz="2400" dirty="0" smtClean="0"/>
              <a:t>f[</a:t>
            </a:r>
            <a:r>
              <a:rPr lang="en-US" altLang="zh-CN" sz="2400" dirty="0" err="1" smtClean="0"/>
              <a:t>i</a:t>
            </a:r>
            <a:r>
              <a:rPr lang="en-US" altLang="zh-CN" sz="2400" dirty="0" smtClean="0"/>
              <a:t>]?</a:t>
            </a:r>
            <a:endParaRPr lang="en-US" altLang="zh-CN" sz="2400" dirty="0" smtClean="0"/>
          </a:p>
          <a:p>
            <a:r>
              <a:rPr lang="zh-CN" altLang="en-US" sz="2400" dirty="0" smtClean="0"/>
              <a:t>不是</a:t>
            </a:r>
            <a:r>
              <a:rPr lang="en-US" altLang="zh-CN" sz="2400" dirty="0" smtClean="0"/>
              <a:t>,</a:t>
            </a:r>
            <a:r>
              <a:rPr lang="zh-CN" altLang="en-US" sz="2400" dirty="0" smtClean="0"/>
              <a:t>这后面的</a:t>
            </a:r>
            <a:r>
              <a:rPr lang="en-US" altLang="zh-CN" sz="2400" dirty="0" err="1" smtClean="0"/>
              <a:t>i</a:t>
            </a:r>
            <a:r>
              <a:rPr lang="zh-CN" altLang="en-US" sz="2400" dirty="0" smtClean="0"/>
              <a:t>位可以是一个有前导零的数字</a:t>
            </a:r>
            <a:r>
              <a:rPr lang="en-US" altLang="zh-CN" sz="2400" dirty="0" smtClean="0"/>
              <a:t>,</a:t>
            </a:r>
            <a:r>
              <a:rPr lang="zh-CN" altLang="en-US" sz="2400" dirty="0" smtClean="0"/>
              <a:t>我们需要另一个</a:t>
            </a:r>
            <a:r>
              <a:rPr lang="en-US" altLang="zh-CN" sz="2400" dirty="0" err="1" smtClean="0"/>
              <a:t>dp</a:t>
            </a:r>
            <a:r>
              <a:rPr lang="zh-CN" altLang="en-US" sz="2400" dirty="0" smtClean="0"/>
              <a:t>数组</a:t>
            </a:r>
            <a:r>
              <a:rPr lang="en-US" altLang="zh-CN" sz="2400" dirty="0" smtClean="0"/>
              <a:t>g[</a:t>
            </a:r>
            <a:r>
              <a:rPr lang="en-US" altLang="zh-CN" sz="2400" dirty="0" err="1" smtClean="0"/>
              <a:t>i</a:t>
            </a:r>
            <a:r>
              <a:rPr lang="en-US" altLang="zh-CN" sz="2400" dirty="0" smtClean="0"/>
              <a:t>]</a:t>
            </a:r>
            <a:r>
              <a:rPr lang="zh-CN" altLang="en-US" sz="2400" dirty="0" smtClean="0"/>
              <a:t>表示所有</a:t>
            </a:r>
            <a:r>
              <a:rPr lang="en-US" altLang="zh-CN" sz="2400" dirty="0" err="1" smtClean="0"/>
              <a:t>i</a:t>
            </a:r>
            <a:r>
              <a:rPr lang="zh-CN" altLang="en-US" sz="2400" dirty="0" smtClean="0"/>
              <a:t>位数字</a:t>
            </a:r>
            <a:r>
              <a:rPr lang="en-US" altLang="zh-CN" sz="2400" dirty="0" smtClean="0"/>
              <a:t>(</a:t>
            </a:r>
            <a:r>
              <a:rPr lang="zh-CN" altLang="en-US" sz="2400" dirty="0" smtClean="0"/>
              <a:t>允许前导零</a:t>
            </a:r>
            <a:r>
              <a:rPr lang="en-US" altLang="zh-CN" sz="2400" dirty="0" smtClean="0"/>
              <a:t>)</a:t>
            </a:r>
            <a:r>
              <a:rPr lang="zh-CN" altLang="en-US" sz="2400" dirty="0" smtClean="0"/>
              <a:t>的</a:t>
            </a:r>
            <a:r>
              <a:rPr lang="en-US" altLang="zh-CN" sz="2400" dirty="0" smtClean="0"/>
              <a:t>1</a:t>
            </a:r>
            <a:r>
              <a:rPr lang="zh-CN" altLang="en-US" sz="2400" dirty="0" smtClean="0"/>
              <a:t>的总数</a:t>
            </a:r>
            <a:r>
              <a:rPr lang="en-US" altLang="zh-CN" sz="2400" dirty="0" smtClean="0"/>
              <a:t>.g[</a:t>
            </a:r>
            <a:r>
              <a:rPr lang="en-US" altLang="zh-CN" sz="2400" dirty="0" err="1" smtClean="0"/>
              <a:t>i</a:t>
            </a:r>
            <a:r>
              <a:rPr lang="en-US" altLang="zh-CN" sz="2400" dirty="0" smtClean="0"/>
              <a:t>]=f[1]+f[2]+…+f[</a:t>
            </a:r>
            <a:r>
              <a:rPr lang="en-US" altLang="zh-CN" sz="2400" dirty="0" err="1" smtClean="0"/>
              <a:t>i</a:t>
            </a:r>
            <a:r>
              <a:rPr lang="en-US" altLang="zh-CN" sz="2400" dirty="0" smtClean="0"/>
              <a:t>],</a:t>
            </a:r>
            <a:r>
              <a:rPr lang="zh-CN" altLang="en-US" sz="2400" dirty="0" smtClean="0"/>
              <a:t>考虑前导零数目即可</a:t>
            </a:r>
            <a:r>
              <a:rPr lang="en-US" altLang="zh-CN" sz="2400" dirty="0" smtClean="0"/>
              <a:t>.</a:t>
            </a:r>
            <a:endParaRPr lang="en-US" altLang="zh-CN" sz="2400" dirty="0" smtClean="0"/>
          </a:p>
          <a:p>
            <a:r>
              <a:rPr lang="en-US" altLang="zh-CN" sz="2400" dirty="0" smtClean="0"/>
              <a:t>0</a:t>
            </a:r>
            <a:r>
              <a:rPr lang="zh-CN" altLang="en-US" sz="2400" dirty="0" smtClean="0"/>
              <a:t>的转移有所不同</a:t>
            </a:r>
            <a:r>
              <a:rPr lang="en-US" altLang="zh-CN" sz="2400" dirty="0" smtClean="0"/>
              <a:t>,</a:t>
            </a:r>
            <a:r>
              <a:rPr lang="zh-CN" altLang="en-US" sz="2400" dirty="0" smtClean="0"/>
              <a:t>留作思考</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1833: [ZJOI2010]count </a:t>
            </a:r>
            <a:r>
              <a:rPr lang="zh-CN" altLang="en-US" dirty="0" smtClean="0"/>
              <a:t>数字计数</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再考虑恰好在这个位置的</a:t>
            </a:r>
            <a:r>
              <a:rPr lang="en-US" altLang="zh-CN" sz="2400" dirty="0" smtClean="0"/>
              <a:t>.</a:t>
            </a:r>
            <a:r>
              <a:rPr lang="zh-CN" altLang="en-US" sz="2400" dirty="0" smtClean="0"/>
              <a:t>需要先看</a:t>
            </a:r>
            <a:r>
              <a:rPr lang="en-US" altLang="zh-CN" sz="2400" dirty="0" smtClean="0"/>
              <a:t>x</a:t>
            </a:r>
            <a:r>
              <a:rPr lang="zh-CN" altLang="en-US" sz="2400" dirty="0" smtClean="0"/>
              <a:t>的这个位置是不是</a:t>
            </a:r>
            <a:r>
              <a:rPr lang="en-US" altLang="zh-CN" sz="2400" dirty="0" smtClean="0"/>
              <a:t>0</a:t>
            </a:r>
            <a:r>
              <a:rPr lang="zh-CN" altLang="en-US" sz="2400" dirty="0" smtClean="0"/>
              <a:t>或</a:t>
            </a:r>
            <a:r>
              <a:rPr lang="en-US" altLang="zh-CN" sz="2400" dirty="0" smtClean="0"/>
              <a:t>1,</a:t>
            </a:r>
            <a:r>
              <a:rPr lang="zh-CN" altLang="en-US" sz="2400" dirty="0" smtClean="0"/>
              <a:t>否则这个位置不能是</a:t>
            </a:r>
            <a:r>
              <a:rPr lang="en-US" altLang="zh-CN" sz="2400" dirty="0" smtClean="0"/>
              <a:t>1.</a:t>
            </a:r>
            <a:endParaRPr lang="en-US" altLang="zh-CN" sz="2400" dirty="0" smtClean="0"/>
          </a:p>
          <a:p>
            <a:r>
              <a:rPr lang="zh-CN" altLang="en-US" sz="2400" dirty="0" smtClean="0"/>
              <a:t>如果这个位置可以是</a:t>
            </a:r>
            <a:r>
              <a:rPr lang="en-US" altLang="zh-CN" sz="2400" dirty="0" smtClean="0"/>
              <a:t>1,</a:t>
            </a:r>
            <a:r>
              <a:rPr lang="zh-CN" altLang="en-US" sz="2400" dirty="0" smtClean="0"/>
              <a:t>假设这个位置后面还有</a:t>
            </a:r>
            <a:r>
              <a:rPr lang="en-US" altLang="zh-CN" sz="2400" dirty="0" err="1" smtClean="0"/>
              <a:t>i</a:t>
            </a:r>
            <a:r>
              <a:rPr lang="zh-CN" altLang="en-US" sz="2400" dirty="0" smtClean="0"/>
              <a:t>位</a:t>
            </a:r>
            <a:r>
              <a:rPr lang="en-US" altLang="zh-CN" sz="2400" dirty="0" smtClean="0"/>
              <a:t>,</a:t>
            </a:r>
            <a:r>
              <a:rPr lang="zh-CN" altLang="en-US" sz="2400" dirty="0" smtClean="0"/>
              <a:t>那么这个位置的</a:t>
            </a:r>
            <a:r>
              <a:rPr lang="en-US" altLang="zh-CN" sz="2400" dirty="0" smtClean="0"/>
              <a:t>1</a:t>
            </a:r>
            <a:r>
              <a:rPr lang="zh-CN" altLang="en-US" sz="2400" dirty="0" smtClean="0"/>
              <a:t>在</a:t>
            </a:r>
            <a:r>
              <a:rPr lang="en-US" altLang="zh-CN" sz="2400" dirty="0" smtClean="0"/>
              <a:t>10^i</a:t>
            </a:r>
            <a:r>
              <a:rPr lang="zh-CN" altLang="en-US" sz="2400" dirty="0" smtClean="0"/>
              <a:t>个数中被统计</a:t>
            </a:r>
            <a:r>
              <a:rPr lang="en-US" altLang="zh-CN" sz="2400" dirty="0" smtClean="0"/>
              <a:t>,</a:t>
            </a:r>
            <a:r>
              <a:rPr lang="zh-CN" altLang="en-US" sz="2400" dirty="0" smtClean="0"/>
              <a:t>答案加上</a:t>
            </a:r>
            <a:r>
              <a:rPr lang="en-US" altLang="zh-CN" sz="2400" dirty="0" smtClean="0"/>
              <a:t>10^i.</a:t>
            </a:r>
            <a:endParaRPr lang="en-US" altLang="zh-CN" sz="2400" dirty="0" smtClean="0"/>
          </a:p>
          <a:p>
            <a:r>
              <a:rPr lang="zh-CN" altLang="en-US" sz="2400" dirty="0" smtClean="0"/>
              <a:t>考虑在这个位置之前的</a:t>
            </a:r>
            <a:r>
              <a:rPr lang="en-US" altLang="zh-CN" sz="2400" dirty="0" smtClean="0"/>
              <a:t>.</a:t>
            </a:r>
            <a:r>
              <a:rPr lang="zh-CN" altLang="en-US" sz="2400" dirty="0" smtClean="0"/>
              <a:t>这些数字已经确定</a:t>
            </a:r>
            <a:r>
              <a:rPr lang="en-US" altLang="zh-CN" sz="2400" dirty="0" smtClean="0"/>
              <a:t>,</a:t>
            </a:r>
            <a:r>
              <a:rPr lang="zh-CN" altLang="en-US" sz="2400" dirty="0" smtClean="0"/>
              <a:t>其中</a:t>
            </a:r>
            <a:r>
              <a:rPr lang="en-US" altLang="zh-CN" sz="2400" dirty="0" smtClean="0"/>
              <a:t>1</a:t>
            </a:r>
            <a:r>
              <a:rPr lang="zh-CN" altLang="en-US" sz="2400" dirty="0" smtClean="0"/>
              <a:t>的个数可以数出来</a:t>
            </a:r>
            <a:r>
              <a:rPr lang="en-US" altLang="zh-CN" sz="2400" dirty="0" smtClean="0"/>
              <a:t>,</a:t>
            </a:r>
            <a:r>
              <a:rPr lang="zh-CN" altLang="en-US" sz="2400" dirty="0" smtClean="0"/>
              <a:t>记作</a:t>
            </a:r>
            <a:r>
              <a:rPr lang="en-US" altLang="zh-CN" sz="2400" dirty="0" smtClean="0"/>
              <a:t>y,</a:t>
            </a:r>
            <a:r>
              <a:rPr lang="zh-CN" altLang="en-US" sz="2400" dirty="0" smtClean="0"/>
              <a:t>假设这个位置后面还有</a:t>
            </a:r>
            <a:r>
              <a:rPr lang="en-US" altLang="zh-CN" sz="2400" dirty="0" err="1" smtClean="0"/>
              <a:t>i</a:t>
            </a:r>
            <a:r>
              <a:rPr lang="zh-CN" altLang="en-US" sz="2400" dirty="0" smtClean="0"/>
              <a:t>位</a:t>
            </a:r>
            <a:r>
              <a:rPr lang="en-US" altLang="zh-CN" sz="2400" dirty="0" smtClean="0"/>
              <a:t>,</a:t>
            </a:r>
            <a:r>
              <a:rPr lang="zh-CN" altLang="en-US" sz="2400" dirty="0" smtClean="0"/>
              <a:t>那么这个位置的</a:t>
            </a:r>
            <a:r>
              <a:rPr lang="en-US" altLang="zh-CN" sz="2400" dirty="0" smtClean="0"/>
              <a:t>1</a:t>
            </a:r>
            <a:r>
              <a:rPr lang="zh-CN" altLang="en-US" sz="2400" dirty="0" smtClean="0"/>
              <a:t>在</a:t>
            </a:r>
            <a:r>
              <a:rPr lang="en-US" altLang="zh-CN" sz="2400" dirty="0" smtClean="0"/>
              <a:t>10^i</a:t>
            </a:r>
            <a:r>
              <a:rPr lang="zh-CN" altLang="en-US" sz="2400" dirty="0" smtClean="0"/>
              <a:t>个数中被统计</a:t>
            </a:r>
            <a:r>
              <a:rPr lang="en-US" altLang="zh-CN" sz="2400" dirty="0" smtClean="0"/>
              <a:t>.</a:t>
            </a:r>
            <a:endParaRPr lang="en-US" altLang="zh-CN" sz="2400" dirty="0" smtClean="0"/>
          </a:p>
          <a:p>
            <a:r>
              <a:rPr lang="zh-CN" altLang="en-US" sz="2400" dirty="0" smtClean="0"/>
              <a:t>好像不太对啊</a:t>
            </a:r>
            <a:endParaRPr lang="en-US" altLang="zh-CN" sz="2400" dirty="0" smtClean="0"/>
          </a:p>
          <a:p>
            <a:r>
              <a:rPr lang="zh-CN" altLang="en-US" sz="2400" dirty="0" smtClean="0"/>
              <a:t>注意</a:t>
            </a:r>
            <a:r>
              <a:rPr lang="en-US" altLang="zh-CN" sz="2400" dirty="0" smtClean="0"/>
              <a:t>”</a:t>
            </a:r>
            <a:r>
              <a:rPr lang="zh-CN" altLang="en-US" sz="2400" dirty="0" smtClean="0"/>
              <a:t>这个位置</a:t>
            </a:r>
            <a:r>
              <a:rPr lang="en-US" altLang="zh-CN" sz="2400" dirty="0" smtClean="0"/>
              <a:t>”</a:t>
            </a:r>
            <a:r>
              <a:rPr lang="zh-CN" altLang="en-US" sz="2400" dirty="0" smtClean="0"/>
              <a:t>也可能有多种选法</a:t>
            </a:r>
            <a:r>
              <a:rPr lang="en-US" altLang="zh-CN" sz="2400" dirty="0" smtClean="0"/>
              <a:t>,</a:t>
            </a:r>
            <a:r>
              <a:rPr lang="zh-CN" altLang="en-US" sz="2400" dirty="0" smtClean="0"/>
              <a:t>也可能一种选法都没有</a:t>
            </a:r>
            <a:r>
              <a:rPr lang="en-US" altLang="zh-CN" sz="2400" dirty="0" smtClean="0"/>
              <a:t>(x</a:t>
            </a:r>
            <a:r>
              <a:rPr lang="zh-CN" altLang="en-US" sz="2400" dirty="0" smtClean="0"/>
              <a:t>的这一位为</a:t>
            </a:r>
            <a:r>
              <a:rPr lang="en-US" altLang="zh-CN" sz="2400" dirty="0" smtClean="0"/>
              <a:t>0)</a:t>
            </a:r>
            <a:endParaRPr lang="en-US" altLang="zh-CN" sz="2400" dirty="0" smtClean="0"/>
          </a:p>
          <a:p>
            <a:r>
              <a:rPr lang="zh-CN" altLang="en-US" sz="2400" dirty="0" smtClean="0"/>
              <a:t>需要把</a:t>
            </a:r>
            <a:r>
              <a:rPr lang="en-US" altLang="zh-CN" sz="2400" dirty="0" smtClean="0"/>
              <a:t>10^i</a:t>
            </a:r>
            <a:r>
              <a:rPr lang="zh-CN" altLang="en-US" sz="2400" dirty="0" smtClean="0"/>
              <a:t>乘上这个位置的选法再累加上去</a:t>
            </a:r>
            <a:r>
              <a:rPr lang="en-US" altLang="zh-CN" sz="2400" dirty="0" smtClean="0"/>
              <a:t>.</a:t>
            </a:r>
            <a:endParaRPr lang="en-US" altLang="zh-CN" sz="2400" dirty="0" smtClean="0"/>
          </a:p>
          <a:p>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数位</a:t>
            </a:r>
            <a:r>
              <a:rPr lang="en-US" altLang="zh-CN" dirty="0" smtClean="0"/>
              <a:t>DP(</a:t>
            </a:r>
            <a:r>
              <a:rPr lang="zh-CN" altLang="en-US" dirty="0" smtClean="0"/>
              <a:t>更多题目</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en-US" altLang="zh-CN" dirty="0" smtClean="0"/>
              <a:t>bzoj1026[SCOI2009]Windy</a:t>
            </a:r>
            <a:r>
              <a:rPr lang="zh-CN" altLang="en-US" dirty="0" smtClean="0"/>
              <a:t>数</a:t>
            </a:r>
            <a:endParaRPr lang="en-US" altLang="zh-CN" dirty="0" smtClean="0"/>
          </a:p>
          <a:p>
            <a:r>
              <a:rPr lang="en-US" altLang="zh-CN" dirty="0" smtClean="0"/>
              <a:t>bzoj3131[SDOI2013]</a:t>
            </a:r>
            <a:r>
              <a:rPr lang="zh-CN" altLang="en-US" dirty="0" smtClean="0"/>
              <a:t>淘金</a:t>
            </a:r>
            <a:endParaRPr lang="en-US" altLang="zh-CN" dirty="0" smtClean="0"/>
          </a:p>
          <a:p>
            <a:r>
              <a:rPr lang="zh-CN" altLang="en-US" dirty="0" smtClean="0"/>
              <a:t>建议</a:t>
            </a:r>
            <a:r>
              <a:rPr lang="en-US" altLang="zh-CN" dirty="0" smtClean="0"/>
              <a:t>:</a:t>
            </a:r>
            <a:endParaRPr lang="en-US" altLang="zh-CN" dirty="0" smtClean="0"/>
          </a:p>
          <a:p>
            <a:pPr lvl="1"/>
            <a:r>
              <a:rPr lang="zh-CN" altLang="en-US" dirty="0" smtClean="0"/>
              <a:t>一定要搞清细节再写</a:t>
            </a:r>
            <a:r>
              <a:rPr lang="en-US" altLang="zh-CN" dirty="0" smtClean="0"/>
              <a:t>.</a:t>
            </a:r>
            <a:endParaRPr lang="en-US" altLang="zh-CN" dirty="0" smtClean="0"/>
          </a:p>
          <a:p>
            <a:pPr lvl="1"/>
            <a:r>
              <a:rPr lang="zh-CN" altLang="en-US" dirty="0" smtClean="0"/>
              <a:t>一定要对拍</a:t>
            </a:r>
            <a:r>
              <a:rPr lang="en-US" altLang="zh-CN" dirty="0" smtClean="0"/>
              <a:t>.</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r>
              <a:rPr lang="zh-CN" altLang="en-US" dirty="0" smtClean="0"/>
              <a:t>期望</a:t>
            </a:r>
            <a:r>
              <a:rPr lang="en-US" altLang="zh-CN" dirty="0" smtClean="0"/>
              <a:t>,</a:t>
            </a:r>
            <a:r>
              <a:rPr lang="zh-CN" altLang="en-US" dirty="0" smtClean="0"/>
              <a:t>概率动态规划</a:t>
            </a:r>
            <a:endParaRPr lang="en-US" altLang="zh-CN" dirty="0" smtClean="0"/>
          </a:p>
        </p:txBody>
      </p:sp>
      <p:sp>
        <p:nvSpPr>
          <p:cNvPr id="3" name="文本占位符 2"/>
          <p:cNvSpPr>
            <a:spLocks noGrp="1"/>
          </p:cNvSpPr>
          <p:nvPr>
            <p:ph type="body" idx="1"/>
          </p:nvPr>
        </p:nvSpPr>
        <p:spPr/>
        <p:txBody>
          <a:bodyPr/>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概率</a:t>
            </a:r>
            <a:r>
              <a:rPr lang="en-US" altLang="zh-CN" dirty="0" smtClean="0"/>
              <a:t>(</a:t>
            </a:r>
            <a:r>
              <a:rPr lang="zh-CN" altLang="en-US" dirty="0" smtClean="0"/>
              <a:t>基本概念</a:t>
            </a:r>
            <a:r>
              <a:rPr lang="en-US" altLang="zh-CN" dirty="0" smtClean="0"/>
              <a:t>)</a:t>
            </a:r>
            <a:endParaRPr lang="zh-CN" altLang="en-US" dirty="0"/>
          </a:p>
        </p:txBody>
      </p:sp>
      <p:sp>
        <p:nvSpPr>
          <p:cNvPr id="5" name="内容占位符 4"/>
          <p:cNvSpPr>
            <a:spLocks noGrp="1"/>
          </p:cNvSpPr>
          <p:nvPr>
            <p:ph sz="quarter" idx="1"/>
          </p:nvPr>
        </p:nvSpPr>
        <p:spPr/>
        <p:txBody>
          <a:bodyPr>
            <a:normAutofit/>
          </a:bodyPr>
          <a:lstStyle/>
          <a:p>
            <a:r>
              <a:rPr lang="zh-CN" altLang="en-US" sz="2400" dirty="0" smtClean="0"/>
              <a:t>先介绍概率的概念</a:t>
            </a:r>
            <a:r>
              <a:rPr lang="en-US" altLang="zh-CN" sz="2400" dirty="0" smtClean="0"/>
              <a:t>.</a:t>
            </a:r>
            <a:r>
              <a:rPr lang="zh-CN" altLang="en-US" sz="2400" dirty="0" smtClean="0"/>
              <a:t>这里的概念可能比较形式化</a:t>
            </a:r>
            <a:r>
              <a:rPr lang="en-US" altLang="zh-CN" sz="2400" dirty="0" smtClean="0"/>
              <a:t>.</a:t>
            </a:r>
            <a:endParaRPr lang="en-US" altLang="zh-CN" sz="2400" dirty="0" smtClean="0"/>
          </a:p>
          <a:p>
            <a:r>
              <a:rPr lang="zh-CN" altLang="en-US" sz="2400" dirty="0" smtClean="0"/>
              <a:t>有不会集合的吗</a:t>
            </a:r>
            <a:r>
              <a:rPr lang="en-US" altLang="zh-CN" sz="2400" dirty="0" smtClean="0"/>
              <a:t>…</a:t>
            </a:r>
            <a:endParaRPr lang="en-US" altLang="zh-CN" sz="2400" dirty="0" smtClean="0"/>
          </a:p>
          <a:p>
            <a:r>
              <a:rPr lang="zh-CN" altLang="en-US" sz="2400" dirty="0" smtClean="0"/>
              <a:t>样本空间</a:t>
            </a:r>
            <a:r>
              <a:rPr lang="en-US" altLang="zh-CN" sz="2400" dirty="0" smtClean="0"/>
              <a:t>:</a:t>
            </a:r>
            <a:r>
              <a:rPr lang="zh-CN" altLang="en-US" sz="2400" dirty="0" smtClean="0"/>
              <a:t>某个随机试验的所有基本结果的集合</a:t>
            </a:r>
            <a:r>
              <a:rPr lang="en-US" altLang="zh-CN" sz="2400" dirty="0" smtClean="0"/>
              <a:t>.”</a:t>
            </a:r>
            <a:r>
              <a:rPr lang="zh-CN" altLang="en-US" sz="2400" dirty="0" smtClean="0"/>
              <a:t>基本结果</a:t>
            </a:r>
            <a:r>
              <a:rPr lang="en-US" altLang="zh-CN" sz="2400" dirty="0" smtClean="0"/>
              <a:t>”</a:t>
            </a:r>
            <a:r>
              <a:rPr lang="zh-CN" altLang="en-US" sz="2400" dirty="0" smtClean="0"/>
              <a:t>表示不能再细分的</a:t>
            </a:r>
            <a:r>
              <a:rPr lang="en-US" altLang="zh-CN" sz="2400" dirty="0" smtClean="0"/>
              <a:t>,</a:t>
            </a:r>
            <a:r>
              <a:rPr lang="zh-CN" altLang="en-US" sz="2400" dirty="0" smtClean="0"/>
              <a:t>互不相交的结果</a:t>
            </a:r>
            <a:endParaRPr lang="en-US" altLang="zh-CN" sz="2400" dirty="0" smtClean="0"/>
          </a:p>
          <a:p>
            <a:r>
              <a:rPr lang="zh-CN" altLang="en-US" sz="2400" dirty="0" smtClean="0"/>
              <a:t>比如对于</a:t>
            </a:r>
            <a:r>
              <a:rPr lang="en-US" altLang="zh-CN" sz="2400" dirty="0" smtClean="0"/>
              <a:t>”</a:t>
            </a:r>
            <a:r>
              <a:rPr lang="zh-CN" altLang="en-US" sz="2400" dirty="0" smtClean="0"/>
              <a:t>掷骰</a:t>
            </a:r>
            <a:r>
              <a:rPr lang="en-US" altLang="zh-CN" sz="2400" dirty="0" smtClean="0"/>
              <a:t>(</a:t>
            </a:r>
            <a:r>
              <a:rPr lang="en-US" altLang="zh-CN" sz="2400" dirty="0" err="1" smtClean="0"/>
              <a:t>tou</a:t>
            </a:r>
            <a:r>
              <a:rPr lang="en-US" altLang="zh-CN" sz="2400" dirty="0" smtClean="0"/>
              <a:t>)</a:t>
            </a:r>
            <a:r>
              <a:rPr lang="zh-CN" altLang="en-US" sz="2400" dirty="0" smtClean="0"/>
              <a:t>子</a:t>
            </a:r>
            <a:r>
              <a:rPr lang="en-US" altLang="zh-CN" sz="2400" dirty="0" smtClean="0"/>
              <a:t>”,</a:t>
            </a:r>
            <a:r>
              <a:rPr lang="zh-CN" altLang="en-US" sz="2400" dirty="0" smtClean="0"/>
              <a:t>基本结果是</a:t>
            </a:r>
            <a:r>
              <a:rPr lang="en-US" altLang="zh-CN" sz="2400" dirty="0" smtClean="0"/>
              <a:t>1,2,3,4,5,6</a:t>
            </a:r>
            <a:r>
              <a:rPr lang="zh-CN" altLang="en-US" sz="2400" dirty="0" smtClean="0"/>
              <a:t>点</a:t>
            </a:r>
            <a:endParaRPr lang="en-US" altLang="zh-CN" sz="2400" dirty="0" smtClean="0"/>
          </a:p>
          <a:p>
            <a:r>
              <a:rPr lang="en-US" altLang="zh-CN" sz="2400" dirty="0" smtClean="0"/>
              <a:t>”</a:t>
            </a:r>
            <a:r>
              <a:rPr lang="zh-CN" altLang="en-US" sz="2400" dirty="0" smtClean="0"/>
              <a:t>掷出奇数</a:t>
            </a:r>
            <a:r>
              <a:rPr lang="en-US" altLang="zh-CN" sz="2400" dirty="0" smtClean="0"/>
              <a:t>”</a:t>
            </a:r>
            <a:r>
              <a:rPr lang="zh-CN" altLang="en-US" sz="2400" dirty="0" smtClean="0"/>
              <a:t>指的是</a:t>
            </a:r>
            <a:r>
              <a:rPr lang="en-US" altLang="zh-CN" sz="2400" dirty="0" smtClean="0"/>
              <a:t>1,3,5</a:t>
            </a:r>
            <a:r>
              <a:rPr lang="zh-CN" altLang="en-US" sz="2400" dirty="0" smtClean="0"/>
              <a:t>三个基本结果</a:t>
            </a:r>
            <a:r>
              <a:rPr lang="en-US" altLang="zh-CN" sz="2400" dirty="0" smtClean="0"/>
              <a:t>,</a:t>
            </a:r>
            <a:r>
              <a:rPr lang="zh-CN" altLang="en-US" sz="2400" dirty="0" smtClean="0"/>
              <a:t>不是基本结果</a:t>
            </a:r>
            <a:r>
              <a:rPr lang="en-US" altLang="zh-CN" sz="2400" dirty="0" smtClean="0"/>
              <a:t>.</a:t>
            </a:r>
            <a:endParaRPr lang="en-US" altLang="zh-CN" sz="2400" dirty="0" smtClean="0"/>
          </a:p>
          <a:p>
            <a:r>
              <a:rPr lang="zh-CN" altLang="en-US" sz="2400" dirty="0" smtClean="0"/>
              <a:t>事件</a:t>
            </a:r>
            <a:r>
              <a:rPr lang="en-US" altLang="zh-CN" sz="2400" dirty="0" smtClean="0"/>
              <a:t>:</a:t>
            </a:r>
            <a:r>
              <a:rPr lang="zh-CN" altLang="en-US" sz="2400" dirty="0" smtClean="0"/>
              <a:t>某些基本结果</a:t>
            </a:r>
            <a:r>
              <a:rPr lang="en-US" altLang="zh-CN" sz="2400" dirty="0" smtClean="0"/>
              <a:t>(</a:t>
            </a:r>
            <a:r>
              <a:rPr lang="zh-CN" altLang="en-US" sz="2400" dirty="0" smtClean="0"/>
              <a:t>样本点</a:t>
            </a:r>
            <a:r>
              <a:rPr lang="en-US" altLang="zh-CN" sz="2400" dirty="0" smtClean="0"/>
              <a:t>)</a:t>
            </a:r>
            <a:r>
              <a:rPr lang="zh-CN" altLang="en-US" sz="2400" dirty="0" smtClean="0"/>
              <a:t>的集合</a:t>
            </a:r>
            <a:r>
              <a:rPr lang="en-US" altLang="zh-CN" sz="2400" dirty="0" smtClean="0"/>
              <a:t>,</a:t>
            </a:r>
            <a:r>
              <a:rPr lang="zh-CN" altLang="en-US" sz="2400" dirty="0" smtClean="0"/>
              <a:t>也是样本空间的子集</a:t>
            </a:r>
            <a:endParaRPr lang="en-US" altLang="zh-CN" sz="2400" dirty="0" smtClean="0"/>
          </a:p>
          <a:p>
            <a:r>
              <a:rPr lang="zh-CN" altLang="en-US" sz="2400" dirty="0" smtClean="0"/>
              <a:t>概率测度</a:t>
            </a:r>
            <a:r>
              <a:rPr lang="en-US" altLang="zh-CN" sz="2400" dirty="0" smtClean="0"/>
              <a:t>P:</a:t>
            </a:r>
            <a:r>
              <a:rPr lang="zh-CN" altLang="en-US" sz="2400" dirty="0" smtClean="0"/>
              <a:t>一个函数</a:t>
            </a:r>
            <a:r>
              <a:rPr lang="en-US" altLang="zh-CN" sz="2400" dirty="0" smtClean="0"/>
              <a:t>,</a:t>
            </a:r>
            <a:r>
              <a:rPr lang="zh-CN" altLang="en-US" sz="2400" dirty="0" smtClean="0"/>
              <a:t>把一个事件对应到一个</a:t>
            </a:r>
            <a:r>
              <a:rPr lang="en-US" altLang="zh-CN" sz="2400" dirty="0" smtClean="0"/>
              <a:t>[0,1]</a:t>
            </a:r>
            <a:r>
              <a:rPr lang="zh-CN" altLang="en-US" sz="2400" dirty="0" smtClean="0"/>
              <a:t>的实数</a:t>
            </a:r>
            <a:endParaRPr lang="en-US" altLang="zh-CN" sz="2400" dirty="0" smtClean="0"/>
          </a:p>
          <a:p>
            <a:r>
              <a:rPr lang="zh-CN" altLang="en-US" sz="2400" dirty="0" smtClean="0"/>
              <a:t>要求</a:t>
            </a:r>
            <a:r>
              <a:rPr lang="en-US" altLang="zh-CN" sz="2400" dirty="0" smtClean="0"/>
              <a:t>:</a:t>
            </a:r>
            <a:r>
              <a:rPr lang="zh-CN" altLang="en-US" sz="2400" dirty="0" smtClean="0"/>
              <a:t>事件</a:t>
            </a:r>
            <a:r>
              <a:rPr lang="en-US" altLang="zh-CN" sz="2400" dirty="0" smtClean="0"/>
              <a:t>A</a:t>
            </a:r>
            <a:r>
              <a:rPr lang="zh-CN" altLang="en-US" sz="2400" dirty="0" smtClean="0"/>
              <a:t>的概率等于它包含的所有基本结果的概率之和</a:t>
            </a:r>
            <a:endParaRPr lang="en-US" altLang="zh-CN" sz="2400" dirty="0" smtClean="0"/>
          </a:p>
          <a:p>
            <a:r>
              <a:rPr lang="zh-CN" altLang="en-US" sz="2400" dirty="0" smtClean="0"/>
              <a:t>整个样本空间也是一个集合</a:t>
            </a:r>
            <a:r>
              <a:rPr lang="en-US" altLang="zh-CN" sz="2400" dirty="0" smtClean="0"/>
              <a:t>,</a:t>
            </a:r>
            <a:r>
              <a:rPr lang="zh-CN" altLang="en-US" sz="2400" dirty="0" smtClean="0"/>
              <a:t>也是一个事件</a:t>
            </a:r>
            <a:r>
              <a:rPr lang="en-US" altLang="zh-CN" sz="2400" dirty="0" smtClean="0"/>
              <a:t>,</a:t>
            </a:r>
            <a:r>
              <a:rPr lang="zh-CN" altLang="en-US" sz="2400" dirty="0" smtClean="0"/>
              <a:t>它的概率为</a:t>
            </a:r>
            <a:r>
              <a:rPr lang="en-US" altLang="zh-CN" sz="2400" dirty="0" smtClean="0"/>
              <a:t>1.</a:t>
            </a:r>
            <a:endParaRPr lang="zh-CN"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概率</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zh-CN" altLang="en-US" dirty="0" smtClean="0"/>
              <a:t>一些公式</a:t>
            </a:r>
            <a:r>
              <a:rPr lang="en-US" altLang="zh-CN" dirty="0" smtClean="0"/>
              <a:t>:</a:t>
            </a:r>
            <a:endParaRPr lang="en-US" altLang="zh-CN" dirty="0" smtClean="0"/>
          </a:p>
          <a:p>
            <a:pPr lvl="1"/>
            <a:r>
              <a:rPr lang="en-US" altLang="zh-CN" dirty="0" smtClean="0"/>
              <a:t>P(</a:t>
            </a:r>
            <a:r>
              <a:rPr lang="zh-CN" altLang="en-US" dirty="0" smtClean="0"/>
              <a:t>样本空间</a:t>
            </a:r>
            <a:r>
              <a:rPr lang="en-US" altLang="zh-CN" dirty="0" smtClean="0"/>
              <a:t>-A)=1-P(A)</a:t>
            </a:r>
            <a:endParaRPr lang="en-US" altLang="zh-CN" dirty="0" smtClean="0"/>
          </a:p>
          <a:p>
            <a:pPr lvl="1"/>
            <a:r>
              <a:rPr lang="en-US" altLang="zh-CN" dirty="0" smtClean="0"/>
              <a:t>P(A</a:t>
            </a:r>
            <a:r>
              <a:rPr lang="zh-CN" altLang="en-US" dirty="0" smtClean="0"/>
              <a:t>并</a:t>
            </a:r>
            <a:r>
              <a:rPr lang="en-US" altLang="zh-CN" dirty="0" smtClean="0"/>
              <a:t>B)=P(A)+P(B)-P(A</a:t>
            </a:r>
            <a:r>
              <a:rPr lang="zh-CN" altLang="en-US" dirty="0" smtClean="0"/>
              <a:t>交</a:t>
            </a:r>
            <a:r>
              <a:rPr lang="en-US" altLang="zh-CN" dirty="0" smtClean="0"/>
              <a:t>B)</a:t>
            </a:r>
            <a:endParaRPr lang="en-US" altLang="zh-CN" dirty="0" smtClean="0"/>
          </a:p>
          <a:p>
            <a:pPr lvl="1"/>
            <a:r>
              <a:rPr lang="en-US" altLang="zh-CN" dirty="0" smtClean="0"/>
              <a:t>A</a:t>
            </a:r>
            <a:r>
              <a:rPr lang="zh-CN" altLang="en-US" dirty="0" smtClean="0"/>
              <a:t>交</a:t>
            </a:r>
            <a:r>
              <a:rPr lang="en-US" altLang="zh-CN" dirty="0" smtClean="0"/>
              <a:t>B=</a:t>
            </a:r>
            <a:r>
              <a:rPr lang="zh-CN" altLang="en-US" dirty="0" smtClean="0"/>
              <a:t>空集</a:t>
            </a:r>
            <a:r>
              <a:rPr lang="en-US" altLang="zh-CN" dirty="0" smtClean="0"/>
              <a:t>,</a:t>
            </a:r>
            <a:r>
              <a:rPr lang="zh-CN" altLang="en-US" dirty="0" smtClean="0"/>
              <a:t>则</a:t>
            </a:r>
            <a:r>
              <a:rPr lang="en-US" altLang="zh-CN" dirty="0" smtClean="0"/>
              <a:t>P(A</a:t>
            </a:r>
            <a:r>
              <a:rPr lang="zh-CN" altLang="en-US" dirty="0" smtClean="0"/>
              <a:t>并</a:t>
            </a:r>
            <a:r>
              <a:rPr lang="en-US" altLang="zh-CN" dirty="0" smtClean="0"/>
              <a:t>B)=P(A)+P(B)</a:t>
            </a:r>
            <a:endParaRPr lang="en-US" altLang="zh-CN" dirty="0" smtClean="0"/>
          </a:p>
          <a:p>
            <a:r>
              <a:rPr lang="zh-CN" altLang="en-US" dirty="0" smtClean="0"/>
              <a:t>条件概率</a:t>
            </a:r>
            <a:r>
              <a:rPr lang="en-US" altLang="zh-CN" dirty="0" smtClean="0"/>
              <a:t>:</a:t>
            </a:r>
            <a:endParaRPr lang="en-US" altLang="zh-CN" dirty="0" smtClean="0"/>
          </a:p>
          <a:p>
            <a:pPr lvl="1"/>
            <a:r>
              <a:rPr lang="zh-CN" altLang="en-US" dirty="0" smtClean="0"/>
              <a:t>如果</a:t>
            </a:r>
            <a:r>
              <a:rPr lang="en-US" altLang="zh-CN" dirty="0" smtClean="0"/>
              <a:t>A</a:t>
            </a:r>
            <a:r>
              <a:rPr lang="zh-CN" altLang="en-US" dirty="0" smtClean="0"/>
              <a:t>发生了</a:t>
            </a:r>
            <a:r>
              <a:rPr lang="en-US" altLang="zh-CN" dirty="0" smtClean="0"/>
              <a:t>,</a:t>
            </a:r>
            <a:r>
              <a:rPr lang="zh-CN" altLang="en-US" dirty="0" smtClean="0"/>
              <a:t>那么</a:t>
            </a:r>
            <a:r>
              <a:rPr lang="en-US" altLang="zh-CN" dirty="0" smtClean="0"/>
              <a:t>B</a:t>
            </a:r>
            <a:r>
              <a:rPr lang="zh-CN" altLang="en-US" dirty="0" smtClean="0"/>
              <a:t>发生的概率</a:t>
            </a:r>
            <a:endParaRPr lang="en-US" altLang="zh-CN" dirty="0" smtClean="0"/>
          </a:p>
          <a:p>
            <a:pPr lvl="1"/>
            <a:r>
              <a:rPr lang="zh-CN" altLang="en-US" dirty="0" smtClean="0"/>
              <a:t>记作</a:t>
            </a:r>
            <a:r>
              <a:rPr lang="en-US" altLang="zh-CN" dirty="0" smtClean="0"/>
              <a:t>P(B|A)</a:t>
            </a:r>
            <a:endParaRPr lang="en-US" altLang="zh-CN" dirty="0" smtClean="0"/>
          </a:p>
          <a:p>
            <a:pPr lvl="1"/>
            <a:r>
              <a:rPr lang="zh-CN" altLang="en-US" dirty="0" smtClean="0"/>
              <a:t>考虑四种情况</a:t>
            </a:r>
            <a:r>
              <a:rPr lang="en-US" altLang="zh-CN" dirty="0" smtClean="0"/>
              <a:t>:</a:t>
            </a:r>
            <a:endParaRPr lang="en-US" altLang="zh-CN" dirty="0" smtClean="0"/>
          </a:p>
          <a:p>
            <a:pPr lvl="2"/>
            <a:r>
              <a:rPr lang="en-US" altLang="zh-CN" dirty="0" smtClean="0"/>
              <a:t>P(AB</a:t>
            </a:r>
            <a:r>
              <a:rPr lang="zh-CN" altLang="en-US" dirty="0" smtClean="0"/>
              <a:t>都发生</a:t>
            </a:r>
            <a:r>
              <a:rPr lang="en-US" altLang="zh-CN" dirty="0" smtClean="0"/>
              <a:t>)=</a:t>
            </a:r>
            <a:r>
              <a:rPr lang="en-US" altLang="zh-CN" dirty="0" err="1" smtClean="0"/>
              <a:t>a,P</a:t>
            </a:r>
            <a:r>
              <a:rPr lang="en-US" altLang="zh-CN" dirty="0" smtClean="0"/>
              <a:t>(AB</a:t>
            </a:r>
            <a:r>
              <a:rPr lang="zh-CN" altLang="en-US" dirty="0" smtClean="0"/>
              <a:t>都不发生</a:t>
            </a:r>
            <a:r>
              <a:rPr lang="en-US" altLang="zh-CN" dirty="0" smtClean="0"/>
              <a:t>)=b</a:t>
            </a:r>
            <a:endParaRPr lang="en-US" altLang="zh-CN" dirty="0" smtClean="0"/>
          </a:p>
          <a:p>
            <a:pPr lvl="2"/>
            <a:r>
              <a:rPr lang="en-US" altLang="zh-CN" dirty="0" smtClean="0"/>
              <a:t>P(</a:t>
            </a:r>
            <a:r>
              <a:rPr lang="zh-CN" altLang="en-US" dirty="0" smtClean="0"/>
              <a:t>只有</a:t>
            </a:r>
            <a:r>
              <a:rPr lang="en-US" altLang="zh-CN" dirty="0" smtClean="0"/>
              <a:t>A</a:t>
            </a:r>
            <a:r>
              <a:rPr lang="zh-CN" altLang="en-US" dirty="0" smtClean="0"/>
              <a:t>发生</a:t>
            </a:r>
            <a:r>
              <a:rPr lang="en-US" altLang="zh-CN" dirty="0" smtClean="0"/>
              <a:t>)=</a:t>
            </a:r>
            <a:r>
              <a:rPr lang="en-US" altLang="zh-CN" dirty="0" err="1" smtClean="0"/>
              <a:t>c,P</a:t>
            </a:r>
            <a:r>
              <a:rPr lang="en-US" altLang="zh-CN" dirty="0" smtClean="0"/>
              <a:t>(</a:t>
            </a:r>
            <a:r>
              <a:rPr lang="zh-CN" altLang="en-US" dirty="0" smtClean="0"/>
              <a:t>只有</a:t>
            </a:r>
            <a:r>
              <a:rPr lang="en-US" altLang="zh-CN" dirty="0" smtClean="0"/>
              <a:t>B</a:t>
            </a:r>
            <a:r>
              <a:rPr lang="zh-CN" altLang="en-US" dirty="0" smtClean="0"/>
              <a:t>发生</a:t>
            </a:r>
            <a:r>
              <a:rPr lang="en-US" altLang="zh-CN" dirty="0" smtClean="0"/>
              <a:t>)=d</a:t>
            </a:r>
            <a:endParaRPr lang="en-US" altLang="zh-CN" dirty="0" smtClean="0"/>
          </a:p>
          <a:p>
            <a:pPr lvl="1"/>
            <a:r>
              <a:rPr lang="zh-CN" altLang="en-US" dirty="0" smtClean="0"/>
              <a:t>那么</a:t>
            </a:r>
            <a:r>
              <a:rPr lang="en-US" altLang="zh-CN" dirty="0" smtClean="0"/>
              <a:t>P(B|A)=a/(</a:t>
            </a:r>
            <a:r>
              <a:rPr lang="en-US" altLang="zh-CN" dirty="0" err="1" smtClean="0"/>
              <a:t>a+c</a:t>
            </a:r>
            <a:r>
              <a:rPr lang="en-US" altLang="zh-CN" dirty="0" smtClean="0"/>
              <a:t>),</a:t>
            </a:r>
            <a:r>
              <a:rPr lang="zh-CN" altLang="en-US" dirty="0" smtClean="0"/>
              <a:t>即</a:t>
            </a:r>
            <a:r>
              <a:rPr lang="en-US" altLang="zh-CN" dirty="0" smtClean="0"/>
              <a:t>P(B|A)=P(AB)/P(A)</a:t>
            </a:r>
            <a:endParaRPr lang="en-US" altLang="zh-CN" dirty="0" smtClean="0"/>
          </a:p>
          <a:p>
            <a:endParaRPr lang="en-US" altLang="zh-CN"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概率</a:t>
            </a:r>
            <a:r>
              <a:rPr lang="en-US" altLang="zh-CN" dirty="0" smtClean="0"/>
              <a:t>(</a:t>
            </a:r>
            <a:r>
              <a:rPr lang="zh-CN" altLang="en-US" dirty="0" smtClean="0"/>
              <a:t>全概率公式</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用分类讨论来处理概率问题时常用</a:t>
            </a:r>
            <a:r>
              <a:rPr lang="en-US" altLang="zh-CN" sz="2400" dirty="0" smtClean="0"/>
              <a:t>,</a:t>
            </a:r>
            <a:r>
              <a:rPr lang="zh-CN" altLang="en-US" sz="2400" dirty="0" smtClean="0"/>
              <a:t>其实很多人用过但是不知道这是个公式</a:t>
            </a:r>
            <a:r>
              <a:rPr lang="en-US" altLang="zh-CN" sz="2400" dirty="0" smtClean="0"/>
              <a:t>.(</a:t>
            </a:r>
            <a:r>
              <a:rPr lang="zh-CN" altLang="en-US" sz="2400" strike="sngStrike" dirty="0" smtClean="0"/>
              <a:t>其实我也是</a:t>
            </a:r>
            <a:r>
              <a:rPr lang="en-US" altLang="zh-CN" sz="2400" dirty="0" smtClean="0"/>
              <a:t>)</a:t>
            </a:r>
            <a:endParaRPr lang="en-US" altLang="zh-CN" sz="2400" dirty="0" smtClean="0"/>
          </a:p>
          <a:p>
            <a:r>
              <a:rPr lang="zh-CN" altLang="en-US" sz="2400" dirty="0" smtClean="0"/>
              <a:t>假如事件</a:t>
            </a:r>
            <a:r>
              <a:rPr lang="en-US" altLang="zh-CN" sz="2400" dirty="0" smtClean="0"/>
              <a:t>B1,B2,B3…</a:t>
            </a:r>
            <a:r>
              <a:rPr lang="en-US" altLang="zh-CN" sz="2400" dirty="0" err="1" smtClean="0"/>
              <a:t>Bn</a:t>
            </a:r>
            <a:r>
              <a:rPr lang="zh-CN" altLang="en-US" sz="2400" dirty="0" smtClean="0"/>
              <a:t>两两之间交集为空且它们的并集就是样本空间</a:t>
            </a:r>
            <a:r>
              <a:rPr lang="en-US" altLang="zh-CN" sz="2400" dirty="0" smtClean="0"/>
              <a:t>,</a:t>
            </a:r>
            <a:r>
              <a:rPr lang="zh-CN" altLang="en-US" sz="2400" dirty="0" smtClean="0"/>
              <a:t>那么对于另一个事件</a:t>
            </a:r>
            <a:r>
              <a:rPr lang="en-US" altLang="zh-CN" sz="2400" dirty="0" smtClean="0"/>
              <a:t>A:</a:t>
            </a:r>
            <a:endParaRPr lang="en-US" altLang="zh-CN" sz="2400" dirty="0" smtClean="0"/>
          </a:p>
          <a:p>
            <a:r>
              <a:rPr lang="en-US" altLang="zh-CN" sz="2400" dirty="0" smtClean="0"/>
              <a:t>P(A)=P(B1)</a:t>
            </a:r>
            <a:r>
              <a:rPr lang="zh-CN" altLang="en-US" sz="2400" dirty="0" smtClean="0"/>
              <a:t>*</a:t>
            </a:r>
            <a:r>
              <a:rPr lang="en-US" altLang="zh-CN" sz="2400" dirty="0" smtClean="0"/>
              <a:t>P(A|B1)+P(B2)</a:t>
            </a:r>
            <a:r>
              <a:rPr lang="zh-CN" altLang="en-US" sz="2400" dirty="0" smtClean="0"/>
              <a:t>*</a:t>
            </a:r>
            <a:r>
              <a:rPr lang="en-US" altLang="zh-CN" sz="2400" dirty="0" smtClean="0"/>
              <a:t>P(A|B2)…P(</a:t>
            </a:r>
            <a:r>
              <a:rPr lang="en-US" altLang="zh-CN" sz="2400" dirty="0" err="1" smtClean="0"/>
              <a:t>Bn</a:t>
            </a:r>
            <a:r>
              <a:rPr lang="en-US" altLang="zh-CN" sz="2400" dirty="0" smtClean="0"/>
              <a:t>)*P(</a:t>
            </a:r>
            <a:r>
              <a:rPr lang="en-US" altLang="zh-CN" sz="2400" dirty="0" err="1" smtClean="0"/>
              <a:t>A|Bn</a:t>
            </a:r>
            <a:r>
              <a:rPr lang="en-US" altLang="zh-CN" sz="2400" dirty="0" smtClean="0"/>
              <a:t>)</a:t>
            </a:r>
            <a:endParaRPr lang="en-US" altLang="zh-CN" sz="2400" dirty="0" smtClean="0"/>
          </a:p>
          <a:p>
            <a:r>
              <a:rPr lang="zh-CN" altLang="en-US" sz="2400" dirty="0" smtClean="0"/>
              <a:t>例如</a:t>
            </a:r>
            <a:r>
              <a:rPr lang="en-US" altLang="zh-CN" sz="2400" dirty="0" smtClean="0"/>
              <a:t>:</a:t>
            </a:r>
            <a:r>
              <a:rPr lang="zh-CN" altLang="en-US" sz="2400" dirty="0" smtClean="0"/>
              <a:t>已知某场</a:t>
            </a:r>
            <a:r>
              <a:rPr lang="en-US" altLang="zh-CN" sz="2400" dirty="0" smtClean="0"/>
              <a:t>OI</a:t>
            </a:r>
            <a:r>
              <a:rPr lang="zh-CN" altLang="en-US" sz="2400" dirty="0" smtClean="0"/>
              <a:t>比赛的第一题有</a:t>
            </a:r>
            <a:r>
              <a:rPr lang="en-US" altLang="zh-CN" sz="2400" dirty="0" smtClean="0"/>
              <a:t>30%</a:t>
            </a:r>
            <a:r>
              <a:rPr lang="zh-CN" altLang="en-US" sz="2400" dirty="0" smtClean="0"/>
              <a:t>概率出</a:t>
            </a:r>
            <a:r>
              <a:rPr lang="en-US" altLang="zh-CN" sz="2400" dirty="0" smtClean="0"/>
              <a:t>DP</a:t>
            </a:r>
            <a:r>
              <a:rPr lang="zh-CN" altLang="en-US" sz="2400" dirty="0" smtClean="0"/>
              <a:t>题</a:t>
            </a:r>
            <a:r>
              <a:rPr lang="en-US" altLang="zh-CN" sz="2400" dirty="0" smtClean="0"/>
              <a:t>,70%</a:t>
            </a:r>
            <a:r>
              <a:rPr lang="zh-CN" altLang="en-US" sz="2400" dirty="0" smtClean="0"/>
              <a:t>概率出数据结构题</a:t>
            </a:r>
            <a:r>
              <a:rPr lang="en-US" altLang="zh-CN" sz="2400" dirty="0" smtClean="0"/>
              <a:t>,DP</a:t>
            </a:r>
            <a:r>
              <a:rPr lang="zh-CN" altLang="en-US" sz="2400" dirty="0" smtClean="0"/>
              <a:t>题是难题的概率为</a:t>
            </a:r>
            <a:r>
              <a:rPr lang="en-US" altLang="zh-CN" sz="2400" dirty="0" smtClean="0"/>
              <a:t>50%,</a:t>
            </a:r>
            <a:r>
              <a:rPr lang="zh-CN" altLang="en-US" sz="2400" dirty="0" smtClean="0"/>
              <a:t>数据结构题为难题的概率为</a:t>
            </a:r>
            <a:r>
              <a:rPr lang="en-US" altLang="zh-CN" sz="2400" dirty="0" smtClean="0"/>
              <a:t>60%,</a:t>
            </a:r>
            <a:r>
              <a:rPr lang="zh-CN" altLang="en-US" sz="2400" dirty="0" smtClean="0"/>
              <a:t>问第一题是难题的概率</a:t>
            </a:r>
            <a:r>
              <a:rPr lang="en-US" altLang="zh-CN" sz="2400" dirty="0" smtClean="0"/>
              <a:t>.</a:t>
            </a:r>
            <a:endParaRPr lang="en-US" altLang="zh-CN" sz="2400" dirty="0" smtClean="0"/>
          </a:p>
          <a:p>
            <a:r>
              <a:rPr lang="en-US" altLang="zh-CN" sz="2400" dirty="0" smtClean="0"/>
              <a:t>P(</a:t>
            </a:r>
            <a:r>
              <a:rPr lang="zh-CN" altLang="en-US" sz="2400" dirty="0" smtClean="0"/>
              <a:t>是难题</a:t>
            </a:r>
            <a:r>
              <a:rPr lang="en-US" altLang="zh-CN" sz="2400" dirty="0" smtClean="0"/>
              <a:t>)=P(</a:t>
            </a:r>
            <a:r>
              <a:rPr lang="zh-CN" altLang="en-US" sz="2400" dirty="0" smtClean="0"/>
              <a:t>是</a:t>
            </a:r>
            <a:r>
              <a:rPr lang="en-US" altLang="zh-CN" sz="2400" dirty="0" smtClean="0"/>
              <a:t>DP</a:t>
            </a:r>
            <a:r>
              <a:rPr lang="zh-CN" altLang="en-US" sz="2400" dirty="0" smtClean="0"/>
              <a:t>题</a:t>
            </a:r>
            <a:r>
              <a:rPr lang="en-US" altLang="zh-CN" sz="2400" dirty="0" smtClean="0"/>
              <a:t>)</a:t>
            </a:r>
            <a:r>
              <a:rPr lang="zh-CN" altLang="en-US" sz="2400" dirty="0" smtClean="0"/>
              <a:t>*</a:t>
            </a:r>
            <a:r>
              <a:rPr lang="en-US" altLang="zh-CN" sz="2400" dirty="0" smtClean="0"/>
              <a:t>P(</a:t>
            </a:r>
            <a:r>
              <a:rPr lang="zh-CN" altLang="en-US" sz="2400" dirty="0" smtClean="0"/>
              <a:t>是难题</a:t>
            </a:r>
            <a:r>
              <a:rPr lang="en-US" altLang="zh-CN" sz="2400" dirty="0" smtClean="0"/>
              <a:t>|</a:t>
            </a:r>
            <a:r>
              <a:rPr lang="zh-CN" altLang="en-US" sz="2400" dirty="0" smtClean="0"/>
              <a:t>是</a:t>
            </a:r>
            <a:r>
              <a:rPr lang="en-US" altLang="zh-CN" sz="2400" dirty="0" smtClean="0"/>
              <a:t>DP</a:t>
            </a:r>
            <a:r>
              <a:rPr lang="zh-CN" altLang="en-US" sz="2400" dirty="0" smtClean="0"/>
              <a:t>题</a:t>
            </a:r>
            <a:r>
              <a:rPr lang="en-US" altLang="zh-CN" sz="2400" dirty="0" smtClean="0"/>
              <a:t>)+P(</a:t>
            </a:r>
            <a:r>
              <a:rPr lang="zh-CN" altLang="en-US" sz="2400" dirty="0" smtClean="0"/>
              <a:t>是数据结构题</a:t>
            </a:r>
            <a:r>
              <a:rPr lang="en-US" altLang="zh-CN" sz="2400" dirty="0" smtClean="0"/>
              <a:t>)</a:t>
            </a:r>
            <a:r>
              <a:rPr lang="zh-CN" altLang="en-US" sz="2400" dirty="0" smtClean="0"/>
              <a:t>*</a:t>
            </a:r>
            <a:r>
              <a:rPr lang="en-US" altLang="zh-CN" sz="2400" dirty="0" smtClean="0"/>
              <a:t>P(</a:t>
            </a:r>
            <a:r>
              <a:rPr lang="zh-CN" altLang="en-US" sz="2400" dirty="0" smtClean="0"/>
              <a:t>是难题</a:t>
            </a:r>
            <a:r>
              <a:rPr lang="en-US" altLang="zh-CN" sz="2400" dirty="0" smtClean="0"/>
              <a:t>|</a:t>
            </a:r>
            <a:r>
              <a:rPr lang="zh-CN" altLang="en-US" sz="2400" dirty="0" smtClean="0"/>
              <a:t>是数据结构题</a:t>
            </a:r>
            <a:r>
              <a:rPr lang="en-US" altLang="zh-CN" sz="2400" dirty="0" smtClean="0"/>
              <a:t>)</a:t>
            </a:r>
            <a:endParaRPr lang="zh-CN" altLang="en-US" sz="2400" dirty="0" smtClean="0"/>
          </a:p>
          <a:p>
            <a:endParaRPr lang="zh-CN" altLang="en-US" sz="2400"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概率</a:t>
            </a:r>
            <a:r>
              <a:rPr lang="en-US" altLang="zh-CN" dirty="0" smtClean="0"/>
              <a:t>(</a:t>
            </a:r>
            <a:r>
              <a:rPr lang="zh-CN" altLang="en-US" dirty="0" smtClean="0"/>
              <a:t>贝叶斯公式</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由</a:t>
            </a:r>
            <a:r>
              <a:rPr lang="en-US" altLang="zh-CN" sz="2400" dirty="0" smtClean="0"/>
              <a:t>P(A|B)</a:t>
            </a:r>
            <a:r>
              <a:rPr lang="zh-CN" altLang="en-US" sz="2400" dirty="0" smtClean="0"/>
              <a:t>算</a:t>
            </a:r>
            <a:r>
              <a:rPr lang="en-US" altLang="zh-CN" sz="2400" dirty="0" smtClean="0"/>
              <a:t>P(B|A)</a:t>
            </a:r>
            <a:r>
              <a:rPr lang="zh-CN" altLang="en-US" sz="2400" dirty="0" smtClean="0"/>
              <a:t>时常用</a:t>
            </a:r>
            <a:endParaRPr lang="en-US" altLang="zh-CN" sz="2400" dirty="0" smtClean="0"/>
          </a:p>
          <a:p>
            <a:r>
              <a:rPr lang="en-US" altLang="zh-CN" sz="2400" dirty="0" smtClean="0"/>
              <a:t>P(B)*P(A|B)=P(AB)=P(A)*P(B|A)</a:t>
            </a:r>
            <a:endParaRPr lang="en-US" altLang="zh-CN" sz="2400" dirty="0" smtClean="0"/>
          </a:p>
          <a:p>
            <a:r>
              <a:rPr lang="en-US" altLang="zh-CN" sz="2400" dirty="0" smtClean="0"/>
              <a:t>P(B|A)=P(B)*P(A|B)/P(A) [</a:t>
            </a:r>
            <a:r>
              <a:rPr lang="zh-CN" altLang="en-US" sz="2400" dirty="0" smtClean="0"/>
              <a:t>这个叫贝叶斯公式</a:t>
            </a:r>
            <a:r>
              <a:rPr lang="en-US" altLang="zh-CN" sz="2400" dirty="0" smtClean="0"/>
              <a:t>]</a:t>
            </a:r>
            <a:endParaRPr lang="en-US" altLang="zh-CN" sz="2400" dirty="0" smtClean="0"/>
          </a:p>
          <a:p>
            <a:endParaRPr lang="en-US" altLang="zh-CN" sz="2400" dirty="0" smtClean="0"/>
          </a:p>
          <a:p>
            <a:r>
              <a:rPr lang="en-US" altLang="zh-CN" sz="2400" dirty="0" smtClean="0"/>
              <a:t>CTSC2017day1T3</a:t>
            </a:r>
            <a:r>
              <a:rPr lang="zh-CN" altLang="en-US" sz="2400" dirty="0" smtClean="0"/>
              <a:t>考条件概率</a:t>
            </a:r>
            <a:r>
              <a:rPr lang="en-US" altLang="zh-CN" sz="2400" dirty="0" smtClean="0"/>
              <a:t>,</a:t>
            </a:r>
            <a:r>
              <a:rPr lang="zh-CN" altLang="en-US" sz="2400" dirty="0" smtClean="0"/>
              <a:t>题目很良心地给了贝叶斯公式</a:t>
            </a:r>
            <a:r>
              <a:rPr lang="en-US" altLang="zh-CN" sz="2400" dirty="0" smtClean="0"/>
              <a:t>.</a:t>
            </a:r>
            <a:endParaRPr lang="zh-CN" alt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概率</a:t>
            </a:r>
            <a:r>
              <a:rPr lang="en-US" altLang="zh-CN" dirty="0" smtClean="0"/>
              <a:t>(</a:t>
            </a:r>
            <a:r>
              <a:rPr lang="zh-CN" altLang="en-US" dirty="0" smtClean="0"/>
              <a:t>条件概率</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例子</a:t>
            </a:r>
            <a:r>
              <a:rPr lang="en-US" altLang="zh-CN" sz="2400" dirty="0" smtClean="0"/>
              <a:t>:</a:t>
            </a:r>
            <a:r>
              <a:rPr lang="zh-CN" altLang="en-US" sz="2400" dirty="0" smtClean="0"/>
              <a:t>一个黑箱分为左右两侧</a:t>
            </a:r>
            <a:r>
              <a:rPr lang="en-US" altLang="zh-CN" sz="2400" dirty="0" smtClean="0"/>
              <a:t>,</a:t>
            </a:r>
            <a:r>
              <a:rPr lang="zh-CN" altLang="en-US" sz="2400" dirty="0" smtClean="0"/>
              <a:t>左侧有两个红球两个白球</a:t>
            </a:r>
            <a:r>
              <a:rPr lang="en-US" altLang="zh-CN" sz="2400" dirty="0" smtClean="0"/>
              <a:t>,</a:t>
            </a:r>
            <a:r>
              <a:rPr lang="zh-CN" altLang="en-US" sz="2400" dirty="0" smtClean="0"/>
              <a:t>右侧有三个红球一个白球</a:t>
            </a:r>
            <a:r>
              <a:rPr lang="en-US" altLang="zh-CN" sz="2400" dirty="0" smtClean="0"/>
              <a:t>.</a:t>
            </a:r>
            <a:endParaRPr lang="en-US" altLang="zh-CN" sz="2400" dirty="0" smtClean="0"/>
          </a:p>
          <a:p>
            <a:r>
              <a:rPr lang="zh-CN" altLang="en-US" sz="2400" dirty="0" smtClean="0"/>
              <a:t>现在从箱子里随机拿出一个球</a:t>
            </a:r>
            <a:r>
              <a:rPr lang="en-US" altLang="zh-CN" sz="2400" dirty="0" smtClean="0"/>
              <a:t>(</a:t>
            </a:r>
            <a:r>
              <a:rPr lang="zh-CN" altLang="en-US" sz="2400" dirty="0" smtClean="0"/>
              <a:t>每个球被拿出的概率相同</a:t>
            </a:r>
            <a:r>
              <a:rPr lang="en-US" altLang="zh-CN" sz="2400" dirty="0" smtClean="0"/>
              <a:t>),</a:t>
            </a:r>
            <a:r>
              <a:rPr lang="zh-CN" altLang="en-US" sz="2400" dirty="0" smtClean="0"/>
              <a:t>问拿出白球的概率</a:t>
            </a:r>
            <a:r>
              <a:rPr lang="en-US" altLang="zh-CN" sz="2400" dirty="0" smtClean="0"/>
              <a:t>.</a:t>
            </a:r>
            <a:endParaRPr lang="en-US" altLang="zh-CN" sz="2400" dirty="0" smtClean="0"/>
          </a:p>
          <a:p>
            <a:r>
              <a:rPr lang="zh-CN" altLang="en-US" sz="2400" dirty="0" smtClean="0"/>
              <a:t>如果已知拿出的球是左边的</a:t>
            </a:r>
            <a:r>
              <a:rPr lang="en-US" altLang="zh-CN" sz="2400" dirty="0" smtClean="0"/>
              <a:t>,</a:t>
            </a:r>
            <a:r>
              <a:rPr lang="zh-CN" altLang="en-US" sz="2400" dirty="0" smtClean="0"/>
              <a:t>问拿出的是白球的概率</a:t>
            </a:r>
            <a:endParaRPr lang="en-US" altLang="zh-CN" sz="2400" dirty="0" smtClean="0"/>
          </a:p>
          <a:p>
            <a:r>
              <a:rPr lang="zh-CN" altLang="en-US" sz="2400" dirty="0" smtClean="0"/>
              <a:t>如果已知拿出的球是白色的</a:t>
            </a:r>
            <a:r>
              <a:rPr lang="en-US" altLang="zh-CN" sz="2400" dirty="0" smtClean="0"/>
              <a:t>,</a:t>
            </a:r>
            <a:r>
              <a:rPr lang="zh-CN" altLang="en-US" sz="2400" dirty="0" smtClean="0"/>
              <a:t>问拿出的是左边的概率</a:t>
            </a:r>
            <a:endParaRPr lang="en-US" altLang="zh-CN" sz="2400" dirty="0" smtClean="0"/>
          </a:p>
          <a:p>
            <a:r>
              <a:rPr lang="zh-CN" altLang="en-US" sz="2400" dirty="0" smtClean="0"/>
              <a:t>可以看到</a:t>
            </a:r>
            <a:r>
              <a:rPr lang="en-US" altLang="zh-CN" sz="2400" dirty="0" smtClean="0"/>
              <a:t>P(A|B)</a:t>
            </a:r>
            <a:r>
              <a:rPr lang="zh-CN" altLang="en-US" sz="2400" dirty="0" smtClean="0"/>
              <a:t>中</a:t>
            </a:r>
            <a:r>
              <a:rPr lang="en-US" altLang="zh-CN" sz="2400" dirty="0" smtClean="0"/>
              <a:t>,A</a:t>
            </a:r>
            <a:r>
              <a:rPr lang="zh-CN" altLang="en-US" sz="2400" dirty="0" smtClean="0"/>
              <a:t>和</a:t>
            </a:r>
            <a:r>
              <a:rPr lang="en-US" altLang="zh-CN" sz="2400" dirty="0" smtClean="0"/>
              <a:t>B</a:t>
            </a:r>
            <a:r>
              <a:rPr lang="zh-CN" altLang="en-US" sz="2400" dirty="0" smtClean="0"/>
              <a:t>的发生时间先后没有关系</a:t>
            </a:r>
            <a:r>
              <a:rPr lang="en-US" altLang="zh-CN" sz="2400" dirty="0" smtClean="0"/>
              <a:t>.</a:t>
            </a:r>
            <a:endParaRPr lang="en-US" altLang="zh-CN" sz="2400" dirty="0" smtClean="0"/>
          </a:p>
          <a:p>
            <a:r>
              <a:rPr lang="zh-CN" altLang="en-US" sz="2400" dirty="0" smtClean="0"/>
              <a:t>试着用贝叶斯公式来算一算</a:t>
            </a:r>
            <a:r>
              <a:rPr lang="en-US" altLang="zh-CN" sz="2400" dirty="0" smtClean="0"/>
              <a:t>?</a:t>
            </a:r>
            <a:endParaRPr lang="en-US" altLang="zh-CN" sz="2400" dirty="0" smtClean="0"/>
          </a:p>
          <a:p>
            <a:r>
              <a:rPr lang="zh-CN" altLang="en-US" sz="2400" dirty="0" smtClean="0"/>
              <a:t>有兴趣的同学可以去看看</a:t>
            </a:r>
            <a:r>
              <a:rPr lang="en-US" altLang="zh-CN" sz="2400" dirty="0" smtClean="0"/>
              <a:t>CTSC2017day1T3,</a:t>
            </a:r>
            <a:r>
              <a:rPr lang="zh-CN" altLang="en-US" sz="2400" dirty="0" smtClean="0"/>
              <a:t>打个</a:t>
            </a:r>
            <a:r>
              <a:rPr lang="en-US" altLang="zh-CN" sz="2400" dirty="0" smtClean="0"/>
              <a:t>45</a:t>
            </a:r>
            <a:r>
              <a:rPr lang="zh-CN" altLang="en-US" sz="2400" dirty="0" smtClean="0"/>
              <a:t>分暴力</a:t>
            </a:r>
            <a:r>
              <a:rPr lang="en-US" altLang="zh-CN" sz="2400" dirty="0" smtClean="0"/>
              <a:t>.</a:t>
            </a:r>
            <a:endParaRPr lang="zh-CN"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期望</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strike="sngStrike" dirty="0" smtClean="0"/>
              <a:t>其实期望是动词</a:t>
            </a:r>
            <a:r>
              <a:rPr lang="en-US" altLang="zh-CN" sz="2400" strike="sngStrike" dirty="0" smtClean="0"/>
              <a:t>,</a:t>
            </a:r>
            <a:r>
              <a:rPr lang="zh-CN" altLang="en-US" sz="2400" strike="sngStrike" dirty="0" smtClean="0"/>
              <a:t>期望值是名词</a:t>
            </a:r>
            <a:r>
              <a:rPr lang="en-US" altLang="zh-CN" sz="2400" strike="sngStrike" dirty="0" smtClean="0"/>
              <a:t>(</a:t>
            </a:r>
            <a:r>
              <a:rPr lang="zh-CN" altLang="en-US" sz="2400" strike="sngStrike" dirty="0" smtClean="0"/>
              <a:t>现代汉语词典第</a:t>
            </a:r>
            <a:r>
              <a:rPr lang="en-US" altLang="zh-CN" sz="2400" strike="sngStrike" dirty="0" smtClean="0"/>
              <a:t>6</a:t>
            </a:r>
            <a:r>
              <a:rPr lang="zh-CN" altLang="en-US" sz="2400" strike="sngStrike" dirty="0" smtClean="0"/>
              <a:t>版</a:t>
            </a:r>
            <a:r>
              <a:rPr lang="en-US" altLang="zh-CN" sz="2400" strike="sngStrike" dirty="0" smtClean="0"/>
              <a:t>)</a:t>
            </a:r>
            <a:endParaRPr lang="en-US" altLang="zh-CN" sz="2400" strike="sngStrike" dirty="0" smtClean="0"/>
          </a:p>
          <a:p>
            <a:r>
              <a:rPr lang="zh-CN" altLang="en-US" sz="2400" dirty="0" smtClean="0"/>
              <a:t>期望是</a:t>
            </a:r>
            <a:r>
              <a:rPr lang="en-US" altLang="zh-CN" sz="2400" dirty="0" smtClean="0"/>
              <a:t>”</a:t>
            </a:r>
            <a:r>
              <a:rPr lang="zh-CN" altLang="en-US" sz="2400" dirty="0" smtClean="0"/>
              <a:t>随机变量的期望</a:t>
            </a:r>
            <a:r>
              <a:rPr lang="en-US" altLang="zh-CN" sz="2400" dirty="0" smtClean="0"/>
              <a:t>”,</a:t>
            </a:r>
            <a:r>
              <a:rPr lang="zh-CN" altLang="en-US" sz="2400" dirty="0" smtClean="0"/>
              <a:t>不能离开随机变量的概念解释期望</a:t>
            </a:r>
            <a:r>
              <a:rPr lang="en-US" altLang="zh-CN" sz="2400" dirty="0" smtClean="0"/>
              <a:t>.</a:t>
            </a:r>
            <a:endParaRPr lang="en-US" altLang="zh-CN" sz="2400" dirty="0" smtClean="0"/>
          </a:p>
          <a:p>
            <a:r>
              <a:rPr lang="zh-CN" altLang="en-US" sz="2400" dirty="0" smtClean="0"/>
              <a:t>随机变量是定义在概率空间上的函数</a:t>
            </a:r>
            <a:r>
              <a:rPr lang="en-US" altLang="zh-CN" sz="2400" dirty="0" smtClean="0"/>
              <a:t>.</a:t>
            </a:r>
            <a:r>
              <a:rPr lang="zh-CN" altLang="en-US" sz="2400" dirty="0" smtClean="0"/>
              <a:t>随机试验的结果不同</a:t>
            </a:r>
            <a:r>
              <a:rPr lang="en-US" altLang="zh-CN" sz="2400" dirty="0" smtClean="0"/>
              <a:t>,</a:t>
            </a:r>
            <a:r>
              <a:rPr lang="zh-CN" altLang="en-US" sz="2400" dirty="0" smtClean="0"/>
              <a:t>随机变量的取值不同</a:t>
            </a:r>
            <a:r>
              <a:rPr lang="en-US" altLang="zh-CN" sz="2400" dirty="0" smtClean="0"/>
              <a:t>.</a:t>
            </a:r>
            <a:r>
              <a:rPr lang="zh-CN" altLang="en-US" sz="2400" dirty="0" smtClean="0"/>
              <a:t>不同的基本结果可能导致随机变量取到相同的数值</a:t>
            </a:r>
            <a:r>
              <a:rPr lang="en-US" altLang="zh-CN" sz="2400" dirty="0" smtClean="0"/>
              <a:t>.</a:t>
            </a:r>
            <a:endParaRPr lang="en-US" altLang="zh-CN" sz="2400" dirty="0" smtClean="0"/>
          </a:p>
          <a:p>
            <a:r>
              <a:rPr lang="zh-CN" altLang="en-US" sz="2400" dirty="0" smtClean="0"/>
              <a:t>例子</a:t>
            </a:r>
            <a:r>
              <a:rPr lang="en-US" altLang="zh-CN" sz="2400" dirty="0" smtClean="0"/>
              <a:t>:</a:t>
            </a:r>
            <a:r>
              <a:rPr lang="zh-CN" altLang="en-US" sz="2400" dirty="0" smtClean="0"/>
              <a:t>随机变量</a:t>
            </a:r>
            <a:r>
              <a:rPr lang="en-US" altLang="zh-CN" sz="2400" dirty="0" smtClean="0"/>
              <a:t>x</a:t>
            </a:r>
            <a:r>
              <a:rPr lang="zh-CN" altLang="en-US" sz="2400" dirty="0" smtClean="0"/>
              <a:t>表示掷骰子的结果模</a:t>
            </a:r>
            <a:r>
              <a:rPr lang="en-US" altLang="zh-CN" sz="2400" dirty="0" smtClean="0"/>
              <a:t>3</a:t>
            </a:r>
            <a:r>
              <a:rPr lang="zh-CN" altLang="en-US" sz="2400" dirty="0" smtClean="0"/>
              <a:t>的余数</a:t>
            </a:r>
            <a:r>
              <a:rPr lang="en-US" altLang="zh-CN" sz="2400" dirty="0" smtClean="0"/>
              <a:t>.</a:t>
            </a:r>
            <a:endParaRPr lang="en-US" altLang="zh-CN" sz="2400" dirty="0" smtClean="0"/>
          </a:p>
          <a:p>
            <a:r>
              <a:rPr lang="zh-CN" altLang="en-US" sz="2400" dirty="0" smtClean="0"/>
              <a:t>期望</a:t>
            </a:r>
            <a:r>
              <a:rPr lang="en-US" altLang="zh-CN" sz="2400" dirty="0" smtClean="0"/>
              <a:t>:</a:t>
            </a:r>
            <a:r>
              <a:rPr lang="zh-CN" altLang="en-US" sz="2400" dirty="0" smtClean="0"/>
              <a:t>对于随机变量</a:t>
            </a:r>
            <a:r>
              <a:rPr lang="en-US" altLang="zh-CN" sz="2400" dirty="0" smtClean="0"/>
              <a:t>X,</a:t>
            </a:r>
            <a:r>
              <a:rPr lang="zh-CN" altLang="en-US" sz="2400" dirty="0" smtClean="0"/>
              <a:t>它的期望</a:t>
            </a:r>
            <a:r>
              <a:rPr lang="en-US" altLang="zh-CN" sz="2400" dirty="0" smtClean="0"/>
              <a:t>E(X)=sigma{</a:t>
            </a:r>
            <a:r>
              <a:rPr lang="zh-CN" altLang="en-US" sz="2400" dirty="0" smtClean="0"/>
              <a:t>基本结果</a:t>
            </a:r>
            <a:r>
              <a:rPr lang="en-US" altLang="zh-CN" sz="2400" dirty="0" err="1" smtClean="0"/>
              <a:t>i</a:t>
            </a:r>
            <a:r>
              <a:rPr lang="zh-CN" altLang="en-US" sz="2400" dirty="0" smtClean="0"/>
              <a:t>发生的概率</a:t>
            </a:r>
            <a:r>
              <a:rPr lang="en-US" altLang="zh-CN" sz="2400" dirty="0" smtClean="0"/>
              <a:t>*</a:t>
            </a:r>
            <a:r>
              <a:rPr lang="zh-CN" altLang="en-US" sz="2400" dirty="0" smtClean="0"/>
              <a:t>发生基本结果</a:t>
            </a:r>
            <a:r>
              <a:rPr lang="en-US" altLang="zh-CN" sz="2400" dirty="0" err="1" smtClean="0"/>
              <a:t>i</a:t>
            </a:r>
            <a:r>
              <a:rPr lang="zh-CN" altLang="en-US" sz="2400" dirty="0" smtClean="0"/>
              <a:t>时</a:t>
            </a:r>
            <a:r>
              <a:rPr lang="en-US" altLang="zh-CN" sz="2400" dirty="0" smtClean="0"/>
              <a:t>X</a:t>
            </a:r>
            <a:r>
              <a:rPr lang="zh-CN" altLang="en-US" sz="2400" dirty="0" smtClean="0"/>
              <a:t>的数值</a:t>
            </a:r>
            <a:r>
              <a:rPr lang="en-US" altLang="zh-CN" sz="2400" dirty="0" smtClean="0"/>
              <a:t>,</a:t>
            </a:r>
            <a:r>
              <a:rPr lang="en-US" altLang="zh-CN" sz="2400" dirty="0" err="1" smtClean="0"/>
              <a:t>i</a:t>
            </a:r>
            <a:r>
              <a:rPr lang="zh-CN" altLang="en-US" sz="2400" dirty="0" smtClean="0"/>
              <a:t>是一个基本结果</a:t>
            </a:r>
            <a:r>
              <a:rPr lang="en-US" altLang="zh-CN" sz="2400" dirty="0" smtClean="0"/>
              <a:t>}</a:t>
            </a:r>
            <a:endParaRPr lang="en-US" altLang="zh-CN" sz="2400" dirty="0" smtClean="0"/>
          </a:p>
          <a:p>
            <a:r>
              <a:rPr lang="zh-CN" altLang="en-US" sz="2400" dirty="0" smtClean="0"/>
              <a:t>也可以把</a:t>
            </a:r>
            <a:r>
              <a:rPr lang="en-US" altLang="zh-CN" sz="2400" dirty="0" smtClean="0"/>
              <a:t>X</a:t>
            </a:r>
            <a:r>
              <a:rPr lang="zh-CN" altLang="en-US" sz="2400" dirty="0" smtClean="0"/>
              <a:t>取值相同的基本结果合并成一个事件考虑</a:t>
            </a:r>
            <a:endParaRPr lang="en-US" altLang="zh-CN" sz="2400" dirty="0" smtClean="0"/>
          </a:p>
          <a:p>
            <a:r>
              <a:rPr lang="en-US" altLang="zh-CN" sz="2400" dirty="0" smtClean="0"/>
              <a:t>E(X)=sigma{</a:t>
            </a:r>
            <a:r>
              <a:rPr lang="en-US" altLang="zh-CN" sz="2400" dirty="0" err="1" smtClean="0"/>
              <a:t>i</a:t>
            </a:r>
            <a:r>
              <a:rPr lang="en-US" altLang="zh-CN" sz="2400" dirty="0" smtClean="0"/>
              <a:t>*X</a:t>
            </a:r>
            <a:r>
              <a:rPr lang="zh-CN" altLang="en-US" sz="2400" dirty="0" smtClean="0"/>
              <a:t>取值为</a:t>
            </a:r>
            <a:r>
              <a:rPr lang="en-US" altLang="zh-CN" sz="2400" dirty="0" err="1" smtClean="0"/>
              <a:t>i</a:t>
            </a:r>
            <a:r>
              <a:rPr lang="zh-CN" altLang="en-US" sz="2400" dirty="0" smtClean="0"/>
              <a:t>的概率</a:t>
            </a:r>
            <a:r>
              <a:rPr lang="en-US" altLang="zh-CN" sz="2400" dirty="0" smtClean="0"/>
              <a:t>,</a:t>
            </a:r>
            <a:r>
              <a:rPr lang="en-US" altLang="zh-CN" sz="2400" dirty="0" err="1" smtClean="0"/>
              <a:t>i</a:t>
            </a:r>
            <a:r>
              <a:rPr lang="zh-CN" altLang="en-US" sz="2400" dirty="0" smtClean="0"/>
              <a:t>是一个可能的取值</a:t>
            </a:r>
            <a:r>
              <a:rPr lang="en-US" altLang="zh-CN" sz="2400" dirty="0" smtClean="0"/>
              <a:t>}</a:t>
            </a: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期望的可加性</a:t>
            </a:r>
            <a:r>
              <a:rPr lang="en-US" altLang="zh-CN" dirty="0" smtClean="0"/>
              <a:t>(</a:t>
            </a:r>
            <a:r>
              <a:rPr lang="zh-CN" altLang="en-US" dirty="0" smtClean="0"/>
              <a:t>也叫期望的线性性</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en-US" altLang="zh-CN" dirty="0" smtClean="0"/>
              <a:t>E(X+Y)=E(X)+E(Y)</a:t>
            </a:r>
            <a:endParaRPr lang="en-US" altLang="zh-CN" dirty="0" smtClean="0"/>
          </a:p>
          <a:p>
            <a:r>
              <a:rPr lang="zh-CN" altLang="en-US" dirty="0" smtClean="0"/>
              <a:t>两个</a:t>
            </a:r>
            <a:r>
              <a:rPr lang="en-US" altLang="zh-CN" dirty="0" smtClean="0"/>
              <a:t>(</a:t>
            </a:r>
            <a:r>
              <a:rPr lang="zh-CN" altLang="en-US" dirty="0" smtClean="0"/>
              <a:t>或者多个</a:t>
            </a:r>
            <a:r>
              <a:rPr lang="en-US" altLang="zh-CN" dirty="0" smtClean="0"/>
              <a:t>)</a:t>
            </a:r>
            <a:r>
              <a:rPr lang="zh-CN" altLang="en-US" dirty="0" smtClean="0"/>
              <a:t>随机变量的和的期望等于期望的和</a:t>
            </a:r>
            <a:endParaRPr lang="en-US" altLang="zh-CN" dirty="0" smtClean="0"/>
          </a:p>
          <a:p>
            <a:r>
              <a:rPr lang="zh-CN" altLang="en-US" dirty="0" smtClean="0"/>
              <a:t>在</a:t>
            </a:r>
            <a:r>
              <a:rPr lang="en-US" altLang="zh-CN" dirty="0" smtClean="0"/>
              <a:t>OI</a:t>
            </a:r>
            <a:r>
              <a:rPr lang="zh-CN" altLang="en-US" dirty="0" smtClean="0"/>
              <a:t>题里比较常用</a:t>
            </a:r>
            <a:r>
              <a:rPr lang="en-US" altLang="zh-CN" dirty="0" smtClean="0"/>
              <a:t>,</a:t>
            </a:r>
            <a:r>
              <a:rPr lang="zh-CN" altLang="en-US" dirty="0" smtClean="0"/>
              <a:t>主要用来把一个大的期望拆成多部分去算</a:t>
            </a:r>
            <a:r>
              <a:rPr lang="en-US" altLang="zh-CN" dirty="0" smtClean="0"/>
              <a:t>.</a:t>
            </a:r>
            <a:endParaRPr lang="en-US" altLang="zh-CN" dirty="0" smtClean="0"/>
          </a:p>
          <a:p>
            <a:r>
              <a:rPr lang="zh-CN" altLang="en-US" dirty="0" smtClean="0"/>
              <a:t>例子</a:t>
            </a:r>
            <a:r>
              <a:rPr lang="en-US" altLang="zh-CN" dirty="0" smtClean="0"/>
              <a:t>:</a:t>
            </a:r>
            <a:r>
              <a:rPr lang="zh-CN" altLang="en-US" dirty="0" smtClean="0"/>
              <a:t>给一张</a:t>
            </a:r>
            <a:r>
              <a:rPr lang="en-US" altLang="zh-CN" dirty="0" smtClean="0"/>
              <a:t>n</a:t>
            </a:r>
            <a:r>
              <a:rPr lang="zh-CN" altLang="en-US" dirty="0" smtClean="0"/>
              <a:t>个点</a:t>
            </a:r>
            <a:r>
              <a:rPr lang="en-US" altLang="zh-CN" dirty="0" smtClean="0"/>
              <a:t>m</a:t>
            </a:r>
            <a:r>
              <a:rPr lang="zh-CN" altLang="en-US" dirty="0" smtClean="0"/>
              <a:t>条边的图</a:t>
            </a:r>
            <a:r>
              <a:rPr lang="en-US" altLang="zh-CN" dirty="0" smtClean="0"/>
              <a:t>,</a:t>
            </a:r>
            <a:r>
              <a:rPr lang="zh-CN" altLang="en-US" dirty="0" smtClean="0"/>
              <a:t>第</a:t>
            </a:r>
            <a:r>
              <a:rPr lang="en-US" altLang="zh-CN" dirty="0" err="1" smtClean="0"/>
              <a:t>i</a:t>
            </a:r>
            <a:r>
              <a:rPr lang="zh-CN" altLang="en-US" dirty="0" smtClean="0"/>
              <a:t>个点有</a:t>
            </a:r>
            <a:r>
              <a:rPr lang="en-US" altLang="zh-CN" dirty="0" smtClean="0"/>
              <a:t>pi</a:t>
            </a:r>
            <a:r>
              <a:rPr lang="zh-CN" altLang="en-US" dirty="0" smtClean="0"/>
              <a:t>的概率染黑</a:t>
            </a:r>
            <a:r>
              <a:rPr lang="en-US" altLang="zh-CN" dirty="0" smtClean="0"/>
              <a:t>,1-pi</a:t>
            </a:r>
            <a:r>
              <a:rPr lang="zh-CN" altLang="en-US" dirty="0" smtClean="0"/>
              <a:t>的概率染白</a:t>
            </a:r>
            <a:r>
              <a:rPr lang="en-US" altLang="zh-CN" dirty="0" smtClean="0"/>
              <a:t>,</a:t>
            </a:r>
            <a:r>
              <a:rPr lang="zh-CN" altLang="en-US" dirty="0" smtClean="0"/>
              <a:t>问两端颜色不同的边的数目的期望</a:t>
            </a:r>
            <a:endParaRPr lang="en-US" altLang="zh-CN" dirty="0" smtClean="0"/>
          </a:p>
          <a:p>
            <a:r>
              <a:rPr lang="zh-CN" altLang="en-US" dirty="0" smtClean="0"/>
              <a:t>期望的线性性</a:t>
            </a:r>
            <a:r>
              <a:rPr lang="en-US" altLang="zh-CN" dirty="0" smtClean="0"/>
              <a:t>,</a:t>
            </a:r>
            <a:r>
              <a:rPr lang="zh-CN" altLang="en-US" dirty="0" smtClean="0"/>
              <a:t>分别考虑每条边对期望的贡献</a:t>
            </a:r>
            <a:r>
              <a:rPr lang="en-US" altLang="zh-CN" dirty="0" smtClean="0"/>
              <a:t>,</a:t>
            </a:r>
            <a:r>
              <a:rPr lang="zh-CN" altLang="en-US" dirty="0" smtClean="0"/>
              <a:t>即每条边两端颜色不同的概率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280C Game on Tree</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给出一棵含</a:t>
            </a:r>
            <a:r>
              <a:rPr lang="en-US" altLang="zh-CN" sz="2400" dirty="0" smtClean="0"/>
              <a:t>n</a:t>
            </a:r>
            <a:r>
              <a:rPr lang="zh-CN" altLang="en-US" sz="2400" dirty="0" smtClean="0"/>
              <a:t>个白点的有根树</a:t>
            </a:r>
            <a:r>
              <a:rPr lang="en-US" altLang="zh-CN" sz="2400" dirty="0" smtClean="0"/>
              <a:t>,</a:t>
            </a:r>
            <a:r>
              <a:rPr lang="zh-CN" altLang="en-US" sz="2400" dirty="0" smtClean="0"/>
              <a:t>每次随机选择一个还没有被染黑的节点</a:t>
            </a:r>
            <a:r>
              <a:rPr lang="en-US" altLang="zh-CN" sz="2400" dirty="0" smtClean="0"/>
              <a:t>,</a:t>
            </a:r>
            <a:r>
              <a:rPr lang="zh-CN" altLang="en-US" sz="2400" dirty="0" smtClean="0"/>
              <a:t>将这个节点和这个节点子树中的所有点染黑</a:t>
            </a:r>
            <a:r>
              <a:rPr lang="en-US" altLang="zh-CN" sz="2400" dirty="0" smtClean="0"/>
              <a:t>.</a:t>
            </a:r>
            <a:endParaRPr lang="en-US" altLang="zh-CN" sz="2400" dirty="0" smtClean="0"/>
          </a:p>
          <a:p>
            <a:r>
              <a:rPr lang="zh-CN" altLang="en-US" sz="2400" dirty="0" smtClean="0"/>
              <a:t>问期望操作多少次后所有点都被染黑</a:t>
            </a:r>
            <a:r>
              <a:rPr lang="en-US" altLang="zh-CN" sz="2400" dirty="0" smtClean="0"/>
              <a:t>.</a:t>
            </a:r>
            <a:endParaRPr lang="en-US" altLang="zh-CN" sz="2400" dirty="0" smtClean="0"/>
          </a:p>
          <a:p>
            <a:r>
              <a:rPr lang="en-US" altLang="zh-CN" sz="2400" dirty="0" smtClean="0"/>
              <a:t>N&lt;=100000</a:t>
            </a:r>
            <a:endParaRPr lang="en-US" altLang="zh-CN" sz="2400" dirty="0" smtClean="0"/>
          </a:p>
          <a:p>
            <a:r>
              <a:rPr lang="zh-CN" altLang="en-US" sz="2400" dirty="0" smtClean="0"/>
              <a:t>期望的线性性</a:t>
            </a:r>
            <a:r>
              <a:rPr lang="en-US" altLang="zh-CN" sz="2400" dirty="0" smtClean="0"/>
              <a:t>…</a:t>
            </a:r>
            <a:r>
              <a:rPr lang="zh-CN" altLang="en-US" sz="2400" dirty="0" smtClean="0"/>
              <a:t>你们想一想啊</a:t>
            </a:r>
            <a:r>
              <a:rPr lang="en-US" altLang="zh-CN" sz="2400" dirty="0" smtClean="0"/>
              <a:t>…</a:t>
            </a:r>
            <a:r>
              <a:rPr lang="zh-CN" altLang="en-US" sz="2400" dirty="0" smtClean="0"/>
              <a:t>应该怎么把操作次数的期望</a:t>
            </a:r>
            <a:r>
              <a:rPr lang="en-US" altLang="zh-CN" sz="2400" dirty="0" smtClean="0"/>
              <a:t>”</a:t>
            </a:r>
            <a:r>
              <a:rPr lang="zh-CN" altLang="en-US" sz="2400" dirty="0" smtClean="0"/>
              <a:t>拆开</a:t>
            </a:r>
            <a:r>
              <a:rPr lang="en-US" altLang="zh-CN" sz="2400" dirty="0" smtClean="0"/>
              <a:t>”</a:t>
            </a:r>
            <a:r>
              <a:rPr lang="zh-CN" altLang="en-US" sz="2400" dirty="0" smtClean="0"/>
              <a:t>成多个变量的期望</a:t>
            </a:r>
            <a:r>
              <a:rPr lang="en-US" altLang="zh-CN" sz="2400" dirty="0" smtClean="0"/>
              <a:t>?</a:t>
            </a:r>
            <a:endParaRPr lang="en-US" altLang="zh-CN" sz="2400" dirty="0" smtClean="0"/>
          </a:p>
          <a:p>
            <a:r>
              <a:rPr lang="zh-CN" altLang="en-US" sz="2400" dirty="0" smtClean="0"/>
              <a:t>拆成</a:t>
            </a:r>
            <a:r>
              <a:rPr lang="en-US" altLang="zh-CN" sz="2400" dirty="0" smtClean="0"/>
              <a:t>”</a:t>
            </a:r>
            <a:r>
              <a:rPr lang="zh-CN" altLang="en-US" sz="2400" dirty="0" smtClean="0"/>
              <a:t>每个节点期望被选中的次数</a:t>
            </a:r>
            <a:r>
              <a:rPr lang="en-US" altLang="zh-CN" sz="2400" dirty="0" smtClean="0"/>
              <a:t>”,</a:t>
            </a:r>
            <a:r>
              <a:rPr lang="zh-CN" altLang="en-US" sz="2400" dirty="0" smtClean="0"/>
              <a:t>对每个点都是</a:t>
            </a:r>
            <a:r>
              <a:rPr lang="en-US" altLang="zh-CN" sz="2400" dirty="0" smtClean="0"/>
              <a:t>[0,1]</a:t>
            </a:r>
            <a:r>
              <a:rPr lang="zh-CN" altLang="en-US" sz="2400" dirty="0" smtClean="0"/>
              <a:t>的</a:t>
            </a:r>
            <a:r>
              <a:rPr lang="en-US" altLang="zh-CN" sz="2400" dirty="0" smtClean="0"/>
              <a:t>,</a:t>
            </a:r>
            <a:r>
              <a:rPr lang="zh-CN" altLang="en-US" sz="2400" dirty="0" smtClean="0"/>
              <a:t>其实就是每个节点在某次操作中被选中的概率</a:t>
            </a:r>
            <a:r>
              <a:rPr lang="en-US" altLang="zh-CN" sz="2400" dirty="0" smtClean="0"/>
              <a:t>.</a:t>
            </a:r>
            <a:r>
              <a:rPr lang="zh-CN" altLang="en-US" sz="2400" dirty="0" smtClean="0"/>
              <a:t>这个怎么算</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280C Game on Tree</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如果某个节点被选中之前</a:t>
            </a:r>
            <a:r>
              <a:rPr lang="en-US" altLang="zh-CN" sz="2400" dirty="0" smtClean="0"/>
              <a:t>,</a:t>
            </a:r>
            <a:r>
              <a:rPr lang="zh-CN" altLang="en-US" sz="2400" dirty="0" smtClean="0"/>
              <a:t>这个节点的某一个祖先被选中了</a:t>
            </a:r>
            <a:r>
              <a:rPr lang="en-US" altLang="zh-CN" sz="2400" dirty="0" smtClean="0"/>
              <a:t>,</a:t>
            </a:r>
            <a:r>
              <a:rPr lang="zh-CN" altLang="en-US" sz="2400" dirty="0" smtClean="0"/>
              <a:t>那么这个节点就不会被选中</a:t>
            </a:r>
            <a:r>
              <a:rPr lang="en-US" altLang="zh-CN" sz="2400" dirty="0" smtClean="0"/>
              <a:t>.</a:t>
            </a:r>
            <a:endParaRPr lang="en-US" altLang="zh-CN" sz="2400" dirty="0" smtClean="0"/>
          </a:p>
          <a:p>
            <a:r>
              <a:rPr lang="zh-CN" altLang="en-US" sz="2400" dirty="0" smtClean="0"/>
              <a:t>只考虑这个点和它的所有祖先</a:t>
            </a:r>
            <a:r>
              <a:rPr lang="en-US" altLang="zh-CN" sz="2400" dirty="0" smtClean="0"/>
              <a:t>,</a:t>
            </a:r>
            <a:r>
              <a:rPr lang="zh-CN" altLang="en-US" sz="2400" dirty="0" smtClean="0"/>
              <a:t>那么其他点被选中时不会影响这个点被选中的概率</a:t>
            </a:r>
            <a:r>
              <a:rPr lang="en-US" altLang="zh-CN" sz="2400" dirty="0" smtClean="0"/>
              <a:t>.</a:t>
            </a:r>
            <a:r>
              <a:rPr lang="zh-CN" altLang="en-US" sz="2400" dirty="0" smtClean="0"/>
              <a:t>相当于不断随机选择点</a:t>
            </a:r>
            <a:r>
              <a:rPr lang="en-US" altLang="zh-CN" sz="2400" dirty="0" smtClean="0"/>
              <a:t>,</a:t>
            </a:r>
            <a:r>
              <a:rPr lang="zh-CN" altLang="en-US" sz="2400" dirty="0" smtClean="0"/>
              <a:t>直到选择了这个点或者它的某一个祖先时</a:t>
            </a:r>
            <a:r>
              <a:rPr lang="en-US" altLang="zh-CN" sz="2400" dirty="0" smtClean="0"/>
              <a:t>,</a:t>
            </a:r>
            <a:r>
              <a:rPr lang="zh-CN" altLang="en-US" sz="2400" dirty="0" smtClean="0"/>
              <a:t>我们就知道这个点是否会被选中</a:t>
            </a:r>
            <a:r>
              <a:rPr lang="en-US" altLang="zh-CN" sz="2400" dirty="0" smtClean="0"/>
              <a:t>.</a:t>
            </a:r>
            <a:endParaRPr lang="en-US" altLang="zh-CN" sz="2400" dirty="0" smtClean="0"/>
          </a:p>
          <a:p>
            <a:r>
              <a:rPr lang="zh-CN" altLang="en-US" sz="2400" dirty="0" smtClean="0"/>
              <a:t>如果这个点有</a:t>
            </a:r>
            <a:r>
              <a:rPr lang="en-US" altLang="zh-CN" sz="2400" dirty="0" smtClean="0"/>
              <a:t>x</a:t>
            </a:r>
            <a:r>
              <a:rPr lang="zh-CN" altLang="en-US" sz="2400" dirty="0" smtClean="0"/>
              <a:t>个祖先</a:t>
            </a:r>
            <a:r>
              <a:rPr lang="en-US" altLang="zh-CN" sz="2400" dirty="0" smtClean="0"/>
              <a:t>,</a:t>
            </a:r>
            <a:r>
              <a:rPr lang="zh-CN" altLang="en-US" sz="2400" dirty="0" smtClean="0"/>
              <a:t>那么这</a:t>
            </a:r>
            <a:r>
              <a:rPr lang="en-US" altLang="zh-CN" sz="2400" dirty="0" smtClean="0"/>
              <a:t>(x+1)</a:t>
            </a:r>
            <a:r>
              <a:rPr lang="zh-CN" altLang="en-US" sz="2400" dirty="0" smtClean="0"/>
              <a:t>个点之中</a:t>
            </a:r>
            <a:r>
              <a:rPr lang="en-US" altLang="zh-CN" sz="2400" dirty="0" smtClean="0"/>
              <a:t>,</a:t>
            </a:r>
            <a:r>
              <a:rPr lang="zh-CN" altLang="en-US" sz="2400" dirty="0" smtClean="0"/>
              <a:t>每个点最先被选出来的概率是相等的</a:t>
            </a:r>
            <a:r>
              <a:rPr lang="en-US" altLang="zh-CN" sz="2400" dirty="0" smtClean="0"/>
              <a:t>.</a:t>
            </a:r>
            <a:endParaRPr lang="en-US" altLang="zh-CN" sz="2400" dirty="0" smtClean="0"/>
          </a:p>
          <a:p>
            <a:r>
              <a:rPr lang="zh-CN" altLang="en-US" sz="2400" dirty="0" smtClean="0"/>
              <a:t>其实我们</a:t>
            </a:r>
            <a:r>
              <a:rPr lang="en-US" altLang="zh-CN" sz="2400" dirty="0" err="1" smtClean="0"/>
              <a:t>dfs</a:t>
            </a:r>
            <a:r>
              <a:rPr lang="zh-CN" altLang="en-US" sz="2400" dirty="0" smtClean="0"/>
              <a:t>求一遍每个点的深度就完了</a:t>
            </a:r>
            <a:r>
              <a:rPr lang="en-US" altLang="zh-CN" sz="2400" dirty="0" smtClean="0"/>
              <a:t>.</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tyvj1933</a:t>
            </a:r>
            <a:r>
              <a:rPr lang="zh-CN" altLang="en-US" dirty="0" smtClean="0"/>
              <a:t>绿豆蛙的归宿</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 给出一个有向无环图，起点为</a:t>
            </a:r>
            <a:r>
              <a:rPr lang="en-US" altLang="zh-CN" sz="2400" dirty="0" smtClean="0"/>
              <a:t>1</a:t>
            </a:r>
            <a:r>
              <a:rPr lang="zh-CN" altLang="en-US" sz="2400" dirty="0" smtClean="0"/>
              <a:t>终点为</a:t>
            </a:r>
            <a:r>
              <a:rPr lang="en-US" altLang="zh-CN" sz="2400" dirty="0" smtClean="0"/>
              <a:t>N</a:t>
            </a:r>
            <a:r>
              <a:rPr lang="zh-CN" altLang="en-US" sz="2400" dirty="0" smtClean="0"/>
              <a:t>，每条边都有一个长度，并且从起点出发能够到达所有的点，所有的点也都能够到达终点。绿豆蛙从起点出发，走向终点。</a:t>
            </a:r>
            <a:br>
              <a:rPr lang="zh-CN" altLang="en-US" sz="2400" dirty="0" smtClean="0"/>
            </a:br>
            <a:r>
              <a:rPr lang="zh-CN" altLang="en-US" sz="2400" dirty="0" smtClean="0"/>
              <a:t>到达每一个顶点时，如果有</a:t>
            </a:r>
            <a:r>
              <a:rPr lang="en-US" altLang="zh-CN" sz="2400" dirty="0" smtClean="0"/>
              <a:t>K</a:t>
            </a:r>
            <a:r>
              <a:rPr lang="zh-CN" altLang="en-US" sz="2400" dirty="0" smtClean="0"/>
              <a:t>条离开该点的道路，绿豆蛙可以选择任意一条道路离开该点，并且走向每条路的概率为 </a:t>
            </a:r>
            <a:r>
              <a:rPr lang="en-US" altLang="zh-CN" sz="2400" dirty="0" smtClean="0"/>
              <a:t>1/K </a:t>
            </a:r>
            <a:r>
              <a:rPr lang="zh-CN" altLang="en-US" sz="2400" dirty="0" smtClean="0"/>
              <a:t>。</a:t>
            </a:r>
            <a:br>
              <a:rPr lang="zh-CN" altLang="en-US" sz="2400" dirty="0" smtClean="0"/>
            </a:br>
            <a:r>
              <a:rPr lang="zh-CN" altLang="en-US" sz="2400" dirty="0" smtClean="0"/>
              <a:t>现在绿豆蛙想知道，从起点走到终点的所经过的路径总长度</a:t>
            </a:r>
            <a:r>
              <a:rPr lang="en-US" altLang="zh-CN" sz="2400" dirty="0" smtClean="0"/>
              <a:t>(</a:t>
            </a:r>
            <a:r>
              <a:rPr lang="zh-CN" altLang="en-US" sz="2400" dirty="0" smtClean="0"/>
              <a:t>也就是路径上的边数</a:t>
            </a:r>
            <a:r>
              <a:rPr lang="en-US" altLang="zh-CN" sz="2400" dirty="0" smtClean="0"/>
              <a:t>)</a:t>
            </a:r>
            <a:r>
              <a:rPr lang="zh-CN" altLang="en-US" sz="2400" dirty="0" smtClean="0"/>
              <a:t>期望是多少？ </a:t>
            </a:r>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tyvj1933 </a:t>
            </a:r>
            <a:r>
              <a:rPr lang="zh-CN" altLang="en-US" dirty="0" smtClean="0"/>
              <a:t>绿豆蛙的归宿</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给出两种解法</a:t>
            </a:r>
            <a:r>
              <a:rPr lang="en-US" altLang="zh-CN" sz="2400" dirty="0" smtClean="0"/>
              <a:t>.</a:t>
            </a:r>
            <a:endParaRPr lang="en-US" altLang="zh-CN" sz="2400" dirty="0" smtClean="0"/>
          </a:p>
          <a:p>
            <a:r>
              <a:rPr lang="zh-CN" altLang="en-US" sz="2400" dirty="0" smtClean="0"/>
              <a:t>第一种</a:t>
            </a:r>
            <a:r>
              <a:rPr lang="en-US" altLang="zh-CN" sz="2400" dirty="0" smtClean="0"/>
              <a:t>:</a:t>
            </a:r>
            <a:r>
              <a:rPr lang="zh-CN" altLang="en-US" sz="2400" dirty="0" smtClean="0"/>
              <a:t>定义</a:t>
            </a:r>
            <a:r>
              <a:rPr lang="en-US" altLang="zh-CN" sz="2400" dirty="0" smtClean="0"/>
              <a:t>f[</a:t>
            </a:r>
            <a:r>
              <a:rPr lang="en-US" altLang="zh-CN" sz="2400" dirty="0" err="1" smtClean="0"/>
              <a:t>i</a:t>
            </a:r>
            <a:r>
              <a:rPr lang="en-US" altLang="zh-CN" sz="2400" dirty="0" smtClean="0"/>
              <a:t>]</a:t>
            </a:r>
            <a:r>
              <a:rPr lang="zh-CN" altLang="en-US" sz="2400" dirty="0" smtClean="0"/>
              <a:t>表示当前位于点</a:t>
            </a:r>
            <a:r>
              <a:rPr lang="en-US" altLang="zh-CN" sz="2400" dirty="0" err="1" smtClean="0"/>
              <a:t>i</a:t>
            </a:r>
            <a:r>
              <a:rPr lang="en-US" altLang="zh-CN" sz="2400" dirty="0" smtClean="0"/>
              <a:t>,</a:t>
            </a:r>
            <a:r>
              <a:rPr lang="zh-CN" altLang="en-US" sz="2400" dirty="0" smtClean="0"/>
              <a:t>从这里出发走到终点的期望步数</a:t>
            </a:r>
            <a:r>
              <a:rPr lang="en-US" altLang="zh-CN" sz="2400" dirty="0" smtClean="0"/>
              <a:t>.</a:t>
            </a:r>
            <a:endParaRPr lang="en-US" altLang="zh-CN" sz="2400" dirty="0" smtClean="0"/>
          </a:p>
          <a:p>
            <a:r>
              <a:rPr lang="zh-CN" altLang="en-US" sz="2400" dirty="0" smtClean="0"/>
              <a:t>那么</a:t>
            </a:r>
            <a:r>
              <a:rPr lang="en-US" altLang="zh-CN" sz="2400" dirty="0" smtClean="0"/>
              <a:t>f[n]=0</a:t>
            </a:r>
            <a:endParaRPr lang="en-US" altLang="zh-CN" sz="2400" dirty="0" smtClean="0"/>
          </a:p>
          <a:p>
            <a:r>
              <a:rPr lang="en-US" altLang="zh-CN" sz="2400" dirty="0" smtClean="0"/>
              <a:t>to[1]</a:t>
            </a:r>
            <a:r>
              <a:rPr lang="zh-CN" altLang="en-US" sz="2400" dirty="0" smtClean="0"/>
              <a:t>到</a:t>
            </a:r>
            <a:r>
              <a:rPr lang="en-US" altLang="zh-CN" sz="2400" dirty="0" smtClean="0"/>
              <a:t>to[k]</a:t>
            </a:r>
            <a:r>
              <a:rPr lang="zh-CN" altLang="en-US" sz="2400" dirty="0" smtClean="0"/>
              <a:t>依次表示</a:t>
            </a:r>
            <a:r>
              <a:rPr lang="en-US" altLang="zh-CN" sz="2400" dirty="0" err="1" smtClean="0"/>
              <a:t>i</a:t>
            </a:r>
            <a:r>
              <a:rPr lang="zh-CN" altLang="en-US" sz="2400" dirty="0" smtClean="0"/>
              <a:t>的出边指向的</a:t>
            </a:r>
            <a:r>
              <a:rPr lang="en-US" altLang="zh-CN" sz="2400" dirty="0" smtClean="0"/>
              <a:t>k</a:t>
            </a:r>
            <a:r>
              <a:rPr lang="zh-CN" altLang="en-US" sz="2400" dirty="0" smtClean="0"/>
              <a:t>个点</a:t>
            </a:r>
            <a:r>
              <a:rPr lang="en-US" altLang="zh-CN" sz="2400" dirty="0" smtClean="0"/>
              <a:t>,</a:t>
            </a:r>
            <a:r>
              <a:rPr lang="zh-CN" altLang="en-US" sz="2400" dirty="0" smtClean="0"/>
              <a:t>那么</a:t>
            </a:r>
            <a:r>
              <a:rPr lang="en-US" altLang="zh-CN" sz="2400" dirty="0" smtClean="0"/>
              <a:t>f[</a:t>
            </a:r>
            <a:r>
              <a:rPr lang="en-US" altLang="zh-CN" sz="2400" dirty="0" err="1" smtClean="0"/>
              <a:t>i</a:t>
            </a:r>
            <a:r>
              <a:rPr lang="en-US" altLang="zh-CN" sz="2400" dirty="0" smtClean="0"/>
              <a:t>]=1+f[to[1]]/</a:t>
            </a:r>
            <a:r>
              <a:rPr lang="en-US" altLang="zh-CN" sz="2400" dirty="0" err="1" smtClean="0"/>
              <a:t>k+f</a:t>
            </a:r>
            <a:r>
              <a:rPr lang="en-US" altLang="zh-CN" sz="2400" dirty="0" smtClean="0"/>
              <a:t>[to[2]]/k+….+f[to[k]]/k</a:t>
            </a:r>
            <a:endParaRPr lang="en-US" altLang="zh-CN" sz="2400" dirty="0" smtClean="0"/>
          </a:p>
          <a:p>
            <a:r>
              <a:rPr lang="zh-CN" altLang="en-US" sz="2400" dirty="0" smtClean="0"/>
              <a:t>我们分别考虑</a:t>
            </a:r>
            <a:r>
              <a:rPr lang="en-US" altLang="zh-CN" sz="2400" dirty="0" smtClean="0"/>
              <a:t>k</a:t>
            </a:r>
            <a:r>
              <a:rPr lang="zh-CN" altLang="en-US" sz="2400" dirty="0" smtClean="0"/>
              <a:t>种情况的期望</a:t>
            </a:r>
            <a:r>
              <a:rPr lang="en-US" altLang="zh-CN" sz="2400" dirty="0" smtClean="0"/>
              <a:t>,</a:t>
            </a:r>
            <a:r>
              <a:rPr lang="zh-CN" altLang="en-US" sz="2400" dirty="0" smtClean="0"/>
              <a:t>分别乘上概率</a:t>
            </a:r>
            <a:r>
              <a:rPr lang="en-US" altLang="zh-CN" sz="2400" dirty="0" smtClean="0"/>
              <a:t>,</a:t>
            </a:r>
            <a:r>
              <a:rPr lang="zh-CN" altLang="en-US" sz="2400" dirty="0" smtClean="0"/>
              <a:t>再加起来</a:t>
            </a:r>
            <a:r>
              <a:rPr lang="en-US" altLang="zh-CN" sz="2400" dirty="0" smtClean="0"/>
              <a:t>.</a:t>
            </a:r>
            <a:endParaRPr lang="en-US" altLang="zh-CN" sz="2400" dirty="0" smtClean="0"/>
          </a:p>
          <a:p>
            <a:r>
              <a:rPr lang="zh-CN" altLang="en-US" sz="2400" dirty="0" smtClean="0"/>
              <a:t>按照拓扑序递推即可</a:t>
            </a:r>
            <a:r>
              <a:rPr lang="en-US" altLang="zh-CN" sz="2400" dirty="0" smtClean="0"/>
              <a:t>.</a:t>
            </a:r>
            <a:endParaRPr lang="en-US" altLang="zh-CN" sz="2400" dirty="0" smtClean="0"/>
          </a:p>
          <a:p>
            <a:r>
              <a:rPr lang="zh-CN" altLang="en-US" sz="2400" dirty="0" smtClean="0"/>
              <a:t>注意这里的定义方式</a:t>
            </a:r>
            <a:r>
              <a:rPr lang="en-US" altLang="zh-CN" sz="2400" dirty="0" smtClean="0"/>
              <a:t>:”</a:t>
            </a:r>
            <a:r>
              <a:rPr lang="zh-CN" altLang="en-US" sz="2400" dirty="0" smtClean="0"/>
              <a:t>走到终点的期望步数</a:t>
            </a:r>
            <a:r>
              <a:rPr lang="en-US" altLang="zh-CN" sz="2400" dirty="0" smtClean="0"/>
              <a:t>”,</a:t>
            </a:r>
            <a:r>
              <a:rPr lang="zh-CN" altLang="en-US" sz="2400" dirty="0" smtClean="0"/>
              <a:t>其实很多概率题目都是类似的定义方式</a:t>
            </a:r>
            <a:r>
              <a:rPr lang="en-US" altLang="zh-CN" sz="2400" dirty="0" smtClean="0"/>
              <a:t>,</a:t>
            </a:r>
            <a:r>
              <a:rPr lang="zh-CN" altLang="en-US" sz="2400" dirty="0" smtClean="0"/>
              <a:t>定义某个状态到终止状态的期望步数</a:t>
            </a:r>
            <a:r>
              <a:rPr lang="en-US" altLang="zh-CN" sz="2400" dirty="0" smtClean="0"/>
              <a:t>/</a:t>
            </a:r>
            <a:r>
              <a:rPr lang="zh-CN" altLang="en-US" sz="2400" dirty="0" smtClean="0"/>
              <a:t>最优概率</a:t>
            </a:r>
            <a:r>
              <a:rPr lang="en-US" altLang="zh-CN" sz="2400" dirty="0" smtClean="0"/>
              <a:t>.</a:t>
            </a:r>
            <a:r>
              <a:rPr lang="zh-CN" altLang="en-US" sz="2400" dirty="0" smtClean="0"/>
              <a:t>这样往往比正着定义要方便</a:t>
            </a:r>
            <a:r>
              <a:rPr lang="en-US" altLang="zh-CN" sz="2400" dirty="0" smtClean="0"/>
              <a:t>.</a:t>
            </a:r>
            <a:endParaRPr lang="en-US" altLang="zh-CN" sz="2400" dirty="0" smtClean="0"/>
          </a:p>
          <a:p>
            <a:endParaRPr lang="zh-CN"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tyvj1933 </a:t>
            </a:r>
            <a:r>
              <a:rPr lang="zh-CN" altLang="en-US" dirty="0" smtClean="0"/>
              <a:t>绿豆蛙的归宿</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第二种解法</a:t>
            </a:r>
            <a:r>
              <a:rPr lang="en-US" altLang="zh-CN" sz="2400" dirty="0" smtClean="0"/>
              <a:t>:</a:t>
            </a:r>
            <a:endParaRPr lang="en-US" altLang="zh-CN" sz="2400" dirty="0" smtClean="0"/>
          </a:p>
          <a:p>
            <a:r>
              <a:rPr lang="zh-CN" altLang="en-US" sz="2400" dirty="0" smtClean="0"/>
              <a:t>期望的线性性</a:t>
            </a:r>
            <a:r>
              <a:rPr lang="en-US" altLang="zh-CN" sz="2400" dirty="0" smtClean="0"/>
              <a:t>,</a:t>
            </a:r>
            <a:r>
              <a:rPr lang="zh-CN" altLang="en-US" sz="2400" dirty="0" smtClean="0"/>
              <a:t>期望的步数</a:t>
            </a:r>
            <a:r>
              <a:rPr lang="en-US" altLang="zh-CN" sz="2400" dirty="0" smtClean="0"/>
              <a:t>=</a:t>
            </a:r>
            <a:r>
              <a:rPr lang="zh-CN" altLang="en-US" sz="2400" dirty="0" smtClean="0"/>
              <a:t>每条边期望经过次数之和</a:t>
            </a:r>
            <a:endParaRPr lang="en-US" altLang="zh-CN" sz="2400" dirty="0" smtClean="0"/>
          </a:p>
          <a:p>
            <a:r>
              <a:rPr lang="zh-CN" altLang="en-US" sz="2400" dirty="0" smtClean="0"/>
              <a:t>也就是求每条边被经过的概率</a:t>
            </a:r>
            <a:endParaRPr lang="en-US" altLang="zh-CN" sz="2400" dirty="0" smtClean="0"/>
          </a:p>
          <a:p>
            <a:r>
              <a:rPr lang="zh-CN" altLang="en-US" sz="2400" dirty="0" smtClean="0"/>
              <a:t>如果一条边从</a:t>
            </a:r>
            <a:r>
              <a:rPr lang="en-US" altLang="zh-CN" sz="2400" dirty="0" smtClean="0"/>
              <a:t>u</a:t>
            </a:r>
            <a:r>
              <a:rPr lang="zh-CN" altLang="en-US" sz="2400" dirty="0" smtClean="0"/>
              <a:t>指向</a:t>
            </a:r>
            <a:r>
              <a:rPr lang="en-US" altLang="zh-CN" sz="2400" dirty="0" smtClean="0"/>
              <a:t>v,</a:t>
            </a:r>
            <a:r>
              <a:rPr lang="zh-CN" altLang="en-US" sz="2400" dirty="0" smtClean="0"/>
              <a:t>要经过这条边就必须经过点</a:t>
            </a:r>
            <a:r>
              <a:rPr lang="en-US" altLang="zh-CN" sz="2400" dirty="0" smtClean="0"/>
              <a:t>u.</a:t>
            </a:r>
            <a:r>
              <a:rPr lang="zh-CN" altLang="en-US" sz="2400" dirty="0" smtClean="0"/>
              <a:t>如果经过了点</a:t>
            </a:r>
            <a:r>
              <a:rPr lang="en-US" altLang="zh-CN" sz="2400" dirty="0" smtClean="0"/>
              <a:t>u,</a:t>
            </a:r>
            <a:r>
              <a:rPr lang="zh-CN" altLang="en-US" sz="2400" dirty="0" smtClean="0"/>
              <a:t>就有</a:t>
            </a:r>
            <a:r>
              <a:rPr lang="en-US" altLang="zh-CN" sz="2400" dirty="0" smtClean="0"/>
              <a:t>1/(u</a:t>
            </a:r>
            <a:r>
              <a:rPr lang="zh-CN" altLang="en-US" sz="2400" dirty="0" smtClean="0"/>
              <a:t>的出度</a:t>
            </a:r>
            <a:r>
              <a:rPr lang="en-US" altLang="zh-CN" sz="2400" dirty="0" smtClean="0"/>
              <a:t>)</a:t>
            </a:r>
            <a:r>
              <a:rPr lang="zh-CN" altLang="en-US" sz="2400" dirty="0" smtClean="0"/>
              <a:t>的概率经过这条边</a:t>
            </a:r>
            <a:r>
              <a:rPr lang="en-US" altLang="zh-CN" sz="2400" dirty="0" smtClean="0"/>
              <a:t>.</a:t>
            </a:r>
            <a:endParaRPr lang="en-US" altLang="zh-CN" sz="2400" dirty="0" smtClean="0"/>
          </a:p>
          <a:p>
            <a:r>
              <a:rPr lang="zh-CN" altLang="en-US" sz="2400" dirty="0" smtClean="0"/>
              <a:t>因此这条边对答案的贡献</a:t>
            </a:r>
            <a:r>
              <a:rPr lang="en-US" altLang="zh-CN" sz="2400" dirty="0" smtClean="0"/>
              <a:t>=P(</a:t>
            </a:r>
            <a:r>
              <a:rPr lang="zh-CN" altLang="en-US" sz="2400" dirty="0" smtClean="0"/>
              <a:t>经过点</a:t>
            </a:r>
            <a:r>
              <a:rPr lang="en-US" altLang="zh-CN" sz="2400" dirty="0" smtClean="0"/>
              <a:t>u)/(u</a:t>
            </a:r>
            <a:r>
              <a:rPr lang="zh-CN" altLang="en-US" sz="2400" dirty="0" smtClean="0"/>
              <a:t>的出度</a:t>
            </a:r>
            <a:r>
              <a:rPr lang="en-US" altLang="zh-CN" sz="2400" dirty="0" smtClean="0"/>
              <a:t>)</a:t>
            </a:r>
            <a:endParaRPr lang="en-US" altLang="zh-CN" sz="2400" dirty="0" smtClean="0"/>
          </a:p>
          <a:p>
            <a:r>
              <a:rPr lang="zh-CN" altLang="en-US" sz="2400" dirty="0" smtClean="0"/>
              <a:t>问题变成求每个点被经过的概率</a:t>
            </a:r>
            <a:endParaRPr lang="en-US" altLang="zh-CN" sz="2400" dirty="0" smtClean="0"/>
          </a:p>
          <a:p>
            <a:r>
              <a:rPr lang="zh-CN" altLang="en-US" sz="2400" dirty="0" smtClean="0"/>
              <a:t>对于点</a:t>
            </a:r>
            <a:r>
              <a:rPr lang="en-US" altLang="zh-CN" sz="2400" dirty="0" smtClean="0"/>
              <a:t>u,</a:t>
            </a:r>
            <a:r>
              <a:rPr lang="zh-CN" altLang="en-US" sz="2400" dirty="0" smtClean="0"/>
              <a:t>我们考虑它的</a:t>
            </a:r>
            <a:r>
              <a:rPr lang="en-US" altLang="zh-CN" sz="2400" dirty="0" smtClean="0"/>
              <a:t>k</a:t>
            </a:r>
            <a:r>
              <a:rPr lang="zh-CN" altLang="en-US" sz="2400" dirty="0" smtClean="0"/>
              <a:t>条入边</a:t>
            </a:r>
            <a:r>
              <a:rPr lang="en-US" altLang="zh-CN" sz="2400" dirty="0" smtClean="0"/>
              <a:t>(from[1]-&gt;u),(from[2]-&gt;u)….(from[k]-&gt;u),</a:t>
            </a:r>
            <a:r>
              <a:rPr lang="zh-CN" altLang="en-US" sz="2400" dirty="0" smtClean="0"/>
              <a:t>应用全概率公式</a:t>
            </a:r>
            <a:r>
              <a:rPr lang="en-US" altLang="zh-CN" sz="2400" dirty="0" smtClean="0"/>
              <a:t>,</a:t>
            </a:r>
            <a:r>
              <a:rPr lang="zh-CN" altLang="en-US" sz="2400" dirty="0" smtClean="0"/>
              <a:t>经过点</a:t>
            </a:r>
            <a:r>
              <a:rPr lang="en-US" altLang="zh-CN" sz="2400" dirty="0" smtClean="0"/>
              <a:t>u</a:t>
            </a:r>
            <a:r>
              <a:rPr lang="zh-CN" altLang="en-US" sz="2400" dirty="0" smtClean="0"/>
              <a:t>的概率等于</a:t>
            </a:r>
            <a:r>
              <a:rPr lang="en-US" altLang="zh-CN" sz="2400" dirty="0" smtClean="0"/>
              <a:t>P(</a:t>
            </a:r>
            <a:r>
              <a:rPr lang="zh-CN" altLang="en-US" sz="2400" dirty="0" smtClean="0"/>
              <a:t>从</a:t>
            </a:r>
            <a:r>
              <a:rPr lang="en-US" altLang="zh-CN" sz="2400" dirty="0" smtClean="0"/>
              <a:t>(from[1]-&gt;u)</a:t>
            </a:r>
            <a:r>
              <a:rPr lang="zh-CN" altLang="en-US" sz="2400" dirty="0" smtClean="0"/>
              <a:t>到达</a:t>
            </a:r>
            <a:r>
              <a:rPr lang="en-US" altLang="zh-CN" sz="2400" dirty="0" smtClean="0"/>
              <a:t>u)+P(</a:t>
            </a:r>
            <a:r>
              <a:rPr lang="zh-CN" altLang="en-US" sz="2400" dirty="0" smtClean="0"/>
              <a:t>从</a:t>
            </a:r>
            <a:r>
              <a:rPr lang="en-US" altLang="zh-CN" sz="2400" dirty="0" smtClean="0"/>
              <a:t>(from[2]-&gt;u)</a:t>
            </a:r>
            <a:r>
              <a:rPr lang="zh-CN" altLang="en-US" sz="2400" dirty="0" smtClean="0"/>
              <a:t>到达</a:t>
            </a:r>
            <a:r>
              <a:rPr lang="en-US" altLang="zh-CN" sz="2400" dirty="0" smtClean="0"/>
              <a:t>u)…+P(</a:t>
            </a:r>
            <a:r>
              <a:rPr lang="zh-CN" altLang="en-US" sz="2400" dirty="0" smtClean="0"/>
              <a:t>从</a:t>
            </a:r>
            <a:r>
              <a:rPr lang="en-US" altLang="zh-CN" sz="2400" dirty="0" smtClean="0"/>
              <a:t>(from[k]-&gt;u)</a:t>
            </a:r>
            <a:r>
              <a:rPr lang="zh-CN" altLang="en-US" sz="2400" dirty="0" smtClean="0"/>
              <a:t>到达</a:t>
            </a:r>
            <a:r>
              <a:rPr lang="en-US" altLang="zh-CN" sz="2400" dirty="0" smtClean="0"/>
              <a:t>u),</a:t>
            </a:r>
            <a:r>
              <a:rPr lang="zh-CN" altLang="en-US" sz="2400" dirty="0" smtClean="0"/>
              <a:t>即从每条边到达</a:t>
            </a:r>
            <a:r>
              <a:rPr lang="en-US" altLang="zh-CN" sz="2400" dirty="0" smtClean="0"/>
              <a:t>u</a:t>
            </a:r>
            <a:r>
              <a:rPr lang="zh-CN" altLang="en-US" sz="2400" dirty="0" smtClean="0"/>
              <a:t>的概率之和</a:t>
            </a:r>
            <a:r>
              <a:rPr lang="en-US" altLang="zh-CN" sz="2400" dirty="0" smtClean="0"/>
              <a:t>.</a:t>
            </a:r>
            <a:r>
              <a:rPr lang="zh-CN" altLang="en-US" sz="2400" dirty="0" smtClean="0"/>
              <a:t>按照拓扑序递推即可</a:t>
            </a:r>
            <a:r>
              <a:rPr lang="en-US" altLang="zh-CN" sz="2400" dirty="0" smtClean="0"/>
              <a:t>.</a:t>
            </a:r>
            <a:endParaRPr lang="en-US" altLang="zh-CN" sz="2400" dirty="0"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3143: [Hnoi2013]</a:t>
            </a:r>
            <a:r>
              <a:rPr lang="zh-CN" altLang="en-US" dirty="0" smtClean="0"/>
              <a:t>游走</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一个无向连通图，顶点从</a:t>
            </a:r>
            <a:r>
              <a:rPr lang="en-US" altLang="zh-CN" sz="2400" dirty="0" smtClean="0"/>
              <a:t>1</a:t>
            </a:r>
            <a:r>
              <a:rPr lang="zh-CN" altLang="en-US" sz="2400" dirty="0" smtClean="0"/>
              <a:t>编号到</a:t>
            </a:r>
            <a:r>
              <a:rPr lang="en-US" altLang="zh-CN" sz="2400" dirty="0" smtClean="0"/>
              <a:t>N</a:t>
            </a:r>
            <a:r>
              <a:rPr lang="zh-CN" altLang="en-US" sz="2400" dirty="0" smtClean="0"/>
              <a:t>，边从</a:t>
            </a:r>
            <a:r>
              <a:rPr lang="en-US" altLang="zh-CN" sz="2400" dirty="0" smtClean="0"/>
              <a:t>1</a:t>
            </a:r>
            <a:r>
              <a:rPr lang="zh-CN" altLang="en-US" sz="2400" dirty="0" smtClean="0"/>
              <a:t>编号到</a:t>
            </a:r>
            <a:r>
              <a:rPr lang="en-US" altLang="zh-CN" sz="2400" dirty="0" smtClean="0"/>
              <a:t>M</a:t>
            </a:r>
            <a:r>
              <a:rPr lang="zh-CN" altLang="en-US" sz="2400" dirty="0" smtClean="0"/>
              <a:t>。 </a:t>
            </a:r>
            <a:br>
              <a:rPr lang="zh-CN" altLang="en-US" sz="2400" dirty="0" smtClean="0"/>
            </a:br>
            <a:r>
              <a:rPr lang="zh-CN" altLang="en-US" sz="2400" dirty="0" smtClean="0"/>
              <a:t>小</a:t>
            </a:r>
            <a:r>
              <a:rPr lang="en-US" altLang="zh-CN" sz="2400" dirty="0" smtClean="0"/>
              <a:t>Z</a:t>
            </a:r>
            <a:r>
              <a:rPr lang="zh-CN" altLang="en-US" sz="2400" dirty="0" smtClean="0"/>
              <a:t>在该图上进行随机游走，初始时小</a:t>
            </a:r>
            <a:r>
              <a:rPr lang="en-US" altLang="zh-CN" sz="2400" dirty="0" smtClean="0"/>
              <a:t>Z</a:t>
            </a:r>
            <a:r>
              <a:rPr lang="zh-CN" altLang="en-US" sz="2400" dirty="0" smtClean="0"/>
              <a:t>在</a:t>
            </a:r>
            <a:r>
              <a:rPr lang="en-US" altLang="zh-CN" sz="2400" dirty="0" smtClean="0"/>
              <a:t>1</a:t>
            </a:r>
            <a:r>
              <a:rPr lang="zh-CN" altLang="en-US" sz="2400" dirty="0" smtClean="0"/>
              <a:t>号顶点，每一步小</a:t>
            </a:r>
            <a:r>
              <a:rPr lang="en-US" altLang="zh-CN" sz="2400" dirty="0" smtClean="0"/>
              <a:t>Z</a:t>
            </a:r>
            <a:r>
              <a:rPr lang="zh-CN" altLang="en-US" sz="2400" dirty="0" smtClean="0"/>
              <a:t>以相等的概率随机选 择当前顶点的某条边，沿着这条边走到下一个顶点，获得等于这条边的编号的分数。当小</a:t>
            </a:r>
            <a:r>
              <a:rPr lang="en-US" altLang="zh-CN" sz="2400" dirty="0" smtClean="0"/>
              <a:t>Z </a:t>
            </a:r>
            <a:r>
              <a:rPr lang="zh-CN" altLang="en-US" sz="2400" dirty="0" smtClean="0"/>
              <a:t>到达</a:t>
            </a:r>
            <a:r>
              <a:rPr lang="en-US" altLang="zh-CN" sz="2400" dirty="0" smtClean="0"/>
              <a:t>N</a:t>
            </a:r>
            <a:r>
              <a:rPr lang="zh-CN" altLang="en-US" sz="2400" dirty="0" smtClean="0"/>
              <a:t>号顶点时游走结束，总分为所有获得的分数之和。 </a:t>
            </a:r>
            <a:br>
              <a:rPr lang="zh-CN" altLang="en-US" sz="2400" dirty="0" smtClean="0"/>
            </a:br>
            <a:r>
              <a:rPr lang="zh-CN" altLang="en-US" sz="2400" dirty="0" smtClean="0"/>
              <a:t>现在，请你对这</a:t>
            </a:r>
            <a:r>
              <a:rPr lang="en-US" altLang="zh-CN" sz="2400" dirty="0" smtClean="0"/>
              <a:t>M</a:t>
            </a:r>
            <a:r>
              <a:rPr lang="zh-CN" altLang="en-US" sz="2400" dirty="0" smtClean="0"/>
              <a:t>条边进行编号，使得小</a:t>
            </a:r>
            <a:r>
              <a:rPr lang="en-US" altLang="zh-CN" sz="2400" dirty="0" smtClean="0"/>
              <a:t>Z</a:t>
            </a:r>
            <a:r>
              <a:rPr lang="zh-CN" altLang="en-US" sz="2400" dirty="0" smtClean="0"/>
              <a:t>获得的总分的期望值最小。</a:t>
            </a:r>
            <a:endParaRPr lang="zh-CN" altLang="en-US" sz="2400" dirty="0" smtClean="0"/>
          </a:p>
          <a:p>
            <a:r>
              <a:rPr lang="en-US" altLang="zh-CN" sz="2400" dirty="0" smtClean="0"/>
              <a:t>N&lt;=500</a:t>
            </a:r>
            <a:br>
              <a:rPr lang="zh-CN" altLang="en-US" sz="2400" dirty="0" smtClean="0"/>
            </a:br>
            <a:endParaRPr lang="zh-CN" alt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3143: [Hnoi2013]</a:t>
            </a:r>
            <a:r>
              <a:rPr lang="zh-CN" altLang="en-US" dirty="0" smtClean="0"/>
              <a:t>游走</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求出每条边的期望经过次数</a:t>
            </a:r>
            <a:r>
              <a:rPr lang="en-US" altLang="zh-CN" sz="2400" dirty="0" smtClean="0"/>
              <a:t>,</a:t>
            </a:r>
            <a:r>
              <a:rPr lang="zh-CN" altLang="en-US" sz="2400" dirty="0" smtClean="0"/>
              <a:t>经过次数多的编号小</a:t>
            </a:r>
            <a:r>
              <a:rPr lang="en-US" altLang="zh-CN" sz="2400" dirty="0" smtClean="0"/>
              <a:t>,</a:t>
            </a:r>
            <a:r>
              <a:rPr lang="zh-CN" altLang="en-US" sz="2400" dirty="0" smtClean="0"/>
              <a:t>经过次数少的编号大</a:t>
            </a:r>
            <a:r>
              <a:rPr lang="en-US" altLang="zh-CN" sz="2400" dirty="0" smtClean="0"/>
              <a:t>,</a:t>
            </a:r>
            <a:r>
              <a:rPr lang="zh-CN" altLang="en-US" sz="2400" dirty="0" smtClean="0"/>
              <a:t>排序就好了</a:t>
            </a:r>
            <a:r>
              <a:rPr lang="en-US" altLang="zh-CN" sz="2400" dirty="0" smtClean="0"/>
              <a:t>.</a:t>
            </a:r>
            <a:endParaRPr lang="en-US" altLang="zh-CN" sz="2400" dirty="0" smtClean="0"/>
          </a:p>
          <a:p>
            <a:r>
              <a:rPr lang="zh-CN" altLang="en-US" sz="2400" dirty="0" smtClean="0"/>
              <a:t>现在问题是求每条边的期望经过次数</a:t>
            </a:r>
            <a:r>
              <a:rPr lang="en-US" altLang="zh-CN" sz="2400" dirty="0" smtClean="0"/>
              <a:t>.</a:t>
            </a:r>
            <a:endParaRPr lang="en-US" altLang="zh-CN" sz="2400" dirty="0" smtClean="0"/>
          </a:p>
          <a:p>
            <a:r>
              <a:rPr lang="zh-CN" altLang="en-US" sz="2400" dirty="0" smtClean="0"/>
              <a:t>可能从</a:t>
            </a:r>
            <a:r>
              <a:rPr lang="en-US" altLang="zh-CN" sz="2400" dirty="0" smtClean="0"/>
              <a:t>u</a:t>
            </a:r>
            <a:r>
              <a:rPr lang="zh-CN" altLang="en-US" sz="2400" dirty="0" smtClean="0"/>
              <a:t>走到</a:t>
            </a:r>
            <a:r>
              <a:rPr lang="en-US" altLang="zh-CN" sz="2400" dirty="0" smtClean="0"/>
              <a:t>v,</a:t>
            </a:r>
            <a:r>
              <a:rPr lang="zh-CN" altLang="en-US" sz="2400" dirty="0" smtClean="0"/>
              <a:t>也可能从</a:t>
            </a:r>
            <a:r>
              <a:rPr lang="en-US" altLang="zh-CN" sz="2400" dirty="0" smtClean="0"/>
              <a:t>v</a:t>
            </a:r>
            <a:r>
              <a:rPr lang="zh-CN" altLang="en-US" sz="2400" dirty="0" smtClean="0"/>
              <a:t>走到</a:t>
            </a:r>
            <a:r>
              <a:rPr lang="en-US" altLang="zh-CN" sz="2400" dirty="0" smtClean="0"/>
              <a:t>u,</a:t>
            </a:r>
            <a:r>
              <a:rPr lang="zh-CN" altLang="en-US" sz="2400" dirty="0" smtClean="0"/>
              <a:t>从</a:t>
            </a:r>
            <a:r>
              <a:rPr lang="en-US" altLang="zh-CN" sz="2400" dirty="0" smtClean="0"/>
              <a:t>u</a:t>
            </a:r>
            <a:r>
              <a:rPr lang="zh-CN" altLang="en-US" sz="2400" dirty="0" smtClean="0"/>
              <a:t>走到</a:t>
            </a:r>
            <a:r>
              <a:rPr lang="en-US" altLang="zh-CN" sz="2400" dirty="0" smtClean="0"/>
              <a:t>v</a:t>
            </a:r>
            <a:r>
              <a:rPr lang="zh-CN" altLang="en-US" sz="2400" dirty="0" smtClean="0"/>
              <a:t>的期望次数等于经过点</a:t>
            </a:r>
            <a:r>
              <a:rPr lang="en-US" altLang="zh-CN" sz="2400" dirty="0" smtClean="0"/>
              <a:t>u</a:t>
            </a:r>
            <a:r>
              <a:rPr lang="zh-CN" altLang="en-US" sz="2400" dirty="0" smtClean="0"/>
              <a:t>的次数</a:t>
            </a:r>
            <a:r>
              <a:rPr lang="en-US" altLang="zh-CN" sz="2400" dirty="0" smtClean="0"/>
              <a:t>/u</a:t>
            </a:r>
            <a:r>
              <a:rPr lang="zh-CN" altLang="en-US" sz="2400" dirty="0" smtClean="0"/>
              <a:t>的度数</a:t>
            </a:r>
            <a:endParaRPr lang="en-US" altLang="zh-CN" sz="2400" dirty="0" smtClean="0"/>
          </a:p>
          <a:p>
            <a:r>
              <a:rPr lang="zh-CN" altLang="en-US" sz="2400" dirty="0" smtClean="0"/>
              <a:t>问题转化成求每个点的期望经过次数</a:t>
            </a:r>
            <a:r>
              <a:rPr lang="en-US" altLang="zh-CN" sz="2400" dirty="0" smtClean="0"/>
              <a:t>.</a:t>
            </a:r>
            <a:endParaRPr lang="en-US" altLang="zh-CN" sz="2400" dirty="0" smtClean="0"/>
          </a:p>
          <a:p>
            <a:r>
              <a:rPr lang="zh-CN" altLang="en-US" sz="2400" dirty="0" smtClean="0"/>
              <a:t>对于起点</a:t>
            </a:r>
            <a:r>
              <a:rPr lang="en-US" altLang="zh-CN" sz="2400" dirty="0" smtClean="0"/>
              <a:t>,</a:t>
            </a:r>
            <a:r>
              <a:rPr lang="zh-CN" altLang="en-US" sz="2400" dirty="0" smtClean="0"/>
              <a:t>一开始经过一次</a:t>
            </a:r>
            <a:r>
              <a:rPr lang="en-US" altLang="zh-CN" sz="2400" dirty="0" smtClean="0"/>
              <a:t>,</a:t>
            </a:r>
            <a:r>
              <a:rPr lang="zh-CN" altLang="en-US" sz="2400" dirty="0" smtClean="0"/>
              <a:t>也可能从其他点走过来</a:t>
            </a:r>
            <a:r>
              <a:rPr lang="en-US" altLang="zh-CN" sz="2400" dirty="0" smtClean="0"/>
              <a:t>.</a:t>
            </a:r>
            <a:endParaRPr lang="en-US" altLang="zh-CN" sz="2400" dirty="0" smtClean="0"/>
          </a:p>
          <a:p>
            <a:pPr lvl="1"/>
            <a:r>
              <a:rPr lang="en-US" altLang="zh-CN" sz="2100" dirty="0" smtClean="0"/>
              <a:t>f[1]=1+sigma(f[j]/degree(j),j</a:t>
            </a:r>
            <a:r>
              <a:rPr lang="zh-CN" altLang="en-US" sz="2100" dirty="0" smtClean="0"/>
              <a:t>和</a:t>
            </a:r>
            <a:r>
              <a:rPr lang="en-US" altLang="zh-CN" sz="2100" dirty="0" smtClean="0"/>
              <a:t>1</a:t>
            </a:r>
            <a:r>
              <a:rPr lang="zh-CN" altLang="en-US" sz="2100" dirty="0" smtClean="0"/>
              <a:t>有边</a:t>
            </a:r>
            <a:r>
              <a:rPr lang="en-US" altLang="zh-CN" sz="2100" dirty="0" smtClean="0"/>
              <a:t>)</a:t>
            </a:r>
            <a:endParaRPr lang="en-US" altLang="zh-CN" sz="2100" dirty="0" smtClean="0"/>
          </a:p>
          <a:p>
            <a:pPr lvl="1"/>
            <a:r>
              <a:rPr lang="en-US" altLang="zh-CN" sz="2100" dirty="0" smtClean="0"/>
              <a:t>f[</a:t>
            </a:r>
            <a:r>
              <a:rPr lang="en-US" altLang="zh-CN" sz="2100" dirty="0" err="1" smtClean="0"/>
              <a:t>i</a:t>
            </a:r>
            <a:r>
              <a:rPr lang="en-US" altLang="zh-CN" sz="2100" dirty="0" smtClean="0"/>
              <a:t>]=sigma(f[j]/degree(j),j</a:t>
            </a:r>
            <a:r>
              <a:rPr lang="zh-CN" altLang="en-US" sz="2100" dirty="0" smtClean="0"/>
              <a:t>和</a:t>
            </a:r>
            <a:r>
              <a:rPr lang="en-US" altLang="zh-CN" sz="2100" dirty="0" err="1" smtClean="0"/>
              <a:t>i</a:t>
            </a:r>
            <a:r>
              <a:rPr lang="zh-CN" altLang="en-US" sz="2100" dirty="0" smtClean="0"/>
              <a:t>有边</a:t>
            </a:r>
            <a:r>
              <a:rPr lang="en-US" altLang="zh-CN" sz="2100" dirty="0" smtClean="0"/>
              <a:t>)  //</a:t>
            </a:r>
            <a:r>
              <a:rPr lang="en-US" altLang="zh-CN" sz="2100" dirty="0" err="1" smtClean="0"/>
              <a:t>i</a:t>
            </a:r>
            <a:r>
              <a:rPr lang="en-US" altLang="zh-CN" sz="2100" dirty="0" smtClean="0"/>
              <a:t>&gt;=2</a:t>
            </a:r>
            <a:endParaRPr lang="en-US" altLang="zh-CN" sz="2100" dirty="0" smtClean="0"/>
          </a:p>
          <a:p>
            <a:r>
              <a:rPr lang="zh-CN" altLang="en-US" sz="2400" dirty="0" smtClean="0"/>
              <a:t>这是</a:t>
            </a:r>
            <a:r>
              <a:rPr lang="en-US" altLang="zh-CN" sz="2400" dirty="0" smtClean="0"/>
              <a:t>n</a:t>
            </a:r>
            <a:r>
              <a:rPr lang="zh-CN" altLang="en-US" sz="2400" dirty="0" smtClean="0"/>
              <a:t>个变量</a:t>
            </a:r>
            <a:r>
              <a:rPr lang="en-US" altLang="zh-CN" sz="2400" dirty="0" smtClean="0"/>
              <a:t>n</a:t>
            </a:r>
            <a:r>
              <a:rPr lang="zh-CN" altLang="en-US" sz="2400" dirty="0" smtClean="0"/>
              <a:t>个方程的方程组</a:t>
            </a:r>
            <a:r>
              <a:rPr lang="en-US" altLang="zh-CN" sz="2400" dirty="0" smtClean="0"/>
              <a:t>,</a:t>
            </a:r>
            <a:r>
              <a:rPr lang="zh-CN" altLang="en-US" sz="2400" dirty="0" smtClean="0"/>
              <a:t>高斯消元解方程组</a:t>
            </a:r>
            <a:r>
              <a:rPr lang="en-US" altLang="zh-CN" sz="2400" dirty="0" smtClean="0"/>
              <a:t>,O(n^3)</a:t>
            </a:r>
            <a:endParaRPr lang="en-US" altLang="zh-CN" sz="2400" dirty="0" smtClean="0"/>
          </a:p>
          <a:p>
            <a:r>
              <a:rPr lang="zh-CN" altLang="en-US" sz="2400" dirty="0" smtClean="0"/>
              <a:t>有不会高斯消元的吗</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bzoj1426:</a:t>
            </a:r>
            <a:r>
              <a:rPr lang="zh-CN" altLang="en-US" dirty="0" smtClean="0"/>
              <a:t>收集邮票</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有</a:t>
            </a:r>
            <a:r>
              <a:rPr lang="en-US" altLang="zh-CN" sz="2400" dirty="0" smtClean="0"/>
              <a:t>n</a:t>
            </a:r>
            <a:r>
              <a:rPr lang="zh-CN" altLang="en-US" sz="2400" dirty="0" smtClean="0"/>
              <a:t>种不同的邮票，皮皮想收集所有种类的邮票。唯一的收集方法是到同学凡凡那里购买，每次只能买一张，并且买到的邮票究竟是</a:t>
            </a:r>
            <a:r>
              <a:rPr lang="en-US" altLang="zh-CN" sz="2400" dirty="0" smtClean="0"/>
              <a:t>n</a:t>
            </a:r>
            <a:r>
              <a:rPr lang="zh-CN" altLang="en-US" sz="2400" dirty="0" smtClean="0"/>
              <a:t>种邮票中的哪一种是等概率的，概率均为</a:t>
            </a:r>
            <a:r>
              <a:rPr lang="en-US" altLang="zh-CN" sz="2400" dirty="0" smtClean="0"/>
              <a:t>1/n</a:t>
            </a:r>
            <a:r>
              <a:rPr lang="zh-CN" altLang="en-US" sz="2400" dirty="0" smtClean="0"/>
              <a:t>。但是由于凡凡也很喜欢邮票，所以皮皮购买第</a:t>
            </a:r>
            <a:r>
              <a:rPr lang="en-US" altLang="zh-CN" sz="2400" dirty="0" smtClean="0"/>
              <a:t>k</a:t>
            </a:r>
            <a:r>
              <a:rPr lang="zh-CN" altLang="en-US" sz="2400" dirty="0" smtClean="0"/>
              <a:t>张邮票需要支付</a:t>
            </a:r>
            <a:r>
              <a:rPr lang="en-US" altLang="zh-CN" sz="2400" dirty="0" smtClean="0"/>
              <a:t>k</a:t>
            </a:r>
            <a:r>
              <a:rPr lang="zh-CN" altLang="en-US" sz="2400" dirty="0" smtClean="0"/>
              <a:t>元钱。 现在皮皮手中没有邮票，皮皮想知道自己得到所有种类的邮票需要花费的钱数目的期望。</a:t>
            </a:r>
            <a:endParaRPr lang="en-US" altLang="zh-CN" sz="2400" dirty="0" smtClean="0"/>
          </a:p>
          <a:p>
            <a:r>
              <a:rPr lang="en-US" altLang="zh-CN" sz="2400" dirty="0" smtClean="0"/>
              <a:t>n&lt;=100000</a:t>
            </a:r>
            <a:endParaRPr lang="en-US" altLang="zh-CN" sz="2400" dirty="0" smtClean="0"/>
          </a:p>
          <a:p>
            <a:r>
              <a:rPr lang="zh-CN" altLang="en-US" sz="2400" dirty="0" smtClean="0"/>
              <a:t>我感觉不会讲到这道题</a:t>
            </a:r>
            <a:r>
              <a:rPr lang="en-US" altLang="zh-CN" sz="2400" dirty="0" smtClean="0"/>
              <a:t>…</a:t>
            </a:r>
            <a:r>
              <a:rPr lang="zh-CN" altLang="en-US" sz="2400" dirty="0" smtClean="0"/>
              <a:t>如果讲课的时候看到这张</a:t>
            </a:r>
            <a:r>
              <a:rPr lang="en-US" altLang="zh-CN" sz="2400" dirty="0" smtClean="0"/>
              <a:t>PPT</a:t>
            </a:r>
            <a:r>
              <a:rPr lang="zh-CN" altLang="en-US" sz="2400" dirty="0" smtClean="0"/>
              <a:t>说明我讲得太快了</a:t>
            </a:r>
            <a:r>
              <a:rPr lang="en-US" altLang="zh-CN" sz="2400" dirty="0" smtClean="0"/>
              <a:t>…</a:t>
            </a:r>
            <a:endParaRPr lang="zh-CN" altLang="en-US" sz="2400"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bzoj1426:</a:t>
            </a:r>
            <a:r>
              <a:rPr lang="zh-CN" altLang="en-US" dirty="0" smtClean="0"/>
              <a:t>收集邮票</a:t>
            </a:r>
            <a:endParaRPr lang="zh-CN" altLang="en-US" dirty="0"/>
          </a:p>
        </p:txBody>
      </p:sp>
      <p:sp>
        <p:nvSpPr>
          <p:cNvPr id="3" name="内容占位符 2"/>
          <p:cNvSpPr>
            <a:spLocks noGrp="1"/>
          </p:cNvSpPr>
          <p:nvPr>
            <p:ph sz="quarter" idx="1"/>
          </p:nvPr>
        </p:nvSpPr>
        <p:spPr/>
        <p:txBody>
          <a:bodyPr>
            <a:normAutofit/>
          </a:bodyPr>
          <a:lstStyle/>
          <a:p>
            <a:r>
              <a:rPr lang="zh-CN" altLang="en-US" sz="2000" dirty="0" smtClean="0"/>
              <a:t>先考虑简化版</a:t>
            </a:r>
            <a:r>
              <a:rPr lang="en-US" altLang="zh-CN" sz="2000" dirty="0" smtClean="0"/>
              <a:t>:</a:t>
            </a:r>
            <a:r>
              <a:rPr lang="zh-CN" altLang="en-US" sz="2000" dirty="0" smtClean="0"/>
              <a:t>每张邮票都只需要</a:t>
            </a:r>
            <a:r>
              <a:rPr lang="en-US" altLang="zh-CN" sz="2000" dirty="0" smtClean="0"/>
              <a:t>1</a:t>
            </a:r>
            <a:r>
              <a:rPr lang="zh-CN" altLang="en-US" sz="2000" dirty="0" smtClean="0"/>
              <a:t>元钱</a:t>
            </a:r>
            <a:r>
              <a:rPr lang="en-US" altLang="zh-CN" sz="2000" dirty="0" smtClean="0"/>
              <a:t>,</a:t>
            </a:r>
            <a:r>
              <a:rPr lang="zh-CN" altLang="en-US" sz="2000" dirty="0" smtClean="0"/>
              <a:t>期望的花费</a:t>
            </a:r>
            <a:r>
              <a:rPr lang="en-US" altLang="zh-CN" sz="2000" dirty="0" smtClean="0"/>
              <a:t>?</a:t>
            </a:r>
            <a:endParaRPr lang="en-US" altLang="zh-CN" sz="2000" dirty="0" smtClean="0"/>
          </a:p>
          <a:p>
            <a:r>
              <a:rPr lang="en-US" altLang="zh-CN" sz="2000" dirty="0" smtClean="0"/>
              <a:t>f[</a:t>
            </a:r>
            <a:r>
              <a:rPr lang="en-US" altLang="zh-CN" sz="2000" dirty="0" err="1" smtClean="0"/>
              <a:t>i</a:t>
            </a:r>
            <a:r>
              <a:rPr lang="en-US" altLang="zh-CN" sz="2000" dirty="0" smtClean="0"/>
              <a:t>]</a:t>
            </a:r>
            <a:r>
              <a:rPr lang="zh-CN" altLang="en-US" sz="2000" dirty="0" smtClean="0"/>
              <a:t>表示当前有</a:t>
            </a:r>
            <a:r>
              <a:rPr lang="en-US" altLang="zh-CN" sz="2000" dirty="0" err="1" smtClean="0"/>
              <a:t>i</a:t>
            </a:r>
            <a:r>
              <a:rPr lang="zh-CN" altLang="en-US" sz="2000" dirty="0" smtClean="0"/>
              <a:t>张邮票</a:t>
            </a:r>
            <a:r>
              <a:rPr lang="en-US" altLang="zh-CN" sz="2000" dirty="0" smtClean="0"/>
              <a:t>,</a:t>
            </a:r>
            <a:r>
              <a:rPr lang="zh-CN" altLang="en-US" sz="2000" dirty="0" smtClean="0"/>
              <a:t>要集齐</a:t>
            </a:r>
            <a:r>
              <a:rPr lang="en-US" altLang="zh-CN" sz="2000" dirty="0" smtClean="0"/>
              <a:t>n</a:t>
            </a:r>
            <a:r>
              <a:rPr lang="zh-CN" altLang="en-US" sz="2000" dirty="0" smtClean="0"/>
              <a:t>种邮票的期望花费</a:t>
            </a:r>
            <a:r>
              <a:rPr lang="en-US" altLang="zh-CN" sz="2000" dirty="0" smtClean="0"/>
              <a:t>.</a:t>
            </a:r>
            <a:endParaRPr lang="en-US" altLang="zh-CN" sz="2000" dirty="0" smtClean="0"/>
          </a:p>
          <a:p>
            <a:r>
              <a:rPr lang="en-US" altLang="zh-CN" sz="2000" dirty="0" smtClean="0"/>
              <a:t>f[</a:t>
            </a:r>
            <a:r>
              <a:rPr lang="en-US" altLang="zh-CN" sz="2000" dirty="0" err="1" smtClean="0"/>
              <a:t>i</a:t>
            </a:r>
            <a:r>
              <a:rPr lang="en-US" altLang="zh-CN" sz="2000" dirty="0" smtClean="0"/>
              <a:t>]=</a:t>
            </a:r>
            <a:r>
              <a:rPr lang="en-US" altLang="zh-CN" sz="2000" dirty="0" err="1" smtClean="0"/>
              <a:t>i</a:t>
            </a:r>
            <a:r>
              <a:rPr lang="en-US" altLang="zh-CN" sz="2000" dirty="0" smtClean="0"/>
              <a:t>/n*f[</a:t>
            </a:r>
            <a:r>
              <a:rPr lang="en-US" altLang="zh-CN" sz="2000" dirty="0" err="1" smtClean="0"/>
              <a:t>i</a:t>
            </a:r>
            <a:r>
              <a:rPr lang="en-US" altLang="zh-CN" sz="2000" dirty="0" smtClean="0"/>
              <a:t>]+(n-</a:t>
            </a:r>
            <a:r>
              <a:rPr lang="en-US" altLang="zh-CN" sz="2000" dirty="0" err="1" smtClean="0"/>
              <a:t>i</a:t>
            </a:r>
            <a:r>
              <a:rPr lang="en-US" altLang="zh-CN" sz="2000" dirty="0" smtClean="0"/>
              <a:t>)/n*f[i+1]+1</a:t>
            </a:r>
            <a:endParaRPr lang="en-US" altLang="zh-CN" sz="2000" dirty="0" smtClean="0"/>
          </a:p>
          <a:p>
            <a:r>
              <a:rPr lang="zh-CN" altLang="en-US" sz="2000" dirty="0" smtClean="0"/>
              <a:t>移项之后就可以递推了</a:t>
            </a:r>
            <a:endParaRPr lang="en-US" altLang="zh-CN" sz="2000" dirty="0" smtClean="0"/>
          </a:p>
          <a:p>
            <a:r>
              <a:rPr lang="zh-CN" altLang="en-US" sz="2000" dirty="0" smtClean="0"/>
              <a:t>花费为</a:t>
            </a:r>
            <a:r>
              <a:rPr lang="en-US" altLang="zh-CN" sz="2000" dirty="0" smtClean="0"/>
              <a:t>k</a:t>
            </a:r>
            <a:r>
              <a:rPr lang="zh-CN" altLang="en-US" sz="2000" dirty="0" smtClean="0"/>
              <a:t>怎么做</a:t>
            </a:r>
            <a:r>
              <a:rPr lang="en-US" altLang="zh-CN" sz="2000" dirty="0" smtClean="0"/>
              <a:t>?</a:t>
            </a:r>
            <a:endParaRPr lang="en-US" altLang="zh-CN" sz="2000" dirty="0" smtClean="0"/>
          </a:p>
          <a:p>
            <a:r>
              <a:rPr lang="zh-CN" altLang="en-US" sz="2000" dirty="0" smtClean="0"/>
              <a:t>定义</a:t>
            </a:r>
            <a:r>
              <a:rPr lang="en-US" altLang="zh-CN" sz="2000" dirty="0" smtClean="0"/>
              <a:t>g[</a:t>
            </a:r>
            <a:r>
              <a:rPr lang="en-US" altLang="zh-CN" sz="2000" dirty="0" err="1" smtClean="0"/>
              <a:t>i</a:t>
            </a:r>
            <a:r>
              <a:rPr lang="en-US" altLang="zh-CN" sz="2000" dirty="0" smtClean="0"/>
              <a:t>]</a:t>
            </a:r>
            <a:r>
              <a:rPr lang="zh-CN" altLang="en-US" sz="2000" dirty="0" smtClean="0"/>
              <a:t>表示当前有</a:t>
            </a:r>
            <a:r>
              <a:rPr lang="en-US" altLang="zh-CN" sz="2000" dirty="0" err="1" smtClean="0"/>
              <a:t>i</a:t>
            </a:r>
            <a:r>
              <a:rPr lang="zh-CN" altLang="en-US" sz="2000" dirty="0" smtClean="0"/>
              <a:t>张邮票</a:t>
            </a:r>
            <a:r>
              <a:rPr lang="en-US" altLang="zh-CN" sz="2000" dirty="0" smtClean="0"/>
              <a:t>,</a:t>
            </a:r>
            <a:r>
              <a:rPr lang="zh-CN" altLang="en-US" sz="2000" dirty="0" smtClean="0"/>
              <a:t>要集齐</a:t>
            </a:r>
            <a:r>
              <a:rPr lang="en-US" altLang="zh-CN" sz="2000" dirty="0" smtClean="0"/>
              <a:t>n</a:t>
            </a:r>
            <a:r>
              <a:rPr lang="zh-CN" altLang="en-US" sz="2000" dirty="0" smtClean="0"/>
              <a:t>种邮票的期望花费</a:t>
            </a:r>
            <a:r>
              <a:rPr lang="en-US" altLang="zh-CN" sz="2000" dirty="0" smtClean="0"/>
              <a:t>?</a:t>
            </a:r>
            <a:r>
              <a:rPr lang="zh-CN" altLang="en-US" sz="2000" dirty="0" smtClean="0"/>
              <a:t>但是这时的花费和之前买了多少次有关啊</a:t>
            </a:r>
            <a:r>
              <a:rPr lang="en-US" altLang="zh-CN" sz="2000" dirty="0" smtClean="0"/>
              <a:t>?</a:t>
            </a:r>
            <a:endParaRPr lang="en-US" altLang="zh-CN" sz="2000" dirty="0" smtClean="0"/>
          </a:p>
          <a:p>
            <a:r>
              <a:rPr lang="zh-CN" altLang="en-US" sz="2000" dirty="0" smtClean="0"/>
              <a:t>我们可以改变一下费用的计算方式</a:t>
            </a:r>
            <a:r>
              <a:rPr lang="en-US" altLang="zh-CN" sz="2000" dirty="0" smtClean="0"/>
              <a:t>,</a:t>
            </a:r>
            <a:r>
              <a:rPr lang="zh-CN" altLang="en-US" sz="2000" dirty="0" smtClean="0"/>
              <a:t>认为买的最后一张邮票的花费为</a:t>
            </a:r>
            <a:r>
              <a:rPr lang="en-US" altLang="zh-CN" sz="2000" dirty="0" smtClean="0"/>
              <a:t>1,</a:t>
            </a:r>
            <a:r>
              <a:rPr lang="zh-CN" altLang="en-US" sz="2000" dirty="0" smtClean="0"/>
              <a:t>倒数第</a:t>
            </a:r>
            <a:r>
              <a:rPr lang="en-US" altLang="zh-CN" sz="2000" dirty="0" smtClean="0"/>
              <a:t>k</a:t>
            </a:r>
            <a:r>
              <a:rPr lang="zh-CN" altLang="en-US" sz="2000" dirty="0" smtClean="0"/>
              <a:t>张的花费为</a:t>
            </a:r>
            <a:r>
              <a:rPr lang="en-US" altLang="zh-CN" sz="2000" dirty="0" smtClean="0"/>
              <a:t>k.</a:t>
            </a:r>
            <a:endParaRPr lang="en-US" altLang="zh-CN" sz="2000" dirty="0" smtClean="0"/>
          </a:p>
          <a:p>
            <a:r>
              <a:rPr lang="en-US" altLang="zh-CN" sz="2000" dirty="0" smtClean="0"/>
              <a:t>g[</a:t>
            </a:r>
            <a:r>
              <a:rPr lang="en-US" altLang="zh-CN" sz="2000" dirty="0" err="1" smtClean="0"/>
              <a:t>i</a:t>
            </a:r>
            <a:r>
              <a:rPr lang="en-US" altLang="zh-CN" sz="2000" dirty="0" smtClean="0"/>
              <a:t>]=</a:t>
            </a:r>
            <a:r>
              <a:rPr lang="en-US" altLang="zh-CN" sz="2000" dirty="0" err="1" smtClean="0"/>
              <a:t>i</a:t>
            </a:r>
            <a:r>
              <a:rPr lang="en-US" altLang="zh-CN" sz="2000" dirty="0" smtClean="0"/>
              <a:t>/n*(g[</a:t>
            </a:r>
            <a:r>
              <a:rPr lang="en-US" altLang="zh-CN" sz="2000" dirty="0" err="1" smtClean="0"/>
              <a:t>i</a:t>
            </a:r>
            <a:r>
              <a:rPr lang="en-US" altLang="zh-CN" sz="2000" dirty="0" smtClean="0"/>
              <a:t>]+f[</a:t>
            </a:r>
            <a:r>
              <a:rPr lang="en-US" altLang="zh-CN" sz="2000" dirty="0" err="1" smtClean="0"/>
              <a:t>i</a:t>
            </a:r>
            <a:r>
              <a:rPr lang="en-US" altLang="zh-CN" sz="2000" dirty="0" smtClean="0"/>
              <a:t>]+1)+(n-</a:t>
            </a:r>
            <a:r>
              <a:rPr lang="en-US" altLang="zh-CN" sz="2000" dirty="0" err="1" smtClean="0"/>
              <a:t>i</a:t>
            </a:r>
            <a:r>
              <a:rPr lang="en-US" altLang="zh-CN" sz="2000" dirty="0" smtClean="0"/>
              <a:t>)/n*(g[i+1]+f[i+1]+1)</a:t>
            </a:r>
            <a:endParaRPr lang="en-US" altLang="zh-CN" sz="2000" dirty="0" smtClean="0"/>
          </a:p>
          <a:p>
            <a:r>
              <a:rPr lang="zh-CN" altLang="en-US" sz="2000" dirty="0" smtClean="0"/>
              <a:t>整理一下就可以</a:t>
            </a:r>
            <a:r>
              <a:rPr lang="en-US" altLang="zh-CN" sz="2000" dirty="0" smtClean="0"/>
              <a:t>O(n)</a:t>
            </a:r>
            <a:r>
              <a:rPr lang="zh-CN" altLang="en-US" sz="2000" dirty="0" smtClean="0"/>
              <a:t>递推了</a:t>
            </a:r>
            <a:endParaRPr lang="zh-CN" alt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概率与期望</a:t>
            </a:r>
            <a:r>
              <a:rPr lang="en-US" altLang="zh-CN" dirty="0" smtClean="0"/>
              <a:t>(</a:t>
            </a:r>
            <a:r>
              <a:rPr lang="zh-CN" altLang="en-US" dirty="0" smtClean="0"/>
              <a:t>更多题目</a:t>
            </a:r>
            <a:r>
              <a:rPr lang="en-US" altLang="zh-CN" dirty="0" smtClean="0"/>
              <a:t>)</a:t>
            </a:r>
            <a:endParaRPr lang="zh-CN" altLang="en-US" dirty="0"/>
          </a:p>
        </p:txBody>
      </p:sp>
      <p:sp>
        <p:nvSpPr>
          <p:cNvPr id="3" name="内容占位符 2"/>
          <p:cNvSpPr>
            <a:spLocks noGrp="1"/>
          </p:cNvSpPr>
          <p:nvPr>
            <p:ph sz="quarter" idx="1"/>
          </p:nvPr>
        </p:nvSpPr>
        <p:spPr/>
        <p:txBody>
          <a:bodyPr>
            <a:normAutofit fontScale="77500" lnSpcReduction="20000"/>
          </a:bodyPr>
          <a:lstStyle/>
          <a:p>
            <a:r>
              <a:rPr lang="en-US" altLang="zh-CN" dirty="0" smtClean="0"/>
              <a:t>bzoj1415</a:t>
            </a:r>
            <a:endParaRPr lang="en-US" altLang="zh-CN" dirty="0" smtClean="0"/>
          </a:p>
          <a:p>
            <a:r>
              <a:rPr lang="en-US" altLang="zh-CN" dirty="0" smtClean="0"/>
              <a:t>bzoj4318</a:t>
            </a:r>
            <a:endParaRPr lang="en-US" altLang="zh-CN" dirty="0" smtClean="0"/>
          </a:p>
          <a:p>
            <a:r>
              <a:rPr lang="en-US" altLang="zh-CN" dirty="0" smtClean="0"/>
              <a:t>bzoj2337</a:t>
            </a:r>
            <a:endParaRPr lang="en-US" altLang="zh-CN" dirty="0" smtClean="0"/>
          </a:p>
          <a:p>
            <a:r>
              <a:rPr lang="en-US" altLang="zh-CN" dirty="0" smtClean="0"/>
              <a:t>bzoj2703</a:t>
            </a:r>
            <a:endParaRPr lang="en-US" altLang="zh-CN" dirty="0" smtClean="0"/>
          </a:p>
          <a:p>
            <a:r>
              <a:rPr lang="en-US" altLang="zh-CN" dirty="0" smtClean="0"/>
              <a:t>bzoj1076</a:t>
            </a:r>
            <a:endParaRPr lang="en-US" altLang="zh-CN" dirty="0" smtClean="0"/>
          </a:p>
          <a:p>
            <a:r>
              <a:rPr lang="en-US" altLang="zh-CN" dirty="0" smtClean="0"/>
              <a:t>bzoj2720</a:t>
            </a:r>
            <a:endParaRPr lang="en-US" altLang="zh-CN" dirty="0" smtClean="0"/>
          </a:p>
          <a:p>
            <a:r>
              <a:rPr lang="en-US" altLang="zh-CN" dirty="0" smtClean="0"/>
              <a:t>bzoj2969</a:t>
            </a:r>
            <a:endParaRPr lang="en-US" altLang="zh-CN" dirty="0" smtClean="0"/>
          </a:p>
          <a:p>
            <a:r>
              <a:rPr lang="en-US" altLang="zh-CN" dirty="0" smtClean="0"/>
              <a:t>bzoj3566</a:t>
            </a:r>
            <a:endParaRPr lang="en-US" altLang="zh-CN" dirty="0" smtClean="0"/>
          </a:p>
          <a:p>
            <a:r>
              <a:rPr lang="en-US" altLang="zh-CN" dirty="0" smtClean="0"/>
              <a:t>bzoj1426 </a:t>
            </a:r>
            <a:endParaRPr lang="en-US" altLang="zh-CN" dirty="0" smtClean="0"/>
          </a:p>
          <a:p>
            <a:r>
              <a:rPr lang="en-US" altLang="zh-CN" dirty="0" smtClean="0"/>
              <a:t>bzoj1419</a:t>
            </a:r>
            <a:endParaRPr lang="en-US" altLang="zh-CN" dirty="0" smtClean="0"/>
          </a:p>
          <a:p>
            <a:r>
              <a:rPr lang="en-US" altLang="zh-CN" dirty="0" err="1" smtClean="0"/>
              <a:t>Codeforces</a:t>
            </a:r>
            <a:r>
              <a:rPr lang="en-US" altLang="zh-CN" dirty="0" smtClean="0"/>
              <a:t> 123E</a:t>
            </a:r>
            <a:endParaRPr lang="en-US" altLang="zh-CN" dirty="0" smtClean="0"/>
          </a:p>
          <a:p>
            <a:r>
              <a:rPr lang="en-US" altLang="zh-CN" dirty="0" err="1" smtClean="0"/>
              <a:t>Codeforces</a:t>
            </a:r>
            <a:r>
              <a:rPr lang="en-US" altLang="zh-CN" dirty="0" smtClean="0"/>
              <a:t> 696B</a:t>
            </a:r>
            <a:endParaRPr lang="en-US" altLang="zh-CN" dirty="0" smtClean="0"/>
          </a:p>
          <a:p>
            <a:r>
              <a:rPr lang="en-US" altLang="zh-CN" dirty="0" err="1" smtClean="0"/>
              <a:t>Codeforces</a:t>
            </a:r>
            <a:r>
              <a:rPr lang="en-US" altLang="zh-CN" dirty="0" smtClean="0"/>
              <a:t> 398B</a:t>
            </a:r>
            <a:endParaRPr lang="en-US" altLang="zh-CN" dirty="0" smtClean="0"/>
          </a:p>
          <a:p>
            <a:r>
              <a:rPr lang="en-US" altLang="zh-CN" dirty="0" err="1" smtClean="0"/>
              <a:t>Codeforces</a:t>
            </a:r>
            <a:r>
              <a:rPr lang="en-US" altLang="zh-CN" dirty="0" smtClean="0"/>
              <a:t> 453A</a:t>
            </a:r>
            <a:endParaRPr lang="en-US" altLang="zh-CN" dirty="0" smtClean="0"/>
          </a:p>
          <a:p>
            <a:r>
              <a:rPr lang="en-US" altLang="zh-CN" dirty="0" err="1" smtClean="0"/>
              <a:t>Codeforces</a:t>
            </a:r>
            <a:r>
              <a:rPr lang="en-US" altLang="zh-CN" dirty="0" smtClean="0"/>
              <a:t> 148D</a:t>
            </a:r>
            <a:endParaRPr lang="zh-CN" altLang="en-US" dirty="0" smtClean="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70932" y="2967335"/>
            <a:ext cx="8196476" cy="923330"/>
          </a:xfrm>
          <a:prstGeom prst="rect">
            <a:avLst/>
          </a:prstGeom>
          <a:noFill/>
        </p:spPr>
        <p:txBody>
          <a:bodyPr wrap="none" lIns="91440" tIns="45720" rIns="91440" bIns="45720">
            <a:spAutoFit/>
          </a:bodyPr>
          <a:lstStyle/>
          <a:p>
            <a:pPr algn="ctr"/>
            <a:r>
              <a:rPr lang="en-US" altLang="zh-CN" sz="5400" b="1"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Thanks for listening!</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2794: [Poi2012]Cloakroom</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有</a:t>
            </a:r>
            <a:r>
              <a:rPr lang="en-US" sz="2400" dirty="0" smtClean="0"/>
              <a:t>n</a:t>
            </a:r>
            <a:r>
              <a:rPr lang="zh-CN" altLang="en-US" sz="2400" dirty="0" smtClean="0"/>
              <a:t>件物品，每件物品有三个属性</a:t>
            </a:r>
            <a:r>
              <a:rPr lang="en-US" sz="2400" dirty="0" smtClean="0"/>
              <a:t>a[</a:t>
            </a:r>
            <a:r>
              <a:rPr lang="en-US" sz="2400" dirty="0" err="1" smtClean="0"/>
              <a:t>i</a:t>
            </a:r>
            <a:r>
              <a:rPr lang="en-US" sz="2400" dirty="0" smtClean="0"/>
              <a:t>], b[</a:t>
            </a:r>
            <a:r>
              <a:rPr lang="en-US" sz="2400" dirty="0" err="1" smtClean="0"/>
              <a:t>i</a:t>
            </a:r>
            <a:r>
              <a:rPr lang="en-US" sz="2400" dirty="0" smtClean="0"/>
              <a:t>], c[</a:t>
            </a:r>
            <a:r>
              <a:rPr lang="en-US" sz="2400" dirty="0" err="1" smtClean="0"/>
              <a:t>i</a:t>
            </a:r>
            <a:r>
              <a:rPr lang="en-US" sz="2400" dirty="0" smtClean="0"/>
              <a:t>] (a[</a:t>
            </a:r>
            <a:r>
              <a:rPr lang="en-US" sz="2400" dirty="0" err="1" smtClean="0"/>
              <a:t>i</a:t>
            </a:r>
            <a:r>
              <a:rPr lang="en-US" sz="2400" dirty="0" smtClean="0"/>
              <a:t>]&lt;b[</a:t>
            </a:r>
            <a:r>
              <a:rPr lang="en-US" sz="2400" dirty="0" err="1" smtClean="0"/>
              <a:t>i</a:t>
            </a:r>
            <a:r>
              <a:rPr lang="en-US" sz="2400" dirty="0" smtClean="0"/>
              <a:t>])。</a:t>
            </a:r>
            <a:br>
              <a:rPr lang="en-US" sz="2400" dirty="0" smtClean="0"/>
            </a:br>
            <a:r>
              <a:rPr lang="zh-CN" altLang="en-US" sz="2400" dirty="0" smtClean="0"/>
              <a:t>再给出</a:t>
            </a:r>
            <a:r>
              <a:rPr lang="en-US" sz="2400" dirty="0" smtClean="0"/>
              <a:t>q</a:t>
            </a:r>
            <a:r>
              <a:rPr lang="zh-CN" altLang="en-US" sz="2400" dirty="0" smtClean="0"/>
              <a:t>个询问，每个询问由非负整数</a:t>
            </a:r>
            <a:r>
              <a:rPr lang="en-US" sz="2400" dirty="0" smtClean="0"/>
              <a:t>m, k, s</a:t>
            </a:r>
            <a:r>
              <a:rPr lang="zh-CN" altLang="en-US" sz="2400" dirty="0" smtClean="0"/>
              <a:t>组成，问是否能够选出某些物品使得：</a:t>
            </a:r>
            <a:endParaRPr lang="en-US" altLang="zh-CN" sz="2400" dirty="0" smtClean="0"/>
          </a:p>
          <a:p>
            <a:pPr lvl="1"/>
            <a:r>
              <a:rPr lang="zh-CN" altLang="en-US" sz="2100" dirty="0" smtClean="0"/>
              <a:t>对于每个选的物品</a:t>
            </a:r>
            <a:r>
              <a:rPr lang="en-US" sz="2100" dirty="0" err="1" smtClean="0"/>
              <a:t>i</a:t>
            </a:r>
            <a:r>
              <a:rPr lang="en-US" sz="2100" dirty="0" smtClean="0"/>
              <a:t>，</a:t>
            </a:r>
            <a:r>
              <a:rPr lang="zh-CN" altLang="en-US" sz="2100" dirty="0" smtClean="0"/>
              <a:t>满足</a:t>
            </a:r>
            <a:r>
              <a:rPr lang="en-US" sz="2100" dirty="0" smtClean="0"/>
              <a:t>a[</a:t>
            </a:r>
            <a:r>
              <a:rPr lang="en-US" sz="2100" dirty="0" err="1" smtClean="0"/>
              <a:t>i</a:t>
            </a:r>
            <a:r>
              <a:rPr lang="en-US" sz="2100" dirty="0" smtClean="0"/>
              <a:t>]&lt;=m</a:t>
            </a:r>
            <a:r>
              <a:rPr lang="zh-CN" altLang="en-US" sz="2100" dirty="0" smtClean="0"/>
              <a:t>且</a:t>
            </a:r>
            <a:r>
              <a:rPr lang="en-US" sz="2100" dirty="0" smtClean="0"/>
              <a:t>b[</a:t>
            </a:r>
            <a:r>
              <a:rPr lang="en-US" sz="2100" dirty="0" err="1" smtClean="0"/>
              <a:t>i</a:t>
            </a:r>
            <a:r>
              <a:rPr lang="en-US" sz="2100" dirty="0" smtClean="0"/>
              <a:t>]&gt;</a:t>
            </a:r>
            <a:r>
              <a:rPr lang="en-US" sz="2100" dirty="0" err="1" smtClean="0"/>
              <a:t>m+s</a:t>
            </a:r>
            <a:r>
              <a:rPr lang="en-US" sz="2100" dirty="0" smtClean="0"/>
              <a:t>。</a:t>
            </a:r>
            <a:endParaRPr lang="en-US" sz="2100" dirty="0" smtClean="0"/>
          </a:p>
          <a:p>
            <a:pPr lvl="1"/>
            <a:r>
              <a:rPr lang="zh-CN" altLang="en-US" sz="2100" dirty="0" smtClean="0"/>
              <a:t>所有选出物品的</a:t>
            </a:r>
            <a:r>
              <a:rPr lang="en-US" sz="2100" dirty="0" smtClean="0"/>
              <a:t>c[</a:t>
            </a:r>
            <a:r>
              <a:rPr lang="en-US" sz="2100" dirty="0" err="1" smtClean="0"/>
              <a:t>i</a:t>
            </a:r>
            <a:r>
              <a:rPr lang="en-US" sz="2100" dirty="0" smtClean="0"/>
              <a:t>]</a:t>
            </a:r>
            <a:r>
              <a:rPr lang="zh-CN" altLang="en-US" sz="2100" dirty="0" smtClean="0"/>
              <a:t>的和正好是</a:t>
            </a:r>
            <a:r>
              <a:rPr lang="en-US" sz="2100" dirty="0" smtClean="0"/>
              <a:t>k。</a:t>
            </a:r>
            <a:endParaRPr lang="en-US" sz="2100" dirty="0" smtClean="0"/>
          </a:p>
          <a:p>
            <a:r>
              <a:rPr lang="en-US" sz="2400" dirty="0" smtClean="0"/>
              <a:t>n</a:t>
            </a:r>
            <a:r>
              <a:rPr lang="en-US" altLang="zh-CN" sz="2400" dirty="0" smtClean="0"/>
              <a:t>&lt;=1000,k&lt;=10^5,q&lt;=10^6</a:t>
            </a:r>
            <a:endParaRPr lang="en-US" altLang="zh-CN" sz="2400" dirty="0" smtClean="0"/>
          </a:p>
          <a:p>
            <a:pPr>
              <a:buNone/>
            </a:pPr>
            <a:br>
              <a:rPr lang="en-US" sz="2400" dirty="0" smtClean="0"/>
            </a:br>
            <a:endParaRPr lang="zh-CN" altLang="en-US" sz="24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2794: [Poi2012]Cloakroom</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每个物品相当于有一个对应的区间</a:t>
            </a:r>
            <a:r>
              <a:rPr lang="en-US" altLang="zh-CN" sz="2400" dirty="0" smtClean="0"/>
              <a:t>[a[</a:t>
            </a:r>
            <a:r>
              <a:rPr lang="en-US" altLang="zh-CN" sz="2400" dirty="0" err="1" smtClean="0"/>
              <a:t>i</a:t>
            </a:r>
            <a:r>
              <a:rPr lang="en-US" altLang="zh-CN" sz="2400" dirty="0" smtClean="0"/>
              <a:t>],b[</a:t>
            </a:r>
            <a:r>
              <a:rPr lang="en-US" altLang="zh-CN" sz="2400" dirty="0" err="1" smtClean="0"/>
              <a:t>i</a:t>
            </a:r>
            <a:r>
              <a:rPr lang="en-US" altLang="zh-CN" sz="2400" dirty="0" smtClean="0"/>
              <a:t>]]</a:t>
            </a:r>
            <a:endParaRPr lang="en-US" altLang="zh-CN" sz="2400" dirty="0" smtClean="0"/>
          </a:p>
          <a:p>
            <a:r>
              <a:rPr lang="zh-CN" altLang="en-US" sz="2400" dirty="0" smtClean="0"/>
              <a:t>每个询问相当于给出一个区间</a:t>
            </a:r>
            <a:r>
              <a:rPr lang="en-US" altLang="zh-CN" sz="2400" dirty="0" smtClean="0"/>
              <a:t>[m,m+s+1]</a:t>
            </a:r>
            <a:endParaRPr lang="en-US" altLang="zh-CN" sz="2400" dirty="0" smtClean="0"/>
          </a:p>
          <a:p>
            <a:r>
              <a:rPr lang="zh-CN" altLang="en-US" sz="2400" dirty="0" smtClean="0"/>
              <a:t>只有物品的区间包含询问的区间</a:t>
            </a:r>
            <a:r>
              <a:rPr lang="en-US" altLang="zh-CN" sz="2400" dirty="0" smtClean="0"/>
              <a:t>,</a:t>
            </a:r>
            <a:r>
              <a:rPr lang="zh-CN" altLang="en-US" sz="2400" dirty="0" smtClean="0"/>
              <a:t>这个物品才能在这个询问中使用</a:t>
            </a:r>
            <a:endParaRPr lang="en-US" altLang="zh-CN" sz="2400" dirty="0" smtClean="0"/>
          </a:p>
          <a:p>
            <a:r>
              <a:rPr lang="zh-CN" altLang="en-US" sz="2400" dirty="0" smtClean="0"/>
              <a:t>把区间离散化</a:t>
            </a:r>
            <a:r>
              <a:rPr lang="en-US" altLang="zh-CN" sz="2400" dirty="0" smtClean="0"/>
              <a:t>,</a:t>
            </a:r>
            <a:r>
              <a:rPr lang="zh-CN" altLang="en-US" sz="2400" dirty="0" smtClean="0"/>
              <a:t>不同端点的数目约有</a:t>
            </a:r>
            <a:r>
              <a:rPr lang="en-US" altLang="zh-CN" sz="2400" dirty="0" smtClean="0"/>
              <a:t>2n</a:t>
            </a:r>
            <a:r>
              <a:rPr lang="zh-CN" altLang="en-US" sz="2400" dirty="0" smtClean="0"/>
              <a:t>个</a:t>
            </a:r>
            <a:endParaRPr lang="en-US" altLang="zh-CN" sz="2400" dirty="0" smtClean="0"/>
          </a:p>
          <a:p>
            <a:r>
              <a:rPr lang="zh-CN" altLang="en-US" sz="2400" dirty="0" smtClean="0"/>
              <a:t>暴力想法</a:t>
            </a:r>
            <a:r>
              <a:rPr lang="en-US" altLang="zh-CN" sz="2400" dirty="0" smtClean="0"/>
              <a:t>:</a:t>
            </a:r>
            <a:r>
              <a:rPr lang="zh-CN" altLang="en-US" sz="2400" dirty="0" smtClean="0"/>
              <a:t>枚举左端点</a:t>
            </a:r>
            <a:r>
              <a:rPr lang="en-US" altLang="zh-CN" sz="2400" dirty="0" smtClean="0"/>
              <a:t>,</a:t>
            </a:r>
            <a:r>
              <a:rPr lang="zh-CN" altLang="en-US" sz="2400" dirty="0" smtClean="0"/>
              <a:t>每次处理左端点在这个位置的询问</a:t>
            </a:r>
            <a:r>
              <a:rPr lang="en-US" altLang="zh-CN" sz="2400" dirty="0" smtClean="0"/>
              <a:t>.f[j]</a:t>
            </a:r>
            <a:r>
              <a:rPr lang="zh-CN" altLang="en-US" sz="2400" dirty="0" smtClean="0"/>
              <a:t>表示能否组合出重量</a:t>
            </a:r>
            <a:r>
              <a:rPr lang="en-US" altLang="zh-CN" sz="2400" dirty="0" smtClean="0"/>
              <a:t>j,</a:t>
            </a:r>
            <a:r>
              <a:rPr lang="zh-CN" altLang="en-US" sz="2400" dirty="0" smtClean="0"/>
              <a:t>那么把在右边的物品以及询问都按照区间的右端点排序</a:t>
            </a:r>
            <a:r>
              <a:rPr lang="en-US" altLang="zh-CN" sz="2400" dirty="0" smtClean="0"/>
              <a:t>,</a:t>
            </a:r>
            <a:r>
              <a:rPr lang="zh-CN" altLang="en-US" sz="2400" dirty="0" smtClean="0"/>
              <a:t>依次加入物品</a:t>
            </a:r>
            <a:r>
              <a:rPr lang="en-US" altLang="zh-CN" sz="2400" dirty="0" smtClean="0"/>
              <a:t>,</a:t>
            </a:r>
            <a:r>
              <a:rPr lang="zh-CN" altLang="en-US" sz="2400" dirty="0" smtClean="0"/>
              <a:t>同时处理询问</a:t>
            </a:r>
            <a:r>
              <a:rPr lang="en-US" altLang="zh-CN" sz="2400" dirty="0" smtClean="0"/>
              <a:t>.</a:t>
            </a:r>
            <a:endParaRPr lang="en-US" sz="2400" dirty="0" smtClean="0"/>
          </a:p>
          <a:p>
            <a:r>
              <a:rPr lang="zh-CN" altLang="en-US" sz="2400" dirty="0" smtClean="0"/>
              <a:t>这好像是</a:t>
            </a:r>
            <a:r>
              <a:rPr lang="en-US" altLang="zh-CN" sz="2400" dirty="0" smtClean="0"/>
              <a:t>O(mn^2)</a:t>
            </a:r>
            <a:r>
              <a:rPr lang="zh-CN" altLang="en-US" sz="2400" dirty="0" smtClean="0"/>
              <a:t>的</a:t>
            </a: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a:t>
            </a:r>
            <a:r>
              <a:rPr lang="en-US" dirty="0" smtClean="0"/>
              <a:t>2794: [Poi2012]Cloakroom</a:t>
            </a:r>
            <a:endParaRPr lang="zh-CN" altLang="en-US" dirty="0"/>
          </a:p>
        </p:txBody>
      </p:sp>
      <p:sp>
        <p:nvSpPr>
          <p:cNvPr id="3" name="内容占位符 2"/>
          <p:cNvSpPr>
            <a:spLocks noGrp="1"/>
          </p:cNvSpPr>
          <p:nvPr>
            <p:ph sz="quarter" idx="1"/>
          </p:nvPr>
        </p:nvSpPr>
        <p:spPr/>
        <p:txBody>
          <a:bodyPr>
            <a:noAutofit/>
          </a:bodyPr>
          <a:lstStyle/>
          <a:p>
            <a:r>
              <a:rPr lang="en-US" altLang="zh-CN" sz="2200" dirty="0" smtClean="0"/>
              <a:t>n=1000,m=100000,</a:t>
            </a:r>
            <a:r>
              <a:rPr lang="zh-CN" altLang="en-US" sz="2200" dirty="0" smtClean="0"/>
              <a:t>最多允许</a:t>
            </a:r>
            <a:r>
              <a:rPr lang="en-US" altLang="zh-CN" sz="2200" dirty="0" smtClean="0"/>
              <a:t>O(nm)</a:t>
            </a:r>
            <a:r>
              <a:rPr lang="zh-CN" altLang="en-US" sz="2200" dirty="0" smtClean="0"/>
              <a:t>的复杂度</a:t>
            </a:r>
            <a:endParaRPr lang="en-US" altLang="zh-CN" sz="2200" dirty="0" smtClean="0"/>
          </a:p>
          <a:p>
            <a:r>
              <a:rPr lang="en-US" altLang="zh-CN" sz="2200" dirty="0" smtClean="0"/>
              <a:t>DP</a:t>
            </a:r>
            <a:r>
              <a:rPr lang="zh-CN" altLang="en-US" sz="2200" dirty="0" smtClean="0"/>
              <a:t>数组中实际上可以维护更多信息</a:t>
            </a:r>
            <a:r>
              <a:rPr lang="en-US" altLang="zh-CN" sz="2200" dirty="0" smtClean="0"/>
              <a:t>.</a:t>
            </a:r>
            <a:endParaRPr lang="en-US" altLang="zh-CN" sz="2200" dirty="0" smtClean="0"/>
          </a:p>
          <a:p>
            <a:r>
              <a:rPr lang="zh-CN" altLang="en-US" sz="2200" dirty="0" smtClean="0"/>
              <a:t>考虑这样的问题</a:t>
            </a:r>
            <a:r>
              <a:rPr lang="en-US" altLang="zh-CN" sz="2200" dirty="0" smtClean="0"/>
              <a:t>:</a:t>
            </a:r>
            <a:r>
              <a:rPr lang="zh-CN" altLang="en-US" sz="2200" dirty="0" smtClean="0"/>
              <a:t>给出</a:t>
            </a:r>
            <a:r>
              <a:rPr lang="en-US" altLang="zh-CN" sz="2200" dirty="0" smtClean="0"/>
              <a:t>n</a:t>
            </a:r>
            <a:r>
              <a:rPr lang="zh-CN" altLang="en-US" sz="2200" dirty="0" smtClean="0"/>
              <a:t>个物品</a:t>
            </a:r>
            <a:r>
              <a:rPr lang="en-US" altLang="zh-CN" sz="2200" dirty="0" smtClean="0"/>
              <a:t>,</a:t>
            </a:r>
            <a:r>
              <a:rPr lang="zh-CN" altLang="en-US" sz="2200" dirty="0" smtClean="0"/>
              <a:t>第</a:t>
            </a:r>
            <a:r>
              <a:rPr lang="en-US" altLang="zh-CN" sz="2200" dirty="0" err="1" smtClean="0"/>
              <a:t>i</a:t>
            </a:r>
            <a:r>
              <a:rPr lang="zh-CN" altLang="en-US" sz="2200" dirty="0" smtClean="0"/>
              <a:t>个物品编号为</a:t>
            </a:r>
            <a:r>
              <a:rPr lang="en-US" altLang="zh-CN" sz="2200" dirty="0" smtClean="0"/>
              <a:t>num[</a:t>
            </a:r>
            <a:r>
              <a:rPr lang="en-US" altLang="zh-CN" sz="2200" dirty="0" err="1" smtClean="0"/>
              <a:t>i</a:t>
            </a:r>
            <a:r>
              <a:rPr lang="en-US" altLang="zh-CN" sz="2200" dirty="0" smtClean="0"/>
              <a:t>],</a:t>
            </a:r>
            <a:r>
              <a:rPr lang="zh-CN" altLang="en-US" sz="2200" dirty="0" smtClean="0"/>
              <a:t>重量</a:t>
            </a:r>
            <a:r>
              <a:rPr lang="en-US" altLang="zh-CN" sz="2200" dirty="0" smtClean="0"/>
              <a:t>w[</a:t>
            </a:r>
            <a:r>
              <a:rPr lang="en-US" altLang="zh-CN" sz="2200" dirty="0" err="1" smtClean="0"/>
              <a:t>i</a:t>
            </a:r>
            <a:r>
              <a:rPr lang="en-US" altLang="zh-CN" sz="2200" dirty="0" smtClean="0"/>
              <a:t>],</a:t>
            </a:r>
            <a:r>
              <a:rPr lang="zh-CN" altLang="en-US" sz="2200" dirty="0" smtClean="0"/>
              <a:t>问前</a:t>
            </a:r>
            <a:r>
              <a:rPr lang="en-US" altLang="zh-CN" sz="2200" dirty="0" err="1" smtClean="0"/>
              <a:t>i</a:t>
            </a:r>
            <a:r>
              <a:rPr lang="zh-CN" altLang="en-US" sz="2200" dirty="0" smtClean="0"/>
              <a:t>个物品</a:t>
            </a:r>
            <a:r>
              <a:rPr lang="en-US" altLang="zh-CN" sz="2200" dirty="0" smtClean="0"/>
              <a:t>(</a:t>
            </a:r>
            <a:r>
              <a:rPr lang="zh-CN" altLang="en-US" sz="2200" dirty="0" smtClean="0"/>
              <a:t>不是编号</a:t>
            </a:r>
            <a:r>
              <a:rPr lang="en-US" altLang="zh-CN" sz="2200" dirty="0" smtClean="0"/>
              <a:t>1-i</a:t>
            </a:r>
            <a:r>
              <a:rPr lang="zh-CN" altLang="en-US" sz="2200" dirty="0" smtClean="0"/>
              <a:t>的</a:t>
            </a:r>
            <a:r>
              <a:rPr lang="en-US" altLang="zh-CN" sz="2200" dirty="0" smtClean="0"/>
              <a:t>)</a:t>
            </a:r>
            <a:r>
              <a:rPr lang="zh-CN" altLang="en-US" sz="2200" dirty="0" smtClean="0"/>
              <a:t>组合出重量</a:t>
            </a:r>
            <a:r>
              <a:rPr lang="en-US" altLang="zh-CN" sz="2200" dirty="0" smtClean="0"/>
              <a:t>1~m</a:t>
            </a:r>
            <a:r>
              <a:rPr lang="zh-CN" altLang="en-US" sz="2200" dirty="0" smtClean="0"/>
              <a:t>的方案中最大编号最小时的最大编号</a:t>
            </a:r>
            <a:endParaRPr lang="en-US" altLang="zh-CN" sz="2200" dirty="0" smtClean="0"/>
          </a:p>
          <a:p>
            <a:r>
              <a:rPr lang="en-US" altLang="zh-CN" sz="2200" dirty="0" smtClean="0"/>
              <a:t>n</a:t>
            </a:r>
            <a:r>
              <a:rPr lang="zh-CN" altLang="en-US" sz="2200" dirty="0" smtClean="0"/>
              <a:t>个物品都能使用</a:t>
            </a:r>
            <a:r>
              <a:rPr lang="en-US" altLang="zh-CN" sz="2200" dirty="0" smtClean="0"/>
              <a:t>?</a:t>
            </a:r>
            <a:r>
              <a:rPr lang="zh-CN" altLang="en-US" sz="2200" dirty="0" smtClean="0"/>
              <a:t>定义</a:t>
            </a:r>
            <a:r>
              <a:rPr lang="en-US" altLang="zh-CN" sz="2200" dirty="0" err="1" smtClean="0"/>
              <a:t>bool</a:t>
            </a:r>
            <a:r>
              <a:rPr lang="zh-CN" altLang="en-US" sz="2200" dirty="0" smtClean="0"/>
              <a:t>型</a:t>
            </a:r>
            <a:r>
              <a:rPr lang="en-US" altLang="zh-CN" sz="2200" dirty="0" smtClean="0"/>
              <a:t>DP</a:t>
            </a:r>
            <a:r>
              <a:rPr lang="zh-CN" altLang="en-US" sz="2200" dirty="0" smtClean="0"/>
              <a:t>数组</a:t>
            </a:r>
            <a:r>
              <a:rPr lang="en-US" altLang="zh-CN" sz="2200" dirty="0" smtClean="0"/>
              <a:t>f[</a:t>
            </a:r>
            <a:r>
              <a:rPr lang="en-US" altLang="zh-CN" sz="2200" dirty="0" err="1" smtClean="0"/>
              <a:t>i</a:t>
            </a:r>
            <a:r>
              <a:rPr lang="en-US" altLang="zh-CN" sz="2200" dirty="0" smtClean="0"/>
              <a:t>][j]</a:t>
            </a:r>
            <a:r>
              <a:rPr lang="zh-CN" altLang="en-US" sz="2200" dirty="0" smtClean="0"/>
              <a:t>表示</a:t>
            </a:r>
            <a:r>
              <a:rPr lang="zh-CN" altLang="en-US" sz="2200" dirty="0" smtClean="0">
                <a:solidFill>
                  <a:srgbClr val="FF0000"/>
                </a:solidFill>
              </a:rPr>
              <a:t>前</a:t>
            </a:r>
            <a:r>
              <a:rPr lang="en-US" altLang="zh-CN" sz="2200" dirty="0" err="1" smtClean="0">
                <a:solidFill>
                  <a:srgbClr val="FF0000"/>
                </a:solidFill>
              </a:rPr>
              <a:t>i</a:t>
            </a:r>
            <a:r>
              <a:rPr lang="zh-CN" altLang="en-US" sz="2200" dirty="0" smtClean="0">
                <a:solidFill>
                  <a:srgbClr val="FF0000"/>
                </a:solidFill>
              </a:rPr>
              <a:t>个编号</a:t>
            </a:r>
            <a:r>
              <a:rPr lang="zh-CN" altLang="en-US" sz="2200" dirty="0" smtClean="0"/>
              <a:t>的物品能否组合出重量</a:t>
            </a:r>
            <a:r>
              <a:rPr lang="en-US" altLang="zh-CN" sz="2200" dirty="0" smtClean="0"/>
              <a:t>j,</a:t>
            </a:r>
            <a:r>
              <a:rPr lang="zh-CN" altLang="en-US" sz="2200" dirty="0" smtClean="0"/>
              <a:t>转移比较显然</a:t>
            </a:r>
            <a:endParaRPr lang="en-US" altLang="zh-CN" sz="2200" dirty="0" smtClean="0"/>
          </a:p>
          <a:p>
            <a:r>
              <a:rPr lang="en-US" altLang="zh-CN" sz="2200" dirty="0" smtClean="0"/>
              <a:t>f[</a:t>
            </a:r>
            <a:r>
              <a:rPr lang="en-US" altLang="zh-CN" sz="2200" dirty="0" err="1" smtClean="0"/>
              <a:t>i</a:t>
            </a:r>
            <a:r>
              <a:rPr lang="en-US" altLang="zh-CN" sz="2200" dirty="0" smtClean="0"/>
              <a:t>][j]=f[i-1][j-w[</a:t>
            </a:r>
            <a:r>
              <a:rPr lang="en-US" altLang="zh-CN" sz="2200" dirty="0" err="1" smtClean="0"/>
              <a:t>i</a:t>
            </a:r>
            <a:r>
              <a:rPr lang="en-US" altLang="zh-CN" sz="2200" dirty="0" smtClean="0"/>
              <a:t>]|f[i-1][j],</a:t>
            </a:r>
            <a:r>
              <a:rPr lang="zh-CN" altLang="en-US" sz="2200" dirty="0" smtClean="0"/>
              <a:t>对于原问题</a:t>
            </a:r>
            <a:r>
              <a:rPr lang="en-US" altLang="zh-CN" sz="2200" dirty="0" smtClean="0"/>
              <a:t>,</a:t>
            </a:r>
            <a:r>
              <a:rPr lang="zh-CN" altLang="en-US" sz="2200" dirty="0" smtClean="0"/>
              <a:t>分别</a:t>
            </a:r>
            <a:r>
              <a:rPr lang="en-US" altLang="zh-CN" sz="2200" dirty="0" smtClean="0"/>
              <a:t>DP</a:t>
            </a:r>
            <a:r>
              <a:rPr lang="zh-CN" altLang="en-US" sz="2200" dirty="0" smtClean="0"/>
              <a:t>前</a:t>
            </a:r>
            <a:r>
              <a:rPr lang="en-US" altLang="zh-CN" sz="2200" dirty="0" smtClean="0"/>
              <a:t>1,2…n</a:t>
            </a:r>
            <a:r>
              <a:rPr lang="zh-CN" altLang="en-US" sz="2200" dirty="0" smtClean="0"/>
              <a:t>个物品</a:t>
            </a:r>
            <a:r>
              <a:rPr lang="en-US" altLang="zh-CN" sz="2200" dirty="0" smtClean="0"/>
              <a:t>,</a:t>
            </a:r>
            <a:r>
              <a:rPr lang="zh-CN" altLang="en-US" sz="2200" dirty="0" smtClean="0"/>
              <a:t>所以复杂度</a:t>
            </a:r>
            <a:r>
              <a:rPr lang="en-US" altLang="zh-CN" sz="2200" dirty="0" smtClean="0"/>
              <a:t>O(n^2m)</a:t>
            </a:r>
            <a:endParaRPr lang="en-US" altLang="zh-CN" sz="2200" dirty="0" smtClean="0"/>
          </a:p>
          <a:p>
            <a:r>
              <a:rPr lang="zh-CN" altLang="en-US" sz="2200" dirty="0" smtClean="0"/>
              <a:t>实际上可以直接定义</a:t>
            </a:r>
            <a:r>
              <a:rPr lang="en-US" altLang="zh-CN" sz="2200" dirty="0" smtClean="0"/>
              <a:t>f[</a:t>
            </a:r>
            <a:r>
              <a:rPr lang="en-US" altLang="zh-CN" sz="2200" dirty="0" err="1" smtClean="0"/>
              <a:t>i</a:t>
            </a:r>
            <a:r>
              <a:rPr lang="en-US" altLang="zh-CN" sz="2200" dirty="0" smtClean="0"/>
              <a:t>][j]</a:t>
            </a:r>
            <a:r>
              <a:rPr lang="zh-CN" altLang="en-US" sz="2200" dirty="0" smtClean="0"/>
              <a:t>表示</a:t>
            </a:r>
            <a:r>
              <a:rPr lang="zh-CN" altLang="en-US" sz="2200" dirty="0" smtClean="0">
                <a:solidFill>
                  <a:srgbClr val="FF0000"/>
                </a:solidFill>
              </a:rPr>
              <a:t>前</a:t>
            </a:r>
            <a:r>
              <a:rPr lang="en-US" altLang="zh-CN" sz="2200" dirty="0" err="1" smtClean="0">
                <a:solidFill>
                  <a:srgbClr val="FF0000"/>
                </a:solidFill>
              </a:rPr>
              <a:t>i</a:t>
            </a:r>
            <a:r>
              <a:rPr lang="zh-CN" altLang="en-US" sz="2200" dirty="0" smtClean="0">
                <a:solidFill>
                  <a:srgbClr val="FF0000"/>
                </a:solidFill>
              </a:rPr>
              <a:t>个</a:t>
            </a:r>
            <a:r>
              <a:rPr lang="zh-CN" altLang="en-US" sz="2200" dirty="0" smtClean="0"/>
              <a:t>物品组合出</a:t>
            </a:r>
            <a:r>
              <a:rPr lang="en-US" altLang="zh-CN" sz="2200" dirty="0" smtClean="0"/>
              <a:t>j</a:t>
            </a:r>
            <a:r>
              <a:rPr lang="zh-CN" altLang="en-US" sz="2200" dirty="0" smtClean="0"/>
              <a:t>的方案中</a:t>
            </a:r>
            <a:r>
              <a:rPr lang="en-US" altLang="zh-CN" sz="2200" dirty="0" smtClean="0"/>
              <a:t>,</a:t>
            </a:r>
            <a:r>
              <a:rPr lang="zh-CN" altLang="en-US" sz="2200" dirty="0" smtClean="0"/>
              <a:t>最小的最大编号</a:t>
            </a:r>
            <a:r>
              <a:rPr lang="en-US" altLang="zh-CN" sz="2200" dirty="0" smtClean="0"/>
              <a:t>,</a:t>
            </a:r>
            <a:r>
              <a:rPr lang="zh-CN" altLang="en-US" sz="2200" dirty="0" smtClean="0"/>
              <a:t>无解时</a:t>
            </a:r>
            <a:r>
              <a:rPr lang="en-US" altLang="zh-CN" sz="2200" dirty="0" smtClean="0"/>
              <a:t>f[</a:t>
            </a:r>
            <a:r>
              <a:rPr lang="en-US" altLang="zh-CN" sz="2200" dirty="0" err="1" smtClean="0"/>
              <a:t>i</a:t>
            </a:r>
            <a:r>
              <a:rPr lang="en-US" altLang="zh-CN" sz="2200" dirty="0" smtClean="0"/>
              <a:t>][j]=INF</a:t>
            </a:r>
            <a:endParaRPr lang="en-US" altLang="zh-CN" sz="2200" dirty="0" smtClean="0"/>
          </a:p>
          <a:p>
            <a:r>
              <a:rPr lang="en-US" altLang="zh-CN" sz="2200" dirty="0" smtClean="0"/>
              <a:t>f[</a:t>
            </a:r>
            <a:r>
              <a:rPr lang="en-US" altLang="zh-CN" sz="2200" dirty="0" err="1" smtClean="0"/>
              <a:t>i</a:t>
            </a:r>
            <a:r>
              <a:rPr lang="en-US" altLang="zh-CN" sz="2200" dirty="0" smtClean="0"/>
              <a:t>][j]=min(f[i-1][j],max(num[</a:t>
            </a:r>
            <a:r>
              <a:rPr lang="en-US" altLang="zh-CN" sz="2200" dirty="0" err="1" smtClean="0"/>
              <a:t>i</a:t>
            </a:r>
            <a:r>
              <a:rPr lang="en-US" altLang="zh-CN" sz="2200" dirty="0" smtClean="0"/>
              <a:t>],f[i-1][j-w[</a:t>
            </a:r>
            <a:r>
              <a:rPr lang="en-US" altLang="zh-CN" sz="2200" dirty="0" err="1" smtClean="0"/>
              <a:t>i</a:t>
            </a:r>
            <a:r>
              <a:rPr lang="en-US" altLang="zh-CN" sz="2200" dirty="0" smtClean="0"/>
              <a:t>]])</a:t>
            </a:r>
            <a:endParaRPr lang="en-US" altLang="zh-CN" sz="2200" dirty="0" smtClean="0"/>
          </a:p>
          <a:p>
            <a:r>
              <a:rPr lang="zh-CN" altLang="en-US" sz="2200" dirty="0" smtClean="0"/>
              <a:t>复杂度</a:t>
            </a:r>
            <a:r>
              <a:rPr lang="en-US" altLang="zh-CN" sz="2200" dirty="0" smtClean="0"/>
              <a:t>O(nm)</a:t>
            </a:r>
            <a:endParaRPr lang="en-US" altLang="zh-CN" sz="2200" dirty="0" smtClean="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a:t>
            </a:r>
            <a:r>
              <a:rPr lang="en-US" dirty="0" smtClean="0"/>
              <a:t>2794: [Poi2012]Cloakroom</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标算</a:t>
            </a:r>
            <a:r>
              <a:rPr lang="en-US" altLang="zh-CN" sz="2400" dirty="0" smtClean="0"/>
              <a:t>:</a:t>
            </a:r>
            <a:r>
              <a:rPr lang="zh-CN" altLang="en-US" sz="2400" dirty="0" smtClean="0"/>
              <a:t>仍然把物品和询问按照左端点排序</a:t>
            </a:r>
            <a:r>
              <a:rPr lang="en-US" altLang="zh-CN" sz="2400" dirty="0" smtClean="0"/>
              <a:t>,</a:t>
            </a:r>
            <a:r>
              <a:rPr lang="zh-CN" altLang="en-US" sz="2400" dirty="0" smtClean="0"/>
              <a:t>按左端点从小到大依次加入物品</a:t>
            </a:r>
            <a:r>
              <a:rPr lang="en-US" altLang="zh-CN" sz="2400" dirty="0" smtClean="0"/>
              <a:t>,</a:t>
            </a:r>
            <a:r>
              <a:rPr lang="zh-CN" altLang="en-US" sz="2400" dirty="0" smtClean="0"/>
              <a:t>依次处理询问</a:t>
            </a:r>
            <a:r>
              <a:rPr lang="en-US" altLang="zh-CN" sz="2400" dirty="0" smtClean="0"/>
              <a:t>,f[</a:t>
            </a:r>
            <a:r>
              <a:rPr lang="en-US" altLang="zh-CN" sz="2400" dirty="0" err="1" smtClean="0"/>
              <a:t>i</a:t>
            </a:r>
            <a:r>
              <a:rPr lang="en-US" altLang="zh-CN" sz="2400" dirty="0" smtClean="0"/>
              <a:t>][j]</a:t>
            </a:r>
            <a:r>
              <a:rPr lang="zh-CN" altLang="en-US" sz="2400" dirty="0" smtClean="0"/>
              <a:t>表示使用左端点最小的</a:t>
            </a:r>
            <a:r>
              <a:rPr lang="en-US" altLang="zh-CN" sz="2400" dirty="0" err="1" smtClean="0"/>
              <a:t>i</a:t>
            </a:r>
            <a:r>
              <a:rPr lang="zh-CN" altLang="en-US" sz="2400" dirty="0" smtClean="0"/>
              <a:t>个物品时</a:t>
            </a:r>
            <a:r>
              <a:rPr lang="en-US" altLang="zh-CN" sz="2400" dirty="0" smtClean="0"/>
              <a:t>,</a:t>
            </a:r>
            <a:r>
              <a:rPr lang="zh-CN" altLang="en-US" sz="2400" dirty="0" smtClean="0"/>
              <a:t>要组合出重量</a:t>
            </a:r>
            <a:r>
              <a:rPr lang="en-US" altLang="zh-CN" sz="2400" dirty="0" smtClean="0"/>
              <a:t>j,</a:t>
            </a:r>
            <a:r>
              <a:rPr lang="zh-CN" altLang="en-US" sz="2400" dirty="0" smtClean="0"/>
              <a:t>使用的物品的区间的右端点的最小值最大是多少</a:t>
            </a:r>
            <a:r>
              <a:rPr lang="en-US" altLang="zh-CN" sz="2400" dirty="0" smtClean="0"/>
              <a:t>(</a:t>
            </a:r>
            <a:r>
              <a:rPr lang="zh-CN" altLang="en-US" sz="2400" dirty="0" smtClean="0"/>
              <a:t>无解时为</a:t>
            </a:r>
            <a:r>
              <a:rPr lang="en-US" altLang="zh-CN" sz="2400" dirty="0" smtClean="0"/>
              <a:t>0)</a:t>
            </a:r>
            <a:endParaRPr lang="en-US" altLang="zh-CN" sz="2400" dirty="0" smtClean="0"/>
          </a:p>
          <a:p>
            <a:r>
              <a:rPr lang="zh-CN" altLang="en-US" sz="2400" dirty="0" smtClean="0"/>
              <a:t>对于每个询问</a:t>
            </a:r>
            <a:r>
              <a:rPr lang="en-US" altLang="zh-CN" sz="2400" dirty="0" smtClean="0"/>
              <a:t>,</a:t>
            </a:r>
            <a:r>
              <a:rPr lang="zh-CN" altLang="en-US" sz="2400" dirty="0" smtClean="0"/>
              <a:t>考虑对应的</a:t>
            </a:r>
            <a:r>
              <a:rPr lang="en-US" altLang="zh-CN" sz="2400" dirty="0" smtClean="0"/>
              <a:t>f[</a:t>
            </a:r>
            <a:r>
              <a:rPr lang="en-US" altLang="zh-CN" sz="2400" dirty="0" err="1" smtClean="0"/>
              <a:t>i</a:t>
            </a:r>
            <a:r>
              <a:rPr lang="en-US" altLang="zh-CN" sz="2400" dirty="0" smtClean="0"/>
              <a:t>][j]</a:t>
            </a:r>
            <a:r>
              <a:rPr lang="zh-CN" altLang="en-US" sz="2400" dirty="0" smtClean="0"/>
              <a:t>是否大于询问的区间右端点即可</a:t>
            </a:r>
            <a:r>
              <a:rPr lang="en-US" altLang="zh-CN" sz="2400" dirty="0" smtClean="0"/>
              <a:t>.</a:t>
            </a:r>
            <a:endParaRPr lang="en-US" altLang="zh-CN" sz="2400" dirty="0" smtClean="0"/>
          </a:p>
          <a:p>
            <a:r>
              <a:rPr lang="zh-CN" altLang="en-US" sz="2400" dirty="0" smtClean="0"/>
              <a:t>需要滚动数组</a:t>
            </a:r>
            <a:endParaRPr lang="en-US" altLang="zh-CN" sz="2400" dirty="0" smtClean="0"/>
          </a:p>
          <a:p>
            <a:r>
              <a:rPr lang="zh-CN" altLang="en-US" sz="2400" dirty="0" smtClean="0"/>
              <a:t>时间复杂度</a:t>
            </a:r>
            <a:r>
              <a:rPr lang="en-US" altLang="zh-CN" sz="2400" dirty="0" smtClean="0"/>
              <a:t>O(</a:t>
            </a:r>
            <a:r>
              <a:rPr lang="en-US" altLang="zh-CN" sz="2400" dirty="0" err="1" smtClean="0"/>
              <a:t>nm+qlogq+nlogn</a:t>
            </a:r>
            <a:r>
              <a:rPr lang="en-US" altLang="zh-CN" sz="2400" dirty="0" smtClean="0"/>
              <a:t>),</a:t>
            </a:r>
            <a:r>
              <a:rPr lang="zh-CN" altLang="en-US" sz="2400" dirty="0" smtClean="0"/>
              <a:t>空间复杂度</a:t>
            </a:r>
            <a:r>
              <a:rPr lang="en-US" altLang="zh-CN" sz="2400" dirty="0" smtClean="0"/>
              <a:t>O(m)</a:t>
            </a:r>
            <a:endParaRPr lang="zh-CN" altLang="en-US" sz="24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70932" y="2967335"/>
            <a:ext cx="8196476" cy="923330"/>
          </a:xfrm>
          <a:prstGeom prst="rect">
            <a:avLst/>
          </a:prstGeom>
          <a:noFill/>
        </p:spPr>
        <p:txBody>
          <a:bodyPr wrap="none" lIns="91440" tIns="45720" rIns="91440" bIns="45720">
            <a:spAutoFit/>
          </a:bodyPr>
          <a:lstStyle/>
          <a:p>
            <a:pPr algn="ctr"/>
            <a:r>
              <a:rPr lang="en-US" altLang="zh-CN" sz="5400" b="1" dirty="0" smtClean="0">
                <a:ln w="12700">
                  <a:solidFill>
                    <a:schemeClr val="tx2">
                      <a:satMod val="155000"/>
                    </a:schemeClr>
                  </a:solidFill>
                  <a:prstDash val="solid"/>
                </a:ln>
                <a:solidFill>
                  <a:schemeClr val="accent2">
                    <a:lumMod val="75000"/>
                  </a:schemeClr>
                </a:solidFill>
                <a:effectLst>
                  <a:outerShdw blurRad="41275" dist="20320" dir="1800000" algn="tl" rotWithShape="0">
                    <a:srgbClr val="000000">
                      <a:alpha val="40000"/>
                    </a:srgbClr>
                  </a:outerShdw>
                </a:effectLst>
              </a:rPr>
              <a:t>Thanks for listening!</a:t>
            </a:r>
            <a:endParaRPr lang="zh-CN" altLang="en-US" sz="5400" b="1" dirty="0">
              <a:ln w="12700">
                <a:solidFill>
                  <a:schemeClr val="tx2">
                    <a:satMod val="155000"/>
                  </a:schemeClr>
                </a:solidFill>
                <a:prstDash val="solid"/>
              </a:ln>
              <a:solidFill>
                <a:schemeClr val="accent2">
                  <a:lumMod val="75000"/>
                </a:schemeClr>
              </a:solidFill>
              <a:effectLst>
                <a:outerShdw blurRad="41275" dist="20320" dir="1800000" algn="tl" rotWithShape="0">
                  <a:srgbClr val="000000">
                    <a:alpha val="40000"/>
                  </a:srgbClr>
                </a:outerShdw>
              </a:effectLs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2"/>
                </a:solidFill>
              </a:rPr>
              <a:t>Bzoj2554 color</a:t>
            </a:r>
            <a:endParaRPr lang="zh-CN" altLang="en-US" dirty="0">
              <a:solidFill>
                <a:schemeClr val="bg2"/>
              </a:solidFill>
            </a:endParaRPr>
          </a:p>
        </p:txBody>
      </p:sp>
      <p:sp>
        <p:nvSpPr>
          <p:cNvPr id="3" name="内容占位符 2"/>
          <p:cNvSpPr>
            <a:spLocks noGrp="1"/>
          </p:cNvSpPr>
          <p:nvPr>
            <p:ph sz="quarter" idx="1"/>
          </p:nvPr>
        </p:nvSpPr>
        <p:spPr/>
        <p:txBody>
          <a:bodyPr/>
          <a:lstStyle/>
          <a:p>
            <a:r>
              <a:rPr lang="zh-CN" altLang="en-US" dirty="0" smtClean="0">
                <a:solidFill>
                  <a:schemeClr val="bg2"/>
                </a:solidFill>
              </a:rPr>
              <a:t>如果看到这张</a:t>
            </a:r>
            <a:r>
              <a:rPr lang="en-US" altLang="zh-CN" dirty="0" err="1" smtClean="0">
                <a:solidFill>
                  <a:schemeClr val="bg2"/>
                </a:solidFill>
              </a:rPr>
              <a:t>ppt</a:t>
            </a:r>
            <a:r>
              <a:rPr lang="en-US" altLang="zh-CN" dirty="0" smtClean="0">
                <a:solidFill>
                  <a:schemeClr val="bg2"/>
                </a:solidFill>
              </a:rPr>
              <a:t>,</a:t>
            </a:r>
            <a:r>
              <a:rPr lang="zh-CN" altLang="en-US" dirty="0" smtClean="0">
                <a:solidFill>
                  <a:schemeClr val="bg2"/>
                </a:solidFill>
              </a:rPr>
              <a:t>说明我拖时间真的是太失败了</a:t>
            </a:r>
            <a:r>
              <a:rPr lang="en-US" altLang="zh-CN" dirty="0" smtClean="0">
                <a:solidFill>
                  <a:schemeClr val="bg2"/>
                </a:solidFill>
              </a:rPr>
              <a:t>…</a:t>
            </a:r>
            <a:endParaRPr lang="en-US" altLang="zh-CN" dirty="0" smtClean="0">
              <a:solidFill>
                <a:schemeClr val="bg2"/>
              </a:solidFill>
            </a:endParaRPr>
          </a:p>
          <a:p>
            <a:r>
              <a:rPr lang="zh-CN" altLang="en-US" dirty="0" smtClean="0">
                <a:solidFill>
                  <a:schemeClr val="bg2"/>
                </a:solidFill>
              </a:rPr>
              <a:t>感觉不会讲到</a:t>
            </a:r>
            <a:r>
              <a:rPr lang="en-US" altLang="zh-CN" dirty="0" smtClean="0">
                <a:solidFill>
                  <a:schemeClr val="bg2"/>
                </a:solidFill>
              </a:rPr>
              <a:t>,</a:t>
            </a:r>
            <a:r>
              <a:rPr lang="zh-CN" altLang="en-US" dirty="0" smtClean="0">
                <a:solidFill>
                  <a:schemeClr val="bg2"/>
                </a:solidFill>
              </a:rPr>
              <a:t>所以只是摆在这里</a:t>
            </a:r>
            <a:r>
              <a:rPr lang="en-US" altLang="zh-CN" dirty="0" smtClean="0">
                <a:solidFill>
                  <a:schemeClr val="bg2"/>
                </a:solidFill>
              </a:rPr>
              <a:t>,</a:t>
            </a:r>
            <a:r>
              <a:rPr lang="zh-CN" altLang="en-US" dirty="0" smtClean="0">
                <a:solidFill>
                  <a:schemeClr val="bg2"/>
                </a:solidFill>
              </a:rPr>
              <a:t>没有写内容</a:t>
            </a:r>
            <a:r>
              <a:rPr lang="en-US" altLang="zh-CN" dirty="0" smtClean="0">
                <a:solidFill>
                  <a:schemeClr val="bg2"/>
                </a:solidFill>
              </a:rPr>
              <a:t>…</a:t>
            </a:r>
            <a:endParaRPr lang="en-US" altLang="zh-CN" dirty="0" smtClean="0">
              <a:solidFill>
                <a:schemeClr val="bg2"/>
              </a:solidFill>
            </a:endParaRPr>
          </a:p>
          <a:p>
            <a:r>
              <a:rPr lang="zh-CN" altLang="en-US" dirty="0" smtClean="0">
                <a:solidFill>
                  <a:schemeClr val="bg2"/>
                </a:solidFill>
              </a:rPr>
              <a:t>有人想做这道题可以百度题解</a:t>
            </a:r>
            <a:r>
              <a:rPr lang="en-US" altLang="zh-CN" dirty="0" smtClean="0">
                <a:solidFill>
                  <a:schemeClr val="bg2"/>
                </a:solidFill>
              </a:rPr>
              <a:t>…</a:t>
            </a:r>
            <a:r>
              <a:rPr lang="zh-CN" altLang="en-US" dirty="0" smtClean="0">
                <a:solidFill>
                  <a:schemeClr val="bg2"/>
                </a:solidFill>
              </a:rPr>
              <a:t>应该会搜到我的博客</a:t>
            </a:r>
            <a:r>
              <a:rPr lang="en-US" altLang="zh-CN" dirty="0" smtClean="0">
                <a:solidFill>
                  <a:schemeClr val="bg2"/>
                </a:solidFill>
              </a:rPr>
              <a:t>…</a:t>
            </a:r>
            <a:endParaRPr lang="en-US" altLang="zh-CN" dirty="0" smtClean="0">
              <a:solidFill>
                <a:schemeClr val="bg2"/>
              </a:solidFill>
            </a:endParaRPr>
          </a:p>
          <a:p>
            <a:endParaRPr lang="zh-CN" altLang="en-US" dirty="0">
              <a:solidFill>
                <a:schemeClr val="bg2"/>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自定义 1">
      <a:majorFont>
        <a:latin typeface="Trebuchet MS"/>
        <a:ea typeface="方正姚体"/>
        <a:cs typeface=""/>
      </a:majorFont>
      <a:minorFont>
        <a:latin typeface="Consolas"/>
        <a:ea typeface="微软雅黑"/>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0</TotalTime>
  <Words>14145</Words>
  <Application>WPS 演示</Application>
  <PresentationFormat>全屏显示(4:3)</PresentationFormat>
  <Paragraphs>616</Paragraphs>
  <Slides>74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74</vt:i4>
      </vt:variant>
    </vt:vector>
  </HeadingPairs>
  <TitlesOfParts>
    <vt:vector size="85" baseType="lpstr">
      <vt:lpstr>Arial</vt:lpstr>
      <vt:lpstr>宋体</vt:lpstr>
      <vt:lpstr>Wingdings</vt:lpstr>
      <vt:lpstr>Wingdings 3</vt:lpstr>
      <vt:lpstr>Wingdings</vt:lpstr>
      <vt:lpstr>Consolas</vt:lpstr>
      <vt:lpstr>方正姚体</vt:lpstr>
      <vt:lpstr>Trebuchet MS</vt:lpstr>
      <vt:lpstr>微软雅黑</vt:lpstr>
      <vt:lpstr>Calibri</vt:lpstr>
      <vt:lpstr>质朴</vt:lpstr>
      <vt:lpstr>动态规划</vt:lpstr>
      <vt:lpstr>自我介绍</vt:lpstr>
      <vt:lpstr>今天讲的内容</vt:lpstr>
      <vt:lpstr>背包动态规划</vt:lpstr>
      <vt:lpstr>背包动态规划(01背包,完全背包)</vt:lpstr>
      <vt:lpstr>背包动态规划(01背包,完全背包)</vt:lpstr>
      <vt:lpstr>背包动态规划(01背包,完全背包)</vt:lpstr>
      <vt:lpstr>背包动态规划(多重背包,分组背包)</vt:lpstr>
      <vt:lpstr>背包动态规划(树形依赖背包)</vt:lpstr>
      <vt:lpstr>背包动态规划(树形依赖背包)</vt:lpstr>
      <vt:lpstr>背包动态规划(树形依赖背包)</vt:lpstr>
      <vt:lpstr>bzoj2427: [HAOI2010]软件安装</vt:lpstr>
      <vt:lpstr>bzoj2427: [HAOI2010]软件安装</vt:lpstr>
      <vt:lpstr>bzoj4753: [Jsoi2016]最佳团体</vt:lpstr>
      <vt:lpstr>bzoj4753: [Jsoi2016]最佳团体</vt:lpstr>
      <vt:lpstr>Poj3093:Margaritas on the River Walk</vt:lpstr>
      <vt:lpstr>Poj3093:Margaritas on the River Walk</vt:lpstr>
      <vt:lpstr>背包动态规划(一些题目)</vt:lpstr>
      <vt:lpstr>树形动态规划</vt:lpstr>
      <vt:lpstr>树形动态规划(概述)</vt:lpstr>
      <vt:lpstr>树形动态规划(树的重心)</vt:lpstr>
      <vt:lpstr>树形动态规划(树的直径)</vt:lpstr>
      <vt:lpstr>树形动态规划(树的直径)</vt:lpstr>
      <vt:lpstr>树形动态规划(最大独立集)</vt:lpstr>
      <vt:lpstr>树形动态规划(最大独立集)</vt:lpstr>
      <vt:lpstr>bzoj1864: [Zjoi2006]三色二叉树</vt:lpstr>
      <vt:lpstr>bzoj1864: [Zjoi2006]三色二叉树</vt:lpstr>
      <vt:lpstr>Hdu5834 Magic boy Bi Luo with his excited tree</vt:lpstr>
      <vt:lpstr>Hdu5834 Magic boy Bi Luo with his excited tree</vt:lpstr>
      <vt:lpstr>Hdu5834 Magic boy Bi Luo with his excited tree</vt:lpstr>
      <vt:lpstr>Hdu5834 Magic boy Bi Luo with his excited tree</vt:lpstr>
      <vt:lpstr>树形动态规划(一些题目)</vt:lpstr>
      <vt:lpstr>状态压缩动态规划</vt:lpstr>
      <vt:lpstr>状态压缩动态规划(基本概念)</vt:lpstr>
      <vt:lpstr>状态压缩动态规划(TSP,旅行商问题)</vt:lpstr>
      <vt:lpstr>NOIP2016 愤怒的小鸟</vt:lpstr>
      <vt:lpstr>NOIP2016 愤怒的小鸟</vt:lpstr>
      <vt:lpstr>bzoj4145: [AMPPZ2014]The Prices</vt:lpstr>
      <vt:lpstr>bzoj4145: [AMPPZ2014]The Prices</vt:lpstr>
      <vt:lpstr>bzoj4145: [AMPPZ2014]The Prices</vt:lpstr>
      <vt:lpstr>bzoj4145: [AMPPZ2014]The Prices</vt:lpstr>
      <vt:lpstr>bzoj4145: [AMPPZ2014]The Prices</vt:lpstr>
      <vt:lpstr>数位动态规划</vt:lpstr>
      <vt:lpstr>数位动态规划(基本概念)</vt:lpstr>
      <vt:lpstr>数位动态规划(基本概念)</vt:lpstr>
      <vt:lpstr>bzoj1833: [ZJOI2010]count 数字计数</vt:lpstr>
      <vt:lpstr>bzoj1833: [ZJOI2010]count 数字计数</vt:lpstr>
      <vt:lpstr>bzoj1833: [ZJOI2010]count 数字计数</vt:lpstr>
      <vt:lpstr>数位DP(更多题目)</vt:lpstr>
      <vt:lpstr>期望,概率动态规划</vt:lpstr>
      <vt:lpstr>概率(基本概念)</vt:lpstr>
      <vt:lpstr>概率(基本概念)</vt:lpstr>
      <vt:lpstr>概率(全概率公式)</vt:lpstr>
      <vt:lpstr>概率(贝叶斯公式)</vt:lpstr>
      <vt:lpstr>概率(条件概率)</vt:lpstr>
      <vt:lpstr>期望(基本概念)</vt:lpstr>
      <vt:lpstr>期望的可加性(也叫期望的线性性)</vt:lpstr>
      <vt:lpstr>Codeforces 280C Game on Tree</vt:lpstr>
      <vt:lpstr>Codeforces 280C Game on Tree</vt:lpstr>
      <vt:lpstr>tyvj1933绿豆蛙的归宿</vt:lpstr>
      <vt:lpstr>tyvj1933 绿豆蛙的归宿</vt:lpstr>
      <vt:lpstr>tyvj1933 绿豆蛙的归宿</vt:lpstr>
      <vt:lpstr>bzoj3143: [Hnoi2013]游走</vt:lpstr>
      <vt:lpstr>bzoj3143: [Hnoi2013]游走</vt:lpstr>
      <vt:lpstr>bzoj1426:收集邮票</vt:lpstr>
      <vt:lpstr>bzoj1426:收集邮票</vt:lpstr>
      <vt:lpstr>概率与期望(更多题目)</vt:lpstr>
      <vt:lpstr>PowerPoint 演示文稿</vt:lpstr>
      <vt:lpstr>bzoj2794: [Poi2012]Cloakroom</vt:lpstr>
      <vt:lpstr>bzoj2794: [Poi2012]Cloakroom</vt:lpstr>
      <vt:lpstr>bzoj2794: [Poi2012]Cloakroom</vt:lpstr>
      <vt:lpstr>bzoj2794: [Poi2012]Cloakroom</vt:lpstr>
      <vt:lpstr>PowerPoint 演示文稿</vt:lpstr>
      <vt:lpstr>Bzoj2554 color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动态规划1</dc:title>
  <dc:creator>hzoi</dc:creator>
  <cp:lastModifiedBy>stu</cp:lastModifiedBy>
  <cp:revision>480</cp:revision>
  <dcterms:created xsi:type="dcterms:W3CDTF">2017-05-24T07:31:00Z</dcterms:created>
  <dcterms:modified xsi:type="dcterms:W3CDTF">2017-06-01T08:14:29Z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