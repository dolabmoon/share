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86" r:id="rId3"/>
    <p:sldId id="257" r:id="rId4"/>
    <p:sldId id="258" r:id="rId5"/>
    <p:sldId id="285" r:id="rId6"/>
    <p:sldId id="259" r:id="rId7"/>
    <p:sldId id="260" r:id="rId8"/>
    <p:sldId id="261" r:id="rId9"/>
    <p:sldId id="262" r:id="rId10"/>
    <p:sldId id="263" r:id="rId11"/>
    <p:sldId id="270" r:id="rId12"/>
    <p:sldId id="267" r:id="rId13"/>
    <p:sldId id="268" r:id="rId14"/>
    <p:sldId id="277" r:id="rId15"/>
    <p:sldId id="287" r:id="rId16"/>
    <p:sldId id="271" r:id="rId17"/>
    <p:sldId id="281" r:id="rId18"/>
    <p:sldId id="278" r:id="rId19"/>
    <p:sldId id="288" r:id="rId20"/>
    <p:sldId id="289" r:id="rId21"/>
    <p:sldId id="290" r:id="rId22"/>
    <p:sldId id="291" r:id="rId23"/>
    <p:sldId id="292" r:id="rId24"/>
    <p:sldId id="272" r:id="rId25"/>
    <p:sldId id="273" r:id="rId26"/>
    <p:sldId id="274" r:id="rId27"/>
    <p:sldId id="275" r:id="rId28"/>
    <p:sldId id="279" r:id="rId29"/>
    <p:sldId id="280" r:id="rId30"/>
    <p:sldId id="282" r:id="rId31"/>
    <p:sldId id="283" r:id="rId32"/>
    <p:sldId id="284" r:id="rId33"/>
    <p:sldId id="293" r:id="rId34"/>
    <p:sldId id="294" r:id="rId35"/>
    <p:sldId id="295" r:id="rId36"/>
    <p:sldId id="276" r:id="rId37"/>
    <p:sldId id="269" r:id="rId38"/>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94" autoAdjust="0"/>
    <p:restoredTop sz="94660"/>
  </p:normalViewPr>
  <p:slideViewPr>
    <p:cSldViewPr snapToGrid="0">
      <p:cViewPr varScale="1">
        <p:scale>
          <a:sx n="79" d="100"/>
          <a:sy n="79" d="100"/>
        </p:scale>
        <p:origin x="-1116" y="-84"/>
      </p:cViewPr>
      <p:guideLst>
        <p:guide orient="horz" pos="180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555077" y="1927490"/>
            <a:ext cx="8200040" cy="1989667"/>
          </a:xfrm>
        </p:spPr>
        <p:txBody>
          <a:bodyPr anchor="b"/>
          <a:lstStyle>
            <a:lvl1pPr algn="l">
              <a:defRPr sz="4500" b="1">
                <a:ln>
                  <a:solidFill>
                    <a:schemeClr val="tx1"/>
                  </a:solidFill>
                </a:ln>
                <a:effectLst>
                  <a:glow rad="228600">
                    <a:schemeClr val="bg1">
                      <a:alpha val="40000"/>
                    </a:schemeClr>
                  </a:glow>
                </a:effectLst>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574127" y="3917157"/>
            <a:ext cx="6858000" cy="1379802"/>
          </a:xfrm>
          <a:effectLst>
            <a:glow rad="228600">
              <a:schemeClr val="accent1">
                <a:satMod val="175000"/>
                <a:alpha val="40000"/>
              </a:schemeClr>
            </a:glow>
          </a:effectLst>
        </p:spPr>
        <p:txBody>
          <a:bodyPr>
            <a:normAutofit/>
          </a:bodyPr>
          <a:lstStyle>
            <a:lvl1pPr marL="0" indent="0" algn="l">
              <a:buNone/>
              <a:defRPr sz="2800" b="1">
                <a:ln>
                  <a:solidFill>
                    <a:schemeClr val="bg1"/>
                  </a:solidFill>
                </a:ln>
                <a:solidFill>
                  <a:schemeClr val="bg1"/>
                </a:solidFill>
                <a:effectLst>
                  <a:glow rad="228600">
                    <a:schemeClr val="tx1">
                      <a:alpha val="40000"/>
                    </a:schemeClr>
                  </a:glow>
                </a:effectLs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fld id="{F320E685-2C44-4C67-8C83-2845AC2FBB95}" type="datetimeFigureOut">
              <a:rPr lang="zh-CN" altLang="en-US" smtClean="0"/>
              <a:pPr/>
              <a:t>2017/7/25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07A5D0E-7AC5-44FF-B5DB-AB59F3FCBF48}" type="slidenum">
              <a:rPr lang="zh-CN" altLang="en-US" smtClean="0"/>
              <a:pPr/>
              <a:t>‹#›</a:t>
            </a:fld>
            <a:endParaRPr lang="zh-CN" altLang="en-US"/>
          </a:p>
        </p:txBody>
      </p:sp>
    </p:spTree>
    <p:extLst>
      <p:ext uri="{BB962C8B-B14F-4D97-AF65-F5344CB8AC3E}">
        <p14:creationId xmlns="" xmlns:p14="http://schemas.microsoft.com/office/powerpoint/2010/main" val="2180748034"/>
      </p:ext>
    </p:extLst>
  </p:cSld>
  <p:clrMapOvr>
    <a:masterClrMapping/>
  </p:clrMapOvr>
  <p:transition spd="med">
    <p:fade thruBlk="1"/>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320E685-2C44-4C67-8C83-2845AC2FBB95}" type="datetimeFigureOut">
              <a:rPr lang="zh-CN" altLang="en-US" smtClean="0"/>
              <a:pPr/>
              <a:t>2017/7/25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07A5D0E-7AC5-44FF-B5DB-AB59F3FCBF48}" type="slidenum">
              <a:rPr lang="zh-CN" altLang="en-US" smtClean="0"/>
              <a:pPr/>
              <a:t>‹#›</a:t>
            </a:fld>
            <a:endParaRPr lang="zh-CN" altLang="en-US"/>
          </a:p>
        </p:txBody>
      </p:sp>
    </p:spTree>
    <p:extLst>
      <p:ext uri="{BB962C8B-B14F-4D97-AF65-F5344CB8AC3E}">
        <p14:creationId xmlns="" xmlns:p14="http://schemas.microsoft.com/office/powerpoint/2010/main" val="2775137499"/>
      </p:ext>
    </p:extLst>
  </p:cSld>
  <p:clrMapOvr>
    <a:masterClrMapping/>
  </p:clrMapOvr>
  <p:transition spd="med">
    <p:fade thruBlk="1"/>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F320E685-2C44-4C67-8C83-2845AC2FBB95}" type="datetimeFigureOut">
              <a:rPr lang="zh-CN" altLang="en-US" smtClean="0"/>
              <a:pPr/>
              <a:t>2017/7/25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07A5D0E-7AC5-44FF-B5DB-AB59F3FCBF48}" type="slidenum">
              <a:rPr lang="zh-CN" altLang="en-US" smtClean="0"/>
              <a:pPr/>
              <a:t>‹#›</a:t>
            </a:fld>
            <a:endParaRPr lang="zh-CN" altLang="en-US"/>
          </a:p>
        </p:txBody>
      </p:sp>
    </p:spTree>
    <p:extLst>
      <p:ext uri="{BB962C8B-B14F-4D97-AF65-F5344CB8AC3E}">
        <p14:creationId xmlns="" xmlns:p14="http://schemas.microsoft.com/office/powerpoint/2010/main" val="3003048883"/>
      </p:ext>
    </p:extLst>
  </p:cSld>
  <p:clrMapOvr>
    <a:masterClrMapping/>
  </p:clrMapOvr>
  <p:transition spd="med">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F320E685-2C44-4C67-8C83-2845AC2FBB95}" type="datetimeFigureOut">
              <a:rPr lang="zh-CN" altLang="en-US" smtClean="0"/>
              <a:pPr/>
              <a:t>2017/7/25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07A5D0E-7AC5-44FF-B5DB-AB59F3FCBF48}" type="slidenum">
              <a:rPr lang="zh-CN" altLang="en-US" smtClean="0"/>
              <a:pPr/>
              <a:t>‹#›</a:t>
            </a:fld>
            <a:endParaRPr lang="zh-CN" altLang="en-US"/>
          </a:p>
        </p:txBody>
      </p:sp>
    </p:spTree>
    <p:extLst>
      <p:ext uri="{BB962C8B-B14F-4D97-AF65-F5344CB8AC3E}">
        <p14:creationId xmlns="" xmlns:p14="http://schemas.microsoft.com/office/powerpoint/2010/main" val="2944328200"/>
      </p:ext>
    </p:extLst>
  </p:cSld>
  <p:clrMapOvr>
    <a:masterClrMapping/>
  </p:clrMapOvr>
  <p:transition spd="med">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Content Placeholder 3"/>
          <p:cNvSpPr>
            <a:spLocks noGrp="1"/>
          </p:cNvSpPr>
          <p:nvPr>
            <p:ph sz="half" idx="2"/>
          </p:nvPr>
        </p:nvSpPr>
        <p:spPr>
          <a:xfrm>
            <a:off x="629842" y="2087563"/>
            <a:ext cx="3868340" cy="307049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Content Placeholder 5"/>
          <p:cNvSpPr>
            <a:spLocks noGrp="1"/>
          </p:cNvSpPr>
          <p:nvPr>
            <p:ph sz="quarter" idx="4"/>
          </p:nvPr>
        </p:nvSpPr>
        <p:spPr>
          <a:xfrm>
            <a:off x="4629150" y="2087563"/>
            <a:ext cx="3887391" cy="307049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F320E685-2C44-4C67-8C83-2845AC2FBB95}" type="datetimeFigureOut">
              <a:rPr lang="zh-CN" altLang="en-US" smtClean="0"/>
              <a:pPr/>
              <a:t>2017/7/25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07A5D0E-7AC5-44FF-B5DB-AB59F3FCBF48}" type="slidenum">
              <a:rPr lang="zh-CN" altLang="en-US" smtClean="0"/>
              <a:pPr/>
              <a:t>‹#›</a:t>
            </a:fld>
            <a:endParaRPr lang="zh-CN" altLang="en-US"/>
          </a:p>
        </p:txBody>
      </p:sp>
    </p:spTree>
    <p:extLst>
      <p:ext uri="{BB962C8B-B14F-4D97-AF65-F5344CB8AC3E}">
        <p14:creationId xmlns="" xmlns:p14="http://schemas.microsoft.com/office/powerpoint/2010/main" val="3188621589"/>
      </p:ext>
    </p:extLst>
  </p:cSld>
  <p:clrMapOvr>
    <a:masterClrMapping/>
  </p:clrMapOvr>
  <p:transition spd="med">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F320E685-2C44-4C67-8C83-2845AC2FBB95}" type="datetimeFigureOut">
              <a:rPr lang="zh-CN" altLang="en-US" smtClean="0"/>
              <a:pPr/>
              <a:t>2017/7/25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07A5D0E-7AC5-44FF-B5DB-AB59F3FCBF48}" type="slidenum">
              <a:rPr lang="zh-CN" altLang="en-US" smtClean="0"/>
              <a:pPr/>
              <a:t>‹#›</a:t>
            </a:fld>
            <a:endParaRPr lang="zh-CN" altLang="en-US"/>
          </a:p>
        </p:txBody>
      </p:sp>
    </p:spTree>
    <p:extLst>
      <p:ext uri="{BB962C8B-B14F-4D97-AF65-F5344CB8AC3E}">
        <p14:creationId xmlns="" xmlns:p14="http://schemas.microsoft.com/office/powerpoint/2010/main" val="1286862107"/>
      </p:ext>
    </p:extLst>
  </p:cSld>
  <p:clrMapOvr>
    <a:masterClrMapping/>
  </p:clrMapOvr>
  <p:transition spd="med">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20E685-2C44-4C67-8C83-2845AC2FBB95}" type="datetimeFigureOut">
              <a:rPr lang="zh-CN" altLang="en-US" smtClean="0"/>
              <a:pPr/>
              <a:t>2017/7/25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07A5D0E-7AC5-44FF-B5DB-AB59F3FCBF48}" type="slidenum">
              <a:rPr lang="zh-CN" altLang="en-US" smtClean="0"/>
              <a:pPr/>
              <a:t>‹#›</a:t>
            </a:fld>
            <a:endParaRPr lang="zh-CN" altLang="en-US"/>
          </a:p>
        </p:txBody>
      </p:sp>
    </p:spTree>
    <p:extLst>
      <p:ext uri="{BB962C8B-B14F-4D97-AF65-F5344CB8AC3E}">
        <p14:creationId xmlns="" xmlns:p14="http://schemas.microsoft.com/office/powerpoint/2010/main" val="3264041651"/>
      </p:ext>
    </p:extLst>
  </p:cSld>
  <p:clrMapOvr>
    <a:masterClrMapping/>
  </p:clrMapOvr>
  <p:transition spd="med">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F320E685-2C44-4C67-8C83-2845AC2FBB95}" type="datetimeFigureOut">
              <a:rPr lang="zh-CN" altLang="en-US" smtClean="0"/>
              <a:pPr/>
              <a:t>2017/7/25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07A5D0E-7AC5-44FF-B5DB-AB59F3FCBF48}" type="slidenum">
              <a:rPr lang="zh-CN" altLang="en-US" smtClean="0"/>
              <a:pPr/>
              <a:t>‹#›</a:t>
            </a:fld>
            <a:endParaRPr lang="zh-CN" altLang="en-US"/>
          </a:p>
        </p:txBody>
      </p:sp>
    </p:spTree>
    <p:extLst>
      <p:ext uri="{BB962C8B-B14F-4D97-AF65-F5344CB8AC3E}">
        <p14:creationId xmlns="" xmlns:p14="http://schemas.microsoft.com/office/powerpoint/2010/main" val="817889562"/>
      </p:ext>
    </p:extLst>
  </p:cSld>
  <p:clrMapOvr>
    <a:masterClrMapping/>
  </p:clrMapOvr>
  <p:transition spd="med">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F320E685-2C44-4C67-8C83-2845AC2FBB95}" type="datetimeFigureOut">
              <a:rPr lang="zh-CN" altLang="en-US" smtClean="0"/>
              <a:pPr/>
              <a:t>2017/7/25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07A5D0E-7AC5-44FF-B5DB-AB59F3FCBF48}" type="slidenum">
              <a:rPr lang="zh-CN" altLang="en-US" smtClean="0"/>
              <a:pPr/>
              <a:t>‹#›</a:t>
            </a:fld>
            <a:endParaRPr lang="zh-CN" altLang="en-US"/>
          </a:p>
        </p:txBody>
      </p:sp>
    </p:spTree>
    <p:extLst>
      <p:ext uri="{BB962C8B-B14F-4D97-AF65-F5344CB8AC3E}">
        <p14:creationId xmlns="" xmlns:p14="http://schemas.microsoft.com/office/powerpoint/2010/main" val="1283990536"/>
      </p:ext>
    </p:extLst>
  </p:cSld>
  <p:clrMapOvr>
    <a:masterClrMapping/>
  </p:clrMapOvr>
  <p:transition spd="med">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320E685-2C44-4C67-8C83-2845AC2FBB95}" type="datetimeFigureOut">
              <a:rPr lang="zh-CN" altLang="en-US" smtClean="0"/>
              <a:pPr/>
              <a:t>2017/7/25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07A5D0E-7AC5-44FF-B5DB-AB59F3FCBF48}" type="slidenum">
              <a:rPr lang="zh-CN" altLang="en-US" smtClean="0"/>
              <a:pPr/>
              <a:t>‹#›</a:t>
            </a:fld>
            <a:endParaRPr lang="zh-CN" altLang="en-US"/>
          </a:p>
        </p:txBody>
      </p:sp>
    </p:spTree>
    <p:extLst>
      <p:ext uri="{BB962C8B-B14F-4D97-AF65-F5344CB8AC3E}">
        <p14:creationId xmlns="" xmlns:p14="http://schemas.microsoft.com/office/powerpoint/2010/main" val="2212262325"/>
      </p:ext>
    </p:extLst>
  </p:cSld>
  <p:clrMapOvr>
    <a:masterClrMapping/>
  </p:clrMapOvr>
  <p:transition spd="med">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320E685-2C44-4C67-8C83-2845AC2FBB95}" type="datetimeFigureOut">
              <a:rPr lang="zh-CN" altLang="en-US" smtClean="0"/>
              <a:pPr/>
              <a:t>2017/7/25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07A5D0E-7AC5-44FF-B5DB-AB59F3FCBF48}" type="slidenum">
              <a:rPr lang="zh-CN" altLang="en-US" smtClean="0"/>
              <a:pPr/>
              <a:t>‹#›</a:t>
            </a:fld>
            <a:endParaRPr lang="zh-CN" altLang="en-US"/>
          </a:p>
        </p:txBody>
      </p:sp>
    </p:spTree>
    <p:extLst>
      <p:ext uri="{BB962C8B-B14F-4D97-AF65-F5344CB8AC3E}">
        <p14:creationId xmlns="" xmlns:p14="http://schemas.microsoft.com/office/powerpoint/2010/main" val="3446133366"/>
      </p:ext>
    </p:extLst>
  </p:cSld>
  <p:clrMapOvr>
    <a:masterClrMapping/>
  </p:clrMapOvr>
  <p:transition spd="med">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8" name="圆角矩形 7"/>
          <p:cNvSpPr/>
          <p:nvPr userDrawn="1"/>
        </p:nvSpPr>
        <p:spPr>
          <a:xfrm>
            <a:off x="566573" y="1490720"/>
            <a:ext cx="8010854" cy="3761797"/>
          </a:xfrm>
          <a:prstGeom prst="roundRect">
            <a:avLst>
              <a:gd name="adj" fmla="val 2716"/>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userDrawn="1"/>
        </p:nvSpPr>
        <p:spPr>
          <a:xfrm>
            <a:off x="566574" y="266897"/>
            <a:ext cx="8010853" cy="1179381"/>
          </a:xfrm>
          <a:prstGeom prst="roundRect">
            <a:avLst>
              <a:gd name="adj" fmla="val 7931"/>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latin typeface="Courier New" panose="02070309020205020404" pitchFamily="49" charset="0"/>
                <a:ea typeface="仿宋" panose="02010609060101010101" pitchFamily="49" charset="-122"/>
                <a:cs typeface="Courier New" panose="02070309020205020404" pitchFamily="49" charset="0"/>
              </a:defRPr>
            </a:lvl1pPr>
          </a:lstStyle>
          <a:p>
            <a:fld id="{F320E685-2C44-4C67-8C83-2845AC2FBB95}" type="datetimeFigureOut">
              <a:rPr lang="zh-CN" altLang="en-US" smtClean="0"/>
              <a:pPr/>
              <a:t>2017/7/25</a:t>
            </a:fld>
            <a:endParaRPr lang="zh-CN" altLang="en-US" dirty="0"/>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latin typeface="Courier New" panose="02070309020205020404" pitchFamily="49" charset="0"/>
                <a:ea typeface="仿宋" panose="02010609060101010101" pitchFamily="49" charset="-122"/>
                <a:cs typeface="Courier New" panose="02070309020205020404" pitchFamily="49" charset="0"/>
              </a:defRPr>
            </a:lvl1pPr>
          </a:lstStyle>
          <a:p>
            <a:endParaRPr lang="zh-CN" altLang="en-US" dirty="0"/>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latin typeface="Courier New" panose="02070309020205020404" pitchFamily="49" charset="0"/>
                <a:ea typeface="仿宋" panose="02010609060101010101" pitchFamily="49" charset="-122"/>
                <a:cs typeface="Courier New" panose="02070309020205020404" pitchFamily="49" charset="0"/>
              </a:defRPr>
            </a:lvl1pPr>
          </a:lstStyle>
          <a:p>
            <a:fld id="{B07A5D0E-7AC5-44FF-B5DB-AB59F3FCBF48}" type="slidenum">
              <a:rPr lang="zh-CN" altLang="en-US" smtClean="0"/>
              <a:pPr/>
              <a:t>‹#›</a:t>
            </a:fld>
            <a:endParaRPr lang="zh-CN" altLang="en-US" dirty="0"/>
          </a:p>
        </p:txBody>
      </p:sp>
    </p:spTree>
    <p:extLst>
      <p:ext uri="{BB962C8B-B14F-4D97-AF65-F5344CB8AC3E}">
        <p14:creationId xmlns="" xmlns:p14="http://schemas.microsoft.com/office/powerpoint/2010/main" val="15166506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fade thruBlk="1"/>
  </p:transition>
  <p:timing>
    <p:tnLst>
      <p:par>
        <p:cTn id="1" dur="indefinite" restart="never" nodeType="tmRoot"/>
      </p:par>
    </p:tnLst>
  </p:timing>
  <p:txStyles>
    <p:titleStyle>
      <a:lvl1pPr algn="ctr" defTabSz="685800" rtl="0" eaLnBrk="1" latinLnBrk="0" hangingPunct="1">
        <a:lnSpc>
          <a:spcPct val="90000"/>
        </a:lnSpc>
        <a:spcBef>
          <a:spcPct val="0"/>
        </a:spcBef>
        <a:buNone/>
        <a:defRPr sz="3300" b="1" kern="1200">
          <a:solidFill>
            <a:schemeClr val="tx1"/>
          </a:solidFill>
          <a:latin typeface="Courier New" panose="02070309020205020404" pitchFamily="49" charset="0"/>
          <a:ea typeface="仿宋" panose="02010609060101010101" pitchFamily="49" charset="-122"/>
          <a:cs typeface="Courier New" panose="02070309020205020404" pitchFamily="49"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Courier New" panose="02070309020205020404" pitchFamily="49" charset="0"/>
          <a:ea typeface="仿宋" panose="02010609060101010101" pitchFamily="49" charset="-122"/>
          <a:cs typeface="Courier New" panose="02070309020205020404" pitchFamily="49"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Courier New" panose="02070309020205020404" pitchFamily="49" charset="0"/>
          <a:ea typeface="仿宋" panose="02010609060101010101" pitchFamily="49" charset="-122"/>
          <a:cs typeface="Courier New" panose="02070309020205020404" pitchFamily="49"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Courier New" panose="02070309020205020404" pitchFamily="49" charset="0"/>
          <a:ea typeface="仿宋" panose="02010609060101010101" pitchFamily="49" charset="-122"/>
          <a:cs typeface="Courier New" panose="02070309020205020404" pitchFamily="49"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ourier New" panose="02070309020205020404" pitchFamily="49" charset="0"/>
          <a:ea typeface="仿宋" panose="02010609060101010101" pitchFamily="49" charset="-122"/>
          <a:cs typeface="Courier New" panose="02070309020205020404" pitchFamily="49"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Courier New" panose="02070309020205020404" pitchFamily="49" charset="0"/>
          <a:ea typeface="仿宋" panose="02010609060101010101" pitchFamily="49" charset="-122"/>
          <a:cs typeface="Courier New" panose="02070309020205020404" pitchFamily="49"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cogs.pro/cogs/problem/problem.php?pid=1000"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小清新题目选讲</a:t>
            </a:r>
            <a:endParaRPr lang="zh-CN" altLang="en-US" dirty="0"/>
          </a:p>
        </p:txBody>
      </p:sp>
      <p:sp>
        <p:nvSpPr>
          <p:cNvPr id="3" name="副标题 2"/>
          <p:cNvSpPr>
            <a:spLocks noGrp="1"/>
          </p:cNvSpPr>
          <p:nvPr>
            <p:ph type="subTitle" idx="1"/>
          </p:nvPr>
        </p:nvSpPr>
        <p:spPr/>
        <p:txBody>
          <a:bodyPr>
            <a:normAutofit/>
          </a:bodyPr>
          <a:lstStyle/>
          <a:p>
            <a:r>
              <a:rPr lang="zh-CN" altLang="en-US" sz="2000" dirty="0" smtClean="0"/>
              <a:t>河北衡水中学 </a:t>
            </a:r>
            <a:r>
              <a:rPr lang="en-US" altLang="zh-CN" sz="2000" dirty="0" err="1" smtClean="0"/>
              <a:t>AntiLeaf</a:t>
            </a:r>
            <a:endParaRPr lang="zh-CN" altLang="en-US" sz="2000" dirty="0"/>
          </a:p>
        </p:txBody>
      </p:sp>
    </p:spTree>
    <p:extLst>
      <p:ext uri="{BB962C8B-B14F-4D97-AF65-F5344CB8AC3E}">
        <p14:creationId xmlns="" xmlns:p14="http://schemas.microsoft.com/office/powerpoint/2010/main" val="2005673105"/>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1000"/>
                                        <p:tgtEl>
                                          <p:spTgt spid="2"/>
                                        </p:tgtEl>
                                      </p:cBhvr>
                                    </p:animEffect>
                                  </p:childTnLst>
                                </p:cTn>
                              </p:par>
                            </p:childTnLst>
                          </p:cTn>
                        </p:par>
                        <p:par>
                          <p:cTn id="8" fill="hold">
                            <p:stCondLst>
                              <p:cond delay="1000"/>
                            </p:stCondLst>
                            <p:childTnLst>
                              <p:par>
                                <p:cTn id="9" presetID="18" presetClass="entr" presetSubtype="6"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strips(downRight)">
                                      <p:cBhvr>
                                        <p:cTn id="1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关于我</a:t>
            </a:r>
            <a:endParaRPr lang="zh-CN" altLang="en-US" dirty="0"/>
          </a:p>
        </p:txBody>
      </p:sp>
      <p:sp>
        <p:nvSpPr>
          <p:cNvPr id="3" name="内容占位符 2"/>
          <p:cNvSpPr>
            <a:spLocks noGrp="1"/>
          </p:cNvSpPr>
          <p:nvPr>
            <p:ph idx="1"/>
          </p:nvPr>
        </p:nvSpPr>
        <p:spPr/>
        <p:txBody>
          <a:bodyPr/>
          <a:lstStyle/>
          <a:p>
            <a:r>
              <a:rPr lang="zh-CN" altLang="en-US" dirty="0" smtClean="0"/>
              <a:t>无名小卒，不足挂齿。</a:t>
            </a:r>
            <a:endParaRPr lang="zh-CN" altLang="en-US" dirty="0"/>
          </a:p>
        </p:txBody>
      </p:sp>
    </p:spTree>
    <p:extLst>
      <p:ext uri="{BB962C8B-B14F-4D97-AF65-F5344CB8AC3E}">
        <p14:creationId xmlns="" xmlns:p14="http://schemas.microsoft.com/office/powerpoint/2010/main" val="463409832"/>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为什么要讲这些</a:t>
            </a:r>
            <a:endParaRPr lang="zh-CN" altLang="en-US" dirty="0"/>
          </a:p>
        </p:txBody>
      </p:sp>
      <p:sp>
        <p:nvSpPr>
          <p:cNvPr id="3" name="内容占位符 2"/>
          <p:cNvSpPr>
            <a:spLocks noGrp="1"/>
          </p:cNvSpPr>
          <p:nvPr>
            <p:ph idx="1"/>
          </p:nvPr>
        </p:nvSpPr>
        <p:spPr/>
        <p:txBody>
          <a:bodyPr/>
          <a:lstStyle/>
          <a:p>
            <a:r>
              <a:rPr lang="en-US" altLang="zh-CN" dirty="0" smtClean="0"/>
              <a:t>……</a:t>
            </a:r>
          </a:p>
          <a:p>
            <a:r>
              <a:rPr lang="zh-CN" altLang="en-US" dirty="0" smtClean="0"/>
              <a:t>这些题目选的都是我见过的（我感觉）比较好的题，所以拿来讲讲</a:t>
            </a:r>
            <a:endParaRPr lang="en-US" altLang="zh-CN" dirty="0" smtClean="0"/>
          </a:p>
          <a:p>
            <a:r>
              <a:rPr lang="zh-CN" altLang="en-US" dirty="0" smtClean="0"/>
              <a:t>难度方面，鉴于大家都还没有</a:t>
            </a:r>
            <a:r>
              <a:rPr lang="en-US" altLang="zh-CN" dirty="0" smtClean="0"/>
              <a:t>NOIP</a:t>
            </a:r>
            <a:r>
              <a:rPr lang="zh-CN" altLang="en-US" dirty="0" smtClean="0"/>
              <a:t>，因此题目既有</a:t>
            </a:r>
            <a:r>
              <a:rPr lang="en-US" altLang="zh-CN" dirty="0" smtClean="0"/>
              <a:t>NOIP</a:t>
            </a:r>
            <a:r>
              <a:rPr lang="zh-CN" altLang="en-US" dirty="0" smtClean="0"/>
              <a:t>难度的也有省选及以上难度的题目</a:t>
            </a:r>
            <a:endParaRPr lang="en-US" altLang="zh-CN" dirty="0" smtClean="0"/>
          </a:p>
          <a:p>
            <a:r>
              <a:rPr lang="zh-CN" altLang="en-US" dirty="0" smtClean="0"/>
              <a:t>（虽然我都是挑的水题来讲的）</a:t>
            </a:r>
            <a:endParaRPr lang="en-US" altLang="zh-CN" dirty="0" smtClean="0"/>
          </a:p>
          <a:p>
            <a:r>
              <a:rPr lang="zh-CN" altLang="en-US" dirty="0" smtClean="0"/>
              <a:t>由于不太清楚大家的水平，选的题目大多不需要很高级的知识，只需要会线段树、树状数组、莫队、</a:t>
            </a:r>
            <a:r>
              <a:rPr lang="en-US" altLang="zh-CN" dirty="0" smtClean="0"/>
              <a:t>LCA</a:t>
            </a:r>
            <a:r>
              <a:rPr lang="zh-CN" altLang="en-US" dirty="0" smtClean="0"/>
              <a:t>、简单的</a:t>
            </a:r>
            <a:r>
              <a:rPr lang="en-US" altLang="zh-CN" dirty="0" smtClean="0"/>
              <a:t>DP</a:t>
            </a:r>
            <a:r>
              <a:rPr lang="zh-CN" altLang="en-US" dirty="0" smtClean="0"/>
              <a:t>即可</a:t>
            </a:r>
            <a:endParaRPr lang="en-US" altLang="zh-CN" dirty="0" smtClean="0"/>
          </a:p>
          <a:p>
            <a:endParaRPr lang="en-US" altLang="zh-CN" dirty="0" smtClean="0"/>
          </a:p>
          <a:p>
            <a:r>
              <a:rPr lang="zh-CN" altLang="en-US" dirty="0" smtClean="0"/>
              <a:t>希望不要搞成不可做题选讲</a:t>
            </a:r>
            <a:r>
              <a:rPr lang="en-US" altLang="zh-CN" dirty="0" smtClean="0"/>
              <a:t>……</a:t>
            </a:r>
            <a:r>
              <a:rPr lang="zh-CN" altLang="en-US" dirty="0" smtClean="0"/>
              <a:t>（逃</a:t>
            </a:r>
            <a:endParaRPr lang="zh-CN" altLang="en-US" dirty="0"/>
          </a:p>
        </p:txBody>
      </p:sp>
    </p:spTree>
    <p:extLst>
      <p:ext uri="{BB962C8B-B14F-4D97-AF65-F5344CB8AC3E}">
        <p14:creationId xmlns="" xmlns:p14="http://schemas.microsoft.com/office/powerpoint/2010/main" val="2031936514"/>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COGS2421 </a:t>
            </a:r>
            <a:r>
              <a:rPr lang="zh-CN" altLang="en-US" dirty="0" smtClean="0"/>
              <a:t>简单</a:t>
            </a:r>
            <a:r>
              <a:rPr lang="zh-CN" altLang="en-US" dirty="0"/>
              <a:t>的</a:t>
            </a:r>
            <a:r>
              <a:rPr lang="en-US" altLang="zh-CN" dirty="0" err="1" smtClean="0"/>
              <a:t>Treap</a:t>
            </a:r>
            <a:endParaRPr lang="zh-CN" altLang="en-US" dirty="0"/>
          </a:p>
        </p:txBody>
      </p:sp>
      <p:sp>
        <p:nvSpPr>
          <p:cNvPr id="3" name="内容占位符 2"/>
          <p:cNvSpPr>
            <a:spLocks noGrp="1"/>
          </p:cNvSpPr>
          <p:nvPr>
            <p:ph idx="1"/>
          </p:nvPr>
        </p:nvSpPr>
        <p:spPr/>
        <p:txBody>
          <a:bodyPr/>
          <a:lstStyle/>
          <a:p>
            <a:r>
              <a:rPr lang="zh-CN" altLang="en-US" dirty="0" smtClean="0"/>
              <a:t>什么都给你了，让你把</a:t>
            </a:r>
            <a:r>
              <a:rPr lang="en-US" altLang="zh-CN" dirty="0" err="1" smtClean="0"/>
              <a:t>Treap</a:t>
            </a:r>
            <a:r>
              <a:rPr lang="zh-CN" altLang="en-US" dirty="0" smtClean="0"/>
              <a:t>建出来，输出先序遍历的结果</a:t>
            </a:r>
            <a:endParaRPr lang="en-US" altLang="zh-CN" dirty="0" smtClean="0"/>
          </a:p>
          <a:p>
            <a:endParaRPr lang="en-US" altLang="zh-CN" dirty="0"/>
          </a:p>
          <a:p>
            <a:r>
              <a:rPr lang="zh-CN" altLang="en-US" dirty="0" smtClean="0"/>
              <a:t>把节点按关键字大小排个序，然后就是笛卡尔树裸题了</a:t>
            </a:r>
            <a:endParaRPr lang="en-US" altLang="zh-CN" dirty="0" smtClean="0"/>
          </a:p>
          <a:p>
            <a:r>
              <a:rPr lang="zh-CN" altLang="en-US" dirty="0" smtClean="0"/>
              <a:t>不懂笛卡尔树的吱一声，我可以讲一讲</a:t>
            </a:r>
            <a:endParaRPr lang="zh-CN" altLang="en-US" dirty="0"/>
          </a:p>
        </p:txBody>
      </p:sp>
    </p:spTree>
    <p:extLst>
      <p:ext uri="{BB962C8B-B14F-4D97-AF65-F5344CB8AC3E}">
        <p14:creationId xmlns="" xmlns:p14="http://schemas.microsoft.com/office/powerpoint/2010/main" val="252027180"/>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smtClean="0"/>
              <a:t>在讲第二道题之前，先让我讲讲树上差分</a:t>
            </a:r>
            <a:r>
              <a:rPr lang="en-US" altLang="zh-CN" dirty="0" smtClean="0"/>
              <a:t>……</a:t>
            </a:r>
            <a:endParaRPr lang="zh-CN" altLang="en-US" dirty="0"/>
          </a:p>
        </p:txBody>
      </p:sp>
    </p:spTree>
    <p:extLst>
      <p:ext uri="{BB962C8B-B14F-4D97-AF65-F5344CB8AC3E}">
        <p14:creationId xmlns="" xmlns:p14="http://schemas.microsoft.com/office/powerpoint/2010/main" val="1510415462"/>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COGS2434 </a:t>
            </a:r>
            <a:r>
              <a:rPr lang="zh-CN" altLang="en-US" dirty="0"/>
              <a:t>暗之链</a:t>
            </a:r>
            <a:r>
              <a:rPr lang="zh-CN" altLang="en-US" dirty="0" smtClean="0"/>
              <a:t>锁</a:t>
            </a:r>
            <a:endParaRPr lang="zh-CN" altLang="en-US" dirty="0"/>
          </a:p>
        </p:txBody>
      </p:sp>
      <p:sp>
        <p:nvSpPr>
          <p:cNvPr id="3" name="内容占位符 2"/>
          <p:cNvSpPr>
            <a:spLocks noGrp="1"/>
          </p:cNvSpPr>
          <p:nvPr>
            <p:ph idx="1"/>
          </p:nvPr>
        </p:nvSpPr>
        <p:spPr/>
        <p:txBody>
          <a:bodyPr>
            <a:normAutofit/>
          </a:bodyPr>
          <a:lstStyle/>
          <a:p>
            <a:r>
              <a:rPr lang="zh-CN" altLang="en-US" dirty="0" smtClean="0"/>
              <a:t>给定一棵树，还有</a:t>
            </a:r>
            <a:r>
              <a:rPr lang="en-US" altLang="zh-CN" dirty="0" smtClean="0"/>
              <a:t>m</a:t>
            </a:r>
            <a:r>
              <a:rPr lang="zh-CN" altLang="en-US" dirty="0" smtClean="0"/>
              <a:t>条不属于树的虚边，求有多少种方案能砍掉一条树边和一条虚边后使得原图不连通</a:t>
            </a:r>
            <a:endParaRPr lang="en-US" altLang="zh-CN" dirty="0" smtClean="0"/>
          </a:p>
          <a:p>
            <a:endParaRPr lang="en-US" altLang="zh-CN" dirty="0"/>
          </a:p>
          <a:p>
            <a:r>
              <a:rPr lang="zh-CN" altLang="en-US" dirty="0" smtClean="0"/>
              <a:t>首先对每条树边求出覆盖这条树边的虚边条数，这个用树上差分搞一搞就行了</a:t>
            </a:r>
            <a:endParaRPr lang="en-US" altLang="zh-CN" dirty="0" smtClean="0"/>
          </a:p>
          <a:p>
            <a:r>
              <a:rPr lang="zh-CN" altLang="en-US" dirty="0" smtClean="0"/>
              <a:t>然后对每条树边分别考虑，记覆盖它的虚边条数为</a:t>
            </a:r>
            <a:r>
              <a:rPr lang="en-US" altLang="zh-CN" dirty="0" smtClean="0"/>
              <a:t>x</a:t>
            </a:r>
          </a:p>
          <a:p>
            <a:r>
              <a:rPr lang="zh-CN" altLang="en-US" dirty="0" smtClean="0"/>
              <a:t>显然只有</a:t>
            </a:r>
            <a:r>
              <a:rPr lang="en-US" altLang="zh-CN" dirty="0" smtClean="0"/>
              <a:t>x=0</a:t>
            </a:r>
            <a:r>
              <a:rPr lang="zh-CN" altLang="en-US" dirty="0" smtClean="0"/>
              <a:t>和</a:t>
            </a:r>
            <a:r>
              <a:rPr lang="en-US" altLang="zh-CN" dirty="0" smtClean="0"/>
              <a:t>x=1</a:t>
            </a:r>
            <a:r>
              <a:rPr lang="zh-CN" altLang="en-US" dirty="0" smtClean="0"/>
              <a:t>的树边是可以选的</a:t>
            </a:r>
            <a:r>
              <a:rPr lang="zh-CN" altLang="en-US" dirty="0"/>
              <a:t>，</a:t>
            </a:r>
            <a:r>
              <a:rPr lang="zh-CN" altLang="en-US" dirty="0" smtClean="0"/>
              <a:t>每条</a:t>
            </a:r>
            <a:r>
              <a:rPr lang="en-US" altLang="zh-CN" dirty="0" smtClean="0"/>
              <a:t>x=0</a:t>
            </a:r>
            <a:r>
              <a:rPr lang="zh-CN" altLang="en-US" dirty="0" smtClean="0"/>
              <a:t>的树边可以与任意一条虚边搭配，方案数为</a:t>
            </a:r>
            <a:r>
              <a:rPr lang="en-US" altLang="zh-CN" dirty="0" smtClean="0"/>
              <a:t>m</a:t>
            </a:r>
            <a:r>
              <a:rPr lang="zh-CN" altLang="en-US" dirty="0" smtClean="0"/>
              <a:t>；</a:t>
            </a:r>
            <a:r>
              <a:rPr lang="en-US" altLang="zh-CN" dirty="0" smtClean="0"/>
              <a:t>x=1</a:t>
            </a:r>
            <a:r>
              <a:rPr lang="zh-CN" altLang="en-US" dirty="0" smtClean="0"/>
              <a:t>的树边只能与覆盖了它的那条边配对，方案数为</a:t>
            </a:r>
            <a:r>
              <a:rPr lang="en-US" altLang="zh-CN" dirty="0" smtClean="0"/>
              <a:t>1</a:t>
            </a:r>
          </a:p>
          <a:p>
            <a:r>
              <a:rPr lang="zh-CN" altLang="en-US" dirty="0" smtClean="0"/>
              <a:t>把每条树边的贡献加起来就好了，复杂度可以做到线性</a:t>
            </a:r>
            <a:endParaRPr lang="en-US" altLang="zh-CN" dirty="0" smtClean="0"/>
          </a:p>
        </p:txBody>
      </p:sp>
    </p:spTree>
    <p:extLst>
      <p:ext uri="{BB962C8B-B14F-4D97-AF65-F5344CB8AC3E}">
        <p14:creationId xmlns="" xmlns:p14="http://schemas.microsoft.com/office/powerpoint/2010/main" val="2177783431"/>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HEOI</a:t>
            </a:r>
            <a:r>
              <a:rPr lang="en-US" altLang="zh-CN" dirty="0" smtClean="0"/>
              <a:t>2017</a:t>
            </a:r>
            <a:r>
              <a:rPr lang="zh-CN" altLang="en-US" dirty="0" smtClean="0"/>
              <a:t> 组合</a:t>
            </a:r>
            <a:r>
              <a:rPr lang="zh-CN" altLang="en-US" dirty="0"/>
              <a:t>数</a:t>
            </a:r>
            <a:r>
              <a:rPr lang="zh-CN" altLang="en-US" dirty="0" smtClean="0"/>
              <a:t>问题</a:t>
            </a:r>
            <a:endParaRPr lang="zh-CN" altLang="en-US" dirty="0"/>
          </a:p>
        </p:txBody>
      </p:sp>
      <p:sp>
        <p:nvSpPr>
          <p:cNvPr id="3" name="内容占位符 2"/>
          <p:cNvSpPr>
            <a:spLocks noGrp="1"/>
          </p:cNvSpPr>
          <p:nvPr>
            <p:ph idx="1"/>
          </p:nvPr>
        </p:nvSpPr>
        <p:spPr/>
        <p:txBody>
          <a:bodyPr/>
          <a:lstStyle/>
          <a:p>
            <a:r>
              <a:rPr lang="zh-CN" altLang="en-US" dirty="0" smtClean="0"/>
              <a:t>给定</a:t>
            </a:r>
            <a:r>
              <a:rPr lang="en-US" altLang="zh-CN" dirty="0" err="1" smtClean="0"/>
              <a:t>n,k,p,r</a:t>
            </a:r>
            <a:r>
              <a:rPr lang="zh-CN" altLang="en-US" dirty="0" smtClean="0"/>
              <a:t>，求</a:t>
            </a:r>
            <a:endParaRPr lang="en-US" altLang="zh-CN" dirty="0" smtClean="0"/>
          </a:p>
          <a:p>
            <a:endParaRPr lang="en-US" altLang="zh-CN" dirty="0"/>
          </a:p>
          <a:p>
            <a:pPr marL="0" indent="0">
              <a:buNone/>
            </a:pPr>
            <a:endParaRPr lang="en-US" altLang="zh-CN" dirty="0" smtClean="0"/>
          </a:p>
          <a:p>
            <a:r>
              <a:rPr lang="en-US" altLang="zh-CN" dirty="0" smtClean="0"/>
              <a:t>n&lt;=10^9</a:t>
            </a:r>
            <a:r>
              <a:rPr lang="zh-CN" altLang="en-US" dirty="0" smtClean="0"/>
              <a:t>，</a:t>
            </a:r>
            <a:r>
              <a:rPr lang="en-US" altLang="zh-CN" dirty="0" smtClean="0"/>
              <a:t>0&lt;=r&lt;k&lt;=50</a:t>
            </a:r>
            <a:r>
              <a:rPr lang="zh-CN" altLang="en-US" dirty="0" smtClean="0"/>
              <a:t>，</a:t>
            </a:r>
            <a:r>
              <a:rPr lang="en-US" altLang="zh-CN" dirty="0" smtClean="0"/>
              <a:t>p</a:t>
            </a:r>
            <a:r>
              <a:rPr lang="zh-CN" altLang="en-US" dirty="0" smtClean="0"/>
              <a:t>在</a:t>
            </a:r>
            <a:r>
              <a:rPr lang="en-US" altLang="zh-CN" dirty="0" err="1" smtClean="0"/>
              <a:t>int</a:t>
            </a:r>
            <a:r>
              <a:rPr lang="zh-CN" altLang="en-US" dirty="0" smtClean="0"/>
              <a:t>范围内</a:t>
            </a:r>
            <a:endParaRPr lang="en-US" altLang="zh-CN" dirty="0" smtClean="0"/>
          </a:p>
          <a:p>
            <a:endParaRPr lang="en-US" altLang="zh-CN" dirty="0"/>
          </a:p>
          <a:p>
            <a:r>
              <a:rPr lang="zh-CN" altLang="en-US" dirty="0" smtClean="0"/>
              <a:t>其实这题跟数论无关</a:t>
            </a:r>
            <a:r>
              <a:rPr lang="en-US" altLang="zh-CN" dirty="0" smtClean="0"/>
              <a:t>……</a:t>
            </a:r>
          </a:p>
        </p:txBody>
      </p:sp>
      <p:graphicFrame>
        <p:nvGraphicFramePr>
          <p:cNvPr id="4" name="对象 3"/>
          <p:cNvGraphicFramePr>
            <a:graphicFrameLocks noChangeAspect="1"/>
          </p:cNvGraphicFramePr>
          <p:nvPr>
            <p:extLst>
              <p:ext uri="{D42A27DB-BD31-4B8C-83A1-F6EECF244321}">
                <p14:modId xmlns="" xmlns:p14="http://schemas.microsoft.com/office/powerpoint/2010/main" val="720483132"/>
              </p:ext>
            </p:extLst>
          </p:nvPr>
        </p:nvGraphicFramePr>
        <p:xfrm>
          <a:off x="880534" y="1802197"/>
          <a:ext cx="2317044" cy="947882"/>
        </p:xfrm>
        <a:graphic>
          <a:graphicData uri="http://schemas.openxmlformats.org/presentationml/2006/ole">
            <p:oleObj spid="_x0000_s1334" name="Equation" r:id="rId3" imgW="1117440" imgH="457200" progId="">
              <p:embed/>
            </p:oleObj>
          </a:graphicData>
        </a:graphic>
      </p:graphicFrame>
    </p:spTree>
    <p:extLst>
      <p:ext uri="{BB962C8B-B14F-4D97-AF65-F5344CB8AC3E}">
        <p14:creationId xmlns="" xmlns:p14="http://schemas.microsoft.com/office/powerpoint/2010/main" val="3169312597"/>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HEOI</a:t>
            </a:r>
            <a:r>
              <a:rPr lang="en-US" altLang="zh-CN" dirty="0" smtClean="0"/>
              <a:t>2017</a:t>
            </a:r>
            <a:r>
              <a:rPr lang="zh-CN" altLang="en-US" dirty="0" smtClean="0"/>
              <a:t> 组合</a:t>
            </a:r>
            <a:r>
              <a:rPr lang="zh-CN" altLang="en-US" dirty="0"/>
              <a:t>数</a:t>
            </a:r>
            <a:r>
              <a:rPr lang="zh-CN" altLang="en-US" dirty="0" smtClean="0"/>
              <a:t>问题</a:t>
            </a:r>
            <a:endParaRPr lang="zh-CN" altLang="en-US" dirty="0"/>
          </a:p>
        </p:txBody>
      </p:sp>
      <p:sp>
        <p:nvSpPr>
          <p:cNvPr id="3" name="内容占位符 2"/>
          <p:cNvSpPr>
            <a:spLocks noGrp="1"/>
          </p:cNvSpPr>
          <p:nvPr>
            <p:ph idx="1"/>
          </p:nvPr>
        </p:nvSpPr>
        <p:spPr/>
        <p:txBody>
          <a:bodyPr/>
          <a:lstStyle/>
          <a:p>
            <a:r>
              <a:rPr lang="zh-CN" altLang="en-US" dirty="0" smtClean="0"/>
              <a:t>直接化简那个式子的话肯定会很麻烦，并且也很难得出什么好用的结论</a:t>
            </a:r>
            <a:endParaRPr lang="en-US" altLang="zh-CN" dirty="0" smtClean="0"/>
          </a:p>
          <a:p>
            <a:r>
              <a:rPr lang="zh-CN" altLang="en-US" dirty="0" smtClean="0"/>
              <a:t>因此直接从实际意义上考虑，答案其实就是从</a:t>
            </a:r>
            <a:r>
              <a:rPr lang="en-US" altLang="zh-CN" dirty="0" err="1" smtClean="0"/>
              <a:t>nk</a:t>
            </a:r>
            <a:r>
              <a:rPr lang="zh-CN" altLang="en-US" dirty="0" smtClean="0"/>
              <a:t>个物品里选出的物品个数</a:t>
            </a:r>
            <a:r>
              <a:rPr lang="en-US" altLang="zh-CN" dirty="0" smtClean="0"/>
              <a:t>mod k=r</a:t>
            </a:r>
            <a:r>
              <a:rPr lang="zh-CN" altLang="en-US" dirty="0" smtClean="0"/>
              <a:t>的方案数</a:t>
            </a:r>
            <a:endParaRPr lang="en-US" altLang="zh-CN" dirty="0" smtClean="0"/>
          </a:p>
          <a:p>
            <a:r>
              <a:rPr lang="zh-CN" altLang="en-US" dirty="0" smtClean="0"/>
              <a:t>定义</a:t>
            </a:r>
            <a:r>
              <a:rPr lang="en-US" altLang="zh-CN" dirty="0" smtClean="0"/>
              <a:t>f[</a:t>
            </a:r>
            <a:r>
              <a:rPr lang="en-US" altLang="zh-CN" dirty="0" err="1" smtClean="0"/>
              <a:t>i</a:t>
            </a:r>
            <a:r>
              <a:rPr lang="en-US" altLang="zh-CN" dirty="0" smtClean="0"/>
              <a:t>][j]</a:t>
            </a:r>
            <a:r>
              <a:rPr lang="zh-CN" altLang="en-US" dirty="0" smtClean="0"/>
              <a:t>表示在前</a:t>
            </a:r>
            <a:r>
              <a:rPr lang="en-US" altLang="zh-CN" dirty="0" err="1" smtClean="0"/>
              <a:t>i</a:t>
            </a:r>
            <a:r>
              <a:rPr lang="zh-CN" altLang="en-US" dirty="0" smtClean="0"/>
              <a:t>个物品中选出</a:t>
            </a:r>
            <a:r>
              <a:rPr lang="en-US" altLang="zh-CN" dirty="0" smtClean="0"/>
              <a:t>j(mod k)</a:t>
            </a:r>
            <a:r>
              <a:rPr lang="zh-CN" altLang="en-US" dirty="0" smtClean="0"/>
              <a:t>个物品的方案数，那么就有</a:t>
            </a:r>
            <a:r>
              <a:rPr lang="en-US" altLang="zh-CN" dirty="0" smtClean="0"/>
              <a:t>f[</a:t>
            </a:r>
            <a:r>
              <a:rPr lang="en-US" altLang="zh-CN" dirty="0" err="1" smtClean="0"/>
              <a:t>i</a:t>
            </a:r>
            <a:r>
              <a:rPr lang="en-US" altLang="zh-CN" dirty="0" smtClean="0"/>
              <a:t>][j]=f[i-1][j]+f[i-1][(j-1)%k]</a:t>
            </a:r>
          </a:p>
          <a:p>
            <a:r>
              <a:rPr lang="zh-CN" altLang="en-US" dirty="0" smtClean="0"/>
              <a:t>显然这个东西是可以用矩阵快速幂优化的，复杂度</a:t>
            </a:r>
            <a:r>
              <a:rPr lang="en-US" altLang="zh-CN" dirty="0" smtClean="0"/>
              <a:t>O(k^3logn)</a:t>
            </a:r>
          </a:p>
          <a:p>
            <a:endParaRPr lang="en-US" altLang="zh-CN" dirty="0"/>
          </a:p>
          <a:p>
            <a:r>
              <a:rPr lang="zh-CN" altLang="en-US" dirty="0" smtClean="0"/>
              <a:t>（没错，我们的省选题就是这么水）</a:t>
            </a:r>
            <a:endParaRPr lang="en-US" altLang="zh-CN" dirty="0" smtClean="0"/>
          </a:p>
        </p:txBody>
      </p:sp>
    </p:spTree>
    <p:extLst>
      <p:ext uri="{BB962C8B-B14F-4D97-AF65-F5344CB8AC3E}">
        <p14:creationId xmlns="" xmlns:p14="http://schemas.microsoft.com/office/powerpoint/2010/main" val="2218840381"/>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HEOI</a:t>
            </a:r>
            <a:r>
              <a:rPr lang="en-US" altLang="zh-CN" dirty="0" smtClean="0"/>
              <a:t>2017</a:t>
            </a:r>
            <a:r>
              <a:rPr lang="zh-CN" altLang="en-US" dirty="0" smtClean="0"/>
              <a:t> 组合</a:t>
            </a:r>
            <a:r>
              <a:rPr lang="zh-CN" altLang="en-US" dirty="0"/>
              <a:t>数</a:t>
            </a:r>
            <a:r>
              <a:rPr lang="zh-CN" altLang="en-US" dirty="0" smtClean="0"/>
              <a:t>问题</a:t>
            </a:r>
            <a:endParaRPr lang="zh-CN" altLang="en-US" dirty="0"/>
          </a:p>
        </p:txBody>
      </p:sp>
      <p:sp>
        <p:nvSpPr>
          <p:cNvPr id="3" name="内容占位符 2"/>
          <p:cNvSpPr>
            <a:spLocks noGrp="1"/>
          </p:cNvSpPr>
          <p:nvPr>
            <p:ph idx="1"/>
          </p:nvPr>
        </p:nvSpPr>
        <p:spPr/>
        <p:txBody>
          <a:bodyPr/>
          <a:lstStyle/>
          <a:p>
            <a:r>
              <a:rPr lang="zh-CN" altLang="en-US" dirty="0" smtClean="0"/>
              <a:t>当然还有更好的做法</a:t>
            </a:r>
            <a:endParaRPr lang="en-US" altLang="zh-CN" dirty="0" smtClean="0"/>
          </a:p>
          <a:p>
            <a:r>
              <a:rPr lang="zh-CN" altLang="en-US" dirty="0" smtClean="0"/>
              <a:t>显然这个</a:t>
            </a:r>
            <a:r>
              <a:rPr lang="en-US" altLang="zh-CN" dirty="0" smtClean="0"/>
              <a:t>DP</a:t>
            </a:r>
            <a:r>
              <a:rPr lang="zh-CN" altLang="en-US" dirty="0" smtClean="0"/>
              <a:t>是有结合律的</a:t>
            </a:r>
            <a:endParaRPr lang="en-US" altLang="zh-CN" dirty="0" smtClean="0"/>
          </a:p>
          <a:p>
            <a:pPr marL="0" indent="0">
              <a:buNone/>
            </a:pPr>
            <a:endParaRPr lang="en-US" altLang="zh-CN" dirty="0" smtClean="0"/>
          </a:p>
          <a:p>
            <a:r>
              <a:rPr lang="zh-CN" altLang="en-US" dirty="0" smtClean="0"/>
              <a:t>按照这个东西对</a:t>
            </a:r>
            <a:r>
              <a:rPr lang="en-US" altLang="zh-CN" dirty="0" smtClean="0"/>
              <a:t>DP</a:t>
            </a:r>
            <a:r>
              <a:rPr lang="zh-CN" altLang="en-US" dirty="0" smtClean="0"/>
              <a:t>数组做快速幂即可，复杂度</a:t>
            </a:r>
            <a:r>
              <a:rPr lang="en-US" altLang="zh-CN" dirty="0" smtClean="0"/>
              <a:t>O(k^2logn)</a:t>
            </a:r>
          </a:p>
          <a:p>
            <a:endParaRPr lang="en-US" altLang="zh-CN" dirty="0"/>
          </a:p>
          <a:p>
            <a:r>
              <a:rPr lang="zh-CN" altLang="en-US" dirty="0" smtClean="0"/>
              <a:t>还可以注意到这里的合并其实就是循环卷积，那么用</a:t>
            </a:r>
            <a:r>
              <a:rPr lang="en-US" altLang="zh-CN" dirty="0" smtClean="0"/>
              <a:t>FFT</a:t>
            </a:r>
            <a:r>
              <a:rPr lang="zh-CN" altLang="en-US" dirty="0" smtClean="0"/>
              <a:t>优化卷积就可以把复杂度降到</a:t>
            </a:r>
            <a:r>
              <a:rPr lang="en-US" altLang="zh-CN" dirty="0" smtClean="0"/>
              <a:t>O(</a:t>
            </a:r>
            <a:r>
              <a:rPr lang="en-US" altLang="zh-CN" dirty="0" err="1" smtClean="0"/>
              <a:t>klogklogn</a:t>
            </a:r>
            <a:r>
              <a:rPr lang="en-US" altLang="zh-CN" dirty="0" smtClean="0"/>
              <a:t>)</a:t>
            </a:r>
          </a:p>
        </p:txBody>
      </p:sp>
      <p:graphicFrame>
        <p:nvGraphicFramePr>
          <p:cNvPr id="4" name="对象 3"/>
          <p:cNvGraphicFramePr>
            <a:graphicFrameLocks noChangeAspect="1"/>
          </p:cNvGraphicFramePr>
          <p:nvPr>
            <p:extLst>
              <p:ext uri="{D42A27DB-BD31-4B8C-83A1-F6EECF244321}">
                <p14:modId xmlns="" xmlns:p14="http://schemas.microsoft.com/office/powerpoint/2010/main" val="1553003337"/>
              </p:ext>
            </p:extLst>
          </p:nvPr>
        </p:nvGraphicFramePr>
        <p:xfrm>
          <a:off x="835025" y="2160588"/>
          <a:ext cx="4392613" cy="639762"/>
        </p:xfrm>
        <a:graphic>
          <a:graphicData uri="http://schemas.openxmlformats.org/presentationml/2006/ole">
            <p:oleObj spid="_x0000_s2357" name="Equation" r:id="rId3" imgW="2438280" imgH="355320" progId="">
              <p:embed/>
            </p:oleObj>
          </a:graphicData>
        </a:graphic>
      </p:graphicFrame>
    </p:spTree>
    <p:extLst>
      <p:ext uri="{BB962C8B-B14F-4D97-AF65-F5344CB8AC3E}">
        <p14:creationId xmlns="" xmlns:p14="http://schemas.microsoft.com/office/powerpoint/2010/main" val="3621944018"/>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NOI2016 </a:t>
            </a:r>
            <a:r>
              <a:rPr lang="zh-CN" altLang="en-US" dirty="0" smtClean="0"/>
              <a:t>区间</a:t>
            </a:r>
            <a:endParaRPr lang="zh-CN" altLang="en-US" dirty="0"/>
          </a:p>
        </p:txBody>
      </p:sp>
      <p:sp>
        <p:nvSpPr>
          <p:cNvPr id="3" name="内容占位符 2"/>
          <p:cNvSpPr>
            <a:spLocks noGrp="1"/>
          </p:cNvSpPr>
          <p:nvPr>
            <p:ph idx="1"/>
          </p:nvPr>
        </p:nvSpPr>
        <p:spPr/>
        <p:txBody>
          <a:bodyPr/>
          <a:lstStyle/>
          <a:p>
            <a:r>
              <a:rPr lang="zh-CN" altLang="en-US" dirty="0" smtClean="0"/>
              <a:t>给定数轴上的</a:t>
            </a:r>
            <a:r>
              <a:rPr lang="en-US" altLang="zh-CN" dirty="0" smtClean="0"/>
              <a:t>n</a:t>
            </a:r>
            <a:r>
              <a:rPr lang="zh-CN" altLang="en-US" dirty="0" smtClean="0"/>
              <a:t>个闭区间，要从中选出</a:t>
            </a:r>
            <a:r>
              <a:rPr lang="en-US" altLang="zh-CN" dirty="0" smtClean="0"/>
              <a:t>m</a:t>
            </a:r>
            <a:r>
              <a:rPr lang="zh-CN" altLang="en-US" dirty="0" smtClean="0"/>
              <a:t>个区间，使得至少有一个点同时被</a:t>
            </a:r>
            <a:r>
              <a:rPr lang="en-US" altLang="zh-CN" dirty="0" smtClean="0"/>
              <a:t>m</a:t>
            </a:r>
            <a:r>
              <a:rPr lang="zh-CN" altLang="en-US" dirty="0" smtClean="0"/>
              <a:t>个区间所包含，最小化选出的区间中最长的和最短的长度之差</a:t>
            </a:r>
            <a:endParaRPr lang="en-US" altLang="zh-CN" dirty="0" smtClean="0"/>
          </a:p>
          <a:p>
            <a:r>
              <a:rPr lang="en-US" altLang="zh-CN" dirty="0" smtClean="0"/>
              <a:t>n&lt;=500000</a:t>
            </a:r>
          </a:p>
          <a:p>
            <a:endParaRPr lang="en-US" altLang="zh-CN" dirty="0"/>
          </a:p>
          <a:p>
            <a:r>
              <a:rPr lang="zh-CN" altLang="en-US" dirty="0" smtClean="0"/>
              <a:t>先把所有区间按长度排序，显然最优解一定是选连续的</a:t>
            </a:r>
            <a:r>
              <a:rPr lang="en-US" altLang="zh-CN" dirty="0" smtClean="0"/>
              <a:t>m</a:t>
            </a:r>
            <a:r>
              <a:rPr lang="zh-CN" altLang="en-US" dirty="0" smtClean="0"/>
              <a:t>个区间</a:t>
            </a:r>
            <a:endParaRPr lang="en-US" altLang="zh-CN" dirty="0" smtClean="0"/>
          </a:p>
          <a:p>
            <a:r>
              <a:rPr lang="zh-CN" altLang="en-US" dirty="0" smtClean="0"/>
              <a:t>从头到尾扫一遍，用区间加减全局最值的线段树维护一下是否有被</a:t>
            </a:r>
            <a:r>
              <a:rPr lang="en-US" altLang="zh-CN" dirty="0" smtClean="0"/>
              <a:t>m</a:t>
            </a:r>
            <a:r>
              <a:rPr lang="zh-CN" altLang="en-US" dirty="0" smtClean="0"/>
              <a:t>个区间同时包含的点即可</a:t>
            </a:r>
            <a:endParaRPr lang="en-US" altLang="zh-CN" dirty="0"/>
          </a:p>
          <a:p>
            <a:r>
              <a:rPr lang="en-US" altLang="zh-CN" dirty="0" smtClean="0"/>
              <a:t>O(</a:t>
            </a:r>
            <a:r>
              <a:rPr lang="en-US" altLang="zh-CN" dirty="0" err="1" smtClean="0"/>
              <a:t>nlogn</a:t>
            </a:r>
            <a:r>
              <a:rPr lang="en-US" altLang="zh-CN" dirty="0" smtClean="0"/>
              <a:t>)</a:t>
            </a:r>
          </a:p>
        </p:txBody>
      </p:sp>
    </p:spTree>
    <p:extLst>
      <p:ext uri="{BB962C8B-B14F-4D97-AF65-F5344CB8AC3E}">
        <p14:creationId xmlns="" xmlns:p14="http://schemas.microsoft.com/office/powerpoint/2010/main" val="513220767"/>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ZJOI2004 </a:t>
            </a:r>
            <a:r>
              <a:rPr lang="zh-CN" altLang="en-US" dirty="0" smtClean="0"/>
              <a:t>树</a:t>
            </a:r>
            <a:r>
              <a:rPr lang="zh-CN" altLang="en-US" dirty="0"/>
              <a:t>的</a:t>
            </a:r>
            <a:r>
              <a:rPr lang="zh-CN" altLang="en-US" dirty="0" smtClean="0"/>
              <a:t>果实</a:t>
            </a:r>
            <a:endParaRPr lang="zh-CN" altLang="en-US" dirty="0"/>
          </a:p>
        </p:txBody>
      </p:sp>
      <p:sp>
        <p:nvSpPr>
          <p:cNvPr id="3" name="内容占位符 2"/>
          <p:cNvSpPr>
            <a:spLocks noGrp="1"/>
          </p:cNvSpPr>
          <p:nvPr>
            <p:ph idx="1"/>
          </p:nvPr>
        </p:nvSpPr>
        <p:spPr/>
        <p:txBody>
          <a:bodyPr/>
          <a:lstStyle/>
          <a:p>
            <a:r>
              <a:rPr lang="zh-CN" altLang="en-US" dirty="0" smtClean="0"/>
              <a:t>给定一棵有根树，每个点有权值，对于每个点分别求出它的子树中、除它的子树之外的所有点、从根到它的路径中权值比它大的点数</a:t>
            </a:r>
            <a:endParaRPr lang="en-US" altLang="zh-CN" dirty="0" smtClean="0"/>
          </a:p>
          <a:p>
            <a:r>
              <a:rPr lang="en-US" altLang="zh-CN" dirty="0" smtClean="0"/>
              <a:t>n&lt;=10^5</a:t>
            </a:r>
          </a:p>
          <a:p>
            <a:endParaRPr lang="en-US" altLang="zh-CN" dirty="0" smtClean="0"/>
          </a:p>
          <a:p>
            <a:r>
              <a:rPr lang="en-US" altLang="zh-CN" dirty="0" err="1" smtClean="0"/>
              <a:t>dfs</a:t>
            </a:r>
            <a:r>
              <a:rPr lang="zh-CN" altLang="en-US" dirty="0" smtClean="0"/>
              <a:t>的同时维护两个树状数组，第一个维护从根到当前节点的所有点权，第二个维护</a:t>
            </a:r>
            <a:r>
              <a:rPr lang="en-US" altLang="zh-CN" dirty="0" err="1" smtClean="0"/>
              <a:t>dfs</a:t>
            </a:r>
            <a:r>
              <a:rPr lang="zh-CN" altLang="en-US" dirty="0" smtClean="0"/>
              <a:t>过的所有点的点权</a:t>
            </a:r>
            <a:endParaRPr lang="en-US" altLang="zh-CN" dirty="0" smtClean="0"/>
          </a:p>
          <a:p>
            <a:r>
              <a:rPr lang="zh-CN" altLang="en-US" dirty="0" smtClean="0"/>
              <a:t>由</a:t>
            </a:r>
            <a:r>
              <a:rPr lang="en-US" altLang="zh-CN" dirty="0" err="1" smtClean="0"/>
              <a:t>dfs</a:t>
            </a:r>
            <a:r>
              <a:rPr lang="zh-CN" altLang="en-US" dirty="0" smtClean="0"/>
              <a:t>序的性质可知子树中的答案等于</a:t>
            </a:r>
            <a:r>
              <a:rPr lang="en-US" altLang="zh-CN" dirty="0" err="1" smtClean="0"/>
              <a:t>dfs</a:t>
            </a:r>
            <a:r>
              <a:rPr lang="zh-CN" altLang="en-US" dirty="0" smtClean="0"/>
              <a:t>完子树之后的答案减掉</a:t>
            </a:r>
            <a:r>
              <a:rPr lang="en-US" altLang="zh-CN" dirty="0" err="1" smtClean="0"/>
              <a:t>dfs</a:t>
            </a:r>
            <a:r>
              <a:rPr lang="zh-CN" altLang="en-US" dirty="0" smtClean="0"/>
              <a:t>它之前的答案</a:t>
            </a:r>
            <a:endParaRPr lang="en-US" altLang="zh-CN" dirty="0" smtClean="0"/>
          </a:p>
          <a:p>
            <a:r>
              <a:rPr lang="en-US" altLang="zh-CN" dirty="0" smtClean="0"/>
              <a:t>O(</a:t>
            </a:r>
            <a:r>
              <a:rPr lang="en-US" altLang="zh-CN" dirty="0" err="1" smtClean="0"/>
              <a:t>nlogn</a:t>
            </a:r>
            <a:r>
              <a:rPr lang="en-US" altLang="zh-CN" dirty="0" smtClean="0"/>
              <a:t>)</a:t>
            </a:r>
          </a:p>
        </p:txBody>
      </p:sp>
    </p:spTree>
    <p:extLst>
      <p:ext uri="{BB962C8B-B14F-4D97-AF65-F5344CB8AC3E}">
        <p14:creationId xmlns="" xmlns:p14="http://schemas.microsoft.com/office/powerpoint/2010/main" val="1112085256"/>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HNOI2016</a:t>
            </a:r>
            <a:r>
              <a:rPr lang="zh-CN" altLang="en-US" dirty="0" smtClean="0"/>
              <a:t> 序列</a:t>
            </a:r>
            <a:endParaRPr lang="zh-CN" altLang="en-US" dirty="0"/>
          </a:p>
        </p:txBody>
      </p:sp>
      <p:sp>
        <p:nvSpPr>
          <p:cNvPr id="3" name="内容占位符 2"/>
          <p:cNvSpPr>
            <a:spLocks noGrp="1"/>
          </p:cNvSpPr>
          <p:nvPr>
            <p:ph idx="1"/>
          </p:nvPr>
        </p:nvSpPr>
        <p:spPr/>
        <p:txBody>
          <a:bodyPr/>
          <a:lstStyle/>
          <a:p>
            <a:r>
              <a:rPr lang="zh-CN" altLang="en-US" dirty="0"/>
              <a:t>给定一个长</a:t>
            </a:r>
            <a:r>
              <a:rPr lang="zh-CN" altLang="en-US" dirty="0" smtClean="0"/>
              <a:t>为</a:t>
            </a:r>
            <a:r>
              <a:rPr lang="en-US" altLang="zh-CN" dirty="0" smtClean="0"/>
              <a:t>n</a:t>
            </a:r>
            <a:r>
              <a:rPr lang="zh-CN" altLang="en-US" dirty="0" smtClean="0"/>
              <a:t>的</a:t>
            </a:r>
            <a:r>
              <a:rPr lang="zh-CN" altLang="en-US" dirty="0"/>
              <a:t>序列，</a:t>
            </a:r>
            <a:r>
              <a:rPr lang="zh-CN" altLang="en-US" dirty="0" smtClean="0"/>
              <a:t>有</a:t>
            </a:r>
            <a:r>
              <a:rPr lang="en-US" altLang="zh-CN" dirty="0" smtClean="0"/>
              <a:t>m</a:t>
            </a:r>
            <a:r>
              <a:rPr lang="zh-CN" altLang="en-US" dirty="0" smtClean="0"/>
              <a:t>次</a:t>
            </a:r>
            <a:r>
              <a:rPr lang="zh-CN" altLang="en-US" dirty="0"/>
              <a:t>询问，每次询问</a:t>
            </a:r>
            <a:r>
              <a:rPr lang="zh-CN" altLang="en-US" dirty="0" smtClean="0"/>
              <a:t>区间</a:t>
            </a:r>
            <a:r>
              <a:rPr lang="en-US" altLang="zh-CN" dirty="0" smtClean="0"/>
              <a:t>[</a:t>
            </a:r>
            <a:r>
              <a:rPr lang="en-US" altLang="zh-CN" dirty="0" err="1" smtClean="0"/>
              <a:t>l,r</a:t>
            </a:r>
            <a:r>
              <a:rPr lang="en-US" altLang="zh-CN" dirty="0" smtClean="0"/>
              <a:t>]</a:t>
            </a:r>
            <a:r>
              <a:rPr lang="zh-CN" altLang="en-US" dirty="0" smtClean="0"/>
              <a:t>的</a:t>
            </a:r>
            <a:r>
              <a:rPr lang="zh-CN" altLang="en-US" dirty="0"/>
              <a:t>所有子区间的区间最小值之和</a:t>
            </a:r>
            <a:r>
              <a:rPr lang="zh-CN" altLang="en-US" dirty="0" smtClean="0"/>
              <a:t>。</a:t>
            </a:r>
            <a:endParaRPr lang="en-US" altLang="zh-CN" dirty="0" smtClean="0"/>
          </a:p>
          <a:p>
            <a:r>
              <a:rPr lang="en-US" altLang="zh-CN" dirty="0" err="1" smtClean="0"/>
              <a:t>n,m</a:t>
            </a:r>
            <a:r>
              <a:rPr lang="en-US" altLang="zh-CN" dirty="0" smtClean="0"/>
              <a:t>&lt;=10^5</a:t>
            </a:r>
            <a:r>
              <a:rPr lang="zh-CN" altLang="en-US" dirty="0" smtClean="0"/>
              <a:t>，</a:t>
            </a:r>
            <a:r>
              <a:rPr lang="en-US" altLang="zh-CN" dirty="0" smtClean="0"/>
              <a:t>|</a:t>
            </a:r>
            <a:r>
              <a:rPr lang="en-US" altLang="zh-CN" dirty="0" err="1" smtClean="0"/>
              <a:t>ai</a:t>
            </a:r>
            <a:r>
              <a:rPr lang="en-US" altLang="zh-CN" dirty="0" smtClean="0"/>
              <a:t>|&lt;=10^9</a:t>
            </a:r>
          </a:p>
          <a:p>
            <a:endParaRPr lang="en-US" altLang="zh-CN" dirty="0"/>
          </a:p>
          <a:p>
            <a:r>
              <a:rPr lang="zh-CN" altLang="en-US" dirty="0" smtClean="0"/>
              <a:t>有点懒，不想重新写题解了，凑合着看吧</a:t>
            </a:r>
            <a:r>
              <a:rPr lang="en-US" altLang="zh-CN" dirty="0" smtClean="0"/>
              <a:t>……</a:t>
            </a:r>
            <a:endParaRPr lang="zh-CN" altLang="en-US" dirty="0"/>
          </a:p>
        </p:txBody>
      </p:sp>
    </p:spTree>
    <p:extLst>
      <p:ext uri="{BB962C8B-B14F-4D97-AF65-F5344CB8AC3E}">
        <p14:creationId xmlns="" xmlns:p14="http://schemas.microsoft.com/office/powerpoint/2010/main" val="1600342709"/>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444147" y="534811"/>
            <a:ext cx="8210550" cy="4457700"/>
          </a:xfrm>
          <a:prstGeom prst="rect">
            <a:avLst/>
          </a:prstGeom>
        </p:spPr>
      </p:pic>
    </p:spTree>
    <p:extLst>
      <p:ext uri="{BB962C8B-B14F-4D97-AF65-F5344CB8AC3E}">
        <p14:creationId xmlns="" xmlns:p14="http://schemas.microsoft.com/office/powerpoint/2010/main" val="2717259827"/>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COGS2582 </a:t>
            </a:r>
            <a:r>
              <a:rPr lang="zh-CN" altLang="en-US" dirty="0" smtClean="0"/>
              <a:t>动物</a:t>
            </a:r>
            <a:r>
              <a:rPr lang="zh-CN" altLang="en-US" dirty="0"/>
              <a:t>城的鸳鸯蛋</a:t>
            </a:r>
            <a:r>
              <a:rPr lang="zh-CN" altLang="en-US" dirty="0" smtClean="0"/>
              <a:t>传说</a:t>
            </a:r>
            <a:endParaRPr lang="zh-CN" altLang="en-US" dirty="0"/>
          </a:p>
        </p:txBody>
      </p:sp>
      <p:sp>
        <p:nvSpPr>
          <p:cNvPr id="3" name="内容占位符 2"/>
          <p:cNvSpPr>
            <a:spLocks noGrp="1"/>
          </p:cNvSpPr>
          <p:nvPr>
            <p:ph idx="1"/>
          </p:nvPr>
        </p:nvSpPr>
        <p:spPr/>
        <p:txBody>
          <a:bodyPr/>
          <a:lstStyle/>
          <a:p>
            <a:r>
              <a:rPr lang="zh-CN" altLang="en-US" dirty="0" smtClean="0"/>
              <a:t>给定一些数，多次询问某个数能否由给出的数拼出</a:t>
            </a:r>
            <a:endParaRPr lang="en-US" altLang="zh-CN" dirty="0" smtClean="0"/>
          </a:p>
          <a:p>
            <a:r>
              <a:rPr lang="zh-CN" altLang="en-US" dirty="0" smtClean="0"/>
              <a:t>所有数的大小均</a:t>
            </a:r>
            <a:r>
              <a:rPr lang="en-US" altLang="zh-CN" dirty="0" smtClean="0"/>
              <a:t>&lt;=100000</a:t>
            </a:r>
            <a:r>
              <a:rPr lang="zh-CN" altLang="en-US" dirty="0" smtClean="0"/>
              <a:t>，限时</a:t>
            </a:r>
            <a:r>
              <a:rPr lang="en-US" altLang="zh-CN" dirty="0" smtClean="0"/>
              <a:t>3s</a:t>
            </a:r>
          </a:p>
          <a:p>
            <a:endParaRPr lang="en-US" altLang="zh-CN" dirty="0"/>
          </a:p>
          <a:p>
            <a:endParaRPr lang="en-US" altLang="zh-CN" dirty="0" smtClean="0"/>
          </a:p>
          <a:p>
            <a:r>
              <a:rPr lang="zh-CN" altLang="en-US" dirty="0" smtClean="0"/>
              <a:t>定义</a:t>
            </a:r>
            <a:r>
              <a:rPr lang="en-US" altLang="zh-CN" dirty="0" smtClean="0"/>
              <a:t>f[</a:t>
            </a:r>
            <a:r>
              <a:rPr lang="en-US" altLang="zh-CN" dirty="0" err="1" smtClean="0"/>
              <a:t>i</a:t>
            </a:r>
            <a:r>
              <a:rPr lang="en-US" altLang="zh-CN" dirty="0" smtClean="0"/>
              <a:t>][j]</a:t>
            </a:r>
            <a:r>
              <a:rPr lang="zh-CN" altLang="en-US" dirty="0" smtClean="0"/>
              <a:t>表示前</a:t>
            </a:r>
            <a:r>
              <a:rPr lang="en-US" altLang="zh-CN" dirty="0" err="1" smtClean="0"/>
              <a:t>i</a:t>
            </a:r>
            <a:r>
              <a:rPr lang="zh-CN" altLang="en-US" dirty="0" smtClean="0"/>
              <a:t>个数能否拼出</a:t>
            </a:r>
            <a:r>
              <a:rPr lang="en-US" altLang="zh-CN" dirty="0" smtClean="0"/>
              <a:t>j</a:t>
            </a:r>
          </a:p>
          <a:p>
            <a:r>
              <a:rPr lang="en-US" altLang="zh-CN" dirty="0" smtClean="0"/>
              <a:t>f[</a:t>
            </a:r>
            <a:r>
              <a:rPr lang="en-US" altLang="zh-CN" dirty="0" err="1" smtClean="0"/>
              <a:t>i</a:t>
            </a:r>
            <a:r>
              <a:rPr lang="en-US" altLang="zh-CN" dirty="0" smtClean="0"/>
              <a:t>][j]=f[i-1][j] or f[i-1][j-a[</a:t>
            </a:r>
            <a:r>
              <a:rPr lang="en-US" altLang="zh-CN" dirty="0" err="1" smtClean="0"/>
              <a:t>i</a:t>
            </a:r>
            <a:r>
              <a:rPr lang="en-US" altLang="zh-CN" dirty="0" smtClean="0"/>
              <a:t>]]</a:t>
            </a:r>
          </a:p>
          <a:p>
            <a:endParaRPr lang="en-US" altLang="zh-CN" dirty="0"/>
          </a:p>
          <a:p>
            <a:r>
              <a:rPr lang="zh-CN" altLang="en-US" dirty="0" smtClean="0"/>
              <a:t>压</a:t>
            </a:r>
            <a:r>
              <a:rPr lang="zh-CN" altLang="en-US" dirty="0"/>
              <a:t>位大法</a:t>
            </a:r>
            <a:r>
              <a:rPr lang="zh-CN" altLang="en-US" dirty="0" smtClean="0"/>
              <a:t>好，</a:t>
            </a:r>
            <a:r>
              <a:rPr lang="en-US" altLang="zh-CN" dirty="0" smtClean="0"/>
              <a:t>O(n^2/32)</a:t>
            </a:r>
            <a:endParaRPr lang="zh-CN" altLang="en-US" dirty="0"/>
          </a:p>
        </p:txBody>
      </p:sp>
    </p:spTree>
    <p:extLst>
      <p:ext uri="{BB962C8B-B14F-4D97-AF65-F5344CB8AC3E}">
        <p14:creationId xmlns="" xmlns:p14="http://schemas.microsoft.com/office/powerpoint/2010/main" val="2360598199"/>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COGS2089 </a:t>
            </a:r>
            <a:r>
              <a:rPr lang="zh-CN" altLang="en-US" dirty="0"/>
              <a:t>平凡的</a:t>
            </a:r>
            <a:r>
              <a:rPr lang="zh-CN" altLang="en-US" dirty="0" smtClean="0"/>
              <a:t>测试数据</a:t>
            </a:r>
            <a:endParaRPr lang="zh-CN" altLang="en-US" dirty="0"/>
          </a:p>
        </p:txBody>
      </p:sp>
      <p:sp>
        <p:nvSpPr>
          <p:cNvPr id="3" name="内容占位符 2"/>
          <p:cNvSpPr>
            <a:spLocks noGrp="1"/>
          </p:cNvSpPr>
          <p:nvPr>
            <p:ph idx="1"/>
          </p:nvPr>
        </p:nvSpPr>
        <p:spPr/>
        <p:txBody>
          <a:bodyPr/>
          <a:lstStyle/>
          <a:p>
            <a:r>
              <a:rPr lang="zh-CN" altLang="en-US" dirty="0" smtClean="0"/>
              <a:t>给定</a:t>
            </a:r>
            <a:r>
              <a:rPr lang="en-US" altLang="zh-CN" dirty="0" smtClean="0"/>
              <a:t>n</a:t>
            </a:r>
            <a:r>
              <a:rPr lang="zh-CN" altLang="en-US" dirty="0" smtClean="0"/>
              <a:t>个</a:t>
            </a:r>
            <a:r>
              <a:rPr lang="zh-CN" altLang="en-US" dirty="0" smtClean="0"/>
              <a:t>点，</a:t>
            </a:r>
            <a:r>
              <a:rPr lang="zh-CN" altLang="en-US" dirty="0" smtClean="0"/>
              <a:t>每个点有一个权值，有</a:t>
            </a:r>
            <a:r>
              <a:rPr lang="en-US" altLang="zh-CN" dirty="0" smtClean="0"/>
              <a:t>m</a:t>
            </a:r>
            <a:r>
              <a:rPr lang="zh-CN" altLang="en-US" dirty="0" smtClean="0"/>
              <a:t>个操作，操作可以是把某个点（保证没有父亲）以及它的子树挂到另一个点下面，或者询问某个点到所在树的根节点的所有点的权值异或和</a:t>
            </a:r>
            <a:endParaRPr lang="en-US" altLang="zh-CN" dirty="0" smtClean="0"/>
          </a:p>
          <a:p>
            <a:r>
              <a:rPr lang="en-US" altLang="zh-CN" dirty="0" smtClean="0"/>
              <a:t>n&lt;=300000</a:t>
            </a:r>
            <a:r>
              <a:rPr lang="zh-CN" altLang="en-US" dirty="0" smtClean="0"/>
              <a:t>，</a:t>
            </a:r>
            <a:r>
              <a:rPr lang="en-US" altLang="zh-CN" dirty="0" smtClean="0"/>
              <a:t>m&lt;=500000</a:t>
            </a:r>
          </a:p>
          <a:p>
            <a:endParaRPr lang="en-US" altLang="zh-CN" dirty="0"/>
          </a:p>
          <a:p>
            <a:r>
              <a:rPr lang="zh-CN" altLang="en-US" dirty="0"/>
              <a:t>注意</a:t>
            </a:r>
            <a:r>
              <a:rPr lang="zh-CN" altLang="en-US" dirty="0" smtClean="0"/>
              <a:t>到询问都是询问到根的点权异或和，那么用一个带权并查集维护一下每个点到当前根的路径即可</a:t>
            </a:r>
            <a:endParaRPr lang="en-US" altLang="zh-CN" dirty="0" smtClean="0"/>
          </a:p>
          <a:p>
            <a:r>
              <a:rPr lang="zh-CN" altLang="en-US" dirty="0" smtClean="0"/>
              <a:t>记得在合并和路径压缩的时候维护一下附加信息</a:t>
            </a:r>
            <a:endParaRPr lang="zh-CN" altLang="en-US" dirty="0"/>
          </a:p>
        </p:txBody>
      </p:sp>
    </p:spTree>
    <p:extLst>
      <p:ext uri="{BB962C8B-B14F-4D97-AF65-F5344CB8AC3E}">
        <p14:creationId xmlns="" xmlns:p14="http://schemas.microsoft.com/office/powerpoint/2010/main" val="280673580"/>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smtClean="0"/>
              <a:t>（感觉前面的题都有点太水了</a:t>
            </a:r>
            <a:r>
              <a:rPr lang="en-US" altLang="zh-CN" dirty="0" smtClean="0"/>
              <a:t>……</a:t>
            </a:r>
            <a:r>
              <a:rPr lang="zh-CN" altLang="en-US" dirty="0" smtClean="0"/>
              <a:t>来点有意思的</a:t>
            </a:r>
            <a:endParaRPr lang="zh-CN" altLang="en-US" dirty="0"/>
          </a:p>
        </p:txBody>
      </p:sp>
    </p:spTree>
    <p:extLst>
      <p:ext uri="{BB962C8B-B14F-4D97-AF65-F5344CB8AC3E}">
        <p14:creationId xmlns="" xmlns:p14="http://schemas.microsoft.com/office/powerpoint/2010/main" val="4031417263"/>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COGS</a:t>
            </a:r>
            <a:r>
              <a:rPr lang="en-US" altLang="zh-TW" dirty="0" smtClean="0"/>
              <a:t>1000 </a:t>
            </a:r>
            <a:r>
              <a:rPr lang="zh-TW" altLang="en-US" dirty="0" smtClean="0"/>
              <a:t>伊</a:t>
            </a:r>
            <a:r>
              <a:rPr lang="zh-TW" altLang="en-US" dirty="0"/>
              <a:t>吹萃</a:t>
            </a:r>
            <a:r>
              <a:rPr lang="zh-TW" altLang="en-US" dirty="0" smtClean="0"/>
              <a:t>香</a:t>
            </a:r>
            <a:endParaRPr lang="zh-CN" altLang="en-US" dirty="0"/>
          </a:p>
        </p:txBody>
      </p:sp>
      <p:sp>
        <p:nvSpPr>
          <p:cNvPr id="3" name="内容占位符 2"/>
          <p:cNvSpPr>
            <a:spLocks noGrp="1"/>
          </p:cNvSpPr>
          <p:nvPr>
            <p:ph idx="1"/>
          </p:nvPr>
        </p:nvSpPr>
        <p:spPr/>
        <p:txBody>
          <a:bodyPr/>
          <a:lstStyle/>
          <a:p>
            <a:r>
              <a:rPr lang="zh-CN" altLang="en-US" dirty="0" smtClean="0"/>
              <a:t>（题面有点长，看</a:t>
            </a:r>
            <a:r>
              <a:rPr lang="zh-CN" altLang="en-US" dirty="0" smtClean="0">
                <a:hlinkClick r:id="rId2"/>
              </a:rPr>
              <a:t>链接</a:t>
            </a:r>
            <a:r>
              <a:rPr lang="zh-CN" altLang="en-US" dirty="0" smtClean="0"/>
              <a:t>好了）</a:t>
            </a:r>
            <a:endParaRPr lang="en-US" altLang="zh-CN" dirty="0" smtClean="0"/>
          </a:p>
          <a:p>
            <a:endParaRPr lang="en-US" altLang="zh-CN" dirty="0"/>
          </a:p>
          <a:p>
            <a:r>
              <a:rPr lang="zh-CN" altLang="en-US" dirty="0" smtClean="0"/>
              <a:t>不难发现每条边的边权只与当前时间的奇偶性有关，因此最短路时再记下一维状态表示当前时间的奇偶性即可</a:t>
            </a:r>
            <a:endParaRPr lang="en-US" altLang="zh-CN" dirty="0" smtClean="0"/>
          </a:p>
          <a:p>
            <a:r>
              <a:rPr lang="zh-CN" altLang="en-US" dirty="0" smtClean="0"/>
              <a:t>也就是所谓的二维最短路</a:t>
            </a:r>
            <a:endParaRPr lang="zh-CN" altLang="en-US" dirty="0"/>
          </a:p>
        </p:txBody>
      </p:sp>
    </p:spTree>
    <p:extLst>
      <p:ext uri="{BB962C8B-B14F-4D97-AF65-F5344CB8AC3E}">
        <p14:creationId xmlns="" xmlns:p14="http://schemas.microsoft.com/office/powerpoint/2010/main" val="3395152797"/>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NOI2014 </a:t>
            </a:r>
            <a:r>
              <a:rPr lang="zh-CN" altLang="en-US" dirty="0" smtClean="0"/>
              <a:t>起床</a:t>
            </a:r>
            <a:r>
              <a:rPr lang="zh-CN" altLang="en-US" dirty="0"/>
              <a:t>困难</a:t>
            </a:r>
            <a:r>
              <a:rPr lang="zh-CN" altLang="en-US" dirty="0" smtClean="0"/>
              <a:t>综合症</a:t>
            </a:r>
            <a:endParaRPr lang="zh-CN" altLang="en-US" dirty="0"/>
          </a:p>
        </p:txBody>
      </p:sp>
      <p:sp>
        <p:nvSpPr>
          <p:cNvPr id="3" name="内容占位符 2"/>
          <p:cNvSpPr>
            <a:spLocks noGrp="1"/>
          </p:cNvSpPr>
          <p:nvPr>
            <p:ph idx="1"/>
          </p:nvPr>
        </p:nvSpPr>
        <p:spPr>
          <a:xfrm>
            <a:off x="628650" y="1521354"/>
            <a:ext cx="7886700" cy="3727979"/>
          </a:xfrm>
        </p:spPr>
        <p:txBody>
          <a:bodyPr>
            <a:normAutofit/>
          </a:bodyPr>
          <a:lstStyle/>
          <a:p>
            <a:r>
              <a:rPr lang="zh-CN" altLang="en-US" dirty="0" smtClean="0"/>
              <a:t>选一个大小不超过</a:t>
            </a:r>
            <a:r>
              <a:rPr lang="en-US" altLang="zh-CN" dirty="0" smtClean="0"/>
              <a:t>m</a:t>
            </a:r>
            <a:r>
              <a:rPr lang="zh-CN" altLang="en-US" dirty="0" smtClean="0"/>
              <a:t>的数，使得这个数通过</a:t>
            </a:r>
            <a:r>
              <a:rPr lang="en-US" altLang="zh-CN" dirty="0" smtClean="0"/>
              <a:t>n</a:t>
            </a:r>
            <a:r>
              <a:rPr lang="zh-CN" altLang="en-US" dirty="0" smtClean="0"/>
              <a:t>个操作之后得到的数最大</a:t>
            </a:r>
            <a:endParaRPr lang="en-US" altLang="zh-CN" dirty="0" smtClean="0"/>
          </a:p>
          <a:p>
            <a:r>
              <a:rPr lang="zh-CN" altLang="en-US" dirty="0" smtClean="0"/>
              <a:t>所有操作都是把这个数按位与</a:t>
            </a:r>
            <a:r>
              <a:rPr lang="en-US" altLang="zh-CN" dirty="0" smtClean="0"/>
              <a:t>/</a:t>
            </a:r>
            <a:r>
              <a:rPr lang="zh-CN" altLang="en-US" dirty="0" smtClean="0"/>
              <a:t>或</a:t>
            </a:r>
            <a:r>
              <a:rPr lang="en-US" altLang="zh-CN" dirty="0" smtClean="0"/>
              <a:t>/</a:t>
            </a:r>
            <a:r>
              <a:rPr lang="zh-CN" altLang="en-US" dirty="0" smtClean="0"/>
              <a:t>异或上另一个数</a:t>
            </a:r>
            <a:endParaRPr lang="en-US" altLang="zh-CN" dirty="0" smtClean="0"/>
          </a:p>
          <a:p>
            <a:r>
              <a:rPr lang="en-US" altLang="zh-CN" dirty="0" smtClean="0"/>
              <a:t>n&lt;=10^5</a:t>
            </a:r>
            <a:r>
              <a:rPr lang="zh-CN" altLang="en-US" dirty="0" smtClean="0"/>
              <a:t>，</a:t>
            </a:r>
            <a:r>
              <a:rPr lang="en-US" altLang="zh-CN" dirty="0" smtClean="0"/>
              <a:t>m&lt;=10^9</a:t>
            </a:r>
          </a:p>
          <a:p>
            <a:endParaRPr lang="en-US" altLang="zh-CN" dirty="0"/>
          </a:p>
          <a:p>
            <a:r>
              <a:rPr lang="zh-CN" altLang="en-US" dirty="0"/>
              <a:t>按</a:t>
            </a:r>
            <a:r>
              <a:rPr lang="zh-CN" altLang="en-US" dirty="0" smtClean="0"/>
              <a:t>位贪心</a:t>
            </a:r>
            <a:endParaRPr lang="en-US" altLang="zh-CN" dirty="0" smtClean="0"/>
          </a:p>
          <a:p>
            <a:r>
              <a:rPr lang="zh-CN" altLang="en-US" dirty="0" smtClean="0"/>
              <a:t>从高位到低位依次考虑答案的当前位能否为</a:t>
            </a:r>
            <a:r>
              <a:rPr lang="en-US" altLang="zh-CN" dirty="0" smtClean="0"/>
              <a:t>1</a:t>
            </a:r>
            <a:r>
              <a:rPr lang="zh-CN" altLang="en-US" dirty="0" smtClean="0"/>
              <a:t>，枚举</a:t>
            </a:r>
            <a:r>
              <a:rPr lang="en-US" altLang="zh-CN" dirty="0" smtClean="0"/>
              <a:t>0/1</a:t>
            </a:r>
            <a:r>
              <a:rPr lang="zh-CN" altLang="en-US" dirty="0" smtClean="0"/>
              <a:t>并分别模拟得到结果即可</a:t>
            </a:r>
            <a:endParaRPr lang="en-US" altLang="zh-CN" dirty="0" smtClean="0"/>
          </a:p>
          <a:p>
            <a:r>
              <a:rPr lang="zh-CN" altLang="en-US" dirty="0" smtClean="0"/>
              <a:t>由于有</a:t>
            </a:r>
            <a:r>
              <a:rPr lang="en-US" altLang="zh-CN" dirty="0" smtClean="0"/>
              <a:t>m</a:t>
            </a:r>
            <a:r>
              <a:rPr lang="zh-CN" altLang="en-US" dirty="0" smtClean="0"/>
              <a:t>的限制，当当前位可以填</a:t>
            </a:r>
            <a:r>
              <a:rPr lang="en-US" altLang="zh-CN" dirty="0" smtClean="0"/>
              <a:t>0</a:t>
            </a:r>
            <a:r>
              <a:rPr lang="zh-CN" altLang="en-US" dirty="0" smtClean="0"/>
              <a:t>的时候就填</a:t>
            </a:r>
            <a:r>
              <a:rPr lang="en-US" altLang="zh-CN" dirty="0" smtClean="0"/>
              <a:t>0</a:t>
            </a:r>
          </a:p>
          <a:p>
            <a:r>
              <a:rPr lang="en-US" altLang="zh-CN" dirty="0" smtClean="0"/>
              <a:t>O(</a:t>
            </a:r>
            <a:r>
              <a:rPr lang="en-US" altLang="zh-CN" dirty="0" err="1" smtClean="0"/>
              <a:t>nlogm</a:t>
            </a:r>
            <a:r>
              <a:rPr lang="en-US" altLang="zh-CN" dirty="0" smtClean="0"/>
              <a:t>)</a:t>
            </a:r>
          </a:p>
        </p:txBody>
      </p:sp>
    </p:spTree>
    <p:extLst>
      <p:ext uri="{BB962C8B-B14F-4D97-AF65-F5344CB8AC3E}">
        <p14:creationId xmlns="" xmlns:p14="http://schemas.microsoft.com/office/powerpoint/2010/main" val="1273593420"/>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COGS2235 </a:t>
            </a:r>
            <a:r>
              <a:rPr lang="zh-CN" altLang="en-US" dirty="0"/>
              <a:t>烤</a:t>
            </a:r>
            <a:r>
              <a:rPr lang="zh-CN" altLang="en-US" dirty="0" smtClean="0"/>
              <a:t>鸡翅</a:t>
            </a:r>
            <a:endParaRPr lang="zh-CN" altLang="en-US" dirty="0"/>
          </a:p>
        </p:txBody>
      </p:sp>
      <p:sp>
        <p:nvSpPr>
          <p:cNvPr id="3" name="内容占位符 2"/>
          <p:cNvSpPr>
            <a:spLocks noGrp="1"/>
          </p:cNvSpPr>
          <p:nvPr>
            <p:ph idx="1"/>
          </p:nvPr>
        </p:nvSpPr>
        <p:spPr/>
        <p:txBody>
          <a:bodyPr/>
          <a:lstStyle/>
          <a:p>
            <a:r>
              <a:rPr lang="zh-CN" altLang="en-US" dirty="0" smtClean="0"/>
              <a:t>有一个烤鸡翅的店，共有</a:t>
            </a:r>
            <a:r>
              <a:rPr lang="en-US" altLang="zh-CN" dirty="0" smtClean="0"/>
              <a:t>n</a:t>
            </a:r>
            <a:r>
              <a:rPr lang="zh-CN" altLang="en-US" dirty="0" smtClean="0"/>
              <a:t>分钟，第</a:t>
            </a:r>
            <a:r>
              <a:rPr lang="en-US" altLang="zh-CN" dirty="0" err="1" smtClean="0"/>
              <a:t>i</a:t>
            </a:r>
            <a:r>
              <a:rPr lang="zh-CN" altLang="en-US" dirty="0" smtClean="0"/>
              <a:t>分钟会烤出</a:t>
            </a:r>
            <a:r>
              <a:rPr lang="en-US" altLang="zh-CN" dirty="0" smtClean="0"/>
              <a:t>Xi</a:t>
            </a:r>
            <a:r>
              <a:rPr lang="zh-CN" altLang="en-US" dirty="0" smtClean="0"/>
              <a:t>个鸡翅，同时在第</a:t>
            </a:r>
            <a:r>
              <a:rPr lang="en-US" altLang="zh-CN" dirty="0" err="1" smtClean="0"/>
              <a:t>i</a:t>
            </a:r>
            <a:r>
              <a:rPr lang="zh-CN" altLang="en-US" dirty="0" smtClean="0"/>
              <a:t>分钟还会来一个想买</a:t>
            </a:r>
            <a:r>
              <a:rPr lang="en-US" altLang="zh-CN" dirty="0" smtClean="0"/>
              <a:t>Yi</a:t>
            </a:r>
            <a:r>
              <a:rPr lang="zh-CN" altLang="en-US" dirty="0" smtClean="0"/>
              <a:t>个鸡翅的客人</a:t>
            </a:r>
            <a:endParaRPr lang="en-US" altLang="zh-CN" dirty="0" smtClean="0"/>
          </a:p>
          <a:p>
            <a:r>
              <a:rPr lang="zh-CN" altLang="en-US" dirty="0" smtClean="0"/>
              <a:t>对于每个客人，要么卖恰好</a:t>
            </a:r>
            <a:r>
              <a:rPr lang="en-US" altLang="zh-CN" dirty="0" smtClean="0"/>
              <a:t>Yi</a:t>
            </a:r>
            <a:r>
              <a:rPr lang="zh-CN" altLang="en-US" dirty="0" smtClean="0"/>
              <a:t>个鸡翅给他，要么什么都不卖给他</a:t>
            </a:r>
            <a:endParaRPr lang="en-US" altLang="zh-CN" dirty="0" smtClean="0"/>
          </a:p>
          <a:p>
            <a:r>
              <a:rPr lang="zh-CN" altLang="en-US" dirty="0" smtClean="0"/>
              <a:t>求最多可以卖给多少人（注意是多少人，不是多少鸡翅）</a:t>
            </a:r>
            <a:endParaRPr lang="en-US" altLang="zh-CN" dirty="0" smtClean="0"/>
          </a:p>
          <a:p>
            <a:r>
              <a:rPr lang="en-US" altLang="zh-CN" dirty="0" smtClean="0"/>
              <a:t>n&lt;=250000</a:t>
            </a:r>
          </a:p>
        </p:txBody>
      </p:sp>
    </p:spTree>
    <p:extLst>
      <p:ext uri="{BB962C8B-B14F-4D97-AF65-F5344CB8AC3E}">
        <p14:creationId xmlns="" xmlns:p14="http://schemas.microsoft.com/office/powerpoint/2010/main" val="2874793060"/>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COGS2235 </a:t>
            </a:r>
            <a:r>
              <a:rPr lang="zh-CN" altLang="en-US" dirty="0"/>
              <a:t>烤</a:t>
            </a:r>
            <a:r>
              <a:rPr lang="zh-CN" altLang="en-US" dirty="0" smtClean="0"/>
              <a:t>鸡翅</a:t>
            </a:r>
            <a:endParaRPr lang="zh-CN" altLang="en-US" dirty="0"/>
          </a:p>
        </p:txBody>
      </p:sp>
      <p:sp>
        <p:nvSpPr>
          <p:cNvPr id="3" name="内容占位符 2"/>
          <p:cNvSpPr>
            <a:spLocks noGrp="1"/>
          </p:cNvSpPr>
          <p:nvPr>
            <p:ph idx="1"/>
          </p:nvPr>
        </p:nvSpPr>
        <p:spPr/>
        <p:txBody>
          <a:bodyPr/>
          <a:lstStyle/>
          <a:p>
            <a:r>
              <a:rPr lang="zh-CN" altLang="en-US" dirty="0" smtClean="0"/>
              <a:t>贪心</a:t>
            </a:r>
            <a:endParaRPr lang="en-US" altLang="zh-CN" dirty="0" smtClean="0"/>
          </a:p>
          <a:p>
            <a:r>
              <a:rPr lang="zh-CN" altLang="en-US" dirty="0" smtClean="0"/>
              <a:t>对于每个人，如果鸡翅够用，就直接把鸡翅卖给他</a:t>
            </a:r>
            <a:endParaRPr lang="en-US" altLang="zh-CN" dirty="0" smtClean="0"/>
          </a:p>
          <a:p>
            <a:r>
              <a:rPr lang="zh-CN" altLang="en-US" dirty="0" smtClean="0"/>
              <a:t>否则看一看以前卖给了鸡翅的人，如果买的最多的那个人买的鸡翅比这个人还要多，就把之前的那个人的鸡翅拿回来卖给这个人</a:t>
            </a:r>
            <a:endParaRPr lang="en-US" altLang="zh-CN" dirty="0" smtClean="0"/>
          </a:p>
          <a:p>
            <a:r>
              <a:rPr lang="zh-CN" altLang="en-US" dirty="0" smtClean="0"/>
              <a:t>用一个大根堆维护所有卖给了鸡翅的人即可，复杂度</a:t>
            </a:r>
            <a:r>
              <a:rPr lang="en-US" altLang="zh-CN" dirty="0" smtClean="0"/>
              <a:t>O(</a:t>
            </a:r>
            <a:r>
              <a:rPr lang="en-US" altLang="zh-CN" dirty="0" err="1" smtClean="0"/>
              <a:t>nlogn</a:t>
            </a:r>
            <a:r>
              <a:rPr lang="en-US" altLang="zh-CN" dirty="0" smtClean="0"/>
              <a:t>)</a:t>
            </a:r>
          </a:p>
          <a:p>
            <a:endParaRPr lang="en-US" altLang="zh-CN" dirty="0"/>
          </a:p>
          <a:p>
            <a:r>
              <a:rPr lang="zh-CN" altLang="en-US" dirty="0" smtClean="0"/>
              <a:t>其实这个就是经典的“反悔”策略</a:t>
            </a:r>
            <a:endParaRPr lang="en-US" altLang="zh-CN" dirty="0" smtClean="0"/>
          </a:p>
          <a:p>
            <a:r>
              <a:rPr lang="zh-CN" altLang="en-US" dirty="0" smtClean="0"/>
              <a:t>对于某些题目，如果直接考虑不好弄的话，可以换个思路，假设自己可以先进行某种操作，如果不行了再撤销</a:t>
            </a:r>
            <a:endParaRPr lang="en-US" altLang="zh-CN" dirty="0" smtClean="0"/>
          </a:p>
        </p:txBody>
      </p:sp>
    </p:spTree>
    <p:extLst>
      <p:ext uri="{BB962C8B-B14F-4D97-AF65-F5344CB8AC3E}">
        <p14:creationId xmlns="" xmlns:p14="http://schemas.microsoft.com/office/powerpoint/2010/main" val="2015352619"/>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HEOI2017 </a:t>
            </a:r>
            <a:r>
              <a:rPr lang="zh-CN" altLang="en-US" dirty="0" smtClean="0"/>
              <a:t>期末考试</a:t>
            </a:r>
            <a:endParaRPr lang="zh-CN" altLang="en-US" dirty="0"/>
          </a:p>
        </p:txBody>
      </p:sp>
      <p:sp>
        <p:nvSpPr>
          <p:cNvPr id="3" name="内容占位符 2"/>
          <p:cNvSpPr>
            <a:spLocks noGrp="1"/>
          </p:cNvSpPr>
          <p:nvPr>
            <p:ph idx="1"/>
          </p:nvPr>
        </p:nvSpPr>
        <p:spPr/>
        <p:txBody>
          <a:bodyPr>
            <a:normAutofit/>
          </a:bodyPr>
          <a:lstStyle/>
          <a:p>
            <a:r>
              <a:rPr lang="zh-CN" altLang="en-US" dirty="0" smtClean="0"/>
              <a:t>有</a:t>
            </a:r>
            <a:r>
              <a:rPr lang="en-US" altLang="zh-CN" dirty="0" smtClean="0"/>
              <a:t>n</a:t>
            </a:r>
            <a:r>
              <a:rPr lang="zh-CN" altLang="en-US" dirty="0" smtClean="0"/>
              <a:t>个人参加了期末考试，总共有</a:t>
            </a:r>
            <a:r>
              <a:rPr lang="en-US" altLang="zh-CN" dirty="0" smtClean="0"/>
              <a:t>m</a:t>
            </a:r>
            <a:r>
              <a:rPr lang="zh-CN" altLang="en-US" dirty="0" smtClean="0"/>
              <a:t>个科目，要安排批阅试卷的人手以及早公布成绩</a:t>
            </a:r>
            <a:endParaRPr lang="en-US" altLang="zh-CN" dirty="0" smtClean="0"/>
          </a:p>
          <a:p>
            <a:r>
              <a:rPr lang="zh-CN" altLang="en-US" dirty="0" smtClean="0"/>
              <a:t>第</a:t>
            </a:r>
            <a:r>
              <a:rPr lang="en-US" altLang="zh-CN" dirty="0" err="1" smtClean="0"/>
              <a:t>i</a:t>
            </a:r>
            <a:r>
              <a:rPr lang="zh-CN" altLang="en-US" dirty="0" smtClean="0"/>
              <a:t>个人想在时间</a:t>
            </a:r>
            <a:r>
              <a:rPr lang="en-US" altLang="zh-CN" dirty="0" err="1" smtClean="0"/>
              <a:t>ti</a:t>
            </a:r>
            <a:r>
              <a:rPr lang="zh-CN" altLang="en-US" dirty="0" smtClean="0"/>
              <a:t>得知所有科目的成绩，如果公布成绩的时间多于</a:t>
            </a:r>
            <a:r>
              <a:rPr lang="en-US" altLang="zh-CN" dirty="0" err="1" smtClean="0"/>
              <a:t>ti</a:t>
            </a:r>
            <a:r>
              <a:rPr lang="zh-CN" altLang="en-US" dirty="0" smtClean="0"/>
              <a:t>，那么每多等一天就会增加</a:t>
            </a:r>
            <a:r>
              <a:rPr lang="en-US" altLang="zh-CN" dirty="0" smtClean="0"/>
              <a:t>C</a:t>
            </a:r>
            <a:r>
              <a:rPr lang="zh-CN" altLang="en-US" dirty="0" smtClean="0"/>
              <a:t>的不愉快度</a:t>
            </a:r>
            <a:endParaRPr lang="en-US" altLang="zh-CN" dirty="0" smtClean="0"/>
          </a:p>
          <a:p>
            <a:r>
              <a:rPr lang="zh-CN" altLang="en-US" dirty="0" smtClean="0"/>
              <a:t>第</a:t>
            </a:r>
            <a:r>
              <a:rPr lang="en-US" altLang="zh-CN" dirty="0" err="1" smtClean="0"/>
              <a:t>i</a:t>
            </a:r>
            <a:r>
              <a:rPr lang="zh-CN" altLang="en-US" dirty="0" smtClean="0"/>
              <a:t>个科目原定出分时间是</a:t>
            </a:r>
            <a:r>
              <a:rPr lang="en-US" altLang="zh-CN" dirty="0" smtClean="0"/>
              <a:t>bi</a:t>
            </a:r>
            <a:r>
              <a:rPr lang="zh-CN" altLang="en-US" dirty="0" smtClean="0"/>
              <a:t>，可以通过两种操作进行调整：</a:t>
            </a:r>
            <a:endParaRPr lang="en-US" altLang="zh-CN" dirty="0" smtClean="0"/>
          </a:p>
          <a:p>
            <a:r>
              <a:rPr lang="zh-CN" altLang="en-US" dirty="0" smtClean="0"/>
              <a:t>把一个科目的</a:t>
            </a:r>
            <a:r>
              <a:rPr lang="en-US" altLang="zh-CN" dirty="0" smtClean="0"/>
              <a:t>bi</a:t>
            </a:r>
            <a:r>
              <a:rPr lang="zh-CN" altLang="en-US" dirty="0" smtClean="0"/>
              <a:t>加一，另一个</a:t>
            </a:r>
            <a:r>
              <a:rPr lang="en-US" altLang="zh-CN" dirty="0" smtClean="0"/>
              <a:t>bi</a:t>
            </a:r>
            <a:r>
              <a:rPr lang="zh-CN" altLang="en-US" dirty="0" smtClean="0"/>
              <a:t>减一，产生</a:t>
            </a:r>
            <a:r>
              <a:rPr lang="en-US" altLang="zh-CN" dirty="0"/>
              <a:t>A</a:t>
            </a:r>
            <a:r>
              <a:rPr lang="zh-CN" altLang="en-US" dirty="0" smtClean="0"/>
              <a:t>的不愉快度</a:t>
            </a:r>
            <a:endParaRPr lang="en-US" altLang="zh-CN" dirty="0" smtClean="0"/>
          </a:p>
          <a:p>
            <a:r>
              <a:rPr lang="zh-CN" altLang="en-US" dirty="0" smtClean="0"/>
              <a:t>把一个科目的</a:t>
            </a:r>
            <a:r>
              <a:rPr lang="en-US" altLang="zh-CN" dirty="0" smtClean="0"/>
              <a:t>bi</a:t>
            </a:r>
            <a:r>
              <a:rPr lang="zh-CN" altLang="en-US" dirty="0" smtClean="0"/>
              <a:t>减一，产生</a:t>
            </a:r>
            <a:r>
              <a:rPr lang="en-US" altLang="zh-CN" dirty="0"/>
              <a:t>B</a:t>
            </a:r>
            <a:r>
              <a:rPr lang="zh-CN" altLang="en-US" dirty="0" smtClean="0"/>
              <a:t>的不愉快度</a:t>
            </a:r>
            <a:endParaRPr lang="en-US" altLang="zh-CN" dirty="0" smtClean="0"/>
          </a:p>
          <a:p>
            <a:r>
              <a:rPr lang="zh-CN" altLang="en-US" dirty="0" smtClean="0"/>
              <a:t>最小化不愉快度</a:t>
            </a:r>
            <a:endParaRPr lang="en-US" altLang="zh-CN" dirty="0" smtClean="0"/>
          </a:p>
          <a:p>
            <a:r>
              <a:rPr lang="zh-CN" altLang="en-US" dirty="0" smtClean="0"/>
              <a:t>正常数据中所有数都在</a:t>
            </a:r>
            <a:r>
              <a:rPr lang="en-US" altLang="zh-CN" dirty="0" smtClean="0"/>
              <a:t>10^5</a:t>
            </a:r>
            <a:r>
              <a:rPr lang="zh-CN" altLang="en-US" dirty="0" smtClean="0"/>
              <a:t>以内，某些数据中</a:t>
            </a:r>
            <a:r>
              <a:rPr lang="en-US" altLang="zh-CN" dirty="0" smtClean="0"/>
              <a:t>A/B/C</a:t>
            </a:r>
            <a:r>
              <a:rPr lang="zh-CN" altLang="en-US" dirty="0" smtClean="0"/>
              <a:t>会比</a:t>
            </a:r>
            <a:r>
              <a:rPr lang="en-US" altLang="zh-CN" dirty="0" smtClean="0"/>
              <a:t>10^5</a:t>
            </a:r>
            <a:r>
              <a:rPr lang="zh-CN" altLang="en-US" dirty="0" smtClean="0"/>
              <a:t>大</a:t>
            </a:r>
            <a:endParaRPr lang="zh-CN" altLang="en-US" dirty="0"/>
          </a:p>
        </p:txBody>
      </p:sp>
    </p:spTree>
    <p:extLst>
      <p:ext uri="{BB962C8B-B14F-4D97-AF65-F5344CB8AC3E}">
        <p14:creationId xmlns="" xmlns:p14="http://schemas.microsoft.com/office/powerpoint/2010/main" val="3707183954"/>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HEOI2017 </a:t>
            </a:r>
            <a:r>
              <a:rPr lang="zh-CN" altLang="en-US" dirty="0" smtClean="0"/>
              <a:t>期末考试</a:t>
            </a:r>
            <a:endParaRPr lang="zh-CN" altLang="en-US" dirty="0"/>
          </a:p>
        </p:txBody>
      </p:sp>
      <p:sp>
        <p:nvSpPr>
          <p:cNvPr id="3" name="内容占位符 2"/>
          <p:cNvSpPr>
            <a:spLocks noGrp="1"/>
          </p:cNvSpPr>
          <p:nvPr>
            <p:ph idx="1"/>
          </p:nvPr>
        </p:nvSpPr>
        <p:spPr/>
        <p:txBody>
          <a:bodyPr>
            <a:normAutofit/>
          </a:bodyPr>
          <a:lstStyle/>
          <a:p>
            <a:r>
              <a:rPr lang="zh-CN" altLang="en-US" dirty="0" smtClean="0"/>
              <a:t>首先考虑如何求出已经知道了最终在哪一天出分时的最优解</a:t>
            </a:r>
            <a:endParaRPr lang="en-US" altLang="zh-CN" dirty="0" smtClean="0"/>
          </a:p>
          <a:p>
            <a:r>
              <a:rPr lang="zh-CN" altLang="en-US" dirty="0" smtClean="0"/>
              <a:t>显然所有</a:t>
            </a:r>
            <a:r>
              <a:rPr lang="en-US" altLang="zh-CN" dirty="0" smtClean="0"/>
              <a:t>C</a:t>
            </a:r>
            <a:r>
              <a:rPr lang="zh-CN" altLang="en-US" dirty="0" smtClean="0"/>
              <a:t>的贡献都无法改变，而</a:t>
            </a:r>
            <a:r>
              <a:rPr lang="en-US" altLang="zh-CN" dirty="0" smtClean="0"/>
              <a:t>A/B</a:t>
            </a:r>
            <a:r>
              <a:rPr lang="zh-CN" altLang="en-US" dirty="0" smtClean="0"/>
              <a:t>的贡献可以通过贪心求出</a:t>
            </a:r>
            <a:endParaRPr lang="en-US" altLang="zh-CN" dirty="0" smtClean="0"/>
          </a:p>
          <a:p>
            <a:r>
              <a:rPr lang="zh-CN" altLang="en-US" dirty="0" smtClean="0"/>
              <a:t>如果</a:t>
            </a:r>
            <a:r>
              <a:rPr lang="en-US" altLang="zh-CN" dirty="0" smtClean="0"/>
              <a:t>B&lt;=A</a:t>
            </a:r>
            <a:r>
              <a:rPr lang="zh-CN" altLang="en-US" dirty="0" smtClean="0"/>
              <a:t>那直接都用</a:t>
            </a:r>
            <a:r>
              <a:rPr lang="en-US" altLang="zh-CN" dirty="0" smtClean="0"/>
              <a:t>B</a:t>
            </a:r>
            <a:r>
              <a:rPr lang="zh-CN" altLang="en-US" dirty="0" smtClean="0"/>
              <a:t>补上就行了</a:t>
            </a:r>
            <a:endParaRPr lang="en-US" altLang="zh-CN" dirty="0" smtClean="0"/>
          </a:p>
          <a:p>
            <a:r>
              <a:rPr lang="zh-CN" altLang="en-US" dirty="0" smtClean="0"/>
              <a:t>当</a:t>
            </a:r>
            <a:r>
              <a:rPr lang="en-US" altLang="zh-CN" dirty="0" smtClean="0"/>
              <a:t>B&gt;A</a:t>
            </a:r>
            <a:r>
              <a:rPr lang="zh-CN" altLang="en-US" dirty="0" smtClean="0"/>
              <a:t>时，先把时间有富余的科拿出来补给时间不够的科，如果补完之后还不够再用</a:t>
            </a:r>
            <a:r>
              <a:rPr lang="en-US" altLang="zh-CN" dirty="0" smtClean="0"/>
              <a:t>B</a:t>
            </a:r>
            <a:r>
              <a:rPr lang="zh-CN" altLang="en-US" dirty="0" smtClean="0"/>
              <a:t>补上</a:t>
            </a:r>
            <a:endParaRPr lang="en-US" altLang="zh-CN" dirty="0" smtClean="0"/>
          </a:p>
          <a:p>
            <a:r>
              <a:rPr lang="zh-CN" altLang="en-US" dirty="0" smtClean="0"/>
              <a:t>可以对所有</a:t>
            </a:r>
            <a:r>
              <a:rPr lang="en-US" altLang="zh-CN" dirty="0" smtClean="0"/>
              <a:t>bi</a:t>
            </a:r>
            <a:r>
              <a:rPr lang="zh-CN" altLang="en-US" dirty="0" smtClean="0"/>
              <a:t>排个序，那么单次计算的复杂度就是线性的</a:t>
            </a:r>
            <a:endParaRPr lang="en-US" altLang="zh-CN" dirty="0" smtClean="0"/>
          </a:p>
          <a:p>
            <a:endParaRPr lang="en-US" altLang="zh-CN" dirty="0"/>
          </a:p>
          <a:p>
            <a:r>
              <a:rPr lang="zh-CN" altLang="en-US" dirty="0" smtClean="0"/>
              <a:t>通过某些途径可以发现答案关于出分日期的函数是单峰的，因此三分一下天数即可，复杂度</a:t>
            </a:r>
            <a:r>
              <a:rPr lang="en-US" altLang="zh-CN" dirty="0" smtClean="0"/>
              <a:t>O(</a:t>
            </a:r>
            <a:r>
              <a:rPr lang="en-US" altLang="zh-CN" dirty="0" err="1" smtClean="0"/>
              <a:t>nlogn</a:t>
            </a:r>
            <a:r>
              <a:rPr lang="en-US" altLang="zh-CN" dirty="0" smtClean="0"/>
              <a:t>)</a:t>
            </a:r>
            <a:endParaRPr lang="en-US" altLang="zh-CN" dirty="0"/>
          </a:p>
        </p:txBody>
      </p:sp>
    </p:spTree>
    <p:extLst>
      <p:ext uri="{BB962C8B-B14F-4D97-AF65-F5344CB8AC3E}">
        <p14:creationId xmlns="" xmlns:p14="http://schemas.microsoft.com/office/powerpoint/2010/main" val="605438159"/>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HEOI2017 </a:t>
            </a:r>
            <a:r>
              <a:rPr lang="zh-CN" altLang="en-US" dirty="0" smtClean="0"/>
              <a:t>期末考试</a:t>
            </a:r>
            <a:endParaRPr lang="zh-CN" altLang="en-US" dirty="0"/>
          </a:p>
        </p:txBody>
      </p:sp>
      <p:sp>
        <p:nvSpPr>
          <p:cNvPr id="3" name="内容占位符 2"/>
          <p:cNvSpPr>
            <a:spLocks noGrp="1"/>
          </p:cNvSpPr>
          <p:nvPr>
            <p:ph idx="1"/>
          </p:nvPr>
        </p:nvSpPr>
        <p:spPr/>
        <p:txBody>
          <a:bodyPr>
            <a:normAutofit/>
          </a:bodyPr>
          <a:lstStyle/>
          <a:p>
            <a:r>
              <a:rPr lang="zh-CN" altLang="en-US" dirty="0" smtClean="0"/>
              <a:t>当然本题也有线性做法</a:t>
            </a:r>
            <a:r>
              <a:rPr lang="en-US" altLang="zh-CN" dirty="0" smtClean="0"/>
              <a:t>……</a:t>
            </a:r>
          </a:p>
          <a:p>
            <a:r>
              <a:rPr lang="zh-CN" altLang="en-US" dirty="0" smtClean="0"/>
              <a:t>考虑从大到小枚举天数，不难发现用天数为</a:t>
            </a:r>
            <a:r>
              <a:rPr lang="en-US" altLang="zh-CN" dirty="0" err="1" smtClean="0"/>
              <a:t>i</a:t>
            </a:r>
            <a:r>
              <a:rPr lang="zh-CN" altLang="en-US" dirty="0" smtClean="0"/>
              <a:t>时的最优解可以在常数时间内得到天数为</a:t>
            </a:r>
            <a:r>
              <a:rPr lang="en-US" altLang="zh-CN" dirty="0" smtClean="0"/>
              <a:t>i+1</a:t>
            </a:r>
            <a:r>
              <a:rPr lang="zh-CN" altLang="en-US" dirty="0" smtClean="0"/>
              <a:t>时的解</a:t>
            </a:r>
            <a:endParaRPr lang="en-US" altLang="zh-CN" dirty="0" smtClean="0"/>
          </a:p>
          <a:p>
            <a:r>
              <a:rPr lang="zh-CN" altLang="en-US" dirty="0" smtClean="0"/>
              <a:t>预处理时用桶排（其实就是开个</a:t>
            </a:r>
            <a:r>
              <a:rPr lang="en-US" altLang="zh-CN" dirty="0" smtClean="0"/>
              <a:t>10^5</a:t>
            </a:r>
            <a:r>
              <a:rPr lang="zh-CN" altLang="en-US" dirty="0" smtClean="0"/>
              <a:t>的数组标记一下）即可做到线性</a:t>
            </a:r>
            <a:endParaRPr lang="en-US" altLang="zh-CN" dirty="0"/>
          </a:p>
        </p:txBody>
      </p:sp>
    </p:spTree>
    <p:extLst>
      <p:ext uri="{BB962C8B-B14F-4D97-AF65-F5344CB8AC3E}">
        <p14:creationId xmlns="" xmlns:p14="http://schemas.microsoft.com/office/powerpoint/2010/main" val="3787077728"/>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51Nod1597 </a:t>
            </a:r>
            <a:r>
              <a:rPr lang="zh-CN" altLang="en-US" dirty="0"/>
              <a:t>有限背包计数问题</a:t>
            </a:r>
          </a:p>
        </p:txBody>
      </p:sp>
      <p:sp>
        <p:nvSpPr>
          <p:cNvPr id="3" name="内容占位符 2"/>
          <p:cNvSpPr>
            <a:spLocks noGrp="1"/>
          </p:cNvSpPr>
          <p:nvPr>
            <p:ph idx="1"/>
          </p:nvPr>
        </p:nvSpPr>
        <p:spPr/>
        <p:txBody>
          <a:bodyPr/>
          <a:lstStyle/>
          <a:p>
            <a:r>
              <a:rPr lang="zh-CN" altLang="en-US" dirty="0" smtClean="0"/>
              <a:t>给定一个大小为</a:t>
            </a:r>
            <a:r>
              <a:rPr lang="en-US" altLang="zh-CN" dirty="0" smtClean="0"/>
              <a:t>n</a:t>
            </a:r>
            <a:r>
              <a:rPr lang="zh-CN" altLang="en-US" dirty="0" smtClean="0"/>
              <a:t>的背包，有</a:t>
            </a:r>
            <a:r>
              <a:rPr lang="en-US" altLang="zh-CN" dirty="0" smtClean="0"/>
              <a:t>n</a:t>
            </a:r>
            <a:r>
              <a:rPr lang="zh-CN" altLang="en-US" dirty="0"/>
              <a:t>种</a:t>
            </a:r>
            <a:r>
              <a:rPr lang="zh-CN" altLang="en-US" dirty="0" smtClean="0"/>
              <a:t>物品，第</a:t>
            </a:r>
            <a:r>
              <a:rPr lang="en-US" altLang="zh-CN" dirty="0" err="1" smtClean="0"/>
              <a:t>i</a:t>
            </a:r>
            <a:r>
              <a:rPr lang="zh-CN" altLang="en-US" dirty="0" smtClean="0"/>
              <a:t>种物品的大小为</a:t>
            </a:r>
            <a:r>
              <a:rPr lang="en-US" altLang="zh-CN" dirty="0" err="1" smtClean="0"/>
              <a:t>i</a:t>
            </a:r>
            <a:r>
              <a:rPr lang="zh-CN" altLang="en-US" dirty="0" smtClean="0"/>
              <a:t>，个数为</a:t>
            </a:r>
            <a:r>
              <a:rPr lang="en-US" altLang="zh-CN" dirty="0" err="1" smtClean="0"/>
              <a:t>i</a:t>
            </a:r>
            <a:r>
              <a:rPr lang="zh-CN" altLang="en-US" dirty="0" smtClean="0"/>
              <a:t>个，求装满这个背包的方案数</a:t>
            </a:r>
            <a:r>
              <a:rPr lang="zh-CN" altLang="en-US" dirty="0"/>
              <a:t>，</a:t>
            </a:r>
            <a:r>
              <a:rPr lang="zh-CN" altLang="en-US" dirty="0" smtClean="0"/>
              <a:t>答案对</a:t>
            </a:r>
            <a:r>
              <a:rPr lang="en-US" altLang="zh-CN" dirty="0" smtClean="0"/>
              <a:t>23333333</a:t>
            </a:r>
            <a:r>
              <a:rPr lang="zh-CN" altLang="en-US" dirty="0"/>
              <a:t>取</a:t>
            </a:r>
            <a:r>
              <a:rPr lang="zh-CN" altLang="en-US" dirty="0" smtClean="0"/>
              <a:t>模</a:t>
            </a:r>
            <a:endParaRPr lang="en-US" altLang="zh-CN" dirty="0" smtClean="0"/>
          </a:p>
          <a:p>
            <a:r>
              <a:rPr lang="en-US" altLang="zh-CN" dirty="0" smtClean="0"/>
              <a:t>n&lt;=10^5</a:t>
            </a:r>
            <a:endParaRPr lang="en-US" altLang="zh-CN" dirty="0"/>
          </a:p>
          <a:p>
            <a:endParaRPr lang="en-US" altLang="zh-CN" dirty="0" smtClean="0"/>
          </a:p>
          <a:p>
            <a:r>
              <a:rPr lang="zh-CN" altLang="en-US" dirty="0" smtClean="0"/>
              <a:t>先不管数据范围，想一想暴力的做法</a:t>
            </a:r>
            <a:endParaRPr lang="en-US" altLang="zh-CN" dirty="0" smtClean="0"/>
          </a:p>
          <a:p>
            <a:r>
              <a:rPr lang="zh-CN" altLang="en-US" dirty="0"/>
              <a:t>定义</a:t>
            </a:r>
            <a:r>
              <a:rPr lang="en-US" altLang="zh-CN" dirty="0"/>
              <a:t>f[</a:t>
            </a:r>
            <a:r>
              <a:rPr lang="en-US" altLang="zh-CN" dirty="0" err="1"/>
              <a:t>i</a:t>
            </a:r>
            <a:r>
              <a:rPr lang="en-US" altLang="zh-CN" dirty="0"/>
              <a:t>][j]</a:t>
            </a:r>
            <a:r>
              <a:rPr lang="zh-CN" altLang="en-US" dirty="0"/>
              <a:t>表示只使用前</a:t>
            </a:r>
            <a:r>
              <a:rPr lang="en-US" altLang="zh-CN" dirty="0" err="1"/>
              <a:t>i</a:t>
            </a:r>
            <a:r>
              <a:rPr lang="zh-CN" altLang="en-US" dirty="0"/>
              <a:t>个物品凑出</a:t>
            </a:r>
            <a:r>
              <a:rPr lang="en-US" altLang="zh-CN" dirty="0"/>
              <a:t>j</a:t>
            </a:r>
            <a:r>
              <a:rPr lang="zh-CN" altLang="en-US" dirty="0"/>
              <a:t>的方案数，同时规定</a:t>
            </a:r>
            <a:r>
              <a:rPr lang="en-US" altLang="zh-CN" dirty="0"/>
              <a:t>j&lt;0</a:t>
            </a:r>
            <a:r>
              <a:rPr lang="zh-CN" altLang="en-US" dirty="0"/>
              <a:t>时</a:t>
            </a:r>
            <a:r>
              <a:rPr lang="en-US" altLang="zh-CN" dirty="0"/>
              <a:t>f[</a:t>
            </a:r>
            <a:r>
              <a:rPr lang="en-US" altLang="zh-CN" dirty="0" err="1"/>
              <a:t>i</a:t>
            </a:r>
            <a:r>
              <a:rPr lang="en-US" altLang="zh-CN" dirty="0"/>
              <a:t>][j]=</a:t>
            </a:r>
            <a:r>
              <a:rPr lang="en-US" altLang="zh-CN" dirty="0" smtClean="0"/>
              <a:t>0</a:t>
            </a:r>
          </a:p>
          <a:p>
            <a:endParaRPr lang="en-US" altLang="zh-CN" dirty="0"/>
          </a:p>
          <a:p>
            <a:r>
              <a:rPr lang="zh-CN" altLang="en-US" dirty="0" smtClean="0"/>
              <a:t>直接这么做是</a:t>
            </a:r>
            <a:r>
              <a:rPr lang="en-US" altLang="zh-CN" dirty="0" smtClean="0"/>
              <a:t>O(n^3)</a:t>
            </a:r>
            <a:r>
              <a:rPr lang="zh-CN" altLang="en-US" dirty="0" smtClean="0"/>
              <a:t>的</a:t>
            </a:r>
            <a:endParaRPr lang="en-US" altLang="zh-CN" dirty="0" smtClean="0"/>
          </a:p>
        </p:txBody>
      </p:sp>
      <p:graphicFrame>
        <p:nvGraphicFramePr>
          <p:cNvPr id="6" name="对象 5"/>
          <p:cNvGraphicFramePr>
            <a:graphicFrameLocks noChangeAspect="1"/>
          </p:cNvGraphicFramePr>
          <p:nvPr>
            <p:extLst>
              <p:ext uri="{D42A27DB-BD31-4B8C-83A1-F6EECF244321}">
                <p14:modId xmlns="" xmlns:p14="http://schemas.microsoft.com/office/powerpoint/2010/main" val="3970570803"/>
              </p:ext>
            </p:extLst>
          </p:nvPr>
        </p:nvGraphicFramePr>
        <p:xfrm>
          <a:off x="3163230" y="3797955"/>
          <a:ext cx="3079525" cy="742580"/>
        </p:xfrm>
        <a:graphic>
          <a:graphicData uri="http://schemas.openxmlformats.org/presentationml/2006/ole">
            <p:oleObj spid="_x0000_s3290" name="Equation" r:id="rId3" imgW="1790640" imgH="431640" progId="">
              <p:embed/>
            </p:oleObj>
          </a:graphicData>
        </a:graphic>
      </p:graphicFrame>
    </p:spTree>
    <p:extLst>
      <p:ext uri="{BB962C8B-B14F-4D97-AF65-F5344CB8AC3E}">
        <p14:creationId xmlns="" xmlns:p14="http://schemas.microsoft.com/office/powerpoint/2010/main" val="1920384032"/>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51Nod1597 </a:t>
            </a:r>
            <a:r>
              <a:rPr lang="zh-CN" altLang="en-US" dirty="0"/>
              <a:t>有限背包计数问题</a:t>
            </a:r>
          </a:p>
        </p:txBody>
      </p:sp>
      <p:sp>
        <p:nvSpPr>
          <p:cNvPr id="3" name="内容占位符 2"/>
          <p:cNvSpPr>
            <a:spLocks noGrp="1"/>
          </p:cNvSpPr>
          <p:nvPr>
            <p:ph idx="1"/>
          </p:nvPr>
        </p:nvSpPr>
        <p:spPr/>
        <p:txBody>
          <a:bodyPr/>
          <a:lstStyle/>
          <a:p>
            <a:r>
              <a:rPr lang="zh-CN" altLang="zh-CN" dirty="0"/>
              <a:t>注意到主要时间都花费在转移上了，因此考虑优化转移的复杂</a:t>
            </a:r>
            <a:r>
              <a:rPr lang="zh-CN" altLang="zh-CN" dirty="0" smtClean="0"/>
              <a:t>度</a:t>
            </a:r>
            <a:endParaRPr lang="zh-CN" altLang="zh-CN" dirty="0"/>
          </a:p>
          <a:p>
            <a:r>
              <a:rPr lang="zh-CN" altLang="zh-CN" dirty="0" smtClean="0"/>
              <a:t>把转移方程</a:t>
            </a:r>
            <a:r>
              <a:rPr lang="zh-CN" altLang="zh-CN" dirty="0"/>
              <a:t>变个</a:t>
            </a:r>
            <a:r>
              <a:rPr lang="zh-CN" altLang="zh-CN" dirty="0" smtClean="0"/>
              <a:t>形</a:t>
            </a:r>
            <a:endParaRPr lang="en-US" altLang="zh-CN" dirty="0" smtClean="0"/>
          </a:p>
          <a:p>
            <a:endParaRPr lang="en-US" altLang="zh-CN" dirty="0"/>
          </a:p>
          <a:p>
            <a:r>
              <a:rPr lang="zh-CN" altLang="en-US" dirty="0" smtClean="0"/>
              <a:t>这个方程的意义就是</a:t>
            </a:r>
            <a:r>
              <a:rPr lang="zh-CN" altLang="zh-CN" dirty="0" smtClean="0"/>
              <a:t>在</a:t>
            </a:r>
            <a:r>
              <a:rPr lang="en-US" altLang="zh-CN" dirty="0"/>
              <a:t>f[</a:t>
            </a:r>
            <a:r>
              <a:rPr lang="en-US" altLang="zh-CN" dirty="0" err="1"/>
              <a:t>i</a:t>
            </a:r>
            <a:r>
              <a:rPr lang="en-US" altLang="zh-CN" dirty="0"/>
              <a:t>][j-</a:t>
            </a:r>
            <a:r>
              <a:rPr lang="en-US" altLang="zh-CN" dirty="0" err="1"/>
              <a:t>i</a:t>
            </a:r>
            <a:r>
              <a:rPr lang="en-US" altLang="zh-CN" dirty="0"/>
              <a:t>]</a:t>
            </a:r>
            <a:r>
              <a:rPr lang="zh-CN" altLang="zh-CN" dirty="0"/>
              <a:t>的转移区间上做一下调整，去掉左端点并加入右</a:t>
            </a:r>
            <a:r>
              <a:rPr lang="zh-CN" altLang="zh-CN" dirty="0" smtClean="0"/>
              <a:t>端点</a:t>
            </a:r>
            <a:endParaRPr lang="en-US" altLang="zh-CN" dirty="0"/>
          </a:p>
          <a:p>
            <a:r>
              <a:rPr lang="zh-CN" altLang="en-US" dirty="0" smtClean="0"/>
              <a:t>这样做是</a:t>
            </a:r>
            <a:r>
              <a:rPr lang="en-US" altLang="zh-CN" dirty="0" smtClean="0"/>
              <a:t>O(n^2)</a:t>
            </a:r>
            <a:r>
              <a:rPr lang="zh-CN" altLang="en-US" dirty="0" smtClean="0"/>
              <a:t>的，还是太慢了</a:t>
            </a:r>
            <a:endParaRPr lang="en-US" altLang="zh-CN" dirty="0" smtClean="0"/>
          </a:p>
        </p:txBody>
      </p:sp>
      <p:graphicFrame>
        <p:nvGraphicFramePr>
          <p:cNvPr id="4" name="对象 3"/>
          <p:cNvGraphicFramePr>
            <a:graphicFrameLocks noChangeAspect="1"/>
          </p:cNvGraphicFramePr>
          <p:nvPr>
            <p:extLst>
              <p:ext uri="{D42A27DB-BD31-4B8C-83A1-F6EECF244321}">
                <p14:modId xmlns="" xmlns:p14="http://schemas.microsoft.com/office/powerpoint/2010/main" val="4125439033"/>
              </p:ext>
            </p:extLst>
          </p:nvPr>
        </p:nvGraphicFramePr>
        <p:xfrm>
          <a:off x="855256" y="2295701"/>
          <a:ext cx="5479222" cy="334609"/>
        </p:xfrm>
        <a:graphic>
          <a:graphicData uri="http://schemas.openxmlformats.org/presentationml/2006/ole">
            <p:oleObj spid="_x0000_s4310" name="Equation" r:id="rId3" imgW="3327120" imgH="203040" progId="">
              <p:embed/>
            </p:oleObj>
          </a:graphicData>
        </a:graphic>
      </p:graphicFrame>
    </p:spTree>
    <p:extLst>
      <p:ext uri="{BB962C8B-B14F-4D97-AF65-F5344CB8AC3E}">
        <p14:creationId xmlns="" xmlns:p14="http://schemas.microsoft.com/office/powerpoint/2010/main" val="2874755538"/>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51Nod1597 </a:t>
            </a:r>
            <a:r>
              <a:rPr lang="zh-CN" altLang="en-US" dirty="0"/>
              <a:t>有限背包计数问题</a:t>
            </a:r>
          </a:p>
        </p:txBody>
      </p:sp>
      <p:sp>
        <p:nvSpPr>
          <p:cNvPr id="3" name="内容占位符 2"/>
          <p:cNvSpPr>
            <a:spLocks noGrp="1"/>
          </p:cNvSpPr>
          <p:nvPr>
            <p:ph idx="1"/>
          </p:nvPr>
        </p:nvSpPr>
        <p:spPr/>
        <p:txBody>
          <a:bodyPr/>
          <a:lstStyle/>
          <a:p>
            <a:r>
              <a:rPr lang="zh-CN" altLang="en-US" dirty="0" smtClean="0"/>
              <a:t>为了优化复杂度，引入根号分类</a:t>
            </a:r>
            <a:endParaRPr lang="en-US" altLang="zh-CN" dirty="0" smtClean="0"/>
          </a:p>
          <a:p>
            <a:r>
              <a:rPr lang="zh-CN" altLang="en-US" dirty="0" smtClean="0"/>
              <a:t>令</a:t>
            </a:r>
            <a:r>
              <a:rPr lang="en-US" altLang="zh-CN" dirty="0" smtClean="0"/>
              <a:t>B=ceil(</a:t>
            </a:r>
            <a:r>
              <a:rPr lang="en-US" altLang="zh-CN" dirty="0" err="1" smtClean="0"/>
              <a:t>sqrt</a:t>
            </a:r>
            <a:r>
              <a:rPr lang="en-US" altLang="zh-CN" dirty="0" smtClean="0"/>
              <a:t>(n))</a:t>
            </a:r>
            <a:r>
              <a:rPr lang="zh-CN" altLang="en-US" dirty="0" smtClean="0"/>
              <a:t>，不难发现所有大小</a:t>
            </a:r>
            <a:r>
              <a:rPr lang="en-US" altLang="zh-CN" dirty="0" smtClean="0"/>
              <a:t>&gt;=B</a:t>
            </a:r>
            <a:r>
              <a:rPr lang="zh-CN" altLang="en-US" dirty="0" smtClean="0"/>
              <a:t>的物品都是用不完的，并且最多只会用</a:t>
            </a:r>
            <a:r>
              <a:rPr lang="en-US" altLang="zh-CN" dirty="0" err="1" smtClean="0"/>
              <a:t>sqrt</a:t>
            </a:r>
            <a:r>
              <a:rPr lang="en-US" altLang="zh-CN" dirty="0" smtClean="0"/>
              <a:t>(n)</a:t>
            </a:r>
            <a:r>
              <a:rPr lang="zh-CN" altLang="en-US" dirty="0" smtClean="0"/>
              <a:t>个，对它们跑完全背包即可</a:t>
            </a:r>
            <a:endParaRPr lang="en-US" altLang="zh-CN" dirty="0" smtClean="0"/>
          </a:p>
          <a:p>
            <a:r>
              <a:rPr lang="zh-CN" altLang="en-US" dirty="0" smtClean="0"/>
              <a:t>令</a:t>
            </a:r>
            <a:r>
              <a:rPr lang="en-US" altLang="zh-CN" dirty="0" smtClean="0"/>
              <a:t>g[</a:t>
            </a:r>
            <a:r>
              <a:rPr lang="en-US" altLang="zh-CN" dirty="0" err="1" smtClean="0"/>
              <a:t>i</a:t>
            </a:r>
            <a:r>
              <a:rPr lang="en-US" altLang="zh-CN" dirty="0" smtClean="0"/>
              <a:t>][j]</a:t>
            </a:r>
            <a:r>
              <a:rPr lang="zh-CN" altLang="en-US" dirty="0" smtClean="0"/>
              <a:t>表示用</a:t>
            </a:r>
            <a:r>
              <a:rPr lang="en-US" altLang="zh-CN" dirty="0" err="1" smtClean="0"/>
              <a:t>i</a:t>
            </a:r>
            <a:r>
              <a:rPr lang="zh-CN" altLang="en-US" dirty="0" smtClean="0"/>
              <a:t>个物品凑出</a:t>
            </a:r>
            <a:r>
              <a:rPr lang="en-US" altLang="zh-CN" dirty="0" smtClean="0"/>
              <a:t>j</a:t>
            </a:r>
            <a:r>
              <a:rPr lang="zh-CN" altLang="en-US" dirty="0" smtClean="0"/>
              <a:t>的方案数</a:t>
            </a:r>
            <a:endParaRPr lang="en-US" altLang="zh-CN" dirty="0" smtClean="0"/>
          </a:p>
          <a:p>
            <a:r>
              <a:rPr lang="zh-CN" altLang="en-US" dirty="0" smtClean="0"/>
              <a:t>在</a:t>
            </a:r>
            <a:r>
              <a:rPr lang="en-US" altLang="zh-CN" dirty="0" smtClean="0"/>
              <a:t>DP</a:t>
            </a:r>
            <a:r>
              <a:rPr lang="zh-CN" altLang="en-US" dirty="0" smtClean="0"/>
              <a:t>时</a:t>
            </a:r>
            <a:r>
              <a:rPr lang="zh-CN" altLang="zh-CN" dirty="0" smtClean="0"/>
              <a:t>可以</a:t>
            </a:r>
            <a:r>
              <a:rPr lang="zh-CN" altLang="zh-CN" dirty="0"/>
              <a:t>认为有新加入一个大小为</a:t>
            </a:r>
            <a:r>
              <a:rPr lang="en-US" altLang="zh-CN" dirty="0"/>
              <a:t>B</a:t>
            </a:r>
            <a:r>
              <a:rPr lang="zh-CN" altLang="zh-CN" dirty="0"/>
              <a:t>的物品和令所有物品大小</a:t>
            </a:r>
            <a:r>
              <a:rPr lang="en-US" altLang="zh-CN" dirty="0"/>
              <a:t>+1</a:t>
            </a:r>
            <a:r>
              <a:rPr lang="zh-CN" altLang="zh-CN" dirty="0"/>
              <a:t>两种操作，不难验证用这两种操作组成的方案和直接放物品的方案是一一对应</a:t>
            </a:r>
            <a:r>
              <a:rPr lang="zh-CN" altLang="zh-CN" dirty="0" smtClean="0"/>
              <a:t>的</a:t>
            </a:r>
            <a:endParaRPr lang="en-US" altLang="zh-CN" dirty="0" smtClean="0"/>
          </a:p>
          <a:p>
            <a:r>
              <a:rPr lang="zh-CN" altLang="en-US" dirty="0" smtClean="0"/>
              <a:t>因此</a:t>
            </a:r>
            <a:r>
              <a:rPr lang="en-US" altLang="zh-CN" dirty="0" smtClean="0"/>
              <a:t>g[</a:t>
            </a:r>
            <a:r>
              <a:rPr lang="en-US" altLang="zh-CN" dirty="0" err="1" smtClean="0"/>
              <a:t>i</a:t>
            </a:r>
            <a:r>
              <a:rPr lang="en-US" altLang="zh-CN" dirty="0" smtClean="0"/>
              <a:t>][j]=g[i-1][j-B]+g[</a:t>
            </a:r>
            <a:r>
              <a:rPr lang="en-US" altLang="zh-CN" dirty="0" err="1" smtClean="0"/>
              <a:t>i</a:t>
            </a:r>
            <a:r>
              <a:rPr lang="en-US" altLang="zh-CN" dirty="0" smtClean="0"/>
              <a:t>][j-</a:t>
            </a:r>
            <a:r>
              <a:rPr lang="en-US" altLang="zh-CN" dirty="0" err="1" smtClean="0"/>
              <a:t>i</a:t>
            </a:r>
            <a:r>
              <a:rPr lang="en-US" altLang="zh-CN" dirty="0" smtClean="0"/>
              <a:t>]</a:t>
            </a:r>
          </a:p>
          <a:p>
            <a:r>
              <a:rPr lang="zh-CN" altLang="en-US" dirty="0"/>
              <a:t>这</a:t>
            </a:r>
            <a:r>
              <a:rPr lang="zh-CN" altLang="en-US" dirty="0" smtClean="0"/>
              <a:t>一部分的时间是</a:t>
            </a:r>
            <a:r>
              <a:rPr lang="en-US" altLang="zh-CN" dirty="0" smtClean="0"/>
              <a:t>O(n^1.5)</a:t>
            </a:r>
            <a:r>
              <a:rPr lang="zh-CN" altLang="en-US" dirty="0" smtClean="0"/>
              <a:t>的</a:t>
            </a:r>
            <a:endParaRPr lang="en-US" altLang="zh-CN" dirty="0" smtClean="0"/>
          </a:p>
        </p:txBody>
      </p:sp>
    </p:spTree>
    <p:extLst>
      <p:ext uri="{BB962C8B-B14F-4D97-AF65-F5344CB8AC3E}">
        <p14:creationId xmlns="" xmlns:p14="http://schemas.microsoft.com/office/powerpoint/2010/main" val="3006009321"/>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51Nod1597 </a:t>
            </a:r>
            <a:r>
              <a:rPr lang="zh-CN" altLang="en-US" dirty="0"/>
              <a:t>有限背包计数问题</a:t>
            </a:r>
          </a:p>
        </p:txBody>
      </p:sp>
      <p:sp>
        <p:nvSpPr>
          <p:cNvPr id="3" name="内容占位符 2"/>
          <p:cNvSpPr>
            <a:spLocks noGrp="1"/>
          </p:cNvSpPr>
          <p:nvPr>
            <p:ph idx="1"/>
          </p:nvPr>
        </p:nvSpPr>
        <p:spPr/>
        <p:txBody>
          <a:bodyPr/>
          <a:lstStyle/>
          <a:p>
            <a:r>
              <a:rPr lang="zh-CN" altLang="en-US" dirty="0" smtClean="0"/>
              <a:t>对于大小</a:t>
            </a:r>
            <a:r>
              <a:rPr lang="en-US" altLang="zh-CN" dirty="0" smtClean="0"/>
              <a:t>&lt;B</a:t>
            </a:r>
            <a:r>
              <a:rPr lang="zh-CN" altLang="en-US" dirty="0" smtClean="0"/>
              <a:t>的物品，直接按照之前的</a:t>
            </a:r>
            <a:r>
              <a:rPr lang="en-US" altLang="zh-CN" dirty="0" smtClean="0"/>
              <a:t>O(n^2)</a:t>
            </a:r>
            <a:r>
              <a:rPr lang="zh-CN" altLang="en-US" dirty="0" smtClean="0"/>
              <a:t>做法跑多重背包即可</a:t>
            </a:r>
            <a:endParaRPr lang="en-US" altLang="zh-CN" dirty="0" smtClean="0"/>
          </a:p>
          <a:p>
            <a:r>
              <a:rPr lang="zh-CN" altLang="en-US" dirty="0" smtClean="0"/>
              <a:t>这一部分的复杂度也是</a:t>
            </a:r>
            <a:r>
              <a:rPr lang="en-US" altLang="zh-CN" dirty="0" smtClean="0"/>
              <a:t>O(n^1.5)</a:t>
            </a:r>
          </a:p>
          <a:p>
            <a:endParaRPr lang="en-US" altLang="zh-CN" dirty="0" smtClean="0"/>
          </a:p>
          <a:p>
            <a:r>
              <a:rPr lang="zh-CN" altLang="en-US" dirty="0"/>
              <a:t>合并</a:t>
            </a:r>
            <a:r>
              <a:rPr lang="zh-CN" altLang="en-US" dirty="0" smtClean="0"/>
              <a:t>时枚举两部分用了多少体积即可</a:t>
            </a:r>
            <a:endParaRPr lang="en-US" altLang="zh-CN" dirty="0" smtClean="0"/>
          </a:p>
          <a:p>
            <a:r>
              <a:rPr lang="zh-CN" altLang="en-US" dirty="0" smtClean="0"/>
              <a:t>暴力枚举是</a:t>
            </a:r>
            <a:r>
              <a:rPr lang="en-US" altLang="zh-CN" dirty="0" smtClean="0"/>
              <a:t>O(n^1.5)</a:t>
            </a:r>
            <a:r>
              <a:rPr lang="zh-CN" altLang="en-US" dirty="0" smtClean="0"/>
              <a:t>的，当然也可以预处理出</a:t>
            </a:r>
            <a:r>
              <a:rPr lang="en-US" altLang="zh-CN" dirty="0" smtClean="0"/>
              <a:t>g[][]</a:t>
            </a:r>
            <a:r>
              <a:rPr lang="zh-CN" altLang="en-US" dirty="0" smtClean="0"/>
              <a:t>的前缀和来做到线性</a:t>
            </a:r>
            <a:endParaRPr lang="en-US" altLang="zh-CN" dirty="0" smtClean="0"/>
          </a:p>
          <a:p>
            <a:r>
              <a:rPr lang="zh-CN" altLang="en-US" dirty="0" smtClean="0"/>
              <a:t>（反正也就是个常数问题）</a:t>
            </a:r>
            <a:endParaRPr lang="en-US" altLang="zh-CN" dirty="0" smtClean="0"/>
          </a:p>
          <a:p>
            <a:r>
              <a:rPr lang="zh-CN" altLang="en-US" dirty="0"/>
              <a:t>总复杂</a:t>
            </a:r>
            <a:r>
              <a:rPr lang="zh-CN" altLang="en-US" dirty="0" smtClean="0"/>
              <a:t>度</a:t>
            </a:r>
            <a:r>
              <a:rPr lang="en-US" altLang="zh-CN" dirty="0" smtClean="0"/>
              <a:t>O(n^1.5)</a:t>
            </a:r>
            <a:r>
              <a:rPr lang="zh-CN" altLang="en-US" dirty="0" smtClean="0"/>
              <a:t>，常数</a:t>
            </a:r>
            <a:r>
              <a:rPr lang="zh-CN" altLang="en-US" dirty="0"/>
              <a:t>比较</a:t>
            </a:r>
            <a:r>
              <a:rPr lang="zh-CN" altLang="en-US" dirty="0" smtClean="0"/>
              <a:t>小</a:t>
            </a:r>
            <a:endParaRPr lang="en-US" altLang="zh-CN" dirty="0" smtClean="0"/>
          </a:p>
        </p:txBody>
      </p:sp>
    </p:spTree>
    <p:extLst>
      <p:ext uri="{BB962C8B-B14F-4D97-AF65-F5344CB8AC3E}">
        <p14:creationId xmlns="" xmlns:p14="http://schemas.microsoft.com/office/powerpoint/2010/main" val="1661469696"/>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COGS1825 </a:t>
            </a:r>
            <a:r>
              <a:rPr lang="zh-CN" altLang="en-US" dirty="0" smtClean="0"/>
              <a:t>道路</a:t>
            </a:r>
            <a:r>
              <a:rPr lang="zh-CN" altLang="en-US" dirty="0"/>
              <a:t>和航线</a:t>
            </a:r>
          </a:p>
        </p:txBody>
      </p:sp>
      <p:sp>
        <p:nvSpPr>
          <p:cNvPr id="3" name="内容占位符 2"/>
          <p:cNvSpPr>
            <a:spLocks noGrp="1"/>
          </p:cNvSpPr>
          <p:nvPr>
            <p:ph idx="1"/>
          </p:nvPr>
        </p:nvSpPr>
        <p:spPr/>
        <p:txBody>
          <a:bodyPr/>
          <a:lstStyle/>
          <a:p>
            <a:r>
              <a:rPr lang="zh-CN" altLang="en-US" dirty="0" smtClean="0"/>
              <a:t>给定一张带权混合图，其中所有无向边权值非负，对于所有有向边保证边的终点不能到达边的起点</a:t>
            </a:r>
            <a:endParaRPr lang="en-US" altLang="zh-CN" dirty="0" smtClean="0"/>
          </a:p>
          <a:p>
            <a:r>
              <a:rPr lang="zh-CN" altLang="en-US" dirty="0" smtClean="0"/>
              <a:t>求</a:t>
            </a:r>
            <a:r>
              <a:rPr lang="en-US" altLang="zh-CN" dirty="0" smtClean="0"/>
              <a:t>1</a:t>
            </a:r>
            <a:r>
              <a:rPr lang="zh-CN" altLang="en-US" dirty="0" smtClean="0"/>
              <a:t>号节点到所有节点的最短路</a:t>
            </a:r>
            <a:endParaRPr lang="en-US" altLang="zh-CN" dirty="0" smtClean="0"/>
          </a:p>
          <a:p>
            <a:r>
              <a:rPr lang="en-US" altLang="zh-CN" dirty="0" smtClean="0"/>
              <a:t>n&lt;=25000</a:t>
            </a:r>
            <a:r>
              <a:rPr lang="zh-CN" altLang="en-US" dirty="0" smtClean="0"/>
              <a:t>，</a:t>
            </a:r>
            <a:r>
              <a:rPr lang="en-US" altLang="zh-CN" dirty="0" smtClean="0"/>
              <a:t>m&lt;=50000</a:t>
            </a:r>
            <a:r>
              <a:rPr lang="zh-CN" altLang="en-US" dirty="0" smtClean="0"/>
              <a:t>（其实还可以加强很多</a:t>
            </a:r>
            <a:endParaRPr lang="en-US" altLang="zh-CN" dirty="0" smtClean="0"/>
          </a:p>
          <a:p>
            <a:endParaRPr lang="en-US" altLang="zh-CN" dirty="0"/>
          </a:p>
          <a:p>
            <a:r>
              <a:rPr lang="en-US" altLang="zh-CN" dirty="0" smtClean="0"/>
              <a:t>SPFA</a:t>
            </a:r>
            <a:r>
              <a:rPr lang="zh-CN" altLang="en-US" dirty="0" smtClean="0"/>
              <a:t>大法好？</a:t>
            </a:r>
            <a:endParaRPr lang="en-US" altLang="zh-CN" dirty="0" smtClean="0"/>
          </a:p>
          <a:p>
            <a:r>
              <a:rPr lang="zh-CN" altLang="en-US" dirty="0" smtClean="0"/>
              <a:t>这题卡</a:t>
            </a:r>
            <a:r>
              <a:rPr lang="en-US" altLang="zh-CN" dirty="0" smtClean="0"/>
              <a:t>SPFA</a:t>
            </a:r>
            <a:r>
              <a:rPr lang="zh-CN" altLang="en-US" dirty="0" smtClean="0"/>
              <a:t>，写的比较丑的话会</a:t>
            </a:r>
            <a:r>
              <a:rPr lang="en-US" altLang="zh-CN" dirty="0" smtClean="0"/>
              <a:t>TLE</a:t>
            </a:r>
          </a:p>
          <a:p>
            <a:r>
              <a:rPr lang="zh-CN" altLang="en-US" dirty="0" smtClean="0"/>
              <a:t>各种方法优化</a:t>
            </a:r>
            <a:r>
              <a:rPr lang="en-US" altLang="zh-CN" dirty="0" smtClean="0"/>
              <a:t>SPFA</a:t>
            </a:r>
            <a:r>
              <a:rPr lang="zh-CN" altLang="en-US" dirty="0" smtClean="0"/>
              <a:t>？由于数据有点水所以可以过，不过扩大数据范围呢？</a:t>
            </a:r>
            <a:endParaRPr lang="zh-CN" altLang="en-US" dirty="0"/>
          </a:p>
        </p:txBody>
      </p:sp>
    </p:spTree>
    <p:extLst>
      <p:ext uri="{BB962C8B-B14F-4D97-AF65-F5344CB8AC3E}">
        <p14:creationId xmlns="" xmlns:p14="http://schemas.microsoft.com/office/powerpoint/2010/main" val="2763278842"/>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COGS1825 </a:t>
            </a:r>
            <a:r>
              <a:rPr lang="zh-CN" altLang="en-US" dirty="0" smtClean="0"/>
              <a:t>道路</a:t>
            </a:r>
            <a:r>
              <a:rPr lang="zh-CN" altLang="en-US" dirty="0"/>
              <a:t>和航线</a:t>
            </a:r>
          </a:p>
        </p:txBody>
      </p:sp>
      <p:sp>
        <p:nvSpPr>
          <p:cNvPr id="3" name="内容占位符 2"/>
          <p:cNvSpPr>
            <a:spLocks noGrp="1"/>
          </p:cNvSpPr>
          <p:nvPr>
            <p:ph idx="1"/>
          </p:nvPr>
        </p:nvSpPr>
        <p:spPr/>
        <p:txBody>
          <a:bodyPr/>
          <a:lstStyle/>
          <a:p>
            <a:r>
              <a:rPr lang="zh-CN" altLang="en-US" dirty="0" smtClean="0"/>
              <a:t>对于没有负权的情况，我们是可以用</a:t>
            </a:r>
            <a:r>
              <a:rPr lang="en-US" altLang="zh-CN" dirty="0" smtClean="0"/>
              <a:t>Dijkstra</a:t>
            </a:r>
            <a:r>
              <a:rPr lang="zh-CN" altLang="en-US" dirty="0" smtClean="0"/>
              <a:t>算法来保证复杂度的</a:t>
            </a:r>
            <a:endParaRPr lang="en-US" altLang="zh-CN" dirty="0" smtClean="0"/>
          </a:p>
          <a:p>
            <a:r>
              <a:rPr lang="zh-CN" altLang="en-US" dirty="0" smtClean="0"/>
              <a:t>对于</a:t>
            </a:r>
            <a:r>
              <a:rPr lang="en-US" altLang="zh-CN" dirty="0" smtClean="0"/>
              <a:t>DAG</a:t>
            </a:r>
            <a:r>
              <a:rPr lang="zh-CN" altLang="en-US" dirty="0" smtClean="0"/>
              <a:t>的情况，我们还可以用记忆化搜索做到线性</a:t>
            </a:r>
            <a:endParaRPr lang="en-US" altLang="zh-CN" dirty="0" smtClean="0"/>
          </a:p>
          <a:p>
            <a:endParaRPr lang="en-US" altLang="zh-CN" dirty="0"/>
          </a:p>
          <a:p>
            <a:r>
              <a:rPr lang="zh-CN" altLang="en-US" dirty="0" smtClean="0"/>
              <a:t>可以注意到把原图的有向边删掉之后每个连通块都一定没有负权边，而把所有无向边连成的连通块缩点之后的图也一定是</a:t>
            </a:r>
            <a:r>
              <a:rPr lang="en-US" altLang="zh-CN" dirty="0" smtClean="0"/>
              <a:t>DAG</a:t>
            </a:r>
          </a:p>
          <a:p>
            <a:r>
              <a:rPr lang="zh-CN" altLang="en-US" dirty="0" smtClean="0"/>
              <a:t>可以把这两种算法结合起来，对连通块内部用多源</a:t>
            </a:r>
            <a:r>
              <a:rPr lang="en-US" altLang="zh-CN" dirty="0" smtClean="0"/>
              <a:t>Dijkstra</a:t>
            </a:r>
            <a:r>
              <a:rPr lang="zh-CN" altLang="en-US" dirty="0" smtClean="0"/>
              <a:t>求最短路，外部</a:t>
            </a:r>
            <a:r>
              <a:rPr lang="en-US" altLang="zh-CN" dirty="0" smtClean="0"/>
              <a:t>DAG</a:t>
            </a:r>
            <a:r>
              <a:rPr lang="zh-CN" altLang="en-US" dirty="0" smtClean="0"/>
              <a:t>用记忆化搜索求解</a:t>
            </a:r>
            <a:endParaRPr lang="en-US" altLang="zh-CN" dirty="0" smtClean="0"/>
          </a:p>
          <a:p>
            <a:r>
              <a:rPr lang="zh-CN" altLang="en-US" dirty="0"/>
              <a:t>复杂</a:t>
            </a:r>
            <a:r>
              <a:rPr lang="zh-CN" altLang="en-US" dirty="0" smtClean="0"/>
              <a:t>度上界是</a:t>
            </a:r>
            <a:r>
              <a:rPr lang="en-US" altLang="zh-CN" dirty="0" smtClean="0"/>
              <a:t>O(</a:t>
            </a:r>
            <a:r>
              <a:rPr lang="en-US" altLang="zh-CN" dirty="0" err="1" smtClean="0"/>
              <a:t>mlogn</a:t>
            </a:r>
            <a:r>
              <a:rPr lang="en-US" altLang="zh-CN" dirty="0" smtClean="0"/>
              <a:t>)</a:t>
            </a:r>
            <a:r>
              <a:rPr lang="zh-CN" altLang="en-US" dirty="0" smtClean="0"/>
              <a:t>（如果你用的是二叉堆的话）</a:t>
            </a:r>
            <a:endParaRPr lang="zh-CN" altLang="en-US" dirty="0"/>
          </a:p>
        </p:txBody>
      </p:sp>
    </p:spTree>
    <p:extLst>
      <p:ext uri="{BB962C8B-B14F-4D97-AF65-F5344CB8AC3E}">
        <p14:creationId xmlns="" xmlns:p14="http://schemas.microsoft.com/office/powerpoint/2010/main" val="3685292697"/>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HEOI2016 </a:t>
            </a:r>
            <a:r>
              <a:rPr lang="zh-CN" altLang="en-US" dirty="0" smtClean="0"/>
              <a:t>排序</a:t>
            </a:r>
            <a:endParaRPr lang="zh-CN" altLang="en-US" dirty="0"/>
          </a:p>
        </p:txBody>
      </p:sp>
      <p:sp>
        <p:nvSpPr>
          <p:cNvPr id="3" name="内容占位符 2"/>
          <p:cNvSpPr>
            <a:spLocks noGrp="1"/>
          </p:cNvSpPr>
          <p:nvPr>
            <p:ph idx="1"/>
          </p:nvPr>
        </p:nvSpPr>
        <p:spPr/>
        <p:txBody>
          <a:bodyPr/>
          <a:lstStyle/>
          <a:p>
            <a:r>
              <a:rPr lang="zh-CN" altLang="en-US" dirty="0" smtClean="0"/>
              <a:t>给定一个</a:t>
            </a:r>
            <a:r>
              <a:rPr lang="en-US" altLang="zh-CN" dirty="0" smtClean="0"/>
              <a:t>1~n</a:t>
            </a:r>
            <a:r>
              <a:rPr lang="zh-CN" altLang="en-US" dirty="0" smtClean="0"/>
              <a:t>的排列，有</a:t>
            </a:r>
            <a:r>
              <a:rPr lang="en-US" altLang="zh-CN" dirty="0" smtClean="0"/>
              <a:t>m</a:t>
            </a:r>
            <a:r>
              <a:rPr lang="zh-CN" altLang="en-US" dirty="0" smtClean="0"/>
              <a:t>次操作，每次操作都是把一个区间内的数原地升序</a:t>
            </a:r>
            <a:r>
              <a:rPr lang="en-US" altLang="zh-CN" dirty="0" smtClean="0"/>
              <a:t>/</a:t>
            </a:r>
            <a:r>
              <a:rPr lang="zh-CN" altLang="en-US" dirty="0" smtClean="0"/>
              <a:t>降序排序，询问所有操作进行完之后某一个位置上的数</a:t>
            </a:r>
            <a:endParaRPr lang="en-US" altLang="zh-CN" dirty="0" smtClean="0"/>
          </a:p>
          <a:p>
            <a:r>
              <a:rPr lang="en-US" altLang="zh-CN" dirty="0" err="1" smtClean="0"/>
              <a:t>n,m</a:t>
            </a:r>
            <a:r>
              <a:rPr lang="en-US" altLang="zh-CN" dirty="0" smtClean="0"/>
              <a:t>&lt;=10^5</a:t>
            </a:r>
          </a:p>
          <a:p>
            <a:endParaRPr lang="en-US" altLang="zh-CN" dirty="0" smtClean="0"/>
          </a:p>
          <a:p>
            <a:r>
              <a:rPr lang="zh-CN" altLang="en-US" dirty="0" smtClean="0"/>
              <a:t>朴素的模拟最快也要</a:t>
            </a:r>
            <a:r>
              <a:rPr lang="en-US" altLang="zh-CN" dirty="0" smtClean="0"/>
              <a:t>O(n^2)</a:t>
            </a:r>
            <a:r>
              <a:rPr lang="zh-CN" altLang="en-US" dirty="0" smtClean="0"/>
              <a:t>（桶排），显然是不够的</a:t>
            </a:r>
            <a:endParaRPr lang="en-US" altLang="zh-CN" dirty="0" smtClean="0"/>
          </a:p>
          <a:p>
            <a:endParaRPr lang="en-US" altLang="zh-CN" dirty="0" smtClean="0"/>
          </a:p>
          <a:p>
            <a:r>
              <a:rPr lang="zh-CN" altLang="en-US" dirty="0"/>
              <a:t>注意</a:t>
            </a:r>
            <a:r>
              <a:rPr lang="zh-CN" altLang="en-US" dirty="0" smtClean="0"/>
              <a:t>到这里只询问了一个数，可以针对这一点来设计算法</a:t>
            </a:r>
            <a:endParaRPr lang="zh-CN" altLang="en-US" dirty="0"/>
          </a:p>
        </p:txBody>
      </p:sp>
    </p:spTree>
    <p:extLst>
      <p:ext uri="{BB962C8B-B14F-4D97-AF65-F5344CB8AC3E}">
        <p14:creationId xmlns="" xmlns:p14="http://schemas.microsoft.com/office/powerpoint/2010/main" val="2156403809"/>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HEOI2016 </a:t>
            </a:r>
            <a:r>
              <a:rPr lang="zh-CN" altLang="en-US" dirty="0" smtClean="0"/>
              <a:t>排序</a:t>
            </a:r>
            <a:endParaRPr lang="zh-CN" altLang="en-US" dirty="0"/>
          </a:p>
        </p:txBody>
      </p:sp>
      <p:sp>
        <p:nvSpPr>
          <p:cNvPr id="3" name="内容占位符 2"/>
          <p:cNvSpPr>
            <a:spLocks noGrp="1"/>
          </p:cNvSpPr>
          <p:nvPr>
            <p:ph idx="1"/>
          </p:nvPr>
        </p:nvSpPr>
        <p:spPr/>
        <p:txBody>
          <a:bodyPr/>
          <a:lstStyle/>
          <a:p>
            <a:r>
              <a:rPr lang="zh-CN" altLang="en-US" dirty="0" smtClean="0"/>
              <a:t>考虑二分答案</a:t>
            </a:r>
            <a:endParaRPr lang="en-US" altLang="zh-CN" dirty="0" smtClean="0"/>
          </a:p>
          <a:p>
            <a:r>
              <a:rPr lang="zh-CN" altLang="en-US" dirty="0" smtClean="0"/>
              <a:t>（先别问我为什么这个东西可以二分）</a:t>
            </a:r>
            <a:endParaRPr lang="en-US" altLang="zh-CN" dirty="0" smtClean="0"/>
          </a:p>
          <a:p>
            <a:r>
              <a:rPr lang="zh-CN" altLang="en-US" dirty="0" smtClean="0"/>
              <a:t>设</a:t>
            </a:r>
            <a:r>
              <a:rPr lang="zh-CN" altLang="en-US" dirty="0"/>
              <a:t>二分的答案为</a:t>
            </a:r>
            <a:r>
              <a:rPr lang="en-US" altLang="zh-CN" dirty="0"/>
              <a:t>a</a:t>
            </a:r>
            <a:r>
              <a:rPr lang="zh-CN" altLang="en-US" dirty="0"/>
              <a:t>，将</a:t>
            </a:r>
            <a:r>
              <a:rPr lang="zh-CN" altLang="en-US" dirty="0" smtClean="0"/>
              <a:t>整个序列</a:t>
            </a:r>
            <a:r>
              <a:rPr lang="zh-CN" altLang="en-US" dirty="0"/>
              <a:t>中</a:t>
            </a:r>
            <a:r>
              <a:rPr lang="en-US" altLang="zh-CN" dirty="0"/>
              <a:t>&gt;=a</a:t>
            </a:r>
            <a:r>
              <a:rPr lang="zh-CN" altLang="en-US" dirty="0"/>
              <a:t>的值变为</a:t>
            </a:r>
            <a:r>
              <a:rPr lang="en-US" altLang="zh-CN" dirty="0"/>
              <a:t>1</a:t>
            </a:r>
            <a:r>
              <a:rPr lang="zh-CN" altLang="en-US" dirty="0"/>
              <a:t>，</a:t>
            </a:r>
            <a:r>
              <a:rPr lang="en-US" altLang="zh-CN" dirty="0"/>
              <a:t>&lt;a</a:t>
            </a:r>
            <a:r>
              <a:rPr lang="zh-CN" altLang="en-US" dirty="0"/>
              <a:t>的变成</a:t>
            </a:r>
            <a:r>
              <a:rPr lang="en-US" altLang="zh-CN" dirty="0" smtClean="0"/>
              <a:t>0</a:t>
            </a:r>
          </a:p>
          <a:p>
            <a:r>
              <a:rPr lang="zh-CN" altLang="en-US" dirty="0" smtClean="0"/>
              <a:t>对于</a:t>
            </a:r>
            <a:r>
              <a:rPr lang="zh-CN" altLang="en-US" dirty="0"/>
              <a:t>每次部分排序，可以通过线段树的区间更新实现，若为升序则把区间内</a:t>
            </a:r>
            <a:r>
              <a:rPr lang="en-US" altLang="zh-CN" dirty="0"/>
              <a:t>0</a:t>
            </a:r>
            <a:r>
              <a:rPr lang="zh-CN" altLang="en-US" dirty="0"/>
              <a:t>全部排在前边，</a:t>
            </a:r>
            <a:r>
              <a:rPr lang="en-US" altLang="zh-CN" dirty="0"/>
              <a:t>1</a:t>
            </a:r>
            <a:r>
              <a:rPr lang="zh-CN" altLang="en-US" dirty="0"/>
              <a:t>排在后边，</a:t>
            </a:r>
            <a:r>
              <a:rPr lang="zh-CN" altLang="en-US" dirty="0" smtClean="0"/>
              <a:t>反之亦然</a:t>
            </a:r>
            <a:endParaRPr lang="en-US" altLang="zh-CN" dirty="0" smtClean="0"/>
          </a:p>
          <a:p>
            <a:r>
              <a:rPr lang="zh-CN" altLang="en-US" dirty="0" smtClean="0"/>
              <a:t>最后检查</a:t>
            </a:r>
            <a:r>
              <a:rPr lang="en-US" altLang="zh-CN" dirty="0"/>
              <a:t>p</a:t>
            </a:r>
            <a:r>
              <a:rPr lang="zh-CN" altLang="en-US" dirty="0"/>
              <a:t>上的值是</a:t>
            </a:r>
            <a:r>
              <a:rPr lang="en-US" altLang="zh-CN" dirty="0"/>
              <a:t>1</a:t>
            </a:r>
            <a:r>
              <a:rPr lang="zh-CN" altLang="en-US" dirty="0"/>
              <a:t>还是</a:t>
            </a:r>
            <a:r>
              <a:rPr lang="en-US" altLang="zh-CN" dirty="0"/>
              <a:t>0</a:t>
            </a:r>
            <a:r>
              <a:rPr lang="zh-CN" altLang="en-US" dirty="0" smtClean="0"/>
              <a:t>，继续</a:t>
            </a:r>
            <a:r>
              <a:rPr lang="zh-CN" altLang="en-US" dirty="0"/>
              <a:t>调整下一次</a:t>
            </a:r>
            <a:r>
              <a:rPr lang="zh-CN" altLang="en-US" dirty="0" smtClean="0"/>
              <a:t>二分即可</a:t>
            </a:r>
            <a:endParaRPr lang="en-US" altLang="zh-CN" dirty="0" smtClean="0"/>
          </a:p>
          <a:p>
            <a:r>
              <a:rPr lang="en-US" altLang="zh-CN" dirty="0" smtClean="0"/>
              <a:t>O(mlog^2n)</a:t>
            </a:r>
            <a:endParaRPr lang="zh-CN" altLang="en-US" dirty="0"/>
          </a:p>
        </p:txBody>
      </p:sp>
    </p:spTree>
    <p:extLst>
      <p:ext uri="{BB962C8B-B14F-4D97-AF65-F5344CB8AC3E}">
        <p14:creationId xmlns="" xmlns:p14="http://schemas.microsoft.com/office/powerpoint/2010/main" val="2041633076"/>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HEOI2016 </a:t>
            </a:r>
            <a:r>
              <a:rPr lang="zh-CN" altLang="en-US" dirty="0" smtClean="0"/>
              <a:t>排序</a:t>
            </a:r>
            <a:endParaRPr lang="zh-CN" altLang="en-US" dirty="0"/>
          </a:p>
        </p:txBody>
      </p:sp>
      <p:sp>
        <p:nvSpPr>
          <p:cNvPr id="3" name="内容占位符 2"/>
          <p:cNvSpPr>
            <a:spLocks noGrp="1"/>
          </p:cNvSpPr>
          <p:nvPr>
            <p:ph idx="1"/>
          </p:nvPr>
        </p:nvSpPr>
        <p:spPr/>
        <p:txBody>
          <a:bodyPr/>
          <a:lstStyle/>
          <a:p>
            <a:r>
              <a:rPr lang="zh-CN" altLang="en-US" dirty="0" smtClean="0"/>
              <a:t>现在可以解释为什么这个东西可以二分了</a:t>
            </a:r>
            <a:endParaRPr lang="en-US" altLang="zh-CN" dirty="0" smtClean="0"/>
          </a:p>
          <a:p>
            <a:r>
              <a:rPr lang="zh-CN" altLang="en-US" dirty="0" smtClean="0"/>
              <a:t>因为我们可以钦定一个答案之后快速得知答案和它的大小关系，显然这个东西是有单调性的，因此可以二分</a:t>
            </a:r>
            <a:endParaRPr lang="en-US" altLang="zh-CN" dirty="0" smtClean="0"/>
          </a:p>
          <a:p>
            <a:endParaRPr lang="en-US" altLang="zh-CN" dirty="0"/>
          </a:p>
          <a:p>
            <a:r>
              <a:rPr lang="zh-CN" altLang="en-US" dirty="0" smtClean="0"/>
              <a:t>这个题也告诉我们，当数的种类是常数或者一个很小的范围的时候可以考虑用线段树维护区间排序操作</a:t>
            </a:r>
            <a:endParaRPr lang="zh-CN" altLang="en-US" dirty="0"/>
          </a:p>
        </p:txBody>
      </p:sp>
    </p:spTree>
    <p:extLst>
      <p:ext uri="{BB962C8B-B14F-4D97-AF65-F5344CB8AC3E}">
        <p14:creationId xmlns="" xmlns:p14="http://schemas.microsoft.com/office/powerpoint/2010/main" val="3850883814"/>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（某集训的题目）</a:t>
            </a:r>
            <a:r>
              <a:rPr lang="en-US" altLang="zh-CN" dirty="0" smtClean="0"/>
              <a:t>Tower</a:t>
            </a:r>
            <a:endParaRPr lang="zh-CN" altLang="en-US" dirty="0"/>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en-US" dirty="0"/>
              <a:t>这道</a:t>
            </a:r>
            <a:r>
              <a:rPr lang="zh-CN" altLang="en-US" dirty="0" smtClean="0"/>
              <a:t>题应该是这个课件里最难的一道</a:t>
            </a:r>
            <a:r>
              <a:rPr lang="en-US" altLang="zh-CN" dirty="0" smtClean="0"/>
              <a:t>……</a:t>
            </a:r>
          </a:p>
          <a:p>
            <a:r>
              <a:rPr lang="zh-CN" altLang="en-US" dirty="0" smtClean="0"/>
              <a:t>（虽然也只用了</a:t>
            </a:r>
            <a:r>
              <a:rPr lang="en-US" altLang="zh-CN" dirty="0" smtClean="0"/>
              <a:t>NOIP</a:t>
            </a:r>
            <a:r>
              <a:rPr lang="zh-CN" altLang="en-US" dirty="0" smtClean="0"/>
              <a:t>知识</a:t>
            </a:r>
            <a:endParaRPr lang="en-US" altLang="zh-CN" dirty="0" smtClean="0"/>
          </a:p>
          <a:p>
            <a:endParaRPr lang="en-US" altLang="zh-CN" dirty="0"/>
          </a:p>
          <a:p>
            <a:r>
              <a:rPr lang="zh-CN" altLang="en-US" dirty="0"/>
              <a:t>懒得再写一遍了，把以前写的题解粘过来看好了</a:t>
            </a:r>
            <a:r>
              <a:rPr lang="en-US" altLang="zh-CN" dirty="0"/>
              <a:t>……</a:t>
            </a:r>
            <a:endParaRPr lang="zh-CN" altLang="en-US" dirty="0"/>
          </a:p>
          <a:p>
            <a:pPr marL="0" indent="0">
              <a:buNone/>
            </a:pPr>
            <a:endParaRPr lang="zh-CN" altLang="en-US" dirty="0"/>
          </a:p>
        </p:txBody>
      </p:sp>
      <p:pic>
        <p:nvPicPr>
          <p:cNvPr id="4" name="图片 3"/>
          <p:cNvPicPr>
            <a:picLocks noChangeAspect="1"/>
          </p:cNvPicPr>
          <p:nvPr/>
        </p:nvPicPr>
        <p:blipFill>
          <a:blip r:embed="rId2"/>
          <a:stretch>
            <a:fillRect/>
          </a:stretch>
        </p:blipFill>
        <p:spPr>
          <a:xfrm>
            <a:off x="2964" y="1615854"/>
            <a:ext cx="9141036" cy="1718557"/>
          </a:xfrm>
          <a:prstGeom prst="rect">
            <a:avLst/>
          </a:prstGeom>
        </p:spPr>
      </p:pic>
    </p:spTree>
    <p:extLst>
      <p:ext uri="{BB962C8B-B14F-4D97-AF65-F5344CB8AC3E}">
        <p14:creationId xmlns="" xmlns:p14="http://schemas.microsoft.com/office/powerpoint/2010/main" val="2518900762"/>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24177" y="146756"/>
            <a:ext cx="8872938" cy="5441244"/>
          </a:xfrm>
          <a:prstGeom prst="rect">
            <a:avLst/>
          </a:prstGeom>
        </p:spPr>
      </p:pic>
    </p:spTree>
    <p:extLst>
      <p:ext uri="{BB962C8B-B14F-4D97-AF65-F5344CB8AC3E}">
        <p14:creationId xmlns="" xmlns:p14="http://schemas.microsoft.com/office/powerpoint/2010/main" val="1872929362"/>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0" y="1133731"/>
            <a:ext cx="9144000" cy="3394525"/>
          </a:xfrm>
          <a:prstGeom prst="rect">
            <a:avLst/>
          </a:prstGeom>
        </p:spPr>
      </p:pic>
    </p:spTree>
    <p:extLst>
      <p:ext uri="{BB962C8B-B14F-4D97-AF65-F5344CB8AC3E}">
        <p14:creationId xmlns="" xmlns:p14="http://schemas.microsoft.com/office/powerpoint/2010/main" val="2832436310"/>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总结</a:t>
            </a:r>
            <a:endParaRPr lang="zh-CN" altLang="en-US" dirty="0"/>
          </a:p>
        </p:txBody>
      </p:sp>
      <p:sp>
        <p:nvSpPr>
          <p:cNvPr id="3" name="内容占位符 2"/>
          <p:cNvSpPr>
            <a:spLocks noGrp="1"/>
          </p:cNvSpPr>
          <p:nvPr>
            <p:ph idx="1"/>
          </p:nvPr>
        </p:nvSpPr>
        <p:spPr/>
        <p:txBody>
          <a:bodyPr/>
          <a:lstStyle/>
          <a:p>
            <a:r>
              <a:rPr lang="en-US" altLang="zh-CN" dirty="0" smtClean="0"/>
              <a:t>……</a:t>
            </a:r>
            <a:r>
              <a:rPr lang="zh-CN" altLang="en-US" dirty="0" smtClean="0"/>
              <a:t>反正就是个杂题选讲，没什么可总结的</a:t>
            </a:r>
            <a:endParaRPr lang="en-US" altLang="zh-CN" dirty="0" smtClean="0"/>
          </a:p>
          <a:p>
            <a:endParaRPr lang="en-US" altLang="zh-CN" dirty="0"/>
          </a:p>
          <a:p>
            <a:r>
              <a:rPr lang="zh-CN" altLang="en-US" dirty="0" smtClean="0"/>
              <a:t>给大家留了一套题，用来检验一下大家的水平</a:t>
            </a:r>
            <a:endParaRPr lang="en-US" altLang="zh-CN" dirty="0" smtClean="0"/>
          </a:p>
          <a:p>
            <a:r>
              <a:rPr lang="zh-CN" altLang="en-US" dirty="0" smtClean="0"/>
              <a:t>（剧透一波：可能有一道很水的提答</a:t>
            </a:r>
            <a:endParaRPr lang="en-US" altLang="zh-CN" dirty="0" smtClean="0"/>
          </a:p>
          <a:p>
            <a:endParaRPr lang="zh-CN" altLang="en-US" dirty="0"/>
          </a:p>
        </p:txBody>
      </p:sp>
    </p:spTree>
    <p:extLst>
      <p:ext uri="{BB962C8B-B14F-4D97-AF65-F5344CB8AC3E}">
        <p14:creationId xmlns="" xmlns:p14="http://schemas.microsoft.com/office/powerpoint/2010/main" val="291447010"/>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smtClean="0"/>
              <a:t>Thanks!</a:t>
            </a:r>
            <a:endParaRPr lang="zh-CN" altLang="en-US" dirty="0"/>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 xmlns:p14="http://schemas.microsoft.com/office/powerpoint/2010/main" val="3217826069"/>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358</TotalTime>
  <Words>2584</Words>
  <Application>Microsoft Office PowerPoint</Application>
  <PresentationFormat>全屏显示(16:10)</PresentationFormat>
  <Paragraphs>207</Paragraphs>
  <Slides>37</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39" baseType="lpstr">
      <vt:lpstr>Office 主题</vt:lpstr>
      <vt:lpstr>Equation</vt:lpstr>
      <vt:lpstr>小清新题目选讲</vt:lpstr>
      <vt:lpstr>关于我</vt:lpstr>
      <vt:lpstr>为什么要讲这些</vt:lpstr>
      <vt:lpstr>COGS2421 简单的Treap</vt:lpstr>
      <vt:lpstr>幻灯片 5</vt:lpstr>
      <vt:lpstr>COGS2434 暗之链锁</vt:lpstr>
      <vt:lpstr>HEOI2017 组合数问题</vt:lpstr>
      <vt:lpstr>HEOI2017 组合数问题</vt:lpstr>
      <vt:lpstr>HEOI2017 组合数问题</vt:lpstr>
      <vt:lpstr>NOI2016 区间</vt:lpstr>
      <vt:lpstr>ZJOI2004 树的果实</vt:lpstr>
      <vt:lpstr>HNOI2016 序列</vt:lpstr>
      <vt:lpstr>幻灯片 13</vt:lpstr>
      <vt:lpstr>COGS2582 动物城的鸳鸯蛋传说</vt:lpstr>
      <vt:lpstr>COGS2089 平凡的测试数据</vt:lpstr>
      <vt:lpstr>幻灯片 16</vt:lpstr>
      <vt:lpstr>COGS1000 伊吹萃香</vt:lpstr>
      <vt:lpstr>NOI2014 起床困难综合症</vt:lpstr>
      <vt:lpstr>COGS2235 烤鸡翅</vt:lpstr>
      <vt:lpstr>COGS2235 烤鸡翅</vt:lpstr>
      <vt:lpstr>HEOI2017 期末考试</vt:lpstr>
      <vt:lpstr>HEOI2017 期末考试</vt:lpstr>
      <vt:lpstr>HEOI2017 期末考试</vt:lpstr>
      <vt:lpstr>51Nod1597 有限背包计数问题</vt:lpstr>
      <vt:lpstr>51Nod1597 有限背包计数问题</vt:lpstr>
      <vt:lpstr>51Nod1597 有限背包计数问题</vt:lpstr>
      <vt:lpstr>51Nod1597 有限背包计数问题</vt:lpstr>
      <vt:lpstr>COGS1825 道路和航线</vt:lpstr>
      <vt:lpstr>COGS1825 道路和航线</vt:lpstr>
      <vt:lpstr>HEOI2016 排序</vt:lpstr>
      <vt:lpstr>HEOI2016 排序</vt:lpstr>
      <vt:lpstr>HEOI2016 排序</vt:lpstr>
      <vt:lpstr>（某集训的题目）Tower</vt:lpstr>
      <vt:lpstr>幻灯片 34</vt:lpstr>
      <vt:lpstr>幻灯片 35</vt:lpstr>
      <vt:lpstr>总结</vt:lpstr>
      <vt:lpstr>Thanks!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郭丽娜</dc:creator>
  <cp:lastModifiedBy>Administrator</cp:lastModifiedBy>
  <cp:revision>316</cp:revision>
  <dcterms:created xsi:type="dcterms:W3CDTF">2017-07-24T12:35:15Z</dcterms:created>
  <dcterms:modified xsi:type="dcterms:W3CDTF">2017-07-25T08:53:49Z</dcterms:modified>
</cp:coreProperties>
</file>