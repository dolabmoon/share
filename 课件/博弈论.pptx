
<file path=[Content_Types].xml><?xml version="1.0" encoding="utf-8"?>
<Types xmlns="http://schemas.openxmlformats.org/package/2006/content-types">
  <Default Extension="jpeg" ContentType="image/jpe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
  </p:notesMasterIdLst>
  <p:handoutMasterIdLst>
    <p:handoutMasterId r:id="rId38"/>
  </p:handoutMasterIdLst>
  <p:sldIdLst>
    <p:sldId id="269" r:id="rId3"/>
    <p:sldId id="281" r:id="rId5"/>
    <p:sldId id="267" r:id="rId6"/>
    <p:sldId id="280" r:id="rId7"/>
    <p:sldId id="284" r:id="rId8"/>
    <p:sldId id="286" r:id="rId9"/>
    <p:sldId id="287" r:id="rId10"/>
    <p:sldId id="285" r:id="rId11"/>
    <p:sldId id="289" r:id="rId12"/>
    <p:sldId id="290" r:id="rId13"/>
    <p:sldId id="291" r:id="rId14"/>
    <p:sldId id="292" r:id="rId15"/>
    <p:sldId id="294" r:id="rId16"/>
    <p:sldId id="298" r:id="rId17"/>
    <p:sldId id="293" r:id="rId18"/>
    <p:sldId id="295" r:id="rId19"/>
    <p:sldId id="296" r:id="rId20"/>
    <p:sldId id="297" r:id="rId21"/>
    <p:sldId id="299" r:id="rId22"/>
    <p:sldId id="300" r:id="rId23"/>
    <p:sldId id="301" r:id="rId24"/>
    <p:sldId id="302" r:id="rId25"/>
    <p:sldId id="303" r:id="rId26"/>
    <p:sldId id="304" r:id="rId27"/>
    <p:sldId id="305" r:id="rId28"/>
    <p:sldId id="306" r:id="rId29"/>
    <p:sldId id="307" r:id="rId30"/>
    <p:sldId id="308" r:id="rId31"/>
    <p:sldId id="311" r:id="rId32"/>
    <p:sldId id="312" r:id="rId33"/>
    <p:sldId id="313" r:id="rId34"/>
    <p:sldId id="314" r:id="rId35"/>
    <p:sldId id="315" r:id="rId36"/>
    <p:sldId id="309" r:id="rId37"/>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p:cViewPr varScale="1">
        <p:scale>
          <a:sx n="80" d="100"/>
          <a:sy n="80" d="100"/>
        </p:scale>
        <p:origin x="58" y="197"/>
      </p:cViewPr>
      <p:guideLst>
        <p:guide orient="horz" pos="2160"/>
        <p:guide orient="horz" pos="367"/>
        <p:guide orient="horz" pos="3888"/>
        <p:guide pos="3839"/>
        <p:guide pos="815"/>
        <p:guide pos="6863"/>
      </p:guideLst>
    </p:cSldViewPr>
  </p:slideViewPr>
  <p:notesTextViewPr>
    <p:cViewPr>
      <p:scale>
        <a:sx n="100" d="100"/>
        <a:sy n="100" d="100"/>
      </p:scale>
      <p:origin x="0" y="0"/>
    </p:cViewPr>
  </p:notesTextViewPr>
  <p:notesViewPr>
    <p:cSldViewPr showGuides="1">
      <p:cViewPr varScale="1">
        <p:scale>
          <a:sx n="68" d="100"/>
          <a:sy n="68" d="100"/>
        </p:scale>
        <p:origin x="-2772"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zh-CN" sz="1200"/>
            </a:lvl1pPr>
          </a:lstStyle>
          <a:p>
            <a:endParaRPr lang="zh-CN"/>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latinLnBrk="0">
              <a:defRPr lang="zh-CN" sz="1200"/>
            </a:lvl1pPr>
          </a:lstStyle>
          <a:p>
            <a:fld id="{0DCA0844-C266-46EC-A036-E1634F64C44A}" type="datetimeFigureOut">
              <a:rPr lang="en-US" altLang="zh-CN"/>
            </a:fld>
            <a:endParaRPr lang="zh-CN"/>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latinLnBrk="0">
              <a:defRPr lang="zh-CN" sz="1200"/>
            </a:lvl1pPr>
          </a:lstStyle>
          <a:p>
            <a:endParaRPr lang="zh-CN"/>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latinLnBrk="0">
              <a:defRPr lang="zh-CN" sz="1200"/>
            </a:lvl1pPr>
          </a:lstStyle>
          <a:p>
            <a:fld id="{BCB088AA-226D-4237-A99F-5C4B97F43BA8}" type="slidenum">
              <a:rPr lang="zh-CN"/>
            </a:fld>
            <a:endParaRPr 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latinLnBrk="0">
              <a:defRPr lang="zh-CN" sz="1200"/>
            </a:lvl1pPr>
          </a:lstStyle>
          <a:p>
            <a:endParaRPr lang="zh-CN"/>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latinLnBrk="0">
              <a:defRPr lang="zh-CN" sz="1200"/>
            </a:lvl1pPr>
          </a:lstStyle>
          <a:p>
            <a:fld id="{28C08BCD-7B2F-4BCE-87AF-5D67EFFE4D17}" type="datetimeFigureOut">
              <a:rPr/>
            </a:fld>
            <a:endParaRPr lang="zh-CN"/>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latinLnBrk="0">
              <a:defRPr lang="zh-CN" sz="1200"/>
            </a:lvl1pPr>
          </a:lstStyle>
          <a:p>
            <a:endParaRPr lang="zh-CN"/>
          </a:p>
        </p:txBody>
      </p:sp>
      <p:sp>
        <p:nvSpPr>
          <p:cNvPr id="7" name="幻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latinLnBrk="0">
              <a:defRPr lang="zh-CN" sz="1200"/>
            </a:lvl1pPr>
          </a:lstStyle>
          <a:p>
            <a:fld id="{1B6A1353-EEA5-436B-AB14-1D84B195E669}" type="slidenum">
              <a:rPr/>
            </a:fld>
            <a:endParaRPr lang="zh-C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lang="zh-CN" sz="1200" kern="1200">
        <a:solidFill>
          <a:schemeClr val="tx2"/>
        </a:solidFill>
        <a:latin typeface="+mn-lt"/>
        <a:ea typeface="+mn-ea"/>
        <a:cs typeface="+mn-cs"/>
      </a:defRPr>
    </a:lvl1pPr>
    <a:lvl2pPr marL="457200" algn="l" defTabSz="914400" rtl="0" eaLnBrk="1" latinLnBrk="0" hangingPunct="1">
      <a:defRPr lang="zh-CN" sz="1200" kern="1200">
        <a:solidFill>
          <a:schemeClr val="tx2"/>
        </a:solidFill>
        <a:latin typeface="+mn-lt"/>
        <a:ea typeface="+mn-ea"/>
        <a:cs typeface="+mn-cs"/>
      </a:defRPr>
    </a:lvl2pPr>
    <a:lvl3pPr marL="914400" algn="l" defTabSz="914400" rtl="0" eaLnBrk="1" latinLnBrk="0" hangingPunct="1">
      <a:defRPr lang="zh-CN" sz="1200" kern="1200">
        <a:solidFill>
          <a:schemeClr val="tx2"/>
        </a:solidFill>
        <a:latin typeface="+mn-lt"/>
        <a:ea typeface="+mn-ea"/>
        <a:cs typeface="+mn-cs"/>
      </a:defRPr>
    </a:lvl3pPr>
    <a:lvl4pPr marL="1371600" algn="l" defTabSz="914400" rtl="0" eaLnBrk="1" latinLnBrk="0" hangingPunct="1">
      <a:defRPr lang="zh-CN" sz="1200" kern="1200">
        <a:solidFill>
          <a:schemeClr val="tx2"/>
        </a:solidFill>
        <a:latin typeface="+mn-lt"/>
        <a:ea typeface="+mn-ea"/>
        <a:cs typeface="+mn-cs"/>
      </a:defRPr>
    </a:lvl4pPr>
    <a:lvl5pPr marL="1828800" algn="l" defTabSz="914400" rtl="0" eaLnBrk="1" latinLnBrk="0" hangingPunct="1">
      <a:defRPr lang="zh-CN" sz="1200" kern="1200">
        <a:solidFill>
          <a:schemeClr val="tx2"/>
        </a:solidFill>
        <a:latin typeface="+mn-lt"/>
        <a:ea typeface="+mn-ea"/>
        <a:cs typeface="+mn-cs"/>
      </a:defRPr>
    </a:lvl5pPr>
    <a:lvl6pPr marL="2286000" algn="l" defTabSz="914400" rtl="0" eaLnBrk="1" latinLnBrk="0" hangingPunct="1">
      <a:defRPr lang="zh-CN" sz="1200" kern="1200">
        <a:solidFill>
          <a:schemeClr val="tx1"/>
        </a:solidFill>
        <a:latin typeface="+mn-lt"/>
        <a:ea typeface="+mn-ea"/>
        <a:cs typeface="+mn-cs"/>
      </a:defRPr>
    </a:lvl6pPr>
    <a:lvl7pPr marL="2743200" algn="l" defTabSz="914400" rtl="0" eaLnBrk="1" latinLnBrk="0" hangingPunct="1">
      <a:defRPr lang="zh-CN" sz="1200" kern="1200">
        <a:solidFill>
          <a:schemeClr val="tx1"/>
        </a:solidFill>
        <a:latin typeface="+mn-lt"/>
        <a:ea typeface="+mn-ea"/>
        <a:cs typeface="+mn-cs"/>
      </a:defRPr>
    </a:lvl7pPr>
    <a:lvl8pPr marL="3200400" algn="l" defTabSz="914400" rtl="0" eaLnBrk="1" latinLnBrk="0" hangingPunct="1">
      <a:defRPr lang="zh-CN" sz="1200" kern="1200">
        <a:solidFill>
          <a:schemeClr val="tx1"/>
        </a:solidFill>
        <a:latin typeface="+mn-lt"/>
        <a:ea typeface="+mn-ea"/>
        <a:cs typeface="+mn-cs"/>
      </a:defRPr>
    </a:lvl8pPr>
    <a:lvl9pPr marL="3657600" algn="l" defTabSz="914400" rtl="0" eaLnBrk="1" latinLnBrk="0" hangingPunct="1">
      <a:defRPr lang="zh-CN"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noProof="0"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0"/>
          </p:nvPr>
        </p:nvSpPr>
        <p:spPr/>
        <p:txBody>
          <a:bodyPr/>
          <a:lstStyle/>
          <a:p>
            <a:fld id="{1B6A1353-EEA5-436B-AB14-1D84B195E669}" type="slidenum">
              <a:rPr lang="en-US" altLang="zh-CN"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7" name="矩形 6"/>
          <p:cNvSpPr/>
          <p:nvPr/>
        </p:nvSpPr>
        <p:spPr>
          <a:xfrm>
            <a:off x="2" y="0"/>
            <a:ext cx="12188823" cy="61722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8" name="单圆角矩形 7"/>
          <p:cNvSpPr/>
          <p:nvPr/>
        </p:nvSpPr>
        <p:spPr bwMode="ltGray">
          <a:xfrm rot="10800000" flipH="1" flipV="1">
            <a:off x="6926759" y="228598"/>
            <a:ext cx="5035054" cy="5715002"/>
          </a:xfrm>
          <a:prstGeom prst="round1Rect">
            <a:avLst>
              <a:gd name="adj" fmla="val 589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9" name="矩形 8"/>
          <p:cNvSpPr/>
          <p:nvPr/>
        </p:nvSpPr>
        <p:spPr>
          <a:xfrm>
            <a:off x="0" y="3"/>
            <a:ext cx="6926756" cy="6172197"/>
          </a:xfrm>
          <a:prstGeom prst="rect">
            <a:avLst/>
          </a:prstGeom>
          <a:solidFill>
            <a:schemeClr val="accent1">
              <a:lumMod val="75000"/>
              <a:alpha val="32157"/>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10" name="矩形 9"/>
          <p:cNvSpPr/>
          <p:nvPr/>
        </p:nvSpPr>
        <p:spPr>
          <a:xfrm>
            <a:off x="0" y="6172200"/>
            <a:ext cx="12188952" cy="685800"/>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2" name="标题 1"/>
          <p:cNvSpPr>
            <a:spLocks noGrp="1"/>
          </p:cNvSpPr>
          <p:nvPr>
            <p:ph type="ctrTitle"/>
          </p:nvPr>
        </p:nvSpPr>
        <p:spPr>
          <a:xfrm>
            <a:off x="608013" y="1703718"/>
            <a:ext cx="5791200" cy="3733800"/>
          </a:xfrm>
        </p:spPr>
        <p:txBody>
          <a:bodyPr>
            <a:normAutofit/>
          </a:bodyPr>
          <a:lstStyle>
            <a:lvl1pPr latinLnBrk="0">
              <a:lnSpc>
                <a:spcPct val="80000"/>
              </a:lnSpc>
              <a:defRPr lang="zh-CN" sz="6000">
                <a:solidFill>
                  <a:schemeClr val="bg1"/>
                </a:solidFill>
                <a:effectLst>
                  <a:outerShdw blurRad="88900" algn="ctr" rotWithShape="0">
                    <a:prstClr val="black">
                      <a:alpha val="35000"/>
                    </a:prstClr>
                  </a:outerShdw>
                </a:effectLst>
              </a:defRPr>
            </a:lvl1pPr>
          </a:lstStyle>
          <a:p>
            <a:r>
              <a:rPr lang="zh-CN" altLang="en-US"/>
              <a:t>单击此处编辑母版标题样式</a:t>
            </a:r>
            <a:endParaRPr lang="zh-CN"/>
          </a:p>
        </p:txBody>
      </p:sp>
      <p:sp>
        <p:nvSpPr>
          <p:cNvPr id="3" name="副标题 2"/>
          <p:cNvSpPr>
            <a:spLocks noGrp="1"/>
          </p:cNvSpPr>
          <p:nvPr>
            <p:ph type="subTitle" idx="1" hasCustomPrompt="1"/>
          </p:nvPr>
        </p:nvSpPr>
        <p:spPr>
          <a:xfrm>
            <a:off x="7085014" y="3429000"/>
            <a:ext cx="4572000" cy="1905000"/>
          </a:xfrm>
        </p:spPr>
        <p:txBody>
          <a:bodyPr anchor="b"/>
          <a:lstStyle>
            <a:lvl1pPr marL="0" indent="0" algn="l" latinLnBrk="0">
              <a:spcBef>
                <a:spcPts val="0"/>
              </a:spcBef>
              <a:buNone/>
              <a:defRPr lang="zh-CN">
                <a:solidFill>
                  <a:schemeClr val="tx1"/>
                </a:solidFill>
              </a:defRPr>
            </a:lvl1pPr>
            <a:lvl2pPr marL="457200" indent="0" algn="ctr" latinLnBrk="0">
              <a:buNone/>
              <a:defRPr lang="zh-CN">
                <a:solidFill>
                  <a:schemeClr val="tx1">
                    <a:tint val="75000"/>
                  </a:schemeClr>
                </a:solidFill>
              </a:defRPr>
            </a:lvl2pPr>
            <a:lvl3pPr marL="914400" indent="0" algn="ctr" latinLnBrk="0">
              <a:buNone/>
              <a:defRPr lang="zh-CN">
                <a:solidFill>
                  <a:schemeClr val="tx1">
                    <a:tint val="75000"/>
                  </a:schemeClr>
                </a:solidFill>
              </a:defRPr>
            </a:lvl3pPr>
            <a:lvl4pPr marL="1371600" indent="0" algn="ctr" latinLnBrk="0">
              <a:buNone/>
              <a:defRPr lang="zh-CN">
                <a:solidFill>
                  <a:schemeClr val="tx1">
                    <a:tint val="75000"/>
                  </a:schemeClr>
                </a:solidFill>
              </a:defRPr>
            </a:lvl4pPr>
            <a:lvl5pPr marL="1828800" indent="0" algn="ctr" latinLnBrk="0">
              <a:buNone/>
              <a:defRPr lang="zh-CN">
                <a:solidFill>
                  <a:schemeClr val="tx1">
                    <a:tint val="75000"/>
                  </a:schemeClr>
                </a:solidFill>
              </a:defRPr>
            </a:lvl5pPr>
            <a:lvl6pPr marL="2286000" indent="0" algn="ctr" latinLnBrk="0">
              <a:buNone/>
              <a:defRPr lang="zh-CN">
                <a:solidFill>
                  <a:schemeClr val="tx1">
                    <a:tint val="75000"/>
                  </a:schemeClr>
                </a:solidFill>
              </a:defRPr>
            </a:lvl6pPr>
            <a:lvl7pPr marL="2743200" indent="0" algn="ctr" latinLnBrk="0">
              <a:buNone/>
              <a:defRPr lang="zh-CN">
                <a:solidFill>
                  <a:schemeClr val="tx1">
                    <a:tint val="75000"/>
                  </a:schemeClr>
                </a:solidFill>
              </a:defRPr>
            </a:lvl7pPr>
            <a:lvl8pPr marL="3200400" indent="0" algn="ctr" latinLnBrk="0">
              <a:buNone/>
              <a:defRPr lang="zh-CN">
                <a:solidFill>
                  <a:schemeClr val="tx1">
                    <a:tint val="75000"/>
                  </a:schemeClr>
                </a:solidFill>
              </a:defRPr>
            </a:lvl8pPr>
            <a:lvl9pPr marL="3657600" indent="0" algn="ctr" latinLnBrk="0">
              <a:buNone/>
              <a:defRPr lang="zh-CN">
                <a:solidFill>
                  <a:schemeClr val="tx1">
                    <a:tint val="75000"/>
                  </a:schemeClr>
                </a:solidFill>
              </a:defRPr>
            </a:lvl9pPr>
          </a:lstStyle>
          <a:p>
            <a:r>
              <a:rPr lang="zh-CN" altLang="en-US"/>
              <a:t>单击以编辑母版副标题样式</a:t>
            </a:r>
            <a:endParaRPr lang="zh-CN"/>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内容占位符 2"/>
          <p:cNvSpPr>
            <a:spLocks noGrp="1"/>
          </p:cNvSpPr>
          <p:nvPr>
            <p:ph idx="1" hasCustomPrompt="1"/>
          </p:nvPr>
        </p:nvSpPr>
        <p:spPr/>
        <p:txBody>
          <a:bodyPr/>
          <a:lstStyle>
            <a:lvl5pPr latinLnBrk="0">
              <a:defRPr lang="zh-CN"/>
            </a:lvl5pPr>
            <a:lvl6pPr latinLnBrk="0">
              <a:defRPr lang="zh-CN"/>
            </a:lvl6pPr>
            <a:lvl7pPr latinLnBrk="0">
              <a:defRPr lang="zh-CN" baseline="0"/>
            </a:lvl7pPr>
            <a:lvl8pPr latinLnBrk="0">
              <a:defRPr lang="zh-CN" baseline="0"/>
            </a:lvl8pPr>
            <a:lvl9pPr latinLnBrk="0">
              <a:defRPr lang="zh-CN" baseline="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p:cSld name="标题幻灯片（带图片）">
    <p:spTree>
      <p:nvGrpSpPr>
        <p:cNvPr id="1" name=""/>
        <p:cNvGrpSpPr/>
        <p:nvPr/>
      </p:nvGrpSpPr>
      <p:grpSpPr>
        <a:xfrm>
          <a:off x="0" y="0"/>
          <a:ext cx="0" cy="0"/>
          <a:chOff x="0" y="0"/>
          <a:chExt cx="0" cy="0"/>
        </a:xfrm>
      </p:grpSpPr>
      <p:sp>
        <p:nvSpPr>
          <p:cNvPr id="11" name="矩形 10"/>
          <p:cNvSpPr/>
          <p:nvPr/>
        </p:nvSpPr>
        <p:spPr>
          <a:xfrm>
            <a:off x="0" y="0"/>
            <a:ext cx="12188952" cy="61722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12" name="矩形 11"/>
          <p:cNvSpPr/>
          <p:nvPr/>
        </p:nvSpPr>
        <p:spPr>
          <a:xfrm>
            <a:off x="0" y="3"/>
            <a:ext cx="5180012" cy="6172197"/>
          </a:xfrm>
          <a:prstGeom prst="rect">
            <a:avLst/>
          </a:prstGeom>
          <a:solidFill>
            <a:schemeClr val="accent1">
              <a:lumMod val="75000"/>
              <a:alpha val="32157"/>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13" name="矩形 12"/>
          <p:cNvSpPr/>
          <p:nvPr/>
        </p:nvSpPr>
        <p:spPr>
          <a:xfrm>
            <a:off x="0" y="6172200"/>
            <a:ext cx="12188952"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2" name="标题 1"/>
          <p:cNvSpPr>
            <a:spLocks noGrp="1"/>
          </p:cNvSpPr>
          <p:nvPr>
            <p:ph type="ctrTitle"/>
          </p:nvPr>
        </p:nvSpPr>
        <p:spPr>
          <a:xfrm>
            <a:off x="608013" y="914400"/>
            <a:ext cx="4190999" cy="3886200"/>
          </a:xfrm>
        </p:spPr>
        <p:txBody>
          <a:bodyPr>
            <a:normAutofit/>
          </a:bodyPr>
          <a:lstStyle>
            <a:lvl1pPr latinLnBrk="0">
              <a:lnSpc>
                <a:spcPct val="80000"/>
              </a:lnSpc>
              <a:defRPr lang="zh-CN" sz="6000">
                <a:solidFill>
                  <a:schemeClr val="bg1"/>
                </a:solidFill>
                <a:effectLst>
                  <a:outerShdw blurRad="88900" algn="ctr" rotWithShape="0">
                    <a:prstClr val="black">
                      <a:alpha val="35000"/>
                    </a:prstClr>
                  </a:outerShdw>
                </a:effectLst>
              </a:defRPr>
            </a:lvl1pPr>
          </a:lstStyle>
          <a:p>
            <a:r>
              <a:rPr lang="zh-CN" altLang="en-US"/>
              <a:t>单击此处编辑母版标题样式</a:t>
            </a:r>
            <a:endParaRPr lang="zh-CN"/>
          </a:p>
        </p:txBody>
      </p:sp>
      <p:sp>
        <p:nvSpPr>
          <p:cNvPr id="3" name="副标题 2"/>
          <p:cNvSpPr>
            <a:spLocks noGrp="1"/>
          </p:cNvSpPr>
          <p:nvPr>
            <p:ph type="subTitle" idx="1" hasCustomPrompt="1"/>
          </p:nvPr>
        </p:nvSpPr>
        <p:spPr>
          <a:xfrm>
            <a:off x="597799" y="4953000"/>
            <a:ext cx="4201213" cy="990599"/>
          </a:xfrm>
        </p:spPr>
        <p:txBody>
          <a:bodyPr anchor="t">
            <a:normAutofit/>
          </a:bodyPr>
          <a:lstStyle>
            <a:lvl1pPr marL="0" indent="0" algn="l" latinLnBrk="0">
              <a:spcBef>
                <a:spcPts val="0"/>
              </a:spcBef>
              <a:buNone/>
              <a:defRPr lang="zh-CN" sz="2000">
                <a:solidFill>
                  <a:schemeClr val="accent1">
                    <a:lumMod val="20000"/>
                    <a:lumOff val="80000"/>
                  </a:schemeClr>
                </a:solidFill>
              </a:defRPr>
            </a:lvl1pPr>
            <a:lvl2pPr marL="457200" indent="0" algn="ctr" latinLnBrk="0">
              <a:buNone/>
              <a:defRPr lang="zh-CN">
                <a:solidFill>
                  <a:schemeClr val="tx1">
                    <a:tint val="75000"/>
                  </a:schemeClr>
                </a:solidFill>
              </a:defRPr>
            </a:lvl2pPr>
            <a:lvl3pPr marL="914400" indent="0" algn="ctr" latinLnBrk="0">
              <a:buNone/>
              <a:defRPr lang="zh-CN">
                <a:solidFill>
                  <a:schemeClr val="tx1">
                    <a:tint val="75000"/>
                  </a:schemeClr>
                </a:solidFill>
              </a:defRPr>
            </a:lvl3pPr>
            <a:lvl4pPr marL="1371600" indent="0" algn="ctr" latinLnBrk="0">
              <a:buNone/>
              <a:defRPr lang="zh-CN">
                <a:solidFill>
                  <a:schemeClr val="tx1">
                    <a:tint val="75000"/>
                  </a:schemeClr>
                </a:solidFill>
              </a:defRPr>
            </a:lvl4pPr>
            <a:lvl5pPr marL="1828800" indent="0" algn="ctr" latinLnBrk="0">
              <a:buNone/>
              <a:defRPr lang="zh-CN">
                <a:solidFill>
                  <a:schemeClr val="tx1">
                    <a:tint val="75000"/>
                  </a:schemeClr>
                </a:solidFill>
              </a:defRPr>
            </a:lvl5pPr>
            <a:lvl6pPr marL="2286000" indent="0" algn="ctr" latinLnBrk="0">
              <a:buNone/>
              <a:defRPr lang="zh-CN">
                <a:solidFill>
                  <a:schemeClr val="tx1">
                    <a:tint val="75000"/>
                  </a:schemeClr>
                </a:solidFill>
              </a:defRPr>
            </a:lvl6pPr>
            <a:lvl7pPr marL="2743200" indent="0" algn="ctr" latinLnBrk="0">
              <a:buNone/>
              <a:defRPr lang="zh-CN">
                <a:solidFill>
                  <a:schemeClr val="tx1">
                    <a:tint val="75000"/>
                  </a:schemeClr>
                </a:solidFill>
              </a:defRPr>
            </a:lvl7pPr>
            <a:lvl8pPr marL="3200400" indent="0" algn="ctr" latinLnBrk="0">
              <a:buNone/>
              <a:defRPr lang="zh-CN">
                <a:solidFill>
                  <a:schemeClr val="tx1">
                    <a:tint val="75000"/>
                  </a:schemeClr>
                </a:solidFill>
              </a:defRPr>
            </a:lvl8pPr>
            <a:lvl9pPr marL="3657600" indent="0" algn="ctr" latinLnBrk="0">
              <a:buNone/>
              <a:defRPr lang="zh-CN">
                <a:solidFill>
                  <a:schemeClr val="tx1">
                    <a:tint val="75000"/>
                  </a:schemeClr>
                </a:solidFill>
              </a:defRPr>
            </a:lvl9pPr>
          </a:lstStyle>
          <a:p>
            <a:r>
              <a:rPr lang="zh-CN" altLang="en-US"/>
              <a:t>单击以编辑母版副标题样式</a:t>
            </a:r>
            <a:endParaRPr lang="zh-CN"/>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
        <p:nvSpPr>
          <p:cNvPr id="14" name="图片占位符 4"/>
          <p:cNvSpPr>
            <a:spLocks noGrp="1"/>
          </p:cNvSpPr>
          <p:nvPr>
            <p:ph type="pic" sz="quarter" idx="13"/>
          </p:nvPr>
        </p:nvSpPr>
        <p:spPr>
          <a:xfrm>
            <a:off x="5180013" y="228600"/>
            <a:ext cx="6781800" cy="5715000"/>
          </a:xfrm>
          <a:prstGeom prst="round1Rect">
            <a:avLst>
              <a:gd name="adj" fmla="val 5636"/>
            </a:avLst>
          </a:prstGeom>
          <a:solidFill>
            <a:schemeClr val="bg2"/>
          </a:solidFill>
        </p:spPr>
        <p:txBody>
          <a:bodyPr tIns="914400"/>
          <a:lstStyle>
            <a:lvl1pPr marL="0" indent="0" algn="ctr" latinLnBrk="0">
              <a:buNone/>
              <a:defRPr lang="zh-CN"/>
            </a:lvl1pPr>
          </a:lstStyle>
          <a:p>
            <a:r>
              <a:rPr lang="zh-CN" altLang="en-US"/>
              <a:t>单击图标添加图片</a:t>
            </a:r>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8" name="矩形 7"/>
          <p:cNvSpPr/>
          <p:nvPr/>
        </p:nvSpPr>
        <p:spPr>
          <a:xfrm>
            <a:off x="0" y="2876"/>
            <a:ext cx="12188952" cy="64770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9" name="矩形 8"/>
          <p:cNvSpPr/>
          <p:nvPr/>
        </p:nvSpPr>
        <p:spPr>
          <a:xfrm>
            <a:off x="7451144" y="0"/>
            <a:ext cx="4737681" cy="6477000"/>
          </a:xfrm>
          <a:prstGeom prst="rect">
            <a:avLst/>
          </a:prstGeom>
          <a:solidFill>
            <a:schemeClr val="accent1">
              <a:lumMod val="75000"/>
              <a:alpha val="32157"/>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10" name="单圆角矩形 9"/>
          <p:cNvSpPr/>
          <p:nvPr/>
        </p:nvSpPr>
        <p:spPr bwMode="ltGray">
          <a:xfrm rot="10800000" flipV="1">
            <a:off x="219973" y="234351"/>
            <a:ext cx="7237410" cy="6014049"/>
          </a:xfrm>
          <a:prstGeom prst="round1Rect">
            <a:avLst>
              <a:gd name="adj" fmla="val 58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11" name="矩形 10"/>
          <p:cNvSpPr/>
          <p:nvPr/>
        </p:nvSpPr>
        <p:spPr>
          <a:xfrm>
            <a:off x="0" y="6477000"/>
            <a:ext cx="12188952" cy="381000"/>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2" name="标题 1"/>
          <p:cNvSpPr>
            <a:spLocks noGrp="1"/>
          </p:cNvSpPr>
          <p:nvPr>
            <p:ph type="title"/>
          </p:nvPr>
        </p:nvSpPr>
        <p:spPr>
          <a:xfrm>
            <a:off x="1293813" y="685800"/>
            <a:ext cx="5638801" cy="4191000"/>
          </a:xfrm>
        </p:spPr>
        <p:txBody>
          <a:bodyPr anchor="b">
            <a:noAutofit/>
          </a:bodyPr>
          <a:lstStyle>
            <a:lvl1pPr algn="l" latinLnBrk="0">
              <a:defRPr lang="zh-CN" sz="5400" b="0" cap="none" baseline="0"/>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1293813" y="5029200"/>
            <a:ext cx="5638800" cy="914400"/>
          </a:xfrm>
        </p:spPr>
        <p:txBody>
          <a:bodyPr anchor="t">
            <a:normAutofit/>
          </a:bodyPr>
          <a:lstStyle>
            <a:lvl1pPr marL="0" indent="0" latinLnBrk="0">
              <a:spcBef>
                <a:spcPts val="0"/>
              </a:spcBef>
              <a:buNone/>
              <a:defRPr lang="zh-CN" sz="2000">
                <a:solidFill>
                  <a:schemeClr val="accent1"/>
                </a:solidFill>
              </a:defRPr>
            </a:lvl1pPr>
            <a:lvl2pPr marL="457200" indent="0" latinLnBrk="0">
              <a:buNone/>
              <a:defRPr lang="zh-CN" sz="1800">
                <a:solidFill>
                  <a:schemeClr val="tx1">
                    <a:tint val="75000"/>
                  </a:schemeClr>
                </a:solidFill>
              </a:defRPr>
            </a:lvl2pPr>
            <a:lvl3pPr marL="914400" indent="0" latinLnBrk="0">
              <a:buNone/>
              <a:defRPr lang="zh-CN" sz="1600">
                <a:solidFill>
                  <a:schemeClr val="tx1">
                    <a:tint val="75000"/>
                  </a:schemeClr>
                </a:solidFill>
              </a:defRPr>
            </a:lvl3pPr>
            <a:lvl4pPr marL="1371600" indent="0" latinLnBrk="0">
              <a:buNone/>
              <a:defRPr lang="zh-CN" sz="1400">
                <a:solidFill>
                  <a:schemeClr val="tx1">
                    <a:tint val="75000"/>
                  </a:schemeClr>
                </a:solidFill>
              </a:defRPr>
            </a:lvl4pPr>
            <a:lvl5pPr marL="1828800" indent="0" latinLnBrk="0">
              <a:buNone/>
              <a:defRPr lang="zh-CN" sz="1400">
                <a:solidFill>
                  <a:schemeClr val="tx1">
                    <a:tint val="75000"/>
                  </a:schemeClr>
                </a:solidFill>
              </a:defRPr>
            </a:lvl5pPr>
            <a:lvl6pPr marL="2286000" indent="0" latinLnBrk="0">
              <a:buNone/>
              <a:defRPr lang="zh-CN" sz="1400">
                <a:solidFill>
                  <a:schemeClr val="tx1">
                    <a:tint val="75000"/>
                  </a:schemeClr>
                </a:solidFill>
              </a:defRPr>
            </a:lvl6pPr>
            <a:lvl7pPr marL="2743200" indent="0" latinLnBrk="0">
              <a:buNone/>
              <a:defRPr lang="zh-CN" sz="1400">
                <a:solidFill>
                  <a:schemeClr val="tx1">
                    <a:tint val="75000"/>
                  </a:schemeClr>
                </a:solidFill>
              </a:defRPr>
            </a:lvl7pPr>
            <a:lvl8pPr marL="3200400" indent="0" latinLnBrk="0">
              <a:buNone/>
              <a:defRPr lang="zh-CN" sz="1400">
                <a:solidFill>
                  <a:schemeClr val="tx1">
                    <a:tint val="75000"/>
                  </a:schemeClr>
                </a:solidFill>
              </a:defRPr>
            </a:lvl8pPr>
            <a:lvl9pPr marL="3657600" indent="0" latinLnBrk="0">
              <a:buNone/>
              <a:defRPr lang="zh-CN" sz="1400">
                <a:solidFill>
                  <a:schemeClr val="tx1">
                    <a:tint val="75000"/>
                  </a:schemeClr>
                </a:solidFill>
              </a:defRPr>
            </a:lvl9pPr>
          </a:lstStyle>
          <a:p>
            <a:pPr lvl="0"/>
            <a:r>
              <a:rPr lang="zh-CN" altLang="en-US"/>
              <a:t>编辑母版文本样式</a:t>
            </a:r>
            <a:endParaRPr lang="zh-CN" altLang="en-US"/>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内容占位符 2"/>
          <p:cNvSpPr>
            <a:spLocks noGrp="1"/>
          </p:cNvSpPr>
          <p:nvPr>
            <p:ph sz="half" idx="1" hasCustomPrompt="1"/>
          </p:nvPr>
        </p:nvSpPr>
        <p:spPr>
          <a:xfrm>
            <a:off x="1293813" y="1981200"/>
            <a:ext cx="4648201" cy="41910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marL="1371600" latinLnBrk="0">
              <a:defRPr lang="zh-CN" sz="1600"/>
            </a:lvl6pPr>
            <a:lvl7pPr marL="1600200" latinLnBrk="0">
              <a:defRPr lang="zh-CN" sz="1600"/>
            </a:lvl7pPr>
            <a:lvl8pPr marL="1828800" latinLnBrk="0">
              <a:defRPr lang="zh-CN" sz="1600"/>
            </a:lvl8pPr>
            <a:lvl9pPr marL="2057400" latinLnBrk="0">
              <a:defRPr lang="zh-CN"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内容占位符 3"/>
          <p:cNvSpPr>
            <a:spLocks noGrp="1"/>
          </p:cNvSpPr>
          <p:nvPr>
            <p:ph sz="half" idx="2" hasCustomPrompt="1"/>
          </p:nvPr>
        </p:nvSpPr>
        <p:spPr>
          <a:xfrm>
            <a:off x="6246811" y="1981200"/>
            <a:ext cx="4648203" cy="4191000"/>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marL="1143000" latinLnBrk="0">
              <a:defRPr lang="zh-CN" sz="1600"/>
            </a:lvl5pPr>
            <a:lvl6pPr marL="1371600" latinLnBrk="0">
              <a:defRPr lang="zh-CN" sz="1600"/>
            </a:lvl6pPr>
            <a:lvl7pPr marL="1600200" latinLnBrk="0">
              <a:defRPr lang="zh-CN" sz="1600"/>
            </a:lvl7pPr>
            <a:lvl8pPr marL="1828800" latinLnBrk="0">
              <a:defRPr lang="zh-CN" sz="1600"/>
            </a:lvl8pPr>
            <a:lvl9pPr marL="2057400" latinLnBrk="0">
              <a:defRPr lang="zh-CN"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5" name="日期占位符 4"/>
          <p:cNvSpPr>
            <a:spLocks noGrp="1"/>
          </p:cNvSpPr>
          <p:nvPr>
            <p:ph type="dt" sz="half" idx="10"/>
          </p:nvPr>
        </p:nvSpPr>
        <p:spPr/>
        <p:txBody>
          <a:bodyPr/>
          <a:lstStyle/>
          <a:p>
            <a:fld id="{8E36636D-D922-432D-A958-524484B5923D}"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latinLnBrk="0">
              <a:defRPr lang="zh-CN"/>
            </a:lvl1pPr>
          </a:lstStyle>
          <a:p>
            <a:r>
              <a:rPr lang="zh-CN" altLang="en-US"/>
              <a:t>单击此处编辑母版标题样式</a:t>
            </a:r>
            <a:endParaRPr lang="zh-CN"/>
          </a:p>
        </p:txBody>
      </p:sp>
      <p:sp>
        <p:nvSpPr>
          <p:cNvPr id="3" name="文本占位符 2"/>
          <p:cNvSpPr>
            <a:spLocks noGrp="1"/>
          </p:cNvSpPr>
          <p:nvPr>
            <p:ph type="body" idx="1" hasCustomPrompt="1"/>
          </p:nvPr>
        </p:nvSpPr>
        <p:spPr>
          <a:xfrm>
            <a:off x="1293813" y="1981200"/>
            <a:ext cx="4645152" cy="762000"/>
          </a:xfrm>
        </p:spPr>
        <p:txBody>
          <a:bodyPr anchor="ctr">
            <a:normAutofit/>
          </a:bodyPr>
          <a:lstStyle>
            <a:lvl1pPr marL="0" indent="0" latinLnBrk="0">
              <a:spcBef>
                <a:spcPts val="0"/>
              </a:spcBef>
              <a:buNone/>
              <a:defRPr lang="zh-CN" sz="2400" b="0"/>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4" name="内容占位符 3"/>
          <p:cNvSpPr>
            <a:spLocks noGrp="1"/>
          </p:cNvSpPr>
          <p:nvPr>
            <p:ph sz="half" idx="2" hasCustomPrompt="1"/>
          </p:nvPr>
        </p:nvSpPr>
        <p:spPr>
          <a:xfrm>
            <a:off x="1293813" y="2819400"/>
            <a:ext cx="4645152" cy="3352800"/>
          </a:xfrm>
        </p:spPr>
        <p:txBody>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marL="1371600" latinLnBrk="0">
              <a:defRPr lang="zh-CN" sz="1600"/>
            </a:lvl6pPr>
            <a:lvl7pPr marL="1600200" latinLnBrk="0">
              <a:defRPr lang="zh-CN" sz="1600"/>
            </a:lvl7pPr>
            <a:lvl8pPr marL="1828800" latinLnBrk="0">
              <a:defRPr lang="zh-CN" sz="1600" baseline="0"/>
            </a:lvl8pPr>
            <a:lvl9pPr marL="2057400" latinLnBrk="0">
              <a:defRPr lang="zh-CN" sz="1600" baseline="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5" name="文本占位符 4"/>
          <p:cNvSpPr>
            <a:spLocks noGrp="1"/>
          </p:cNvSpPr>
          <p:nvPr>
            <p:ph type="body" sz="quarter" idx="3" hasCustomPrompt="1"/>
          </p:nvPr>
        </p:nvSpPr>
        <p:spPr>
          <a:xfrm>
            <a:off x="6249862" y="1981200"/>
            <a:ext cx="4645152" cy="762000"/>
          </a:xfrm>
        </p:spPr>
        <p:txBody>
          <a:bodyPr anchor="ctr">
            <a:normAutofit/>
          </a:bodyPr>
          <a:lstStyle>
            <a:lvl1pPr marL="0" indent="0" latinLnBrk="0">
              <a:spcBef>
                <a:spcPts val="0"/>
              </a:spcBef>
              <a:buNone/>
              <a:defRPr lang="zh-CN" sz="2400" b="0"/>
            </a:lvl1pPr>
            <a:lvl2pPr marL="457200" indent="0" latinLnBrk="0">
              <a:buNone/>
              <a:defRPr lang="zh-CN" sz="2000" b="1"/>
            </a:lvl2pPr>
            <a:lvl3pPr marL="914400" indent="0" latinLnBrk="0">
              <a:buNone/>
              <a:defRPr lang="zh-CN" sz="1800" b="1"/>
            </a:lvl3pPr>
            <a:lvl4pPr marL="1371600" indent="0" latinLnBrk="0">
              <a:buNone/>
              <a:defRPr lang="zh-CN" sz="1600" b="1"/>
            </a:lvl4pPr>
            <a:lvl5pPr marL="1828800" indent="0" latinLnBrk="0">
              <a:buNone/>
              <a:defRPr lang="zh-CN" sz="1600" b="1"/>
            </a:lvl5pPr>
            <a:lvl6pPr marL="2286000" indent="0" latinLnBrk="0">
              <a:buNone/>
              <a:defRPr lang="zh-CN" sz="1600" b="1"/>
            </a:lvl6pPr>
            <a:lvl7pPr marL="2743200" indent="0" latinLnBrk="0">
              <a:buNone/>
              <a:defRPr lang="zh-CN" sz="1600" b="1"/>
            </a:lvl7pPr>
            <a:lvl8pPr marL="3200400" indent="0" latinLnBrk="0">
              <a:buNone/>
              <a:defRPr lang="zh-CN" sz="1600" b="1"/>
            </a:lvl8pPr>
            <a:lvl9pPr marL="3657600" indent="0" latinLnBrk="0">
              <a:buNone/>
              <a:defRPr lang="zh-CN" sz="1600" b="1"/>
            </a:lvl9pPr>
          </a:lstStyle>
          <a:p>
            <a:pPr lvl="0"/>
            <a:r>
              <a:rPr lang="zh-CN" altLang="en-US"/>
              <a:t>编辑母版文本样式</a:t>
            </a:r>
            <a:endParaRPr lang="zh-CN" altLang="en-US"/>
          </a:p>
        </p:txBody>
      </p:sp>
      <p:sp>
        <p:nvSpPr>
          <p:cNvPr id="6" name="内容占位符 5"/>
          <p:cNvSpPr>
            <a:spLocks noGrp="1"/>
          </p:cNvSpPr>
          <p:nvPr>
            <p:ph sz="quarter" idx="4" hasCustomPrompt="1"/>
          </p:nvPr>
        </p:nvSpPr>
        <p:spPr>
          <a:xfrm>
            <a:off x="6249862" y="2819400"/>
            <a:ext cx="4645152" cy="3352800"/>
          </a:xfrm>
        </p:spPr>
        <p:txBody>
          <a:bodyPr/>
          <a:lstStyle>
            <a:lvl1pPr latinLnBrk="0">
              <a:defRPr lang="zh-CN" sz="2400"/>
            </a:lvl1pPr>
            <a:lvl2pPr latinLnBrk="0">
              <a:defRPr lang="zh-CN" sz="2000"/>
            </a:lvl2pPr>
            <a:lvl3pPr latinLnBrk="0">
              <a:defRPr lang="zh-CN" sz="1800"/>
            </a:lvl3pPr>
            <a:lvl4pPr latinLnBrk="0">
              <a:defRPr lang="zh-CN" sz="1600"/>
            </a:lvl4pPr>
            <a:lvl5pPr marL="1143000" latinLnBrk="0">
              <a:defRPr lang="zh-CN" sz="1600"/>
            </a:lvl5pPr>
            <a:lvl6pPr marL="1371600" latinLnBrk="0">
              <a:defRPr lang="zh-CN" sz="1600"/>
            </a:lvl6pPr>
            <a:lvl7pPr marL="1600200" latinLnBrk="0">
              <a:defRPr lang="zh-CN" sz="1600"/>
            </a:lvl7pPr>
            <a:lvl8pPr marL="1828800" latinLnBrk="0">
              <a:defRPr lang="zh-CN" sz="1600"/>
            </a:lvl8pPr>
            <a:lvl9pPr marL="2057400" latinLnBrk="0">
              <a:defRPr lang="zh-CN"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7" name="日期占位符 6"/>
          <p:cNvSpPr>
            <a:spLocks noGrp="1"/>
          </p:cNvSpPr>
          <p:nvPr>
            <p:ph type="dt" sz="half" idx="10"/>
          </p:nvPr>
        </p:nvSpPr>
        <p:spPr/>
        <p:txBody>
          <a:bodyPr/>
          <a:lstStyle/>
          <a:p>
            <a:fld id="{8E36636D-D922-432D-A958-524484B5923D}" type="datetimeFigureOut">
              <a:rPr/>
            </a:fld>
            <a:endParaRPr lang="zh-CN"/>
          </a:p>
        </p:txBody>
      </p:sp>
      <p:sp>
        <p:nvSpPr>
          <p:cNvPr id="8" name="页脚占位符 7"/>
          <p:cNvSpPr>
            <a:spLocks noGrp="1"/>
          </p:cNvSpPr>
          <p:nvPr>
            <p:ph type="ftr" sz="quarter" idx="11"/>
          </p:nvPr>
        </p:nvSpPr>
        <p:spPr/>
        <p:txBody>
          <a:bodyPr/>
          <a:lstStyle/>
          <a:p>
            <a:endParaRPr lang="zh-CN"/>
          </a:p>
        </p:txBody>
      </p:sp>
      <p:sp>
        <p:nvSpPr>
          <p:cNvPr id="9" name="幻灯片编号占位符 8"/>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日期占位符 2"/>
          <p:cNvSpPr>
            <a:spLocks noGrp="1"/>
          </p:cNvSpPr>
          <p:nvPr>
            <p:ph type="dt" sz="half" idx="10"/>
          </p:nvPr>
        </p:nvSpPr>
        <p:spPr/>
        <p:txBody>
          <a:bodyPr/>
          <a:lstStyle/>
          <a:p>
            <a:fld id="{8E36636D-D922-432D-A958-524484B5923D}" type="datetimeFigureOut">
              <a:rPr/>
            </a:fld>
            <a:endParaRPr lang="zh-CN"/>
          </a:p>
        </p:txBody>
      </p:sp>
      <p:sp>
        <p:nvSpPr>
          <p:cNvPr id="4" name="页脚占位符 3"/>
          <p:cNvSpPr>
            <a:spLocks noGrp="1"/>
          </p:cNvSpPr>
          <p:nvPr>
            <p:ph type="ftr" sz="quarter" idx="11"/>
          </p:nvPr>
        </p:nvSpPr>
        <p:spPr/>
        <p:txBody>
          <a:bodyPr/>
          <a:lstStyle/>
          <a:p>
            <a:endParaRPr lang="zh-CN"/>
          </a:p>
        </p:txBody>
      </p:sp>
      <p:sp>
        <p:nvSpPr>
          <p:cNvPr id="5" name="幻灯片编号占位符 4"/>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E36636D-D922-432D-A958-524484B5923D}" type="datetimeFigureOut">
              <a:rPr/>
            </a:fld>
            <a:endParaRPr lang="zh-CN"/>
          </a:p>
        </p:txBody>
      </p:sp>
      <p:sp>
        <p:nvSpPr>
          <p:cNvPr id="3" name="页脚占位符 2"/>
          <p:cNvSpPr>
            <a:spLocks noGrp="1"/>
          </p:cNvSpPr>
          <p:nvPr>
            <p:ph type="ftr" sz="quarter" idx="11"/>
          </p:nvPr>
        </p:nvSpPr>
        <p:spPr/>
        <p:txBody>
          <a:bodyPr/>
          <a:lstStyle/>
          <a:p>
            <a:endParaRPr lang="zh-CN"/>
          </a:p>
        </p:txBody>
      </p:sp>
      <p:sp>
        <p:nvSpPr>
          <p:cNvPr id="4" name="幻灯片编号占位符 3"/>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showMasterSp="0">
  <p:cSld name="内容与题注">
    <p:spTree>
      <p:nvGrpSpPr>
        <p:cNvPr id="1" name=""/>
        <p:cNvGrpSpPr/>
        <p:nvPr/>
      </p:nvGrpSpPr>
      <p:grpSpPr>
        <a:xfrm>
          <a:off x="0" y="0"/>
          <a:ext cx="0" cy="0"/>
          <a:chOff x="0" y="0"/>
          <a:chExt cx="0" cy="0"/>
        </a:xfrm>
      </p:grpSpPr>
      <p:sp>
        <p:nvSpPr>
          <p:cNvPr id="8" name="矩形 7"/>
          <p:cNvSpPr/>
          <p:nvPr/>
        </p:nvSpPr>
        <p:spPr>
          <a:xfrm>
            <a:off x="0" y="6172200"/>
            <a:ext cx="12188952"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9" name="矩形 8"/>
          <p:cNvSpPr/>
          <p:nvPr/>
        </p:nvSpPr>
        <p:spPr>
          <a:xfrm>
            <a:off x="2" y="0"/>
            <a:ext cx="12188952" cy="61722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10" name="单圆角矩形 9"/>
          <p:cNvSpPr/>
          <p:nvPr/>
        </p:nvSpPr>
        <p:spPr bwMode="ltGray">
          <a:xfrm rot="10800000" flipH="1" flipV="1">
            <a:off x="4722814" y="234351"/>
            <a:ext cx="7237538" cy="5709249"/>
          </a:xfrm>
          <a:prstGeom prst="round1Rect">
            <a:avLst>
              <a:gd name="adj" fmla="val 58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11" name="矩形 10"/>
          <p:cNvSpPr/>
          <p:nvPr/>
        </p:nvSpPr>
        <p:spPr>
          <a:xfrm>
            <a:off x="0" y="1"/>
            <a:ext cx="4722811" cy="6172200"/>
          </a:xfrm>
          <a:prstGeom prst="rect">
            <a:avLst/>
          </a:prstGeom>
          <a:solidFill>
            <a:schemeClr val="accent1">
              <a:lumMod val="75000"/>
              <a:alpha val="32157"/>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2" name="标题 1"/>
          <p:cNvSpPr>
            <a:spLocks noGrp="1"/>
          </p:cNvSpPr>
          <p:nvPr>
            <p:ph type="title"/>
          </p:nvPr>
        </p:nvSpPr>
        <p:spPr>
          <a:xfrm>
            <a:off x="592197" y="234351"/>
            <a:ext cx="3773863" cy="4642450"/>
          </a:xfrm>
        </p:spPr>
        <p:txBody>
          <a:bodyPr anchor="b">
            <a:normAutofit/>
          </a:bodyPr>
          <a:lstStyle>
            <a:lvl1pPr algn="l" latinLnBrk="0">
              <a:defRPr lang="zh-CN" sz="4400" b="0">
                <a:solidFill>
                  <a:schemeClr val="bg1"/>
                </a:solidFill>
                <a:effectLst>
                  <a:outerShdw blurRad="88900" algn="ctr" rotWithShape="0">
                    <a:prstClr val="black">
                      <a:alpha val="35000"/>
                    </a:prstClr>
                  </a:outerShdw>
                </a:effectLst>
              </a:defRPr>
            </a:lvl1pPr>
          </a:lstStyle>
          <a:p>
            <a:r>
              <a:rPr lang="zh-CN" altLang="en-US"/>
              <a:t>单击此处编辑母版标题样式</a:t>
            </a:r>
            <a:endParaRPr lang="zh-CN"/>
          </a:p>
        </p:txBody>
      </p:sp>
      <p:sp>
        <p:nvSpPr>
          <p:cNvPr id="4" name="文本占位符 3"/>
          <p:cNvSpPr>
            <a:spLocks noGrp="1"/>
          </p:cNvSpPr>
          <p:nvPr>
            <p:ph type="body" sz="half" idx="2" hasCustomPrompt="1"/>
          </p:nvPr>
        </p:nvSpPr>
        <p:spPr>
          <a:xfrm>
            <a:off x="581983" y="5029199"/>
            <a:ext cx="3782586" cy="914401"/>
          </a:xfrm>
        </p:spPr>
        <p:txBody>
          <a:bodyPr>
            <a:normAutofit/>
          </a:bodyPr>
          <a:lstStyle>
            <a:lvl1pPr marL="0" indent="0" latinLnBrk="0">
              <a:spcBef>
                <a:spcPts val="0"/>
              </a:spcBef>
              <a:buNone/>
              <a:defRPr lang="zh-CN" sz="2000">
                <a:solidFill>
                  <a:schemeClr val="accent1">
                    <a:lumMod val="20000"/>
                    <a:lumOff val="80000"/>
                  </a:schemeClr>
                </a:solidFill>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8E36636D-D922-432D-A958-524484B5923D}"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DF28FB93-0A08-4E7D-8E63-9EFA29F1E093}" type="slidenum">
              <a:rPr/>
            </a:fld>
            <a:endParaRPr lang="zh-CN"/>
          </a:p>
        </p:txBody>
      </p:sp>
      <p:sp>
        <p:nvSpPr>
          <p:cNvPr id="3" name="内容占位符 2"/>
          <p:cNvSpPr>
            <a:spLocks noGrp="1"/>
          </p:cNvSpPr>
          <p:nvPr>
            <p:ph idx="1" hasCustomPrompt="1"/>
          </p:nvPr>
        </p:nvSpPr>
        <p:spPr>
          <a:xfrm>
            <a:off x="4945139" y="465285"/>
            <a:ext cx="6786614" cy="5249716"/>
          </a:xfrm>
        </p:spPr>
        <p:txBody>
          <a:bodyPr>
            <a:normAutofit/>
          </a:bodyPr>
          <a:lstStyle>
            <a:lvl1pPr latinLnBrk="0">
              <a:defRPr lang="zh-CN" sz="2400"/>
            </a:lvl1pPr>
            <a:lvl2pPr latinLnBrk="0">
              <a:defRPr lang="zh-CN" sz="2000"/>
            </a:lvl2pPr>
            <a:lvl3pPr latinLnBrk="0">
              <a:defRPr lang="zh-CN" sz="1800"/>
            </a:lvl3pPr>
            <a:lvl4pPr latinLnBrk="0">
              <a:defRPr lang="zh-CN" sz="1600"/>
            </a:lvl4pPr>
            <a:lvl5pPr latinLnBrk="0">
              <a:defRPr lang="zh-CN" sz="1600"/>
            </a:lvl5pPr>
            <a:lvl6pPr latinLnBrk="0">
              <a:defRPr lang="zh-CN" sz="1600"/>
            </a:lvl6pPr>
            <a:lvl7pPr latinLnBrk="0">
              <a:defRPr lang="zh-CN" sz="1600"/>
            </a:lvl7pPr>
            <a:lvl8pPr latinLnBrk="0">
              <a:defRPr lang="zh-CN" sz="1600"/>
            </a:lvl8pPr>
            <a:lvl9pPr latinLnBrk="0">
              <a:defRPr lang="zh-CN" sz="16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showMasterSp="0">
  <p:cSld name="图片与题注">
    <p:spTree>
      <p:nvGrpSpPr>
        <p:cNvPr id="1" name=""/>
        <p:cNvGrpSpPr/>
        <p:nvPr/>
      </p:nvGrpSpPr>
      <p:grpSpPr>
        <a:xfrm>
          <a:off x="0" y="0"/>
          <a:ext cx="0" cy="0"/>
          <a:chOff x="0" y="0"/>
          <a:chExt cx="0" cy="0"/>
        </a:xfrm>
      </p:grpSpPr>
      <p:sp>
        <p:nvSpPr>
          <p:cNvPr id="17" name="矩形 16"/>
          <p:cNvSpPr/>
          <p:nvPr/>
        </p:nvSpPr>
        <p:spPr>
          <a:xfrm>
            <a:off x="0" y="0"/>
            <a:ext cx="12188952" cy="61722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18" name="矩形 17"/>
          <p:cNvSpPr/>
          <p:nvPr/>
        </p:nvSpPr>
        <p:spPr>
          <a:xfrm>
            <a:off x="7466013" y="3"/>
            <a:ext cx="4722812" cy="6172197"/>
          </a:xfrm>
          <a:prstGeom prst="rect">
            <a:avLst/>
          </a:prstGeom>
          <a:solidFill>
            <a:schemeClr val="accent1">
              <a:lumMod val="75000"/>
              <a:alpha val="32157"/>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p>
        </p:txBody>
      </p:sp>
      <p:sp>
        <p:nvSpPr>
          <p:cNvPr id="2" name="标题 1"/>
          <p:cNvSpPr>
            <a:spLocks noGrp="1"/>
          </p:cNvSpPr>
          <p:nvPr>
            <p:ph type="title"/>
          </p:nvPr>
        </p:nvSpPr>
        <p:spPr>
          <a:xfrm>
            <a:off x="7883151" y="234351"/>
            <a:ext cx="3773863" cy="4642450"/>
          </a:xfrm>
        </p:spPr>
        <p:txBody>
          <a:bodyPr vert="horz" lIns="91440" tIns="45720" rIns="91440" bIns="45720" rtlCol="0" anchor="b">
            <a:normAutofit/>
          </a:bodyPr>
          <a:lstStyle>
            <a:lvl1pPr latinLnBrk="0">
              <a:defRPr lang="zh-CN" sz="4400">
                <a:solidFill>
                  <a:schemeClr val="bg1"/>
                </a:solidFill>
                <a:effectLst>
                  <a:outerShdw blurRad="88900" algn="ctr" rotWithShape="0">
                    <a:prstClr val="black">
                      <a:alpha val="35000"/>
                    </a:prstClr>
                  </a:outerShdw>
                </a:effectLst>
              </a:defRPr>
            </a:lvl1pPr>
          </a:lstStyle>
          <a:p>
            <a:pPr lvl="0">
              <a:lnSpc>
                <a:spcPct val="80000"/>
              </a:lnSpc>
            </a:pPr>
            <a:r>
              <a:rPr lang="zh-CN" altLang="en-US"/>
              <a:t>单击此处编辑母版标题样式</a:t>
            </a:r>
            <a:endParaRPr lang="zh-CN"/>
          </a:p>
        </p:txBody>
      </p:sp>
      <p:sp>
        <p:nvSpPr>
          <p:cNvPr id="4" name="文本占位符 3"/>
          <p:cNvSpPr>
            <a:spLocks noGrp="1"/>
          </p:cNvSpPr>
          <p:nvPr>
            <p:ph type="body" sz="half" idx="2" hasCustomPrompt="1"/>
          </p:nvPr>
        </p:nvSpPr>
        <p:spPr>
          <a:xfrm>
            <a:off x="7872936" y="5029200"/>
            <a:ext cx="3782586" cy="914400"/>
          </a:xfrm>
        </p:spPr>
        <p:txBody>
          <a:bodyPr>
            <a:normAutofit/>
          </a:bodyPr>
          <a:lstStyle>
            <a:lvl1pPr marL="0" indent="0" latinLnBrk="0">
              <a:spcBef>
                <a:spcPts val="0"/>
              </a:spcBef>
              <a:buNone/>
              <a:defRPr lang="zh-CN" sz="2000">
                <a:solidFill>
                  <a:schemeClr val="accent1">
                    <a:lumMod val="20000"/>
                    <a:lumOff val="80000"/>
                  </a:schemeClr>
                </a:solidFill>
              </a:defRPr>
            </a:lvl1pPr>
            <a:lvl2pPr marL="457200" indent="0" latinLnBrk="0">
              <a:buNone/>
              <a:defRPr lang="zh-CN" sz="1200"/>
            </a:lvl2pPr>
            <a:lvl3pPr marL="914400" indent="0" latinLnBrk="0">
              <a:buNone/>
              <a:defRPr lang="zh-CN" sz="1000"/>
            </a:lvl3pPr>
            <a:lvl4pPr marL="1371600" indent="0" latinLnBrk="0">
              <a:buNone/>
              <a:defRPr lang="zh-CN" sz="900"/>
            </a:lvl4pPr>
            <a:lvl5pPr marL="1828800" indent="0" latinLnBrk="0">
              <a:buNone/>
              <a:defRPr lang="zh-CN" sz="900"/>
            </a:lvl5pPr>
            <a:lvl6pPr marL="2286000" indent="0" latinLnBrk="0">
              <a:buNone/>
              <a:defRPr lang="zh-CN" sz="900"/>
            </a:lvl6pPr>
            <a:lvl7pPr marL="2743200" indent="0" latinLnBrk="0">
              <a:buNone/>
              <a:defRPr lang="zh-CN" sz="900"/>
            </a:lvl7pPr>
            <a:lvl8pPr marL="3200400" indent="0" latinLnBrk="0">
              <a:buNone/>
              <a:defRPr lang="zh-CN" sz="900"/>
            </a:lvl8pPr>
            <a:lvl9pPr marL="3657600" indent="0" latinLnBrk="0">
              <a:buNone/>
              <a:defRPr lang="zh-CN" sz="900"/>
            </a:lvl9pPr>
          </a:lstStyle>
          <a:p>
            <a:pPr lvl="0"/>
            <a:r>
              <a:rPr lang="zh-CN" altLang="en-US"/>
              <a:t>编辑母版文本样式</a:t>
            </a:r>
            <a:endParaRPr lang="zh-CN" altLang="en-US"/>
          </a:p>
        </p:txBody>
      </p:sp>
      <p:sp>
        <p:nvSpPr>
          <p:cNvPr id="20" name="矩形 19"/>
          <p:cNvSpPr/>
          <p:nvPr/>
        </p:nvSpPr>
        <p:spPr>
          <a:xfrm>
            <a:off x="0" y="6172200"/>
            <a:ext cx="12188952" cy="685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5" name="日期占位符 4"/>
          <p:cNvSpPr>
            <a:spLocks noGrp="1"/>
          </p:cNvSpPr>
          <p:nvPr>
            <p:ph type="dt" sz="half" idx="10"/>
          </p:nvPr>
        </p:nvSpPr>
        <p:spPr/>
        <p:txBody>
          <a:bodyPr/>
          <a:lstStyle/>
          <a:p>
            <a:fld id="{749F4917-CE56-4645-8050-1555FA0B180B}" type="datetimeFigureOut">
              <a:rPr/>
            </a:fld>
            <a:endParaRPr lang="zh-CN"/>
          </a:p>
        </p:txBody>
      </p:sp>
      <p:sp>
        <p:nvSpPr>
          <p:cNvPr id="6" name="页脚占位符 5"/>
          <p:cNvSpPr>
            <a:spLocks noGrp="1"/>
          </p:cNvSpPr>
          <p:nvPr>
            <p:ph type="ftr" sz="quarter" idx="11"/>
          </p:nvPr>
        </p:nvSpPr>
        <p:spPr/>
        <p:txBody>
          <a:bodyPr/>
          <a:lstStyle/>
          <a:p>
            <a:endParaRPr lang="zh-CN"/>
          </a:p>
        </p:txBody>
      </p:sp>
      <p:sp>
        <p:nvSpPr>
          <p:cNvPr id="7" name="幻灯片编号占位符 6"/>
          <p:cNvSpPr>
            <a:spLocks noGrp="1"/>
          </p:cNvSpPr>
          <p:nvPr>
            <p:ph type="sldNum" sz="quarter" idx="12"/>
          </p:nvPr>
        </p:nvSpPr>
        <p:spPr/>
        <p:txBody>
          <a:bodyPr/>
          <a:lstStyle/>
          <a:p>
            <a:fld id="{2B524DA2-3CE4-45BB-9F6F-628A0CFBDBF9}" type="slidenum">
              <a:rPr/>
            </a:fld>
            <a:endParaRPr lang="zh-CN"/>
          </a:p>
        </p:txBody>
      </p:sp>
      <p:sp>
        <p:nvSpPr>
          <p:cNvPr id="21" name="单圆角矩形 20"/>
          <p:cNvSpPr/>
          <p:nvPr/>
        </p:nvSpPr>
        <p:spPr bwMode="ltGray">
          <a:xfrm rot="10800000" flipV="1">
            <a:off x="227013" y="234351"/>
            <a:ext cx="7238999" cy="5709249"/>
          </a:xfrm>
          <a:prstGeom prst="round1Rect">
            <a:avLst>
              <a:gd name="adj" fmla="val 5812"/>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p>
        </p:txBody>
      </p:sp>
      <p:sp>
        <p:nvSpPr>
          <p:cNvPr id="3" name="图片占位符 2"/>
          <p:cNvSpPr>
            <a:spLocks noGrp="1"/>
          </p:cNvSpPr>
          <p:nvPr>
            <p:ph type="pic" idx="1"/>
          </p:nvPr>
        </p:nvSpPr>
        <p:spPr>
          <a:xfrm flipH="1">
            <a:off x="457198" y="465283"/>
            <a:ext cx="6780215" cy="5249717"/>
          </a:xfrm>
          <a:prstGeom prst="round1Rect">
            <a:avLst>
              <a:gd name="adj" fmla="val 4287"/>
            </a:avLst>
          </a:prstGeom>
          <a:solidFill>
            <a:schemeClr val="bg2"/>
          </a:solidFill>
        </p:spPr>
        <p:txBody>
          <a:bodyPr tIns="914400">
            <a:normAutofit/>
          </a:bodyPr>
          <a:lstStyle>
            <a:lvl1pPr marL="0" indent="0" algn="ctr" latinLnBrk="0">
              <a:buNone/>
              <a:defRPr lang="zh-CN" sz="2400"/>
            </a:lvl1pPr>
            <a:lvl2pPr marL="457200" indent="0" latinLnBrk="0">
              <a:buNone/>
              <a:defRPr lang="zh-CN" sz="2800"/>
            </a:lvl2pPr>
            <a:lvl3pPr marL="914400" indent="0" latinLnBrk="0">
              <a:buNone/>
              <a:defRPr lang="zh-CN" sz="2400"/>
            </a:lvl3pPr>
            <a:lvl4pPr marL="1371600" indent="0" latinLnBrk="0">
              <a:buNone/>
              <a:defRPr lang="zh-CN" sz="2000"/>
            </a:lvl4pPr>
            <a:lvl5pPr marL="1828800" indent="0" latinLnBrk="0">
              <a:buNone/>
              <a:defRPr lang="zh-CN" sz="2000"/>
            </a:lvl5pPr>
            <a:lvl6pPr marL="2286000" indent="0" latinLnBrk="0">
              <a:buNone/>
              <a:defRPr lang="zh-CN" sz="2000"/>
            </a:lvl6pPr>
            <a:lvl7pPr marL="2743200" indent="0" latinLnBrk="0">
              <a:buNone/>
              <a:defRPr lang="zh-CN" sz="2000"/>
            </a:lvl7pPr>
            <a:lvl8pPr marL="3200400" indent="0" latinLnBrk="0">
              <a:buNone/>
              <a:defRPr lang="zh-CN" sz="2000"/>
            </a:lvl8pPr>
            <a:lvl9pPr marL="3657600" indent="0" latinLnBrk="0">
              <a:buNone/>
              <a:defRPr lang="zh-CN" sz="2000"/>
            </a:lvl9pPr>
          </a:lstStyle>
          <a:p>
            <a:r>
              <a:rPr lang="zh-CN" altLang="en-US"/>
              <a:t>单击图标添加图片</a:t>
            </a:r>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p>
        </p:txBody>
      </p:sp>
      <p:sp>
        <p:nvSpPr>
          <p:cNvPr id="3" name="竖排文字占位符 2"/>
          <p:cNvSpPr>
            <a:spLocks noGrp="1"/>
          </p:cNvSpPr>
          <p:nvPr>
            <p:ph type="body" orient="vert" idx="1" hasCustomPrompt="1"/>
          </p:nvPr>
        </p:nvSpPr>
        <p:spPr/>
        <p:txBody>
          <a:bodyPr vert="eaVert"/>
          <a:lstStyle>
            <a:lvl5pPr latinLnBrk="0">
              <a:defRPr lang="zh-CN"/>
            </a:lvl5pPr>
            <a:lvl6pPr marL="1371600" latinLnBrk="0">
              <a:defRPr lang="zh-CN"/>
            </a:lvl6pPr>
            <a:lvl7pPr marL="1600200" latinLnBrk="0">
              <a:defRPr lang="zh-CN"/>
            </a:lvl7pPr>
            <a:lvl8pPr marL="1828800" latinLnBrk="0">
              <a:defRPr lang="zh-CN" baseline="0"/>
            </a:lvl8pPr>
            <a:lvl9pPr marL="2057400" latinLnBrk="0">
              <a:defRPr lang="zh-CN" baseline="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hasCustomPrompt="1"/>
          </p:nvPr>
        </p:nvSpPr>
        <p:spPr>
          <a:xfrm>
            <a:off x="1293813" y="582613"/>
            <a:ext cx="8183562" cy="5589587"/>
          </a:xfrm>
        </p:spPr>
        <p:txBody>
          <a:bodyPr vert="eaVert"/>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p>
        </p:txBody>
      </p:sp>
      <p:sp>
        <p:nvSpPr>
          <p:cNvPr id="4" name="日期占位符 3"/>
          <p:cNvSpPr>
            <a:spLocks noGrp="1"/>
          </p:cNvSpPr>
          <p:nvPr>
            <p:ph type="dt" sz="half" idx="10"/>
          </p:nvPr>
        </p:nvSpPr>
        <p:spPr/>
        <p:txBody>
          <a:bodyPr/>
          <a:lstStyle/>
          <a:p>
            <a:fld id="{8E36636D-D922-432D-A958-524484B5923D}" type="datetimeFigureOut">
              <a:rPr/>
            </a:fld>
            <a:endParaRPr lang="zh-CN"/>
          </a:p>
        </p:txBody>
      </p:sp>
      <p:sp>
        <p:nvSpPr>
          <p:cNvPr id="5" name="页脚占位符 4"/>
          <p:cNvSpPr>
            <a:spLocks noGrp="1"/>
          </p:cNvSpPr>
          <p:nvPr>
            <p:ph type="ftr" sz="quarter" idx="11"/>
          </p:nvPr>
        </p:nvSpPr>
        <p:spPr/>
        <p:txBody>
          <a:bodyPr/>
          <a:lstStyle/>
          <a:p>
            <a:endParaRPr lang="zh-CN"/>
          </a:p>
        </p:txBody>
      </p:sp>
      <p:sp>
        <p:nvSpPr>
          <p:cNvPr id="6" name="幻灯片编号占位符 5"/>
          <p:cNvSpPr>
            <a:spLocks noGrp="1"/>
          </p:cNvSpPr>
          <p:nvPr>
            <p:ph type="sldNum" sz="quarter" idx="12"/>
          </p:nvPr>
        </p:nvSpPr>
        <p:spPr/>
        <p:txBody>
          <a:bodyPr/>
          <a:lstStyle/>
          <a:p>
            <a:fld id="{DF28FB93-0A08-4E7D-8E63-9EFA29F1E093}" type="slidenum">
              <a:rPr/>
            </a:fld>
            <a:endParaRPr lang="zh-CN"/>
          </a:p>
        </p:txBody>
      </p:sp>
      <p:sp>
        <p:nvSpPr>
          <p:cNvPr id="2" name="竖排标题 1"/>
          <p:cNvSpPr>
            <a:spLocks noGrp="1"/>
          </p:cNvSpPr>
          <p:nvPr>
            <p:ph type="title" orient="vert"/>
          </p:nvPr>
        </p:nvSpPr>
        <p:spPr>
          <a:xfrm>
            <a:off x="9705974" y="582613"/>
            <a:ext cx="1951037" cy="5589587"/>
          </a:xfrm>
        </p:spPr>
        <p:txBody>
          <a:bodyPr vert="eaVert"/>
          <a:lstStyle/>
          <a:p>
            <a:r>
              <a:rPr lang="zh-CN" altLang="en-US"/>
              <a:t>单击此处编辑母版标题样式</a:t>
            </a:r>
            <a:endParaRPr lang="zh-CN"/>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矩形 7"/>
          <p:cNvSpPr/>
          <p:nvPr/>
        </p:nvSpPr>
        <p:spPr>
          <a:xfrm>
            <a:off x="0" y="6477000"/>
            <a:ext cx="11960352" cy="381000"/>
          </a:xfrm>
          <a:prstGeom prst="rect">
            <a:avLst/>
          </a:prstGeom>
          <a:solidFill>
            <a:schemeClr val="accent1">
              <a:lumMod val="20000"/>
              <a:lumOff val="8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latin typeface="微软雅黑" panose="020B0503020204020204" pitchFamily="34" charset="-122"/>
              <a:ea typeface="微软雅黑" panose="020B0503020204020204" pitchFamily="34" charset="-122"/>
            </a:endParaRPr>
          </a:p>
        </p:txBody>
      </p:sp>
      <p:sp>
        <p:nvSpPr>
          <p:cNvPr id="9" name="矩形 8"/>
          <p:cNvSpPr/>
          <p:nvPr/>
        </p:nvSpPr>
        <p:spPr>
          <a:xfrm>
            <a:off x="11960352" y="6477000"/>
            <a:ext cx="228473" cy="38100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a:endParaRPr lang="zh-CN">
              <a:latin typeface="微软雅黑" panose="020B0503020204020204" pitchFamily="34" charset="-122"/>
              <a:ea typeface="微软雅黑" panose="020B0503020204020204" pitchFamily="34" charset="-122"/>
            </a:endParaRPr>
          </a:p>
        </p:txBody>
      </p:sp>
      <p:sp>
        <p:nvSpPr>
          <p:cNvPr id="7" name="矩形 6"/>
          <p:cNvSpPr/>
          <p:nvPr/>
        </p:nvSpPr>
        <p:spPr>
          <a:xfrm>
            <a:off x="1" y="0"/>
            <a:ext cx="12188825" cy="6477000"/>
          </a:xfrm>
          <a:prstGeom prst="rect">
            <a:avLst/>
          </a:prstGeom>
          <a:solidFill>
            <a:schemeClr val="accent1">
              <a:alpha val="50196"/>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lvl="0" algn="ctr"/>
            <a:endParaRPr lang="zh-CN">
              <a:latin typeface="微软雅黑" panose="020B0503020204020204" pitchFamily="34" charset="-122"/>
              <a:ea typeface="微软雅黑" panose="020B0503020204020204" pitchFamily="34" charset="-122"/>
            </a:endParaRPr>
          </a:p>
        </p:txBody>
      </p:sp>
      <p:sp>
        <p:nvSpPr>
          <p:cNvPr id="10" name="单圆角矩形 9"/>
          <p:cNvSpPr/>
          <p:nvPr/>
        </p:nvSpPr>
        <p:spPr>
          <a:xfrm>
            <a:off x="0" y="228600"/>
            <a:ext cx="11961877" cy="6248400"/>
          </a:xfrm>
          <a:prstGeom prst="round1Rect">
            <a:avLst>
              <a:gd name="adj" fmla="val 4584"/>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atin typeface="微软雅黑" panose="020B0503020204020204" pitchFamily="34" charset="-122"/>
              <a:ea typeface="微软雅黑" panose="020B0503020204020204" pitchFamily="34" charset="-122"/>
            </a:endParaRPr>
          </a:p>
        </p:txBody>
      </p:sp>
      <p:sp>
        <p:nvSpPr>
          <p:cNvPr id="2" name="标题占位符 1"/>
          <p:cNvSpPr>
            <a:spLocks noGrp="1"/>
          </p:cNvSpPr>
          <p:nvPr>
            <p:ph type="title"/>
          </p:nvPr>
        </p:nvSpPr>
        <p:spPr>
          <a:xfrm>
            <a:off x="1293813" y="563562"/>
            <a:ext cx="9601200" cy="1189038"/>
          </a:xfrm>
          <a:prstGeom prst="rect">
            <a:avLst/>
          </a:prstGeom>
        </p:spPr>
        <p:txBody>
          <a:bodyPr vert="horz" lIns="91440" tIns="45720" rIns="91440" bIns="45720" rtlCol="0" anchor="b">
            <a:normAutofit/>
          </a:bodyPr>
          <a:lstStyle/>
          <a:p>
            <a:r>
              <a:rPr lang="zh-CN"/>
              <a:t>单击此处编辑母版标题样式</a:t>
            </a:r>
            <a:endParaRPr lang="zh-CN"/>
          </a:p>
        </p:txBody>
      </p:sp>
      <p:sp>
        <p:nvSpPr>
          <p:cNvPr id="3" name="文本占位符 2"/>
          <p:cNvSpPr>
            <a:spLocks noGrp="1"/>
          </p:cNvSpPr>
          <p:nvPr>
            <p:ph type="body" idx="1"/>
          </p:nvPr>
        </p:nvSpPr>
        <p:spPr>
          <a:xfrm>
            <a:off x="1293813" y="1981200"/>
            <a:ext cx="9601202" cy="4191000"/>
          </a:xfrm>
          <a:prstGeom prst="rect">
            <a:avLst/>
          </a:prstGeom>
        </p:spPr>
        <p:txBody>
          <a:bodyPr vert="horz" lIns="91440" tIns="45720" rIns="91440" bIns="45720" rtlCol="0">
            <a:normAutofit/>
          </a:bodyPr>
          <a:lstStyle/>
          <a:p>
            <a:pPr lvl="0"/>
            <a:r>
              <a:rPr lang="zh-CN"/>
              <a:t>单击此处编辑母版文本样式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
        <p:nvSpPr>
          <p:cNvPr id="4" name="日期占位符 3"/>
          <p:cNvSpPr>
            <a:spLocks noGrp="1"/>
          </p:cNvSpPr>
          <p:nvPr>
            <p:ph type="dt" sz="half" idx="2"/>
          </p:nvPr>
        </p:nvSpPr>
        <p:spPr>
          <a:xfrm>
            <a:off x="8913811" y="6248400"/>
            <a:ext cx="1091459" cy="152400"/>
          </a:xfrm>
          <a:prstGeom prst="rect">
            <a:avLst/>
          </a:prstGeom>
        </p:spPr>
        <p:txBody>
          <a:bodyPr vert="horz" lIns="91440" tIns="45720" rIns="91440" bIns="45720" rtlCol="0" anchor="ctr"/>
          <a:lstStyle>
            <a:lvl1pPr algn="r" latinLnBrk="0">
              <a:defRPr lang="zh-CN" sz="900">
                <a:solidFill>
                  <a:schemeClr val="tx1"/>
                </a:solidFill>
                <a:latin typeface="微软雅黑" panose="020B0503020204020204" pitchFamily="34" charset="-122"/>
                <a:ea typeface="微软雅黑" panose="020B0503020204020204" pitchFamily="34" charset="-122"/>
              </a:defRPr>
            </a:lvl1pPr>
          </a:lstStyle>
          <a:p>
            <a:fld id="{8E36636D-D922-432D-A958-524484B5923D}" type="datetimeFigureOut">
              <a:rPr lang="en-US" altLang="zh-CN" smtClean="0"/>
            </a:fld>
            <a:endParaRPr lang="en-US" altLang="zh-CN"/>
          </a:p>
        </p:txBody>
      </p:sp>
      <p:sp>
        <p:nvSpPr>
          <p:cNvPr id="5" name="页脚占位符 4"/>
          <p:cNvSpPr>
            <a:spLocks noGrp="1"/>
          </p:cNvSpPr>
          <p:nvPr>
            <p:ph type="ftr" sz="quarter" idx="3"/>
          </p:nvPr>
        </p:nvSpPr>
        <p:spPr>
          <a:xfrm>
            <a:off x="1293813" y="6248400"/>
            <a:ext cx="7467598" cy="152400"/>
          </a:xfrm>
          <a:prstGeom prst="rect">
            <a:avLst/>
          </a:prstGeom>
        </p:spPr>
        <p:txBody>
          <a:bodyPr vert="horz" lIns="91440" tIns="45720" rIns="91440" bIns="45720" rtlCol="0" anchor="ctr"/>
          <a:lstStyle>
            <a:lvl1pPr algn="l" latinLnBrk="0">
              <a:defRPr lang="zh-CN" sz="900">
                <a:solidFill>
                  <a:schemeClr val="tx1"/>
                </a:solidFill>
                <a:latin typeface="微软雅黑" panose="020B0503020204020204" pitchFamily="34" charset="-122"/>
                <a:ea typeface="微软雅黑" panose="020B0503020204020204" pitchFamily="34" charset="-122"/>
              </a:defRPr>
            </a:lvl1pPr>
          </a:lstStyle>
          <a:p>
            <a:endParaRPr lang="zh-CN" altLang="en-US"/>
          </a:p>
        </p:txBody>
      </p:sp>
      <p:sp>
        <p:nvSpPr>
          <p:cNvPr id="6" name="幻灯片编号占位符 5"/>
          <p:cNvSpPr>
            <a:spLocks noGrp="1"/>
          </p:cNvSpPr>
          <p:nvPr>
            <p:ph type="sldNum" sz="quarter" idx="4"/>
          </p:nvPr>
        </p:nvSpPr>
        <p:spPr>
          <a:xfrm>
            <a:off x="10133011" y="6248400"/>
            <a:ext cx="762003" cy="152400"/>
          </a:xfrm>
          <a:prstGeom prst="rect">
            <a:avLst/>
          </a:prstGeom>
        </p:spPr>
        <p:txBody>
          <a:bodyPr vert="horz" lIns="91440" tIns="45720" rIns="91440" bIns="45720" rtlCol="0" anchor="ctr"/>
          <a:lstStyle>
            <a:lvl1pPr algn="r" latinLnBrk="0">
              <a:defRPr lang="zh-CN" sz="900">
                <a:solidFill>
                  <a:schemeClr val="tx1"/>
                </a:solidFill>
                <a:latin typeface="微软雅黑" panose="020B0503020204020204" pitchFamily="34" charset="-122"/>
                <a:ea typeface="微软雅黑" panose="020B0503020204020204" pitchFamily="34" charset="-122"/>
              </a:defRPr>
            </a:lvl1pPr>
          </a:lstStyle>
          <a:p>
            <a:fld id="{DF28FB93-0A08-4E7D-8E63-9EFA29F1E093}" type="slidenum">
              <a:rPr lang="en-US" altLang="zh-CN" smtClean="0"/>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xStyles>
    <p:titleStyle>
      <a:lvl1pPr algn="l" defTabSz="914400" rtl="0" eaLnBrk="1" latinLnBrk="0" hangingPunct="1">
        <a:lnSpc>
          <a:spcPct val="90000"/>
        </a:lnSpc>
        <a:spcBef>
          <a:spcPct val="0"/>
        </a:spcBef>
        <a:buNone/>
        <a:defRPr lang="zh-CN" sz="4000" b="0" kern="1200">
          <a:solidFill>
            <a:schemeClr val="tx1"/>
          </a:solidFill>
          <a:latin typeface="微软雅黑" panose="020B0503020204020204" pitchFamily="34" charset="-122"/>
          <a:ea typeface="微软雅黑" panose="020B0503020204020204" pitchFamily="34" charset="-122"/>
          <a:cs typeface="+mj-cs"/>
        </a:defRPr>
      </a:lvl1pPr>
      <a:lvl2pPr eaLnBrk="1" latinLnBrk="0" hangingPunct="1">
        <a:defRPr lang="zh-CN">
          <a:solidFill>
            <a:schemeClr val="tx2"/>
          </a:solidFill>
        </a:defRPr>
      </a:lvl2pPr>
      <a:lvl3pPr eaLnBrk="1" latinLnBrk="0" hangingPunct="1">
        <a:defRPr lang="zh-CN">
          <a:solidFill>
            <a:schemeClr val="tx2"/>
          </a:solidFill>
        </a:defRPr>
      </a:lvl3pPr>
      <a:lvl4pPr eaLnBrk="1" latinLnBrk="0" hangingPunct="1">
        <a:defRPr lang="zh-CN">
          <a:solidFill>
            <a:schemeClr val="tx2"/>
          </a:solidFill>
        </a:defRPr>
      </a:lvl4pPr>
      <a:lvl5pPr eaLnBrk="1" latinLnBrk="0" hangingPunct="1">
        <a:defRPr lang="zh-CN">
          <a:solidFill>
            <a:schemeClr val="tx2"/>
          </a:solidFill>
        </a:defRPr>
      </a:lvl5pPr>
      <a:lvl6pPr eaLnBrk="1" latinLnBrk="0" hangingPunct="1">
        <a:defRPr lang="zh-CN">
          <a:solidFill>
            <a:schemeClr val="tx2"/>
          </a:solidFill>
        </a:defRPr>
      </a:lvl6pPr>
      <a:lvl7pPr eaLnBrk="1" latinLnBrk="0" hangingPunct="1">
        <a:defRPr lang="zh-CN">
          <a:solidFill>
            <a:schemeClr val="tx2"/>
          </a:solidFill>
        </a:defRPr>
      </a:lvl7pPr>
      <a:lvl8pPr eaLnBrk="1" latinLnBrk="0" hangingPunct="1">
        <a:defRPr lang="zh-CN">
          <a:solidFill>
            <a:schemeClr val="tx2"/>
          </a:solidFill>
        </a:defRPr>
      </a:lvl8pPr>
      <a:lvl9pPr eaLnBrk="1" latinLnBrk="0" hangingPunct="1">
        <a:defRPr lang="zh-CN">
          <a:solidFill>
            <a:schemeClr val="tx2"/>
          </a:solidFill>
        </a:defRPr>
      </a:lvl9pPr>
    </p:titleStyle>
    <p:bodyStyle>
      <a:lvl1pPr marL="228600" indent="-228600" algn="l" defTabSz="914400" rtl="0" eaLnBrk="1" latinLnBrk="0" hangingPunct="1">
        <a:lnSpc>
          <a:spcPct val="90000"/>
        </a:lnSpc>
        <a:spcBef>
          <a:spcPts val="1800"/>
        </a:spcBef>
        <a:buSzPct val="90000"/>
        <a:buFont typeface="Arial" panose="020B0604020202020204" pitchFamily="34" charset="0"/>
        <a:buChar char="•"/>
        <a:defRPr lang="zh-CN" sz="2400" kern="1200">
          <a:solidFill>
            <a:schemeClr val="tx1"/>
          </a:solidFill>
          <a:latin typeface="微软雅黑" panose="020B0503020204020204" pitchFamily="34" charset="-122"/>
          <a:ea typeface="微软雅黑" panose="020B0503020204020204" pitchFamily="34" charset="-122"/>
          <a:cs typeface="+mn-cs"/>
        </a:defRPr>
      </a:lvl1pPr>
      <a:lvl2pPr marL="457200" indent="-228600" algn="l" defTabSz="914400" rtl="0" eaLnBrk="1" latinLnBrk="0" hangingPunct="1">
        <a:lnSpc>
          <a:spcPct val="90000"/>
        </a:lnSpc>
        <a:spcBef>
          <a:spcPts val="600"/>
        </a:spcBef>
        <a:buSzPct val="90000"/>
        <a:buFont typeface="Arial" panose="020B0604020202020204" pitchFamily="34" charset="0"/>
        <a:buChar char="•"/>
        <a:defRPr lang="zh-CN" sz="2000" kern="1200">
          <a:solidFill>
            <a:schemeClr val="tx1"/>
          </a:solidFill>
          <a:latin typeface="微软雅黑" panose="020B0503020204020204" pitchFamily="34" charset="-122"/>
          <a:ea typeface="微软雅黑" panose="020B0503020204020204" pitchFamily="34" charset="-122"/>
          <a:cs typeface="+mn-cs"/>
        </a:defRPr>
      </a:lvl2pPr>
      <a:lvl3pPr marL="685800" indent="-228600" algn="l" defTabSz="914400" rtl="0" eaLnBrk="1" latinLnBrk="0" hangingPunct="1">
        <a:lnSpc>
          <a:spcPct val="90000"/>
        </a:lnSpc>
        <a:spcBef>
          <a:spcPts val="600"/>
        </a:spcBef>
        <a:buSzPct val="90000"/>
        <a:buFont typeface="Arial" panose="020B0604020202020204" pitchFamily="34" charset="0"/>
        <a:buChar char="•"/>
        <a:defRPr lang="zh-CN" sz="1800" kern="1200">
          <a:solidFill>
            <a:schemeClr val="tx1"/>
          </a:solidFill>
          <a:latin typeface="微软雅黑" panose="020B0503020204020204" pitchFamily="34" charset="-122"/>
          <a:ea typeface="微软雅黑" panose="020B0503020204020204" pitchFamily="34" charset="-122"/>
          <a:cs typeface="+mn-cs"/>
        </a:defRPr>
      </a:lvl3pPr>
      <a:lvl4pPr marL="9144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微软雅黑" panose="020B0503020204020204" pitchFamily="34" charset="-122"/>
          <a:ea typeface="微软雅黑" panose="020B0503020204020204" pitchFamily="34" charset="-122"/>
          <a:cs typeface="+mn-cs"/>
        </a:defRPr>
      </a:lvl4pPr>
      <a:lvl5pPr marL="11430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微软雅黑" panose="020B0503020204020204" pitchFamily="34" charset="-122"/>
          <a:ea typeface="微软雅黑" panose="020B0503020204020204" pitchFamily="34" charset="-122"/>
          <a:cs typeface="+mn-cs"/>
        </a:defRPr>
      </a:lvl5pPr>
      <a:lvl6pPr marL="13716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mn-lt"/>
          <a:ea typeface="+mn-ea"/>
          <a:cs typeface="+mn-cs"/>
        </a:defRPr>
      </a:lvl6pPr>
      <a:lvl7pPr marL="16002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mn-lt"/>
          <a:ea typeface="+mn-ea"/>
          <a:cs typeface="+mn-cs"/>
        </a:defRPr>
      </a:lvl7pPr>
      <a:lvl8pPr marL="18288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mn-lt"/>
          <a:ea typeface="+mn-ea"/>
          <a:cs typeface="+mn-cs"/>
        </a:defRPr>
      </a:lvl8pPr>
      <a:lvl9pPr marL="2057400" indent="-228600" algn="l" defTabSz="914400" rtl="0" eaLnBrk="1" latinLnBrk="0" hangingPunct="1">
        <a:lnSpc>
          <a:spcPct val="90000"/>
        </a:lnSpc>
        <a:spcBef>
          <a:spcPts val="600"/>
        </a:spcBef>
        <a:buSzPct val="90000"/>
        <a:buFont typeface="Arial" panose="020B0604020202020204" pitchFamily="34" charset="0"/>
        <a:buChar char="•"/>
        <a:defRPr lang="zh-CN" sz="1600" kern="1200">
          <a:solidFill>
            <a:schemeClr val="tx1"/>
          </a:solidFill>
          <a:latin typeface="+mn-lt"/>
          <a:ea typeface="+mn-ea"/>
          <a:cs typeface="+mn-cs"/>
        </a:defRPr>
      </a:lvl9pPr>
    </p:bodyStyle>
    <p:otherStyle>
      <a:defPPr>
        <a:defRPr lang="zh-CN"/>
      </a:defPPr>
      <a:lvl1pPr marL="0" algn="l" defTabSz="914400" rtl="0" eaLnBrk="1" latinLnBrk="0" hangingPunct="1">
        <a:defRPr lang="zh-CN" sz="1800" kern="1200">
          <a:solidFill>
            <a:schemeClr val="tx1"/>
          </a:solidFill>
          <a:latin typeface="+mn-lt"/>
          <a:ea typeface="+mn-ea"/>
          <a:cs typeface="+mn-cs"/>
        </a:defRPr>
      </a:lvl1pPr>
      <a:lvl2pPr marL="457200" algn="l" defTabSz="914400" rtl="0" eaLnBrk="1" latinLnBrk="0" hangingPunct="1">
        <a:defRPr lang="zh-CN" sz="1800" kern="1200">
          <a:solidFill>
            <a:schemeClr val="tx1"/>
          </a:solidFill>
          <a:latin typeface="+mn-lt"/>
          <a:ea typeface="+mn-ea"/>
          <a:cs typeface="+mn-cs"/>
        </a:defRPr>
      </a:lvl2pPr>
      <a:lvl3pPr marL="914400" algn="l" defTabSz="914400" rtl="0" eaLnBrk="1" latinLnBrk="0" hangingPunct="1">
        <a:defRPr lang="zh-CN" sz="1800" kern="1200">
          <a:solidFill>
            <a:schemeClr val="tx1"/>
          </a:solidFill>
          <a:latin typeface="+mn-lt"/>
          <a:ea typeface="+mn-ea"/>
          <a:cs typeface="+mn-cs"/>
        </a:defRPr>
      </a:lvl3pPr>
      <a:lvl4pPr marL="1371600" algn="l" defTabSz="914400" rtl="0" eaLnBrk="1" latinLnBrk="0" hangingPunct="1">
        <a:defRPr lang="zh-CN" sz="1800" kern="1200">
          <a:solidFill>
            <a:schemeClr val="tx1"/>
          </a:solidFill>
          <a:latin typeface="+mn-lt"/>
          <a:ea typeface="+mn-ea"/>
          <a:cs typeface="+mn-cs"/>
        </a:defRPr>
      </a:lvl4pPr>
      <a:lvl5pPr marL="1828800" algn="l" defTabSz="914400" rtl="0" eaLnBrk="1" latinLnBrk="0" hangingPunct="1">
        <a:defRPr lang="zh-CN" sz="1800" kern="1200">
          <a:solidFill>
            <a:schemeClr val="tx1"/>
          </a:solidFill>
          <a:latin typeface="+mn-lt"/>
          <a:ea typeface="+mn-ea"/>
          <a:cs typeface="+mn-cs"/>
        </a:defRPr>
      </a:lvl5pPr>
      <a:lvl6pPr marL="2286000" algn="l" defTabSz="914400" rtl="0" eaLnBrk="1" latinLnBrk="0" hangingPunct="1">
        <a:defRPr lang="zh-CN" sz="1800" kern="1200">
          <a:solidFill>
            <a:schemeClr val="tx1"/>
          </a:solidFill>
          <a:latin typeface="+mn-lt"/>
          <a:ea typeface="+mn-ea"/>
          <a:cs typeface="+mn-cs"/>
        </a:defRPr>
      </a:lvl6pPr>
      <a:lvl7pPr marL="2743200" algn="l" defTabSz="914400" rtl="0" eaLnBrk="1" latinLnBrk="0" hangingPunct="1">
        <a:defRPr lang="zh-CN" sz="1800" kern="1200">
          <a:solidFill>
            <a:schemeClr val="tx1"/>
          </a:solidFill>
          <a:latin typeface="+mn-lt"/>
          <a:ea typeface="+mn-ea"/>
          <a:cs typeface="+mn-cs"/>
        </a:defRPr>
      </a:lvl7pPr>
      <a:lvl8pPr marL="3200400" algn="l" defTabSz="914400" rtl="0" eaLnBrk="1" latinLnBrk="0" hangingPunct="1">
        <a:defRPr lang="zh-CN" sz="1800" kern="1200">
          <a:solidFill>
            <a:schemeClr val="tx1"/>
          </a:solidFill>
          <a:latin typeface="+mn-lt"/>
          <a:ea typeface="+mn-ea"/>
          <a:cs typeface="+mn-cs"/>
        </a:defRPr>
      </a:lvl8pPr>
      <a:lvl9pPr marL="3657600" algn="l" defTabSz="914400" rtl="0" eaLnBrk="1" latinLnBrk="0" hangingPunct="1">
        <a:defRPr lang="zh-CN"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poj.org/problem?id=3537"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4.wmf"/><Relationship Id="rId4" Type="http://schemas.openxmlformats.org/officeDocument/2006/relationships/image" Target="../media/image13.png"/><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hyperlink" Target="http://acm.hdu.edu.cn/showproblem.php?pid=3595" TargetMode="External"/></Relationships>
</file>

<file path=ppt/slides/_rels/slide2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image" Target="../media/image13.png"/><Relationship Id="rId2" Type="http://schemas.openxmlformats.org/officeDocument/2006/relationships/image" Target="../media/image15.wmf"/><Relationship Id="rId1" Type="http://schemas.openxmlformats.org/officeDocument/2006/relationships/image" Target="../media/image11.wmf"/></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8.wmf"/><Relationship Id="rId3" Type="http://schemas.openxmlformats.org/officeDocument/2006/relationships/image" Target="../media/image13.png"/><Relationship Id="rId2" Type="http://schemas.openxmlformats.org/officeDocument/2006/relationships/image" Target="../media/image17.wmf"/><Relationship Id="rId1" Type="http://schemas.openxmlformats.org/officeDocument/2006/relationships/image" Target="../media/image11.wmf"/></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16.wmf"/><Relationship Id="rId4" Type="http://schemas.openxmlformats.org/officeDocument/2006/relationships/image" Target="../media/image13.png"/><Relationship Id="rId3" Type="http://schemas.openxmlformats.org/officeDocument/2006/relationships/image" Target="../media/image19.wmf"/><Relationship Id="rId2" Type="http://schemas.openxmlformats.org/officeDocument/2006/relationships/image" Target="../media/image11.wmf"/><Relationship Id="rId1" Type="http://schemas.openxmlformats.org/officeDocument/2006/relationships/hyperlink" Target="http://poj.org/problem?id=1704" TargetMode="External"/></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image" Target="../media/image13.png"/><Relationship Id="rId2" Type="http://schemas.openxmlformats.org/officeDocument/2006/relationships/image" Target="../media/image20.wmf"/><Relationship Id="rId1" Type="http://schemas.openxmlformats.org/officeDocument/2006/relationships/image" Target="../media/image11.wmf"/></Relationships>
</file>

<file path=ppt/slides/_rels/slide3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image" Target="../media/image13.png"/><Relationship Id="rId2" Type="http://schemas.openxmlformats.org/officeDocument/2006/relationships/image" Target="../media/image22.wmf"/><Relationship Id="rId1" Type="http://schemas.openxmlformats.org/officeDocument/2006/relationships/image" Target="../media/image11.wmf"/></Relationships>
</file>

<file path=ppt/slides/_rels/slide3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image" Target="../media/image13.png"/><Relationship Id="rId2" Type="http://schemas.openxmlformats.org/officeDocument/2006/relationships/image" Target="../media/image23.wmf"/><Relationship Id="rId1" Type="http://schemas.openxmlformats.org/officeDocument/2006/relationships/image" Target="../media/image11.wmf"/></Relationships>
</file>

<file path=ppt/slides/_rels/slide3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6.wmf"/><Relationship Id="rId3" Type="http://schemas.openxmlformats.org/officeDocument/2006/relationships/image" Target="../media/image13.png"/><Relationship Id="rId2" Type="http://schemas.openxmlformats.org/officeDocument/2006/relationships/image" Target="../media/image24.wmf"/><Relationship Id="rId1" Type="http://schemas.openxmlformats.org/officeDocument/2006/relationships/image" Target="../media/image11.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latin typeface="微软雅黑" panose="020B0503020204020204" pitchFamily="34" charset="-122"/>
                <a:ea typeface="微软雅黑" panose="020B0503020204020204" pitchFamily="34" charset="-122"/>
              </a:rPr>
              <a:t>博弈论</a:t>
            </a:r>
            <a:endParaRPr lang="zh-CN" altLang="en-US" dirty="0">
              <a:latin typeface="微软雅黑" panose="020B0503020204020204" pitchFamily="34" charset="-122"/>
              <a:ea typeface="微软雅黑" panose="020B0503020204020204" pitchFamily="34" charset="-122"/>
            </a:endParaRPr>
          </a:p>
        </p:txBody>
      </p:sp>
      <p:sp>
        <p:nvSpPr>
          <p:cNvPr id="3" name="副标题 2"/>
          <p:cNvSpPr>
            <a:spLocks noGrp="1"/>
          </p:cNvSpPr>
          <p:nvPr>
            <p:ph type="subTitle" idx="1"/>
          </p:nvPr>
        </p:nvSpPr>
        <p:spPr/>
        <p:txBody>
          <a:bodyPr/>
          <a:lstStyle/>
          <a:p>
            <a:r>
              <a:rPr lang="en-US" altLang="zh-CN" dirty="0"/>
              <a:t>By </a:t>
            </a:r>
            <a:r>
              <a:rPr lang="en-US" altLang="zh-CN" dirty="0" err="1"/>
              <a:t>lyc</a:t>
            </a:r>
            <a:endParaRPr lang="zh-CN" altLang="en-US" dirty="0">
              <a:latin typeface="微软雅黑" panose="020B0503020204020204" pitchFamily="34" charset="-122"/>
              <a:ea typeface="微软雅黑" panose="020B0503020204020204" pitchFamily="34" charset="-122"/>
            </a:endParaRPr>
          </a:p>
        </p:txBody>
      </p:sp>
      <p:pic>
        <p:nvPicPr>
          <p:cNvPr id="8" name="图片占位符 7"/>
          <p:cNvPicPr>
            <a:picLocks noGrp="1" noChangeAspect="1"/>
          </p:cNvPicPr>
          <p:nvPr>
            <p:ph type="pic" sz="quarter" idx="13"/>
          </p:nvPr>
        </p:nvPicPr>
        <p:blipFill>
          <a:blip r:embed="rId1">
            <a:extLst>
              <a:ext uri="{28A0092B-C50C-407E-A947-70E740481C1C}">
                <a14:useLocalDpi xmlns:a14="http://schemas.microsoft.com/office/drawing/2010/main" val="0"/>
              </a:ext>
            </a:extLst>
          </a:blip>
          <a:srcRect l="10493" r="10493"/>
          <a:stretch>
            <a:fillRect/>
          </a:stretch>
        </p:blipFill>
        <p:spPr>
          <a:xfrm>
            <a:off x="5180013" y="228600"/>
            <a:ext cx="6781800" cy="5715000"/>
          </a:xfr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p:txBody>
          <a:bodyPr/>
          <a:lstStyle/>
          <a:p>
            <a:r>
              <a:rPr lang="zh-CN" altLang="en-US" dirty="0"/>
              <a:t>博弈论，又被称为对策论，被用于考虑游戏中个体的预测行为和实际行为，并研究他们的应用策略。</a:t>
            </a:r>
            <a:endParaRPr lang="en-US" altLang="zh-CN" dirty="0"/>
          </a:p>
          <a:p>
            <a:r>
              <a:rPr lang="zh-CN" altLang="en-US" dirty="0"/>
              <a:t>信息学奥赛中的博弈论主要是一类</a:t>
            </a:r>
            <a:r>
              <a:rPr lang="en-US" altLang="zh-CN" dirty="0"/>
              <a:t>sg</a:t>
            </a:r>
            <a:r>
              <a:rPr lang="zh-CN" altLang="en-US" dirty="0"/>
              <a:t>游戏即扩展，比如我们最熟悉的</a:t>
            </a:r>
            <a:r>
              <a:rPr lang="en-US" altLang="zh-CN" dirty="0" err="1"/>
              <a:t>Nim</a:t>
            </a:r>
            <a:r>
              <a:rPr lang="zh-CN" altLang="en-US" dirty="0"/>
              <a:t>游戏。今天我们也将由</a:t>
            </a:r>
            <a:r>
              <a:rPr lang="en-US" altLang="zh-CN" dirty="0" err="1"/>
              <a:t>Nim</a:t>
            </a:r>
            <a:r>
              <a:rPr lang="zh-CN" altLang="en-US" dirty="0"/>
              <a:t>游戏引出诸如</a:t>
            </a:r>
            <a:r>
              <a:rPr lang="en-US" altLang="zh-CN" dirty="0"/>
              <a:t>sg</a:t>
            </a:r>
            <a:r>
              <a:rPr lang="zh-CN" altLang="en-US" dirty="0"/>
              <a:t>函数，</a:t>
            </a:r>
            <a:r>
              <a:rPr lang="en-US" altLang="zh-CN" dirty="0"/>
              <a:t>SJ</a:t>
            </a:r>
            <a:r>
              <a:rPr lang="zh-CN" altLang="en-US" dirty="0"/>
              <a:t>定理等博弈论中的一系列知识。</a:t>
            </a:r>
            <a:endParaRPr lang="en-US" altLang="zh-CN" dirty="0"/>
          </a:p>
          <a:p>
            <a:r>
              <a:rPr lang="zh-CN" altLang="en-US" dirty="0"/>
              <a:t>本次所讲的知识主要是</a:t>
            </a:r>
            <a:r>
              <a:rPr lang="en-US" altLang="zh-CN" dirty="0"/>
              <a:t>sg</a:t>
            </a:r>
            <a:r>
              <a:rPr lang="zh-CN" altLang="en-US" dirty="0"/>
              <a:t>游戏及其扩展，有很多思路较为奇特的题未涉及到。</a:t>
            </a:r>
            <a:endParaRPr lang="en-US" altLang="zh-CN" dirty="0"/>
          </a:p>
        </p:txBody>
      </p:sp>
      <p:sp>
        <p:nvSpPr>
          <p:cNvPr id="8" name="文本框 7"/>
          <p:cNvSpPr txBox="1"/>
          <p:nvPr/>
        </p:nvSpPr>
        <p:spPr>
          <a:xfrm>
            <a:off x="1701924" y="2132856"/>
            <a:ext cx="1038746" cy="5040560"/>
          </a:xfrm>
          <a:prstGeom prst="rect">
            <a:avLst/>
          </a:prstGeom>
          <a:noFill/>
        </p:spPr>
        <p:txBody>
          <a:bodyPr vert="eaVert" wrap="square" rtlCol="0">
            <a:spAutoFit/>
          </a:bodyPr>
          <a:lstStyle/>
          <a:p>
            <a:pPr>
              <a:lnSpc>
                <a:spcPct val="90000"/>
              </a:lnSpc>
            </a:pPr>
            <a:r>
              <a:rPr lang="zh-CN" altLang="en-US" sz="6000" dirty="0"/>
              <a:t>前言</a:t>
            </a:r>
            <a:endParaRPr lang="zh-CN" altLang="en-US" sz="60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lstStyle/>
          <a:p>
            <a:r>
              <a:rPr lang="zh-CN" altLang="en-US" dirty="0"/>
              <a:t>一 </a:t>
            </a:r>
            <a:r>
              <a:rPr lang="en-US" altLang="zh-CN" dirty="0"/>
              <a:t>. </a:t>
            </a:r>
            <a:r>
              <a:rPr lang="en-US" altLang="zh-CN" sz="3200" dirty="0" err="1"/>
              <a:t>Nim</a:t>
            </a:r>
            <a:r>
              <a:rPr lang="zh-CN" altLang="en-US" sz="3200" dirty="0"/>
              <a:t>游戏</a:t>
            </a:r>
            <a:endParaRPr lang="zh-CN" dirty="0">
              <a:latin typeface="微软雅黑" panose="020B0503020204020204" pitchFamily="34" charset="-122"/>
              <a:ea typeface="微软雅黑" panose="020B0503020204020204" pitchFamily="34" charset="-122"/>
            </a:endParaRPr>
          </a:p>
        </p:txBody>
      </p:sp>
      <p:sp>
        <p:nvSpPr>
          <p:cNvPr id="3" name="文本框 2"/>
          <p:cNvSpPr txBox="1"/>
          <p:nvPr/>
        </p:nvSpPr>
        <p:spPr>
          <a:xfrm>
            <a:off x="405780" y="1106417"/>
            <a:ext cx="11161240" cy="1473609"/>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题目描述：有</a:t>
            </a:r>
            <a:r>
              <a:rPr lang="en-US" altLang="zh-CN" sz="2800" dirty="0"/>
              <a:t>n</a:t>
            </a:r>
            <a:r>
              <a:rPr lang="zh-CN" altLang="en-US" sz="2800" dirty="0"/>
              <a:t>堆石子，每次可以从其中任意一堆石子中取出若干块石子（可以取完），不能不取。最后无石子可取者为输家。假设两人都按最优情况走，问是否先手必胜。</a:t>
            </a:r>
            <a:endParaRPr lang="zh-CN" altLang="en-US" sz="2800" dirty="0"/>
          </a:p>
        </p:txBody>
      </p:sp>
      <p:sp>
        <p:nvSpPr>
          <p:cNvPr id="7" name="文本框 6"/>
          <p:cNvSpPr txBox="1"/>
          <p:nvPr/>
        </p:nvSpPr>
        <p:spPr>
          <a:xfrm>
            <a:off x="405780" y="2580026"/>
            <a:ext cx="11161240" cy="4271939"/>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首先从最简单的情况考虑，只有一堆石子，则先手可以取完整堆石子，先手必胜。</a:t>
            </a:r>
            <a:endParaRPr lang="en-US" altLang="zh-CN" sz="2800" dirty="0"/>
          </a:p>
          <a:p>
            <a:pPr marL="457200" indent="-457200">
              <a:lnSpc>
                <a:spcPct val="110000"/>
              </a:lnSpc>
              <a:buFont typeface="Arial" panose="020B0604020202020204" pitchFamily="34" charset="0"/>
              <a:buChar char="•"/>
            </a:pPr>
            <a:r>
              <a:rPr lang="zh-CN" altLang="en-US" sz="2800" dirty="0"/>
              <a:t>若有两堆石子，假设这两堆石子数量相同，那么先手必败。因为如果甲在其中一堆取了 </a:t>
            </a:r>
            <a:r>
              <a:rPr lang="en-US" altLang="zh-CN" sz="2800" dirty="0"/>
              <a:t>x </a:t>
            </a:r>
            <a:r>
              <a:rPr lang="zh-CN" altLang="en-US" sz="2800" dirty="0"/>
              <a:t>颗石子，乙只需要在另一堆中做相同的操作。这样取到最后石子的一定是乙，先手必败。而倘若这两堆石子数量不同。那么甲只要取走多余的石子使两堆数量相同，然后同上游戏变为乙必败，甲先手必胜。</a:t>
            </a:r>
            <a:endParaRPr lang="en-US" altLang="zh-CN" sz="2800" dirty="0"/>
          </a:p>
          <a:p>
            <a:pPr marL="457200" indent="-457200">
              <a:lnSpc>
                <a:spcPct val="110000"/>
              </a:lnSpc>
              <a:buFont typeface="Arial" panose="020B0604020202020204" pitchFamily="34" charset="0"/>
              <a:buChar char="•"/>
            </a:pPr>
            <a:r>
              <a:rPr lang="zh-CN" altLang="en-US" sz="2800" dirty="0"/>
              <a:t>那么三堆呢，情况似乎就有点复杂了。。。</a:t>
            </a:r>
            <a:endParaRPr lang="en-US" altLang="zh-CN" sz="2800" dirty="0"/>
          </a:p>
          <a:p>
            <a:pPr marL="457200" indent="-457200">
              <a:lnSpc>
                <a:spcPct val="90000"/>
              </a:lnSpc>
              <a:buFont typeface="Arial" panose="020B0604020202020204" pitchFamily="34" charset="0"/>
              <a:buChar char="•"/>
            </a:pP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lstStyle/>
          <a:p>
            <a:r>
              <a:rPr lang="zh-CN" altLang="en-US" dirty="0"/>
              <a:t>一 </a:t>
            </a:r>
            <a:r>
              <a:rPr lang="en-US" altLang="zh-CN" dirty="0"/>
              <a:t>. </a:t>
            </a:r>
            <a:r>
              <a:rPr lang="en-US" altLang="zh-CN" sz="3200" dirty="0" err="1"/>
              <a:t>Nim</a:t>
            </a:r>
            <a:r>
              <a:rPr lang="zh-CN" altLang="en-US" sz="3200" dirty="0"/>
              <a:t>游戏</a:t>
            </a:r>
            <a:endParaRPr lang="zh-CN" dirty="0">
              <a:latin typeface="微软雅黑" panose="020B0503020204020204" pitchFamily="34" charset="-122"/>
              <a:ea typeface="微软雅黑" panose="020B0503020204020204" pitchFamily="34" charset="-122"/>
            </a:endParaRPr>
          </a:p>
        </p:txBody>
      </p:sp>
      <p:sp>
        <p:nvSpPr>
          <p:cNvPr id="6" name="文本框 5"/>
          <p:cNvSpPr txBox="1"/>
          <p:nvPr/>
        </p:nvSpPr>
        <p:spPr>
          <a:xfrm>
            <a:off x="330194" y="1106417"/>
            <a:ext cx="11236825" cy="4795223"/>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定义</a:t>
            </a:r>
            <a:r>
              <a:rPr lang="en-US" altLang="zh-CN" sz="2800" dirty="0"/>
              <a:t>P-position</a:t>
            </a:r>
            <a:r>
              <a:rPr lang="zh-CN" altLang="en-US" sz="2800" dirty="0"/>
              <a:t>和</a:t>
            </a:r>
            <a:r>
              <a:rPr lang="en-US" altLang="zh-CN" sz="2800" dirty="0"/>
              <a:t>N-position</a:t>
            </a:r>
            <a:r>
              <a:rPr lang="zh-CN" altLang="en-US" sz="2800" dirty="0"/>
              <a:t>，其中</a:t>
            </a:r>
            <a:r>
              <a:rPr lang="en-US" altLang="zh-CN" sz="2800" dirty="0"/>
              <a:t>P</a:t>
            </a:r>
            <a:r>
              <a:rPr lang="zh-CN" altLang="en-US" sz="2800" dirty="0"/>
              <a:t>代表</a:t>
            </a:r>
            <a:r>
              <a:rPr lang="en-US" altLang="zh-CN" sz="2800" dirty="0"/>
              <a:t>previous</a:t>
            </a:r>
            <a:r>
              <a:rPr lang="zh-CN" altLang="en-US" sz="2800" dirty="0"/>
              <a:t>，</a:t>
            </a:r>
            <a:r>
              <a:rPr lang="en-US" altLang="zh-CN" sz="2800" dirty="0"/>
              <a:t>N</a:t>
            </a:r>
            <a:r>
              <a:rPr lang="zh-CN" altLang="en-US" sz="2800" dirty="0"/>
              <a:t>代表</a:t>
            </a:r>
            <a:r>
              <a:rPr lang="en-US" altLang="zh-CN" sz="2800" dirty="0"/>
              <a:t>next</a:t>
            </a:r>
            <a:r>
              <a:rPr lang="zh-CN" altLang="en-US" sz="2800" dirty="0"/>
              <a:t>。</a:t>
            </a:r>
            <a:r>
              <a:rPr lang="en-US" altLang="zh-CN" sz="2800" dirty="0"/>
              <a:t>     </a:t>
            </a:r>
            <a:r>
              <a:rPr lang="zh-CN" altLang="en-US" sz="2800" dirty="0"/>
              <a:t>上一次操作的人有必胜策略的局面叫</a:t>
            </a:r>
            <a:r>
              <a:rPr lang="en-US" altLang="zh-CN" sz="2800" dirty="0"/>
              <a:t>P-position</a:t>
            </a:r>
            <a:r>
              <a:rPr lang="zh-CN" altLang="en-US" sz="2800" dirty="0"/>
              <a:t>，也就是先手必败，后手必胜。这一次操作的人有必胜策略的局面叫</a:t>
            </a:r>
            <a:r>
              <a:rPr lang="en-US" altLang="zh-CN" sz="2800" dirty="0"/>
              <a:t>N-position</a:t>
            </a:r>
            <a:r>
              <a:rPr lang="zh-CN" altLang="en-US" sz="2800" dirty="0"/>
              <a:t>，也就是先手必胜，后生必败局面。</a:t>
            </a:r>
            <a:endParaRPr lang="en-US" altLang="zh-CN" sz="2800" dirty="0"/>
          </a:p>
          <a:p>
            <a:pPr marL="457200" indent="-457200">
              <a:lnSpc>
                <a:spcPct val="110000"/>
              </a:lnSpc>
              <a:buFont typeface="Arial" panose="020B0604020202020204" pitchFamily="34" charset="0"/>
              <a:buChar char="•"/>
            </a:pPr>
            <a:r>
              <a:rPr lang="zh-CN" altLang="en-US" sz="2800" dirty="0"/>
              <a:t>一个局面是</a:t>
            </a:r>
            <a:r>
              <a:rPr lang="en-US" altLang="zh-CN" sz="2800" dirty="0"/>
              <a:t>P-position</a:t>
            </a:r>
            <a:r>
              <a:rPr lang="zh-CN" altLang="en-US" sz="2800" dirty="0"/>
              <a:t>当且仅当它的所有后继局面都是</a:t>
            </a:r>
            <a:r>
              <a:rPr lang="en-US" altLang="zh-CN" sz="2800" dirty="0"/>
              <a:t>N-position</a:t>
            </a:r>
            <a:r>
              <a:rPr lang="zh-CN" altLang="en-US" sz="2800" dirty="0"/>
              <a:t>。先手无论怎样操作都会到达使后手必胜的局面。一个必败局面不可能到达另一个必败局面。</a:t>
            </a:r>
            <a:endParaRPr lang="en-US" altLang="zh-CN" sz="2800" dirty="0"/>
          </a:p>
          <a:p>
            <a:pPr marL="457200" indent="-457200">
              <a:lnSpc>
                <a:spcPct val="110000"/>
              </a:lnSpc>
              <a:buFont typeface="Arial" panose="020B0604020202020204" pitchFamily="34" charset="0"/>
              <a:buChar char="•"/>
            </a:pPr>
            <a:r>
              <a:rPr lang="en-US" altLang="zh-CN" sz="2800" dirty="0"/>
              <a:t>N-position</a:t>
            </a:r>
            <a:r>
              <a:rPr lang="zh-CN" altLang="en-US" sz="2800" dirty="0"/>
              <a:t>的后继局面中只要有</a:t>
            </a:r>
            <a:r>
              <a:rPr lang="en-US" altLang="zh-CN" sz="2800" dirty="0"/>
              <a:t>P-position</a:t>
            </a:r>
            <a:r>
              <a:rPr lang="zh-CN" altLang="en-US" sz="2800" dirty="0"/>
              <a:t>即可。因为按最优策略走，一定会到达一个必败局面使后手必败。</a:t>
            </a:r>
            <a:endParaRPr lang="en-US" altLang="zh-CN" sz="2800" dirty="0"/>
          </a:p>
          <a:p>
            <a:pPr marL="457200" indent="-457200">
              <a:lnSpc>
                <a:spcPct val="110000"/>
              </a:lnSpc>
              <a:buFont typeface="Arial" panose="020B0604020202020204" pitchFamily="34" charset="0"/>
              <a:buChar char="•"/>
            </a:pP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lstStyle/>
          <a:p>
            <a:r>
              <a:rPr lang="zh-CN" altLang="en-US" dirty="0"/>
              <a:t>一 </a:t>
            </a:r>
            <a:r>
              <a:rPr lang="en-US" altLang="zh-CN" dirty="0"/>
              <a:t>. </a:t>
            </a:r>
            <a:r>
              <a:rPr lang="en-US" altLang="zh-CN" sz="3200" dirty="0" err="1"/>
              <a:t>Nim</a:t>
            </a:r>
            <a:r>
              <a:rPr lang="zh-CN" altLang="en-US" sz="3200" dirty="0"/>
              <a:t>游戏</a:t>
            </a:r>
            <a:endParaRPr lang="zh-CN"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06417"/>
            <a:ext cx="11233248" cy="4797211"/>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再来回到</a:t>
            </a:r>
            <a:r>
              <a:rPr lang="en-US" altLang="zh-CN" sz="2800" dirty="0" err="1"/>
              <a:t>Nim</a:t>
            </a:r>
            <a:r>
              <a:rPr lang="zh-CN" altLang="en-US" sz="2800" dirty="0"/>
              <a:t>游戏上。</a:t>
            </a:r>
            <a:endParaRPr lang="en-US" altLang="zh-CN" sz="2800" dirty="0"/>
          </a:p>
          <a:p>
            <a:pPr marL="457200" indent="-457200">
              <a:lnSpc>
                <a:spcPct val="110000"/>
              </a:lnSpc>
              <a:buFont typeface="Arial" panose="020B0604020202020204" pitchFamily="34" charset="0"/>
              <a:buChar char="•"/>
            </a:pPr>
            <a:r>
              <a:rPr lang="zh-CN" altLang="en-US" sz="2800" dirty="0"/>
              <a:t>可以用一个</a:t>
            </a:r>
            <a:r>
              <a:rPr lang="en-US" altLang="zh-CN" sz="2800" dirty="0"/>
              <a:t>n</a:t>
            </a:r>
            <a:r>
              <a:rPr lang="zh-CN" altLang="en-US" sz="2800" dirty="0"/>
              <a:t>元组</a:t>
            </a:r>
            <a:r>
              <a:rPr lang="en-US" altLang="zh-CN" sz="2800" dirty="0"/>
              <a:t>(a1, a2, …, an)</a:t>
            </a:r>
            <a:r>
              <a:rPr lang="zh-CN" altLang="en-US" sz="2800" kern="100" dirty="0">
                <a:latin typeface="Times New Roman" panose="02020603050405020304" pitchFamily="18" charset="0"/>
                <a:ea typeface="宋体" panose="02010600030101010101" pitchFamily="2" charset="-122"/>
              </a:rPr>
              <a:t>来表示一个局面，其中</a:t>
            </a:r>
            <a:r>
              <a:rPr lang="en-US" altLang="zh-CN" sz="2800" kern="100" dirty="0">
                <a:latin typeface="Times New Roman" panose="02020603050405020304" pitchFamily="18" charset="0"/>
                <a:ea typeface="宋体" panose="02010600030101010101" pitchFamily="2" charset="-122"/>
              </a:rPr>
              <a:t>an</a:t>
            </a:r>
            <a:r>
              <a:rPr lang="zh-CN" altLang="en-US" sz="2800" kern="100" dirty="0">
                <a:latin typeface="Times New Roman" panose="02020603050405020304" pitchFamily="18" charset="0"/>
                <a:ea typeface="宋体" panose="02010600030101010101" pitchFamily="2" charset="-122"/>
              </a:rPr>
              <a:t>为第</a:t>
            </a:r>
            <a:r>
              <a:rPr lang="en-US" altLang="zh-CN" sz="2800" kern="100" dirty="0">
                <a:latin typeface="Times New Roman" panose="02020603050405020304" pitchFamily="18" charset="0"/>
                <a:ea typeface="宋体" panose="02010600030101010101" pitchFamily="2" charset="-122"/>
              </a:rPr>
              <a:t>n</a:t>
            </a:r>
            <a:r>
              <a:rPr lang="zh-CN" altLang="en-US" sz="2800" kern="100" dirty="0">
                <a:latin typeface="Times New Roman" panose="02020603050405020304" pitchFamily="18" charset="0"/>
                <a:ea typeface="宋体" panose="02010600030101010101" pitchFamily="2" charset="-122"/>
              </a:rPr>
              <a:t>堆石子的数量。</a:t>
            </a:r>
            <a:endParaRPr lang="en-US" altLang="zh-CN" sz="2800" kern="100" dirty="0">
              <a:latin typeface="Times New Roman" panose="02020603050405020304" pitchFamily="18" charset="0"/>
              <a:ea typeface="宋体" panose="02010600030101010101" pitchFamily="2" charset="-122"/>
            </a:endParaRPr>
          </a:p>
          <a:p>
            <a:pPr marL="457200" indent="-457200">
              <a:lnSpc>
                <a:spcPct val="110000"/>
              </a:lnSpc>
              <a:buFont typeface="Arial" panose="020B0604020202020204" pitchFamily="34" charset="0"/>
              <a:buChar char="•"/>
            </a:pPr>
            <a:r>
              <a:rPr lang="zh-CN" altLang="en-US" sz="2800" kern="100" dirty="0">
                <a:latin typeface="Times New Roman" panose="02020603050405020304" pitchFamily="18" charset="0"/>
                <a:ea typeface="宋体" panose="02010600030101010101" pitchFamily="2" charset="-122"/>
              </a:rPr>
              <a:t>假设局面为（</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），他的所有后继局面为</a:t>
            </a:r>
            <a:endParaRPr lang="en-US" altLang="zh-CN" sz="2800" kern="100" dirty="0">
              <a:latin typeface="Times New Roman" panose="02020603050405020304" pitchFamily="18" charset="0"/>
              <a:ea typeface="宋体" panose="02010600030101010101" pitchFamily="2" charset="-122"/>
            </a:endParaRPr>
          </a:p>
          <a:p>
            <a:pPr marL="914400" lvl="1" indent="-457200">
              <a:lnSpc>
                <a:spcPct val="110000"/>
              </a:lnSpc>
              <a:buFont typeface="Arial" panose="020B0604020202020204" pitchFamily="34" charset="0"/>
              <a:buChar char="•"/>
            </a:pP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2</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a:t>
            </a:r>
            <a:endParaRPr lang="en-US" altLang="zh-CN" sz="2800" kern="100" dirty="0">
              <a:latin typeface="Times New Roman" panose="02020603050405020304" pitchFamily="18" charset="0"/>
              <a:ea typeface="宋体" panose="02010600030101010101" pitchFamily="2" charset="-122"/>
            </a:endParaRPr>
          </a:p>
          <a:p>
            <a:pPr marL="914400" lvl="1" indent="-457200">
              <a:lnSpc>
                <a:spcPct val="110000"/>
              </a:lnSpc>
              <a:buFont typeface="Arial" panose="020B0604020202020204" pitchFamily="34" charset="0"/>
              <a:buChar char="•"/>
            </a:pPr>
            <a:r>
              <a:rPr lang="zh-CN" altLang="en-US" sz="2800" kern="100" dirty="0">
                <a:latin typeface="Times New Roman" panose="02020603050405020304" pitchFamily="18" charset="0"/>
                <a:ea typeface="宋体" panose="02010600030101010101" pitchFamily="2" charset="-122"/>
              </a:rPr>
              <a:t>而（</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）是必败局面，所以（</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3</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1</a:t>
            </a:r>
            <a:r>
              <a:rPr lang="zh-CN" altLang="en-US" sz="2800" kern="100" dirty="0">
                <a:latin typeface="Times New Roman" panose="02020603050405020304" pitchFamily="18" charset="0"/>
                <a:ea typeface="宋体" panose="02010600030101010101" pitchFamily="2" charset="-122"/>
              </a:rPr>
              <a:t>）是</a:t>
            </a:r>
            <a:r>
              <a:rPr lang="en-US" altLang="zh-CN" sz="2800" kern="100" dirty="0">
                <a:latin typeface="Times New Roman" panose="02020603050405020304" pitchFamily="18" charset="0"/>
                <a:ea typeface="宋体" panose="02010600030101010101" pitchFamily="2" charset="-122"/>
              </a:rPr>
              <a:t>N-position</a:t>
            </a:r>
            <a:r>
              <a:rPr lang="zh-CN" altLang="en-US" sz="2800" kern="100" dirty="0">
                <a:latin typeface="Times New Roman" panose="02020603050405020304" pitchFamily="18" charset="0"/>
                <a:ea typeface="宋体" panose="02010600030101010101" pitchFamily="2" charset="-122"/>
              </a:rPr>
              <a:t>。</a:t>
            </a:r>
            <a:endParaRPr lang="en-US" altLang="zh-CN" sz="2800" kern="100" dirty="0">
              <a:latin typeface="Times New Roman" panose="02020603050405020304" pitchFamily="18" charset="0"/>
              <a:ea typeface="宋体" panose="02010600030101010101" pitchFamily="2" charset="-122"/>
            </a:endParaRPr>
          </a:p>
          <a:p>
            <a:pPr marL="457200" indent="-457200">
              <a:lnSpc>
                <a:spcPct val="110000"/>
              </a:lnSpc>
              <a:buFont typeface="Arial" panose="020B0604020202020204" pitchFamily="34" charset="0"/>
              <a:buChar char="•"/>
            </a:pPr>
            <a:r>
              <a:rPr lang="zh-CN" altLang="en-US" sz="2800" kern="100" dirty="0">
                <a:latin typeface="Times New Roman" panose="02020603050405020304" pitchFamily="18" charset="0"/>
                <a:ea typeface="宋体" panose="02010600030101010101" pitchFamily="2" charset="-122"/>
              </a:rPr>
              <a:t>由此可以推出，对于一个</a:t>
            </a:r>
            <a:r>
              <a:rPr lang="en-US" altLang="zh-CN" sz="2800" kern="100" dirty="0">
                <a:latin typeface="Times New Roman" panose="02020603050405020304" pitchFamily="18" charset="0"/>
                <a:ea typeface="宋体" panose="02010600030101010101" pitchFamily="2" charset="-122"/>
              </a:rPr>
              <a:t>n</a:t>
            </a:r>
            <a:r>
              <a:rPr lang="zh-CN" altLang="en-US" sz="2800" kern="100" dirty="0">
                <a:latin typeface="Times New Roman" panose="02020603050405020304" pitchFamily="18" charset="0"/>
                <a:ea typeface="宋体" panose="02010600030101010101" pitchFamily="2" charset="-122"/>
              </a:rPr>
              <a:t>元组</a:t>
            </a:r>
            <a:r>
              <a:rPr lang="en-US" altLang="zh-CN" sz="2800" dirty="0"/>
              <a:t>(a1, a2, …, an) </a:t>
            </a:r>
            <a:r>
              <a:rPr lang="zh-CN" altLang="en-US" sz="2800" kern="100" dirty="0">
                <a:latin typeface="Times New Roman" panose="02020603050405020304" pitchFamily="18" charset="0"/>
                <a:ea typeface="宋体" panose="02010600030101010101" pitchFamily="2" charset="-122"/>
              </a:rPr>
              <a:t>，可以递归搜索出它所有的后继局面，从而判断是</a:t>
            </a:r>
            <a:r>
              <a:rPr lang="en-US" altLang="zh-CN" sz="2800" kern="100" dirty="0">
                <a:latin typeface="Times New Roman" panose="02020603050405020304" pitchFamily="18" charset="0"/>
                <a:ea typeface="宋体" panose="02010600030101010101" pitchFamily="2" charset="-122"/>
              </a:rPr>
              <a:t>N-position</a:t>
            </a:r>
            <a:r>
              <a:rPr lang="zh-CN" altLang="en-US" sz="2800" kern="100" dirty="0">
                <a:latin typeface="Times New Roman" panose="02020603050405020304" pitchFamily="18" charset="0"/>
                <a:ea typeface="宋体" panose="02010600030101010101" pitchFamily="2" charset="-122"/>
              </a:rPr>
              <a:t>还是</a:t>
            </a:r>
            <a:r>
              <a:rPr lang="en-US" altLang="zh-CN" sz="2800" kern="100" dirty="0">
                <a:latin typeface="Times New Roman" panose="02020603050405020304" pitchFamily="18" charset="0"/>
                <a:ea typeface="宋体" panose="02010600030101010101" pitchFamily="2" charset="-122"/>
              </a:rPr>
              <a:t>P-position</a:t>
            </a:r>
            <a:r>
              <a:rPr lang="zh-CN" altLang="en-US" sz="2800" kern="100" dirty="0">
                <a:latin typeface="Times New Roman" panose="02020603050405020304" pitchFamily="18" charset="0"/>
                <a:ea typeface="宋体" panose="02010600030101010101" pitchFamily="2" charset="-122"/>
              </a:rPr>
              <a:t>。</a:t>
            </a:r>
            <a:endParaRPr lang="en-US" altLang="zh-CN" sz="2800" kern="100" dirty="0">
              <a:latin typeface="Times New Roman" panose="02020603050405020304" pitchFamily="18" charset="0"/>
              <a:ea typeface="宋体" panose="02010600030101010101" pitchFamily="2" charset="-122"/>
            </a:endParaRPr>
          </a:p>
          <a:p>
            <a:pPr marL="457200" indent="-457200">
              <a:lnSpc>
                <a:spcPct val="110000"/>
              </a:lnSpc>
              <a:buFont typeface="Arial" panose="020B0604020202020204" pitchFamily="34" charset="0"/>
              <a:buChar char="•"/>
            </a:pPr>
            <a:r>
              <a:rPr lang="zh-CN" altLang="en-US" sz="2800" kern="100" dirty="0">
                <a:latin typeface="Times New Roman" panose="02020603050405020304" pitchFamily="18" charset="0"/>
                <a:ea typeface="宋体" panose="02010600030101010101" pitchFamily="2" charset="-122"/>
              </a:rPr>
              <a:t>但时间复杂度是</a:t>
            </a:r>
            <a:r>
              <a:rPr lang="en-US" altLang="zh-CN" sz="2800" kern="100" dirty="0">
                <a:latin typeface="Times New Roman" panose="02020603050405020304" pitchFamily="18" charset="0"/>
                <a:ea typeface="宋体" panose="02010600030101010101" pitchFamily="2" charset="-122"/>
              </a:rPr>
              <a:t>O</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a1</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a2</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a:t>
            </a:r>
            <a:r>
              <a:rPr lang="zh-CN" altLang="en-US" sz="2800" kern="100" dirty="0">
                <a:latin typeface="Times New Roman" panose="02020603050405020304" pitchFamily="18" charset="0"/>
                <a:ea typeface="宋体" panose="02010600030101010101" pitchFamily="2" charset="-122"/>
              </a:rPr>
              <a:t>*</a:t>
            </a:r>
            <a:r>
              <a:rPr lang="en-US" altLang="zh-CN" sz="2800" kern="100" dirty="0">
                <a:latin typeface="Times New Roman" panose="02020603050405020304" pitchFamily="18" charset="0"/>
                <a:ea typeface="宋体" panose="02010600030101010101" pitchFamily="2" charset="-122"/>
              </a:rPr>
              <a:t>an</a:t>
            </a:r>
            <a:r>
              <a:rPr lang="zh-CN" altLang="en-US" sz="2800" kern="100" dirty="0">
                <a:latin typeface="Times New Roman" panose="02020603050405020304" pitchFamily="18" charset="0"/>
                <a:ea typeface="宋体" panose="02010600030101010101" pitchFamily="2" charset="-122"/>
              </a:rPr>
              <a:t>），即使记忆化搜索也无法缩小这个状态数。该怎么办呢？</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lstStyle/>
          <a:p>
            <a:r>
              <a:rPr lang="zh-CN" altLang="en-US" dirty="0"/>
              <a:t>一 </a:t>
            </a:r>
            <a:r>
              <a:rPr lang="en-US" altLang="zh-CN" dirty="0"/>
              <a:t>. </a:t>
            </a:r>
            <a:r>
              <a:rPr lang="en-US" altLang="zh-CN" sz="3200" dirty="0" err="1"/>
              <a:t>Nim</a:t>
            </a:r>
            <a:r>
              <a:rPr lang="zh-CN" altLang="en-US" sz="3200" dirty="0"/>
              <a:t>游戏</a:t>
            </a:r>
            <a:endParaRPr lang="zh-CN"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155" y="1142168"/>
            <a:ext cx="10801200" cy="4317464"/>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直接说结论，对于一个局面当且仅当</a:t>
            </a:r>
            <a:r>
              <a:rPr lang="en-US" altLang="zh-CN" sz="2800" dirty="0"/>
              <a:t>a1^a2^…^an=0</a:t>
            </a:r>
            <a:r>
              <a:rPr lang="zh-CN" altLang="en-US" sz="2800" dirty="0"/>
              <a:t>时，它为</a:t>
            </a:r>
            <a:r>
              <a:rPr lang="en-US" altLang="zh-CN" sz="2800" dirty="0"/>
              <a:t>P-position</a:t>
            </a:r>
            <a:r>
              <a:rPr lang="zh-CN" altLang="en-US" sz="2800" dirty="0"/>
              <a:t>，证明按照刚才的性质即可。</a:t>
            </a:r>
            <a:endParaRPr lang="en-US" altLang="zh-CN" sz="2800" dirty="0"/>
          </a:p>
          <a:p>
            <a:pPr marL="457200" indent="-457200" algn="l">
              <a:lnSpc>
                <a:spcPct val="110000"/>
              </a:lnSpc>
              <a:buFont typeface="Arial" panose="020B0604020202020204" pitchFamily="34" charset="0"/>
              <a:buChar char="•"/>
            </a:pPr>
            <a:r>
              <a:rPr lang="zh-CN" altLang="en-US" sz="2800" dirty="0"/>
              <a:t>证明：</a:t>
            </a:r>
            <a:endParaRPr lang="en-US" altLang="zh-CN" sz="2800" dirty="0"/>
          </a:p>
          <a:p>
            <a:pPr marL="914400" lvl="1" indent="-457200">
              <a:lnSpc>
                <a:spcPct val="110000"/>
              </a:lnSpc>
              <a:buFont typeface="Arial" panose="020B0604020202020204" pitchFamily="34" charset="0"/>
              <a:buChar char="•"/>
            </a:pPr>
            <a:r>
              <a:rPr lang="zh-CN" altLang="en-US" sz="2800" dirty="0"/>
              <a:t>当游戏为终止局面时异或和为</a:t>
            </a:r>
            <a:r>
              <a:rPr lang="en-US" altLang="zh-CN" sz="2800" dirty="0"/>
              <a:t>0</a:t>
            </a:r>
            <a:r>
              <a:rPr lang="zh-CN" altLang="en-US" sz="2800" dirty="0"/>
              <a:t>，是</a:t>
            </a:r>
            <a:r>
              <a:rPr lang="en-US" altLang="zh-CN" sz="2800" dirty="0"/>
              <a:t>P-position</a:t>
            </a:r>
            <a:r>
              <a:rPr lang="zh-CN" altLang="en-US" sz="2800" dirty="0"/>
              <a:t>。</a:t>
            </a:r>
            <a:endParaRPr lang="en-US" altLang="zh-CN" sz="2800" dirty="0"/>
          </a:p>
          <a:p>
            <a:pPr marL="914400" lvl="1" indent="-457200">
              <a:lnSpc>
                <a:spcPct val="110000"/>
              </a:lnSpc>
              <a:buFont typeface="Arial" panose="020B0604020202020204" pitchFamily="34" charset="0"/>
              <a:buChar char="•"/>
            </a:pPr>
            <a:r>
              <a:rPr lang="zh-CN" altLang="en-US" sz="2800" dirty="0"/>
              <a:t>局面为</a:t>
            </a:r>
            <a:r>
              <a:rPr lang="en-US" altLang="zh-CN" sz="2800" dirty="0"/>
              <a:t>N-position</a:t>
            </a:r>
            <a:r>
              <a:rPr lang="zh-CN" altLang="en-US" sz="2800" dirty="0"/>
              <a:t>时，设</a:t>
            </a:r>
            <a:r>
              <a:rPr lang="en-US" altLang="zh-CN" sz="2800" dirty="0"/>
              <a:t>a1^a2^…^an=d</a:t>
            </a:r>
            <a:r>
              <a:rPr lang="zh-CN" altLang="en-US" sz="2800" dirty="0"/>
              <a:t>，假设</a:t>
            </a:r>
            <a:r>
              <a:rPr lang="en-US" altLang="zh-CN" sz="2800" dirty="0"/>
              <a:t>d</a:t>
            </a:r>
            <a:r>
              <a:rPr lang="zh-CN" altLang="en-US" sz="2800" dirty="0"/>
              <a:t>的二进制最高位为</a:t>
            </a:r>
            <a:r>
              <a:rPr lang="en-US" altLang="zh-CN" sz="2800" dirty="0"/>
              <a:t>k</a:t>
            </a:r>
            <a:r>
              <a:rPr lang="zh-CN" altLang="en-US" sz="2800" dirty="0"/>
              <a:t>，那么一定存在至少一个</a:t>
            </a:r>
            <a:r>
              <a:rPr lang="en-US" altLang="zh-CN" sz="2800" dirty="0" err="1"/>
              <a:t>ai</a:t>
            </a:r>
            <a:r>
              <a:rPr lang="zh-CN" altLang="en-US" sz="2800" dirty="0"/>
              <a:t>第</a:t>
            </a:r>
            <a:r>
              <a:rPr lang="en-US" altLang="zh-CN" sz="2800" dirty="0"/>
              <a:t>k</a:t>
            </a:r>
            <a:r>
              <a:rPr lang="zh-CN" altLang="en-US" sz="2800" dirty="0"/>
              <a:t>位为</a:t>
            </a:r>
            <a:r>
              <a:rPr lang="en-US" altLang="zh-CN" sz="2800" dirty="0"/>
              <a:t>1</a:t>
            </a:r>
            <a:r>
              <a:rPr lang="zh-CN" altLang="en-US" sz="2800" dirty="0"/>
              <a:t>，显然</a:t>
            </a:r>
            <a:r>
              <a:rPr lang="en-US" altLang="zh-CN" sz="2800" dirty="0" err="1"/>
              <a:t>ai^d</a:t>
            </a:r>
            <a:r>
              <a:rPr lang="en-US" altLang="zh-CN" sz="2800" dirty="0"/>
              <a:t>&lt;</a:t>
            </a:r>
            <a:r>
              <a:rPr lang="en-US" altLang="zh-CN" sz="2800" dirty="0" err="1"/>
              <a:t>ai</a:t>
            </a:r>
            <a:r>
              <a:rPr lang="zh-CN" altLang="en-US" sz="2800" dirty="0"/>
              <a:t>，因为异或后第</a:t>
            </a:r>
            <a:r>
              <a:rPr lang="en-US" altLang="zh-CN" sz="2800" dirty="0"/>
              <a:t>k</a:t>
            </a:r>
            <a:r>
              <a:rPr lang="zh-CN" altLang="en-US" sz="2800" dirty="0"/>
              <a:t>位变为</a:t>
            </a:r>
            <a:r>
              <a:rPr lang="en-US" altLang="zh-CN" sz="2800" dirty="0"/>
              <a:t>0</a:t>
            </a:r>
            <a:r>
              <a:rPr lang="zh-CN" altLang="en-US" sz="2800" dirty="0"/>
              <a:t>，</a:t>
            </a:r>
            <a:r>
              <a:rPr lang="en-US" altLang="zh-CN" sz="2800" dirty="0" err="1"/>
              <a:t>ai</a:t>
            </a:r>
            <a:r>
              <a:rPr lang="zh-CN" altLang="en-US" sz="2800" dirty="0"/>
              <a:t>减去</a:t>
            </a:r>
            <a:r>
              <a:rPr lang="en-US" altLang="zh-CN" sz="2800" dirty="0"/>
              <a:t>2^k</a:t>
            </a:r>
            <a:r>
              <a:rPr lang="zh-CN" altLang="en-US" sz="2800" dirty="0"/>
              <a:t>，而其它位最多加上</a:t>
            </a:r>
            <a:r>
              <a:rPr lang="en-US" altLang="zh-CN" sz="2800" dirty="0"/>
              <a:t>2^k-1</a:t>
            </a:r>
            <a:r>
              <a:rPr lang="zh-CN" altLang="en-US" sz="2800" dirty="0"/>
              <a:t>。那么只要将</a:t>
            </a:r>
            <a:r>
              <a:rPr lang="en-US" altLang="zh-CN" sz="2800" dirty="0" err="1"/>
              <a:t>ai</a:t>
            </a:r>
            <a:r>
              <a:rPr lang="zh-CN" altLang="en-US" sz="2800" dirty="0"/>
              <a:t>变为</a:t>
            </a:r>
            <a:r>
              <a:rPr lang="en-US" altLang="zh-CN" sz="2800" dirty="0" err="1"/>
              <a:t>ai^d</a:t>
            </a:r>
            <a:r>
              <a:rPr lang="zh-CN" altLang="en-US" sz="2800" dirty="0"/>
              <a:t>，异或和变为</a:t>
            </a:r>
            <a:r>
              <a:rPr lang="en-US" altLang="zh-CN" sz="2800" dirty="0"/>
              <a:t>d^a1^…^an=</a:t>
            </a:r>
            <a:r>
              <a:rPr lang="en-US" altLang="zh-CN" sz="2800" dirty="0" err="1"/>
              <a:t>d^d</a:t>
            </a:r>
            <a:r>
              <a:rPr lang="en-US" altLang="zh-CN" sz="2800" dirty="0"/>
              <a:t>=0</a:t>
            </a:r>
            <a:r>
              <a:rPr lang="zh-CN" altLang="en-US" sz="2800" dirty="0"/>
              <a:t>。即</a:t>
            </a:r>
            <a:r>
              <a:rPr lang="en-US" altLang="zh-CN" sz="2800" dirty="0"/>
              <a:t>N-position</a:t>
            </a:r>
            <a:r>
              <a:rPr lang="zh-CN" altLang="en-US" sz="2800" dirty="0"/>
              <a:t>一定可以走到一个</a:t>
            </a:r>
            <a:r>
              <a:rPr lang="en-US" altLang="zh-CN" sz="2800" dirty="0"/>
              <a:t>P-position</a:t>
            </a:r>
            <a:r>
              <a:rPr lang="zh-CN" altLang="en-US" sz="2800" dirty="0"/>
              <a:t>。</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lstStyle/>
          <a:p>
            <a:r>
              <a:rPr lang="zh-CN" altLang="en-US" dirty="0"/>
              <a:t>一 </a:t>
            </a:r>
            <a:r>
              <a:rPr lang="en-US" altLang="zh-CN" dirty="0"/>
              <a:t>. </a:t>
            </a:r>
            <a:r>
              <a:rPr lang="en-US" altLang="zh-CN" sz="3200" dirty="0" err="1"/>
              <a:t>Nim</a:t>
            </a:r>
            <a:r>
              <a:rPr lang="zh-CN" altLang="en-US" sz="3200" dirty="0"/>
              <a:t>游戏</a:t>
            </a:r>
            <a:endParaRPr lang="zh-CN"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154" y="1142168"/>
            <a:ext cx="11233865" cy="5780044"/>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证明：</a:t>
            </a:r>
            <a:endParaRPr lang="en-US" altLang="zh-CN" sz="2800" dirty="0"/>
          </a:p>
          <a:p>
            <a:pPr marL="914400" lvl="1" indent="-457200">
              <a:lnSpc>
                <a:spcPct val="110000"/>
              </a:lnSpc>
              <a:buFont typeface="Arial" panose="020B0604020202020204" pitchFamily="34" charset="0"/>
              <a:buChar char="•"/>
            </a:pPr>
            <a:r>
              <a:rPr lang="zh-CN" altLang="en-US" sz="2800" dirty="0"/>
              <a:t>当游戏为终止局面时异或和为</a:t>
            </a:r>
            <a:r>
              <a:rPr lang="en-US" altLang="zh-CN" sz="2800" dirty="0"/>
              <a:t>0</a:t>
            </a:r>
            <a:r>
              <a:rPr lang="zh-CN" altLang="en-US" sz="2800" dirty="0"/>
              <a:t>，是</a:t>
            </a:r>
            <a:r>
              <a:rPr lang="en-US" altLang="zh-CN" sz="2800" dirty="0"/>
              <a:t>P-position</a:t>
            </a:r>
            <a:endParaRPr lang="en-US" altLang="zh-CN" sz="2800" dirty="0"/>
          </a:p>
          <a:p>
            <a:pPr marL="914400" lvl="1" indent="-457200">
              <a:lnSpc>
                <a:spcPct val="110000"/>
              </a:lnSpc>
              <a:buFont typeface="Arial" panose="020B0604020202020204" pitchFamily="34" charset="0"/>
              <a:buChar char="•"/>
            </a:pPr>
            <a:r>
              <a:rPr lang="zh-CN" altLang="en-US" sz="2800" dirty="0"/>
              <a:t>局面为</a:t>
            </a:r>
            <a:r>
              <a:rPr lang="en-US" altLang="zh-CN" sz="2800" dirty="0"/>
              <a:t>P-position</a:t>
            </a:r>
            <a:r>
              <a:rPr lang="zh-CN" altLang="en-US" sz="2800" dirty="0"/>
              <a:t>时，假设可以将</a:t>
            </a:r>
            <a:r>
              <a:rPr lang="en-US" altLang="zh-CN" sz="2800" dirty="0" err="1"/>
              <a:t>ai</a:t>
            </a:r>
            <a:r>
              <a:rPr lang="zh-CN" altLang="en-US" sz="2800" dirty="0"/>
              <a:t>变为</a:t>
            </a:r>
            <a:r>
              <a:rPr lang="en-US" altLang="zh-CN" sz="2800" dirty="0" err="1"/>
              <a:t>ai</a:t>
            </a:r>
            <a:r>
              <a:rPr lang="zh-CN" altLang="en-US" sz="2800" dirty="0"/>
              <a:t>‘，使异或和为</a:t>
            </a:r>
            <a:r>
              <a:rPr lang="en-US" altLang="zh-CN" sz="2800" dirty="0"/>
              <a:t>0</a:t>
            </a:r>
            <a:r>
              <a:rPr lang="zh-CN" altLang="en-US" sz="2800" dirty="0"/>
              <a:t>。</a:t>
            </a:r>
            <a:r>
              <a:rPr lang="en-US" altLang="zh-CN" sz="2800" dirty="0"/>
              <a:t>      a1^…^</a:t>
            </a:r>
            <a:r>
              <a:rPr lang="en-US" altLang="zh-CN" sz="2800" dirty="0" err="1"/>
              <a:t>ai</a:t>
            </a:r>
            <a:r>
              <a:rPr lang="en-US" altLang="zh-CN" sz="2800" dirty="0"/>
              <a:t>^…^an=0</a:t>
            </a:r>
            <a:r>
              <a:rPr lang="zh-CN" altLang="en-US" sz="2800" dirty="0"/>
              <a:t>，即</a:t>
            </a:r>
            <a:r>
              <a:rPr lang="en-US" altLang="zh-CN" sz="2800" dirty="0" err="1"/>
              <a:t>ai</a:t>
            </a:r>
            <a:r>
              <a:rPr lang="en-US" altLang="zh-CN" sz="2800" dirty="0"/>
              <a:t>=a1^…^ai-1^ai+1^…^an</a:t>
            </a:r>
            <a:r>
              <a:rPr lang="zh-CN" altLang="en-US" sz="2800" dirty="0"/>
              <a:t>。                          同理得</a:t>
            </a:r>
            <a:r>
              <a:rPr lang="en-US" altLang="zh-CN" sz="2800" dirty="0" err="1"/>
              <a:t>ai</a:t>
            </a:r>
            <a:r>
              <a:rPr lang="zh-CN" altLang="en-US" sz="2800" dirty="0"/>
              <a:t>’</a:t>
            </a:r>
            <a:r>
              <a:rPr lang="en-US" altLang="zh-CN" sz="2800" dirty="0"/>
              <a:t>= </a:t>
            </a:r>
            <a:r>
              <a:rPr lang="en-US" altLang="zh-CN" sz="2800" dirty="0" err="1"/>
              <a:t>ai</a:t>
            </a:r>
            <a:r>
              <a:rPr lang="en-US" altLang="zh-CN" sz="2800" dirty="0"/>
              <a:t>=a1^…^ai-1^ai+1^…^an</a:t>
            </a:r>
            <a:r>
              <a:rPr lang="zh-CN" altLang="en-US" sz="2800" dirty="0"/>
              <a:t>。这样</a:t>
            </a:r>
            <a:r>
              <a:rPr lang="en-US" altLang="zh-CN" sz="2800" dirty="0" err="1"/>
              <a:t>ai</a:t>
            </a:r>
            <a:r>
              <a:rPr lang="en-US" altLang="zh-CN" sz="2800" dirty="0"/>
              <a:t>=</a:t>
            </a:r>
            <a:r>
              <a:rPr lang="en-US" altLang="zh-CN" sz="2800" dirty="0" err="1"/>
              <a:t>ai</a:t>
            </a:r>
            <a:r>
              <a:rPr lang="zh-CN" altLang="en-US" sz="2800" dirty="0"/>
              <a:t>‘，显然矛盾，所以一个</a:t>
            </a:r>
            <a:r>
              <a:rPr lang="en-US" altLang="zh-CN" sz="2800" dirty="0"/>
              <a:t>P-position</a:t>
            </a:r>
            <a:r>
              <a:rPr lang="zh-CN" altLang="en-US" sz="2800" dirty="0"/>
              <a:t>只能到达</a:t>
            </a:r>
            <a:r>
              <a:rPr lang="en-US" altLang="zh-CN" sz="2800" dirty="0"/>
              <a:t>N-position</a:t>
            </a:r>
            <a:r>
              <a:rPr lang="zh-CN" altLang="en-US" sz="2800" dirty="0"/>
              <a:t>。</a:t>
            </a:r>
            <a:endParaRPr lang="en-US" altLang="zh-CN" sz="2800" dirty="0"/>
          </a:p>
          <a:p>
            <a:pPr marL="914400" lvl="1" indent="-457200">
              <a:lnSpc>
                <a:spcPct val="110000"/>
              </a:lnSpc>
              <a:buFont typeface="Arial" panose="020B0604020202020204" pitchFamily="34" charset="0"/>
              <a:buChar char="•"/>
            </a:pPr>
            <a:r>
              <a:rPr lang="zh-CN" altLang="en-US" sz="2800" dirty="0"/>
              <a:t>证毕。</a:t>
            </a:r>
            <a:endParaRPr lang="en-US" altLang="zh-CN" sz="2800" dirty="0"/>
          </a:p>
          <a:p>
            <a:pPr marL="457200" indent="-457200">
              <a:lnSpc>
                <a:spcPct val="110000"/>
              </a:lnSpc>
              <a:buFont typeface="Arial" panose="020B0604020202020204" pitchFamily="34" charset="0"/>
              <a:buChar char="•"/>
            </a:pPr>
            <a:r>
              <a:rPr lang="zh-CN" altLang="en-US" sz="2800" dirty="0"/>
              <a:t>这样当异或和不为</a:t>
            </a:r>
            <a:r>
              <a:rPr lang="en-US" altLang="zh-CN" sz="2800" dirty="0"/>
              <a:t>0</a:t>
            </a:r>
            <a:r>
              <a:rPr lang="zh-CN" altLang="en-US" sz="2800" dirty="0"/>
              <a:t>时，先手一直到达必胜局面，后手一直到达必败局面。而游戏不是永远进行的，后手一定会到达终止局面，后手必败。异或和为</a:t>
            </a:r>
            <a:r>
              <a:rPr lang="en-US" altLang="zh-CN" sz="2800" dirty="0"/>
              <a:t>0</a:t>
            </a:r>
            <a:r>
              <a:rPr lang="zh-CN" altLang="en-US" sz="2800" dirty="0"/>
              <a:t>时同理。</a:t>
            </a:r>
            <a:endParaRPr lang="en-US" altLang="zh-CN" sz="2800" dirty="0"/>
          </a:p>
          <a:p>
            <a:pPr marL="457200" indent="-457200">
              <a:lnSpc>
                <a:spcPct val="110000"/>
              </a:lnSpc>
              <a:buFont typeface="Arial" panose="020B0604020202020204" pitchFamily="34" charset="0"/>
              <a:buChar char="•"/>
            </a:pPr>
            <a:r>
              <a:rPr lang="zh-CN" altLang="en-US" sz="2800" dirty="0"/>
              <a:t>根据这个定理，便可以在</a:t>
            </a:r>
            <a:r>
              <a:rPr lang="en-US" altLang="zh-CN" sz="2800" dirty="0"/>
              <a:t>O(n)</a:t>
            </a:r>
            <a:r>
              <a:rPr lang="zh-CN" altLang="en-US" sz="2800" dirty="0"/>
              <a:t>时间内判断局面胜负。</a:t>
            </a:r>
            <a:endParaRPr lang="en-US" altLang="zh-CN" sz="2800" dirty="0"/>
          </a:p>
          <a:p>
            <a:pPr lvl="1">
              <a:lnSpc>
                <a:spcPct val="110000"/>
              </a:lnSpc>
            </a:pP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06417"/>
            <a:ext cx="11233248" cy="3408045"/>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en-US" altLang="zh-CN" sz="2800" dirty="0"/>
              <a:t>sg</a:t>
            </a:r>
            <a:r>
              <a:rPr lang="zh-CN" altLang="en-US" sz="2800" dirty="0"/>
              <a:t>函数能够代表一个游戏的局面，函数值大于</a:t>
            </a:r>
            <a:r>
              <a:rPr lang="en-US" altLang="zh-CN" sz="2800" dirty="0"/>
              <a:t>0</a:t>
            </a:r>
            <a:r>
              <a:rPr lang="zh-CN" altLang="en-US" sz="2800" dirty="0"/>
              <a:t>时，局面先手必胜，等于</a:t>
            </a:r>
            <a:r>
              <a:rPr lang="en-US" altLang="zh-CN" sz="2800" dirty="0"/>
              <a:t>0</a:t>
            </a:r>
            <a:r>
              <a:rPr lang="zh-CN" altLang="en-US" sz="2800" dirty="0"/>
              <a:t>时先手必败。</a:t>
            </a:r>
            <a:endParaRPr lang="en-US" altLang="zh-CN" sz="2800" dirty="0"/>
          </a:p>
          <a:p>
            <a:pPr marL="457200" indent="-457200" algn="l">
              <a:lnSpc>
                <a:spcPct val="110000"/>
              </a:lnSpc>
              <a:buFont typeface="Arial" panose="020B0604020202020204" pitchFamily="34" charset="0"/>
              <a:buChar char="•"/>
            </a:pPr>
            <a:r>
              <a:rPr lang="zh-CN" altLang="en-US" sz="2800" dirty="0"/>
              <a:t>对于前面的</a:t>
            </a:r>
            <a:r>
              <a:rPr lang="en-US" altLang="zh-CN" sz="2800" dirty="0" err="1"/>
              <a:t>Nim</a:t>
            </a:r>
            <a:r>
              <a:rPr lang="zh-CN" altLang="en-US" sz="2800" dirty="0"/>
              <a:t>游戏来说，一堆石子即为一个子游戏，设其</a:t>
            </a:r>
            <a:r>
              <a:rPr lang="en-US" altLang="zh-CN" sz="2800" dirty="0"/>
              <a:t>sg</a:t>
            </a:r>
            <a:r>
              <a:rPr lang="zh-CN" altLang="en-US" sz="2800" dirty="0"/>
              <a:t>函数为</a:t>
            </a:r>
            <a:r>
              <a:rPr lang="en-US" altLang="zh-CN" sz="2800" dirty="0"/>
              <a:t>f(x)</a:t>
            </a:r>
            <a:r>
              <a:rPr lang="zh-CN" altLang="en-US" sz="2800" dirty="0"/>
              <a:t>，我们是按</a:t>
            </a:r>
            <a:r>
              <a:rPr lang="en-US" altLang="zh-CN" sz="2800" dirty="0"/>
              <a:t>f(x)=x</a:t>
            </a:r>
            <a:r>
              <a:rPr lang="zh-CN" altLang="en-US" sz="2800" dirty="0"/>
              <a:t>来计算的，显然当</a:t>
            </a:r>
            <a:r>
              <a:rPr lang="en-US" altLang="zh-CN" sz="2800" dirty="0"/>
              <a:t>x=0</a:t>
            </a:r>
            <a:r>
              <a:rPr lang="zh-CN" altLang="en-US" sz="2800" dirty="0"/>
              <a:t>时，先手必败，</a:t>
            </a:r>
            <a:r>
              <a:rPr lang="en-US" altLang="zh-CN" sz="2800" dirty="0"/>
              <a:t>f(x)=0</a:t>
            </a:r>
            <a:r>
              <a:rPr lang="zh-CN" altLang="en-US" sz="2800" dirty="0"/>
              <a:t>。</a:t>
            </a:r>
            <a:r>
              <a:rPr lang="en-US" altLang="zh-CN" sz="2800" dirty="0"/>
              <a:t>x&gt;0</a:t>
            </a:r>
            <a:r>
              <a:rPr lang="zh-CN" altLang="en-US" sz="2800" dirty="0"/>
              <a:t>时，</a:t>
            </a:r>
            <a:r>
              <a:rPr lang="en-US" altLang="zh-CN" sz="2800" dirty="0"/>
              <a:t>f(x)&gt;0</a:t>
            </a:r>
            <a:r>
              <a:rPr lang="zh-CN" altLang="en-US" sz="2800" dirty="0"/>
              <a:t>，先手必胜。整个游戏的局面为</a:t>
            </a:r>
            <a:r>
              <a:rPr lang="en-US" altLang="zh-CN" sz="2800" dirty="0"/>
              <a:t>S</a:t>
            </a:r>
            <a:r>
              <a:rPr lang="zh-CN" altLang="en-US" sz="2800" dirty="0"/>
              <a:t>，</a:t>
            </a:r>
            <a:r>
              <a:rPr lang="en-US" altLang="zh-CN" sz="2800" dirty="0"/>
              <a:t>sg</a:t>
            </a:r>
            <a:r>
              <a:rPr lang="zh-CN" altLang="en-US" sz="2800" dirty="0"/>
              <a:t>函数值为</a:t>
            </a:r>
            <a:r>
              <a:rPr lang="en-US" altLang="zh-CN" sz="2800" dirty="0"/>
              <a:t>#S</a:t>
            </a:r>
            <a:r>
              <a:rPr lang="zh-CN" altLang="en-US" sz="2800" dirty="0"/>
              <a:t>，是子游戏的</a:t>
            </a:r>
            <a:r>
              <a:rPr lang="en-US" altLang="zh-CN" sz="2800" dirty="0"/>
              <a:t>sg</a:t>
            </a:r>
            <a:r>
              <a:rPr lang="zh-CN" altLang="en-US" sz="2800" dirty="0"/>
              <a:t>值的异或和，即</a:t>
            </a:r>
            <a:r>
              <a:rPr lang="en-US" altLang="zh-CN" sz="2800" dirty="0"/>
              <a:t>#S=f(a1)^…^f(an)</a:t>
            </a:r>
            <a:r>
              <a:rPr lang="zh-CN" altLang="en-US" sz="2800" dirty="0"/>
              <a:t>。</a:t>
            </a:r>
            <a:endParaRPr lang="en-US" altLang="zh-CN" sz="2800" dirty="0"/>
          </a:p>
          <a:p>
            <a:pPr marL="457200" indent="-457200" algn="l">
              <a:lnSpc>
                <a:spcPct val="110000"/>
              </a:lnSpc>
              <a:buFont typeface="Arial" panose="020B0604020202020204" pitchFamily="34" charset="0"/>
              <a:buChar char="•"/>
            </a:pPr>
            <a:r>
              <a:rPr lang="zh-CN" altLang="en-US" sz="2800" dirty="0"/>
              <a:t>那么对于其它游戏呢？</a:t>
            </a:r>
            <a:endParaRPr lang="en-US" altLang="zh-CN" sz="2800" dirty="0"/>
          </a:p>
        </p:txBody>
      </p:sp>
      <p:sp>
        <p:nvSpPr>
          <p:cNvPr id="6" name="文本框 5"/>
          <p:cNvSpPr txBox="1"/>
          <p:nvPr/>
        </p:nvSpPr>
        <p:spPr>
          <a:xfrm>
            <a:off x="333772" y="4521767"/>
            <a:ext cx="11233248" cy="1040285"/>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来看这样一个变形，让</a:t>
            </a:r>
            <a:r>
              <a:rPr lang="en-US" altLang="zh-CN" sz="2800" dirty="0" err="1"/>
              <a:t>nim</a:t>
            </a:r>
            <a:r>
              <a:rPr lang="zh-CN" altLang="en-US" sz="2800" dirty="0"/>
              <a:t>游戏中每次取的石子的数量最多为</a:t>
            </a:r>
            <a:r>
              <a:rPr lang="en-US" altLang="zh-CN" sz="2800" dirty="0"/>
              <a:t>m</a:t>
            </a:r>
            <a:r>
              <a:rPr lang="zh-CN" altLang="en-US" sz="2800" dirty="0"/>
              <a:t>，其它条件不变，仍问是否先手必胜。</a:t>
            </a:r>
            <a:endParaRPr lang="zh-CN" altLang="en-US" sz="2800" dirty="0"/>
          </a:p>
        </p:txBody>
      </p:sp>
      <p:sp>
        <p:nvSpPr>
          <p:cNvPr id="9" name="文本框 8"/>
          <p:cNvSpPr txBox="1"/>
          <p:nvPr/>
        </p:nvSpPr>
        <p:spPr>
          <a:xfrm>
            <a:off x="333772" y="5521400"/>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此题</a:t>
            </a:r>
            <a:r>
              <a:rPr lang="en-US" altLang="zh-CN" sz="2800" dirty="0"/>
              <a:t>f(x)=x%(m+1)</a:t>
            </a:r>
            <a:r>
              <a:rPr lang="zh-CN" altLang="en-US" sz="2800" dirty="0"/>
              <a:t>。</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06417"/>
            <a:ext cx="11233248" cy="3847272"/>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仍是从最简单的情况开始分析。</a:t>
            </a:r>
            <a:endParaRPr lang="en-US" altLang="zh-CN" sz="2800" dirty="0"/>
          </a:p>
          <a:p>
            <a:pPr marL="457200" indent="-457200" algn="l">
              <a:lnSpc>
                <a:spcPct val="110000"/>
              </a:lnSpc>
              <a:buFont typeface="Arial" panose="020B0604020202020204" pitchFamily="34" charset="0"/>
              <a:buChar char="•"/>
            </a:pPr>
            <a:r>
              <a:rPr lang="zh-CN" altLang="en-US" sz="2800" dirty="0"/>
              <a:t>只有一堆石子时，假使其数量小于等于</a:t>
            </a:r>
            <a:r>
              <a:rPr lang="en-US" altLang="zh-CN" sz="2800" dirty="0"/>
              <a:t>m</a:t>
            </a:r>
            <a:r>
              <a:rPr lang="zh-CN" altLang="en-US" sz="2800" dirty="0"/>
              <a:t>，则先手必胜。                   若其数量为</a:t>
            </a:r>
            <a:r>
              <a:rPr lang="en-US" altLang="zh-CN" sz="2800" dirty="0"/>
              <a:t>m+1</a:t>
            </a:r>
            <a:r>
              <a:rPr lang="zh-CN" altLang="en-US" sz="2800" dirty="0"/>
              <a:t>，则先手取完后的石子数量可能值为</a:t>
            </a:r>
            <a:r>
              <a:rPr lang="en-US" altLang="zh-CN" sz="2800" dirty="0"/>
              <a:t>(1,m)</a:t>
            </a:r>
            <a:r>
              <a:rPr lang="zh-CN" altLang="en-US" sz="2800" dirty="0"/>
              <a:t>，后手都可以取完，先手必败。</a:t>
            </a:r>
            <a:r>
              <a:rPr lang="en-US" altLang="zh-CN" sz="2800" dirty="0"/>
              <a:t>							         </a:t>
            </a:r>
            <a:r>
              <a:rPr lang="zh-CN" altLang="en-US" sz="2800" dirty="0"/>
              <a:t>可以推广，当石子数量为</a:t>
            </a:r>
            <a:r>
              <a:rPr lang="en-US" altLang="zh-CN" sz="2800" dirty="0"/>
              <a:t>(m+1)</a:t>
            </a:r>
            <a:r>
              <a:rPr lang="zh-CN" altLang="en-US" sz="2800" dirty="0"/>
              <a:t>的整数倍时，无论先手怎样取，后手都能取完当前这一层剩下的石子，使石子数量仍为</a:t>
            </a:r>
            <a:r>
              <a:rPr lang="en-US" altLang="zh-CN" sz="2800" dirty="0"/>
              <a:t>(m+1)</a:t>
            </a:r>
            <a:r>
              <a:rPr lang="zh-CN" altLang="en-US" sz="2800" dirty="0"/>
              <a:t>的整数倍。当石子数量</a:t>
            </a:r>
            <a:r>
              <a:rPr lang="en-US" altLang="zh-CN" sz="2800" dirty="0"/>
              <a:t>%(m+1)</a:t>
            </a:r>
            <a:r>
              <a:rPr lang="zh-CN" altLang="en-US" sz="2800" dirty="0"/>
              <a:t>不为</a:t>
            </a:r>
            <a:r>
              <a:rPr lang="en-US" altLang="zh-CN" sz="2800" dirty="0"/>
              <a:t>0</a:t>
            </a:r>
            <a:r>
              <a:rPr lang="zh-CN" altLang="en-US" sz="2800" dirty="0"/>
              <a:t>时，先手则可以取掉多余的石子，使后手面临上面的局面，先手必胜。</a:t>
            </a:r>
            <a:r>
              <a:rPr lang="en-US" altLang="zh-CN" sz="2800" dirty="0"/>
              <a:t>		</a:t>
            </a:r>
            <a:endParaRPr lang="en-US" altLang="zh-CN" sz="2800" dirty="0"/>
          </a:p>
        </p:txBody>
      </p:sp>
      <p:sp>
        <p:nvSpPr>
          <p:cNvPr id="2" name="文本框 1"/>
          <p:cNvSpPr txBox="1"/>
          <p:nvPr/>
        </p:nvSpPr>
        <p:spPr>
          <a:xfrm>
            <a:off x="333772" y="4953689"/>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之后推广到整个游戏的证明与</a:t>
            </a:r>
            <a:r>
              <a:rPr lang="en-US" altLang="zh-CN" sz="2800" dirty="0" err="1"/>
              <a:t>Nim</a:t>
            </a:r>
            <a:r>
              <a:rPr lang="zh-CN" altLang="en-US" sz="2800" dirty="0"/>
              <a:t>游戏相似，不再叙述。</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29210" y="1106417"/>
            <a:ext cx="11233248" cy="1947584"/>
          </a:xfrm>
          <a:prstGeom prst="rect">
            <a:avLst/>
          </a:prstGeom>
          <a:noFill/>
        </p:spPr>
        <p:txBody>
          <a:bodyPr wrap="square" rtlCol="0">
            <a:spAutoFit/>
          </a:bodyPr>
          <a:lstStyle/>
          <a:p>
            <a:pPr marL="457200" indent="-457200" algn="l">
              <a:lnSpc>
                <a:spcPct val="150000"/>
              </a:lnSpc>
              <a:buFont typeface="Arial" panose="020B0604020202020204" pitchFamily="34" charset="0"/>
              <a:buChar char="•"/>
            </a:pPr>
            <a:r>
              <a:rPr lang="zh-CN" altLang="en-US" sz="2800" dirty="0"/>
              <a:t>到这里可能会有人想，对于一个子游戏（一堆石子）来说，必败状态用</a:t>
            </a:r>
            <a:r>
              <a:rPr lang="en-US" altLang="zh-CN" sz="2800" dirty="0"/>
              <a:t>0</a:t>
            </a:r>
            <a:r>
              <a:rPr lang="zh-CN" altLang="en-US" sz="2800" dirty="0"/>
              <a:t>表示，那么必胜状态用</a:t>
            </a:r>
            <a:r>
              <a:rPr lang="en-US" altLang="zh-CN" sz="2800" dirty="0"/>
              <a:t>1</a:t>
            </a:r>
            <a:r>
              <a:rPr lang="zh-CN" altLang="en-US" sz="2800" dirty="0"/>
              <a:t>来表示不就可以了，为什么要用其它的正整数呢？</a:t>
            </a:r>
            <a:r>
              <a:rPr lang="en-US" altLang="zh-CN" sz="2800" dirty="0"/>
              <a:t>	</a:t>
            </a:r>
            <a:endParaRPr lang="en-US" altLang="zh-CN" sz="2800" dirty="0"/>
          </a:p>
        </p:txBody>
      </p:sp>
      <p:sp>
        <p:nvSpPr>
          <p:cNvPr id="5" name="文本框 4"/>
          <p:cNvSpPr txBox="1"/>
          <p:nvPr/>
        </p:nvSpPr>
        <p:spPr>
          <a:xfrm>
            <a:off x="298635" y="3212976"/>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那么接下来我们就推理一下</a:t>
            </a:r>
            <a:r>
              <a:rPr lang="en-US" altLang="zh-CN" sz="2800" dirty="0"/>
              <a:t>sg</a:t>
            </a:r>
            <a:r>
              <a:rPr lang="zh-CN" altLang="en-US" sz="2800" dirty="0"/>
              <a:t>函数是怎样来的。</a:t>
            </a:r>
            <a:endParaRPr lang="zh-CN" altLang="en-US" sz="2800" dirty="0"/>
          </a:p>
        </p:txBody>
      </p:sp>
      <p:sp>
        <p:nvSpPr>
          <p:cNvPr id="6" name="文本框 5"/>
          <p:cNvSpPr txBox="1"/>
          <p:nvPr/>
        </p:nvSpPr>
        <p:spPr>
          <a:xfrm>
            <a:off x="298635" y="3901391"/>
            <a:ext cx="11233248" cy="2468433"/>
          </a:xfrm>
          <a:prstGeom prst="rect">
            <a:avLst/>
          </a:prstGeom>
          <a:noFill/>
        </p:spPr>
        <p:txBody>
          <a:bodyPr wrap="square" rtlCol="0">
            <a:spAutoFit/>
          </a:bodyPr>
          <a:lstStyle/>
          <a:p>
            <a:pPr marL="457200" indent="-457200" algn="l">
              <a:lnSpc>
                <a:spcPct val="150000"/>
              </a:lnSpc>
              <a:buFont typeface="Arial" panose="020B0604020202020204" pitchFamily="34" charset="0"/>
              <a:buChar char="•"/>
            </a:pPr>
            <a:r>
              <a:rPr lang="zh-CN" altLang="en-US" sz="2800" dirty="0"/>
              <a:t>函数</a:t>
            </a:r>
            <a:r>
              <a:rPr lang="en-US" altLang="zh-CN" sz="2800" dirty="0"/>
              <a:t>f</a:t>
            </a:r>
            <a:r>
              <a:rPr lang="zh-CN" altLang="en-US" sz="2800" dirty="0"/>
              <a:t>是否满足要求，关键在于</a:t>
            </a:r>
            <a:r>
              <a:rPr lang="en-US" altLang="zh-CN" sz="2800" dirty="0"/>
              <a:t>#S</a:t>
            </a:r>
            <a:r>
              <a:rPr lang="zh-CN" altLang="en-US" sz="2800" dirty="0"/>
              <a:t>是否满足一下条件</a:t>
            </a:r>
            <a:endParaRPr lang="en-US" altLang="zh-CN" sz="2800" dirty="0"/>
          </a:p>
          <a:p>
            <a:pPr marL="914400" lvl="1" indent="-457200">
              <a:lnSpc>
                <a:spcPct val="150000"/>
              </a:lnSpc>
              <a:buFont typeface="Arial" panose="020B0604020202020204" pitchFamily="34" charset="0"/>
              <a:buChar char="•"/>
            </a:pPr>
            <a:r>
              <a:rPr lang="zh-CN" altLang="zh-CN" sz="2800" kern="100" dirty="0">
                <a:ea typeface="宋体" panose="02010600030101010101" pitchFamily="2" charset="-122"/>
                <a:cs typeface="Times New Roman" panose="02020603050405020304" pitchFamily="18" charset="0"/>
              </a:rPr>
              <a:t>若</a:t>
            </a:r>
            <a:r>
              <a:rPr lang="en-US" altLang="zh-CN" sz="2800" kern="100" dirty="0">
                <a:ea typeface="宋体" panose="02010600030101010101" pitchFamily="2" charset="-122"/>
                <a:cs typeface="Times New Roman" panose="02020603050405020304" pitchFamily="18" charset="0"/>
              </a:rPr>
              <a:t>#</a:t>
            </a:r>
            <a:r>
              <a:rPr lang="en-US" altLang="zh-CN" sz="2800" kern="100" dirty="0">
                <a:ea typeface="宋体" panose="02010600030101010101" pitchFamily="2" charset="-122"/>
              </a:rPr>
              <a:t>S</a:t>
            </a:r>
            <a:r>
              <a:rPr lang="zh-CN" altLang="zh-CN" sz="2800" kern="100" dirty="0">
                <a:ea typeface="宋体" panose="02010600030101010101" pitchFamily="2" charset="-122"/>
                <a:cs typeface="Times New Roman" panose="02020603050405020304" pitchFamily="18" charset="0"/>
              </a:rPr>
              <a:t>≠</a:t>
            </a:r>
            <a:r>
              <a:rPr lang="en-US" altLang="zh-CN" sz="2800" kern="100" dirty="0">
                <a:ea typeface="宋体" panose="02010600030101010101" pitchFamily="2" charset="-122"/>
              </a:rPr>
              <a:t>0</a:t>
            </a:r>
            <a:r>
              <a:rPr lang="zh-CN" altLang="zh-CN" sz="2800" kern="100" dirty="0">
                <a:ea typeface="宋体" panose="02010600030101010101" pitchFamily="2" charset="-122"/>
                <a:cs typeface="Times New Roman" panose="02020603050405020304" pitchFamily="18" charset="0"/>
              </a:rPr>
              <a:t>，则</a:t>
            </a:r>
            <a:r>
              <a:rPr lang="zh-CN" altLang="en-US" sz="2800" kern="100" dirty="0">
                <a:ea typeface="宋体" panose="02010600030101010101" pitchFamily="2" charset="-122"/>
                <a:cs typeface="Times New Roman" panose="02020603050405020304" pitchFamily="18" charset="0"/>
              </a:rPr>
              <a:t>必定存在一种后继局面</a:t>
            </a:r>
            <a:r>
              <a:rPr lang="en-US" altLang="zh-CN" sz="2800" kern="100" dirty="0">
                <a:ea typeface="宋体" panose="02010600030101010101" pitchFamily="2" charset="-122"/>
              </a:rPr>
              <a:t>T</a:t>
            </a:r>
            <a:r>
              <a:rPr lang="zh-CN" altLang="zh-CN" sz="2800" kern="100" dirty="0">
                <a:ea typeface="宋体" panose="02010600030101010101" pitchFamily="2" charset="-122"/>
                <a:cs typeface="Times New Roman" panose="02020603050405020304" pitchFamily="18" charset="0"/>
              </a:rPr>
              <a:t>，</a:t>
            </a:r>
            <a:r>
              <a:rPr lang="zh-CN" altLang="en-US" sz="2800" kern="100" dirty="0">
                <a:ea typeface="宋体" panose="02010600030101010101" pitchFamily="2" charset="-122"/>
                <a:cs typeface="Times New Roman" panose="02020603050405020304" pitchFamily="18" charset="0"/>
              </a:rPr>
              <a:t>使</a:t>
            </a:r>
            <a:r>
              <a:rPr lang="en-US" altLang="zh-CN" sz="2800" kern="100" dirty="0">
                <a:ea typeface="宋体" panose="02010600030101010101" pitchFamily="2" charset="-122"/>
              </a:rPr>
              <a:t>#T=0</a:t>
            </a:r>
            <a:r>
              <a:rPr lang="zh-CN" altLang="zh-CN" sz="2800" kern="100" dirty="0">
                <a:ea typeface="宋体" panose="02010600030101010101" pitchFamily="2" charset="-122"/>
                <a:cs typeface="Times New Roman" panose="02020603050405020304" pitchFamily="18" charset="0"/>
              </a:rPr>
              <a:t>。</a:t>
            </a:r>
            <a:endParaRPr lang="en-US" altLang="zh-CN" sz="2800" kern="100" dirty="0">
              <a:ea typeface="宋体" panose="02010600030101010101" pitchFamily="2" charset="-122"/>
              <a:cs typeface="Times New Roman" panose="02020603050405020304" pitchFamily="18" charset="0"/>
            </a:endParaRPr>
          </a:p>
          <a:p>
            <a:pPr marL="914400" lvl="1" indent="-457200">
              <a:lnSpc>
                <a:spcPct val="150000"/>
              </a:lnSpc>
              <a:buFont typeface="Arial" panose="020B0604020202020204" pitchFamily="34" charset="0"/>
              <a:buChar char="•"/>
            </a:pPr>
            <a:r>
              <a:rPr lang="zh-CN" altLang="en-US" sz="2800" dirty="0"/>
              <a:t>若</a:t>
            </a:r>
            <a:r>
              <a:rPr lang="en-US" altLang="zh-CN" sz="2800" dirty="0"/>
              <a:t>#S=0</a:t>
            </a:r>
            <a:r>
              <a:rPr lang="zh-CN" altLang="en-US" sz="2800" dirty="0"/>
              <a:t>，则</a:t>
            </a:r>
            <a:r>
              <a:rPr lang="en-US" altLang="zh-CN" sz="2800" dirty="0"/>
              <a:t>S</a:t>
            </a:r>
            <a:r>
              <a:rPr lang="zh-CN" altLang="en-US" sz="2800" dirty="0"/>
              <a:t>的所有后继状态</a:t>
            </a:r>
            <a:r>
              <a:rPr lang="en-US" altLang="zh-CN" sz="2800" dirty="0"/>
              <a:t>T</a:t>
            </a:r>
            <a:r>
              <a:rPr lang="zh-CN" altLang="en-US" sz="2800" dirty="0"/>
              <a:t>，都存在</a:t>
            </a:r>
            <a:r>
              <a:rPr lang="en-US" altLang="zh-CN" sz="2800" dirty="0"/>
              <a:t>#T</a:t>
            </a:r>
            <a:r>
              <a:rPr lang="zh-CN" altLang="zh-CN" sz="2800" kern="100" dirty="0">
                <a:ea typeface="宋体" panose="02010600030101010101" pitchFamily="2" charset="-122"/>
                <a:cs typeface="Times New Roman" panose="02020603050405020304" pitchFamily="18" charset="0"/>
              </a:rPr>
              <a:t>≠</a:t>
            </a:r>
            <a:r>
              <a:rPr lang="en-US" altLang="zh-CN" sz="2800" kern="100" dirty="0">
                <a:ea typeface="宋体" panose="02010600030101010101" pitchFamily="2" charset="-122"/>
                <a:cs typeface="Times New Roman" panose="02020603050405020304" pitchFamily="18" charset="0"/>
              </a:rPr>
              <a:t>0</a:t>
            </a:r>
            <a:r>
              <a:rPr lang="zh-CN" altLang="en-US" sz="2800" kern="100" dirty="0">
                <a:ea typeface="宋体" panose="02010600030101010101" pitchFamily="2" charset="-122"/>
                <a:cs typeface="Times New Roman" panose="02020603050405020304" pitchFamily="18" charset="0"/>
              </a:rPr>
              <a:t>。</a:t>
            </a:r>
            <a:endParaRPr lang="en-US" altLang="zh-CN" sz="2800" kern="100" dirty="0">
              <a:ea typeface="宋体" panose="02010600030101010101" pitchFamily="2" charset="-122"/>
              <a:cs typeface="Times New Roman" panose="02020603050405020304" pitchFamily="18" charset="0"/>
            </a:endParaRPr>
          </a:p>
          <a:p>
            <a:pPr marL="914400" lvl="1" indent="-457200">
              <a:lnSpc>
                <a:spcPct val="110000"/>
              </a:lnSpc>
              <a:buFont typeface="Arial" panose="020B0604020202020204" pitchFamily="34" charset="0"/>
              <a:buChar char="•"/>
            </a:pP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72008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endParaRPr lang="zh-CN" altLang="en-US" sz="2800" dirty="0"/>
          </a:p>
        </p:txBody>
      </p:sp>
      <mc:AlternateContent xmlns:mc="http://schemas.openxmlformats.org/markup-compatibility/2006">
        <mc:Choice xmlns:a14="http://schemas.microsoft.com/office/drawing/2010/main" Requires="a14">
          <p:sp>
            <p:nvSpPr>
              <p:cNvPr id="7" name="文本框 6">
                <a:extLst>
                  <a:ext uri="{FF2B5EF4-FFF2-40B4-BE49-F238E27FC236}">
                    <a14:artisticCrisscrossEtching id="{B052845E-9517-40CE-94AD-FBB5057D637F}"/>
                  </a:ext>
                </a:extLst>
              </p:cNvPr>
              <p:cNvSpPr txBox="1"/>
              <p:nvPr/>
            </p:nvSpPr>
            <p:spPr>
              <a:xfrm>
                <a:off x="332168" y="1106417"/>
                <a:ext cx="11234852" cy="5306068"/>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设</a:t>
                </a:r>
                <a:r>
                  <a:rPr lang="en-US" altLang="zh-CN" sz="2800" dirty="0"/>
                  <a:t>g(</a:t>
                </a:r>
                <a:r>
                  <a:rPr lang="en-US" altLang="zh-CN" sz="2800" dirty="0" err="1"/>
                  <a:t>ai</a:t>
                </a:r>
                <a:r>
                  <a:rPr lang="en-US" altLang="zh-CN" sz="2800" dirty="0"/>
                  <a:t>)</a:t>
                </a:r>
                <a:r>
                  <a:rPr lang="zh-CN" altLang="en-US" sz="2800" dirty="0"/>
                  <a:t>为</a:t>
                </a:r>
                <a:r>
                  <a:rPr lang="en-US" altLang="zh-CN" sz="2800" dirty="0" err="1"/>
                  <a:t>ai</a:t>
                </a:r>
                <a:r>
                  <a:rPr lang="zh-CN" altLang="en-US" sz="2800" dirty="0"/>
                  <a:t>的所有后继状态的</a:t>
                </a:r>
                <a:r>
                  <a:rPr lang="en-US" altLang="zh-CN" sz="2800" dirty="0"/>
                  <a:t>sg</a:t>
                </a:r>
                <a:r>
                  <a:rPr lang="zh-CN" altLang="en-US" sz="2800" dirty="0"/>
                  <a:t>函数值（即</a:t>
                </a:r>
                <a:r>
                  <a:rPr lang="en-US" altLang="zh-CN" sz="2800" dirty="0"/>
                  <a:t>f</a:t>
                </a:r>
                <a:r>
                  <a:rPr lang="zh-CN" altLang="en-US" sz="2800" dirty="0"/>
                  <a:t>函数）的集合，比如在</a:t>
                </a:r>
                <a:r>
                  <a:rPr lang="en-US" altLang="zh-CN" sz="2800" dirty="0" err="1"/>
                  <a:t>Nim</a:t>
                </a:r>
                <a:r>
                  <a:rPr lang="zh-CN" altLang="en-US" sz="2800" dirty="0"/>
                  <a:t>游戏中，</a:t>
                </a:r>
                <a:r>
                  <a:rPr lang="en-US" altLang="zh-CN" sz="2800" dirty="0" err="1"/>
                  <a:t>ai</a:t>
                </a:r>
                <a:r>
                  <a:rPr lang="zh-CN" altLang="en-US" sz="2800" dirty="0"/>
                  <a:t>为</a:t>
                </a:r>
                <a:r>
                  <a:rPr lang="en-US" altLang="zh-CN" sz="2800" dirty="0"/>
                  <a:t>3</a:t>
                </a:r>
                <a:r>
                  <a:rPr lang="zh-CN" altLang="en-US" sz="2800" dirty="0"/>
                  <a:t>，</a:t>
                </a:r>
                <a:r>
                  <a:rPr lang="en-US" altLang="zh-CN" sz="2800" dirty="0"/>
                  <a:t>g(3)={2, 1, 0}</a:t>
                </a:r>
                <a:r>
                  <a:rPr lang="zh-CN" altLang="en-US" sz="2800" dirty="0"/>
                  <a:t>。</a:t>
                </a:r>
                <a:endParaRPr lang="en-US" altLang="zh-CN" sz="2800" dirty="0"/>
              </a:p>
              <a:p>
                <a:pPr marL="457200" indent="-457200" algn="l">
                  <a:lnSpc>
                    <a:spcPct val="110000"/>
                  </a:lnSpc>
                  <a:buFont typeface="Arial" panose="020B0604020202020204" pitchFamily="34" charset="0"/>
                  <a:buChar char="•"/>
                </a:pPr>
                <a:r>
                  <a:rPr lang="zh-CN" altLang="en-US" sz="2800" dirty="0"/>
                  <a:t>初始状态为</a:t>
                </a:r>
                <a:r>
                  <a:rPr lang="en-US" altLang="zh-CN" sz="2800" dirty="0"/>
                  <a:t>S</a:t>
                </a:r>
                <a:r>
                  <a:rPr lang="zh-CN" altLang="en-US" sz="2800" dirty="0"/>
                  <a:t>，</a:t>
                </a:r>
                <a:r>
                  <a:rPr lang="en-US" altLang="zh-CN" sz="2800" dirty="0"/>
                  <a:t>#S=f(a1)+…+f(an)</a:t>
                </a:r>
                <a:r>
                  <a:rPr lang="zh-CN" altLang="en-US" sz="2800" dirty="0"/>
                  <a:t>（游戏局面的加和即为异或）。</a:t>
                </a:r>
                <a:endParaRPr lang="en-US" altLang="zh-CN" sz="2800" dirty="0"/>
              </a:p>
              <a:p>
                <a:pPr marL="457200" indent="-457200">
                  <a:lnSpc>
                    <a:spcPct val="110000"/>
                  </a:lnSpc>
                  <a:buFont typeface="Arial" panose="020B0604020202020204" pitchFamily="34" charset="0"/>
                  <a:buChar char="•"/>
                </a:pPr>
                <a:r>
                  <a:rPr lang="zh-CN" altLang="en-US" sz="2800" dirty="0"/>
                  <a:t>若</a:t>
                </a:r>
                <a:r>
                  <a:rPr lang="en-US" altLang="zh-CN" sz="2800" dirty="0"/>
                  <a:t>#S=0</a:t>
                </a:r>
                <a:r>
                  <a:rPr lang="zh-CN" altLang="en-US" sz="2800" dirty="0"/>
                  <a:t>，操作后</a:t>
                </a:r>
                <a:r>
                  <a:rPr lang="en-US" altLang="zh-CN" sz="2800" dirty="0"/>
                  <a:t>#T</a:t>
                </a:r>
                <a:r>
                  <a:rPr lang="zh-CN" altLang="en-US" sz="2800" dirty="0"/>
                  <a:t>一定不为</a:t>
                </a:r>
                <a:r>
                  <a:rPr lang="en-US" altLang="zh-CN" sz="2800" dirty="0"/>
                  <a:t>0</a:t>
                </a:r>
                <a:r>
                  <a:rPr lang="zh-CN" altLang="en-US" sz="2800" dirty="0"/>
                  <a:t>。</a:t>
                </a:r>
                <a:r>
                  <a:rPr lang="en-US" altLang="zh-CN" sz="2800" dirty="0"/>
                  <a:t>						          #S=f(</a:t>
                </a:r>
                <a:r>
                  <a:rPr lang="en-US" altLang="zh-CN" sz="2800" dirty="0" err="1"/>
                  <a:t>ai</a:t>
                </a:r>
                <a:r>
                  <a:rPr lang="en-US" altLang="zh-CN" sz="2800" dirty="0"/>
                  <a:t>)^f(a1)…f(an)=0 </a:t>
                </a:r>
                <a14:m>
                  <m:oMath xmlns:m="http://schemas.openxmlformats.org/officeDocument/2006/math">
                    <m:r>
                      <a:rPr lang="en-US" altLang="zh-CN" sz="2800" smtClean="0">
                        <a:latin typeface="Cambria Math" panose="02040503050406030204" pitchFamily="18" charset="0"/>
                      </a:rPr>
                      <m:t>⇒</m:t>
                    </m:r>
                    <m:r>
                      <a:rPr lang="en-US" altLang="zh-CN" sz="2800" b="0" i="0" smtClean="0">
                        <a:latin typeface="Cambria Math" panose="02040503050406030204" pitchFamily="18" charset="0"/>
                      </a:rPr>
                      <m:t> </m:t>
                    </m:r>
                  </m:oMath>
                </a14:m>
                <a:r>
                  <a:rPr lang="en-US" altLang="zh-CN" sz="2800" dirty="0"/>
                  <a:t>f(</a:t>
                </a:r>
                <a:r>
                  <a:rPr lang="en-US" altLang="zh-CN" sz="2800" dirty="0" err="1"/>
                  <a:t>ai</a:t>
                </a:r>
                <a:r>
                  <a:rPr lang="en-US" altLang="zh-CN" sz="2800" dirty="0"/>
                  <a:t>)=f(a1)^…^f(ai-1)^f(ai+1)^…^f(an)</a:t>
                </a:r>
                <a:r>
                  <a:rPr lang="zh-CN" altLang="en-US" sz="2800" dirty="0"/>
                  <a:t>。</a:t>
                </a:r>
                <a:r>
                  <a:rPr lang="en-US" altLang="zh-CN" sz="2800" dirty="0"/>
                  <a:t>#T=f(</a:t>
                </a:r>
                <a:r>
                  <a:rPr lang="en-US" altLang="zh-CN" sz="2800" dirty="0" err="1"/>
                  <a:t>ai</a:t>
                </a:r>
                <a:r>
                  <a:rPr lang="zh-CN" altLang="en-US" sz="2800" dirty="0"/>
                  <a:t>‘</a:t>
                </a:r>
                <a:r>
                  <a:rPr lang="en-US" altLang="zh-CN" sz="2800" dirty="0"/>
                  <a:t>)^f(a1)…f(an)</a:t>
                </a:r>
                <a14:m>
                  <m:oMath xmlns:m="http://schemas.openxmlformats.org/officeDocument/2006/math">
                    <m:r>
                      <a:rPr lang="en-US" altLang="zh-CN" sz="2800" smtClean="0">
                        <a:latin typeface="Cambria Math" panose="02040503050406030204" pitchFamily="18" charset="0"/>
                      </a:rPr>
                      <m:t>≠</m:t>
                    </m:r>
                  </m:oMath>
                </a14:m>
                <a:r>
                  <a:rPr lang="en-US" altLang="zh-CN" sz="2800" dirty="0"/>
                  <a:t>0 </a:t>
                </a:r>
                <a14:m>
                  <m:oMath xmlns:m="http://schemas.openxmlformats.org/officeDocument/2006/math">
                    <m:r>
                      <a:rPr lang="en-US" altLang="zh-CN" sz="2800">
                        <a:latin typeface="Cambria Math" panose="02040503050406030204" pitchFamily="18" charset="0"/>
                      </a:rPr>
                      <m:t>⇒</m:t>
                    </m:r>
                  </m:oMath>
                </a14:m>
                <a:r>
                  <a:rPr lang="en-US" altLang="zh-CN" sz="2800" dirty="0"/>
                  <a:t> f(</a:t>
                </a:r>
                <a:r>
                  <a:rPr lang="en-US" altLang="zh-CN" sz="2800" dirty="0" err="1"/>
                  <a:t>ai</a:t>
                </a:r>
                <a:r>
                  <a:rPr lang="en-US" altLang="zh-CN" sz="2800" dirty="0"/>
                  <a:t>’)^f(</a:t>
                </a:r>
                <a:r>
                  <a:rPr lang="en-US" altLang="zh-CN" sz="2800" dirty="0" err="1"/>
                  <a:t>ai</a:t>
                </a:r>
                <a:r>
                  <a:rPr lang="en-US" altLang="zh-CN" sz="2800" dirty="0"/>
                  <a:t>)</a:t>
                </a:r>
                <a14:m>
                  <m:oMath xmlns:m="http://schemas.openxmlformats.org/officeDocument/2006/math">
                    <m:r>
                      <a:rPr lang="en-US" altLang="zh-CN" sz="2800">
                        <a:latin typeface="Cambria Math" panose="02040503050406030204" pitchFamily="18" charset="0"/>
                      </a:rPr>
                      <m:t>≠</m:t>
                    </m:r>
                  </m:oMath>
                </a14:m>
                <a:r>
                  <a:rPr lang="en-US" altLang="zh-CN" sz="2800" dirty="0"/>
                  <a:t>0 </a:t>
                </a:r>
                <a14:m>
                  <m:oMath xmlns:m="http://schemas.openxmlformats.org/officeDocument/2006/math">
                    <m:r>
                      <a:rPr lang="en-US" altLang="zh-CN" sz="2800">
                        <a:latin typeface="Cambria Math" panose="02040503050406030204" pitchFamily="18" charset="0"/>
                      </a:rPr>
                      <m:t>⇒</m:t>
                    </m:r>
                  </m:oMath>
                </a14:m>
                <a:r>
                  <a:rPr lang="en-US" altLang="zh-CN" sz="2800" dirty="0"/>
                  <a:t> f(</a:t>
                </a:r>
                <a:r>
                  <a:rPr lang="en-US" altLang="zh-CN" sz="2800" dirty="0" err="1"/>
                  <a:t>ai</a:t>
                </a:r>
                <a:r>
                  <a:rPr lang="en-US" altLang="zh-CN" sz="2800" dirty="0"/>
                  <a:t>)</a:t>
                </a:r>
                <a14:m>
                  <m:oMath xmlns:m="http://schemas.openxmlformats.org/officeDocument/2006/math">
                    <m:r>
                      <a:rPr lang="en-US" altLang="zh-CN" sz="2800">
                        <a:latin typeface="Cambria Math" panose="02040503050406030204" pitchFamily="18" charset="0"/>
                      </a:rPr>
                      <m:t>≠</m:t>
                    </m:r>
                  </m:oMath>
                </a14:m>
                <a:r>
                  <a:rPr lang="en-US" altLang="zh-CN" sz="2800" dirty="0"/>
                  <a:t>f(</a:t>
                </a:r>
                <a:r>
                  <a:rPr lang="en-US" altLang="zh-CN" sz="2800" dirty="0" err="1"/>
                  <a:t>ai</a:t>
                </a:r>
                <a:r>
                  <a:rPr lang="en-US" altLang="zh-CN" sz="2800" dirty="0"/>
                  <a:t>’)</a:t>
                </a:r>
                <a:r>
                  <a:rPr lang="zh-CN" altLang="en-US" sz="2800" dirty="0"/>
                  <a:t>。</a:t>
                </a:r>
                <a:r>
                  <a:rPr lang="en-US" altLang="zh-CN" sz="2800" dirty="0"/>
                  <a:t>	         </a:t>
                </a:r>
                <a:r>
                  <a:rPr lang="zh-CN" altLang="en-US" sz="2800" dirty="0"/>
                  <a:t>又因为</a:t>
                </a:r>
                <a:r>
                  <a:rPr lang="en-US" altLang="zh-CN" sz="2800" dirty="0"/>
                  <a:t>f(</a:t>
                </a:r>
                <a:r>
                  <a:rPr lang="en-US" altLang="zh-CN" sz="2800" dirty="0" err="1"/>
                  <a:t>ai</a:t>
                </a:r>
                <a:r>
                  <a:rPr lang="en-US" altLang="zh-CN" sz="2800" dirty="0"/>
                  <a:t>’)</a:t>
                </a:r>
                <a14:m>
                  <m:oMath xmlns:m="http://schemas.openxmlformats.org/officeDocument/2006/math">
                    <m:r>
                      <a:rPr lang="en-US" altLang="zh-CN" sz="2800" dirty="0" smtClean="0">
                        <a:latin typeface="Cambria Math" panose="02040503050406030204" pitchFamily="18" charset="0"/>
                      </a:rPr>
                      <m:t>∈</m:t>
                    </m:r>
                  </m:oMath>
                </a14:m>
                <a:r>
                  <a:rPr lang="en-US" altLang="zh-CN" sz="2800" dirty="0"/>
                  <a:t>g(</a:t>
                </a:r>
                <a:r>
                  <a:rPr lang="en-US" altLang="zh-CN" sz="2800" dirty="0" err="1"/>
                  <a:t>ai</a:t>
                </a:r>
                <a:r>
                  <a:rPr lang="en-US" altLang="zh-CN" sz="2800" dirty="0"/>
                  <a:t>)</a:t>
                </a:r>
                <a:r>
                  <a:rPr lang="zh-CN" altLang="en-US" sz="2800" dirty="0"/>
                  <a:t>，所以</a:t>
                </a:r>
                <a:r>
                  <a:rPr lang="en-US" altLang="zh-CN" sz="2800" dirty="0"/>
                  <a:t>f(</a:t>
                </a:r>
                <a:r>
                  <a:rPr lang="en-US" altLang="zh-CN" sz="2800" dirty="0" err="1"/>
                  <a:t>ai</a:t>
                </a:r>
                <a:r>
                  <a:rPr lang="en-US" altLang="zh-CN" sz="2800" dirty="0"/>
                  <a:t>)</a:t>
                </a:r>
                <a14:m>
                  <m:oMath xmlns:m="http://schemas.openxmlformats.org/officeDocument/2006/math">
                    <m:r>
                      <a:rPr lang="en-US" altLang="zh-CN" sz="2800" dirty="0" smtClean="0">
                        <a:latin typeface="Cambria Math" panose="02040503050406030204" pitchFamily="18" charset="0"/>
                      </a:rPr>
                      <m:t>∉</m:t>
                    </m:r>
                  </m:oMath>
                </a14:m>
                <a:r>
                  <a:rPr lang="en-US" altLang="zh-CN" sz="2800" dirty="0"/>
                  <a:t>g(</a:t>
                </a:r>
                <a:r>
                  <a:rPr lang="en-US" altLang="zh-CN" sz="2800" dirty="0" err="1"/>
                  <a:t>ai</a:t>
                </a:r>
                <a:r>
                  <a:rPr lang="en-US" altLang="zh-CN" sz="2800" dirty="0"/>
                  <a:t>)</a:t>
                </a:r>
                <a:r>
                  <a:rPr lang="zh-CN" altLang="en-US" sz="2800" dirty="0"/>
                  <a:t>。</a:t>
                </a:r>
                <a:endParaRPr lang="en-US" altLang="zh-CN" sz="2800" dirty="0"/>
              </a:p>
              <a:p>
                <a:pPr marL="457200" indent="-457200">
                  <a:lnSpc>
                    <a:spcPct val="110000"/>
                  </a:lnSpc>
                  <a:buFont typeface="Arial" panose="020B0604020202020204" pitchFamily="34" charset="0"/>
                  <a:buChar char="•"/>
                </a:pPr>
                <a:r>
                  <a:rPr lang="zh-CN" altLang="en-US" sz="2800" dirty="0"/>
                  <a:t>若</a:t>
                </a:r>
                <a:r>
                  <a:rPr lang="en-US" altLang="zh-CN" sz="2800" dirty="0"/>
                  <a:t>#S</a:t>
                </a:r>
                <a14:m>
                  <m:oMath xmlns:m="http://schemas.openxmlformats.org/officeDocument/2006/math">
                    <m:r>
                      <a:rPr lang="en-US" altLang="zh-CN" sz="2800">
                        <a:latin typeface="Cambria Math" panose="02040503050406030204" pitchFamily="18" charset="0"/>
                      </a:rPr>
                      <m:t>≠</m:t>
                    </m:r>
                  </m:oMath>
                </a14:m>
                <a:r>
                  <a:rPr lang="en-US" altLang="zh-CN" sz="2800" dirty="0"/>
                  <a:t>0</a:t>
                </a:r>
                <a:r>
                  <a:rPr lang="zh-CN" altLang="en-US" sz="2800" dirty="0"/>
                  <a:t>，一定存在至少一种后继局面</a:t>
                </a:r>
                <a:r>
                  <a:rPr lang="en-US" altLang="zh-CN" sz="2800" dirty="0"/>
                  <a:t>#T=0</a:t>
                </a:r>
                <a:r>
                  <a:rPr lang="zh-CN" altLang="en-US" sz="2800" dirty="0"/>
                  <a:t>。</a:t>
                </a:r>
                <a:r>
                  <a:rPr lang="en-US" altLang="zh-CN" sz="2800" dirty="0"/>
                  <a:t>			         </a:t>
                </a:r>
                <a:r>
                  <a:rPr lang="zh-CN" altLang="en-US" sz="2800" dirty="0"/>
                  <a:t>结合前面</a:t>
                </a:r>
                <a:r>
                  <a:rPr lang="en-US" altLang="zh-CN" sz="2800" dirty="0" err="1"/>
                  <a:t>Nim</a:t>
                </a:r>
                <a:r>
                  <a:rPr lang="zh-CN" altLang="en-US" sz="2800" dirty="0"/>
                  <a:t>游戏中的证明，只要将</a:t>
                </a:r>
                <a:r>
                  <a:rPr lang="en-US" altLang="zh-CN" sz="2800" dirty="0"/>
                  <a:t>f(</a:t>
                </a:r>
                <a:r>
                  <a:rPr lang="en-US" altLang="zh-CN" sz="2800" dirty="0" err="1"/>
                  <a:t>ai</a:t>
                </a:r>
                <a:r>
                  <a:rPr lang="en-US" altLang="zh-CN" sz="2800" dirty="0"/>
                  <a:t>)</a:t>
                </a:r>
                <a:r>
                  <a:rPr lang="zh-CN" altLang="en-US" sz="2800" dirty="0"/>
                  <a:t>变为</a:t>
                </a:r>
                <a:r>
                  <a:rPr lang="en-US" altLang="zh-CN" sz="2800" dirty="0"/>
                  <a:t>f(</a:t>
                </a:r>
                <a:r>
                  <a:rPr lang="en-US" altLang="zh-CN" sz="2800" dirty="0" err="1"/>
                  <a:t>ai</a:t>
                </a:r>
                <a:r>
                  <a:rPr lang="en-US" altLang="zh-CN" sz="2800" dirty="0"/>
                  <a:t>)^#S</a:t>
                </a:r>
                <a:r>
                  <a:rPr lang="zh-CN" altLang="en-US" sz="2800" dirty="0"/>
                  <a:t>即可。</a:t>
                </a:r>
                <a:r>
                  <a:rPr lang="en-US" altLang="zh-CN" sz="2800" dirty="0"/>
                  <a:t>	         </a:t>
                </a:r>
                <a:r>
                  <a:rPr lang="zh-CN" altLang="en-US" sz="2800" dirty="0"/>
                  <a:t>而</a:t>
                </a:r>
                <a:r>
                  <a:rPr lang="en-US" altLang="zh-CN" sz="2800" dirty="0"/>
                  <a:t>f(</a:t>
                </a:r>
                <a:r>
                  <a:rPr lang="en-US" altLang="zh-CN" sz="2800" dirty="0" err="1"/>
                  <a:t>ai</a:t>
                </a:r>
                <a:r>
                  <a:rPr lang="en-US" altLang="zh-CN" sz="2800" dirty="0"/>
                  <a:t>’)= f(</a:t>
                </a:r>
                <a:r>
                  <a:rPr lang="en-US" altLang="zh-CN" sz="2800" dirty="0" err="1"/>
                  <a:t>ai</a:t>
                </a:r>
                <a:r>
                  <a:rPr lang="en-US" altLang="zh-CN" sz="2800" dirty="0"/>
                  <a:t>)^#S</a:t>
                </a:r>
                <a:r>
                  <a:rPr lang="zh-CN" altLang="en-US" sz="2800" dirty="0"/>
                  <a:t>，可能为</a:t>
                </a:r>
                <a:r>
                  <a:rPr lang="en-US" altLang="zh-CN" sz="2800" dirty="0"/>
                  <a:t>0…f(</a:t>
                </a:r>
                <a:r>
                  <a:rPr lang="en-US" altLang="zh-CN" sz="2800" dirty="0" err="1"/>
                  <a:t>ai</a:t>
                </a:r>
                <a:r>
                  <a:rPr lang="en-US" altLang="zh-CN" sz="2800" dirty="0"/>
                  <a:t>)-1</a:t>
                </a:r>
                <a:r>
                  <a:rPr lang="zh-CN" altLang="en-US" sz="2800" dirty="0"/>
                  <a:t>中的任意一值。</a:t>
                </a:r>
                <a:r>
                  <a:rPr lang="en-US" altLang="zh-CN" sz="2800" dirty="0"/>
                  <a:t>		         </a:t>
                </a:r>
                <a:r>
                  <a:rPr lang="zh-CN" altLang="en-US" sz="2800" dirty="0"/>
                  <a:t>所以</a:t>
                </a:r>
                <a:r>
                  <a:rPr lang="en-US" altLang="zh-CN" sz="2800" dirty="0"/>
                  <a:t>g(</a:t>
                </a:r>
                <a:r>
                  <a:rPr lang="en-US" altLang="zh-CN" sz="2800" dirty="0" err="1"/>
                  <a:t>ai</a:t>
                </a:r>
                <a:r>
                  <a:rPr lang="en-US" altLang="zh-CN" sz="2800" dirty="0"/>
                  <a:t>)</a:t>
                </a:r>
                <a:r>
                  <a:rPr lang="zh-CN" altLang="en-US" sz="2800" dirty="0"/>
                  <a:t>包含</a:t>
                </a:r>
                <a:r>
                  <a:rPr lang="en-US" altLang="zh-CN" sz="2800" dirty="0"/>
                  <a:t>{0…f(</a:t>
                </a:r>
                <a:r>
                  <a:rPr lang="en-US" altLang="zh-CN" sz="2800" dirty="0" err="1"/>
                  <a:t>ai</a:t>
                </a:r>
                <a:r>
                  <a:rPr lang="en-US" altLang="zh-CN" sz="2800" dirty="0"/>
                  <a:t>)-1}</a:t>
                </a:r>
                <a:r>
                  <a:rPr lang="zh-CN" altLang="en-US" sz="2800" dirty="0"/>
                  <a:t>。</a:t>
                </a:r>
                <a:r>
                  <a:rPr lang="en-US" altLang="zh-CN" sz="2800" dirty="0"/>
                  <a:t> 						</a:t>
                </a:r>
              </a:p>
            </p:txBody>
          </p:sp>
        </mc:Choice>
        <mc:Fallback>
          <p:sp>
            <p:nvSpPr>
              <p:cNvPr id="7" name="文本框 6"/>
              <p:cNvSpPr txBox="1">
                <a:spLocks noRot="1" noChangeAspect="1" noMove="1" noResize="1" noEditPoints="1" noAdjustHandles="1" noChangeArrowheads="1" noChangeShapeType="1" noTextEdit="1"/>
              </p:cNvSpPr>
              <p:nvPr/>
            </p:nvSpPr>
            <p:spPr>
              <a:xfrm>
                <a:off x="332168" y="1106417"/>
                <a:ext cx="11234852" cy="5306068"/>
              </a:xfrm>
              <a:prstGeom prst="rect">
                <a:avLst/>
              </a:prstGeom>
              <a:blipFill rotWithShape="1">
                <a:blip r:embed="rId1"/>
                <a:stretch>
                  <a:fillRect l="-977" t="-1378" b="-1493"/>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7" name="文本框 6">
                <a:extLst>
                  <a:ext uri="{FF2B5EF4-FFF2-40B4-BE49-F238E27FC236}">
                    <a14:artisticCrisscrossEtching id="{F1564BC7-2ED1-4F64-AEF8-A1635FBFC100}"/>
                  </a:ext>
                </a:extLst>
              </p:cNvPr>
              <p:cNvSpPr txBox="1"/>
              <p:nvPr/>
            </p:nvSpPr>
            <p:spPr>
              <a:xfrm>
                <a:off x="333772" y="1106417"/>
                <a:ext cx="11233248" cy="5179238"/>
              </a:xfrm>
              <a:prstGeom prst="rect">
                <a:avLst/>
              </a:prstGeom>
              <a:noFill/>
            </p:spPr>
            <p:txBody>
              <a:bodyPr wrap="square" rtlCol="0">
                <a:spAutoFit/>
              </a:bodyPr>
              <a:lstStyle/>
              <a:p>
                <a:pPr marL="457200" indent="-457200" algn="l">
                  <a:lnSpc>
                    <a:spcPct val="150000"/>
                  </a:lnSpc>
                  <a:buFont typeface="Arial" panose="020B0604020202020204" pitchFamily="34" charset="0"/>
                  <a:buChar char="•"/>
                </a:pPr>
                <a:r>
                  <a:rPr lang="zh-CN" altLang="en-US" sz="2800" dirty="0"/>
                  <a:t>综上所述函数</a:t>
                </a:r>
                <a:r>
                  <a:rPr lang="en-US" altLang="zh-CN" sz="2800" dirty="0"/>
                  <a:t>f</a:t>
                </a:r>
                <a:r>
                  <a:rPr lang="zh-CN" altLang="en-US" sz="2800" dirty="0"/>
                  <a:t>满足的条件为</a:t>
                </a:r>
                <a:endParaRPr lang="en-US" altLang="zh-CN" sz="2800" dirty="0"/>
              </a:p>
              <a:p>
                <a:pPr marL="914400" lvl="1" indent="-457200">
                  <a:lnSpc>
                    <a:spcPct val="150000"/>
                  </a:lnSpc>
                  <a:buFont typeface="Arial" panose="020B0604020202020204" pitchFamily="34" charset="0"/>
                  <a:buChar char="•"/>
                </a:pPr>
                <a:r>
                  <a:rPr lang="en-US" altLang="zh-CN" sz="2800" dirty="0"/>
                  <a:t>f(</a:t>
                </a:r>
                <a:r>
                  <a:rPr lang="en-US" altLang="zh-CN" sz="2800" dirty="0" err="1"/>
                  <a:t>ai</a:t>
                </a:r>
                <a:r>
                  <a:rPr lang="en-US" altLang="zh-CN" sz="2800" dirty="0"/>
                  <a:t>)</a:t>
                </a:r>
                <a14:m>
                  <m:oMath xmlns:m="http://schemas.openxmlformats.org/officeDocument/2006/math">
                    <m:r>
                      <a:rPr lang="en-US" altLang="zh-CN" sz="2800" dirty="0">
                        <a:latin typeface="Cambria Math" panose="02040503050406030204" pitchFamily="18" charset="0"/>
                      </a:rPr>
                      <m:t>∉</m:t>
                    </m:r>
                  </m:oMath>
                </a14:m>
                <a:r>
                  <a:rPr lang="en-US" altLang="zh-CN" sz="2800" dirty="0"/>
                  <a:t>g(</a:t>
                </a:r>
                <a:r>
                  <a:rPr lang="en-US" altLang="zh-CN" sz="2800" dirty="0" err="1"/>
                  <a:t>ai</a:t>
                </a:r>
                <a:r>
                  <a:rPr lang="en-US" altLang="zh-CN" sz="2800" dirty="0"/>
                  <a:t>)</a:t>
                </a:r>
              </a:p>
              <a:p>
                <a:pPr marL="914400" lvl="1" indent="-457200">
                  <a:lnSpc>
                    <a:spcPct val="150000"/>
                  </a:lnSpc>
                  <a:buFont typeface="Arial" panose="020B0604020202020204" pitchFamily="34" charset="0"/>
                  <a:buChar char="•"/>
                </a:pPr>
                <a:r>
                  <a:rPr lang="en-US" altLang="zh-CN" sz="2800" dirty="0"/>
                  <a:t>g(</a:t>
                </a:r>
                <a:r>
                  <a:rPr lang="en-US" altLang="zh-CN" sz="2800" dirty="0" err="1"/>
                  <a:t>ai</a:t>
                </a:r>
                <a:r>
                  <a:rPr lang="en-US" altLang="zh-CN" sz="2800" dirty="0"/>
                  <a:t>)</a:t>
                </a:r>
                <a:r>
                  <a:rPr lang="zh-CN" altLang="en-US" sz="2800" dirty="0"/>
                  <a:t>包含</a:t>
                </a:r>
                <a:r>
                  <a:rPr lang="en-US" altLang="zh-CN" sz="2800" dirty="0"/>
                  <a:t>{0…f(</a:t>
                </a:r>
                <a:r>
                  <a:rPr lang="en-US" altLang="zh-CN" sz="2800" dirty="0" err="1"/>
                  <a:t>ai</a:t>
                </a:r>
                <a:r>
                  <a:rPr lang="en-US" altLang="zh-CN" sz="2800" dirty="0"/>
                  <a:t>)-1}</a:t>
                </a:r>
              </a:p>
              <a:p>
                <a:pPr marL="457200" indent="-457200">
                  <a:lnSpc>
                    <a:spcPct val="150000"/>
                  </a:lnSpc>
                  <a:buFont typeface="Arial" panose="020B0604020202020204" pitchFamily="34" charset="0"/>
                  <a:buChar char="•"/>
                </a:pPr>
                <a:r>
                  <a:rPr lang="zh-CN" altLang="en-US" sz="2800" dirty="0"/>
                  <a:t>当</a:t>
                </a:r>
                <a:r>
                  <a:rPr lang="en-US" altLang="zh-CN" sz="2800" dirty="0"/>
                  <a:t>g(</a:t>
                </a:r>
                <a:r>
                  <a:rPr lang="en-US" altLang="zh-CN" sz="2800" dirty="0" err="1"/>
                  <a:t>ai</a:t>
                </a:r>
                <a:r>
                  <a:rPr lang="en-US" altLang="zh-CN" sz="2800" dirty="0"/>
                  <a:t>)={0, 1, 2, 3, 5, 7, 9}</a:t>
                </a:r>
                <a:r>
                  <a:rPr lang="zh-CN" altLang="en-US" sz="2800" dirty="0"/>
                  <a:t>时，</a:t>
                </a:r>
                <a:r>
                  <a:rPr lang="en-US" altLang="zh-CN" sz="2800" dirty="0"/>
                  <a:t>f(</a:t>
                </a:r>
                <a:r>
                  <a:rPr lang="en-US" altLang="zh-CN" sz="2800" dirty="0" err="1"/>
                  <a:t>ai</a:t>
                </a:r>
                <a:r>
                  <a:rPr lang="en-US" altLang="zh-CN" sz="2800" dirty="0"/>
                  <a:t>)=4</a:t>
                </a:r>
                <a:r>
                  <a:rPr lang="zh-CN" altLang="en-US" sz="2800" dirty="0"/>
                  <a:t>符合。</a:t>
                </a:r>
                <a:endParaRPr lang="en-US" altLang="zh-CN" sz="2800" dirty="0"/>
              </a:p>
              <a:p>
                <a:pPr marL="457200" indent="-457200">
                  <a:lnSpc>
                    <a:spcPct val="150000"/>
                  </a:lnSpc>
                  <a:buFont typeface="Arial" panose="020B0604020202020204" pitchFamily="34" charset="0"/>
                  <a:buChar char="•"/>
                </a:pPr>
                <a:r>
                  <a:rPr lang="zh-CN" altLang="en-US" sz="2800" dirty="0"/>
                  <a:t>观察得知，</a:t>
                </a:r>
                <a:r>
                  <a:rPr lang="en-US" altLang="zh-CN" sz="2800" dirty="0"/>
                  <a:t>f(</a:t>
                </a:r>
                <a:r>
                  <a:rPr lang="en-US" altLang="zh-CN" sz="2800" dirty="0" err="1"/>
                  <a:t>ai</a:t>
                </a:r>
                <a:r>
                  <a:rPr lang="en-US" altLang="zh-CN" sz="2800" dirty="0"/>
                  <a:t>)</a:t>
                </a:r>
                <a:r>
                  <a:rPr lang="zh-CN" altLang="en-US" sz="2800" dirty="0"/>
                  <a:t>就是</a:t>
                </a:r>
                <a:r>
                  <a:rPr lang="en-US" altLang="zh-CN" sz="2800" dirty="0"/>
                  <a:t>g(</a:t>
                </a:r>
                <a:r>
                  <a:rPr lang="en-US" altLang="zh-CN" sz="2800" dirty="0" err="1"/>
                  <a:t>ai</a:t>
                </a:r>
                <a:r>
                  <a:rPr lang="en-US" altLang="zh-CN" sz="2800" dirty="0"/>
                  <a:t>)</a:t>
                </a:r>
                <a:r>
                  <a:rPr lang="zh-CN" altLang="en-US" sz="2800" dirty="0"/>
                  <a:t>中第一个未出现的非负整数。</a:t>
                </a:r>
                <a:endParaRPr lang="en-US" altLang="zh-CN" sz="2800" dirty="0"/>
              </a:p>
              <a:p>
                <a:pPr marL="457200" indent="-457200">
                  <a:lnSpc>
                    <a:spcPct val="150000"/>
                  </a:lnSpc>
                  <a:buFont typeface="Arial" panose="020B0604020202020204" pitchFamily="34" charset="0"/>
                  <a:buChar char="•"/>
                </a:pPr>
                <a:r>
                  <a:rPr lang="zh-CN" altLang="en-US" sz="2800" dirty="0"/>
                  <a:t>定义</a:t>
                </a:r>
                <a:r>
                  <a:rPr lang="en-US" altLang="zh-CN" sz="2800" dirty="0" err="1"/>
                  <a:t>mex</a:t>
                </a:r>
                <a:r>
                  <a:rPr lang="zh-CN" altLang="en-US" sz="2800" dirty="0"/>
                  <a:t>运算，这是一个施加于集合的运算，表示最小的未出现在集合中的非负整数。例，</a:t>
                </a:r>
                <a:r>
                  <a:rPr lang="en-US" altLang="zh-CN" sz="2800" dirty="0" err="1"/>
                  <a:t>mex</a:t>
                </a:r>
                <a:r>
                  <a:rPr lang="en-US" altLang="zh-CN" sz="2800" dirty="0"/>
                  <a:t>{0, 1, 2}=3, </a:t>
                </a:r>
                <a:r>
                  <a:rPr lang="en-US" altLang="zh-CN" sz="2800" dirty="0" err="1"/>
                  <a:t>mex</a:t>
                </a:r>
                <a:r>
                  <a:rPr lang="en-US" altLang="zh-CN" sz="2800" dirty="0"/>
                  <a:t>{1, 3}=0</a:t>
                </a:r>
                <a:r>
                  <a:rPr lang="zh-CN" altLang="en-US" sz="2800" dirty="0"/>
                  <a:t>。</a:t>
                </a:r>
                <a:r>
                  <a:rPr lang="en-US" altLang="zh-CN" sz="2800" dirty="0"/>
                  <a:t>		         </a:t>
                </a:r>
                <a:r>
                  <a:rPr lang="zh-CN" altLang="en-US" sz="2800" dirty="0"/>
                  <a:t>则</a:t>
                </a:r>
                <a:r>
                  <a:rPr lang="en-US" altLang="zh-CN" sz="2800" dirty="0"/>
                  <a:t>f(</a:t>
                </a:r>
                <a:r>
                  <a:rPr lang="en-US" altLang="zh-CN" sz="2800" dirty="0" err="1"/>
                  <a:t>ai</a:t>
                </a:r>
                <a:r>
                  <a:rPr lang="en-US" altLang="zh-CN" sz="2800" dirty="0"/>
                  <a:t>)=</a:t>
                </a:r>
                <a:r>
                  <a:rPr lang="en-US" altLang="zh-CN" sz="2800" dirty="0" err="1"/>
                  <a:t>mex</a:t>
                </a:r>
                <a:r>
                  <a:rPr lang="en-US" altLang="zh-CN" sz="2800" dirty="0"/>
                  <a:t>{f(</a:t>
                </a:r>
                <a:r>
                  <a:rPr lang="en-US" altLang="zh-CN" sz="2800" dirty="0" err="1"/>
                  <a:t>ai</a:t>
                </a:r>
                <a:r>
                  <a:rPr lang="en-US" altLang="zh-CN" sz="2800" dirty="0"/>
                  <a:t>’)|</a:t>
                </a:r>
                <a:r>
                  <a:rPr lang="en-US" altLang="zh-CN" sz="2800" dirty="0" err="1"/>
                  <a:t>ai</a:t>
                </a:r>
                <a:r>
                  <a:rPr lang="en-US" altLang="zh-CN" sz="2800" dirty="0"/>
                  <a:t>’</a:t>
                </a:r>
                <a:r>
                  <a:rPr lang="zh-CN" altLang="en-US" sz="2800" dirty="0"/>
                  <a:t>是</a:t>
                </a:r>
                <a:r>
                  <a:rPr lang="en-US" altLang="zh-CN" sz="2800" dirty="0" err="1"/>
                  <a:t>ai</a:t>
                </a:r>
                <a:r>
                  <a:rPr lang="zh-CN" altLang="en-US" sz="2800" dirty="0"/>
                  <a:t>的后继</a:t>
                </a:r>
                <a:r>
                  <a:rPr lang="en-US" altLang="zh-CN" sz="2800" dirty="0"/>
                  <a:t>}</a:t>
                </a:r>
                <a:r>
                  <a:rPr lang="zh-CN" altLang="en-US" sz="2800" dirty="0"/>
                  <a:t>。</a:t>
                </a:r>
                <a:endParaRPr lang="en-US" altLang="zh-CN" sz="2800" dirty="0"/>
              </a:p>
            </p:txBody>
          </p:sp>
        </mc:Choice>
        <mc:Fallback>
          <p:sp>
            <p:nvSpPr>
              <p:cNvPr id="7" name="文本框 6"/>
              <p:cNvSpPr txBox="1">
                <a:spLocks noRot="1" noChangeAspect="1" noMove="1" noResize="1" noEditPoints="1" noAdjustHandles="1" noChangeArrowheads="1" noChangeShapeType="1" noTextEdit="1"/>
              </p:cNvSpPr>
              <p:nvPr/>
            </p:nvSpPr>
            <p:spPr>
              <a:xfrm>
                <a:off x="333772" y="1106417"/>
                <a:ext cx="11233248" cy="5179238"/>
              </a:xfrm>
              <a:prstGeom prst="rect">
                <a:avLst/>
              </a:prstGeom>
              <a:blipFill rotWithShape="1">
                <a:blip r:embed="rId1"/>
                <a:stretch>
                  <a:fillRect l="-977" b="-2353"/>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5265416"/>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当</a:t>
            </a:r>
            <a:r>
              <a:rPr lang="en-US" altLang="zh-CN" sz="2800" dirty="0"/>
              <a:t>f(x)&gt;0</a:t>
            </a:r>
            <a:r>
              <a:rPr lang="zh-CN" altLang="en-US" sz="2800" dirty="0"/>
              <a:t>时，它的后继局面一定有</a:t>
            </a:r>
            <a:r>
              <a:rPr lang="en-US" altLang="zh-CN" sz="2800" dirty="0"/>
              <a:t>y</a:t>
            </a:r>
            <a:r>
              <a:rPr lang="zh-CN" altLang="en-US" sz="2800" dirty="0"/>
              <a:t>，使</a:t>
            </a:r>
            <a:r>
              <a:rPr lang="en-US" altLang="zh-CN" sz="2800" dirty="0"/>
              <a:t>f(y)=0</a:t>
            </a:r>
            <a:r>
              <a:rPr lang="zh-CN" altLang="en-US" sz="2800" dirty="0"/>
              <a:t>。</a:t>
            </a:r>
            <a:r>
              <a:rPr lang="en-US" altLang="zh-CN" sz="2800" dirty="0"/>
              <a:t>			          </a:t>
            </a:r>
            <a:r>
              <a:rPr lang="zh-CN" altLang="en-US" sz="2800" dirty="0"/>
              <a:t>当</a:t>
            </a:r>
            <a:r>
              <a:rPr lang="en-US" altLang="zh-CN" sz="2800" dirty="0"/>
              <a:t>f(x)=0</a:t>
            </a:r>
            <a:r>
              <a:rPr lang="zh-CN" altLang="en-US" sz="2800" dirty="0"/>
              <a:t>时，它的后继局面中不存在</a:t>
            </a:r>
            <a:r>
              <a:rPr lang="en-US" altLang="zh-CN" sz="2800" dirty="0"/>
              <a:t>y</a:t>
            </a:r>
            <a:r>
              <a:rPr lang="zh-CN" altLang="en-US" sz="2800" dirty="0"/>
              <a:t>，使</a:t>
            </a:r>
            <a:r>
              <a:rPr lang="en-US" altLang="zh-CN" sz="2800" dirty="0"/>
              <a:t>f(y)=0</a:t>
            </a:r>
            <a:r>
              <a:rPr lang="zh-CN" altLang="en-US" sz="2800" dirty="0"/>
              <a:t>。</a:t>
            </a:r>
            <a:r>
              <a:rPr lang="en-US" altLang="zh-CN" sz="2800" dirty="0"/>
              <a:t>			         </a:t>
            </a:r>
            <a:r>
              <a:rPr lang="zh-CN" altLang="en-US" sz="2800" dirty="0"/>
              <a:t>对于单个游戏来说满足</a:t>
            </a:r>
            <a:r>
              <a:rPr lang="en-US" altLang="zh-CN" sz="2800" dirty="0"/>
              <a:t>position</a:t>
            </a:r>
            <a:r>
              <a:rPr lang="zh-CN" altLang="en-US" sz="2800" dirty="0"/>
              <a:t>定义。</a:t>
            </a:r>
            <a:endParaRPr lang="en-US" altLang="zh-CN" sz="2800" dirty="0"/>
          </a:p>
          <a:p>
            <a:pPr marL="457200" indent="-457200" algn="l">
              <a:lnSpc>
                <a:spcPct val="110000"/>
              </a:lnSpc>
              <a:buFont typeface="Arial" panose="020B0604020202020204" pitchFamily="34" charset="0"/>
              <a:buChar char="•"/>
            </a:pPr>
            <a:r>
              <a:rPr lang="zh-CN" altLang="en-US" sz="2800" dirty="0"/>
              <a:t>这样我们通过满足</a:t>
            </a:r>
            <a:r>
              <a:rPr lang="en-US" altLang="zh-CN" sz="2800" dirty="0" err="1"/>
              <a:t>Nim</a:t>
            </a:r>
            <a:r>
              <a:rPr lang="zh-CN" altLang="en-US" sz="2800" dirty="0"/>
              <a:t>游戏中异或和是否为</a:t>
            </a:r>
            <a:r>
              <a:rPr lang="en-US" altLang="zh-CN" sz="2800" dirty="0"/>
              <a:t>0</a:t>
            </a:r>
            <a:r>
              <a:rPr lang="zh-CN" altLang="en-US" sz="2800" dirty="0"/>
              <a:t>的</a:t>
            </a:r>
            <a:r>
              <a:rPr lang="en-US" altLang="zh-CN" sz="2800" dirty="0"/>
              <a:t>position</a:t>
            </a:r>
            <a:r>
              <a:rPr lang="zh-CN" altLang="en-US" sz="2800" dirty="0"/>
              <a:t>，推导出了</a:t>
            </a:r>
            <a:r>
              <a:rPr lang="en-US" altLang="zh-CN" sz="2800" dirty="0"/>
              <a:t>sg</a:t>
            </a:r>
            <a:r>
              <a:rPr lang="zh-CN" altLang="en-US" sz="2800" dirty="0"/>
              <a:t>函数的性质及求法。回到前面那个问题，其实若只表示局面的胜负用</a:t>
            </a:r>
            <a:r>
              <a:rPr lang="en-US" altLang="zh-CN" sz="2800" dirty="0"/>
              <a:t>0</a:t>
            </a:r>
            <a:r>
              <a:rPr lang="zh-CN" altLang="en-US" sz="2800" dirty="0"/>
              <a:t>，</a:t>
            </a:r>
            <a:r>
              <a:rPr lang="en-US" altLang="zh-CN" sz="2800" dirty="0"/>
              <a:t>1</a:t>
            </a:r>
            <a:r>
              <a:rPr lang="zh-CN" altLang="en-US" sz="2800" dirty="0"/>
              <a:t>就可以，之所以这样定义</a:t>
            </a:r>
            <a:r>
              <a:rPr lang="en-US" altLang="zh-CN" sz="2800" dirty="0"/>
              <a:t>sg</a:t>
            </a:r>
            <a:r>
              <a:rPr lang="zh-CN" altLang="en-US" sz="2800" dirty="0"/>
              <a:t>函数，是为了满足局面可以加和的要求，异或后的值，正是整个游戏的</a:t>
            </a:r>
            <a:r>
              <a:rPr lang="en-US" altLang="zh-CN" sz="2800" dirty="0"/>
              <a:t>sg</a:t>
            </a:r>
            <a:r>
              <a:rPr lang="zh-CN" altLang="en-US" sz="2800" dirty="0"/>
              <a:t>值。</a:t>
            </a:r>
            <a:endParaRPr lang="en-US" altLang="zh-CN" sz="2800" dirty="0"/>
          </a:p>
          <a:p>
            <a:pPr marL="457200" indent="-457200" algn="l">
              <a:lnSpc>
                <a:spcPct val="110000"/>
              </a:lnSpc>
              <a:buFont typeface="Arial" panose="020B0604020202020204" pitchFamily="34" charset="0"/>
              <a:buChar char="•"/>
            </a:pPr>
            <a:r>
              <a:rPr lang="zh-CN" altLang="en-US" sz="2800" dirty="0"/>
              <a:t>而异或运算并不是凭空出现的性质？其实两个游戏局面的加和和异或运算十分相似。例，</a:t>
            </a:r>
            <a:r>
              <a:rPr lang="en-US" altLang="zh-CN" sz="2800" dirty="0"/>
              <a:t>A</a:t>
            </a:r>
            <a:r>
              <a:rPr lang="zh-CN" altLang="en-US" sz="2800" dirty="0"/>
              <a:t>，</a:t>
            </a:r>
            <a:r>
              <a:rPr lang="en-US" altLang="zh-CN" sz="2800" dirty="0"/>
              <a:t>B</a:t>
            </a:r>
            <a:r>
              <a:rPr lang="zh-CN" altLang="en-US" sz="2800" dirty="0"/>
              <a:t>表示局面。若</a:t>
            </a:r>
            <a:r>
              <a:rPr lang="en-US" altLang="zh-CN" sz="2800" dirty="0"/>
              <a:t>A</a:t>
            </a:r>
            <a:r>
              <a:rPr lang="zh-CN" altLang="en-US" sz="2800" dirty="0"/>
              <a:t>，</a:t>
            </a:r>
            <a:r>
              <a:rPr lang="en-US" altLang="zh-CN" sz="2800" dirty="0"/>
              <a:t>B</a:t>
            </a:r>
            <a:r>
              <a:rPr lang="zh-CN" altLang="en-US" sz="2800" dirty="0"/>
              <a:t>相同，先手必败。若</a:t>
            </a:r>
            <a:r>
              <a:rPr lang="en-US" altLang="zh-CN" sz="2800" dirty="0"/>
              <a:t>A</a:t>
            </a:r>
            <a:r>
              <a:rPr lang="zh-CN" altLang="en-US" sz="2800" dirty="0"/>
              <a:t>胜</a:t>
            </a:r>
            <a:r>
              <a:rPr lang="en-US" altLang="zh-CN" sz="2800" dirty="0"/>
              <a:t>B</a:t>
            </a:r>
            <a:r>
              <a:rPr lang="zh-CN" altLang="en-US" sz="2800" dirty="0"/>
              <a:t>负，则先手必胜，</a:t>
            </a:r>
            <a:r>
              <a:rPr lang="en-US" altLang="zh-CN" sz="2800" dirty="0"/>
              <a:t>A</a:t>
            </a:r>
            <a:r>
              <a:rPr lang="zh-CN" altLang="en-US" sz="2800" dirty="0"/>
              <a:t>负</a:t>
            </a:r>
            <a:r>
              <a:rPr lang="en-US" altLang="zh-CN" sz="2800" dirty="0"/>
              <a:t>B</a:t>
            </a:r>
            <a:r>
              <a:rPr lang="zh-CN" altLang="en-US" sz="2800" dirty="0"/>
              <a:t>胜同理。</a:t>
            </a:r>
            <a:r>
              <a:rPr lang="en-US" altLang="zh-CN" sz="2800" dirty="0"/>
              <a:t>	</a:t>
            </a:r>
            <a:r>
              <a:rPr lang="zh-CN" altLang="en-US" sz="2800" dirty="0"/>
              <a:t>若</a:t>
            </a:r>
            <a:r>
              <a:rPr lang="en-US" altLang="zh-CN" sz="2800" dirty="0"/>
              <a:t>A</a:t>
            </a:r>
            <a:r>
              <a:rPr lang="zh-CN" altLang="en-US" sz="2800" dirty="0"/>
              <a:t>，</a:t>
            </a:r>
            <a:r>
              <a:rPr lang="en-US" altLang="zh-CN" sz="2800" dirty="0"/>
              <a:t>B</a:t>
            </a:r>
            <a:r>
              <a:rPr lang="zh-CN" altLang="en-US" sz="2800" dirty="0"/>
              <a:t>均负，先手必败。若</a:t>
            </a:r>
            <a:r>
              <a:rPr lang="en-US" altLang="zh-CN" sz="2800" dirty="0"/>
              <a:t>A</a:t>
            </a:r>
            <a:r>
              <a:rPr lang="zh-CN" altLang="en-US" sz="2800" dirty="0"/>
              <a:t>，</a:t>
            </a:r>
            <a:r>
              <a:rPr lang="en-US" altLang="zh-CN" sz="2800" dirty="0"/>
              <a:t>B</a:t>
            </a:r>
            <a:r>
              <a:rPr lang="zh-CN" altLang="en-US" sz="2800" dirty="0"/>
              <a:t>均胜，先手有时胜，有时负。这里不再多说。</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1514261"/>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其实整个游戏局面的</a:t>
            </a:r>
            <a:r>
              <a:rPr lang="en-US" altLang="zh-CN" sz="2800" dirty="0"/>
              <a:t>sg</a:t>
            </a:r>
            <a:r>
              <a:rPr lang="zh-CN" altLang="en-US" sz="2800" dirty="0"/>
              <a:t>值也可以通过</a:t>
            </a:r>
            <a:r>
              <a:rPr lang="en-US" altLang="zh-CN" sz="2800" dirty="0" err="1"/>
              <a:t>mex</a:t>
            </a:r>
            <a:r>
              <a:rPr lang="zh-CN" altLang="en-US" sz="2800" dirty="0"/>
              <a:t>运算一步步推导出来，如同我们最开始讲解的那个搜索所有状态的算法。我们直接来证明这样这样异或出的</a:t>
            </a:r>
            <a:r>
              <a:rPr lang="en-US" altLang="zh-CN" sz="2800" dirty="0"/>
              <a:t>sg</a:t>
            </a:r>
            <a:r>
              <a:rPr lang="zh-CN" altLang="en-US" sz="2800" dirty="0"/>
              <a:t>值符合</a:t>
            </a:r>
            <a:r>
              <a:rPr lang="en-US" altLang="zh-CN" sz="2800" dirty="0"/>
              <a:t>sg</a:t>
            </a:r>
            <a:r>
              <a:rPr lang="zh-CN" altLang="en-US" sz="2800" dirty="0"/>
              <a:t>函数的性质。</a:t>
            </a:r>
            <a:endParaRPr lang="en-US" altLang="zh-CN" sz="2800" dirty="0"/>
          </a:p>
        </p:txBody>
      </p:sp>
      <mc:AlternateContent xmlns:mc="http://schemas.openxmlformats.org/markup-compatibility/2006">
        <mc:Choice xmlns:a14="http://schemas.microsoft.com/office/drawing/2010/main" Requires="a14">
          <p:sp>
            <p:nvSpPr>
              <p:cNvPr id="3" name="文本框 2">
                <a:extLst>
                  <a:ext uri="{FF2B5EF4-FFF2-40B4-BE49-F238E27FC236}">
                    <a14:artisticCrisscrossEtching id="{6B48AE77-E3B2-4E73-B660-6EB4F1530915}"/>
                  </a:ext>
                </a:extLst>
              </p:cNvPr>
              <p:cNvSpPr txBox="1"/>
              <p:nvPr/>
            </p:nvSpPr>
            <p:spPr>
              <a:xfrm>
                <a:off x="333772" y="2580026"/>
                <a:ext cx="11233248" cy="38841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设</a:t>
                </a:r>
                <a:r>
                  <a:rPr lang="en-US" altLang="zh-CN" sz="2800" dirty="0"/>
                  <a:t>b=f(a1)+…+f(an)    </a:t>
                </a:r>
              </a:p>
              <a:p>
                <a:pPr marL="914400" lvl="1" indent="-457200">
                  <a:lnSpc>
                    <a:spcPct val="110000"/>
                  </a:lnSpc>
                  <a:buFont typeface="Arial" panose="020B0604020202020204" pitchFamily="34" charset="0"/>
                  <a:buChar char="•"/>
                </a:pPr>
                <a:r>
                  <a:rPr lang="zh-CN" altLang="en-US" sz="2800" dirty="0"/>
                  <a:t>若</a:t>
                </a:r>
                <a14:m>
                  <m:oMath xmlns:m="http://schemas.openxmlformats.org/officeDocument/2006/math">
                    <m:r>
                      <m:rPr>
                        <m:sty m:val="p"/>
                      </m:rPr>
                      <a:rPr lang="en-US" altLang="zh-CN" sz="2800" i="1">
                        <a:latin typeface="Cambria Math" panose="02040503050406030204" pitchFamily="18" charset="0"/>
                      </a:rPr>
                      <m:t>b</m:t>
                    </m:r>
                    <m:r>
                      <a:rPr lang="en-US" altLang="zh-CN" sz="2800" smtClean="0">
                        <a:latin typeface="Cambria Math" panose="02040503050406030204" pitchFamily="18" charset="0"/>
                      </a:rPr>
                      <m:t>≠</m:t>
                    </m:r>
                  </m:oMath>
                </a14:m>
                <a:r>
                  <a:rPr lang="en-US" altLang="zh-CN" sz="2800" dirty="0"/>
                  <a:t>0</a:t>
                </a:r>
                <a:r>
                  <a:rPr lang="zh-CN" altLang="en-US" sz="2800" dirty="0"/>
                  <a:t>，它的后继局面</a:t>
                </a:r>
                <a:r>
                  <a:rPr lang="en-US" altLang="zh-CN" sz="2800" dirty="0"/>
                  <a:t>sg</a:t>
                </a:r>
                <a:r>
                  <a:rPr lang="zh-CN" altLang="en-US" sz="2800" dirty="0"/>
                  <a:t>值一定包含</a:t>
                </a:r>
                <a:r>
                  <a:rPr lang="en-US" altLang="zh-CN" sz="2800" dirty="0"/>
                  <a:t>(0…b-1)</a:t>
                </a:r>
                <a:r>
                  <a:rPr lang="zh-CN" altLang="en-US" sz="2800" dirty="0"/>
                  <a:t>。设</a:t>
                </a:r>
                <a:r>
                  <a:rPr lang="en-US" altLang="zh-CN" sz="2800" dirty="0"/>
                  <a:t>0&lt;=c&lt;b</a:t>
                </a:r>
                <a:r>
                  <a:rPr lang="zh-CN" altLang="en-US" sz="2800" dirty="0"/>
                  <a:t>，</a:t>
                </a:r>
                <a:r>
                  <a:rPr lang="en-US" altLang="zh-CN" sz="2800" dirty="0"/>
                  <a:t>d=</a:t>
                </a:r>
                <a:r>
                  <a:rPr lang="en-US" altLang="zh-CN" sz="2800" dirty="0" err="1"/>
                  <a:t>c^b</a:t>
                </a:r>
                <a:r>
                  <a:rPr lang="zh-CN" altLang="en-US" sz="2800" dirty="0"/>
                  <a:t>，</a:t>
                </a:r>
                <a:r>
                  <a:rPr lang="en-US" altLang="zh-CN" sz="2800" dirty="0"/>
                  <a:t>d</a:t>
                </a:r>
                <a:r>
                  <a:rPr lang="zh-CN" altLang="en-US" sz="2800" dirty="0"/>
                  <a:t>的最高位为</a:t>
                </a:r>
                <a:r>
                  <a:rPr lang="en-US" altLang="zh-CN" sz="2800" dirty="0"/>
                  <a:t>k</a:t>
                </a:r>
                <a:r>
                  <a:rPr lang="zh-CN" altLang="en-US" sz="2800" dirty="0"/>
                  <a:t>，因为</a:t>
                </a:r>
                <a:r>
                  <a:rPr lang="en-US" altLang="zh-CN" sz="2800" dirty="0"/>
                  <a:t>b&gt;c</a:t>
                </a:r>
                <a:r>
                  <a:rPr lang="zh-CN" altLang="en-US" sz="2800" dirty="0"/>
                  <a:t>，所以</a:t>
                </a:r>
                <a:r>
                  <a:rPr lang="en-US" altLang="zh-CN" sz="2800" dirty="0"/>
                  <a:t>b</a:t>
                </a:r>
                <a:r>
                  <a:rPr lang="zh-CN" altLang="en-US" sz="2800" dirty="0"/>
                  <a:t>的第</a:t>
                </a:r>
                <a:r>
                  <a:rPr lang="en-US" altLang="zh-CN" sz="2800" dirty="0"/>
                  <a:t>k</a:t>
                </a:r>
                <a:r>
                  <a:rPr lang="zh-CN" altLang="en-US" sz="2800" dirty="0"/>
                  <a:t>位为</a:t>
                </a:r>
                <a:r>
                  <a:rPr lang="en-US" altLang="zh-CN" sz="2800" dirty="0"/>
                  <a:t>1</a:t>
                </a:r>
                <a:r>
                  <a:rPr lang="zh-CN" altLang="en-US" sz="2800" dirty="0"/>
                  <a:t>，</a:t>
                </a:r>
                <a:r>
                  <a:rPr lang="en-US" altLang="zh-CN" sz="2800" dirty="0"/>
                  <a:t>c</a:t>
                </a:r>
                <a:r>
                  <a:rPr lang="zh-CN" altLang="en-US" sz="2800" dirty="0"/>
                  <a:t>的第</a:t>
                </a:r>
                <a:r>
                  <a:rPr lang="en-US" altLang="zh-CN" sz="2800" dirty="0"/>
                  <a:t>k</a:t>
                </a:r>
                <a:r>
                  <a:rPr lang="zh-CN" altLang="en-US" sz="2800" dirty="0"/>
                  <a:t>位为</a:t>
                </a:r>
                <a:r>
                  <a:rPr lang="en-US" altLang="zh-CN" sz="2800" dirty="0"/>
                  <a:t>0</a:t>
                </a:r>
                <a:r>
                  <a:rPr lang="zh-CN" altLang="en-US" sz="2800" dirty="0"/>
                  <a:t>，则</a:t>
                </a:r>
                <a:r>
                  <a:rPr lang="en-US" altLang="zh-CN" sz="2800" dirty="0"/>
                  <a:t>f(</a:t>
                </a:r>
                <a:r>
                  <a:rPr lang="en-US" altLang="zh-CN" sz="2800" dirty="0" err="1"/>
                  <a:t>ai</a:t>
                </a:r>
                <a:r>
                  <a:rPr lang="en-US" altLang="zh-CN" sz="2800" dirty="0"/>
                  <a:t>)</a:t>
                </a:r>
                <a:r>
                  <a:rPr lang="zh-CN" altLang="en-US" sz="2800" dirty="0"/>
                  <a:t>中至少存在一个值第</a:t>
                </a:r>
                <a:r>
                  <a:rPr lang="en-US" altLang="zh-CN" sz="2800" dirty="0"/>
                  <a:t>k</a:t>
                </a:r>
                <a:r>
                  <a:rPr lang="zh-CN" altLang="en-US" sz="2800" dirty="0"/>
                  <a:t>位为</a:t>
                </a:r>
                <a:r>
                  <a:rPr lang="en-US" altLang="zh-CN" sz="2800" dirty="0"/>
                  <a:t>1</a:t>
                </a:r>
                <a:r>
                  <a:rPr lang="zh-CN" altLang="en-US" sz="2800" dirty="0"/>
                  <a:t>，假定为</a:t>
                </a:r>
                <a:r>
                  <a:rPr lang="en-US" altLang="zh-CN" sz="2800" dirty="0"/>
                  <a:t>a1</a:t>
                </a:r>
                <a:r>
                  <a:rPr lang="zh-CN" altLang="en-US" sz="2800" dirty="0"/>
                  <a:t>，显然</a:t>
                </a:r>
                <a:r>
                  <a:rPr lang="en-US" altLang="zh-CN" sz="2800" dirty="0" err="1"/>
                  <a:t>d^f</a:t>
                </a:r>
                <a:r>
                  <a:rPr lang="en-US" altLang="zh-CN" sz="2800" dirty="0"/>
                  <a:t>(a1)&lt;f(a1)</a:t>
                </a:r>
                <a:r>
                  <a:rPr lang="zh-CN" altLang="en-US" sz="2800" dirty="0"/>
                  <a:t>，那么只需要将</a:t>
                </a:r>
                <a:r>
                  <a:rPr lang="en-US" altLang="zh-CN" sz="2800" dirty="0"/>
                  <a:t>f(a1)</a:t>
                </a:r>
                <a:r>
                  <a:rPr lang="zh-CN" altLang="en-US" sz="2800" dirty="0"/>
                  <a:t>变为</a:t>
                </a:r>
                <a:r>
                  <a:rPr lang="en-US" altLang="zh-CN" sz="2800" dirty="0"/>
                  <a:t>f(a1)^d</a:t>
                </a:r>
                <a:r>
                  <a:rPr lang="zh-CN" altLang="en-US" sz="2800" dirty="0"/>
                  <a:t>，就可使整个局面的</a:t>
                </a:r>
                <a:r>
                  <a:rPr lang="en-US" altLang="zh-CN" sz="2800" dirty="0"/>
                  <a:t>sg</a:t>
                </a:r>
                <a:r>
                  <a:rPr lang="zh-CN" altLang="en-US" sz="2800" dirty="0"/>
                  <a:t>值变为</a:t>
                </a:r>
                <a:r>
                  <a:rPr lang="en-US" altLang="zh-CN" sz="2800" dirty="0"/>
                  <a:t>c</a:t>
                </a:r>
                <a:r>
                  <a:rPr lang="zh-CN" altLang="en-US" sz="2800" dirty="0"/>
                  <a:t>。</a:t>
                </a:r>
                <a:endParaRPr lang="en-US" altLang="zh-CN" sz="2800" dirty="0"/>
              </a:p>
              <a:p>
                <a:pPr marL="914400" lvl="1" indent="-457200">
                  <a:lnSpc>
                    <a:spcPct val="110000"/>
                  </a:lnSpc>
                  <a:buFont typeface="Arial" panose="020B0604020202020204" pitchFamily="34" charset="0"/>
                  <a:buChar char="•"/>
                </a:pPr>
                <a:r>
                  <a:rPr lang="zh-CN" altLang="en-US" sz="2800" dirty="0"/>
                  <a:t>后继局面</a:t>
                </a:r>
                <a:r>
                  <a:rPr lang="en-US" altLang="zh-CN" sz="2800" dirty="0"/>
                  <a:t>sg</a:t>
                </a:r>
                <a:r>
                  <a:rPr lang="zh-CN" altLang="en-US" sz="2800" dirty="0"/>
                  <a:t>值一定不会是</a:t>
                </a:r>
                <a:r>
                  <a:rPr lang="en-US" altLang="zh-CN" sz="2800" dirty="0"/>
                  <a:t>b</a:t>
                </a:r>
                <a:r>
                  <a:rPr lang="zh-CN" altLang="en-US" sz="2800" dirty="0"/>
                  <a:t>，很显然，若异或和不变，那么需要改变后的</a:t>
                </a:r>
                <a:r>
                  <a:rPr lang="en-US" altLang="zh-CN" sz="2800" dirty="0"/>
                  <a:t>f(</a:t>
                </a:r>
                <a:r>
                  <a:rPr lang="en-US" altLang="zh-CN" sz="2800" dirty="0" err="1"/>
                  <a:t>ai</a:t>
                </a:r>
                <a:r>
                  <a:rPr lang="en-US" altLang="zh-CN" sz="2800" dirty="0"/>
                  <a:t>’)</a:t>
                </a:r>
                <a:r>
                  <a:rPr lang="zh-CN" altLang="en-US" sz="2800" dirty="0"/>
                  <a:t>也不变仍等于</a:t>
                </a:r>
                <a:r>
                  <a:rPr lang="en-US" altLang="zh-CN" sz="2800" dirty="0"/>
                  <a:t>f(</a:t>
                </a:r>
                <a:r>
                  <a:rPr lang="en-US" altLang="zh-CN" sz="2800" dirty="0" err="1"/>
                  <a:t>ai</a:t>
                </a:r>
                <a:r>
                  <a:rPr lang="en-US" altLang="zh-CN" sz="2800" dirty="0"/>
                  <a:t>)</a:t>
                </a:r>
                <a:r>
                  <a:rPr lang="zh-CN" altLang="en-US" sz="2800" dirty="0"/>
                  <a:t>，而</a:t>
                </a:r>
                <a:r>
                  <a:rPr lang="en-US" altLang="zh-CN" sz="2800" dirty="0"/>
                  <a:t>g(</a:t>
                </a:r>
                <a:r>
                  <a:rPr lang="en-US" altLang="zh-CN" sz="2800" dirty="0" err="1"/>
                  <a:t>ai</a:t>
                </a:r>
                <a:r>
                  <a:rPr lang="en-US" altLang="zh-CN" sz="2800" dirty="0"/>
                  <a:t>)</a:t>
                </a:r>
                <a:r>
                  <a:rPr lang="zh-CN" altLang="en-US" sz="2800" dirty="0"/>
                  <a:t>中不包含</a:t>
                </a:r>
                <a:r>
                  <a:rPr lang="en-US" altLang="zh-CN" sz="2800" dirty="0"/>
                  <a:t>f(</a:t>
                </a:r>
                <a:r>
                  <a:rPr lang="en-US" altLang="zh-CN" sz="2800" dirty="0" err="1"/>
                  <a:t>ai</a:t>
                </a:r>
                <a:r>
                  <a:rPr lang="en-US" altLang="zh-CN" sz="2800" dirty="0"/>
                  <a:t>)</a:t>
                </a:r>
                <a:r>
                  <a:rPr lang="zh-CN" altLang="en-US" sz="2800" dirty="0"/>
                  <a:t>，所以后继局面</a:t>
                </a:r>
                <a:r>
                  <a:rPr lang="en-US" altLang="zh-CN" sz="2800" dirty="0"/>
                  <a:t>sg</a:t>
                </a:r>
                <a:r>
                  <a:rPr lang="zh-CN" altLang="en-US" sz="2800" dirty="0"/>
                  <a:t>值不可能仍为原值。</a:t>
                </a:r>
              </a:p>
            </p:txBody>
          </p:sp>
        </mc:Choice>
        <mc:Fallback>
          <p:sp>
            <p:nvSpPr>
              <p:cNvPr id="3" name="文本框 2"/>
              <p:cNvSpPr txBox="1">
                <a:spLocks noRot="1" noChangeAspect="1" noMove="1" noResize="1" noEditPoints="1" noAdjustHandles="1" noChangeArrowheads="1" noChangeShapeType="1" noTextEdit="1"/>
              </p:cNvSpPr>
              <p:nvPr/>
            </p:nvSpPr>
            <p:spPr>
              <a:xfrm>
                <a:off x="333772" y="2889271"/>
                <a:ext cx="11233248" cy="3884140"/>
              </a:xfrm>
              <a:prstGeom prst="rect">
                <a:avLst/>
              </a:prstGeom>
              <a:blipFill rotWithShape="1">
                <a:blip r:embed="rId1"/>
                <a:stretch>
                  <a:fillRect l="-977" t="-1884" r="-4343" b="-2512"/>
                </a:stretch>
              </a:blipFill>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2936188"/>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现在具体来看一下求</a:t>
            </a:r>
            <a:r>
              <a:rPr lang="en-US" altLang="zh-CN" sz="2800" dirty="0"/>
              <a:t>sg</a:t>
            </a:r>
            <a:r>
              <a:rPr lang="zh-CN" altLang="en-US" sz="2800" dirty="0"/>
              <a:t>函数的过程</a:t>
            </a:r>
            <a:endParaRPr lang="en-US" altLang="zh-CN" sz="2800" dirty="0"/>
          </a:p>
          <a:p>
            <a:pPr marL="457200" indent="-457200" algn="l">
              <a:lnSpc>
                <a:spcPct val="110000"/>
              </a:lnSpc>
              <a:buFont typeface="Arial" panose="020B0604020202020204" pitchFamily="34" charset="0"/>
              <a:buChar char="•"/>
            </a:pPr>
            <a:r>
              <a:rPr lang="zh-CN" altLang="en-US" sz="2800" dirty="0"/>
              <a:t>以前面的游戏为例</a:t>
            </a:r>
            <a:endParaRPr lang="en-US" altLang="zh-CN" sz="2800" dirty="0"/>
          </a:p>
          <a:p>
            <a:pPr marL="914400" lvl="1" indent="-457200">
              <a:lnSpc>
                <a:spcPct val="110000"/>
              </a:lnSpc>
              <a:buFont typeface="Arial" panose="020B0604020202020204" pitchFamily="34" charset="0"/>
              <a:buChar char="•"/>
            </a:pPr>
            <a:r>
              <a:rPr lang="en-US" altLang="zh-CN" sz="2800" dirty="0" err="1"/>
              <a:t>Nim</a:t>
            </a:r>
            <a:r>
              <a:rPr lang="zh-CN" altLang="en-US" sz="2800" dirty="0"/>
              <a:t>游戏中，</a:t>
            </a:r>
            <a:r>
              <a:rPr lang="en-US" altLang="zh-CN" sz="2800" dirty="0"/>
              <a:t>f(0)=0</a:t>
            </a:r>
            <a:r>
              <a:rPr lang="zh-CN" altLang="en-US" sz="2800" dirty="0"/>
              <a:t>，</a:t>
            </a:r>
            <a:r>
              <a:rPr lang="en-US" altLang="zh-CN" sz="2800" dirty="0"/>
              <a:t>g(1)={0}</a:t>
            </a:r>
            <a:r>
              <a:rPr lang="zh-CN" altLang="en-US" sz="2800" dirty="0"/>
              <a:t>，所以</a:t>
            </a:r>
            <a:r>
              <a:rPr lang="en-US" altLang="zh-CN" sz="2800" dirty="0"/>
              <a:t>f(1)=</a:t>
            </a:r>
            <a:r>
              <a:rPr lang="en-US" altLang="zh-CN" sz="2800" dirty="0" err="1"/>
              <a:t>mex</a:t>
            </a:r>
            <a:r>
              <a:rPr lang="en-US" altLang="zh-CN" sz="2800" dirty="0"/>
              <a:t>{0}=1</a:t>
            </a:r>
            <a:r>
              <a:rPr lang="zh-CN" altLang="en-US" sz="2800" dirty="0"/>
              <a:t>，依次类推，若石子数量为</a:t>
            </a:r>
            <a:r>
              <a:rPr lang="en-US" altLang="zh-CN" sz="2800" dirty="0"/>
              <a:t>x</a:t>
            </a:r>
            <a:r>
              <a:rPr lang="zh-CN" altLang="en-US" sz="2800" dirty="0"/>
              <a:t>，</a:t>
            </a:r>
            <a:r>
              <a:rPr lang="en-US" altLang="zh-CN" sz="2800" dirty="0"/>
              <a:t>g(x)={0…x-1}</a:t>
            </a:r>
            <a:r>
              <a:rPr lang="zh-CN" altLang="en-US" sz="2800" dirty="0"/>
              <a:t>，</a:t>
            </a:r>
            <a:r>
              <a:rPr lang="en-US" altLang="zh-CN" sz="2800" dirty="0"/>
              <a:t>f(x)=x</a:t>
            </a:r>
            <a:r>
              <a:rPr lang="zh-CN" altLang="en-US" sz="2800" dirty="0"/>
              <a:t>。</a:t>
            </a:r>
            <a:endParaRPr lang="en-US" altLang="zh-CN" sz="2800" dirty="0"/>
          </a:p>
          <a:p>
            <a:pPr marL="914400" lvl="1" indent="-457200">
              <a:lnSpc>
                <a:spcPct val="110000"/>
              </a:lnSpc>
              <a:buFont typeface="Arial" panose="020B0604020202020204" pitchFamily="34" charset="0"/>
              <a:buChar char="•"/>
            </a:pPr>
            <a:r>
              <a:rPr lang="zh-CN" altLang="en-US" sz="2800" dirty="0"/>
              <a:t>第二个游戏中，</a:t>
            </a:r>
            <a:r>
              <a:rPr lang="en-US" altLang="zh-CN" sz="2800" dirty="0"/>
              <a:t>f(0)=0</a:t>
            </a:r>
            <a:r>
              <a:rPr lang="zh-CN" altLang="en-US" sz="2800" dirty="0"/>
              <a:t>，</a:t>
            </a:r>
            <a:r>
              <a:rPr lang="en-US" altLang="zh-CN" sz="2800" dirty="0"/>
              <a:t>f(1)=1…</a:t>
            </a:r>
            <a:r>
              <a:rPr lang="zh-CN" altLang="en-US" sz="2800" dirty="0"/>
              <a:t>，</a:t>
            </a:r>
            <a:r>
              <a:rPr lang="en-US" altLang="zh-CN" sz="2800" dirty="0"/>
              <a:t>f(m)=m</a:t>
            </a:r>
            <a:r>
              <a:rPr lang="zh-CN" altLang="en-US" sz="2800" dirty="0"/>
              <a:t>，然后</a:t>
            </a:r>
            <a:r>
              <a:rPr lang="en-US" altLang="zh-CN" sz="2800" dirty="0"/>
              <a:t>g(m+1)={1…m}</a:t>
            </a:r>
            <a:r>
              <a:rPr lang="zh-CN" altLang="en-US" sz="2800" dirty="0"/>
              <a:t>，</a:t>
            </a:r>
            <a:r>
              <a:rPr lang="en-US" altLang="zh-CN" sz="2800" dirty="0"/>
              <a:t>f</a:t>
            </a:r>
            <a:r>
              <a:rPr lang="zh-CN" altLang="en-US" sz="2800" dirty="0"/>
              <a:t> </a:t>
            </a:r>
            <a:r>
              <a:rPr lang="en-US" altLang="zh-CN" sz="2800" dirty="0"/>
              <a:t>(m+1)=0</a:t>
            </a:r>
            <a:r>
              <a:rPr lang="zh-CN" altLang="en-US" sz="2800" dirty="0"/>
              <a:t>，依次类推，得</a:t>
            </a:r>
            <a:r>
              <a:rPr lang="en-US" altLang="zh-CN" sz="2800" dirty="0"/>
              <a:t>f(x)=x%(m+1)</a:t>
            </a:r>
            <a:r>
              <a:rPr lang="zh-CN" altLang="en-US" sz="2800" dirty="0"/>
              <a:t>。</a:t>
            </a:r>
            <a:endParaRPr lang="zh-CN" altLang="en-US" sz="2800" dirty="0"/>
          </a:p>
        </p:txBody>
      </p:sp>
      <p:sp>
        <p:nvSpPr>
          <p:cNvPr id="3" name="文本框 2"/>
          <p:cNvSpPr txBox="1"/>
          <p:nvPr/>
        </p:nvSpPr>
        <p:spPr>
          <a:xfrm>
            <a:off x="333155" y="4001953"/>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再改变一下规则，每次取只能取</a:t>
            </a:r>
            <a:r>
              <a:rPr lang="en-US" altLang="zh-CN" sz="2800" dirty="0"/>
              <a:t>A</a:t>
            </a:r>
            <a:r>
              <a:rPr lang="zh-CN" altLang="en-US" sz="2800" dirty="0"/>
              <a:t>或</a:t>
            </a:r>
            <a:r>
              <a:rPr lang="en-US" altLang="zh-CN" sz="2800" dirty="0"/>
              <a:t>B</a:t>
            </a:r>
            <a:r>
              <a:rPr lang="zh-CN" altLang="en-US" sz="2800" dirty="0"/>
              <a:t>或</a:t>
            </a:r>
            <a:r>
              <a:rPr lang="en-US" altLang="zh-CN" sz="2800" dirty="0"/>
              <a:t>C</a:t>
            </a:r>
            <a:r>
              <a:rPr lang="zh-CN" altLang="en-US" sz="2800" dirty="0"/>
              <a:t>枚石子，该怎么办呢？</a:t>
            </a:r>
            <a:endParaRPr lang="zh-CN" altLang="en-US" sz="2800" dirty="0"/>
          </a:p>
        </p:txBody>
      </p:sp>
      <p:sp>
        <p:nvSpPr>
          <p:cNvPr id="5" name="文本框 4"/>
          <p:cNvSpPr txBox="1"/>
          <p:nvPr/>
        </p:nvSpPr>
        <p:spPr>
          <a:xfrm>
            <a:off x="333155" y="4531393"/>
            <a:ext cx="11233248" cy="1514261"/>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仍是先求子游戏（单堆石子）的</a:t>
            </a:r>
            <a:r>
              <a:rPr lang="en-US" altLang="zh-CN" sz="2800" dirty="0"/>
              <a:t>sg</a:t>
            </a:r>
            <a:r>
              <a:rPr lang="zh-CN" altLang="en-US" sz="2800" dirty="0"/>
              <a:t>值，</a:t>
            </a:r>
            <a:r>
              <a:rPr lang="en-US" altLang="zh-CN" sz="2800" dirty="0"/>
              <a:t>f(0)=0</a:t>
            </a:r>
            <a:r>
              <a:rPr lang="zh-CN" altLang="en-US" sz="2800" dirty="0"/>
              <a:t>，一步步利用</a:t>
            </a:r>
            <a:r>
              <a:rPr lang="en-US" altLang="zh-CN" sz="2800" dirty="0" err="1"/>
              <a:t>mex</a:t>
            </a:r>
            <a:r>
              <a:rPr lang="zh-CN" altLang="en-US" sz="2800" dirty="0"/>
              <a:t>运算向上推，求出</a:t>
            </a:r>
            <a:r>
              <a:rPr lang="en-US" altLang="zh-CN" sz="2800" dirty="0"/>
              <a:t>f(</a:t>
            </a:r>
            <a:r>
              <a:rPr lang="en-US" altLang="zh-CN" sz="2800" dirty="0" err="1"/>
              <a:t>ai</a:t>
            </a:r>
            <a:r>
              <a:rPr lang="en-US" altLang="zh-CN" sz="2800" dirty="0"/>
              <a:t>)</a:t>
            </a:r>
            <a:r>
              <a:rPr lang="zh-CN" altLang="en-US" sz="2800" dirty="0"/>
              <a:t>，然后</a:t>
            </a:r>
            <a:r>
              <a:rPr lang="en-US" altLang="zh-CN" sz="2800" dirty="0"/>
              <a:t>#S=f(a1)^…^f(an)</a:t>
            </a:r>
            <a:r>
              <a:rPr lang="zh-CN" altLang="en-US" sz="2800" dirty="0"/>
              <a:t>，若</a:t>
            </a:r>
            <a:r>
              <a:rPr lang="en-US" altLang="zh-CN" sz="2800" dirty="0"/>
              <a:t>#S=0</a:t>
            </a:r>
            <a:r>
              <a:rPr lang="zh-CN" altLang="en-US" sz="2800" dirty="0"/>
              <a:t>，先手必败，否子先手必胜。</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二 </a:t>
            </a:r>
            <a:r>
              <a:rPr lang="en-US" altLang="zh-CN" sz="3200" dirty="0"/>
              <a:t>. Sprague-</a:t>
            </a:r>
            <a:r>
              <a:rPr lang="en-US" altLang="zh-CN" sz="3200" dirty="0" err="1"/>
              <a:t>Garundy</a:t>
            </a:r>
            <a:r>
              <a:rPr lang="zh-CN" altLang="en-US" sz="3200" dirty="0"/>
              <a:t>函数（简称</a:t>
            </a:r>
            <a:r>
              <a:rPr lang="en-US" altLang="zh-CN" sz="3200" dirty="0"/>
              <a:t>SG</a:t>
            </a:r>
            <a:r>
              <a:rPr lang="zh-CN" altLang="en-US" sz="3200" dirty="0"/>
              <a:t>函数）</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3323987"/>
          </a:xfrm>
          <a:prstGeom prst="rect">
            <a:avLst/>
          </a:prstGeom>
          <a:noFill/>
        </p:spPr>
        <p:txBody>
          <a:bodyPr wrap="square" rtlCol="0">
            <a:spAutoFit/>
          </a:bodyPr>
          <a:lstStyle/>
          <a:p>
            <a:pPr marL="457200" indent="-457200" algn="l">
              <a:lnSpc>
                <a:spcPct val="150000"/>
              </a:lnSpc>
              <a:buFont typeface="Arial" panose="020B0604020202020204" pitchFamily="34" charset="0"/>
              <a:buChar char="•"/>
            </a:pPr>
            <a:r>
              <a:rPr lang="zh-CN" altLang="en-US" sz="2800" dirty="0"/>
              <a:t>对于前面的游戏来说，都是先通过求出子游戏的</a:t>
            </a:r>
            <a:r>
              <a:rPr lang="en-US" altLang="zh-CN" sz="2800" dirty="0"/>
              <a:t>sg</a:t>
            </a:r>
            <a:r>
              <a:rPr lang="zh-CN" altLang="en-US" sz="2800" dirty="0"/>
              <a:t>值，在通过局面的加和（异或）求出整个游戏的</a:t>
            </a:r>
            <a:r>
              <a:rPr lang="en-US" altLang="zh-CN" sz="2800" dirty="0"/>
              <a:t>sg</a:t>
            </a:r>
            <a:r>
              <a:rPr lang="zh-CN" altLang="en-US" sz="2800" dirty="0"/>
              <a:t>值。当然前面说到整个游戏局面的</a:t>
            </a:r>
            <a:r>
              <a:rPr lang="en-US" altLang="zh-CN" sz="2800" dirty="0"/>
              <a:t>sg</a:t>
            </a:r>
            <a:r>
              <a:rPr lang="zh-CN" altLang="en-US" sz="2800" dirty="0"/>
              <a:t>值也可以通过</a:t>
            </a:r>
            <a:r>
              <a:rPr lang="en-US" altLang="zh-CN" sz="2800" dirty="0" err="1"/>
              <a:t>mex</a:t>
            </a:r>
            <a:r>
              <a:rPr lang="zh-CN" altLang="en-US" sz="2800" dirty="0"/>
              <a:t>运算一步步计算出来。</a:t>
            </a:r>
            <a:endParaRPr lang="en-US" altLang="zh-CN" sz="2800" dirty="0"/>
          </a:p>
          <a:p>
            <a:pPr marL="457200" indent="-457200" algn="l">
              <a:lnSpc>
                <a:spcPct val="150000"/>
              </a:lnSpc>
              <a:buFont typeface="Arial" panose="020B0604020202020204" pitchFamily="34" charset="0"/>
              <a:buChar char="•"/>
            </a:pPr>
            <a:r>
              <a:rPr lang="zh-CN" altLang="en-US" sz="2800" dirty="0"/>
              <a:t>例</a:t>
            </a:r>
            <a:r>
              <a:rPr lang="en-US" altLang="zh-CN" sz="2800" dirty="0"/>
              <a:t>f(3, 1)=</a:t>
            </a:r>
            <a:r>
              <a:rPr lang="en-US" altLang="zh-CN" sz="2800" dirty="0" err="1"/>
              <a:t>mex</a:t>
            </a:r>
            <a:r>
              <a:rPr lang="en-US" altLang="zh-CN" sz="2800" dirty="0"/>
              <a:t>{f(3), f(1), f(1, 1), f(2, 1)} </a:t>
            </a:r>
            <a:r>
              <a:rPr lang="zh-CN" altLang="en-US" sz="2800" dirty="0"/>
              <a:t>。</a:t>
            </a:r>
            <a:endParaRPr lang="en-US" altLang="zh-CN" sz="2800" dirty="0"/>
          </a:p>
          <a:p>
            <a:pPr marL="457200" indent="-457200" algn="l">
              <a:lnSpc>
                <a:spcPct val="150000"/>
              </a:lnSpc>
              <a:buFont typeface="Arial" panose="020B0604020202020204" pitchFamily="34" charset="0"/>
              <a:buChar char="•"/>
            </a:pPr>
            <a:r>
              <a:rPr lang="zh-CN" altLang="en-US" sz="2800" dirty="0"/>
              <a:t>但很显然状态太多，所以要用局面的加和。</a:t>
            </a:r>
            <a:endParaRPr lang="en-US" altLang="zh-CN" sz="2800" dirty="0"/>
          </a:p>
        </p:txBody>
      </p:sp>
      <p:sp>
        <p:nvSpPr>
          <p:cNvPr id="7" name="文本框 6"/>
          <p:cNvSpPr txBox="1"/>
          <p:nvPr/>
        </p:nvSpPr>
        <p:spPr>
          <a:xfrm>
            <a:off x="339077" y="4346663"/>
            <a:ext cx="11233248" cy="1858970"/>
          </a:xfrm>
          <a:prstGeom prst="rect">
            <a:avLst/>
          </a:prstGeom>
          <a:noFill/>
        </p:spPr>
        <p:txBody>
          <a:bodyPr wrap="square" rtlCol="0">
            <a:spAutoFit/>
          </a:bodyPr>
          <a:lstStyle/>
          <a:p>
            <a:pPr marL="457200" indent="-457200">
              <a:lnSpc>
                <a:spcPct val="150000"/>
              </a:lnSpc>
              <a:buFont typeface="Arial" panose="020B0604020202020204" pitchFamily="34" charset="0"/>
              <a:buChar char="•"/>
            </a:pPr>
            <a:r>
              <a:rPr lang="zh-CN" altLang="en-US" sz="2800" dirty="0"/>
              <a:t>现在让我们看一下这种游戏在图上的扩展。</a:t>
            </a:r>
            <a:endParaRPr lang="en-US" altLang="zh-CN" sz="2800" dirty="0"/>
          </a:p>
          <a:p>
            <a:pPr marL="457200" indent="-457200">
              <a:lnSpc>
                <a:spcPct val="150000"/>
              </a:lnSpc>
              <a:buFont typeface="Arial" panose="020B0604020202020204" pitchFamily="34" charset="0"/>
              <a:buChar char="•"/>
            </a:pPr>
            <a:r>
              <a:rPr lang="zh-CN" altLang="en-US" sz="2800" dirty="0"/>
              <a:t>先来看一个简单版本。</a:t>
            </a:r>
            <a:endParaRPr lang="en-US" altLang="zh-CN" sz="2800" dirty="0"/>
          </a:p>
          <a:p>
            <a:pPr marL="457200" indent="-457200" algn="l">
              <a:lnSpc>
                <a:spcPct val="110000"/>
              </a:lnSpc>
              <a:buFont typeface="Arial" panose="020B0604020202020204" pitchFamily="34" charset="0"/>
              <a:buChar char="•"/>
            </a:pP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三 </a:t>
            </a:r>
            <a:r>
              <a:rPr lang="en-US" altLang="zh-CN" sz="3200" dirty="0"/>
              <a:t>. </a:t>
            </a:r>
            <a:r>
              <a:rPr lang="zh-CN" altLang="en-US" sz="3200" dirty="0"/>
              <a:t>有向图问题</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99963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在一个有向无环图中，有一个棋子从某一个点开始一直向它的后继点移动，双方轮流操作，无法操作者输，问是否先手必胜。</a:t>
            </a:r>
            <a:endParaRPr lang="en-US" altLang="zh-CN" sz="2800" dirty="0"/>
          </a:p>
        </p:txBody>
      </p:sp>
      <p:sp>
        <p:nvSpPr>
          <p:cNvPr id="3" name="文本框 2"/>
          <p:cNvSpPr txBox="1"/>
          <p:nvPr/>
        </p:nvSpPr>
        <p:spPr>
          <a:xfrm>
            <a:off x="333772" y="2106050"/>
            <a:ext cx="11233248" cy="1514261"/>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对于出度为</a:t>
            </a:r>
            <a:r>
              <a:rPr lang="en-US" altLang="zh-CN" sz="2800" dirty="0"/>
              <a:t>0</a:t>
            </a:r>
            <a:r>
              <a:rPr lang="zh-CN" altLang="en-US" sz="2800" dirty="0"/>
              <a:t>的点</a:t>
            </a:r>
            <a:r>
              <a:rPr lang="en-US" altLang="zh-CN" sz="2800" dirty="0"/>
              <a:t>x</a:t>
            </a:r>
            <a:r>
              <a:rPr lang="zh-CN" altLang="en-US" sz="2800" dirty="0"/>
              <a:t>，显然</a:t>
            </a:r>
            <a:r>
              <a:rPr lang="en-US" altLang="zh-CN" sz="2800" dirty="0"/>
              <a:t>f(x)=0</a:t>
            </a:r>
            <a:r>
              <a:rPr lang="zh-CN" altLang="en-US" sz="2800" dirty="0"/>
              <a:t>，这是一个必败点。仍然是按照求</a:t>
            </a:r>
            <a:r>
              <a:rPr lang="en-US" altLang="zh-CN" sz="2800" dirty="0"/>
              <a:t>sg</a:t>
            </a:r>
            <a:r>
              <a:rPr lang="zh-CN" altLang="en-US" sz="2800" dirty="0"/>
              <a:t>函数的操作，递归搜索出每个点的后继状态，再用</a:t>
            </a:r>
            <a:r>
              <a:rPr lang="en-US" altLang="zh-CN" sz="2800" dirty="0" err="1"/>
              <a:t>mex</a:t>
            </a:r>
            <a:r>
              <a:rPr lang="zh-CN" altLang="en-US" sz="2800" dirty="0"/>
              <a:t>运算求出</a:t>
            </a:r>
            <a:r>
              <a:rPr lang="en-US" altLang="zh-CN" sz="2800" dirty="0"/>
              <a:t>sg</a:t>
            </a:r>
            <a:r>
              <a:rPr lang="zh-CN" altLang="en-US" sz="2800" dirty="0"/>
              <a:t>值。这样当</a:t>
            </a:r>
            <a:r>
              <a:rPr lang="en-US" altLang="zh-CN" sz="2800" dirty="0"/>
              <a:t>sg</a:t>
            </a:r>
            <a:r>
              <a:rPr lang="zh-CN" altLang="en-US" sz="2800" dirty="0"/>
              <a:t>值</a:t>
            </a:r>
            <a:r>
              <a:rPr lang="en-US" altLang="zh-CN" sz="2800" dirty="0"/>
              <a:t>&gt;0</a:t>
            </a:r>
            <a:r>
              <a:rPr lang="zh-CN" altLang="en-US" sz="2800" dirty="0"/>
              <a:t>时，当前点是一个必胜点。</a:t>
            </a:r>
            <a:endParaRPr lang="zh-CN" altLang="en-US" sz="2800" dirty="0"/>
          </a:p>
        </p:txBody>
      </p:sp>
      <p:sp>
        <p:nvSpPr>
          <p:cNvPr id="8" name="文本框 7"/>
          <p:cNvSpPr txBox="1"/>
          <p:nvPr/>
        </p:nvSpPr>
        <p:spPr>
          <a:xfrm>
            <a:off x="333772" y="3620311"/>
            <a:ext cx="11233248" cy="2936188"/>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那么有</a:t>
            </a:r>
            <a:r>
              <a:rPr lang="en-US" altLang="zh-CN" sz="2800" dirty="0"/>
              <a:t>n</a:t>
            </a:r>
            <a:r>
              <a:rPr lang="zh-CN" altLang="en-US" sz="2800" dirty="0"/>
              <a:t>个拓扑图，并且每个图上都有一个棋子时呢？</a:t>
            </a:r>
            <a:endParaRPr lang="en-US" altLang="zh-CN" sz="2800" dirty="0"/>
          </a:p>
          <a:p>
            <a:pPr marL="457200" indent="-457200" algn="l">
              <a:lnSpc>
                <a:spcPct val="110000"/>
              </a:lnSpc>
              <a:buFont typeface="Arial" panose="020B0604020202020204" pitchFamily="34" charset="0"/>
              <a:buChar char="•"/>
            </a:pPr>
            <a:r>
              <a:rPr lang="zh-CN" altLang="en-US" sz="2800" dirty="0"/>
              <a:t>很显然，求出每个点的</a:t>
            </a:r>
            <a:r>
              <a:rPr lang="en-US" altLang="zh-CN" sz="2800" dirty="0"/>
              <a:t>sg</a:t>
            </a:r>
            <a:r>
              <a:rPr lang="zh-CN" altLang="en-US" sz="2800" dirty="0"/>
              <a:t>值，再异或之后，就是整个局面的</a:t>
            </a:r>
            <a:r>
              <a:rPr lang="en-US" altLang="zh-CN" sz="2800" dirty="0"/>
              <a:t>sg</a:t>
            </a:r>
            <a:r>
              <a:rPr lang="zh-CN" altLang="en-US" sz="2800" dirty="0"/>
              <a:t>值。可以类比成</a:t>
            </a:r>
            <a:r>
              <a:rPr lang="en-US" altLang="zh-CN" sz="2800" dirty="0" err="1"/>
              <a:t>nim</a:t>
            </a:r>
            <a:r>
              <a:rPr lang="zh-CN" altLang="en-US" sz="2800" dirty="0"/>
              <a:t>游戏，其中一点为必胜点，且</a:t>
            </a:r>
            <a:r>
              <a:rPr lang="en-US" altLang="zh-CN" sz="2800" dirty="0"/>
              <a:t>sg</a:t>
            </a:r>
            <a:r>
              <a:rPr lang="zh-CN" altLang="en-US" sz="2800" dirty="0"/>
              <a:t>值为</a:t>
            </a:r>
            <a:r>
              <a:rPr lang="en-US" altLang="zh-CN" sz="2800" dirty="0"/>
              <a:t>k</a:t>
            </a:r>
            <a:r>
              <a:rPr lang="zh-CN" altLang="en-US" sz="2800" dirty="0"/>
              <a:t>，移动时可能会移动到</a:t>
            </a:r>
            <a:r>
              <a:rPr lang="en-US" altLang="zh-CN" sz="2800" dirty="0"/>
              <a:t>sg</a:t>
            </a:r>
            <a:r>
              <a:rPr lang="zh-CN" altLang="en-US" sz="2800" dirty="0"/>
              <a:t>值为</a:t>
            </a:r>
            <a:r>
              <a:rPr lang="en-US" altLang="zh-CN" sz="2800" dirty="0"/>
              <a:t>0</a:t>
            </a:r>
            <a:r>
              <a:rPr lang="zh-CN" altLang="en-US" sz="2800" dirty="0"/>
              <a:t>到</a:t>
            </a:r>
            <a:r>
              <a:rPr lang="en-US" altLang="zh-CN" sz="2800" dirty="0"/>
              <a:t>k-1</a:t>
            </a:r>
            <a:r>
              <a:rPr lang="zh-CN" altLang="en-US" sz="2800" dirty="0"/>
              <a:t>的任意一点，相当于取走了一些石子。而必败点移动时，可能会移动到</a:t>
            </a:r>
            <a:r>
              <a:rPr lang="en-US" altLang="zh-CN" sz="2800" dirty="0"/>
              <a:t>sg</a:t>
            </a:r>
            <a:r>
              <a:rPr lang="zh-CN" altLang="en-US" sz="2800" dirty="0"/>
              <a:t>值大于</a:t>
            </a:r>
            <a:r>
              <a:rPr lang="en-US" altLang="zh-CN" sz="2800" dirty="0"/>
              <a:t>k</a:t>
            </a:r>
            <a:r>
              <a:rPr lang="zh-CN" altLang="en-US" sz="2800" dirty="0"/>
              <a:t>的点，但无所谓，因为保证了必胜状态且局面仍然可以按照取石子的规则走。</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三 </a:t>
            </a:r>
            <a:r>
              <a:rPr lang="en-US" altLang="zh-CN" sz="3200" dirty="0"/>
              <a:t>. </a:t>
            </a:r>
            <a:r>
              <a:rPr lang="zh-CN" altLang="en-US" sz="3200" dirty="0"/>
              <a:t>有向图问题</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99963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但本质其实还是，保证了</a:t>
            </a:r>
            <a:r>
              <a:rPr lang="en-US" altLang="zh-CN" sz="2800" dirty="0"/>
              <a:t>position</a:t>
            </a:r>
            <a:r>
              <a:rPr lang="zh-CN" altLang="en-US" sz="2800" dirty="0"/>
              <a:t>的正确性，那么必胜和必败状态可以互相转移，局面就可以加和。</a:t>
            </a:r>
            <a:endParaRPr lang="en-US" altLang="zh-CN" sz="2800" dirty="0"/>
          </a:p>
        </p:txBody>
      </p:sp>
      <p:sp>
        <p:nvSpPr>
          <p:cNvPr id="5" name="文本框 4"/>
          <p:cNvSpPr txBox="1"/>
          <p:nvPr/>
        </p:nvSpPr>
        <p:spPr>
          <a:xfrm>
            <a:off x="333772" y="2116970"/>
            <a:ext cx="11233248" cy="3369512"/>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从整体看，每个游戏的状态都对应着拓扑图中的一个点。最初游戏从一个点开始，直到移动到某一个终止结点，游戏结束。</a:t>
            </a:r>
            <a:endParaRPr lang="en-US" altLang="zh-CN" sz="2800" dirty="0"/>
          </a:p>
          <a:p>
            <a:pPr marL="457200" indent="-457200" algn="l">
              <a:lnSpc>
                <a:spcPct val="110000"/>
              </a:lnSpc>
              <a:buFont typeface="Arial" panose="020B0604020202020204" pitchFamily="34" charset="0"/>
              <a:buChar char="•"/>
            </a:pPr>
            <a:r>
              <a:rPr lang="zh-CN" altLang="en-US" sz="2800" dirty="0"/>
              <a:t>其实所有的包含以下性质的游戏都可以看作一个有向图游戏。</a:t>
            </a:r>
            <a:endParaRPr lang="en-US" altLang="zh-CN" sz="2800" dirty="0"/>
          </a:p>
          <a:p>
            <a:pPr marL="914400" lvl="1" indent="-457200">
              <a:lnSpc>
                <a:spcPct val="110000"/>
              </a:lnSpc>
              <a:buFont typeface="Arial" panose="020B0604020202020204" pitchFamily="34" charset="0"/>
              <a:buChar char="•"/>
            </a:pPr>
            <a:r>
              <a:rPr lang="zh-CN" altLang="en-US" sz="2800" dirty="0"/>
              <a:t>双方轮流操作。</a:t>
            </a:r>
            <a:endParaRPr lang="en-US" altLang="zh-CN" sz="2800" dirty="0"/>
          </a:p>
          <a:p>
            <a:pPr marL="914400" lvl="1" indent="-457200">
              <a:lnSpc>
                <a:spcPct val="110000"/>
              </a:lnSpc>
              <a:buFont typeface="Arial" panose="020B0604020202020204" pitchFamily="34" charset="0"/>
              <a:buChar char="•"/>
            </a:pPr>
            <a:r>
              <a:rPr lang="zh-CN" altLang="en-US" sz="2800" dirty="0"/>
              <a:t>可以进行的操作至于当前局面有关</a:t>
            </a:r>
            <a:endParaRPr lang="en-US" altLang="zh-CN" sz="2800" dirty="0"/>
          </a:p>
          <a:p>
            <a:pPr marL="914400" lvl="1" indent="-457200">
              <a:lnSpc>
                <a:spcPct val="110000"/>
              </a:lnSpc>
              <a:buFont typeface="Arial" panose="020B0604020202020204" pitchFamily="34" charset="0"/>
              <a:buChar char="•"/>
            </a:pPr>
            <a:r>
              <a:rPr lang="zh-CN" altLang="en-US" sz="2800" dirty="0"/>
              <a:t>游戏不会陷入循环</a:t>
            </a:r>
            <a:endParaRPr lang="en-US" altLang="zh-CN" sz="2800" dirty="0"/>
          </a:p>
          <a:p>
            <a:pPr marL="457200" indent="-457200">
              <a:lnSpc>
                <a:spcPct val="110000"/>
              </a:lnSpc>
              <a:buFont typeface="Arial" panose="020B0604020202020204" pitchFamily="34" charset="0"/>
              <a:buChar char="•"/>
            </a:pPr>
            <a:r>
              <a:rPr lang="zh-CN" altLang="en-US" sz="2800" dirty="0"/>
              <a:t>当面对这样的游戏时，就可以把它类比为</a:t>
            </a:r>
            <a:r>
              <a:rPr lang="en-US" altLang="zh-CN" sz="2800" dirty="0" err="1"/>
              <a:t>Nim</a:t>
            </a:r>
            <a:r>
              <a:rPr lang="zh-CN" altLang="en-US" sz="2800" dirty="0"/>
              <a:t>游戏，进行取石子操作。</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四 </a:t>
            </a:r>
            <a:r>
              <a:rPr lang="en-US" altLang="zh-CN" sz="3200" dirty="0"/>
              <a:t>. Anti-SG</a:t>
            </a:r>
            <a:r>
              <a:rPr lang="zh-CN" altLang="en-US" sz="3200" dirty="0"/>
              <a:t>游戏和</a:t>
            </a:r>
            <a:r>
              <a:rPr lang="en-US" altLang="zh-CN" sz="3200" dirty="0"/>
              <a:t>SJ</a:t>
            </a:r>
            <a:r>
              <a:rPr lang="zh-CN" altLang="en-US" sz="3200" dirty="0"/>
              <a:t>定理</a:t>
            </a:r>
            <a:r>
              <a:rPr lang="en-US" altLang="zh-CN" sz="3200" dirty="0"/>
              <a:t> </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1003416"/>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en-US" altLang="zh-CN" sz="2800" dirty="0"/>
              <a:t>Anti-SG</a:t>
            </a:r>
            <a:r>
              <a:rPr lang="zh-CN" altLang="en-US" sz="2800" dirty="0"/>
              <a:t>游戏中最后不能操作者赢，其余不变。</a:t>
            </a:r>
            <a:endParaRPr lang="en-US" altLang="zh-CN" sz="2800" dirty="0"/>
          </a:p>
          <a:p>
            <a:pPr marL="457200" indent="-457200" algn="l">
              <a:lnSpc>
                <a:spcPct val="110000"/>
              </a:lnSpc>
              <a:buFont typeface="Arial" panose="020B0604020202020204" pitchFamily="34" charset="0"/>
              <a:buChar char="•"/>
            </a:pPr>
            <a:r>
              <a:rPr lang="zh-CN" altLang="en-US" sz="2800" dirty="0"/>
              <a:t>以</a:t>
            </a:r>
            <a:r>
              <a:rPr lang="en-US" altLang="zh-CN" sz="2800" dirty="0" err="1"/>
              <a:t>Nim</a:t>
            </a:r>
            <a:r>
              <a:rPr lang="zh-CN" altLang="en-US" sz="2800" dirty="0"/>
              <a:t>游戏为例，取完最后石子的输掉比赛。问是否先手必胜？</a:t>
            </a:r>
            <a:endParaRPr lang="zh-CN" altLang="en-US" sz="2800" dirty="0"/>
          </a:p>
        </p:txBody>
      </p:sp>
      <p:sp>
        <p:nvSpPr>
          <p:cNvPr id="6" name="文本框 5"/>
          <p:cNvSpPr txBox="1"/>
          <p:nvPr/>
        </p:nvSpPr>
        <p:spPr>
          <a:xfrm>
            <a:off x="332170" y="2165551"/>
            <a:ext cx="11234850"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仍从单堆石子入手，此时</a:t>
            </a:r>
            <a:r>
              <a:rPr lang="en-US" altLang="zh-CN" sz="2800" dirty="0"/>
              <a:t>f(0)=1, f(1)=0, </a:t>
            </a:r>
            <a:r>
              <a:rPr lang="zh-CN" altLang="en-US" sz="2800" dirty="0"/>
              <a:t>依次类推，便能求出一堆石子的</a:t>
            </a:r>
            <a:r>
              <a:rPr lang="en-US" altLang="zh-CN" sz="2800" dirty="0"/>
              <a:t>sg</a:t>
            </a:r>
            <a:r>
              <a:rPr lang="zh-CN" altLang="en-US" sz="2800" dirty="0"/>
              <a:t>值。但此时不能靠异或和求整个游戏的</a:t>
            </a:r>
            <a:r>
              <a:rPr lang="en-US" altLang="zh-CN" sz="2800" dirty="0"/>
              <a:t>sg</a:t>
            </a:r>
            <a:r>
              <a:rPr lang="zh-CN" altLang="en-US" sz="2800" dirty="0"/>
              <a:t>值。</a:t>
            </a:r>
            <a:r>
              <a:rPr lang="en-US" altLang="zh-CN" sz="2800" dirty="0"/>
              <a:t>                            </a:t>
            </a:r>
            <a:r>
              <a:rPr lang="zh-CN" altLang="en-US" sz="2800" dirty="0"/>
              <a:t>例</a:t>
            </a:r>
            <a:r>
              <a:rPr lang="en-US" altLang="zh-CN" sz="2800" dirty="0"/>
              <a:t>(1, 1)</a:t>
            </a:r>
            <a:r>
              <a:rPr lang="zh-CN" altLang="en-US" sz="2800" dirty="0"/>
              <a:t>为先手必胜，而</a:t>
            </a:r>
            <a:r>
              <a:rPr lang="en-US" altLang="zh-CN" sz="2800" dirty="0"/>
              <a:t>f(1)^f(1)=0</a:t>
            </a:r>
            <a:r>
              <a:rPr lang="zh-CN" altLang="en-US" sz="2800" dirty="0"/>
              <a:t>不符合。</a:t>
            </a:r>
            <a:endParaRPr lang="en-US" altLang="zh-CN" sz="2800" dirty="0"/>
          </a:p>
          <a:p>
            <a:pPr marL="457200" indent="-457200" algn="l">
              <a:lnSpc>
                <a:spcPct val="110000"/>
              </a:lnSpc>
              <a:buFont typeface="Arial" panose="020B0604020202020204" pitchFamily="34" charset="0"/>
              <a:buChar char="•"/>
            </a:pPr>
            <a:r>
              <a:rPr lang="zh-CN" altLang="en-US" sz="2800" dirty="0"/>
              <a:t>于是联想到通过</a:t>
            </a:r>
            <a:r>
              <a:rPr lang="en-US" altLang="zh-CN" sz="2800" dirty="0" err="1"/>
              <a:t>mex</a:t>
            </a:r>
            <a:r>
              <a:rPr lang="zh-CN" altLang="en-US" sz="2800" dirty="0"/>
              <a:t>运算递归搜索，但状态太多，舍弃这种方法。</a:t>
            </a:r>
            <a:endParaRPr lang="en-US" altLang="zh-CN" sz="2800" dirty="0"/>
          </a:p>
        </p:txBody>
      </p:sp>
      <p:sp>
        <p:nvSpPr>
          <p:cNvPr id="7" name="文本框 6"/>
          <p:cNvSpPr txBox="1"/>
          <p:nvPr/>
        </p:nvSpPr>
        <p:spPr>
          <a:xfrm>
            <a:off x="332170" y="4151933"/>
            <a:ext cx="11234850"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直接说结论：</a:t>
            </a:r>
            <a:r>
              <a:rPr lang="en-US" altLang="zh-CN" sz="2800" dirty="0"/>
              <a:t>SJ</a:t>
            </a:r>
            <a:r>
              <a:rPr lang="zh-CN" altLang="en-US" sz="2800" dirty="0"/>
              <a:t>定理</a:t>
            </a:r>
            <a:endParaRPr lang="en-US" altLang="zh-CN" sz="2800" dirty="0"/>
          </a:p>
          <a:p>
            <a:pPr marL="914400" lvl="1" indent="-457200">
              <a:lnSpc>
                <a:spcPct val="110000"/>
              </a:lnSpc>
              <a:buFont typeface="Arial" panose="020B0604020202020204" pitchFamily="34" charset="0"/>
              <a:buChar char="•"/>
            </a:pPr>
            <a:r>
              <a:rPr lang="zh-CN" altLang="en-US" sz="2800" dirty="0"/>
              <a:t>当所有的石子数量都为</a:t>
            </a:r>
            <a:r>
              <a:rPr lang="en-US" altLang="zh-CN" sz="2800" dirty="0"/>
              <a:t>1</a:t>
            </a:r>
            <a:r>
              <a:rPr lang="zh-CN" altLang="en-US" sz="2800" dirty="0"/>
              <a:t>时，奇数堆先手必败，偶数对先手必胜。</a:t>
            </a:r>
            <a:endParaRPr lang="en-US" altLang="zh-CN" sz="2800" dirty="0"/>
          </a:p>
          <a:p>
            <a:pPr marL="914400" lvl="1" indent="-457200">
              <a:lnSpc>
                <a:spcPct val="110000"/>
              </a:lnSpc>
              <a:buFont typeface="Arial" panose="020B0604020202020204" pitchFamily="34" charset="0"/>
              <a:buChar char="•"/>
            </a:pPr>
            <a:r>
              <a:rPr lang="zh-CN" altLang="en-US" sz="2800" dirty="0"/>
              <a:t>当至少有一堆石子数量大于</a:t>
            </a:r>
            <a:r>
              <a:rPr lang="en-US" altLang="zh-CN" sz="2800" dirty="0"/>
              <a:t>1</a:t>
            </a:r>
            <a:r>
              <a:rPr lang="zh-CN" altLang="en-US" sz="2800" dirty="0"/>
              <a:t>时，每堆数量异或和大于</a:t>
            </a:r>
            <a:r>
              <a:rPr lang="en-US" altLang="zh-CN" sz="2800" dirty="0"/>
              <a:t>0</a:t>
            </a:r>
            <a:r>
              <a:rPr lang="zh-CN" altLang="en-US" sz="2800" dirty="0"/>
              <a:t>先手必胜，否则先手必败。</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四 </a:t>
            </a:r>
            <a:r>
              <a:rPr lang="en-US" altLang="zh-CN" sz="3200" dirty="0"/>
              <a:t>. Anti-SG</a:t>
            </a:r>
            <a:r>
              <a:rPr lang="zh-CN" altLang="en-US" sz="3200" dirty="0"/>
              <a:t>游戏和</a:t>
            </a:r>
            <a:r>
              <a:rPr lang="en-US" altLang="zh-CN" sz="3200" dirty="0"/>
              <a:t>SJ</a:t>
            </a:r>
            <a:r>
              <a:rPr lang="zh-CN" altLang="en-US" sz="3200" dirty="0"/>
              <a:t>定理</a:t>
            </a:r>
            <a:r>
              <a:rPr lang="en-US" altLang="zh-CN" sz="3200" dirty="0"/>
              <a:t> </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479522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证明：</a:t>
            </a:r>
            <a:endParaRPr lang="en-US" altLang="zh-CN" sz="2800" dirty="0"/>
          </a:p>
          <a:p>
            <a:pPr marL="914400" lvl="1" indent="-457200">
              <a:lnSpc>
                <a:spcPct val="110000"/>
              </a:lnSpc>
              <a:buFont typeface="Arial" panose="020B0604020202020204" pitchFamily="34" charset="0"/>
              <a:buChar char="•"/>
            </a:pPr>
            <a:r>
              <a:rPr lang="zh-CN" altLang="en-US" sz="2800" dirty="0"/>
              <a:t>当石子数量只有</a:t>
            </a:r>
            <a:r>
              <a:rPr lang="en-US" altLang="zh-CN" sz="2800" dirty="0"/>
              <a:t>1</a:t>
            </a:r>
            <a:r>
              <a:rPr lang="zh-CN" altLang="en-US" sz="2800" dirty="0"/>
              <a:t>时，显然，若为奇数，一定是先手取到最后一个石子，先手必败。若为偶数，先手必胜。</a:t>
            </a:r>
            <a:endParaRPr lang="en-US" altLang="zh-CN" sz="2800" dirty="0"/>
          </a:p>
          <a:p>
            <a:pPr marL="914400" lvl="1" indent="-457200">
              <a:lnSpc>
                <a:spcPct val="110000"/>
              </a:lnSpc>
              <a:buFont typeface="Arial" panose="020B0604020202020204" pitchFamily="34" charset="0"/>
              <a:buChar char="•"/>
            </a:pPr>
            <a:r>
              <a:rPr lang="zh-CN" altLang="en-US" sz="2800" dirty="0"/>
              <a:t>当石子至少有一堆数量大于</a:t>
            </a:r>
            <a:r>
              <a:rPr lang="en-US" altLang="zh-CN" sz="2800" dirty="0"/>
              <a:t>1</a:t>
            </a:r>
            <a:r>
              <a:rPr lang="zh-CN" altLang="en-US" sz="2800" dirty="0"/>
              <a:t>时。</a:t>
            </a:r>
            <a:r>
              <a:rPr lang="en-US" altLang="zh-CN" sz="2800" dirty="0"/>
              <a:t>						    </a:t>
            </a:r>
            <a:r>
              <a:rPr lang="zh-CN" altLang="en-US" sz="2800" dirty="0"/>
              <a:t>若异或和不为</a:t>
            </a:r>
            <a:r>
              <a:rPr lang="en-US" altLang="zh-CN" sz="2800" dirty="0"/>
              <a:t>0</a:t>
            </a:r>
            <a:r>
              <a:rPr lang="zh-CN" altLang="en-US" sz="2800" dirty="0"/>
              <a:t>，先手可以按</a:t>
            </a:r>
            <a:r>
              <a:rPr lang="en-US" altLang="zh-CN" sz="2800" dirty="0" err="1"/>
              <a:t>Nim</a:t>
            </a:r>
            <a:r>
              <a:rPr lang="zh-CN" altLang="en-US" sz="2800" dirty="0"/>
              <a:t>游戏的走法，直到到达只剩一堆石子数量大于</a:t>
            </a:r>
            <a:r>
              <a:rPr lang="en-US" altLang="zh-CN" sz="2800" dirty="0"/>
              <a:t>1</a:t>
            </a:r>
            <a:r>
              <a:rPr lang="zh-CN" altLang="en-US" sz="2800" dirty="0"/>
              <a:t>的状态（这种状态只有先手能到达，因为此时异或和一定不为</a:t>
            </a:r>
            <a:r>
              <a:rPr lang="en-US" altLang="zh-CN" sz="2800" dirty="0"/>
              <a:t>0</a:t>
            </a:r>
            <a:r>
              <a:rPr lang="zh-CN" altLang="en-US" sz="2800" dirty="0"/>
              <a:t>，而之后先手能到达异或和不为</a:t>
            </a:r>
            <a:r>
              <a:rPr lang="en-US" altLang="zh-CN" sz="2800" dirty="0"/>
              <a:t>0</a:t>
            </a:r>
            <a:r>
              <a:rPr lang="zh-CN" altLang="en-US" sz="2800" dirty="0"/>
              <a:t>的状态），先手便可以根据剩余只有一个石子的堆数来确定这堆是取完还是剩一个石子，使剩余堆数为奇数。例：若局面为（</a:t>
            </a:r>
            <a:r>
              <a:rPr lang="en-US" altLang="zh-CN" sz="2800" dirty="0"/>
              <a:t>3</a:t>
            </a:r>
            <a:r>
              <a:rPr lang="zh-CN" altLang="en-US" sz="2800" dirty="0"/>
              <a:t>，</a:t>
            </a:r>
            <a:r>
              <a:rPr lang="en-US" altLang="zh-CN" sz="2800" dirty="0"/>
              <a:t>1</a:t>
            </a:r>
            <a:r>
              <a:rPr lang="zh-CN" altLang="en-US" sz="2800" dirty="0"/>
              <a:t>，</a:t>
            </a:r>
            <a:r>
              <a:rPr lang="en-US" altLang="zh-CN" sz="2800" dirty="0"/>
              <a:t>1</a:t>
            </a:r>
            <a:r>
              <a:rPr lang="zh-CN" altLang="en-US" sz="2800" dirty="0"/>
              <a:t>）那么取完后变为（</a:t>
            </a:r>
            <a:r>
              <a:rPr lang="en-US" altLang="zh-CN" sz="2800" dirty="0"/>
              <a:t>1</a:t>
            </a:r>
            <a:r>
              <a:rPr lang="zh-CN" altLang="en-US" sz="2800" dirty="0"/>
              <a:t>，</a:t>
            </a:r>
            <a:r>
              <a:rPr lang="en-US" altLang="zh-CN" sz="2800" dirty="0"/>
              <a:t>1</a:t>
            </a:r>
            <a:r>
              <a:rPr lang="zh-CN" altLang="en-US" sz="2800" dirty="0"/>
              <a:t>，</a:t>
            </a:r>
            <a:r>
              <a:rPr lang="en-US" altLang="zh-CN" sz="2800" dirty="0"/>
              <a:t>1</a:t>
            </a:r>
            <a:r>
              <a:rPr lang="zh-CN" altLang="en-US" sz="2800" dirty="0"/>
              <a:t>），剩余奇数堆，使后手必败，先手必胜。</a:t>
            </a: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四 </a:t>
            </a:r>
            <a:r>
              <a:rPr lang="en-US" altLang="zh-CN" sz="3200" dirty="0"/>
              <a:t>. Anti-SG</a:t>
            </a:r>
            <a:r>
              <a:rPr lang="zh-CN" altLang="en-US" sz="3200" dirty="0"/>
              <a:t>游戏和</a:t>
            </a:r>
            <a:r>
              <a:rPr lang="en-US" altLang="zh-CN" sz="3200" dirty="0"/>
              <a:t>SJ</a:t>
            </a:r>
            <a:r>
              <a:rPr lang="zh-CN" altLang="en-US" sz="3200" dirty="0"/>
              <a:t>定理</a:t>
            </a:r>
            <a:r>
              <a:rPr lang="en-US" altLang="zh-CN" sz="3200" dirty="0"/>
              <a:t> </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246221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证明：</a:t>
            </a:r>
            <a:endParaRPr lang="en-US" altLang="zh-CN" sz="2800" dirty="0"/>
          </a:p>
          <a:p>
            <a:pPr marL="914400" lvl="1" indent="-457200">
              <a:lnSpc>
                <a:spcPct val="110000"/>
              </a:lnSpc>
              <a:buFont typeface="Arial" panose="020B0604020202020204" pitchFamily="34" charset="0"/>
              <a:buChar char="•"/>
            </a:pPr>
            <a:r>
              <a:rPr lang="zh-CN" altLang="en-US" sz="2800" dirty="0"/>
              <a:t>若异或和为</a:t>
            </a:r>
            <a:r>
              <a:rPr lang="en-US" altLang="zh-CN" sz="2800" dirty="0"/>
              <a:t>0</a:t>
            </a:r>
            <a:r>
              <a:rPr lang="zh-CN" altLang="en-US" sz="2800" dirty="0"/>
              <a:t>，证明同上，最后到达只剩一堆石子数量大于</a:t>
            </a:r>
            <a:r>
              <a:rPr lang="en-US" altLang="zh-CN" sz="2800" dirty="0"/>
              <a:t>0</a:t>
            </a:r>
            <a:r>
              <a:rPr lang="zh-CN" altLang="en-US" sz="2800" dirty="0"/>
              <a:t>的状态一定是后手，后手便可以通过控制最后一个石子的堆数，是自己赢得游戏。</a:t>
            </a:r>
            <a:endParaRPr lang="en-US" altLang="zh-CN" sz="2800" dirty="0"/>
          </a:p>
          <a:p>
            <a:pPr marL="914400" lvl="1" indent="-457200">
              <a:lnSpc>
                <a:spcPct val="110000"/>
              </a:lnSpc>
              <a:buFont typeface="Arial" panose="020B0604020202020204" pitchFamily="34" charset="0"/>
              <a:buChar char="•"/>
            </a:pPr>
            <a:r>
              <a:rPr lang="zh-CN" altLang="en-US" sz="2800" dirty="0"/>
              <a:t>证毕。</a:t>
            </a:r>
            <a:endParaRPr lang="en-US" altLang="zh-CN" sz="2800" dirty="0"/>
          </a:p>
        </p:txBody>
      </p:sp>
      <p:sp>
        <p:nvSpPr>
          <p:cNvPr id="2" name="文本框 1"/>
          <p:cNvSpPr txBox="1"/>
          <p:nvPr/>
        </p:nvSpPr>
        <p:spPr>
          <a:xfrm>
            <a:off x="333772" y="3501008"/>
            <a:ext cx="10945216" cy="1514261"/>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拓展到其它的游戏上，可以先设定最终无法操作者输掉游戏，求出原本游戏的</a:t>
            </a:r>
            <a:r>
              <a:rPr lang="en-US" altLang="zh-CN" sz="2800" dirty="0"/>
              <a:t>sg</a:t>
            </a:r>
            <a:r>
              <a:rPr lang="zh-CN" altLang="en-US" sz="2800" dirty="0"/>
              <a:t>函数之后。再利用</a:t>
            </a:r>
            <a:r>
              <a:rPr lang="en-US" altLang="zh-CN" sz="2800" dirty="0"/>
              <a:t>SJ</a:t>
            </a:r>
            <a:r>
              <a:rPr lang="zh-CN" altLang="en-US" sz="2800" dirty="0"/>
              <a:t>定理判断胜负。</a:t>
            </a:r>
            <a:endParaRPr lang="en-US" altLang="zh-CN" sz="2800" dirty="0"/>
          </a:p>
          <a:p>
            <a:pPr marL="457200" indent="-457200" algn="l">
              <a:lnSpc>
                <a:spcPct val="110000"/>
              </a:lnSpc>
              <a:buFont typeface="Arial" panose="020B0604020202020204" pitchFamily="34" charset="0"/>
              <a:buChar char="•"/>
            </a:pPr>
            <a:r>
              <a:rPr lang="zh-CN" altLang="en-US" sz="2800" dirty="0"/>
              <a:t>转换到有向图及其它游戏的组合都是可行的。</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五 </a:t>
            </a:r>
            <a:r>
              <a:rPr lang="en-US" altLang="zh-CN" sz="3200" dirty="0"/>
              <a:t>. Multi-SG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这种游戏允许取走某些东西，使原来的一个游戏分成若干个相同的游戏。</a:t>
            </a:r>
            <a:endParaRPr lang="en-US" altLang="zh-CN" sz="2800" dirty="0"/>
          </a:p>
          <a:p>
            <a:pPr marL="457200" indent="-457200" algn="l">
              <a:lnSpc>
                <a:spcPct val="110000"/>
              </a:lnSpc>
              <a:buFont typeface="Arial" panose="020B0604020202020204" pitchFamily="34" charset="0"/>
              <a:buChar char="•"/>
            </a:pPr>
            <a:r>
              <a:rPr lang="zh-CN" altLang="en-US" sz="2800" dirty="0"/>
              <a:t>题目描述：有</a:t>
            </a:r>
            <a:r>
              <a:rPr lang="en-US" altLang="zh-CN" sz="2800" dirty="0"/>
              <a:t>n</a:t>
            </a:r>
            <a:r>
              <a:rPr lang="zh-CN" altLang="en-US" sz="2800" dirty="0"/>
              <a:t>排石子，每次要从其中的一排中取出相邻的两个石子。无法操作者输。</a:t>
            </a:r>
            <a:endParaRPr lang="en-US" altLang="zh-CN" sz="2800" dirty="0"/>
          </a:p>
        </p:txBody>
      </p:sp>
      <p:sp>
        <p:nvSpPr>
          <p:cNvPr id="7" name="椭圆 6"/>
          <p:cNvSpPr/>
          <p:nvPr/>
        </p:nvSpPr>
        <p:spPr>
          <a:xfrm>
            <a:off x="2062827" y="338494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椭圆 7"/>
          <p:cNvSpPr/>
          <p:nvPr/>
        </p:nvSpPr>
        <p:spPr>
          <a:xfrm>
            <a:off x="2617187" y="338494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椭圆 8"/>
          <p:cNvSpPr/>
          <p:nvPr/>
        </p:nvSpPr>
        <p:spPr>
          <a:xfrm>
            <a:off x="3166989" y="3389280"/>
            <a:ext cx="360040" cy="360040"/>
          </a:xfrm>
          <a:prstGeom prst="ellipse">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椭圆 9"/>
          <p:cNvSpPr/>
          <p:nvPr/>
        </p:nvSpPr>
        <p:spPr>
          <a:xfrm>
            <a:off x="3718148" y="3392486"/>
            <a:ext cx="360040" cy="360040"/>
          </a:xfrm>
          <a:prstGeom prst="ellipse">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椭圆 10"/>
          <p:cNvSpPr/>
          <p:nvPr/>
        </p:nvSpPr>
        <p:spPr>
          <a:xfrm>
            <a:off x="4268813" y="339248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2" name="椭圆 11"/>
          <p:cNvSpPr/>
          <p:nvPr/>
        </p:nvSpPr>
        <p:spPr>
          <a:xfrm>
            <a:off x="4819109" y="338494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3" name="椭圆 12"/>
          <p:cNvSpPr/>
          <p:nvPr/>
        </p:nvSpPr>
        <p:spPr>
          <a:xfrm>
            <a:off x="5368911" y="338494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5" name="文本框 14"/>
          <p:cNvSpPr txBox="1"/>
          <p:nvPr/>
        </p:nvSpPr>
        <p:spPr>
          <a:xfrm>
            <a:off x="315154" y="3295080"/>
            <a:ext cx="6552728" cy="1514261"/>
          </a:xfrm>
          <a:prstGeom prst="rect">
            <a:avLst/>
          </a:prstGeom>
          <a:noFill/>
        </p:spPr>
        <p:txBody>
          <a:bodyPr wrap="square" rtlCol="0">
            <a:spAutoFit/>
          </a:bodyPr>
          <a:lstStyle/>
          <a:p>
            <a:pPr algn="l">
              <a:lnSpc>
                <a:spcPct val="110000"/>
              </a:lnSpc>
            </a:pPr>
            <a:r>
              <a:rPr lang="en-US" altLang="zh-CN" sz="2800" dirty="0"/>
              <a:t>      a1=7</a:t>
            </a:r>
            <a:endParaRPr lang="en-US" altLang="zh-CN" sz="2800" dirty="0"/>
          </a:p>
          <a:p>
            <a:pPr algn="l">
              <a:lnSpc>
                <a:spcPct val="110000"/>
              </a:lnSpc>
            </a:pPr>
            <a:r>
              <a:rPr lang="en-US" altLang="zh-CN" sz="2800" dirty="0"/>
              <a:t>      a2=4</a:t>
            </a:r>
            <a:endParaRPr lang="en-US" altLang="zh-CN" sz="2800" dirty="0"/>
          </a:p>
          <a:p>
            <a:pPr algn="l">
              <a:lnSpc>
                <a:spcPct val="110000"/>
              </a:lnSpc>
            </a:pPr>
            <a:r>
              <a:rPr lang="en-US" altLang="zh-CN" sz="2800" dirty="0"/>
              <a:t>      a3=3</a:t>
            </a:r>
            <a:endParaRPr lang="zh-CN" altLang="en-US" sz="2800" dirty="0"/>
          </a:p>
        </p:txBody>
      </p:sp>
      <p:sp>
        <p:nvSpPr>
          <p:cNvPr id="16" name="椭圆 15"/>
          <p:cNvSpPr/>
          <p:nvPr/>
        </p:nvSpPr>
        <p:spPr>
          <a:xfrm>
            <a:off x="2062827" y="3844948"/>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7" name="椭圆 16"/>
          <p:cNvSpPr/>
          <p:nvPr/>
        </p:nvSpPr>
        <p:spPr>
          <a:xfrm>
            <a:off x="2617187" y="3844948"/>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椭圆 17"/>
          <p:cNvSpPr/>
          <p:nvPr/>
        </p:nvSpPr>
        <p:spPr>
          <a:xfrm>
            <a:off x="3166989" y="3849282"/>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9" name="椭圆 18"/>
          <p:cNvSpPr/>
          <p:nvPr/>
        </p:nvSpPr>
        <p:spPr>
          <a:xfrm>
            <a:off x="3718148" y="3852488"/>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椭圆 23"/>
          <p:cNvSpPr/>
          <p:nvPr/>
        </p:nvSpPr>
        <p:spPr>
          <a:xfrm>
            <a:off x="2057536" y="4316159"/>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5" name="椭圆 24"/>
          <p:cNvSpPr/>
          <p:nvPr/>
        </p:nvSpPr>
        <p:spPr>
          <a:xfrm>
            <a:off x="2607832" y="4308619"/>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6" name="椭圆 25"/>
          <p:cNvSpPr/>
          <p:nvPr/>
        </p:nvSpPr>
        <p:spPr>
          <a:xfrm>
            <a:off x="3157634" y="4308619"/>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椭圆 26"/>
          <p:cNvSpPr/>
          <p:nvPr/>
        </p:nvSpPr>
        <p:spPr>
          <a:xfrm>
            <a:off x="7073061" y="3392433"/>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8" name="椭圆 27"/>
          <p:cNvSpPr/>
          <p:nvPr/>
        </p:nvSpPr>
        <p:spPr>
          <a:xfrm>
            <a:off x="7627421" y="3392433"/>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1" name="椭圆 30"/>
          <p:cNvSpPr/>
          <p:nvPr/>
        </p:nvSpPr>
        <p:spPr>
          <a:xfrm>
            <a:off x="9279047" y="3399973"/>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2" name="椭圆 31"/>
          <p:cNvSpPr/>
          <p:nvPr/>
        </p:nvSpPr>
        <p:spPr>
          <a:xfrm>
            <a:off x="9829343" y="3392433"/>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3" name="椭圆 32"/>
          <p:cNvSpPr/>
          <p:nvPr/>
        </p:nvSpPr>
        <p:spPr>
          <a:xfrm>
            <a:off x="10379145" y="3392433"/>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4" name="椭圆 33"/>
          <p:cNvSpPr/>
          <p:nvPr/>
        </p:nvSpPr>
        <p:spPr>
          <a:xfrm>
            <a:off x="7073061" y="3852435"/>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5" name="椭圆 34"/>
          <p:cNvSpPr/>
          <p:nvPr/>
        </p:nvSpPr>
        <p:spPr>
          <a:xfrm>
            <a:off x="7627421" y="3852435"/>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6" name="椭圆 35"/>
          <p:cNvSpPr/>
          <p:nvPr/>
        </p:nvSpPr>
        <p:spPr>
          <a:xfrm>
            <a:off x="8177223" y="3856769"/>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7" name="椭圆 36"/>
          <p:cNvSpPr/>
          <p:nvPr/>
        </p:nvSpPr>
        <p:spPr>
          <a:xfrm>
            <a:off x="8728382" y="3859975"/>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8" name="椭圆 37"/>
          <p:cNvSpPr/>
          <p:nvPr/>
        </p:nvSpPr>
        <p:spPr>
          <a:xfrm>
            <a:off x="7067770" y="432364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9" name="椭圆 38"/>
          <p:cNvSpPr/>
          <p:nvPr/>
        </p:nvSpPr>
        <p:spPr>
          <a:xfrm>
            <a:off x="7618066" y="431610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椭圆 39"/>
          <p:cNvSpPr/>
          <p:nvPr/>
        </p:nvSpPr>
        <p:spPr>
          <a:xfrm>
            <a:off x="8167868" y="4316106"/>
            <a:ext cx="360040" cy="360040"/>
          </a:xfrm>
          <a:prstGeom prst="ellipse">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mc:AlternateContent xmlns:mc="http://schemas.openxmlformats.org/markup-compatibility/2006">
        <mc:Choice xmlns:a14="http://schemas.microsoft.com/office/drawing/2010/main" Requires="a14">
          <p:sp>
            <p:nvSpPr>
              <p:cNvPr id="41" name="文本框 40">
                <a:extLst>
                  <a:ext uri="{FF2B5EF4-FFF2-40B4-BE49-F238E27FC236}">
                    <a14:artisticCrisscrossEtching id="{76D9A2AF-800B-4CF9-BDF9-65ECD1BE9802}"/>
                  </a:ext>
                </a:extLst>
              </p:cNvPr>
              <p:cNvSpPr txBox="1"/>
              <p:nvPr/>
            </p:nvSpPr>
            <p:spPr>
              <a:xfrm>
                <a:off x="6095550" y="3618703"/>
                <a:ext cx="567152" cy="812530"/>
              </a:xfrm>
              <a:prstGeom prst="rect">
                <a:avLst/>
              </a:prstGeom>
              <a:noFill/>
            </p:spPr>
            <p:txBody>
              <a:bodyPr wrap="square" lIns="0" tIns="0" rIns="0" bIns="0" rtlCol="0">
                <a:spAutoFit/>
              </a:bodyPr>
              <a:lstStyle/>
              <a:p>
                <a:pPr algn="l">
                  <a:lnSpc>
                    <a:spcPct val="110000"/>
                  </a:lnSpc>
                </a:pPr>
                <a14:m>
                  <m:oMathPara xmlns:m="http://schemas.openxmlformats.org/officeDocument/2006/math">
                    <m:oMathParaPr>
                      <m:jc m:val="centerGroup"/>
                    </m:oMathParaPr>
                    <m:oMath xmlns:m="http://schemas.openxmlformats.org/officeDocument/2006/math">
                      <m:r>
                        <a:rPr lang="zh-CN" altLang="en-US" sz="4800" dirty="0" smtClean="0">
                          <a:latin typeface="Cambria Math" panose="02040503050406030204" pitchFamily="18" charset="0"/>
                        </a:rPr>
                        <m:t>⇒</m:t>
                      </m:r>
                    </m:oMath>
                  </m:oMathPara>
                </a14:m>
                <a:endParaRPr lang="zh-CN" altLang="en-US" sz="4800" dirty="0"/>
              </a:p>
            </p:txBody>
          </p:sp>
        </mc:Choice>
        <mc:Fallback>
          <p:sp>
            <p:nvSpPr>
              <p:cNvPr id="41" name="文本框 40"/>
              <p:cNvSpPr txBox="1">
                <a:spLocks noRot="1" noChangeAspect="1" noMove="1" noResize="1" noEditPoints="1" noAdjustHandles="1" noChangeArrowheads="1" noChangeShapeType="1" noTextEdit="1"/>
              </p:cNvSpPr>
              <p:nvPr/>
            </p:nvSpPr>
            <p:spPr>
              <a:xfrm>
                <a:off x="6095550" y="3618703"/>
                <a:ext cx="567152" cy="812530"/>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sp>
        <p:nvSpPr>
          <p:cNvPr id="42" name="文本框 41"/>
          <p:cNvSpPr txBox="1"/>
          <p:nvPr/>
        </p:nvSpPr>
        <p:spPr>
          <a:xfrm>
            <a:off x="333772" y="4809341"/>
            <a:ext cx="11233248" cy="1003416"/>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局面（</a:t>
            </a:r>
            <a:r>
              <a:rPr lang="en-US" altLang="zh-CN" sz="2800" dirty="0"/>
              <a:t>3</a:t>
            </a:r>
            <a:r>
              <a:rPr lang="zh-CN" altLang="en-US" sz="2800" dirty="0"/>
              <a:t>，</a:t>
            </a:r>
            <a:r>
              <a:rPr lang="en-US" altLang="zh-CN" sz="2800" dirty="0"/>
              <a:t>4</a:t>
            </a:r>
            <a:r>
              <a:rPr lang="zh-CN" altLang="en-US" sz="2800" dirty="0"/>
              <a:t>，</a:t>
            </a:r>
            <a:r>
              <a:rPr lang="en-US" altLang="zh-CN" sz="2800" dirty="0"/>
              <a:t>7</a:t>
            </a:r>
            <a:r>
              <a:rPr lang="zh-CN" altLang="en-US" sz="2800" dirty="0"/>
              <a:t>）取完后变为（</a:t>
            </a:r>
            <a:r>
              <a:rPr lang="en-US" altLang="zh-CN" sz="2800" dirty="0"/>
              <a:t>2</a:t>
            </a:r>
            <a:r>
              <a:rPr lang="zh-CN" altLang="en-US" sz="2800" dirty="0"/>
              <a:t>，</a:t>
            </a:r>
            <a:r>
              <a:rPr lang="en-US" altLang="zh-CN" sz="2800" dirty="0"/>
              <a:t>3</a:t>
            </a:r>
            <a:r>
              <a:rPr lang="zh-CN" altLang="en-US" sz="2800" dirty="0"/>
              <a:t>，</a:t>
            </a:r>
            <a:r>
              <a:rPr lang="en-US" altLang="zh-CN" sz="2800" dirty="0"/>
              <a:t>3</a:t>
            </a:r>
            <a:r>
              <a:rPr lang="zh-CN" altLang="en-US" sz="2800" dirty="0"/>
              <a:t>，</a:t>
            </a:r>
            <a:r>
              <a:rPr lang="en-US" altLang="zh-CN" sz="2800" dirty="0"/>
              <a:t>4</a:t>
            </a:r>
            <a:r>
              <a:rPr lang="zh-CN" altLang="en-US" sz="2800" dirty="0"/>
              <a:t>）</a:t>
            </a:r>
            <a:endParaRPr lang="en-US" altLang="zh-CN" sz="2800" dirty="0"/>
          </a:p>
          <a:p>
            <a:pPr marL="457200" indent="-457200" algn="l">
              <a:lnSpc>
                <a:spcPct val="110000"/>
              </a:lnSpc>
              <a:buFont typeface="Arial" panose="020B0604020202020204" pitchFamily="34" charset="0"/>
              <a:buChar char="•"/>
            </a:pPr>
            <a:r>
              <a:rPr lang="zh-CN" altLang="en-US" sz="2800" dirty="0"/>
              <a:t>这种问题又该怎么办呢？</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五 </a:t>
            </a:r>
            <a:r>
              <a:rPr lang="en-US" altLang="zh-CN" sz="3200" dirty="0"/>
              <a:t>. Multi-SG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4358116"/>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其实与前面的游戏并没有本质上的区别。仍是先对单堆石子求</a:t>
            </a:r>
            <a:r>
              <a:rPr lang="en-US" altLang="zh-CN" sz="2800" dirty="0"/>
              <a:t>sg</a:t>
            </a:r>
            <a:r>
              <a:rPr lang="zh-CN" altLang="en-US" sz="2800" dirty="0"/>
              <a:t>值。</a:t>
            </a:r>
            <a:endParaRPr lang="en-US" altLang="zh-CN" sz="2800" dirty="0"/>
          </a:p>
          <a:p>
            <a:pPr algn="l">
              <a:lnSpc>
                <a:spcPct val="110000"/>
              </a:lnSpc>
            </a:pPr>
            <a:r>
              <a:rPr lang="en-US" altLang="zh-CN" sz="2800" dirty="0"/>
              <a:t>      </a:t>
            </a:r>
            <a:r>
              <a:rPr lang="zh-CN" altLang="en-US" sz="2800" dirty="0"/>
              <a:t>例：</a:t>
            </a:r>
            <a:r>
              <a:rPr lang="en-US" altLang="zh-CN" sz="2800" dirty="0"/>
              <a:t>f(0) = 0,</a:t>
            </a:r>
            <a:endParaRPr lang="en-US" altLang="zh-CN" sz="2800" dirty="0"/>
          </a:p>
          <a:p>
            <a:pPr algn="l">
              <a:lnSpc>
                <a:spcPct val="110000"/>
              </a:lnSpc>
            </a:pPr>
            <a:r>
              <a:rPr lang="en-US" altLang="zh-CN" sz="2800" dirty="0"/>
              <a:t>	   f(1) = 0, </a:t>
            </a:r>
            <a:endParaRPr lang="en-US" altLang="zh-CN" sz="2800" dirty="0"/>
          </a:p>
          <a:p>
            <a:pPr algn="l">
              <a:lnSpc>
                <a:spcPct val="110000"/>
              </a:lnSpc>
            </a:pPr>
            <a:r>
              <a:rPr lang="en-US" altLang="zh-CN" sz="2800" dirty="0"/>
              <a:t>	   f(2) = </a:t>
            </a:r>
            <a:r>
              <a:rPr lang="en-US" altLang="zh-CN" sz="2800" dirty="0" err="1"/>
              <a:t>mex</a:t>
            </a:r>
            <a:r>
              <a:rPr lang="en-US" altLang="zh-CN" sz="2800" dirty="0"/>
              <a:t>{f(0)} = 1,</a:t>
            </a:r>
            <a:endParaRPr lang="en-US" altLang="zh-CN" sz="2800" dirty="0"/>
          </a:p>
          <a:p>
            <a:pPr algn="l">
              <a:lnSpc>
                <a:spcPct val="110000"/>
              </a:lnSpc>
            </a:pPr>
            <a:r>
              <a:rPr lang="en-US" altLang="zh-CN" sz="2800" dirty="0"/>
              <a:t>	   f(3) = </a:t>
            </a:r>
            <a:r>
              <a:rPr lang="en-US" altLang="zh-CN" sz="2800" dirty="0" err="1"/>
              <a:t>mex</a:t>
            </a:r>
            <a:r>
              <a:rPr lang="en-US" altLang="zh-CN" sz="2800" dirty="0"/>
              <a:t>{f(1)} = 1,</a:t>
            </a:r>
            <a:endParaRPr lang="en-US" altLang="zh-CN" sz="2800" dirty="0"/>
          </a:p>
          <a:p>
            <a:pPr algn="l">
              <a:lnSpc>
                <a:spcPct val="110000"/>
              </a:lnSpc>
            </a:pPr>
            <a:r>
              <a:rPr lang="en-US" altLang="zh-CN" sz="2800" dirty="0"/>
              <a:t>	   f(4) = </a:t>
            </a:r>
            <a:r>
              <a:rPr lang="en-US" altLang="zh-CN" sz="2800" dirty="0" err="1"/>
              <a:t>mex</a:t>
            </a:r>
            <a:r>
              <a:rPr lang="en-US" altLang="zh-CN" sz="2800" dirty="0"/>
              <a:t>{f(2), f(1)^f(1)} = 2,</a:t>
            </a:r>
            <a:endParaRPr lang="en-US" altLang="zh-CN" sz="2800" dirty="0"/>
          </a:p>
          <a:p>
            <a:pPr algn="l">
              <a:lnSpc>
                <a:spcPct val="110000"/>
              </a:lnSpc>
            </a:pPr>
            <a:r>
              <a:rPr lang="en-US" altLang="zh-CN" sz="2800" dirty="0"/>
              <a:t>	   f(5) = </a:t>
            </a:r>
            <a:r>
              <a:rPr lang="en-US" altLang="zh-CN" sz="2800" dirty="0" err="1"/>
              <a:t>mex</a:t>
            </a:r>
            <a:r>
              <a:rPr lang="en-US" altLang="zh-CN" sz="2800" dirty="0"/>
              <a:t>{f(3), f(1)^f(2)} = 0</a:t>
            </a:r>
            <a:r>
              <a:rPr lang="zh-CN" altLang="en-US" sz="2800" dirty="0"/>
              <a:t>，依次类推。</a:t>
            </a:r>
            <a:r>
              <a:rPr lang="en-US" altLang="zh-CN" sz="2800" dirty="0"/>
              <a:t>			           </a:t>
            </a:r>
            <a:endParaRPr lang="en-US" altLang="zh-CN" sz="2800" dirty="0"/>
          </a:p>
          <a:p>
            <a:pPr algn="l">
              <a:lnSpc>
                <a:spcPct val="110000"/>
              </a:lnSpc>
            </a:pPr>
            <a:r>
              <a:rPr lang="zh-CN" altLang="en-US" sz="2800" dirty="0"/>
              <a:t>      一堆石子的后继局面可能是两堆石子，这个局面的</a:t>
            </a:r>
            <a:r>
              <a:rPr lang="en-US" altLang="zh-CN" sz="2800" dirty="0"/>
              <a:t>sg</a:t>
            </a:r>
            <a:r>
              <a:rPr lang="zh-CN" altLang="en-US" sz="2800" dirty="0"/>
              <a:t>值就是两堆石 </a:t>
            </a:r>
            <a:endParaRPr lang="en-US" altLang="zh-CN" sz="2800" dirty="0"/>
          </a:p>
          <a:p>
            <a:pPr algn="l">
              <a:lnSpc>
                <a:spcPct val="110000"/>
              </a:lnSpc>
            </a:pPr>
            <a:r>
              <a:rPr lang="zh-CN" altLang="en-US" sz="2800" dirty="0"/>
              <a:t>      子</a:t>
            </a:r>
            <a:r>
              <a:rPr lang="en-US" altLang="zh-CN" sz="2800" dirty="0"/>
              <a:t>sg</a:t>
            </a:r>
            <a:r>
              <a:rPr lang="zh-CN" altLang="en-US" sz="2800" dirty="0"/>
              <a:t>值的异或和。</a:t>
            </a:r>
            <a:endParaRPr lang="en-US" altLang="zh-CN" sz="2800" dirty="0"/>
          </a:p>
        </p:txBody>
      </p:sp>
      <p:sp>
        <p:nvSpPr>
          <p:cNvPr id="5" name="文本框 4"/>
          <p:cNvSpPr txBox="1"/>
          <p:nvPr/>
        </p:nvSpPr>
        <p:spPr>
          <a:xfrm>
            <a:off x="333772" y="5492392"/>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这样求出每堆石子的</a:t>
            </a:r>
            <a:r>
              <a:rPr lang="en-US" altLang="zh-CN" sz="2800" dirty="0"/>
              <a:t>sg</a:t>
            </a:r>
            <a:r>
              <a:rPr lang="zh-CN" altLang="en-US" sz="2800" dirty="0"/>
              <a:t>函数值后，再异或就可以判断。</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五 </a:t>
            </a:r>
            <a:r>
              <a:rPr lang="en-US" altLang="zh-CN" sz="3200" dirty="0"/>
              <a:t>. Multi-SG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1134276"/>
            <a:ext cx="11233248" cy="1514261"/>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例题：一个一行</a:t>
            </a:r>
            <a:r>
              <a:rPr lang="en-US" altLang="zh-CN" sz="2800" dirty="0"/>
              <a:t>n</a:t>
            </a:r>
            <a:r>
              <a:rPr lang="zh-CN" altLang="en-US" sz="2800" dirty="0"/>
              <a:t>列的棋盘，两人轮流在上面下棋子，连成</a:t>
            </a:r>
            <a:r>
              <a:rPr lang="en-US" altLang="zh-CN" sz="2800" dirty="0"/>
              <a:t>3</a:t>
            </a:r>
            <a:r>
              <a:rPr lang="zh-CN" altLang="en-US" sz="2800" dirty="0"/>
              <a:t>个棋子的人获胜。问是否有必胜策略。</a:t>
            </a:r>
            <a:endParaRPr lang="en-US" altLang="zh-CN" sz="2800" dirty="0"/>
          </a:p>
          <a:p>
            <a:pPr marL="457200" indent="-457200">
              <a:lnSpc>
                <a:spcPct val="110000"/>
              </a:lnSpc>
              <a:buFont typeface="Arial" panose="020B0604020202020204" pitchFamily="34" charset="0"/>
              <a:buChar char="•"/>
            </a:pPr>
            <a:r>
              <a:rPr lang="zh-CN" altLang="en-US" sz="2800" dirty="0"/>
              <a:t>链接</a:t>
            </a:r>
            <a:r>
              <a:rPr lang="en-US" altLang="zh-CN" sz="2800" dirty="0"/>
              <a:t>:</a:t>
            </a:r>
            <a:r>
              <a:rPr lang="en-US" altLang="zh-CN" sz="2800" dirty="0">
                <a:hlinkClick r:id="rId1"/>
              </a:rPr>
              <a:t>http://poj.org/problem?id=3537</a:t>
            </a:r>
            <a:endParaRPr lang="en-US" altLang="zh-CN" sz="2800" dirty="0"/>
          </a:p>
        </p:txBody>
      </p:sp>
      <p:sp>
        <p:nvSpPr>
          <p:cNvPr id="2" name="文本框 1"/>
          <p:cNvSpPr txBox="1"/>
          <p:nvPr/>
        </p:nvSpPr>
        <p:spPr>
          <a:xfrm>
            <a:off x="333772" y="2611668"/>
            <a:ext cx="11233248" cy="566309"/>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观察发现，若某一个格子被占，那么它周围四个格子都不能再下棋。</a:t>
            </a:r>
            <a:endParaRPr lang="zh-CN" altLang="en-US" sz="2800" dirty="0"/>
          </a:p>
        </p:txBody>
      </p:sp>
      <p:sp>
        <p:nvSpPr>
          <p:cNvPr id="7" name="椭圆 6"/>
          <p:cNvSpPr/>
          <p:nvPr/>
        </p:nvSpPr>
        <p:spPr>
          <a:xfrm>
            <a:off x="1413892" y="3501008"/>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8" name="椭圆 7"/>
          <p:cNvSpPr/>
          <p:nvPr/>
        </p:nvSpPr>
        <p:spPr>
          <a:xfrm>
            <a:off x="1963694" y="3505342"/>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9" name="椭圆 8"/>
          <p:cNvSpPr/>
          <p:nvPr/>
        </p:nvSpPr>
        <p:spPr>
          <a:xfrm>
            <a:off x="2514853" y="3508548"/>
            <a:ext cx="360040" cy="360040"/>
          </a:xfrm>
          <a:prstGeom prst="ellipse">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0" name="椭圆 9"/>
          <p:cNvSpPr/>
          <p:nvPr/>
        </p:nvSpPr>
        <p:spPr>
          <a:xfrm>
            <a:off x="3065518" y="3508548"/>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1" name="椭圆 10"/>
          <p:cNvSpPr/>
          <p:nvPr/>
        </p:nvSpPr>
        <p:spPr>
          <a:xfrm>
            <a:off x="3615814" y="3501008"/>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椭圆 20"/>
          <p:cNvSpPr/>
          <p:nvPr/>
        </p:nvSpPr>
        <p:spPr>
          <a:xfrm>
            <a:off x="1413892" y="4366584"/>
            <a:ext cx="360040" cy="360040"/>
          </a:xfrm>
          <a:prstGeom prst="ellipse">
            <a:avLst/>
          </a:prstGeom>
          <a:solidFill>
            <a:srgbClr val="FFC000"/>
          </a:solidFill>
          <a:ln>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2" name="椭圆 21"/>
          <p:cNvSpPr/>
          <p:nvPr/>
        </p:nvSpPr>
        <p:spPr>
          <a:xfrm>
            <a:off x="1963694" y="4370918"/>
            <a:ext cx="360040" cy="360040"/>
          </a:xfrm>
          <a:prstGeom prst="ellipse">
            <a:avLst/>
          </a:prstGeom>
          <a:solidFill>
            <a:srgbClr val="92D050"/>
          </a:solid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3" name="椭圆 22"/>
          <p:cNvSpPr/>
          <p:nvPr/>
        </p:nvSpPr>
        <p:spPr>
          <a:xfrm>
            <a:off x="2514853" y="4374124"/>
            <a:ext cx="360040" cy="360040"/>
          </a:xfrm>
          <a:prstGeom prst="ellipse">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椭圆 23"/>
          <p:cNvSpPr/>
          <p:nvPr/>
        </p:nvSpPr>
        <p:spPr>
          <a:xfrm>
            <a:off x="3065518" y="4374124"/>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5" name="椭圆 24"/>
          <p:cNvSpPr/>
          <p:nvPr/>
        </p:nvSpPr>
        <p:spPr>
          <a:xfrm>
            <a:off x="3615814" y="4366584"/>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6" name="椭圆 25"/>
          <p:cNvSpPr/>
          <p:nvPr/>
        </p:nvSpPr>
        <p:spPr>
          <a:xfrm>
            <a:off x="1413892" y="5239701"/>
            <a:ext cx="360040" cy="360040"/>
          </a:xfrm>
          <a:prstGeom prst="ellipse">
            <a:avLst/>
          </a:prstGeom>
          <a:solidFill>
            <a:srgbClr val="92D050"/>
          </a:solid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椭圆 26"/>
          <p:cNvSpPr/>
          <p:nvPr/>
        </p:nvSpPr>
        <p:spPr>
          <a:xfrm>
            <a:off x="1963694" y="5244035"/>
            <a:ext cx="360040" cy="360040"/>
          </a:xfrm>
          <a:prstGeom prst="ellipse">
            <a:avLst/>
          </a:prstGeom>
          <a:solidFill>
            <a:srgbClr val="FFC000"/>
          </a:solidFill>
          <a:ln>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8" name="椭圆 27"/>
          <p:cNvSpPr/>
          <p:nvPr/>
        </p:nvSpPr>
        <p:spPr>
          <a:xfrm>
            <a:off x="2514853" y="5247241"/>
            <a:ext cx="360040" cy="360040"/>
          </a:xfrm>
          <a:prstGeom prst="ellipse">
            <a:avLst/>
          </a:prstGeom>
          <a:solidFill>
            <a:srgbClr val="FFC000"/>
          </a:solidFill>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9" name="椭圆 28"/>
          <p:cNvSpPr/>
          <p:nvPr/>
        </p:nvSpPr>
        <p:spPr>
          <a:xfrm>
            <a:off x="3065518" y="5247241"/>
            <a:ext cx="360040" cy="360040"/>
          </a:xfrm>
          <a:prstGeom prst="ellipse">
            <a:avLst/>
          </a:prstGeom>
          <a:solidFill>
            <a:srgbClr val="92D050"/>
          </a:solid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椭圆 29"/>
          <p:cNvSpPr/>
          <p:nvPr/>
        </p:nvSpPr>
        <p:spPr>
          <a:xfrm>
            <a:off x="3615814" y="5239701"/>
            <a:ext cx="360040" cy="360040"/>
          </a:xfrm>
          <a:prstGeom prst="ellipse">
            <a:avLst/>
          </a:prstGeom>
          <a:noFill/>
          <a:ln>
            <a:prstDash val="sysDash"/>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1" name="文本框 30"/>
          <p:cNvSpPr txBox="1"/>
          <p:nvPr/>
        </p:nvSpPr>
        <p:spPr>
          <a:xfrm>
            <a:off x="4747738" y="3322468"/>
            <a:ext cx="6819282" cy="2936188"/>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如左图所示，四个格子中只要再占任何一格，后手就能再添一枚棋子获胜。</a:t>
            </a:r>
            <a:endParaRPr lang="en-US" altLang="zh-CN" sz="2800" dirty="0"/>
          </a:p>
          <a:p>
            <a:pPr marL="457200" indent="-457200" algn="l">
              <a:lnSpc>
                <a:spcPct val="110000"/>
              </a:lnSpc>
              <a:buFont typeface="Arial" panose="020B0604020202020204" pitchFamily="34" charset="0"/>
              <a:buChar char="•"/>
            </a:pPr>
            <a:r>
              <a:rPr lang="zh-CN" altLang="en-US" sz="2800" dirty="0"/>
              <a:t>所以占领一个格子时，实际上等同于占领了包括它周围的一共五个棋子。将棋盘分为两半，与上一个游戏相同。</a:t>
            </a:r>
            <a:endParaRPr lang="en-US" altLang="zh-CN" sz="2800" dirty="0"/>
          </a:p>
          <a:p>
            <a:pPr marL="457200" indent="-457200" algn="l">
              <a:lnSpc>
                <a:spcPct val="110000"/>
              </a:lnSpc>
              <a:buFont typeface="Arial" panose="020B0604020202020204" pitchFamily="34" charset="0"/>
              <a:buChar char="•"/>
            </a:pPr>
            <a:endParaRPr lang="en-US" altLang="zh-CN"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8" grpId="0" animBg="1"/>
      <p:bldP spid="9" grpId="0" animBg="1"/>
      <p:bldP spid="10" grpId="0" animBg="1"/>
      <p:bldP spid="11"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六 </a:t>
            </a:r>
            <a:r>
              <a:rPr lang="en-US" altLang="zh-CN" sz="3200" dirty="0"/>
              <a:t>. Every-SG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33772" y="1112003"/>
            <a:ext cx="11233248" cy="1040285"/>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有</a:t>
            </a:r>
            <a:r>
              <a:rPr lang="en-US" altLang="zh-CN" sz="2800" dirty="0"/>
              <a:t>n</a:t>
            </a:r>
            <a:r>
              <a:rPr lang="zh-CN" altLang="en-US" sz="2800" dirty="0"/>
              <a:t>个同时进行的游戏，每次都必须在还未结束的游戏中进行一步操作，无路可走者输。</a:t>
            </a:r>
            <a:endParaRPr lang="zh-CN" altLang="en-US" sz="2800" dirty="0"/>
          </a:p>
        </p:txBody>
      </p:sp>
      <p:sp>
        <p:nvSpPr>
          <p:cNvPr id="6" name="文本框 5"/>
          <p:cNvSpPr txBox="1"/>
          <p:nvPr/>
        </p:nvSpPr>
        <p:spPr>
          <a:xfrm>
            <a:off x="333772" y="2128857"/>
            <a:ext cx="11233248" cy="246221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思考：假设每个游戏的胜负可以判定。   </a:t>
            </a:r>
            <a:r>
              <a:rPr lang="en-US" altLang="zh-CN" sz="2800" dirty="0"/>
              <a:t>				         </a:t>
            </a:r>
            <a:r>
              <a:rPr lang="zh-CN" altLang="en-US" sz="2800" dirty="0"/>
              <a:t>显然，最后一个结束的游戏，若先手必胜则先手胜，否则先手败。那么对于甲来说，必胜的游戏他不会放弃胜利局面，必败的游戏他无法改变结局，所以他必须使他能够胜利的游戏中最长进行时间大于他必败的游戏中最长进行时间。</a:t>
            </a:r>
            <a:endParaRPr lang="en-US" altLang="zh-CN" sz="2800" dirty="0"/>
          </a:p>
        </p:txBody>
      </p:sp>
      <p:sp>
        <p:nvSpPr>
          <p:cNvPr id="12" name="文本框 11"/>
          <p:cNvSpPr txBox="1"/>
          <p:nvPr/>
        </p:nvSpPr>
        <p:spPr>
          <a:xfrm>
            <a:off x="333772" y="4591070"/>
            <a:ext cx="11233248" cy="999633"/>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也就是说，一般的组合游戏只有输与赢的博弈，</a:t>
            </a:r>
            <a:r>
              <a:rPr lang="en-US" altLang="zh-CN" sz="2800" dirty="0"/>
              <a:t>Every-SG</a:t>
            </a:r>
            <a:r>
              <a:rPr lang="zh-CN" altLang="en-US" sz="2800" dirty="0"/>
              <a:t>游戏还有时间的长与短的博弈。</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六 </a:t>
            </a:r>
            <a:r>
              <a:rPr lang="en-US" altLang="zh-CN" sz="3200" dirty="0"/>
              <a:t>. Every-SG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mc:AlternateContent xmlns:mc="http://schemas.openxmlformats.org/markup-compatibility/2006">
        <mc:Choice xmlns:a14="http://schemas.microsoft.com/office/drawing/2010/main" Requires="a14">
          <p:sp>
            <p:nvSpPr>
              <p:cNvPr id="3" name="文本框 2">
                <a:extLst>
                  <a:ext uri="{FF2B5EF4-FFF2-40B4-BE49-F238E27FC236}">
                    <a14:artisticCrisscrossEtching id="{B218C0C5-B255-4AD8-8797-8555BC28717F}"/>
                  </a:ext>
                </a:extLst>
              </p:cNvPr>
              <p:cNvSpPr txBox="1"/>
              <p:nvPr/>
            </p:nvSpPr>
            <p:spPr>
              <a:xfrm>
                <a:off x="671211" y="2840212"/>
                <a:ext cx="1654363" cy="473976"/>
              </a:xfrm>
              <a:prstGeom prst="rect">
                <a:avLst/>
              </a:prstGeom>
              <a:noFill/>
            </p:spPr>
            <p:txBody>
              <a:bodyPr wrap="none" lIns="0" tIns="0" rIns="0" bIns="0" rtlCol="0">
                <a:spAutoFit/>
              </a:bodyPr>
              <a:lstStyle/>
              <a:p>
                <a:pPr algn="l">
                  <a:lnSpc>
                    <a:spcPct val="110000"/>
                  </a:lnSpc>
                </a:pPr>
                <a14:m>
                  <m:oMathPara xmlns:m="http://schemas.openxmlformats.org/officeDocument/2006/math">
                    <m:oMathParaPr>
                      <m:jc m:val="centerGroup"/>
                    </m:oMathParaPr>
                    <m:oMath xmlns:m="http://schemas.openxmlformats.org/officeDocument/2006/math">
                      <m:r>
                        <a:rPr lang="zh-CN" altLang="en-US" sz="2800" i="1" dirty="0" smtClean="0">
                          <a:latin typeface="Cambria Math" panose="02040503050406030204" pitchFamily="18" charset="0"/>
                        </a:rPr>
                        <m:t>𝑠𝑡</m:t>
                      </m:r>
                      <m:r>
                        <a:rPr lang="zh-CN" altLang="en-US" sz="2800" i="0" dirty="0" smtClean="0">
                          <a:latin typeface="Cambria Math" panose="02040503050406030204" pitchFamily="18" charset="0"/>
                        </a:rPr>
                        <m:t>ⅇ</m:t>
                      </m:r>
                      <m:r>
                        <a:rPr lang="zh-CN" altLang="en-US" sz="2800" i="1" dirty="0" smtClean="0">
                          <a:latin typeface="Cambria Math" panose="02040503050406030204" pitchFamily="18" charset="0"/>
                        </a:rPr>
                        <m:t>𝑝</m:t>
                      </m:r>
                      <m:d>
                        <m:dPr>
                          <m:ctrlPr>
                            <a:rPr lang="zh-CN" altLang="en-US" sz="2800" i="1" dirty="0" smtClean="0">
                              <a:latin typeface="Cambria Math" panose="02040503050406030204" pitchFamily="18" charset="0"/>
                            </a:rPr>
                          </m:ctrlPr>
                        </m:dPr>
                        <m:e>
                          <m:r>
                            <a:rPr lang="zh-CN" altLang="en-US" sz="2800" i="1" dirty="0" smtClean="0">
                              <a:latin typeface="Cambria Math" panose="02040503050406030204" pitchFamily="18" charset="0"/>
                            </a:rPr>
                            <m:t>𝑢</m:t>
                          </m:r>
                        </m:e>
                      </m:d>
                      <m:r>
                        <a:rPr lang="zh-CN" altLang="en-US" sz="2800" i="0" dirty="0" smtClean="0">
                          <a:latin typeface="Cambria Math" panose="02040503050406030204" pitchFamily="18" charset="0"/>
                        </a:rPr>
                        <m:t>=</m:t>
                      </m:r>
                    </m:oMath>
                  </m:oMathPara>
                </a14:m>
                <a:endParaRPr lang="zh-CN" altLang="en-US" sz="2800" dirty="0"/>
              </a:p>
            </p:txBody>
          </p:sp>
        </mc:Choice>
        <mc:Fallback>
          <p:sp>
            <p:nvSpPr>
              <p:cNvPr id="3" name="文本框 2"/>
              <p:cNvSpPr txBox="1">
                <a:spLocks noRot="1" noChangeAspect="1" noMove="1" noResize="1" noEditPoints="1" noAdjustHandles="1" noChangeArrowheads="1" noChangeShapeType="1" noTextEdit="1"/>
              </p:cNvSpPr>
              <p:nvPr/>
            </p:nvSpPr>
            <p:spPr>
              <a:xfrm>
                <a:off x="671211" y="2840212"/>
                <a:ext cx="1654363" cy="473976"/>
              </a:xfrm>
              <a:prstGeom prst="rect">
                <a:avLst/>
              </a:prstGeom>
              <a:blipFill rotWithShape="1">
                <a:blip r:embed="rId1"/>
                <a:stretch>
                  <a:fillRect/>
                </a:stretch>
              </a:blipFill>
            </p:spPr>
            <p:txBody>
              <a:bodyPr/>
              <a:lstStyle/>
              <a:p>
                <a:r>
                  <a:rPr lang="zh-CN" altLang="en-US">
                    <a:noFill/>
                  </a:rPr>
                  <a:t> </a:t>
                </a:r>
                <a:endParaRPr lang="zh-CN" altLang="en-US">
                  <a:noFill/>
                </a:endParaRPr>
              </a:p>
            </p:txBody>
          </p:sp>
        </mc:Fallback>
      </mc:AlternateContent>
      <p:sp>
        <p:nvSpPr>
          <p:cNvPr id="9" name="左大括号 8"/>
          <p:cNvSpPr/>
          <p:nvPr/>
        </p:nvSpPr>
        <p:spPr>
          <a:xfrm>
            <a:off x="2566020" y="1989560"/>
            <a:ext cx="397865" cy="2175280"/>
          </a:xfrm>
          <a:prstGeom prst="leftBrace">
            <a:avLst>
              <a:gd name="adj1" fmla="val 78881"/>
              <a:gd name="adj2" fmla="val 50426"/>
            </a:avLst>
          </a:prstGeom>
          <a:ln w="28575">
            <a:solidFill>
              <a:schemeClr val="tx1"/>
            </a:solidFill>
            <a:miter lim="800000"/>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10" name="文本框 9">
                <a:extLst>
                  <a:ext uri="{FF2B5EF4-FFF2-40B4-BE49-F238E27FC236}">
                    <a14:artisticCrisscrossEtching id="{C9544D24-6C58-44F8-8DE8-2672D9BE37F0}"/>
                  </a:ext>
                </a:extLst>
              </p:cNvPr>
              <p:cNvSpPr txBox="1"/>
              <p:nvPr/>
            </p:nvSpPr>
            <p:spPr>
              <a:xfrm>
                <a:off x="3335507" y="1991867"/>
                <a:ext cx="317395" cy="541687"/>
              </a:xfrm>
              <a:prstGeom prst="rect">
                <a:avLst/>
              </a:prstGeom>
              <a:noFill/>
            </p:spPr>
            <p:txBody>
              <a:bodyPr wrap="none" lIns="0" tIns="0" rIns="0" bIns="0" rtlCol="0">
                <a:spAutoFit/>
              </a:bodyPr>
              <a:lstStyle/>
              <a:p>
                <a:pPr algn="l">
                  <a:lnSpc>
                    <a:spcPct val="110000"/>
                  </a:lnSpc>
                </a:pPr>
                <a14:m>
                  <m:oMathPara xmlns:m="http://schemas.openxmlformats.org/officeDocument/2006/math">
                    <m:oMathParaPr>
                      <m:jc m:val="centerGroup"/>
                    </m:oMathParaPr>
                    <m:oMath xmlns:m="http://schemas.openxmlformats.org/officeDocument/2006/math">
                      <m:r>
                        <a:rPr lang="zh-CN" altLang="en-US" sz="3200" dirty="0" smtClean="0">
                          <a:latin typeface="Cambria Math" panose="02040503050406030204" pitchFamily="18" charset="0"/>
                        </a:rPr>
                        <m:t>0</m:t>
                      </m:r>
                    </m:oMath>
                  </m:oMathPara>
                </a14:m>
                <a:endParaRPr lang="zh-CN" altLang="en-US" sz="3200" dirty="0"/>
              </a:p>
            </p:txBody>
          </p:sp>
        </mc:Choice>
        <mc:Fallback>
          <p:sp>
            <p:nvSpPr>
              <p:cNvPr id="10" name="文本框 9"/>
              <p:cNvSpPr txBox="1">
                <a:spLocks noRot="1" noChangeAspect="1" noMove="1" noResize="1" noEditPoints="1" noAdjustHandles="1" noChangeArrowheads="1" noChangeShapeType="1" noTextEdit="1"/>
              </p:cNvSpPr>
              <p:nvPr/>
            </p:nvSpPr>
            <p:spPr>
              <a:xfrm>
                <a:off x="3335507" y="1991867"/>
                <a:ext cx="317395" cy="541687"/>
              </a:xfrm>
              <a:prstGeom prst="rect">
                <a:avLst/>
              </a:prstGeom>
              <a:blipFill rotWithShape="1">
                <a:blip r:embed="rId2"/>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11" name="文本框 10">
                <a:extLst>
                  <a:ext uri="{FF2B5EF4-FFF2-40B4-BE49-F238E27FC236}">
                    <a14:artisticCrisscrossEtching id="{3DB5C8C1-B051-477A-9215-3FBCE173D4C9}"/>
                  </a:ext>
                </a:extLst>
              </p:cNvPr>
              <p:cNvSpPr txBox="1"/>
              <p:nvPr/>
            </p:nvSpPr>
            <p:spPr>
              <a:xfrm>
                <a:off x="3047475" y="2779170"/>
                <a:ext cx="2929135" cy="535018"/>
              </a:xfrm>
              <a:prstGeom prst="rect">
                <a:avLst/>
              </a:prstGeom>
              <a:noFill/>
            </p:spPr>
            <p:txBody>
              <a:bodyPr wrap="none" lIns="0" tIns="0" rIns="0" bIns="0" rtlCol="0">
                <a:spAutoFit/>
              </a:bodyPr>
              <a:lstStyle/>
              <a:p>
                <a:pPr algn="l">
                  <a:lnSpc>
                    <a:spcPct val="110000"/>
                  </a:lnSpc>
                </a:pPr>
                <a14:m>
                  <m:oMathPara xmlns:m="http://schemas.openxmlformats.org/officeDocument/2006/math">
                    <m:oMathParaPr>
                      <m:jc m:val="centerGroup"/>
                    </m:oMathParaPr>
                    <m:oMath xmlns:m="http://schemas.openxmlformats.org/officeDocument/2006/math">
                      <m:r>
                        <a:rPr lang="zh-CN" altLang="en-US" sz="2800" i="1" dirty="0" smtClean="0">
                          <a:latin typeface="Cambria Math" panose="02040503050406030204" pitchFamily="18" charset="0"/>
                        </a:rPr>
                        <m:t>𝑚𝑎𝑥</m:t>
                      </m:r>
                      <m:d>
                        <m:dPr>
                          <m:ctrlPr>
                            <a:rPr lang="zh-CN" altLang="en-US" sz="2800" i="1" dirty="0" smtClean="0">
                              <a:latin typeface="Cambria Math" panose="02040503050406030204" pitchFamily="18" charset="0"/>
                            </a:rPr>
                          </m:ctrlPr>
                        </m:dPr>
                        <m:e>
                          <m:r>
                            <a:rPr lang="zh-CN" altLang="en-US" sz="2800" i="1" dirty="0" smtClean="0">
                              <a:latin typeface="Cambria Math" panose="02040503050406030204" pitchFamily="18" charset="0"/>
                            </a:rPr>
                            <m:t>𝑠𝑡</m:t>
                          </m:r>
                          <m:r>
                            <a:rPr lang="zh-CN" altLang="en-US" sz="2800" i="0" dirty="0" smtClean="0">
                              <a:latin typeface="Cambria Math" panose="02040503050406030204" pitchFamily="18" charset="0"/>
                            </a:rPr>
                            <m:t>ⅇ</m:t>
                          </m:r>
                          <m:r>
                            <a:rPr lang="zh-CN" altLang="en-US" sz="2800" i="1" dirty="0" smtClean="0">
                              <a:latin typeface="Cambria Math" panose="02040503050406030204" pitchFamily="18" charset="0"/>
                            </a:rPr>
                            <m:t>𝑝</m:t>
                          </m:r>
                          <m:d>
                            <m:dPr>
                              <m:ctrlPr>
                                <a:rPr lang="zh-CN" altLang="en-US" sz="2800" i="1" dirty="0" smtClean="0">
                                  <a:latin typeface="Cambria Math" panose="02040503050406030204" pitchFamily="18" charset="0"/>
                                </a:rPr>
                              </m:ctrlPr>
                            </m:dPr>
                            <m:e>
                              <m:r>
                                <a:rPr lang="en-US" altLang="zh-CN" sz="2800" b="0" i="1" dirty="0" smtClean="0">
                                  <a:latin typeface="Cambria Math" panose="02040503050406030204" pitchFamily="18" charset="0"/>
                                </a:rPr>
                                <m:t>𝑣</m:t>
                              </m:r>
                            </m:e>
                          </m:d>
                        </m:e>
                      </m:d>
                      <m:r>
                        <a:rPr lang="zh-CN" altLang="en-US" sz="2800" i="0" dirty="0" smtClean="0">
                          <a:latin typeface="Cambria Math" panose="02040503050406030204" pitchFamily="18" charset="0"/>
                        </a:rPr>
                        <m:t>+1</m:t>
                      </m:r>
                    </m:oMath>
                  </m:oMathPara>
                </a14:m>
                <a:endParaRPr lang="zh-CN" altLang="en-US" sz="2800" dirty="0"/>
              </a:p>
            </p:txBody>
          </p:sp>
        </mc:Choice>
        <mc:Fallback>
          <p:sp>
            <p:nvSpPr>
              <p:cNvPr id="11" name="文本框 10"/>
              <p:cNvSpPr txBox="1">
                <a:spLocks noRot="1" noChangeAspect="1" noMove="1" noResize="1" noEditPoints="1" noAdjustHandles="1" noChangeArrowheads="1" noChangeShapeType="1" noTextEdit="1"/>
              </p:cNvSpPr>
              <p:nvPr/>
            </p:nvSpPr>
            <p:spPr>
              <a:xfrm>
                <a:off x="3047475" y="2779170"/>
                <a:ext cx="2929135" cy="535018"/>
              </a:xfrm>
              <a:prstGeom prst="rect">
                <a:avLst/>
              </a:prstGeom>
              <a:blipFill rotWithShape="1">
                <a:blip r:embed="rId3"/>
                <a:stretch>
                  <a:fillRect/>
                </a:stretch>
              </a:blipFill>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13" name="文本框 12">
                <a:extLst>
                  <a:ext uri="{FF2B5EF4-FFF2-40B4-BE49-F238E27FC236}">
                    <a14:artisticCrisscrossEtching id="{93443AA9-BB00-4294-B022-451EC33F09F4}"/>
                  </a:ext>
                </a:extLst>
              </p:cNvPr>
              <p:cNvSpPr txBox="1"/>
              <p:nvPr/>
            </p:nvSpPr>
            <p:spPr>
              <a:xfrm>
                <a:off x="3047475" y="3672559"/>
                <a:ext cx="2853858" cy="535018"/>
              </a:xfrm>
              <a:prstGeom prst="rect">
                <a:avLst/>
              </a:prstGeom>
              <a:noFill/>
            </p:spPr>
            <p:txBody>
              <a:bodyPr wrap="none" lIns="0" tIns="0" rIns="0" bIns="0" rtlCol="0">
                <a:spAutoFit/>
              </a:bodyPr>
              <a:lstStyle/>
              <a:p>
                <a:pPr algn="l">
                  <a:lnSpc>
                    <a:spcPct val="110000"/>
                  </a:lnSpc>
                </a:pPr>
                <a14:m>
                  <m:oMathPara xmlns:m="http://schemas.openxmlformats.org/officeDocument/2006/math">
                    <m:oMathParaPr>
                      <m:jc m:val="centerGroup"/>
                    </m:oMathParaPr>
                    <m:oMath xmlns:m="http://schemas.openxmlformats.org/officeDocument/2006/math">
                      <m:r>
                        <a:rPr lang="zh-CN" altLang="en-US" sz="2800" i="1" dirty="0" smtClean="0">
                          <a:latin typeface="Cambria Math" panose="02040503050406030204" pitchFamily="18" charset="0"/>
                        </a:rPr>
                        <m:t>𝑚</m:t>
                      </m:r>
                      <m:r>
                        <a:rPr lang="en-US" altLang="zh-CN" sz="2800" b="0" i="1" dirty="0" smtClean="0">
                          <a:latin typeface="Cambria Math" panose="02040503050406030204" pitchFamily="18" charset="0"/>
                        </a:rPr>
                        <m:t>𝑖𝑛</m:t>
                      </m:r>
                      <m:d>
                        <m:dPr>
                          <m:ctrlPr>
                            <a:rPr lang="zh-CN" altLang="en-US" sz="2800" i="1" dirty="0" smtClean="0">
                              <a:latin typeface="Cambria Math" panose="02040503050406030204" pitchFamily="18" charset="0"/>
                            </a:rPr>
                          </m:ctrlPr>
                        </m:dPr>
                        <m:e>
                          <m:r>
                            <a:rPr lang="zh-CN" altLang="en-US" sz="2800" i="1" dirty="0" smtClean="0">
                              <a:latin typeface="Cambria Math" panose="02040503050406030204" pitchFamily="18" charset="0"/>
                            </a:rPr>
                            <m:t>𝑠𝑡</m:t>
                          </m:r>
                          <m:r>
                            <a:rPr lang="zh-CN" altLang="en-US" sz="2800" i="0" dirty="0" smtClean="0">
                              <a:latin typeface="Cambria Math" panose="02040503050406030204" pitchFamily="18" charset="0"/>
                            </a:rPr>
                            <m:t>ⅇ</m:t>
                          </m:r>
                          <m:r>
                            <a:rPr lang="zh-CN" altLang="en-US" sz="2800" i="1" dirty="0" smtClean="0">
                              <a:latin typeface="Cambria Math" panose="02040503050406030204" pitchFamily="18" charset="0"/>
                            </a:rPr>
                            <m:t>𝑝</m:t>
                          </m:r>
                          <m:d>
                            <m:dPr>
                              <m:ctrlPr>
                                <a:rPr lang="zh-CN" altLang="en-US" sz="2800" i="1" dirty="0" smtClean="0">
                                  <a:latin typeface="Cambria Math" panose="02040503050406030204" pitchFamily="18" charset="0"/>
                                </a:rPr>
                              </m:ctrlPr>
                            </m:dPr>
                            <m:e>
                              <m:r>
                                <a:rPr lang="en-US" altLang="zh-CN" sz="2800" b="0" i="1" dirty="0" smtClean="0">
                                  <a:latin typeface="Cambria Math" panose="02040503050406030204" pitchFamily="18" charset="0"/>
                                </a:rPr>
                                <m:t>𝑣</m:t>
                              </m:r>
                            </m:e>
                          </m:d>
                        </m:e>
                      </m:d>
                      <m:r>
                        <a:rPr lang="zh-CN" altLang="en-US" sz="2800" i="0" dirty="0" smtClean="0">
                          <a:latin typeface="Cambria Math" panose="02040503050406030204" pitchFamily="18" charset="0"/>
                        </a:rPr>
                        <m:t>+1</m:t>
                      </m:r>
                    </m:oMath>
                  </m:oMathPara>
                </a14:m>
                <a:endParaRPr lang="zh-CN" altLang="en-US" sz="2800" dirty="0"/>
              </a:p>
            </p:txBody>
          </p:sp>
        </mc:Choice>
        <mc:Fallback>
          <p:sp>
            <p:nvSpPr>
              <p:cNvPr id="13" name="文本框 12"/>
              <p:cNvSpPr txBox="1">
                <a:spLocks noRot="1" noChangeAspect="1" noMove="1" noResize="1" noEditPoints="1" noAdjustHandles="1" noChangeArrowheads="1" noChangeShapeType="1" noTextEdit="1"/>
              </p:cNvSpPr>
              <p:nvPr/>
            </p:nvSpPr>
            <p:spPr>
              <a:xfrm>
                <a:off x="3047475" y="3672559"/>
                <a:ext cx="2853858" cy="535018"/>
              </a:xfrm>
              <a:prstGeom prst="rect">
                <a:avLst/>
              </a:prstGeom>
              <a:blipFill rotWithShape="1">
                <a:blip r:embed="rId4"/>
                <a:stretch>
                  <a:fillRect/>
                </a:stretch>
              </a:blipFill>
            </p:spPr>
            <p:txBody>
              <a:bodyPr/>
              <a:lstStyle/>
              <a:p>
                <a:r>
                  <a:rPr lang="zh-CN" altLang="en-US">
                    <a:noFill/>
                  </a:rPr>
                  <a:t> </a:t>
                </a:r>
                <a:endParaRPr lang="zh-CN" altLang="en-US">
                  <a:noFill/>
                </a:endParaRPr>
              </a:p>
            </p:txBody>
          </p:sp>
        </mc:Fallback>
      </mc:AlternateContent>
      <p:sp>
        <p:nvSpPr>
          <p:cNvPr id="14" name="文本框 13"/>
          <p:cNvSpPr txBox="1"/>
          <p:nvPr/>
        </p:nvSpPr>
        <p:spPr>
          <a:xfrm>
            <a:off x="6166420" y="1918071"/>
            <a:ext cx="3052006" cy="2246769"/>
          </a:xfrm>
          <a:prstGeom prst="rect">
            <a:avLst/>
          </a:prstGeom>
          <a:noFill/>
        </p:spPr>
        <p:txBody>
          <a:bodyPr wrap="square" rtlCol="0">
            <a:spAutoFit/>
          </a:bodyPr>
          <a:lstStyle/>
          <a:p>
            <a:pPr algn="l"/>
            <a:r>
              <a:rPr lang="en-US" altLang="zh-CN" sz="2800" dirty="0"/>
              <a:t>u</a:t>
            </a:r>
            <a:r>
              <a:rPr lang="zh-CN" altLang="en-US" sz="2800" dirty="0"/>
              <a:t>为终止状态</a:t>
            </a:r>
            <a:endParaRPr lang="en-US" altLang="zh-CN" sz="2800" dirty="0"/>
          </a:p>
          <a:p>
            <a:pPr algn="l"/>
            <a:endParaRPr lang="en-US" altLang="zh-CN" sz="2800" dirty="0"/>
          </a:p>
          <a:p>
            <a:pPr algn="l"/>
            <a:r>
              <a:rPr lang="en-US" altLang="zh-CN" sz="2800" dirty="0"/>
              <a:t>sg(u)&gt;0</a:t>
            </a:r>
            <a:r>
              <a:rPr lang="zh-CN" altLang="en-US" sz="2800" dirty="0"/>
              <a:t>且</a:t>
            </a:r>
            <a:r>
              <a:rPr lang="en-US" altLang="zh-CN" sz="2800" dirty="0"/>
              <a:t>sg(v)=0</a:t>
            </a:r>
            <a:endParaRPr lang="en-US" altLang="zh-CN" sz="2800" dirty="0"/>
          </a:p>
          <a:p>
            <a:pPr algn="l"/>
            <a:endParaRPr lang="en-US" altLang="zh-CN" sz="2800" dirty="0"/>
          </a:p>
          <a:p>
            <a:pPr algn="l"/>
            <a:r>
              <a:rPr lang="en-US" altLang="zh-CN" sz="2800" dirty="0"/>
              <a:t>sg(u)=0</a:t>
            </a:r>
            <a:r>
              <a:rPr lang="zh-CN" altLang="en-US" sz="2800" dirty="0"/>
              <a:t>且</a:t>
            </a:r>
            <a:r>
              <a:rPr lang="en-US" altLang="zh-CN" sz="2800" dirty="0"/>
              <a:t>sg(v)&gt;0</a:t>
            </a:r>
            <a:endParaRPr lang="en-US" altLang="zh-CN" sz="2800" dirty="0"/>
          </a:p>
        </p:txBody>
      </p:sp>
      <p:sp>
        <p:nvSpPr>
          <p:cNvPr id="15" name="文本框 14"/>
          <p:cNvSpPr txBox="1"/>
          <p:nvPr/>
        </p:nvSpPr>
        <p:spPr>
          <a:xfrm>
            <a:off x="333772" y="1106417"/>
            <a:ext cx="11233248" cy="529440"/>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所以如图（</a:t>
            </a:r>
            <a:r>
              <a:rPr lang="en-US" altLang="zh-CN" sz="2800" dirty="0"/>
              <a:t>v</a:t>
            </a:r>
            <a:r>
              <a:rPr lang="zh-CN" altLang="en-US" sz="2800" dirty="0"/>
              <a:t>是</a:t>
            </a:r>
            <a:r>
              <a:rPr lang="en-US" altLang="zh-CN" sz="2800" dirty="0"/>
              <a:t>u</a:t>
            </a:r>
            <a:r>
              <a:rPr lang="zh-CN" altLang="en-US" sz="2800" dirty="0"/>
              <a:t>的后继状态）：</a:t>
            </a:r>
            <a:endParaRPr lang="zh-CN" altLang="en-US" sz="2800" dirty="0"/>
          </a:p>
        </p:txBody>
      </p:sp>
      <p:sp>
        <p:nvSpPr>
          <p:cNvPr id="16" name="文本框 15"/>
          <p:cNvSpPr txBox="1"/>
          <p:nvPr/>
        </p:nvSpPr>
        <p:spPr>
          <a:xfrm>
            <a:off x="335246" y="4408053"/>
            <a:ext cx="11231774"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对于必胜状态的步数要最大化，必败状态的步数要最小化，双方都是如此。</a:t>
            </a:r>
            <a:endParaRPr lang="en-US" altLang="zh-CN" sz="2800" dirty="0"/>
          </a:p>
          <a:p>
            <a:pPr marL="457200" indent="-457200" algn="l">
              <a:lnSpc>
                <a:spcPct val="110000"/>
              </a:lnSpc>
              <a:buFont typeface="Arial" panose="020B0604020202020204" pitchFamily="34" charset="0"/>
              <a:buChar char="•"/>
            </a:pPr>
            <a:r>
              <a:rPr lang="zh-CN" altLang="en-US" sz="2800" dirty="0"/>
              <a:t>又因为先手必胜局面的步数一定是奇数，所以最长步数若是奇数，先手必胜，否则先手必败。</a:t>
            </a:r>
            <a:endParaRPr lang="zh-CN" altLang="en-US" sz="2800"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333772" y="332656"/>
            <a:ext cx="11233248" cy="773761"/>
          </a:xfrm>
        </p:spPr>
        <p:txBody>
          <a:bodyPr>
            <a:normAutofit/>
          </a:bodyPr>
          <a:lstStyle/>
          <a:p>
            <a:r>
              <a:rPr lang="zh-CN" altLang="en-US" sz="3200" dirty="0"/>
              <a:t>六 </a:t>
            </a:r>
            <a:r>
              <a:rPr lang="en-US" altLang="zh-CN" sz="3200" dirty="0"/>
              <a:t>. Every-SG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sp>
        <p:nvSpPr>
          <p:cNvPr id="2" name="文本框 1"/>
          <p:cNvSpPr txBox="1"/>
          <p:nvPr/>
        </p:nvSpPr>
        <p:spPr>
          <a:xfrm>
            <a:off x="333772" y="1106417"/>
            <a:ext cx="11233248" cy="1988237"/>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例题：一共有</a:t>
            </a:r>
            <a:r>
              <a:rPr lang="en-US" altLang="zh-CN" sz="2800" dirty="0"/>
              <a:t>n</a:t>
            </a:r>
            <a:r>
              <a:rPr lang="zh-CN" altLang="en-US" sz="2800" dirty="0"/>
              <a:t>个游戏，每一个游戏有两堆石子，一次移动可以从大的那堆石子里拿小的那堆石子的整数倍的石子。只要是可以操作的游戏都要进行操作，不能进行操作的人负。</a:t>
            </a:r>
            <a:endParaRPr lang="en-US" altLang="zh-CN" sz="2800" dirty="0"/>
          </a:p>
          <a:p>
            <a:pPr marL="457200" indent="-457200">
              <a:lnSpc>
                <a:spcPct val="110000"/>
              </a:lnSpc>
              <a:buFont typeface="Arial" panose="020B0604020202020204" pitchFamily="34" charset="0"/>
              <a:buChar char="•"/>
            </a:pPr>
            <a:r>
              <a:rPr lang="zh-CN" altLang="en-US" sz="2800" dirty="0"/>
              <a:t>链接：</a:t>
            </a:r>
            <a:r>
              <a:rPr lang="en-US" altLang="zh-CN" sz="2800" dirty="0">
                <a:hlinkClick r:id="rId1"/>
              </a:rPr>
              <a:t>http://acm.hdu.edu.cn/showproblem.php?pid=3595</a:t>
            </a:r>
            <a:endParaRPr lang="zh-CN" altLang="en-US" sz="2800" dirty="0"/>
          </a:p>
        </p:txBody>
      </p:sp>
      <p:sp>
        <p:nvSpPr>
          <p:cNvPr id="24" name="文本框 23"/>
          <p:cNvSpPr txBox="1"/>
          <p:nvPr/>
        </p:nvSpPr>
        <p:spPr>
          <a:xfrm>
            <a:off x="337592" y="3094654"/>
            <a:ext cx="11229428" cy="3410164"/>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先从一个游戏分析</a:t>
            </a:r>
            <a:endParaRPr lang="en-US" altLang="zh-CN" sz="2800" dirty="0"/>
          </a:p>
          <a:p>
            <a:pPr marL="914400" lvl="1" indent="-457200">
              <a:lnSpc>
                <a:spcPct val="110000"/>
              </a:lnSpc>
              <a:buFont typeface="Arial" panose="020B0604020202020204" pitchFamily="34" charset="0"/>
              <a:buChar char="•"/>
            </a:pPr>
            <a:r>
              <a:rPr lang="zh-CN" altLang="en-US" sz="2800" dirty="0"/>
              <a:t>假设局面为（</a:t>
            </a:r>
            <a:r>
              <a:rPr lang="en-US" altLang="zh-CN" sz="2800" dirty="0"/>
              <a:t>5</a:t>
            </a:r>
            <a:r>
              <a:rPr lang="zh-CN" altLang="en-US" sz="2800" dirty="0"/>
              <a:t>，</a:t>
            </a:r>
            <a:r>
              <a:rPr lang="en-US" altLang="zh-CN" sz="2800" dirty="0"/>
              <a:t>7</a:t>
            </a:r>
            <a:r>
              <a:rPr lang="zh-CN" altLang="en-US" sz="2800" dirty="0"/>
              <a:t>），可以算出一定会到达的状态有</a:t>
            </a:r>
            <a:endParaRPr lang="en-US" altLang="zh-CN" sz="2800" dirty="0"/>
          </a:p>
          <a:p>
            <a:pPr marL="1371600" lvl="2" indent="-457200">
              <a:lnSpc>
                <a:spcPct val="110000"/>
              </a:lnSpc>
              <a:buFont typeface="Arial" panose="020B0604020202020204" pitchFamily="34" charset="0"/>
              <a:buChar char="•"/>
            </a:pPr>
            <a:r>
              <a:rPr lang="zh-CN" altLang="en-US" sz="2800" dirty="0"/>
              <a:t>（</a:t>
            </a:r>
            <a:r>
              <a:rPr lang="en-US" altLang="zh-CN" sz="2800" dirty="0"/>
              <a:t>5</a:t>
            </a:r>
            <a:r>
              <a:rPr lang="zh-CN" altLang="en-US" sz="2800" dirty="0"/>
              <a:t>，</a:t>
            </a:r>
            <a:r>
              <a:rPr lang="en-US" altLang="zh-CN" sz="2800" dirty="0"/>
              <a:t>7</a:t>
            </a:r>
            <a:r>
              <a:rPr lang="zh-CN" altLang="en-US" sz="2800" dirty="0"/>
              <a:t>），（</a:t>
            </a:r>
            <a:r>
              <a:rPr lang="en-US" altLang="zh-CN" sz="2800" dirty="0"/>
              <a:t>5</a:t>
            </a:r>
            <a:r>
              <a:rPr lang="zh-CN" altLang="en-US" sz="2800" dirty="0"/>
              <a:t>，</a:t>
            </a:r>
            <a:r>
              <a:rPr lang="en-US" altLang="zh-CN" sz="2800" dirty="0"/>
              <a:t>2</a:t>
            </a:r>
            <a:r>
              <a:rPr lang="zh-CN" altLang="en-US" sz="2800" dirty="0"/>
              <a:t>），（</a:t>
            </a:r>
            <a:r>
              <a:rPr lang="en-US" altLang="zh-CN" sz="2800" dirty="0"/>
              <a:t>1</a:t>
            </a:r>
            <a:r>
              <a:rPr lang="zh-CN" altLang="en-US" sz="2800" dirty="0"/>
              <a:t>，</a:t>
            </a:r>
            <a:r>
              <a:rPr lang="en-US" altLang="zh-CN" sz="2800" dirty="0"/>
              <a:t>2</a:t>
            </a:r>
            <a:r>
              <a:rPr lang="zh-CN" altLang="en-US" sz="2800" dirty="0"/>
              <a:t>），（</a:t>
            </a:r>
            <a:r>
              <a:rPr lang="en-US" altLang="zh-CN" sz="2800" dirty="0"/>
              <a:t>1</a:t>
            </a:r>
            <a:r>
              <a:rPr lang="zh-CN" altLang="en-US" sz="2800" dirty="0"/>
              <a:t>，</a:t>
            </a:r>
            <a:r>
              <a:rPr lang="en-US" altLang="zh-CN" sz="2800" dirty="0"/>
              <a:t>0</a:t>
            </a:r>
            <a:r>
              <a:rPr lang="zh-CN" altLang="en-US" sz="2800" dirty="0"/>
              <a:t>）</a:t>
            </a:r>
            <a:endParaRPr lang="en-US" altLang="zh-CN" sz="2800" dirty="0"/>
          </a:p>
          <a:p>
            <a:pPr marL="914400" lvl="1" indent="-457200">
              <a:lnSpc>
                <a:spcPct val="110000"/>
              </a:lnSpc>
              <a:buFont typeface="Arial" panose="020B0604020202020204" pitchFamily="34" charset="0"/>
              <a:buChar char="•"/>
            </a:pPr>
            <a:r>
              <a:rPr lang="zh-CN" altLang="en-US" sz="2800" dirty="0"/>
              <a:t>可能会有其它状态有（</a:t>
            </a:r>
            <a:r>
              <a:rPr lang="en-US" altLang="zh-CN" sz="2800" dirty="0"/>
              <a:t>3</a:t>
            </a:r>
            <a:r>
              <a:rPr lang="zh-CN" altLang="en-US" sz="2800" dirty="0"/>
              <a:t>，</a:t>
            </a:r>
            <a:r>
              <a:rPr lang="en-US" altLang="zh-CN" sz="2800" dirty="0"/>
              <a:t>3</a:t>
            </a:r>
            <a:r>
              <a:rPr lang="zh-CN" altLang="en-US" sz="2800" dirty="0"/>
              <a:t>），（</a:t>
            </a:r>
            <a:r>
              <a:rPr lang="en-US" altLang="zh-CN" sz="2800" dirty="0"/>
              <a:t>1</a:t>
            </a:r>
            <a:r>
              <a:rPr lang="zh-CN" altLang="en-US" sz="2800" dirty="0"/>
              <a:t>，</a:t>
            </a:r>
            <a:r>
              <a:rPr lang="en-US" altLang="zh-CN" sz="2800" dirty="0"/>
              <a:t>1</a:t>
            </a:r>
            <a:r>
              <a:rPr lang="zh-CN" altLang="en-US" sz="2800" dirty="0"/>
              <a:t>），那么这些可有可无的状态就决定了游戏的步数。</a:t>
            </a:r>
            <a:endParaRPr lang="en-US" altLang="zh-CN" sz="2800" dirty="0"/>
          </a:p>
          <a:p>
            <a:pPr marL="914400" lvl="1" indent="-457200">
              <a:lnSpc>
                <a:spcPct val="110000"/>
              </a:lnSpc>
              <a:buFont typeface="Arial" panose="020B0604020202020204" pitchFamily="34" charset="0"/>
              <a:buChar char="•"/>
            </a:pPr>
            <a:r>
              <a:rPr lang="zh-CN" altLang="en-US" sz="2800" dirty="0"/>
              <a:t>假设当前的状态为（</a:t>
            </a:r>
            <a:r>
              <a:rPr lang="en-US" altLang="zh-CN" sz="2800" dirty="0"/>
              <a:t>p</a:t>
            </a:r>
            <a:r>
              <a:rPr lang="zh-CN" altLang="en-US" sz="2800" dirty="0"/>
              <a:t>，</a:t>
            </a:r>
            <a:r>
              <a:rPr lang="en-US" altLang="zh-CN" sz="2800" dirty="0"/>
              <a:t>q</a:t>
            </a:r>
            <a:r>
              <a:rPr lang="zh-CN" altLang="en-US" sz="2800" dirty="0"/>
              <a:t>），</a:t>
            </a:r>
            <a:r>
              <a:rPr lang="en-US" altLang="zh-CN" sz="2800" dirty="0"/>
              <a:t>p&lt;q</a:t>
            </a:r>
            <a:r>
              <a:rPr lang="zh-CN" altLang="en-US" sz="2800" dirty="0"/>
              <a:t>，那么到达第一次</a:t>
            </a:r>
            <a:r>
              <a:rPr lang="en-US" altLang="zh-CN" sz="2800" dirty="0"/>
              <a:t>q/p&gt;=2</a:t>
            </a:r>
            <a:r>
              <a:rPr lang="zh-CN" altLang="en-US" sz="2800" dirty="0"/>
              <a:t>的人有掌控权且必胜。</a:t>
            </a:r>
            <a:endParaRPr lang="en-US" altLang="zh-CN" sz="2800" dirty="0"/>
          </a:p>
        </p:txBody>
      </p:sp>
      <p:sp>
        <p:nvSpPr>
          <p:cNvPr id="25" name="箭头: 下 24"/>
          <p:cNvSpPr/>
          <p:nvPr/>
        </p:nvSpPr>
        <p:spPr>
          <a:xfrm rot="10800000">
            <a:off x="5230316" y="4356989"/>
            <a:ext cx="144016" cy="239245"/>
          </a:xfrm>
          <a:prstGeom prst="down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8" name="箭头: 下 27"/>
          <p:cNvSpPr/>
          <p:nvPr/>
        </p:nvSpPr>
        <p:spPr>
          <a:xfrm rot="10800000">
            <a:off x="7102524" y="4356989"/>
            <a:ext cx="144016" cy="239245"/>
          </a:xfrm>
          <a:prstGeom prst="downArrow">
            <a:avLst/>
          </a:prstGeom>
          <a:ln>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pic>
        <p:nvPicPr>
          <p:cNvPr id="1025" name="DefaultOcx"/>
          <p:cNvPicPr/>
          <p:nvPr/>
        </p:nvPicPr>
        <p:blipFill>
          <a:blip r:embed="rId2"/>
          <a:stretch>
            <a:fillRect/>
          </a:stretch>
        </p:blipFill>
        <p:spPr>
          <a:xfrm>
            <a:off x="0" y="0"/>
            <a:ext cx="914400" cy="228600"/>
          </a:xfrm>
          <a:prstGeom prst="rect">
            <a:avLst/>
          </a:prstGeom>
        </p:spPr>
      </p:pic>
      <p:pic>
        <p:nvPicPr>
          <p:cNvPr id="1026" name="HTMLSubmit1"/>
          <p:cNvPicPr/>
          <p:nvPr/>
        </p:nvPicPr>
        <p:blipFill>
          <a:blip r:embed="rId3"/>
          <a:stretch>
            <a:fillRect/>
          </a:stretch>
        </p:blipFill>
        <p:spPr>
          <a:xfrm>
            <a:off x="0" y="0"/>
            <a:ext cx="914400" cy="304800"/>
          </a:xfrm>
          <a:prstGeom prst="rect">
            <a:avLst/>
          </a:prstGeom>
        </p:spPr>
      </p:pic>
      <p:pic>
        <p:nvPicPr>
          <p:cNvPr id="1027" name="图片 1026" descr="qqlogin"/>
          <p:cNvPicPr>
            <a:picLocks noChangeAspect="1"/>
          </p:cNvPicPr>
          <p:nvPr/>
        </p:nvPicPr>
        <p:blipFill>
          <a:blip r:embed="rId4"/>
          <a:stretch>
            <a:fillRect/>
          </a:stretch>
        </p:blipFill>
        <p:spPr>
          <a:xfrm>
            <a:off x="0" y="0"/>
            <a:ext cx="1143000" cy="228600"/>
          </a:xfrm>
          <a:prstGeom prst="rect">
            <a:avLst/>
          </a:prstGeom>
          <a:noFill/>
          <a:ln w="9525">
            <a:noFill/>
          </a:ln>
        </p:spPr>
      </p:pic>
      <p:pic>
        <p:nvPicPr>
          <p:cNvPr id="1028" name="HTMLText1"/>
          <p:cNvPicPr/>
          <p:nvPr/>
        </p:nvPicPr>
        <p:blipFill>
          <a:blip r:embed="rId2"/>
          <a:stretch>
            <a:fillRect/>
          </a:stretch>
        </p:blipFill>
        <p:spPr>
          <a:xfrm>
            <a:off x="0" y="0"/>
            <a:ext cx="914400" cy="228600"/>
          </a:xfrm>
          <a:prstGeom prst="rect">
            <a:avLst/>
          </a:prstGeom>
        </p:spPr>
      </p:pic>
      <p:pic>
        <p:nvPicPr>
          <p:cNvPr id="1029" name="HTMLPassword1"/>
          <p:cNvPicPr/>
          <p:nvPr/>
        </p:nvPicPr>
        <p:blipFill>
          <a:blip r:embed="rId2"/>
          <a:stretch>
            <a:fillRect/>
          </a:stretch>
        </p:blipFill>
        <p:spPr>
          <a:xfrm>
            <a:off x="0" y="0"/>
            <a:ext cx="914400" cy="228600"/>
          </a:xfrm>
          <a:prstGeom prst="rect">
            <a:avLst/>
          </a:prstGeom>
        </p:spPr>
      </p:pic>
      <p:pic>
        <p:nvPicPr>
          <p:cNvPr id="1030" name="HTMLSubmit2"/>
          <p:cNvPicPr/>
          <p:nvPr/>
        </p:nvPicPr>
        <p:blipFill>
          <a:blip r:embed="rId5"/>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3772" y="1106417"/>
            <a:ext cx="11233248" cy="4832092"/>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最终状态的前一步为（</a:t>
            </a:r>
            <a:r>
              <a:rPr lang="en-US" altLang="zh-CN" sz="2800" dirty="0"/>
              <a:t>p</a:t>
            </a:r>
            <a:r>
              <a:rPr lang="zh-CN" altLang="en-US" sz="2800" dirty="0"/>
              <a:t>，</a:t>
            </a:r>
            <a:r>
              <a:rPr lang="en-US" altLang="zh-CN" sz="2800" dirty="0"/>
              <a:t>n*p</a:t>
            </a:r>
            <a:r>
              <a:rPr lang="zh-CN" altLang="en-US" sz="2800" dirty="0"/>
              <a:t>），这时显然先手必胜，因为他可以直接时</a:t>
            </a:r>
            <a:r>
              <a:rPr lang="en-US" altLang="zh-CN" sz="2800" dirty="0"/>
              <a:t>n</a:t>
            </a:r>
            <a:r>
              <a:rPr lang="zh-CN" altLang="en-US" sz="2800" dirty="0"/>
              <a:t>*</a:t>
            </a:r>
            <a:r>
              <a:rPr lang="en-US" altLang="zh-CN" sz="2800" dirty="0"/>
              <a:t>p</a:t>
            </a:r>
            <a:r>
              <a:rPr lang="zh-CN" altLang="en-US" sz="2800" dirty="0"/>
              <a:t>变为</a:t>
            </a:r>
            <a:r>
              <a:rPr lang="en-US" altLang="zh-CN" sz="2800" dirty="0"/>
              <a:t>0</a:t>
            </a:r>
            <a:r>
              <a:rPr lang="zh-CN" altLang="en-US" sz="2800" dirty="0"/>
              <a:t>，从而使对手无法操作</a:t>
            </a:r>
            <a:endParaRPr lang="en-US" altLang="zh-CN" sz="2800" dirty="0"/>
          </a:p>
          <a:p>
            <a:pPr marL="457200" indent="-457200">
              <a:lnSpc>
                <a:spcPct val="110000"/>
              </a:lnSpc>
              <a:buFont typeface="Arial" panose="020B0604020202020204" pitchFamily="34" charset="0"/>
              <a:buChar char="•"/>
            </a:pPr>
            <a:r>
              <a:rPr lang="zh-CN" altLang="en-US" sz="2800" dirty="0"/>
              <a:t>中间状态时（</a:t>
            </a:r>
            <a:r>
              <a:rPr lang="en-US" altLang="zh-CN" sz="2800" dirty="0"/>
              <a:t>p</a:t>
            </a:r>
            <a:r>
              <a:rPr lang="zh-CN" altLang="en-US" sz="2800" dirty="0"/>
              <a:t>，</a:t>
            </a:r>
            <a:r>
              <a:rPr lang="en-US" altLang="zh-CN" sz="2800" dirty="0" err="1"/>
              <a:t>q’+n</a:t>
            </a:r>
            <a:r>
              <a:rPr lang="en-US" altLang="zh-CN" sz="2800" dirty="0"/>
              <a:t>*p</a:t>
            </a:r>
            <a:r>
              <a:rPr lang="zh-CN" altLang="en-US" sz="2800" dirty="0"/>
              <a:t>），先手可以通过到达下一个</a:t>
            </a:r>
            <a:r>
              <a:rPr lang="en-US" altLang="zh-CN" sz="2800" dirty="0"/>
              <a:t>q/p&gt;=2</a:t>
            </a:r>
            <a:r>
              <a:rPr lang="zh-CN" altLang="en-US" sz="2800" dirty="0"/>
              <a:t>的状态的步数的奇偶，来确定此步是使局面变成（</a:t>
            </a:r>
            <a:r>
              <a:rPr lang="en-US" altLang="zh-CN" sz="2800" dirty="0"/>
              <a:t>p</a:t>
            </a:r>
            <a:r>
              <a:rPr lang="zh-CN" altLang="en-US" sz="2800" dirty="0"/>
              <a:t>，</a:t>
            </a:r>
            <a:r>
              <a:rPr lang="en-US" altLang="zh-CN" sz="2800" dirty="0"/>
              <a:t>q’</a:t>
            </a:r>
            <a:r>
              <a:rPr lang="zh-CN" altLang="en-US" sz="2800" dirty="0"/>
              <a:t>）还是</a:t>
            </a:r>
            <a:r>
              <a:rPr lang="en-US" altLang="zh-CN" sz="2800" dirty="0"/>
              <a:t>   </a:t>
            </a:r>
            <a:r>
              <a:rPr lang="zh-CN" altLang="en-US" sz="2800" dirty="0"/>
              <a:t>（</a:t>
            </a:r>
            <a:r>
              <a:rPr lang="en-US" altLang="zh-CN" sz="2800" dirty="0"/>
              <a:t>p</a:t>
            </a:r>
            <a:r>
              <a:rPr lang="zh-CN" altLang="en-US" sz="2800" dirty="0"/>
              <a:t>，</a:t>
            </a:r>
            <a:r>
              <a:rPr lang="en-US" altLang="zh-CN" sz="2800" dirty="0"/>
              <a:t>q</a:t>
            </a:r>
            <a:r>
              <a:rPr lang="zh-CN" altLang="en-US" sz="2800" dirty="0"/>
              <a:t>‘</a:t>
            </a:r>
            <a:r>
              <a:rPr lang="en-US" altLang="zh-CN" sz="2800" dirty="0"/>
              <a:t>+p</a:t>
            </a:r>
            <a:r>
              <a:rPr lang="zh-CN" altLang="en-US" sz="2800" dirty="0"/>
              <a:t> ）。比如说（</a:t>
            </a:r>
            <a:r>
              <a:rPr lang="en-US" altLang="zh-CN" sz="2800" dirty="0"/>
              <a:t>5</a:t>
            </a:r>
            <a:r>
              <a:rPr lang="zh-CN" altLang="en-US" sz="2800" dirty="0"/>
              <a:t>，</a:t>
            </a:r>
            <a:r>
              <a:rPr lang="en-US" altLang="zh-CN" sz="2800" dirty="0"/>
              <a:t>13</a:t>
            </a:r>
            <a:r>
              <a:rPr lang="zh-CN" altLang="en-US" sz="2800" dirty="0"/>
              <a:t>），需要将局面变为（</a:t>
            </a:r>
            <a:r>
              <a:rPr lang="en-US" altLang="zh-CN" sz="2800" dirty="0"/>
              <a:t>5</a:t>
            </a:r>
            <a:r>
              <a:rPr lang="zh-CN" altLang="en-US" sz="2800" dirty="0"/>
              <a:t>，</a:t>
            </a:r>
            <a:r>
              <a:rPr lang="en-US" altLang="zh-CN" sz="2800" dirty="0"/>
              <a:t>8</a:t>
            </a:r>
            <a:r>
              <a:rPr lang="zh-CN" altLang="en-US" sz="2800" dirty="0"/>
              <a:t>），然后（</a:t>
            </a:r>
            <a:r>
              <a:rPr lang="en-US" altLang="zh-CN" sz="2800" dirty="0"/>
              <a:t>5</a:t>
            </a:r>
            <a:r>
              <a:rPr lang="zh-CN" altLang="en-US" sz="2800" dirty="0"/>
              <a:t>，</a:t>
            </a:r>
            <a:r>
              <a:rPr lang="en-US" altLang="zh-CN" sz="2800" dirty="0"/>
              <a:t>3</a:t>
            </a:r>
            <a:r>
              <a:rPr lang="zh-CN" altLang="en-US" sz="2800" dirty="0"/>
              <a:t>），（</a:t>
            </a:r>
            <a:r>
              <a:rPr lang="en-US" altLang="zh-CN" sz="2800" dirty="0"/>
              <a:t>2</a:t>
            </a:r>
            <a:r>
              <a:rPr lang="zh-CN" altLang="en-US" sz="2800" dirty="0"/>
              <a:t>，</a:t>
            </a:r>
            <a:r>
              <a:rPr lang="en-US" altLang="zh-CN" sz="2800" dirty="0"/>
              <a:t>3</a:t>
            </a:r>
            <a:r>
              <a:rPr lang="zh-CN" altLang="en-US" sz="2800" dirty="0"/>
              <a:t>），最后（</a:t>
            </a:r>
            <a:r>
              <a:rPr lang="en-US" altLang="zh-CN" sz="2800" dirty="0"/>
              <a:t>2</a:t>
            </a:r>
            <a:r>
              <a:rPr lang="zh-CN" altLang="en-US" sz="2800" dirty="0"/>
              <a:t>，</a:t>
            </a:r>
            <a:r>
              <a:rPr lang="en-US" altLang="zh-CN" sz="2800" dirty="0"/>
              <a:t>1</a:t>
            </a:r>
            <a:r>
              <a:rPr lang="zh-CN" altLang="en-US" sz="2800" dirty="0"/>
              <a:t>）的状态仍是先手到达。而（</a:t>
            </a:r>
            <a:r>
              <a:rPr lang="en-US" altLang="zh-CN" sz="2800" dirty="0"/>
              <a:t>8</a:t>
            </a:r>
            <a:r>
              <a:rPr lang="zh-CN" altLang="en-US" sz="2800" dirty="0"/>
              <a:t>，</a:t>
            </a:r>
            <a:r>
              <a:rPr lang="en-US" altLang="zh-CN" sz="2800" dirty="0"/>
              <a:t>3</a:t>
            </a:r>
            <a:r>
              <a:rPr lang="zh-CN" altLang="en-US" sz="2800" dirty="0"/>
              <a:t>），需要将局面变为（</a:t>
            </a:r>
            <a:r>
              <a:rPr lang="en-US" altLang="zh-CN" sz="2800" dirty="0"/>
              <a:t>2</a:t>
            </a:r>
            <a:r>
              <a:rPr lang="zh-CN" altLang="en-US" sz="2800" dirty="0"/>
              <a:t>，</a:t>
            </a:r>
            <a:r>
              <a:rPr lang="en-US" altLang="zh-CN" sz="2800" dirty="0"/>
              <a:t>3</a:t>
            </a:r>
            <a:r>
              <a:rPr lang="zh-CN" altLang="en-US" sz="2800" dirty="0"/>
              <a:t>），然后（</a:t>
            </a:r>
            <a:r>
              <a:rPr lang="en-US" altLang="zh-CN" sz="2800" dirty="0"/>
              <a:t>2</a:t>
            </a:r>
            <a:r>
              <a:rPr lang="zh-CN" altLang="en-US" sz="2800" dirty="0"/>
              <a:t>，</a:t>
            </a:r>
            <a:r>
              <a:rPr lang="en-US" altLang="zh-CN" sz="2800" dirty="0"/>
              <a:t>1</a:t>
            </a:r>
            <a:r>
              <a:rPr lang="zh-CN" altLang="en-US" sz="2800" dirty="0"/>
              <a:t>）先手到达。</a:t>
            </a:r>
            <a:endParaRPr lang="en-US" altLang="zh-CN" sz="2800" dirty="0"/>
          </a:p>
          <a:p>
            <a:pPr marL="457200" indent="-457200">
              <a:lnSpc>
                <a:spcPct val="110000"/>
              </a:lnSpc>
              <a:buFont typeface="Arial" panose="020B0604020202020204" pitchFamily="34" charset="0"/>
              <a:buChar char="•"/>
            </a:pPr>
            <a:r>
              <a:rPr lang="zh-CN" altLang="en-US" sz="2800" dirty="0"/>
              <a:t>先手只会走着两步中的一步，其它操作都会使掌控权到另一人手中。</a:t>
            </a:r>
            <a:endParaRPr lang="en-US" altLang="zh-CN" sz="2800" dirty="0"/>
          </a:p>
          <a:p>
            <a:pPr marL="457200" indent="-457200">
              <a:lnSpc>
                <a:spcPct val="110000"/>
              </a:lnSpc>
              <a:buFont typeface="Arial" panose="020B0604020202020204" pitchFamily="34" charset="0"/>
              <a:buChar char="•"/>
            </a:pPr>
            <a:r>
              <a:rPr lang="zh-CN" altLang="en-US" sz="2800" dirty="0"/>
              <a:t>综上所述，我们可以直接找到每个游戏的最大步数及胜利者。这道题就做完了。</a:t>
            </a:r>
            <a:endParaRPr lang="zh-CN" altLang="en-US" sz="2800" dirty="0"/>
          </a:p>
        </p:txBody>
      </p:sp>
      <p:sp>
        <p:nvSpPr>
          <p:cNvPr id="11" name="标题 3"/>
          <p:cNvSpPr>
            <a:spLocks noGrp="1"/>
          </p:cNvSpPr>
          <p:nvPr>
            <p:ph type="title"/>
          </p:nvPr>
        </p:nvSpPr>
        <p:spPr>
          <a:xfrm>
            <a:off x="333772" y="332656"/>
            <a:ext cx="11233248" cy="773761"/>
          </a:xfrm>
        </p:spPr>
        <p:txBody>
          <a:bodyPr>
            <a:normAutofit/>
          </a:bodyPr>
          <a:lstStyle/>
          <a:p>
            <a:r>
              <a:rPr lang="zh-CN" altLang="en-US" sz="3200" dirty="0"/>
              <a:t>六 </a:t>
            </a:r>
            <a:r>
              <a:rPr lang="en-US" altLang="zh-CN" sz="3200" dirty="0"/>
              <a:t>. Every-SG</a:t>
            </a:r>
            <a:r>
              <a:rPr lang="zh-CN" altLang="en-US" sz="3200" dirty="0"/>
              <a:t>游戏</a:t>
            </a:r>
            <a:endParaRPr lang="zh-CN" sz="3200" dirty="0">
              <a:latin typeface="微软雅黑" panose="020B0503020204020204" pitchFamily="34" charset="-122"/>
              <a:ea typeface="微软雅黑" panose="020B0503020204020204" pitchFamily="34" charset="-122"/>
            </a:endParaRPr>
          </a:p>
        </p:txBody>
      </p:sp>
      <p:pic>
        <p:nvPicPr>
          <p:cNvPr id="2049" name="DefaultOcx"/>
          <p:cNvPicPr/>
          <p:nvPr/>
        </p:nvPicPr>
        <p:blipFill>
          <a:blip r:embed="rId1"/>
          <a:stretch>
            <a:fillRect/>
          </a:stretch>
        </p:blipFill>
        <p:spPr>
          <a:xfrm>
            <a:off x="0" y="0"/>
            <a:ext cx="914400" cy="228600"/>
          </a:xfrm>
          <a:prstGeom prst="rect">
            <a:avLst/>
          </a:prstGeom>
        </p:spPr>
      </p:pic>
      <p:pic>
        <p:nvPicPr>
          <p:cNvPr id="2050" name="HTMLSubmit1"/>
          <p:cNvPicPr/>
          <p:nvPr/>
        </p:nvPicPr>
        <p:blipFill>
          <a:blip r:embed="rId2"/>
          <a:stretch>
            <a:fillRect/>
          </a:stretch>
        </p:blipFill>
        <p:spPr>
          <a:xfrm>
            <a:off x="0" y="0"/>
            <a:ext cx="914400" cy="304800"/>
          </a:xfrm>
          <a:prstGeom prst="rect">
            <a:avLst/>
          </a:prstGeom>
        </p:spPr>
      </p:pic>
      <p:pic>
        <p:nvPicPr>
          <p:cNvPr id="2051"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2052" name="HTMLText1"/>
          <p:cNvPicPr/>
          <p:nvPr/>
        </p:nvPicPr>
        <p:blipFill>
          <a:blip r:embed="rId1"/>
          <a:stretch>
            <a:fillRect/>
          </a:stretch>
        </p:blipFill>
        <p:spPr>
          <a:xfrm>
            <a:off x="0" y="0"/>
            <a:ext cx="914400" cy="228600"/>
          </a:xfrm>
          <a:prstGeom prst="rect">
            <a:avLst/>
          </a:prstGeom>
        </p:spPr>
      </p:pic>
      <p:pic>
        <p:nvPicPr>
          <p:cNvPr id="2053" name="HTMLPassword1"/>
          <p:cNvPicPr/>
          <p:nvPr/>
        </p:nvPicPr>
        <p:blipFill>
          <a:blip r:embed="rId1"/>
          <a:stretch>
            <a:fillRect/>
          </a:stretch>
        </p:blipFill>
        <p:spPr>
          <a:xfrm>
            <a:off x="0" y="0"/>
            <a:ext cx="914400" cy="228600"/>
          </a:xfrm>
          <a:prstGeom prst="rect">
            <a:avLst/>
          </a:prstGeom>
        </p:spPr>
      </p:pic>
      <p:pic>
        <p:nvPicPr>
          <p:cNvPr id="2054"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3772" y="1106417"/>
            <a:ext cx="11233248" cy="1514261"/>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对于一般的组合游戏，我们可以求得其</a:t>
            </a:r>
            <a:r>
              <a:rPr lang="en-US" altLang="zh-CN" sz="2800" dirty="0"/>
              <a:t>sg</a:t>
            </a:r>
            <a:r>
              <a:rPr lang="zh-CN" altLang="en-US" sz="2800" dirty="0"/>
              <a:t>值判断正负。但对于一些局面过多的游戏，求解其</a:t>
            </a:r>
            <a:r>
              <a:rPr lang="en-US" altLang="zh-CN" sz="2800" dirty="0"/>
              <a:t>sg</a:t>
            </a:r>
            <a:r>
              <a:rPr lang="zh-CN" altLang="en-US" sz="2800" dirty="0"/>
              <a:t>值几乎不可能，而这时我们可以直接通过人脑观察数据，推理演算出必败态和必败态。</a:t>
            </a:r>
            <a:endParaRPr lang="zh-CN" altLang="en-US" sz="2800" dirty="0"/>
          </a:p>
        </p:txBody>
      </p:sp>
      <p:sp>
        <p:nvSpPr>
          <p:cNvPr id="11" name="标题 3"/>
          <p:cNvSpPr>
            <a:spLocks noGrp="1"/>
          </p:cNvSpPr>
          <p:nvPr>
            <p:ph type="title"/>
          </p:nvPr>
        </p:nvSpPr>
        <p:spPr>
          <a:xfrm>
            <a:off x="333772" y="332656"/>
            <a:ext cx="11233248" cy="773761"/>
          </a:xfrm>
        </p:spPr>
        <p:txBody>
          <a:bodyPr>
            <a:normAutofit/>
          </a:bodyPr>
          <a:lstStyle/>
          <a:p>
            <a:r>
              <a:rPr lang="zh-CN" altLang="en-US" sz="3200" dirty="0">
                <a:latin typeface="微软雅黑" panose="020B0503020204020204" pitchFamily="34" charset="-122"/>
                <a:ea typeface="微软雅黑" panose="020B0503020204020204" pitchFamily="34" charset="-122"/>
              </a:rPr>
              <a:t>七 </a:t>
            </a:r>
            <a:r>
              <a:rPr lang="en-US" altLang="zh-CN" sz="3200" dirty="0"/>
              <a:t>. </a:t>
            </a:r>
            <a:r>
              <a:rPr lang="zh-CN" altLang="en-US" sz="3200" dirty="0"/>
              <a:t>解题训练</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2620678"/>
            <a:ext cx="11233248" cy="3410164"/>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必败态其实就是</a:t>
            </a:r>
            <a:r>
              <a:rPr lang="en-US" altLang="zh-CN" sz="2800" dirty="0"/>
              <a:t>P-position</a:t>
            </a:r>
            <a:r>
              <a:rPr lang="zh-CN" altLang="en-US" sz="2800" dirty="0"/>
              <a:t>，我们只要找出一个满足下列条件的合理的</a:t>
            </a:r>
            <a:r>
              <a:rPr lang="en-US" altLang="zh-CN" sz="2800" dirty="0"/>
              <a:t>position</a:t>
            </a:r>
            <a:r>
              <a:rPr lang="zh-CN" altLang="en-US" sz="2800" dirty="0"/>
              <a:t>的定义，就可以确定胜负了。</a:t>
            </a:r>
            <a:endParaRPr lang="en-US" altLang="zh-CN" sz="2800" dirty="0"/>
          </a:p>
          <a:p>
            <a:pPr marL="914400" lvl="1" indent="-457200">
              <a:lnSpc>
                <a:spcPct val="110000"/>
              </a:lnSpc>
              <a:buFont typeface="Arial" panose="020B0604020202020204" pitchFamily="34" charset="0"/>
              <a:buChar char="•"/>
            </a:pPr>
            <a:r>
              <a:rPr lang="zh-CN" altLang="en-US" sz="2800" dirty="0"/>
              <a:t>若最终局面根据</a:t>
            </a:r>
            <a:r>
              <a:rPr lang="en-US" altLang="zh-CN" sz="2800" dirty="0"/>
              <a:t>position</a:t>
            </a:r>
            <a:r>
              <a:rPr lang="zh-CN" altLang="en-US" sz="2800" dirty="0"/>
              <a:t>定义为</a:t>
            </a:r>
            <a:r>
              <a:rPr lang="en-US" altLang="zh-CN" sz="2800" dirty="0"/>
              <a:t>P-position</a:t>
            </a:r>
            <a:r>
              <a:rPr lang="zh-CN" altLang="en-US" sz="2800" dirty="0"/>
              <a:t>，则失败，为</a:t>
            </a:r>
            <a:r>
              <a:rPr lang="en-US" altLang="zh-CN" sz="2800" dirty="0"/>
              <a:t>N-position</a:t>
            </a:r>
            <a:r>
              <a:rPr lang="zh-CN" altLang="en-US" sz="2800" dirty="0"/>
              <a:t>则获胜。</a:t>
            </a:r>
            <a:endParaRPr lang="en-US" altLang="zh-CN" sz="2800" dirty="0"/>
          </a:p>
          <a:p>
            <a:pPr marL="914400" lvl="1" indent="-457200">
              <a:lnSpc>
                <a:spcPct val="110000"/>
              </a:lnSpc>
              <a:buFont typeface="Arial" panose="020B0604020202020204" pitchFamily="34" charset="0"/>
              <a:buChar char="•"/>
            </a:pPr>
            <a:r>
              <a:rPr lang="en-US" altLang="zh-CN" sz="2800" dirty="0"/>
              <a:t>P-position</a:t>
            </a:r>
            <a:r>
              <a:rPr lang="zh-CN" altLang="en-US" sz="2800" dirty="0"/>
              <a:t>只能到达</a:t>
            </a:r>
            <a:r>
              <a:rPr lang="en-US" altLang="zh-CN" sz="2800" dirty="0"/>
              <a:t>N-position</a:t>
            </a:r>
            <a:r>
              <a:rPr lang="zh-CN" altLang="en-US" sz="2800" dirty="0"/>
              <a:t>。</a:t>
            </a:r>
            <a:endParaRPr lang="en-US" altLang="zh-CN" sz="2800" dirty="0"/>
          </a:p>
          <a:p>
            <a:pPr marL="914400" lvl="1" indent="-457200">
              <a:lnSpc>
                <a:spcPct val="110000"/>
              </a:lnSpc>
              <a:buFont typeface="Arial" panose="020B0604020202020204" pitchFamily="34" charset="0"/>
              <a:buChar char="•"/>
            </a:pPr>
            <a:r>
              <a:rPr lang="en-US" altLang="zh-CN" sz="2800" dirty="0"/>
              <a:t>N-position</a:t>
            </a:r>
            <a:r>
              <a:rPr lang="zh-CN" altLang="en-US" sz="2800" dirty="0"/>
              <a:t>后继局面中一定有一个</a:t>
            </a:r>
            <a:r>
              <a:rPr lang="en-US" altLang="zh-CN" sz="2800" dirty="0"/>
              <a:t>P-position</a:t>
            </a:r>
            <a:r>
              <a:rPr lang="zh-CN" altLang="en-US" sz="2800" dirty="0"/>
              <a:t>。</a:t>
            </a:r>
            <a:endParaRPr lang="en-US" altLang="zh-CN" sz="2800" dirty="0"/>
          </a:p>
          <a:p>
            <a:pPr marL="914400" lvl="1" indent="-457200">
              <a:lnSpc>
                <a:spcPct val="110000"/>
              </a:lnSpc>
              <a:buFont typeface="Arial" panose="020B0604020202020204" pitchFamily="34" charset="0"/>
              <a:buChar char="•"/>
            </a:pPr>
            <a:endParaRPr lang="zh-CN" altLang="en-US" sz="2800" dirty="0"/>
          </a:p>
        </p:txBody>
      </p:sp>
      <p:pic>
        <p:nvPicPr>
          <p:cNvPr id="3073" name="DefaultOcx"/>
          <p:cNvPicPr/>
          <p:nvPr/>
        </p:nvPicPr>
        <p:blipFill>
          <a:blip r:embed="rId1"/>
          <a:stretch>
            <a:fillRect/>
          </a:stretch>
        </p:blipFill>
        <p:spPr>
          <a:xfrm>
            <a:off x="0" y="0"/>
            <a:ext cx="914400" cy="228600"/>
          </a:xfrm>
          <a:prstGeom prst="rect">
            <a:avLst/>
          </a:prstGeom>
        </p:spPr>
      </p:pic>
      <p:pic>
        <p:nvPicPr>
          <p:cNvPr id="3074" name="HTMLSubmit1"/>
          <p:cNvPicPr/>
          <p:nvPr/>
        </p:nvPicPr>
        <p:blipFill>
          <a:blip r:embed="rId2"/>
          <a:stretch>
            <a:fillRect/>
          </a:stretch>
        </p:blipFill>
        <p:spPr>
          <a:xfrm>
            <a:off x="0" y="0"/>
            <a:ext cx="914400" cy="304800"/>
          </a:xfrm>
          <a:prstGeom prst="rect">
            <a:avLst/>
          </a:prstGeom>
        </p:spPr>
      </p:pic>
      <p:pic>
        <p:nvPicPr>
          <p:cNvPr id="3075"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3076" name="HTMLText1"/>
          <p:cNvPicPr/>
          <p:nvPr/>
        </p:nvPicPr>
        <p:blipFill>
          <a:blip r:embed="rId1"/>
          <a:stretch>
            <a:fillRect/>
          </a:stretch>
        </p:blipFill>
        <p:spPr>
          <a:xfrm>
            <a:off x="0" y="0"/>
            <a:ext cx="914400" cy="228600"/>
          </a:xfrm>
          <a:prstGeom prst="rect">
            <a:avLst/>
          </a:prstGeom>
        </p:spPr>
      </p:pic>
      <p:pic>
        <p:nvPicPr>
          <p:cNvPr id="3077" name="HTMLPassword1"/>
          <p:cNvPicPr/>
          <p:nvPr/>
        </p:nvPicPr>
        <p:blipFill>
          <a:blip r:embed="rId1"/>
          <a:stretch>
            <a:fillRect/>
          </a:stretch>
        </p:blipFill>
        <p:spPr>
          <a:xfrm>
            <a:off x="0" y="0"/>
            <a:ext cx="914400" cy="228600"/>
          </a:xfrm>
          <a:prstGeom prst="rect">
            <a:avLst/>
          </a:prstGeom>
        </p:spPr>
      </p:pic>
      <p:pic>
        <p:nvPicPr>
          <p:cNvPr id="3078"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3772" y="1106417"/>
            <a:ext cx="11233248" cy="2425344"/>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例题：有</a:t>
            </a:r>
            <a:r>
              <a:rPr lang="en-US" altLang="zh-CN" sz="2800" dirty="0"/>
              <a:t>N</a:t>
            </a:r>
            <a:r>
              <a:rPr lang="zh-CN" altLang="en-US" sz="2800" dirty="0"/>
              <a:t>堆石子，两人轮流进行操作，每一次为“操作者指定一堆石子，先从中扔掉一部分（至少一颗，可以全部扔掉），然后可以将该堆剩下的石子中的任意多颗任意移到其他未取完的堆中”，无路可走者负。</a:t>
            </a:r>
            <a:endParaRPr lang="en-US" altLang="zh-CN" sz="2800" dirty="0"/>
          </a:p>
          <a:p>
            <a:pPr marL="457200" indent="-457200">
              <a:lnSpc>
                <a:spcPct val="110000"/>
              </a:lnSpc>
              <a:buFont typeface="Arial" panose="020B0604020202020204" pitchFamily="34" charset="0"/>
              <a:buChar char="•"/>
            </a:pPr>
            <a:r>
              <a:rPr lang="zh-CN" altLang="en-US" sz="2800" dirty="0"/>
              <a:t>链接：</a:t>
            </a:r>
            <a:r>
              <a:rPr lang="en-US" altLang="zh-CN" sz="2800" dirty="0">
                <a:hlinkClick r:id="rId1"/>
              </a:rPr>
              <a:t>http://poj.org/problem?id=1704</a:t>
            </a:r>
            <a:endParaRPr lang="zh-CN" altLang="en-US" sz="2800" dirty="0"/>
          </a:p>
        </p:txBody>
      </p:sp>
      <p:sp>
        <p:nvSpPr>
          <p:cNvPr id="11" name="标题 3"/>
          <p:cNvSpPr>
            <a:spLocks noGrp="1"/>
          </p:cNvSpPr>
          <p:nvPr>
            <p:ph type="title"/>
          </p:nvPr>
        </p:nvSpPr>
        <p:spPr>
          <a:xfrm>
            <a:off x="333772" y="332656"/>
            <a:ext cx="11233248" cy="773761"/>
          </a:xfrm>
        </p:spPr>
        <p:txBody>
          <a:bodyPr>
            <a:normAutofit/>
          </a:bodyPr>
          <a:lstStyle/>
          <a:p>
            <a:r>
              <a:rPr lang="zh-CN" altLang="en-US" sz="3200" dirty="0">
                <a:latin typeface="微软雅黑" panose="020B0503020204020204" pitchFamily="34" charset="-122"/>
                <a:ea typeface="微软雅黑" panose="020B0503020204020204" pitchFamily="34" charset="-122"/>
              </a:rPr>
              <a:t>七 </a:t>
            </a:r>
            <a:r>
              <a:rPr lang="en-US" altLang="zh-CN" sz="3200" dirty="0"/>
              <a:t>. </a:t>
            </a:r>
            <a:r>
              <a:rPr lang="zh-CN" altLang="en-US" sz="3200" dirty="0"/>
              <a:t>解题训练</a:t>
            </a:r>
            <a:endParaRPr lang="zh-CN" sz="3200" dirty="0">
              <a:latin typeface="微软雅黑" panose="020B0503020204020204" pitchFamily="34" charset="-122"/>
              <a:ea typeface="微软雅黑" panose="020B0503020204020204" pitchFamily="34" charset="-122"/>
            </a:endParaRPr>
          </a:p>
        </p:txBody>
      </p:sp>
      <p:sp>
        <p:nvSpPr>
          <p:cNvPr id="5" name="文本框 4"/>
          <p:cNvSpPr txBox="1"/>
          <p:nvPr/>
        </p:nvSpPr>
        <p:spPr>
          <a:xfrm>
            <a:off x="333772" y="3531761"/>
            <a:ext cx="11233248" cy="1040285"/>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对于一个游戏局面来说，后继局面数量过于庞大，所以我们要找到一个合理的</a:t>
            </a:r>
            <a:r>
              <a:rPr lang="en-US" altLang="zh-CN" sz="2800" dirty="0"/>
              <a:t>position</a:t>
            </a:r>
            <a:r>
              <a:rPr lang="zh-CN" altLang="en-US" sz="2800" dirty="0"/>
              <a:t>定义。</a:t>
            </a:r>
            <a:endParaRPr lang="zh-CN" altLang="en-US" sz="2800" dirty="0"/>
          </a:p>
        </p:txBody>
      </p:sp>
      <p:sp>
        <p:nvSpPr>
          <p:cNvPr id="6" name="文本框 5"/>
          <p:cNvSpPr txBox="1"/>
          <p:nvPr/>
        </p:nvSpPr>
        <p:spPr>
          <a:xfrm>
            <a:off x="333772" y="4572046"/>
            <a:ext cx="11233248" cy="1514261"/>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从最简单的情况开始分析</a:t>
            </a:r>
            <a:endParaRPr lang="en-US" altLang="zh-CN" sz="2800" dirty="0"/>
          </a:p>
          <a:p>
            <a:pPr marL="914400" lvl="1" indent="-457200">
              <a:lnSpc>
                <a:spcPct val="110000"/>
              </a:lnSpc>
              <a:buFont typeface="Arial" panose="020B0604020202020204" pitchFamily="34" charset="0"/>
              <a:buChar char="•"/>
            </a:pPr>
            <a:r>
              <a:rPr lang="zh-CN" altLang="en-US" sz="2800" dirty="0"/>
              <a:t>只有一堆石子时，先手必胜。</a:t>
            </a:r>
            <a:endParaRPr lang="en-US" altLang="zh-CN" sz="2800" dirty="0"/>
          </a:p>
          <a:p>
            <a:pPr marL="914400" lvl="1" indent="-457200">
              <a:lnSpc>
                <a:spcPct val="110000"/>
              </a:lnSpc>
              <a:buFont typeface="Arial" panose="020B0604020202020204" pitchFamily="34" charset="0"/>
              <a:buChar char="•"/>
            </a:pPr>
            <a:r>
              <a:rPr lang="zh-CN" altLang="en-US" sz="2800" dirty="0"/>
              <a:t>有两堆石子时，若两堆石子数量相同，先手必败，否则先手必胜。</a:t>
            </a:r>
            <a:endParaRPr lang="zh-CN" altLang="en-US" sz="2800" dirty="0"/>
          </a:p>
        </p:txBody>
      </p:sp>
      <p:pic>
        <p:nvPicPr>
          <p:cNvPr id="4097" name="DefaultOcx"/>
          <p:cNvPicPr/>
          <p:nvPr/>
        </p:nvPicPr>
        <p:blipFill>
          <a:blip r:embed="rId2"/>
          <a:stretch>
            <a:fillRect/>
          </a:stretch>
        </p:blipFill>
        <p:spPr>
          <a:xfrm>
            <a:off x="0" y="0"/>
            <a:ext cx="914400" cy="228600"/>
          </a:xfrm>
          <a:prstGeom prst="rect">
            <a:avLst/>
          </a:prstGeom>
        </p:spPr>
      </p:pic>
      <p:pic>
        <p:nvPicPr>
          <p:cNvPr id="4098" name="HTMLSubmit1"/>
          <p:cNvPicPr/>
          <p:nvPr/>
        </p:nvPicPr>
        <p:blipFill>
          <a:blip r:embed="rId3"/>
          <a:stretch>
            <a:fillRect/>
          </a:stretch>
        </p:blipFill>
        <p:spPr>
          <a:xfrm>
            <a:off x="0" y="0"/>
            <a:ext cx="914400" cy="304800"/>
          </a:xfrm>
          <a:prstGeom prst="rect">
            <a:avLst/>
          </a:prstGeom>
        </p:spPr>
      </p:pic>
      <p:pic>
        <p:nvPicPr>
          <p:cNvPr id="4099" name="Picture 3" descr="qqlogin"/>
          <p:cNvPicPr>
            <a:picLocks noChangeAspect="1"/>
          </p:cNvPicPr>
          <p:nvPr/>
        </p:nvPicPr>
        <p:blipFill>
          <a:blip r:embed="rId4"/>
          <a:stretch>
            <a:fillRect/>
          </a:stretch>
        </p:blipFill>
        <p:spPr>
          <a:xfrm>
            <a:off x="0" y="0"/>
            <a:ext cx="1143000" cy="228600"/>
          </a:xfrm>
          <a:prstGeom prst="rect">
            <a:avLst/>
          </a:prstGeom>
          <a:noFill/>
          <a:ln w="9525">
            <a:noFill/>
          </a:ln>
        </p:spPr>
      </p:pic>
      <p:pic>
        <p:nvPicPr>
          <p:cNvPr id="4100" name="HTMLText1"/>
          <p:cNvPicPr/>
          <p:nvPr/>
        </p:nvPicPr>
        <p:blipFill>
          <a:blip r:embed="rId2"/>
          <a:stretch>
            <a:fillRect/>
          </a:stretch>
        </p:blipFill>
        <p:spPr>
          <a:xfrm>
            <a:off x="0" y="0"/>
            <a:ext cx="914400" cy="228600"/>
          </a:xfrm>
          <a:prstGeom prst="rect">
            <a:avLst/>
          </a:prstGeom>
        </p:spPr>
      </p:pic>
      <p:pic>
        <p:nvPicPr>
          <p:cNvPr id="4101" name="HTMLPassword1"/>
          <p:cNvPicPr/>
          <p:nvPr/>
        </p:nvPicPr>
        <p:blipFill>
          <a:blip r:embed="rId2"/>
          <a:stretch>
            <a:fillRect/>
          </a:stretch>
        </p:blipFill>
        <p:spPr>
          <a:xfrm>
            <a:off x="0" y="0"/>
            <a:ext cx="914400" cy="228600"/>
          </a:xfrm>
          <a:prstGeom prst="rect">
            <a:avLst/>
          </a:prstGeom>
        </p:spPr>
      </p:pic>
      <p:pic>
        <p:nvPicPr>
          <p:cNvPr id="4102" name="HTMLSubmit2"/>
          <p:cNvPicPr/>
          <p:nvPr/>
        </p:nvPicPr>
        <p:blipFill>
          <a:blip r:embed="rId5"/>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3772" y="1106417"/>
            <a:ext cx="11233248" cy="4795223"/>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双方在操作时都会避免只剩一堆石子，因为那样会使对手全部取完。自己必败。所以两堆石子数量相同时，后手只要和先手执行相同的操作，就可以保持两堆石子数量相同，直到先手不得不取完其中一堆石子。</a:t>
            </a:r>
            <a:r>
              <a:rPr lang="en-US" altLang="zh-CN" sz="2800" dirty="0"/>
              <a:t>										</a:t>
            </a:r>
            <a:r>
              <a:rPr lang="zh-CN" altLang="en-US" sz="2800" dirty="0"/>
              <a:t>     数量不同时，先手便可以使数量变为相同，对手必败。</a:t>
            </a:r>
            <a:endParaRPr lang="en-US" altLang="zh-CN" sz="2800" dirty="0"/>
          </a:p>
          <a:p>
            <a:pPr marL="457200" indent="-457200">
              <a:lnSpc>
                <a:spcPct val="110000"/>
              </a:lnSpc>
              <a:buFont typeface="Arial" panose="020B0604020202020204" pitchFamily="34" charset="0"/>
              <a:buChar char="•"/>
            </a:pPr>
            <a:r>
              <a:rPr lang="zh-CN" altLang="en-US" sz="2800" dirty="0"/>
              <a:t>有三堆石子时，先手可以将最大的那堆石子用来弥补较小的两堆石子的数量差，然后扔掉多余的石子，剩下两堆相同的石子，使后手必败，先手必胜。</a:t>
            </a:r>
            <a:endParaRPr lang="en-US" altLang="zh-CN" sz="2800" dirty="0"/>
          </a:p>
          <a:p>
            <a:pPr marL="457200" indent="-457200">
              <a:lnSpc>
                <a:spcPct val="110000"/>
              </a:lnSpc>
              <a:buFont typeface="Arial" panose="020B0604020202020204" pitchFamily="34" charset="0"/>
              <a:buChar char="•"/>
            </a:pPr>
            <a:r>
              <a:rPr lang="zh-CN" altLang="en-US" sz="2800" dirty="0"/>
              <a:t>有四堆石子时，可以证明只有这四堆石子可以分成两部分相同的石子时，先手必败，否则先手必胜。</a:t>
            </a:r>
            <a:endParaRPr lang="en-US" altLang="zh-CN" sz="2800" dirty="0"/>
          </a:p>
        </p:txBody>
      </p:sp>
      <p:sp>
        <p:nvSpPr>
          <p:cNvPr id="11" name="标题 3"/>
          <p:cNvSpPr>
            <a:spLocks noGrp="1"/>
          </p:cNvSpPr>
          <p:nvPr>
            <p:ph type="title"/>
          </p:nvPr>
        </p:nvSpPr>
        <p:spPr>
          <a:xfrm>
            <a:off x="333772" y="332656"/>
            <a:ext cx="11233248" cy="773761"/>
          </a:xfrm>
        </p:spPr>
        <p:txBody>
          <a:bodyPr>
            <a:normAutofit/>
          </a:bodyPr>
          <a:lstStyle/>
          <a:p>
            <a:r>
              <a:rPr lang="zh-CN" altLang="en-US" sz="3200" dirty="0">
                <a:latin typeface="微软雅黑" panose="020B0503020204020204" pitchFamily="34" charset="-122"/>
                <a:ea typeface="微软雅黑" panose="020B0503020204020204" pitchFamily="34" charset="-122"/>
              </a:rPr>
              <a:t>七 </a:t>
            </a:r>
            <a:r>
              <a:rPr lang="en-US" altLang="zh-CN" sz="3200" dirty="0"/>
              <a:t>. </a:t>
            </a:r>
            <a:r>
              <a:rPr lang="zh-CN" altLang="en-US" sz="3200" dirty="0"/>
              <a:t>解题训练</a:t>
            </a:r>
            <a:endParaRPr lang="zh-CN" sz="3200" dirty="0">
              <a:latin typeface="微软雅黑" panose="020B0503020204020204" pitchFamily="34" charset="-122"/>
              <a:ea typeface="微软雅黑" panose="020B0503020204020204" pitchFamily="34" charset="-122"/>
            </a:endParaRPr>
          </a:p>
        </p:txBody>
      </p:sp>
      <p:pic>
        <p:nvPicPr>
          <p:cNvPr id="5121" name="DefaultOcx"/>
          <p:cNvPicPr/>
          <p:nvPr/>
        </p:nvPicPr>
        <p:blipFill>
          <a:blip r:embed="rId1"/>
          <a:stretch>
            <a:fillRect/>
          </a:stretch>
        </p:blipFill>
        <p:spPr>
          <a:xfrm>
            <a:off x="0" y="0"/>
            <a:ext cx="914400" cy="228600"/>
          </a:xfrm>
          <a:prstGeom prst="rect">
            <a:avLst/>
          </a:prstGeom>
        </p:spPr>
      </p:pic>
      <p:pic>
        <p:nvPicPr>
          <p:cNvPr id="5122" name="HTMLSubmit1"/>
          <p:cNvPicPr/>
          <p:nvPr/>
        </p:nvPicPr>
        <p:blipFill>
          <a:blip r:embed="rId2"/>
          <a:stretch>
            <a:fillRect/>
          </a:stretch>
        </p:blipFill>
        <p:spPr>
          <a:xfrm>
            <a:off x="0" y="0"/>
            <a:ext cx="914400" cy="304800"/>
          </a:xfrm>
          <a:prstGeom prst="rect">
            <a:avLst/>
          </a:prstGeom>
        </p:spPr>
      </p:pic>
      <p:pic>
        <p:nvPicPr>
          <p:cNvPr id="5123"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5124" name="HTMLText1"/>
          <p:cNvPicPr/>
          <p:nvPr/>
        </p:nvPicPr>
        <p:blipFill>
          <a:blip r:embed="rId1"/>
          <a:stretch>
            <a:fillRect/>
          </a:stretch>
        </p:blipFill>
        <p:spPr>
          <a:xfrm>
            <a:off x="0" y="0"/>
            <a:ext cx="914400" cy="228600"/>
          </a:xfrm>
          <a:prstGeom prst="rect">
            <a:avLst/>
          </a:prstGeom>
        </p:spPr>
      </p:pic>
      <p:pic>
        <p:nvPicPr>
          <p:cNvPr id="5125" name="HTMLPassword1"/>
          <p:cNvPicPr/>
          <p:nvPr/>
        </p:nvPicPr>
        <p:blipFill>
          <a:blip r:embed="rId1"/>
          <a:stretch>
            <a:fillRect/>
          </a:stretch>
        </p:blipFill>
        <p:spPr>
          <a:xfrm>
            <a:off x="0" y="0"/>
            <a:ext cx="914400" cy="228600"/>
          </a:xfrm>
          <a:prstGeom prst="rect">
            <a:avLst/>
          </a:prstGeom>
        </p:spPr>
      </p:pic>
      <p:pic>
        <p:nvPicPr>
          <p:cNvPr id="5126"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33772" y="1106417"/>
            <a:ext cx="11233248" cy="1988237"/>
          </a:xfrm>
          <a:prstGeom prst="rect">
            <a:avLst/>
          </a:prstGeom>
          <a:noFill/>
        </p:spPr>
        <p:txBody>
          <a:bodyPr wrap="square" rtlCol="0">
            <a:spAutoFit/>
          </a:bodyPr>
          <a:lstStyle/>
          <a:p>
            <a:pPr marL="457200" indent="-457200">
              <a:lnSpc>
                <a:spcPct val="110000"/>
              </a:lnSpc>
              <a:buFont typeface="Arial" panose="020B0604020202020204" pitchFamily="34" charset="0"/>
              <a:buChar char="•"/>
            </a:pPr>
            <a:r>
              <a:rPr lang="zh-CN" altLang="en-US" sz="2800" dirty="0"/>
              <a:t>若可以分成相同的两部分，必败，证明同上。</a:t>
            </a:r>
            <a:r>
              <a:rPr lang="en-US" altLang="zh-CN" sz="2800" dirty="0"/>
              <a:t>			         </a:t>
            </a:r>
            <a:r>
              <a:rPr lang="zh-CN" altLang="en-US" sz="2800" dirty="0"/>
              <a:t>若不能，设局面为（</a:t>
            </a:r>
            <a:r>
              <a:rPr lang="en-US" altLang="zh-CN" sz="2800" dirty="0"/>
              <a:t>a1</a:t>
            </a:r>
            <a:r>
              <a:rPr lang="zh-CN" altLang="en-US" sz="2800" dirty="0"/>
              <a:t>，</a:t>
            </a:r>
            <a:r>
              <a:rPr lang="en-US" altLang="zh-CN" sz="2800" dirty="0"/>
              <a:t>a2</a:t>
            </a:r>
            <a:r>
              <a:rPr lang="zh-CN" altLang="en-US" sz="2800" dirty="0"/>
              <a:t>，</a:t>
            </a:r>
            <a:r>
              <a:rPr lang="en-US" altLang="zh-CN" sz="2800" dirty="0"/>
              <a:t>a3</a:t>
            </a:r>
            <a:r>
              <a:rPr lang="zh-CN" altLang="en-US" sz="2800" dirty="0"/>
              <a:t>，</a:t>
            </a:r>
            <a:r>
              <a:rPr lang="en-US" altLang="zh-CN" sz="2800" dirty="0"/>
              <a:t>a4</a:t>
            </a:r>
            <a:r>
              <a:rPr lang="zh-CN" altLang="en-US" sz="2800" dirty="0"/>
              <a:t>），且</a:t>
            </a:r>
            <a:r>
              <a:rPr lang="en-US" altLang="zh-CN" sz="2800" dirty="0"/>
              <a:t>a1&lt;a2&lt;a3&lt;a4</a:t>
            </a:r>
            <a:r>
              <a:rPr lang="zh-CN" altLang="en-US" sz="2800" dirty="0"/>
              <a:t>。先手可以将</a:t>
            </a:r>
            <a:r>
              <a:rPr lang="en-US" altLang="zh-CN" sz="2800" dirty="0"/>
              <a:t>a4</a:t>
            </a:r>
            <a:r>
              <a:rPr lang="zh-CN" altLang="en-US" sz="2800" dirty="0"/>
              <a:t>变为</a:t>
            </a:r>
            <a:r>
              <a:rPr lang="en-US" altLang="zh-CN" sz="2800" dirty="0"/>
              <a:t>a1</a:t>
            </a:r>
            <a:r>
              <a:rPr lang="zh-CN" altLang="en-US" sz="2800" dirty="0"/>
              <a:t>，用剩余石子弥补</a:t>
            </a:r>
            <a:r>
              <a:rPr lang="en-US" altLang="zh-CN" sz="2800" dirty="0"/>
              <a:t>a2</a:t>
            </a:r>
            <a:r>
              <a:rPr lang="zh-CN" altLang="en-US" sz="2800" dirty="0"/>
              <a:t>，</a:t>
            </a:r>
            <a:r>
              <a:rPr lang="en-US" altLang="zh-CN" sz="2800" dirty="0"/>
              <a:t>a3</a:t>
            </a:r>
            <a:r>
              <a:rPr lang="zh-CN" altLang="en-US" sz="2800" dirty="0"/>
              <a:t>间的差距，多余的扔掉。局面就变成了（</a:t>
            </a:r>
            <a:r>
              <a:rPr lang="en-US" altLang="zh-CN" sz="2800" dirty="0"/>
              <a:t>a1</a:t>
            </a:r>
            <a:r>
              <a:rPr lang="zh-CN" altLang="en-US" sz="2800" dirty="0"/>
              <a:t>，</a:t>
            </a:r>
            <a:r>
              <a:rPr lang="en-US" altLang="zh-CN" sz="2800" dirty="0"/>
              <a:t>a1</a:t>
            </a:r>
            <a:r>
              <a:rPr lang="zh-CN" altLang="en-US" sz="2800" dirty="0"/>
              <a:t>，</a:t>
            </a:r>
            <a:r>
              <a:rPr lang="en-US" altLang="zh-CN" sz="2800" dirty="0"/>
              <a:t>a3</a:t>
            </a:r>
            <a:r>
              <a:rPr lang="zh-CN" altLang="en-US" sz="2800" dirty="0"/>
              <a:t>，</a:t>
            </a:r>
            <a:r>
              <a:rPr lang="en-US" altLang="zh-CN" sz="2800" dirty="0"/>
              <a:t>a3</a:t>
            </a:r>
            <a:r>
              <a:rPr lang="zh-CN" altLang="en-US" sz="2800" dirty="0"/>
              <a:t>），后手必败，先手必胜。</a:t>
            </a:r>
            <a:endParaRPr lang="en-US" altLang="zh-CN" sz="2800" dirty="0"/>
          </a:p>
        </p:txBody>
      </p:sp>
      <p:sp>
        <p:nvSpPr>
          <p:cNvPr id="11" name="标题 3"/>
          <p:cNvSpPr>
            <a:spLocks noGrp="1"/>
          </p:cNvSpPr>
          <p:nvPr>
            <p:ph type="title"/>
          </p:nvPr>
        </p:nvSpPr>
        <p:spPr>
          <a:xfrm>
            <a:off x="333772" y="332656"/>
            <a:ext cx="11233248" cy="773761"/>
          </a:xfrm>
        </p:spPr>
        <p:txBody>
          <a:bodyPr>
            <a:normAutofit/>
          </a:bodyPr>
          <a:lstStyle/>
          <a:p>
            <a:r>
              <a:rPr lang="zh-CN" altLang="en-US" sz="3200" dirty="0">
                <a:latin typeface="微软雅黑" panose="020B0503020204020204" pitchFamily="34" charset="-122"/>
                <a:ea typeface="微软雅黑" panose="020B0503020204020204" pitchFamily="34" charset="-122"/>
              </a:rPr>
              <a:t>七 </a:t>
            </a:r>
            <a:r>
              <a:rPr lang="en-US" altLang="zh-CN" sz="3200" dirty="0"/>
              <a:t>. </a:t>
            </a:r>
            <a:r>
              <a:rPr lang="zh-CN" altLang="en-US" sz="3200" dirty="0"/>
              <a:t>解题训练</a:t>
            </a:r>
            <a:endParaRPr lang="zh-CN" sz="3200" dirty="0">
              <a:latin typeface="微软雅黑" panose="020B0503020204020204" pitchFamily="34" charset="-122"/>
              <a:ea typeface="微软雅黑" panose="020B0503020204020204" pitchFamily="34" charset="-122"/>
            </a:endParaRPr>
          </a:p>
        </p:txBody>
      </p:sp>
      <p:sp>
        <p:nvSpPr>
          <p:cNvPr id="3" name="文本框 2"/>
          <p:cNvSpPr txBox="1"/>
          <p:nvPr/>
        </p:nvSpPr>
        <p:spPr>
          <a:xfrm>
            <a:off x="333772" y="3078655"/>
            <a:ext cx="11233248" cy="1040285"/>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综上所述，可以假设一个局面为</a:t>
            </a:r>
            <a:r>
              <a:rPr lang="en-US" altLang="zh-CN" sz="2800" dirty="0"/>
              <a:t>P-position</a:t>
            </a:r>
            <a:r>
              <a:rPr lang="zh-CN" altLang="en-US" sz="2800" dirty="0"/>
              <a:t>，当且仅当它可以分成相同的两部分。</a:t>
            </a:r>
            <a:endParaRPr lang="zh-CN" altLang="en-US" sz="2800" dirty="0"/>
          </a:p>
        </p:txBody>
      </p:sp>
      <p:sp>
        <p:nvSpPr>
          <p:cNvPr id="6" name="文本框 5"/>
          <p:cNvSpPr txBox="1"/>
          <p:nvPr/>
        </p:nvSpPr>
        <p:spPr>
          <a:xfrm>
            <a:off x="333772" y="4118940"/>
            <a:ext cx="10873208" cy="1003416"/>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证明只需证明那三条性质就可以了。</a:t>
            </a:r>
            <a:endParaRPr lang="en-US" altLang="zh-CN" sz="2800" dirty="0"/>
          </a:p>
          <a:p>
            <a:pPr algn="l">
              <a:lnSpc>
                <a:spcPct val="110000"/>
              </a:lnSpc>
            </a:pPr>
            <a:r>
              <a:rPr lang="en-US" altLang="zh-CN" sz="2800" dirty="0"/>
              <a:t>      </a:t>
            </a:r>
            <a:r>
              <a:rPr lang="zh-CN" altLang="en-US" sz="2800" dirty="0"/>
              <a:t>需要分奇偶讨论，可以自己动手证一下，这里不再叙述。</a:t>
            </a:r>
            <a:endParaRPr lang="zh-CN" altLang="en-US" sz="2800" dirty="0"/>
          </a:p>
        </p:txBody>
      </p:sp>
      <p:pic>
        <p:nvPicPr>
          <p:cNvPr id="6145" name="DefaultOcx"/>
          <p:cNvPicPr/>
          <p:nvPr/>
        </p:nvPicPr>
        <p:blipFill>
          <a:blip r:embed="rId1"/>
          <a:stretch>
            <a:fillRect/>
          </a:stretch>
        </p:blipFill>
        <p:spPr>
          <a:xfrm>
            <a:off x="0" y="0"/>
            <a:ext cx="914400" cy="228600"/>
          </a:xfrm>
          <a:prstGeom prst="rect">
            <a:avLst/>
          </a:prstGeom>
        </p:spPr>
      </p:pic>
      <p:pic>
        <p:nvPicPr>
          <p:cNvPr id="6146" name="HTMLSubmit1"/>
          <p:cNvPicPr/>
          <p:nvPr/>
        </p:nvPicPr>
        <p:blipFill>
          <a:blip r:embed="rId2"/>
          <a:stretch>
            <a:fillRect/>
          </a:stretch>
        </p:blipFill>
        <p:spPr>
          <a:xfrm>
            <a:off x="0" y="0"/>
            <a:ext cx="914400" cy="304800"/>
          </a:xfrm>
          <a:prstGeom prst="rect">
            <a:avLst/>
          </a:prstGeom>
        </p:spPr>
      </p:pic>
      <p:pic>
        <p:nvPicPr>
          <p:cNvPr id="6147"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6148" name="HTMLText1"/>
          <p:cNvPicPr/>
          <p:nvPr/>
        </p:nvPicPr>
        <p:blipFill>
          <a:blip r:embed="rId1"/>
          <a:stretch>
            <a:fillRect/>
          </a:stretch>
        </p:blipFill>
        <p:spPr>
          <a:xfrm>
            <a:off x="0" y="0"/>
            <a:ext cx="914400" cy="228600"/>
          </a:xfrm>
          <a:prstGeom prst="rect">
            <a:avLst/>
          </a:prstGeom>
        </p:spPr>
      </p:pic>
      <p:pic>
        <p:nvPicPr>
          <p:cNvPr id="6149" name="HTMLPassword1"/>
          <p:cNvPicPr/>
          <p:nvPr/>
        </p:nvPicPr>
        <p:blipFill>
          <a:blip r:embed="rId1"/>
          <a:stretch>
            <a:fillRect/>
          </a:stretch>
        </p:blipFill>
        <p:spPr>
          <a:xfrm>
            <a:off x="0" y="0"/>
            <a:ext cx="914400" cy="228600"/>
          </a:xfrm>
          <a:prstGeom prst="rect">
            <a:avLst/>
          </a:prstGeom>
        </p:spPr>
      </p:pic>
      <p:pic>
        <p:nvPicPr>
          <p:cNvPr id="6150"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a:spLocks noGrp="1"/>
          </p:cNvSpPr>
          <p:nvPr>
            <p:ph type="title"/>
          </p:nvPr>
        </p:nvSpPr>
        <p:spPr>
          <a:xfrm>
            <a:off x="333772" y="332656"/>
            <a:ext cx="11233248" cy="773761"/>
          </a:xfrm>
        </p:spPr>
        <p:txBody>
          <a:bodyPr>
            <a:normAutofit/>
          </a:bodyPr>
          <a:lstStyle/>
          <a:p>
            <a:r>
              <a:rPr lang="zh-CN" altLang="en-US" sz="3200" dirty="0">
                <a:latin typeface="微软雅黑" panose="020B0503020204020204" pitchFamily="34" charset="-122"/>
                <a:ea typeface="微软雅黑" panose="020B0503020204020204" pitchFamily="34" charset="-122"/>
              </a:rPr>
              <a:t>七 </a:t>
            </a:r>
            <a:r>
              <a:rPr lang="en-US" altLang="zh-CN" sz="3200" dirty="0"/>
              <a:t>. </a:t>
            </a:r>
            <a:r>
              <a:rPr lang="zh-CN" altLang="en-US" sz="3200" dirty="0"/>
              <a:t>解题训练</a:t>
            </a:r>
            <a:endParaRPr lang="zh-CN" sz="3200"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77788" y="1268760"/>
            <a:ext cx="11089232"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其它题目</a:t>
            </a:r>
            <a:endParaRPr lang="en-US" altLang="zh-CN" sz="2800" dirty="0"/>
          </a:p>
          <a:p>
            <a:pPr marL="914400" lvl="1" indent="-457200">
              <a:lnSpc>
                <a:spcPct val="110000"/>
              </a:lnSpc>
              <a:buFont typeface="Arial" panose="020B0604020202020204" pitchFamily="34" charset="0"/>
              <a:buChar char="•"/>
            </a:pPr>
            <a:r>
              <a:rPr lang="en-US" altLang="zh-CN" sz="2800" dirty="0"/>
              <a:t>POJ1704 Georgia and Bob</a:t>
            </a:r>
            <a:endParaRPr lang="en-US" altLang="zh-CN" sz="2800" dirty="0"/>
          </a:p>
          <a:p>
            <a:pPr marL="914400" lvl="1" indent="-457200">
              <a:lnSpc>
                <a:spcPct val="110000"/>
              </a:lnSpc>
              <a:buFont typeface="Arial" panose="020B0604020202020204" pitchFamily="34" charset="0"/>
              <a:buChar char="•"/>
            </a:pPr>
            <a:r>
              <a:rPr lang="en-US" altLang="zh-CN" sz="2800" dirty="0"/>
              <a:t>HDU 5996</a:t>
            </a:r>
            <a:r>
              <a:rPr lang="zh-CN" altLang="en-US" sz="2800" dirty="0"/>
              <a:t> </a:t>
            </a:r>
            <a:r>
              <a:rPr lang="en-US" altLang="zh-CN" sz="2800" dirty="0"/>
              <a:t>dingyeye loves stone</a:t>
            </a:r>
            <a:endParaRPr lang="en-US" altLang="zh-CN" sz="2800" dirty="0"/>
          </a:p>
          <a:p>
            <a:pPr marL="914400" lvl="1" indent="-457200">
              <a:lnSpc>
                <a:spcPct val="110000"/>
              </a:lnSpc>
              <a:buFont typeface="Arial" panose="020B0604020202020204" pitchFamily="34" charset="0"/>
              <a:buChar char="•"/>
            </a:pPr>
            <a:r>
              <a:rPr lang="en-US" altLang="zh-CN" sz="2800" dirty="0"/>
              <a:t>POJ1067 </a:t>
            </a:r>
            <a:r>
              <a:rPr lang="zh-CN" altLang="en-US" sz="2800" dirty="0"/>
              <a:t>取石子游戏</a:t>
            </a:r>
            <a:endParaRPr lang="zh-CN" altLang="en-US" sz="2800" dirty="0"/>
          </a:p>
        </p:txBody>
      </p:sp>
      <p:sp>
        <p:nvSpPr>
          <p:cNvPr id="5" name="文本框 4"/>
          <p:cNvSpPr txBox="1"/>
          <p:nvPr/>
        </p:nvSpPr>
        <p:spPr>
          <a:xfrm>
            <a:off x="477788" y="3256997"/>
            <a:ext cx="11089232" cy="1988237"/>
          </a:xfrm>
          <a:prstGeom prst="rect">
            <a:avLst/>
          </a:prstGeom>
          <a:noFill/>
        </p:spPr>
        <p:txBody>
          <a:bodyPr wrap="square" rtlCol="0">
            <a:spAutoFit/>
          </a:bodyPr>
          <a:lstStyle/>
          <a:p>
            <a:pPr marL="457200" indent="-457200" algn="l">
              <a:lnSpc>
                <a:spcPct val="110000"/>
              </a:lnSpc>
              <a:buFont typeface="Arial" panose="020B0604020202020204" pitchFamily="34" charset="0"/>
              <a:buChar char="•"/>
            </a:pPr>
            <a:r>
              <a:rPr lang="zh-CN" altLang="en-US" sz="2800" dirty="0"/>
              <a:t>实际博弈论内容远不止这些，这只是一些有规律的题目，还有很多脑洞很大的博弈论题，需要自己去寻找必胜必败的条件。</a:t>
            </a:r>
            <a:endParaRPr lang="en-US" altLang="zh-CN" sz="2800" dirty="0"/>
          </a:p>
          <a:p>
            <a:pPr marL="457200" indent="-457200" algn="l">
              <a:lnSpc>
                <a:spcPct val="110000"/>
              </a:lnSpc>
              <a:buFont typeface="Arial" panose="020B0604020202020204" pitchFamily="34" charset="0"/>
              <a:buChar char="•"/>
            </a:pPr>
            <a:r>
              <a:rPr lang="zh-CN" altLang="en-US" sz="2800" dirty="0"/>
              <a:t>希望大家可以真正在学习博弈论的过程中体会到博弈的魅力，而不是被博弈论支配的恐惧。</a:t>
            </a:r>
            <a:endParaRPr lang="zh-CN" altLang="en-US" sz="2800" dirty="0"/>
          </a:p>
        </p:txBody>
      </p:sp>
      <p:pic>
        <p:nvPicPr>
          <p:cNvPr id="7169" name="DefaultOcx"/>
          <p:cNvPicPr/>
          <p:nvPr/>
        </p:nvPicPr>
        <p:blipFill>
          <a:blip r:embed="rId1"/>
          <a:stretch>
            <a:fillRect/>
          </a:stretch>
        </p:blipFill>
        <p:spPr>
          <a:xfrm>
            <a:off x="0" y="0"/>
            <a:ext cx="914400" cy="228600"/>
          </a:xfrm>
          <a:prstGeom prst="rect">
            <a:avLst/>
          </a:prstGeom>
        </p:spPr>
      </p:pic>
      <p:pic>
        <p:nvPicPr>
          <p:cNvPr id="7170" name="HTMLSubmit1"/>
          <p:cNvPicPr/>
          <p:nvPr/>
        </p:nvPicPr>
        <p:blipFill>
          <a:blip r:embed="rId2"/>
          <a:stretch>
            <a:fillRect/>
          </a:stretch>
        </p:blipFill>
        <p:spPr>
          <a:xfrm>
            <a:off x="0" y="0"/>
            <a:ext cx="914400" cy="304800"/>
          </a:xfrm>
          <a:prstGeom prst="rect">
            <a:avLst/>
          </a:prstGeom>
        </p:spPr>
      </p:pic>
      <p:pic>
        <p:nvPicPr>
          <p:cNvPr id="7171"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7172" name="HTMLText1"/>
          <p:cNvPicPr/>
          <p:nvPr/>
        </p:nvPicPr>
        <p:blipFill>
          <a:blip r:embed="rId1"/>
          <a:stretch>
            <a:fillRect/>
          </a:stretch>
        </p:blipFill>
        <p:spPr>
          <a:xfrm>
            <a:off x="0" y="0"/>
            <a:ext cx="914400" cy="228600"/>
          </a:xfrm>
          <a:prstGeom prst="rect">
            <a:avLst/>
          </a:prstGeom>
        </p:spPr>
      </p:pic>
      <p:pic>
        <p:nvPicPr>
          <p:cNvPr id="7173" name="HTMLPassword1"/>
          <p:cNvPicPr/>
          <p:nvPr/>
        </p:nvPicPr>
        <p:blipFill>
          <a:blip r:embed="rId1"/>
          <a:stretch>
            <a:fillRect/>
          </a:stretch>
        </p:blipFill>
        <p:spPr>
          <a:xfrm>
            <a:off x="0" y="0"/>
            <a:ext cx="914400" cy="228600"/>
          </a:xfrm>
          <a:prstGeom prst="rect">
            <a:avLst/>
          </a:prstGeom>
        </p:spPr>
      </p:pic>
      <p:pic>
        <p:nvPicPr>
          <p:cNvPr id="7174"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p:cNvSpPr>
            <a:spLocks noGrp="1"/>
          </p:cNvSpPr>
          <p:nvPr>
            <p:ph type="title"/>
          </p:nvPr>
        </p:nvSpPr>
        <p:spPr>
          <a:xfrm>
            <a:off x="333772" y="332656"/>
            <a:ext cx="11233248" cy="773761"/>
          </a:xfrm>
        </p:spPr>
        <p:txBody>
          <a:bodyPr>
            <a:normAutofit/>
          </a:bodyPr>
          <a:lstStyle/>
          <a:p>
            <a:r>
              <a:rPr lang="zh-CN" altLang="en-US" sz="3200" dirty="0"/>
              <a:t>八 </a:t>
            </a:r>
            <a:r>
              <a:rPr lang="en-US" altLang="zh-CN" sz="3200" dirty="0"/>
              <a:t>. </a:t>
            </a:r>
            <a:r>
              <a:rPr lang="zh-CN" altLang="en-US" sz="3200" dirty="0"/>
              <a:t>提问时间</a:t>
            </a:r>
            <a:endParaRPr lang="zh-CN" sz="3200" dirty="0">
              <a:latin typeface="微软雅黑" panose="020B0503020204020204" pitchFamily="34" charset="-122"/>
              <a:ea typeface="微软雅黑" panose="020B0503020204020204" pitchFamily="34" charset="-122"/>
            </a:endParaRPr>
          </a:p>
        </p:txBody>
      </p:sp>
      <p:sp>
        <p:nvSpPr>
          <p:cNvPr id="4" name="矩形 3"/>
          <p:cNvSpPr/>
          <p:nvPr/>
        </p:nvSpPr>
        <p:spPr>
          <a:xfrm>
            <a:off x="3018954" y="2276872"/>
            <a:ext cx="5862884" cy="2800767"/>
          </a:xfrm>
          <a:prstGeom prst="rect">
            <a:avLst/>
          </a:prstGeom>
          <a:noFill/>
        </p:spPr>
        <p:txBody>
          <a:bodyPr wrap="square" lIns="91440" tIns="45720" rIns="91440" bIns="45720">
            <a:spAutoFit/>
          </a:bodyPr>
          <a:lstStyle/>
          <a:p>
            <a:pPr algn="ctr"/>
            <a:r>
              <a:rPr lang="en-US" altLang="zh-CN" sz="8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rPr>
              <a:t>QUESTION</a:t>
            </a:r>
            <a:endParaRPr lang="en-US" altLang="zh-CN" sz="8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a:p>
            <a:pPr algn="ctr"/>
            <a:r>
              <a:rPr lang="en-US" altLang="zh-CN" sz="8800" b="1"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rPr>
              <a:t>TIME</a:t>
            </a:r>
            <a:endParaRPr lang="zh-CN" altLang="en-US" sz="8800" b="1" cap="none" spc="0" dirty="0">
              <a:ln w="12700" cmpd="sng">
                <a:solidFill>
                  <a:schemeClr val="accent4"/>
                </a:solidFill>
                <a:prstDash val="solid"/>
              </a:ln>
              <a:gradFill>
                <a:gsLst>
                  <a:gs pos="0">
                    <a:schemeClr val="accent4"/>
                  </a:gs>
                  <a:gs pos="4000">
                    <a:schemeClr val="accent4">
                      <a:lumMod val="60000"/>
                      <a:lumOff val="40000"/>
                    </a:schemeClr>
                  </a:gs>
                  <a:gs pos="87000">
                    <a:schemeClr val="accent4">
                      <a:lumMod val="20000"/>
                      <a:lumOff val="80000"/>
                    </a:schemeClr>
                  </a:gs>
                </a:gsLst>
                <a:lin ang="5400000"/>
              </a:gradFill>
              <a:effectLst/>
            </a:endParaRPr>
          </a:p>
        </p:txBody>
      </p:sp>
      <p:pic>
        <p:nvPicPr>
          <p:cNvPr id="8193" name="DefaultOcx"/>
          <p:cNvPicPr/>
          <p:nvPr/>
        </p:nvPicPr>
        <p:blipFill>
          <a:blip r:embed="rId1"/>
          <a:stretch>
            <a:fillRect/>
          </a:stretch>
        </p:blipFill>
        <p:spPr>
          <a:xfrm>
            <a:off x="0" y="0"/>
            <a:ext cx="914400" cy="228600"/>
          </a:xfrm>
          <a:prstGeom prst="rect">
            <a:avLst/>
          </a:prstGeom>
        </p:spPr>
      </p:pic>
      <p:pic>
        <p:nvPicPr>
          <p:cNvPr id="8194" name="HTMLSubmit1"/>
          <p:cNvPicPr/>
          <p:nvPr/>
        </p:nvPicPr>
        <p:blipFill>
          <a:blip r:embed="rId2"/>
          <a:stretch>
            <a:fillRect/>
          </a:stretch>
        </p:blipFill>
        <p:spPr>
          <a:xfrm>
            <a:off x="0" y="0"/>
            <a:ext cx="914400" cy="304800"/>
          </a:xfrm>
          <a:prstGeom prst="rect">
            <a:avLst/>
          </a:prstGeom>
        </p:spPr>
      </p:pic>
      <p:pic>
        <p:nvPicPr>
          <p:cNvPr id="8195" name="Picture 3" descr="qqlogin"/>
          <p:cNvPicPr>
            <a:picLocks noChangeAspect="1"/>
          </p:cNvPicPr>
          <p:nvPr/>
        </p:nvPicPr>
        <p:blipFill>
          <a:blip r:embed="rId3"/>
          <a:stretch>
            <a:fillRect/>
          </a:stretch>
        </p:blipFill>
        <p:spPr>
          <a:xfrm>
            <a:off x="0" y="0"/>
            <a:ext cx="1143000" cy="228600"/>
          </a:xfrm>
          <a:prstGeom prst="rect">
            <a:avLst/>
          </a:prstGeom>
          <a:noFill/>
          <a:ln w="9525">
            <a:noFill/>
          </a:ln>
        </p:spPr>
      </p:pic>
      <p:pic>
        <p:nvPicPr>
          <p:cNvPr id="8196" name="HTMLText1"/>
          <p:cNvPicPr/>
          <p:nvPr/>
        </p:nvPicPr>
        <p:blipFill>
          <a:blip r:embed="rId1"/>
          <a:stretch>
            <a:fillRect/>
          </a:stretch>
        </p:blipFill>
        <p:spPr>
          <a:xfrm>
            <a:off x="0" y="0"/>
            <a:ext cx="914400" cy="228600"/>
          </a:xfrm>
          <a:prstGeom prst="rect">
            <a:avLst/>
          </a:prstGeom>
        </p:spPr>
      </p:pic>
      <p:pic>
        <p:nvPicPr>
          <p:cNvPr id="8197" name="HTMLPassword1"/>
          <p:cNvPicPr/>
          <p:nvPr/>
        </p:nvPicPr>
        <p:blipFill>
          <a:blip r:embed="rId1"/>
          <a:stretch>
            <a:fillRect/>
          </a:stretch>
        </p:blipFill>
        <p:spPr>
          <a:xfrm>
            <a:off x="0" y="0"/>
            <a:ext cx="914400" cy="228600"/>
          </a:xfrm>
          <a:prstGeom prst="rect">
            <a:avLst/>
          </a:prstGeom>
        </p:spPr>
      </p:pic>
      <p:pic>
        <p:nvPicPr>
          <p:cNvPr id="8198" name="HTMLSubmit2"/>
          <p:cNvPicPr/>
          <p:nvPr/>
        </p:nvPicPr>
        <p:blipFill>
          <a:blip r:embed="rId4"/>
          <a:stretch>
            <a:fillRect/>
          </a:stretch>
        </p:blipFill>
        <p:spPr>
          <a:xfrm>
            <a:off x="0" y="0"/>
            <a:ext cx="9144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coLiving_16x9">
  <a:themeElements>
    <a:clrScheme name="EcoLiving">
      <a:dk1>
        <a:srgbClr val="404040"/>
      </a:dk1>
      <a:lt1>
        <a:sysClr val="window" lastClr="FFFFFF"/>
      </a:lt1>
      <a:dk2>
        <a:srgbClr val="000000"/>
      </a:dk2>
      <a:lt2>
        <a:srgbClr val="F5EECF"/>
      </a:lt2>
      <a:accent1>
        <a:srgbClr val="488E4A"/>
      </a:accent1>
      <a:accent2>
        <a:srgbClr val="6595BC"/>
      </a:accent2>
      <a:accent3>
        <a:srgbClr val="CB6933"/>
      </a:accent3>
      <a:accent4>
        <a:srgbClr val="D4BC49"/>
      </a:accent4>
      <a:accent5>
        <a:srgbClr val="8F5C31"/>
      </a:accent5>
      <a:accent6>
        <a:srgbClr val="6E7588"/>
      </a:accent6>
      <a:hlink>
        <a:srgbClr val="B1754C"/>
      </a:hlink>
      <a:folHlink>
        <a:srgbClr val="6595BC"/>
      </a:folHlink>
    </a:clrScheme>
    <a:fontScheme name="EcoLiving_16x9">
      <a:majorFont>
        <a:latin typeface="Cambria"/>
        <a:ea typeface=""/>
        <a:cs typeface=""/>
      </a:majorFont>
      <a:minorFont>
        <a:latin typeface="Cambria"/>
        <a:ea typeface=""/>
        <a:cs typeface=""/>
      </a:minorFont>
    </a:fontScheme>
    <a:fmtScheme name="EcoLiving_16x9">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miter lim="800000"/>
        </a:ln>
        <a:ln w="28575" cap="flat" cmpd="sng" algn="ctr">
          <a:solidFill>
            <a:schemeClr val="phClr"/>
          </a:solidFill>
          <a:miter lim="800000"/>
        </a:ln>
        <a:ln w="41275" cap="flat" cmpd="sng" algn="ctr">
          <a:solidFill>
            <a:schemeClr val="phClr"/>
          </a:solidFill>
          <a:miter lim="800000"/>
        </a:ln>
      </a:lnStyleLst>
      <a:effectStyleLst>
        <a:effectStyle>
          <a:effectLst/>
        </a:effectStyle>
        <a:effectStyle>
          <a:effectLst>
            <a:outerShdw blurRad="39999" dist="23000" dir="5400000" algn="bl" rotWithShape="0">
              <a:srgbClr val="000000">
                <a:alpha val="40000"/>
              </a:srgbClr>
            </a:outerShdw>
          </a:effectLst>
        </a:effectStyle>
        <a:effectStyle>
          <a:effectLst>
            <a:outerShdw blurRad="38100" dist="19050" dir="540000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gradFill rotWithShape="1">
          <a:gsLst>
            <a:gs pos="0">
              <a:schemeClr val="phClr">
                <a:tint val="100000"/>
                <a:lumMod val="100000"/>
              </a:schemeClr>
            </a:gs>
            <a:gs pos="100000">
              <a:schemeClr val="phClr">
                <a:tint val="80000"/>
              </a:schemeClr>
            </a:gs>
          </a:gsLst>
          <a:lin ang="5400000" scaled="0"/>
        </a:gradFill>
        <a:blipFill>
          <a:blip xmlns:r="http://schemas.openxmlformats.org/officeDocument/2006/relationships" r:embed="rId1">
            <a:duotone>
              <a:schemeClr val="phClr">
                <a:shade val="12000"/>
                <a:satMod val="240000"/>
              </a:schemeClr>
              <a:schemeClr val="phClr">
                <a:tint val="65000"/>
              </a:schemeClr>
            </a:duotone>
          </a:blip>
          <a:stretch>
            <a:fillRect/>
          </a:stretch>
        </a:blipFill>
      </a:bgFillStyleLst>
    </a:fmtScheme>
  </a:themeElements>
  <a:objectDefaults>
    <a:spDef>
      <a:spPr>
        <a:ln>
          <a:miter lim="800000"/>
        </a:ln>
      </a:spPr>
      <a:bodyPr rtlCol="0" anchor="ctr"/>
      <a:lstStyle>
        <a:defPPr algn="ctr">
          <a:defRPr sz="2400"/>
        </a:defPPr>
      </a:lstStyle>
      <a:style>
        <a:lnRef idx="2">
          <a:schemeClr val="accent1">
            <a:shade val="50000"/>
          </a:schemeClr>
        </a:lnRef>
        <a:fillRef idx="1">
          <a:schemeClr val="accent1"/>
        </a:fillRef>
        <a:effectRef idx="0">
          <a:schemeClr val="accent1"/>
        </a:effectRef>
        <a:fontRef idx="minor">
          <a:schemeClr val="lt1"/>
        </a:fontRef>
      </a:style>
    </a:spDef>
    <a:lnDef>
      <a:spPr>
        <a:ln w="28575">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457200" indent="-457200" algn="l">
          <a:lnSpc>
            <a:spcPct val="110000"/>
          </a:lnSpc>
          <a:buFont typeface="Arial" panose="020B0604020202020204" pitchFamily="34" charset="0"/>
          <a:buChar char="•"/>
          <a:defRPr sz="2800" dirty="0" smtClean="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EcoLiving">
      <a:dk1>
        <a:srgbClr val="404040"/>
      </a:dk1>
      <a:lt1>
        <a:sysClr val="window" lastClr="FFFFFF"/>
      </a:lt1>
      <a:dk2>
        <a:srgbClr val="000000"/>
      </a:dk2>
      <a:lt2>
        <a:srgbClr val="F5EECF"/>
      </a:lt2>
      <a:accent1>
        <a:srgbClr val="488E4A"/>
      </a:accent1>
      <a:accent2>
        <a:srgbClr val="6595BC"/>
      </a:accent2>
      <a:accent3>
        <a:srgbClr val="CB6933"/>
      </a:accent3>
      <a:accent4>
        <a:srgbClr val="D4BC49"/>
      </a:accent4>
      <a:accent5>
        <a:srgbClr val="8F5C31"/>
      </a:accent5>
      <a:accent6>
        <a:srgbClr val="6E7588"/>
      </a:accent6>
      <a:hlink>
        <a:srgbClr val="B1754C"/>
      </a:hlink>
      <a:folHlink>
        <a:srgbClr val="6595BC"/>
      </a:folHlink>
    </a:clrScheme>
    <a:fontScheme name="EcoLiving">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coLiving">
      <a:dk1>
        <a:srgbClr val="404040"/>
      </a:dk1>
      <a:lt1>
        <a:sysClr val="window" lastClr="FFFFFF"/>
      </a:lt1>
      <a:dk2>
        <a:srgbClr val="000000"/>
      </a:dk2>
      <a:lt2>
        <a:srgbClr val="F5EECF"/>
      </a:lt2>
      <a:accent1>
        <a:srgbClr val="488E4A"/>
      </a:accent1>
      <a:accent2>
        <a:srgbClr val="6595BC"/>
      </a:accent2>
      <a:accent3>
        <a:srgbClr val="CB6933"/>
      </a:accent3>
      <a:accent4>
        <a:srgbClr val="D4BC49"/>
      </a:accent4>
      <a:accent5>
        <a:srgbClr val="8F5C31"/>
      </a:accent5>
      <a:accent6>
        <a:srgbClr val="6E7588"/>
      </a:accent6>
      <a:hlink>
        <a:srgbClr val="B1754C"/>
      </a:hlink>
      <a:folHlink>
        <a:srgbClr val="6595BC"/>
      </a:folHlink>
    </a:clrScheme>
    <a:fontScheme name="EcoLiving">
      <a:majorFont>
        <a:latin typeface="Cambria"/>
        <a:ea typeface=""/>
        <a:cs typeface=""/>
      </a:majorFont>
      <a:minorFont>
        <a:latin typeface="Cambr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miter lim="800000"/>
        </a:ln>
        <a:ln w="25400" cap="flat" cmpd="sng" algn="ctr">
          <a:solidFill>
            <a:schemeClr val="phClr"/>
          </a:solidFill>
          <a:miter lim="800000"/>
        </a:ln>
        <a:ln w="38100" cap="flat" cmpd="sng" algn="ctr">
          <a:solidFill>
            <a:schemeClr val="phClr"/>
          </a:solidFill>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自然生活演示（宽屏）</Template>
  <TotalTime>0</TotalTime>
  <Words>7353</Words>
  <Application>WPS 演示</Application>
  <PresentationFormat>自定义</PresentationFormat>
  <Paragraphs>306</Paragraphs>
  <Slides>34</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Arial</vt:lpstr>
      <vt:lpstr>宋体</vt:lpstr>
      <vt:lpstr>Wingdings</vt:lpstr>
      <vt:lpstr>微软雅黑</vt:lpstr>
      <vt:lpstr>Times New Roman</vt:lpstr>
      <vt:lpstr>Cambria</vt:lpstr>
      <vt:lpstr>Arial Unicode MS</vt:lpstr>
      <vt:lpstr>EcoLiving_16x9</vt:lpstr>
      <vt:lpstr>博弈论</vt:lpstr>
      <vt:lpstr>PowerPoint 演示文稿</vt:lpstr>
      <vt:lpstr>一 . Nim游戏</vt:lpstr>
      <vt:lpstr>一 . Nim游戏</vt:lpstr>
      <vt:lpstr>一 . Nim游戏</vt:lpstr>
      <vt:lpstr>一 . Nim游戏</vt:lpstr>
      <vt:lpstr>一 . Nim游戏</vt:lpstr>
      <vt:lpstr>二 . Sprague-Garundy函数（简称SG函数）</vt:lpstr>
      <vt:lpstr>二 . Sprague-Garundy函数（简称SG函数）</vt:lpstr>
      <vt:lpstr>二 . Sprague-Garundy函数（简称SG函数）</vt:lpstr>
      <vt:lpstr>二 . Sprague-Garundy函数（简称SG函数）</vt:lpstr>
      <vt:lpstr>二 . Sprague-Garundy函数（简称SG函数）</vt:lpstr>
      <vt:lpstr>二 . Sprague-Garundy函数（简称SG函数）</vt:lpstr>
      <vt:lpstr>二 . Sprague-Garundy函数（简称SG函数）</vt:lpstr>
      <vt:lpstr>二 . Sprague-Garundy函数（简称SG函数）</vt:lpstr>
      <vt:lpstr>二 . Sprague-Garundy函数（简称SG函数）</vt:lpstr>
      <vt:lpstr>三 . 有向图问题</vt:lpstr>
      <vt:lpstr>三 . 有向图问题</vt:lpstr>
      <vt:lpstr>四 . Anti-SG游戏和SJ定理 </vt:lpstr>
      <vt:lpstr>四 . Anti-SG游戏和SJ定理 </vt:lpstr>
      <vt:lpstr>四 . Anti-SG游戏和SJ定理 </vt:lpstr>
      <vt:lpstr>五 . Multi-SG游戏</vt:lpstr>
      <vt:lpstr>五 . Multi-SG游戏</vt:lpstr>
      <vt:lpstr>五 . Multi-SG游戏</vt:lpstr>
      <vt:lpstr>六 . Every-SG游戏</vt:lpstr>
      <vt:lpstr>六 . Every-SG游戏</vt:lpstr>
      <vt:lpstr>六 . Every-SG游戏</vt:lpstr>
      <vt:lpstr>六 . Every-SG游戏</vt:lpstr>
      <vt:lpstr>七 . 解题训练</vt:lpstr>
      <vt:lpstr>七 . 解题训练</vt:lpstr>
      <vt:lpstr>七 . 解题训练</vt:lpstr>
      <vt:lpstr>七 . 解题训练</vt:lpstr>
      <vt:lpstr>七 . 解题训练</vt:lpstr>
      <vt:lpstr>八 . 提问时间</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Administrator</cp:lastModifiedBy>
  <cp:revision>4</cp:revision>
  <dcterms:created xsi:type="dcterms:W3CDTF">2017-07-26T12:10:00Z</dcterms:created>
  <dcterms:modified xsi:type="dcterms:W3CDTF">2017-07-28T13:15:38Z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TC028010969991</vt:lpwstr>
  </property>
  <property fmtid="{D5CDD505-2E9C-101B-9397-08002B2CF9AE}" pid="3" name="KSOProductBuildVer">
    <vt:lpwstr>2052-10.1.0.6690</vt:lpwstr>
  </property>
</Properties>
</file>