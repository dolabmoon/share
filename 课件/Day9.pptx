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3"/>
    <p:sldId id="257" r:id="rId4"/>
    <p:sldId id="262" r:id="rId5"/>
    <p:sldId id="263" r:id="rId6"/>
    <p:sldId id="264" r:id="rId7"/>
    <p:sldId id="265" r:id="rId8"/>
    <p:sldId id="266" r:id="rId10"/>
    <p:sldId id="267" r:id="rId11"/>
    <p:sldId id="268" r:id="rId12"/>
    <p:sldId id="269" r:id="rId13"/>
    <p:sldId id="270" r:id="rId14"/>
    <p:sldId id="289" r:id="rId15"/>
    <p:sldId id="295" r:id="rId16"/>
    <p:sldId id="271" r:id="rId17"/>
    <p:sldId id="290" r:id="rId18"/>
    <p:sldId id="258" r:id="rId19"/>
    <p:sldId id="272" r:id="rId20"/>
    <p:sldId id="273" r:id="rId21"/>
    <p:sldId id="292" r:id="rId22"/>
    <p:sldId id="293" r:id="rId23"/>
    <p:sldId id="291" r:id="rId24"/>
    <p:sldId id="259" r:id="rId25"/>
    <p:sldId id="274" r:id="rId26"/>
    <p:sldId id="275" r:id="rId27"/>
    <p:sldId id="276" r:id="rId28"/>
    <p:sldId id="277" r:id="rId29"/>
    <p:sldId id="278" r:id="rId30"/>
    <p:sldId id="294" r:id="rId31"/>
    <p:sldId id="279" r:id="rId32"/>
    <p:sldId id="296" r:id="rId33"/>
    <p:sldId id="297" r:id="rId34"/>
    <p:sldId id="260" r:id="rId35"/>
    <p:sldId id="280" r:id="rId36"/>
    <p:sldId id="281" r:id="rId37"/>
    <p:sldId id="282" r:id="rId38"/>
    <p:sldId id="283" r:id="rId39"/>
    <p:sldId id="284" r:id="rId40"/>
    <p:sldId id="285" r:id="rId41"/>
    <p:sldId id="286" r:id="rId42"/>
    <p:sldId id="287" r:id="rId43"/>
    <p:sldId id="298" r:id="rId44"/>
    <p:sldId id="299" r:id="rId45"/>
    <p:sldId id="261" r:id="rId46"/>
    <p:sldId id="288"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92E89D3-10DF-4209-AE2F-141D20248C6A}">
          <p14:sldIdLst>
            <p14:sldId id="256"/>
          </p14:sldIdLst>
        </p14:section>
        <p14:section name="KMP" id="{B9BF0E7D-C25C-41CB-A73F-3A7B1985DB88}">
          <p14:sldIdLst>
            <p14:sldId id="257"/>
            <p14:sldId id="262"/>
            <p14:sldId id="263"/>
            <p14:sldId id="264"/>
            <p14:sldId id="265"/>
            <p14:sldId id="266"/>
            <p14:sldId id="267"/>
            <p14:sldId id="268"/>
            <p14:sldId id="269"/>
            <p14:sldId id="270"/>
            <p14:sldId id="289"/>
            <p14:sldId id="295"/>
            <p14:sldId id="271"/>
            <p14:sldId id="290"/>
          </p14:sldIdLst>
        </p14:section>
        <p14:section name="Trie" id="{86827840-E2FB-41AB-B4E9-4EB0B4C87055}">
          <p14:sldIdLst>
            <p14:sldId id="272"/>
            <p14:sldId id="273"/>
            <p14:sldId id="292"/>
            <p14:sldId id="293"/>
            <p14:sldId id="258"/>
            <p14:sldId id="291"/>
          </p14:sldIdLst>
        </p14:section>
        <p14:section name="AC自动机" id="{C2C0F4D8-1430-4AAC-9EAF-69A2E5B81D04}">
          <p14:sldIdLst>
            <p14:sldId id="259"/>
            <p14:sldId id="274"/>
            <p14:sldId id="275"/>
            <p14:sldId id="276"/>
            <p14:sldId id="277"/>
            <p14:sldId id="278"/>
            <p14:sldId id="294"/>
            <p14:sldId id="279"/>
            <p14:sldId id="296"/>
            <p14:sldId id="297"/>
          </p14:sldIdLst>
        </p14:section>
        <p14:section name="Manacher" id="{C8BC502A-8EBF-4C34-B628-95C51C3BE8BB}">
          <p14:sldIdLst>
            <p14:sldId id="260"/>
            <p14:sldId id="280"/>
            <p14:sldId id="281"/>
            <p14:sldId id="282"/>
            <p14:sldId id="283"/>
            <p14:sldId id="284"/>
            <p14:sldId id="285"/>
            <p14:sldId id="286"/>
            <p14:sldId id="287"/>
            <p14:sldId id="298"/>
            <p14:sldId id="299"/>
          </p14:sldIdLst>
        </p14:section>
        <p14:section name="后缀数组" id="{FFE5B9C2-1880-4E9B-BEAA-9D6C331CDD2A}">
          <p14:sldIdLst>
            <p14:sldId id="261"/>
            <p14:sldId id="288"/>
            <p14:sldId id="300"/>
            <p14:sldId id="301"/>
            <p14:sldId id="302"/>
            <p14:sldId id="303"/>
            <p14:sldId id="304"/>
            <p14:sldId id="305"/>
            <p14:sldId id="306"/>
            <p14:sldId id="307"/>
            <p14:sldId id="308"/>
            <p14:sldId id="309"/>
            <p14:sldId id="310"/>
            <p14:sldId id="311"/>
            <p14:sldId id="312"/>
            <p14:sldId id="313"/>
            <p14:sldId id="314"/>
            <p14:sldId id="315"/>
            <p14:sldId id="317"/>
            <p14:sldId id="318"/>
            <p14:sldId id="320"/>
            <p14:sldId id="321"/>
            <p14:sldId id="322"/>
            <p14:sldId id="323"/>
            <p14:sldId id="319"/>
            <p14:sldId id="31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CAF84D-EEF9-4B01-B836-76CA4C389DC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10CAE2-E677-4BA8-BCEC-146F87CCEB0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610CAE2-E677-4BA8-BCEC-146F87CCEB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610CAE2-E677-4BA8-BCEC-146F87CCEB0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610CAE2-E677-4BA8-BCEC-146F87CCEB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C7B35B8-E89B-4C72-9AC6-85C7392F83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06E3BC-61F0-43CB-8D6A-4C501670D74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7B35B8-E89B-4C72-9AC6-85C7392F83C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06E3BC-61F0-43CB-8D6A-4C501670D74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ferric.cf/blog/index.php/archives/10/" TargetMode="Externa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苹方 常规" panose="020B0300000000000000" charset="-122"/>
                <a:ea typeface="苹方 常规" panose="020B0300000000000000" charset="-122"/>
              </a:rPr>
              <a:t>课件</a:t>
            </a:r>
            <a:r>
              <a:rPr lang="en-US" altLang="zh-CN" dirty="0">
                <a:latin typeface="苹方 常规" panose="020B0300000000000000" charset="-122"/>
                <a:ea typeface="苹方 常规" panose="020B0300000000000000" charset="-122"/>
              </a:rPr>
              <a:t>.pptx</a:t>
            </a:r>
            <a:endParaRPr lang="zh-CN" altLang="en-US" dirty="0">
              <a:latin typeface="苹方 常规" panose="020B0300000000000000" charset="-122"/>
              <a:ea typeface="苹方 常规" panose="020B0300000000000000" charset="-122"/>
            </a:endParaRPr>
          </a:p>
        </p:txBody>
      </p:sp>
      <p:sp>
        <p:nvSpPr>
          <p:cNvPr id="3" name="副标题 2"/>
          <p:cNvSpPr>
            <a:spLocks noGrp="1"/>
          </p:cNvSpPr>
          <p:nvPr>
            <p:ph type="subTitle" idx="1"/>
          </p:nvPr>
        </p:nvSpPr>
        <p:spPr/>
        <p:txBody>
          <a:bodyPr/>
          <a:lstStyle/>
          <a:p>
            <a:r>
              <a:rPr lang="zh-CN" altLang="en-US" dirty="0"/>
              <a:t>哈师大附中 张开</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257484" y="2967335"/>
            <a:ext cx="1678305" cy="922020"/>
          </a:xfrm>
          <a:prstGeom prst="rect">
            <a:avLst/>
          </a:prstGeom>
          <a:noFill/>
        </p:spPr>
        <p:txBody>
          <a:bodyPr wrap="none" lIns="91440" tIns="45720" rIns="91440" bIns="45720">
            <a:spAutoFit/>
          </a:bodyPr>
          <a:lstStyle/>
          <a:p>
            <a:pPr algn="ctr"/>
            <a:r>
              <a:rPr lang="en-US" altLang="zh-CN" sz="5400" b="0" cap="none" spc="0" dirty="0">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rPr>
              <a:t>KMP</a:t>
            </a:r>
            <a:endParaRPr lang="zh-CN" altLang="en-US" sz="5400" b="0" cap="none" spc="0" dirty="0">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endParaRPr lang="zh-CN" altLang="en-US" dirty="0"/>
          </a:p>
        </p:txBody>
      </p:sp>
      <p:sp>
        <p:nvSpPr>
          <p:cNvPr id="3" name="内容占位符 2"/>
          <p:cNvSpPr>
            <a:spLocks noGrp="1"/>
          </p:cNvSpPr>
          <p:nvPr>
            <p:ph idx="1"/>
          </p:nvPr>
        </p:nvSpPr>
        <p:spPr/>
        <p:txBody>
          <a:bodyPr/>
          <a:lstStyle/>
          <a:p>
            <a:r>
              <a:rPr lang="zh-CN" altLang="en-US" dirty="0"/>
              <a:t>我们经常会遇到这样的问题：</a:t>
            </a:r>
            <a:endParaRPr lang="en-US" altLang="zh-CN" dirty="0"/>
          </a:p>
          <a:p>
            <a:r>
              <a:rPr lang="zh-CN" altLang="en-US" dirty="0"/>
              <a:t>给定一个字符串（文本串），求另一个字符串（模式串）在该串中的匹配位置（匹配指从文本串中某一个位置，模式串的开头开始，两串中字符两两对应相等）。</a:t>
            </a:r>
            <a:endParaRPr lang="en-US" altLang="zh-CN" dirty="0"/>
          </a:p>
          <a:p>
            <a:endParaRPr lang="en-US" altLang="zh-CN" dirty="0"/>
          </a:p>
          <a:p>
            <a:r>
              <a:rPr lang="zh-CN" altLang="en-US" dirty="0"/>
              <a:t>朴素做法？</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KMP</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可以发现朴素做法在一些情况下对于每一个位置的匹配都可能需要</a:t>
                </a:r>
                <a14:m>
                  <m:oMath xmlns:m="http://schemas.openxmlformats.org/officeDocument/2006/math">
                    <m:r>
                      <m:rPr>
                        <m:sty m:val="p"/>
                      </m:rPr>
                      <a:rPr lang="en-US" altLang="zh-CN" i="1" dirty="0">
                        <a:latin typeface="Cambria Math" panose="02040503050406030204" pitchFamily="18" charset="0"/>
                      </a:rPr>
                      <m:t>O</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𝑛</m:t>
                        </m:r>
                      </m:e>
                    </m:d>
                  </m:oMath>
                </a14:m>
                <a:r>
                  <a:rPr lang="zh-CN" altLang="en-US" dirty="0"/>
                  <a:t>的复杂度，这往往是不能接受的。</a:t>
                </a:r>
                <a:endParaRPr lang="en-US" altLang="zh-CN" dirty="0"/>
              </a:p>
              <a:p>
                <a:endParaRPr lang="en-US" altLang="zh-CN" dirty="0"/>
              </a:p>
              <a:p>
                <a:r>
                  <a:rPr lang="en-US" altLang="zh-CN" dirty="0"/>
                  <a:t>KMP</a:t>
                </a:r>
                <a:r>
                  <a:rPr lang="zh-CN" altLang="en-US" dirty="0"/>
                  <a:t>算法的思想就在于充分利用已经匹配过位置的信息，使得下一次匹配可以从模式串尽量靠后的位置开始检测，而不用从头来过。</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521"/>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KMP</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比如对于模式串</a:t>
            </a:r>
            <a:endParaRPr lang="en-US" altLang="zh-CN" dirty="0"/>
          </a:p>
          <a:p>
            <a:pPr marL="0" indent="0" algn="ctr">
              <a:buNone/>
            </a:pPr>
            <a:r>
              <a:rPr lang="en-US" altLang="zh-CN" dirty="0" err="1">
                <a:latin typeface="Consolas" panose="020B0609020204030204" pitchFamily="49" charset="0"/>
                <a:cs typeface="Mongolian Baiti" panose="03000500000000000000" pitchFamily="66" charset="0"/>
              </a:rPr>
              <a:t>abcabcd</a:t>
            </a:r>
            <a:endParaRPr lang="en-US" altLang="zh-CN" dirty="0">
              <a:latin typeface="Consolas" panose="020B0609020204030204" pitchFamily="49" charset="0"/>
              <a:cs typeface="Mongolian Baiti" panose="03000500000000000000" pitchFamily="66" charset="0"/>
            </a:endParaRPr>
          </a:p>
          <a:p>
            <a:r>
              <a:rPr lang="zh-CN" altLang="en-US" dirty="0">
                <a:latin typeface="Consolas" panose="020B0609020204030204" pitchFamily="49" charset="0"/>
                <a:cs typeface="Mongolian Baiti" panose="03000500000000000000" pitchFamily="66" charset="0"/>
              </a:rPr>
              <a:t>考虑什么时候可以使得匹配尽可能靠后地开始。</a:t>
            </a:r>
            <a:endParaRPr lang="en-US" altLang="zh-CN" dirty="0">
              <a:latin typeface="Consolas" panose="020B0609020204030204" pitchFamily="49" charset="0"/>
              <a:cs typeface="Mongolian Baiti" panose="03000500000000000000" pitchFamily="66" charset="0"/>
            </a:endParaRPr>
          </a:p>
          <a:p>
            <a:r>
              <a:rPr lang="zh-CN" altLang="en-US" dirty="0">
                <a:latin typeface="Consolas" panose="020B0609020204030204" pitchFamily="49" charset="0"/>
                <a:cs typeface="Mongolian Baiti" panose="03000500000000000000" pitchFamily="66" charset="0"/>
              </a:rPr>
              <a:t>比如对于文本串</a:t>
            </a:r>
            <a:endParaRPr lang="en-US" altLang="zh-CN" dirty="0">
              <a:latin typeface="Consolas" panose="020B0609020204030204" pitchFamily="49" charset="0"/>
              <a:cs typeface="Mongolian Baiti" panose="03000500000000000000" pitchFamily="66" charset="0"/>
            </a:endParaRPr>
          </a:p>
          <a:p>
            <a:pPr marL="0" indent="0" algn="ctr">
              <a:buNone/>
            </a:pPr>
            <a:r>
              <a:rPr lang="en-US" altLang="zh-CN" dirty="0" err="1">
                <a:latin typeface="Consolas" panose="020B0609020204030204" pitchFamily="49" charset="0"/>
                <a:cs typeface="Mongolian Baiti" panose="03000500000000000000" pitchFamily="66" charset="0"/>
              </a:rPr>
              <a:t>abdabcabcabcd</a:t>
            </a:r>
            <a:endParaRPr lang="en-US" altLang="zh-CN" dirty="0">
              <a:latin typeface="Consolas" panose="020B0609020204030204" pitchFamily="49" charset="0"/>
              <a:cs typeface="Mongolian Baiti" panose="03000500000000000000" pitchFamily="66" charset="0"/>
            </a:endParaRPr>
          </a:p>
          <a:p>
            <a:endParaRPr lang="zh-CN" altLang="en-US" dirty="0">
              <a:latin typeface="Consolas" panose="020B0609020204030204" pitchFamily="49" charset="0"/>
              <a:cs typeface="Mongolian Baiti" panose="03000500000000000000"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KMP</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进行匹配。</a:t>
            </a:r>
            <a:endParaRPr lang="en-US" altLang="zh-CN" dirty="0"/>
          </a:p>
          <a:p>
            <a:pPr marL="0" indent="0">
              <a:buNone/>
            </a:pPr>
            <a:endParaRPr lang="en-US" altLang="zh-CN" dirty="0"/>
          </a:p>
          <a:p>
            <a:pPr marL="0" indent="0">
              <a:buNone/>
            </a:pPr>
            <a:endParaRPr lang="en-US" altLang="zh-CN" dirty="0"/>
          </a:p>
          <a:p>
            <a:r>
              <a:rPr lang="zh-CN" altLang="en-US" dirty="0"/>
              <a:t>匹配到</a:t>
            </a:r>
            <a:r>
              <a:rPr lang="en-US" altLang="zh-CN" dirty="0">
                <a:latin typeface="Consolas" panose="020B0609020204030204" pitchFamily="49" charset="0"/>
              </a:rPr>
              <a:t>c</a:t>
            </a:r>
            <a:r>
              <a:rPr lang="zh-CN" altLang="en-US" dirty="0">
                <a:latin typeface="Consolas" panose="020B0609020204030204" pitchFamily="49" charset="0"/>
              </a:rPr>
              <a:t>时失配。此时没有从某一靠后位置开始的机会。</a:t>
            </a:r>
            <a:endParaRPr lang="en-US" altLang="zh-CN" dirty="0">
              <a:latin typeface="Consolas" panose="020B0609020204030204" pitchFamily="49" charset="0"/>
            </a:endParaRPr>
          </a:p>
          <a:p>
            <a:r>
              <a:rPr lang="zh-CN" altLang="en-US" dirty="0">
                <a:latin typeface="Consolas" panose="020B0609020204030204" pitchFamily="49" charset="0"/>
              </a:rPr>
              <a:t>直接跳到</a:t>
            </a:r>
            <a:r>
              <a:rPr lang="en-US" altLang="zh-CN" dirty="0">
                <a:latin typeface="Consolas" panose="020B0609020204030204" pitchFamily="49" charset="0"/>
              </a:rPr>
              <a:t>d</a:t>
            </a:r>
            <a:r>
              <a:rPr lang="zh-CN" altLang="en-US" dirty="0">
                <a:latin typeface="Consolas" panose="020B0609020204030204" pitchFamily="49" charset="0"/>
              </a:rPr>
              <a:t>后面继续匹配。</a:t>
            </a:r>
            <a:endParaRPr lang="en-US" altLang="zh-CN" dirty="0">
              <a:latin typeface="Consolas" panose="020B0609020204030204" pitchFamily="49" charset="0"/>
            </a:endParaRPr>
          </a:p>
        </p:txBody>
      </p:sp>
      <p:sp>
        <p:nvSpPr>
          <p:cNvPr id="4" name="文本框 3"/>
          <p:cNvSpPr txBox="1"/>
          <p:nvPr/>
        </p:nvSpPr>
        <p:spPr>
          <a:xfrm>
            <a:off x="1080655" y="2313709"/>
            <a:ext cx="2747868" cy="523220"/>
          </a:xfrm>
          <a:prstGeom prst="rect">
            <a:avLst/>
          </a:prstGeom>
          <a:noFill/>
        </p:spPr>
        <p:txBody>
          <a:bodyPr wrap="none" rtlCol="0">
            <a:spAutoFit/>
          </a:bodyPr>
          <a:lstStyle/>
          <a:p>
            <a:r>
              <a:rPr lang="en-US" altLang="zh-CN" sz="2800" dirty="0" err="1">
                <a:latin typeface="Consolas" panose="020B0609020204030204" pitchFamily="49" charset="0"/>
              </a:rPr>
              <a:t>abdabcabcabcd</a:t>
            </a:r>
            <a:endParaRPr lang="zh-CN" altLang="en-US" sz="2800" dirty="0">
              <a:latin typeface="Consolas" panose="020B0609020204030204" pitchFamily="49" charset="0"/>
            </a:endParaRPr>
          </a:p>
        </p:txBody>
      </p:sp>
      <p:sp>
        <p:nvSpPr>
          <p:cNvPr id="5" name="文本框 4"/>
          <p:cNvSpPr txBox="1"/>
          <p:nvPr/>
        </p:nvSpPr>
        <p:spPr>
          <a:xfrm>
            <a:off x="1080655" y="2710256"/>
            <a:ext cx="1856509" cy="523220"/>
          </a:xfrm>
          <a:prstGeom prst="rect">
            <a:avLst/>
          </a:prstGeom>
          <a:noFill/>
        </p:spPr>
        <p:txBody>
          <a:bodyPr wrap="square" rtlCol="0">
            <a:spAutoFit/>
          </a:bodyPr>
          <a:lstStyle/>
          <a:p>
            <a:r>
              <a:rPr lang="en-US" altLang="zh-CN" sz="2800" dirty="0" err="1">
                <a:latin typeface="Consolas" panose="020B0609020204030204" pitchFamily="49" charset="0"/>
              </a:rPr>
              <a:t>ab</a:t>
            </a:r>
            <a:r>
              <a:rPr lang="en-US" altLang="zh-CN" sz="2800" dirty="0" err="1">
                <a:solidFill>
                  <a:srgbClr val="FF0000"/>
                </a:solidFill>
                <a:latin typeface="Consolas" panose="020B0609020204030204" pitchFamily="49" charset="0"/>
              </a:rPr>
              <a:t>c</a:t>
            </a:r>
            <a:r>
              <a:rPr lang="en-US" altLang="zh-CN" sz="2800" dirty="0" err="1">
                <a:latin typeface="Consolas" panose="020B0609020204030204" pitchFamily="49" charset="0"/>
              </a:rPr>
              <a:t>abcd</a:t>
            </a:r>
            <a:endParaRPr lang="zh-CN" altLang="en-US" sz="2800"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KMP</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进行匹配。</a:t>
            </a:r>
            <a:endParaRPr lang="en-US" altLang="zh-CN" dirty="0"/>
          </a:p>
          <a:p>
            <a:pPr marL="0" indent="0">
              <a:buNone/>
            </a:pPr>
            <a:endParaRPr lang="en-US" altLang="zh-CN" dirty="0"/>
          </a:p>
          <a:p>
            <a:pPr marL="0" indent="0">
              <a:buNone/>
            </a:pPr>
            <a:endParaRPr lang="en-US" altLang="zh-CN" dirty="0"/>
          </a:p>
          <a:p>
            <a:r>
              <a:rPr lang="zh-CN" altLang="en-US" dirty="0"/>
              <a:t>匹配到</a:t>
            </a:r>
            <a:r>
              <a:rPr lang="en-US" altLang="zh-CN" dirty="0">
                <a:latin typeface="Consolas" panose="020B0609020204030204" pitchFamily="49" charset="0"/>
              </a:rPr>
              <a:t>d</a:t>
            </a:r>
            <a:r>
              <a:rPr lang="zh-CN" altLang="en-US" dirty="0">
                <a:latin typeface="Consolas" panose="020B0609020204030204" pitchFamily="49" charset="0"/>
              </a:rPr>
              <a:t>时再次失配。</a:t>
            </a:r>
            <a:endParaRPr lang="en-US" altLang="zh-CN" dirty="0">
              <a:latin typeface="Consolas" panose="020B0609020204030204" pitchFamily="49" charset="0"/>
            </a:endParaRPr>
          </a:p>
          <a:p>
            <a:r>
              <a:rPr lang="zh-CN" altLang="en-US" dirty="0">
                <a:latin typeface="Consolas" panose="020B0609020204030204" pitchFamily="49" charset="0"/>
              </a:rPr>
              <a:t>考虑已经匹配过的部分</a:t>
            </a:r>
            <a:r>
              <a:rPr lang="en-US" altLang="zh-CN" dirty="0">
                <a:latin typeface="Consolas" panose="020B0609020204030204" pitchFamily="49" charset="0"/>
              </a:rPr>
              <a:t>……</a:t>
            </a:r>
            <a:r>
              <a:rPr lang="zh-CN" altLang="en-US" dirty="0">
                <a:latin typeface="Consolas" panose="020B0609020204030204" pitchFamily="49" charset="0"/>
              </a:rPr>
              <a:t>发现可以模式串到第一个</a:t>
            </a:r>
            <a:r>
              <a:rPr lang="en-US" altLang="zh-CN" dirty="0">
                <a:latin typeface="Consolas" panose="020B0609020204030204" pitchFamily="49" charset="0"/>
              </a:rPr>
              <a:t>c</a:t>
            </a:r>
            <a:r>
              <a:rPr lang="zh-CN" altLang="en-US" dirty="0">
                <a:latin typeface="Consolas" panose="020B0609020204030204" pitchFamily="49" charset="0"/>
              </a:rPr>
              <a:t>的位置仍然是匹配完成的。</a:t>
            </a:r>
            <a:endParaRPr lang="en-US" altLang="zh-CN" dirty="0">
              <a:latin typeface="Consolas" panose="020B0609020204030204" pitchFamily="49" charset="0"/>
            </a:endParaRPr>
          </a:p>
          <a:p>
            <a:r>
              <a:rPr lang="zh-CN" altLang="en-US" dirty="0">
                <a:latin typeface="Consolas" panose="020B0609020204030204" pitchFamily="49" charset="0"/>
              </a:rPr>
              <a:t>于是从模式串的第二个</a:t>
            </a:r>
            <a:r>
              <a:rPr lang="en-US" altLang="zh-CN" dirty="0">
                <a:latin typeface="Consolas" panose="020B0609020204030204" pitchFamily="49" charset="0"/>
              </a:rPr>
              <a:t>a</a:t>
            </a:r>
            <a:r>
              <a:rPr lang="zh-CN" altLang="en-US" dirty="0">
                <a:latin typeface="Consolas" panose="020B0609020204030204" pitchFamily="49" charset="0"/>
              </a:rPr>
              <a:t>开始匹配，可找到文本串的一个匹配。</a:t>
            </a:r>
            <a:endParaRPr lang="en-US" altLang="zh-CN" dirty="0">
              <a:latin typeface="Consolas" panose="020B0609020204030204" pitchFamily="49" charset="0"/>
            </a:endParaRPr>
          </a:p>
        </p:txBody>
      </p:sp>
      <p:sp>
        <p:nvSpPr>
          <p:cNvPr id="4" name="文本框 3"/>
          <p:cNvSpPr txBox="1"/>
          <p:nvPr/>
        </p:nvSpPr>
        <p:spPr>
          <a:xfrm>
            <a:off x="1080655" y="2313709"/>
            <a:ext cx="2747868" cy="523220"/>
          </a:xfrm>
          <a:prstGeom prst="rect">
            <a:avLst/>
          </a:prstGeom>
          <a:noFill/>
        </p:spPr>
        <p:txBody>
          <a:bodyPr wrap="none" rtlCol="0">
            <a:spAutoFit/>
          </a:bodyPr>
          <a:lstStyle/>
          <a:p>
            <a:r>
              <a:rPr lang="en-US" altLang="zh-CN" sz="2800" dirty="0" err="1">
                <a:latin typeface="Consolas" panose="020B0609020204030204" pitchFamily="49" charset="0"/>
              </a:rPr>
              <a:t>abdabcabcabcd</a:t>
            </a:r>
            <a:endParaRPr lang="zh-CN" altLang="en-US" sz="2800" dirty="0">
              <a:latin typeface="Consolas" panose="020B0609020204030204" pitchFamily="49" charset="0"/>
            </a:endParaRPr>
          </a:p>
        </p:txBody>
      </p:sp>
      <p:sp>
        <p:nvSpPr>
          <p:cNvPr id="5" name="文本框 4"/>
          <p:cNvSpPr txBox="1"/>
          <p:nvPr/>
        </p:nvSpPr>
        <p:spPr>
          <a:xfrm>
            <a:off x="1080656" y="2710256"/>
            <a:ext cx="1648690" cy="523220"/>
          </a:xfrm>
          <a:prstGeom prst="rect">
            <a:avLst/>
          </a:prstGeom>
          <a:noFill/>
        </p:spPr>
        <p:txBody>
          <a:bodyPr wrap="square" rtlCol="0">
            <a:spAutoFit/>
          </a:bodyPr>
          <a:lstStyle/>
          <a:p>
            <a:r>
              <a:rPr lang="en-US" altLang="zh-CN" sz="2800" dirty="0" err="1">
                <a:latin typeface="Consolas" panose="020B0609020204030204" pitchFamily="49" charset="0"/>
              </a:rPr>
              <a:t>abcabcd</a:t>
            </a:r>
            <a:endParaRPr lang="zh-CN" altLang="en-US" sz="2800" dirty="0">
              <a:latin typeface="Consolas" panose="020B0609020204030204" pitchFamily="49" charset="0"/>
            </a:endParaRPr>
          </a:p>
        </p:txBody>
      </p:sp>
      <p:sp>
        <p:nvSpPr>
          <p:cNvPr id="6" name="文本框 5"/>
          <p:cNvSpPr txBox="1"/>
          <p:nvPr/>
        </p:nvSpPr>
        <p:spPr>
          <a:xfrm>
            <a:off x="2840182" y="2710256"/>
            <a:ext cx="387927" cy="523220"/>
          </a:xfrm>
          <a:prstGeom prst="rect">
            <a:avLst/>
          </a:prstGeom>
          <a:noFill/>
        </p:spPr>
        <p:txBody>
          <a:bodyPr wrap="square" rtlCol="0">
            <a:spAutoFit/>
          </a:bodyPr>
          <a:lstStyle/>
          <a:p>
            <a:r>
              <a:rPr lang="en-US" altLang="zh-CN" sz="2800" dirty="0">
                <a:solidFill>
                  <a:srgbClr val="FF0000"/>
                </a:solidFill>
                <a:latin typeface="Consolas" panose="020B0609020204030204" pitchFamily="49" charset="0"/>
              </a:rPr>
              <a:t>d</a:t>
            </a:r>
            <a:endParaRPr lang="zh-CN" altLang="en-US" sz="2800" dirty="0">
              <a:solidFill>
                <a:srgbClr val="FF0000"/>
              </a:solidFill>
              <a:latin typeface="Consolas" panose="020B0609020204030204" pitchFamily="49" charset="0"/>
            </a:endParaRPr>
          </a:p>
        </p:txBody>
      </p:sp>
      <p:sp>
        <p:nvSpPr>
          <p:cNvPr id="7" name="文本框 6"/>
          <p:cNvSpPr txBox="1"/>
          <p:nvPr/>
        </p:nvSpPr>
        <p:spPr>
          <a:xfrm>
            <a:off x="3828523" y="2710256"/>
            <a:ext cx="387927" cy="523220"/>
          </a:xfrm>
          <a:prstGeom prst="rect">
            <a:avLst/>
          </a:prstGeom>
          <a:noFill/>
        </p:spPr>
        <p:txBody>
          <a:bodyPr wrap="square" rtlCol="0">
            <a:spAutoFit/>
          </a:bodyPr>
          <a:lstStyle/>
          <a:p>
            <a:r>
              <a:rPr lang="zh-CN" altLang="en-US" sz="2800" dirty="0">
                <a:solidFill>
                  <a:srgbClr val="FF0000"/>
                </a:solidFill>
                <a:latin typeface="Consolas" panose="020B0609020204030204" pitchFamily="49" charset="0"/>
              </a:rPr>
              <a:t>√</a:t>
            </a:r>
            <a:endParaRPr lang="zh-CN" altLang="en-US" sz="2800" dirty="0">
              <a:solidFill>
                <a:srgbClr val="FF0000"/>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77556E-17 -3.33333E-6 L 0.04779 -3.33333E-6 " pathEditMode="relative" rAng="0" ptsTypes="AA">
                                      <p:cBhvr>
                                        <p:cTn id="6" dur="2000" fill="hold"/>
                                        <p:tgtEl>
                                          <p:spTgt spid="5"/>
                                        </p:tgtEl>
                                        <p:attrNameLst>
                                          <p:attrName>ppt_x</p:attrName>
                                          <p:attrName>ppt_y</p:attrName>
                                        </p:attrNameLst>
                                      </p:cBhvr>
                                      <p:rCtr x="2383"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par>
                                <p:cTn id="24" presetID="10" presetClass="exit" presetSubtype="0" fill="hold" grpId="0" nodeType="withEffect">
                                  <p:stCondLst>
                                    <p:cond delay="0"/>
                                  </p:stCondLst>
                                  <p:childTnLst>
                                    <p:animEffect transition="out" filter="fade">
                                      <p:cBhvr>
                                        <p:cTn id="25" dur="500"/>
                                        <p:tgtEl>
                                          <p:spTgt spid="6">
                                            <p:txEl>
                                              <p:pRg st="0" end="0"/>
                                            </p:txEl>
                                          </p:spTgt>
                                        </p:tgtEl>
                                      </p:cBhvr>
                                    </p:animEffect>
                                    <p:set>
                                      <p:cBhvr>
                                        <p:cTn id="26" dur="1" fill="hold">
                                          <p:stCondLst>
                                            <p:cond delay="499"/>
                                          </p:stCondLst>
                                        </p:cTn>
                                        <p:tgtEl>
                                          <p:spTgt spid="6">
                                            <p:txEl>
                                              <p:pRg st="0" end="0"/>
                                            </p:txEl>
                                          </p:spTgt>
                                        </p:tgtEl>
                                        <p:attrNameLst>
                                          <p:attrName>style.visibility</p:attrName>
                                        </p:attrNameLst>
                                      </p:cBhvr>
                                      <p:to>
                                        <p:strVal val="hidden"/>
                                      </p:to>
                                    </p:set>
                                  </p:childTnLst>
                                </p:cTn>
                              </p:par>
                            </p:childTnLst>
                          </p:cTn>
                        </p:par>
                        <p:par>
                          <p:cTn id="27" fill="hold">
                            <p:stCondLst>
                              <p:cond delay="0"/>
                            </p:stCondLst>
                            <p:childTnLst>
                              <p:par>
                                <p:cTn id="28" presetID="42" presetClass="path" presetSubtype="0" accel="50000" decel="50000" fill="hold" grpId="1" nodeType="afterEffect">
                                  <p:stCondLst>
                                    <p:cond delay="0"/>
                                  </p:stCondLst>
                                  <p:childTnLst>
                                    <p:animMotion origin="layout" path="M 0.04779 -3.33333E-6 L 0.09583 -3.33333E-6 " pathEditMode="relative" rAng="0" ptsTypes="AA">
                                      <p:cBhvr>
                                        <p:cTn id="29" dur="2000" fill="hold"/>
                                        <p:tgtEl>
                                          <p:spTgt spid="5"/>
                                        </p:tgtEl>
                                        <p:attrNameLst>
                                          <p:attrName>ppt_x</p:attrName>
                                          <p:attrName>ppt_y</p:attrName>
                                        </p:attrNameLst>
                                      </p:cBhvr>
                                      <p:rCtr x="2396" y="0"/>
                                    </p:animMotion>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7">
                                            <p:txEl>
                                              <p:pRg st="0" end="0"/>
                                            </p:txEl>
                                          </p:spTgt>
                                        </p:tgtEl>
                                        <p:attrNameLst>
                                          <p:attrName>style.visibility</p:attrName>
                                        </p:attrNameLst>
                                      </p:cBhvr>
                                      <p:to>
                                        <p:strVal val="visible"/>
                                      </p:to>
                                    </p:set>
                                    <p:animEffect transition="in" filter="fade">
                                      <p:cBhvr>
                                        <p:cTn id="3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5" grpId="1"/>
      <p:bldP spid="6"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Next</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endParaRPr lang="en-US" altLang="zh-CN" dirty="0"/>
          </a:p>
          <a:p>
            <a:r>
              <a:rPr lang="zh-CN" altLang="en-US" dirty="0"/>
              <a:t>观察模式串，发现如果到</a:t>
            </a:r>
            <a:r>
              <a:rPr lang="en-US" altLang="zh-CN" dirty="0">
                <a:latin typeface="Consolas" panose="020B0609020204030204" pitchFamily="49" charset="0"/>
              </a:rPr>
              <a:t>d</a:t>
            </a:r>
            <a:r>
              <a:rPr lang="zh-CN" altLang="en-US" dirty="0">
                <a:latin typeface="Consolas" panose="020B0609020204030204" pitchFamily="49" charset="0"/>
              </a:rPr>
              <a:t>时失配，则可以从第二个</a:t>
            </a:r>
            <a:r>
              <a:rPr lang="en-US" altLang="zh-CN" dirty="0">
                <a:latin typeface="Consolas" panose="020B0609020204030204" pitchFamily="49" charset="0"/>
              </a:rPr>
              <a:t>a</a:t>
            </a:r>
            <a:r>
              <a:rPr lang="zh-CN" altLang="en-US" dirty="0">
                <a:latin typeface="Consolas" panose="020B0609020204030204" pitchFamily="49" charset="0"/>
              </a:rPr>
              <a:t>继续匹配。</a:t>
            </a:r>
            <a:endParaRPr lang="en-US" altLang="zh-CN" dirty="0">
              <a:latin typeface="Consolas" panose="020B0609020204030204" pitchFamily="49" charset="0"/>
            </a:endParaRPr>
          </a:p>
          <a:p>
            <a:r>
              <a:rPr lang="zh-CN" altLang="en-US" dirty="0">
                <a:latin typeface="Consolas" panose="020B0609020204030204" pitchFamily="49" charset="0"/>
              </a:rPr>
              <a:t>观察</a:t>
            </a:r>
            <a:r>
              <a:rPr lang="en-US" altLang="zh-CN" dirty="0">
                <a:latin typeface="Consolas" panose="020B0609020204030204" pitchFamily="49" charset="0"/>
              </a:rPr>
              <a:t>d</a:t>
            </a:r>
            <a:r>
              <a:rPr lang="zh-CN" altLang="en-US" dirty="0">
                <a:latin typeface="Consolas" panose="020B0609020204030204" pitchFamily="49" charset="0"/>
              </a:rPr>
              <a:t>前面的串，发现</a:t>
            </a:r>
            <a:r>
              <a:rPr lang="en-US" altLang="zh-CN" dirty="0" err="1">
                <a:latin typeface="Consolas" panose="020B0609020204030204" pitchFamily="49" charset="0"/>
              </a:rPr>
              <a:t>abc</a:t>
            </a:r>
            <a:r>
              <a:rPr lang="zh-CN" altLang="en-US" dirty="0">
                <a:latin typeface="Consolas" panose="020B0609020204030204" pitchFamily="49" charset="0"/>
              </a:rPr>
              <a:t>既是前缀又是后缀。</a:t>
            </a:r>
            <a:endParaRPr lang="en-US" altLang="zh-CN" dirty="0">
              <a:latin typeface="Consolas" panose="020B0609020204030204" pitchFamily="49" charset="0"/>
            </a:endParaRPr>
          </a:p>
          <a:p>
            <a:r>
              <a:rPr lang="zh-CN" altLang="en-US" dirty="0">
                <a:latin typeface="Consolas" panose="020B0609020204030204" pitchFamily="49" charset="0"/>
              </a:rPr>
              <a:t>可以得出推论，到模式串的某一位置的子串，既是该子串前缀也是后缀的串是仍然满足匹配的串。</a:t>
            </a:r>
            <a:endParaRPr lang="en-US" altLang="zh-CN" dirty="0">
              <a:latin typeface="Consolas" panose="020B0609020204030204" pitchFamily="49" charset="0"/>
            </a:endParaRPr>
          </a:p>
          <a:p>
            <a:r>
              <a:rPr lang="zh-CN" altLang="en-US" dirty="0">
                <a:latin typeface="Consolas" panose="020B0609020204030204" pitchFamily="49" charset="0"/>
              </a:rPr>
              <a:t>若求出模式串每个前缀的最长前缀</a:t>
            </a:r>
            <a:r>
              <a:rPr lang="en-US" altLang="zh-CN" dirty="0">
                <a:latin typeface="Consolas" panose="020B0609020204030204" pitchFamily="49" charset="0"/>
              </a:rPr>
              <a:t>/</a:t>
            </a:r>
            <a:r>
              <a:rPr lang="zh-CN" altLang="en-US" dirty="0">
                <a:latin typeface="Consolas" panose="020B0609020204030204" pitchFamily="49" charset="0"/>
              </a:rPr>
              <a:t>后缀串，则可以有尽量长的已匹配的串。</a:t>
            </a:r>
            <a:endParaRPr lang="en-US" altLang="zh-CN" dirty="0">
              <a:latin typeface="Consolas" panose="020B0609020204030204" pitchFamily="49" charset="0"/>
            </a:endParaRPr>
          </a:p>
          <a:p>
            <a:r>
              <a:rPr lang="zh-CN" altLang="en-US" dirty="0">
                <a:latin typeface="Consolas" panose="020B0609020204030204" pitchFamily="49" charset="0"/>
              </a:rPr>
              <a:t>于是就可以从失配的位置继续匹配啦！</a:t>
            </a:r>
            <a:endParaRPr lang="zh-CN" altLang="en-US" dirty="0"/>
          </a:p>
        </p:txBody>
      </p:sp>
      <p:sp>
        <p:nvSpPr>
          <p:cNvPr id="4" name="文本框 3"/>
          <p:cNvSpPr txBox="1"/>
          <p:nvPr/>
        </p:nvSpPr>
        <p:spPr>
          <a:xfrm>
            <a:off x="1080656" y="1825625"/>
            <a:ext cx="1648690" cy="523220"/>
          </a:xfrm>
          <a:prstGeom prst="rect">
            <a:avLst/>
          </a:prstGeom>
          <a:noFill/>
        </p:spPr>
        <p:txBody>
          <a:bodyPr wrap="square" rtlCol="0">
            <a:spAutoFit/>
          </a:bodyPr>
          <a:lstStyle/>
          <a:p>
            <a:r>
              <a:rPr lang="en-US" altLang="zh-CN" sz="2800" dirty="0" err="1">
                <a:latin typeface="Consolas" panose="020B0609020204030204" pitchFamily="49" charset="0"/>
              </a:rPr>
              <a:t>abcabcd</a:t>
            </a:r>
            <a:endParaRPr lang="zh-CN" altLang="en-US" sz="2800"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Next</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对于该前缀最长的前缀</a:t>
            </a:r>
            <a:r>
              <a:rPr lang="en-US" altLang="zh-CN" dirty="0"/>
              <a:t>/</a:t>
            </a:r>
            <a:r>
              <a:rPr lang="zh-CN" altLang="en-US" dirty="0"/>
              <a:t>后缀串的长度称为</a:t>
            </a:r>
            <a:r>
              <a:rPr lang="en-US" altLang="zh-CN" dirty="0">
                <a:latin typeface="Consolas" panose="020B0609020204030204" pitchFamily="49" charset="0"/>
              </a:rPr>
              <a:t>Next</a:t>
            </a:r>
            <a:r>
              <a:rPr lang="zh-CN" altLang="en-US" dirty="0"/>
              <a:t>。</a:t>
            </a:r>
            <a:endParaRPr lang="en-US" altLang="zh-CN" dirty="0"/>
          </a:p>
          <a:p>
            <a:r>
              <a:rPr lang="zh-CN" altLang="en-US" dirty="0"/>
              <a:t>比如</a:t>
            </a:r>
            <a:endParaRPr lang="en-US" altLang="zh-CN" dirty="0"/>
          </a:p>
          <a:p>
            <a:endParaRPr lang="en-US" altLang="zh-CN" dirty="0"/>
          </a:p>
          <a:p>
            <a:endParaRPr lang="en-US" altLang="zh-CN" dirty="0"/>
          </a:p>
          <a:p>
            <a:r>
              <a:rPr lang="zh-CN" altLang="en-US" dirty="0"/>
              <a:t>有了这个数组可以做什么？</a:t>
            </a:r>
            <a:endParaRPr lang="en-US" altLang="zh-CN" dirty="0"/>
          </a:p>
          <a:p>
            <a:r>
              <a:rPr lang="zh-CN" altLang="en-US" dirty="0"/>
              <a:t>每次匹配，若失配，就沿着上一个字符的</a:t>
            </a:r>
            <a:r>
              <a:rPr lang="en-US" altLang="zh-CN" dirty="0">
                <a:latin typeface="Consolas" panose="020B0609020204030204" pitchFamily="49" charset="0"/>
              </a:rPr>
              <a:t>Next</a:t>
            </a:r>
            <a:r>
              <a:rPr lang="zh-CN" altLang="en-US" dirty="0"/>
              <a:t>一直向前跳，直到跳到</a:t>
            </a:r>
            <a:r>
              <a:rPr lang="en-US" altLang="zh-CN" dirty="0">
                <a:latin typeface="Consolas" panose="020B0609020204030204" pitchFamily="49" charset="0"/>
              </a:rPr>
              <a:t>0</a:t>
            </a:r>
            <a:r>
              <a:rPr lang="zh-CN" altLang="en-US" dirty="0"/>
              <a:t>或者可以继续进行匹配。</a:t>
            </a:r>
            <a:endParaRPr lang="en-US" altLang="zh-CN" dirty="0"/>
          </a:p>
          <a:p>
            <a:endParaRPr lang="zh-CN" altLang="en-US" dirty="0"/>
          </a:p>
        </p:txBody>
      </p:sp>
      <p:graphicFrame>
        <p:nvGraphicFramePr>
          <p:cNvPr id="7" name="表格 6"/>
          <p:cNvGraphicFramePr>
            <a:graphicFrameLocks noGrp="1"/>
          </p:cNvGraphicFramePr>
          <p:nvPr/>
        </p:nvGraphicFramePr>
        <p:xfrm>
          <a:off x="2032000" y="2969380"/>
          <a:ext cx="8127999" cy="741680"/>
        </p:xfrm>
        <a:graphic>
          <a:graphicData uri="http://schemas.openxmlformats.org/drawingml/2006/table">
            <a:tbl>
              <a:tblPr firstRow="1" bandRow="1">
                <a:tableStyleId>{5C22544A-7EE6-4342-B048-85BDC9FD1C3A}</a:tableStyleId>
              </a:tblPr>
              <a:tblGrid>
                <a:gridCol w="903111"/>
                <a:gridCol w="903111"/>
                <a:gridCol w="903111"/>
                <a:gridCol w="903111"/>
                <a:gridCol w="903111"/>
                <a:gridCol w="903111"/>
                <a:gridCol w="903111"/>
                <a:gridCol w="903111"/>
                <a:gridCol w="903111"/>
              </a:tblGrid>
              <a:tr h="370840">
                <a:tc>
                  <a:txBody>
                    <a:bodyPr/>
                    <a:lstStyle/>
                    <a:p>
                      <a:pPr algn="ctr"/>
                      <a:r>
                        <a:rPr lang="zh-CN" altLang="en-US" dirty="0"/>
                        <a:t>模式串</a:t>
                      </a:r>
                      <a:endParaRPr lang="zh-CN" altLang="en-US" dirty="0"/>
                    </a:p>
                  </a:txBody>
                  <a:tcPr/>
                </a:tc>
                <a:tc>
                  <a:txBody>
                    <a:bodyPr/>
                    <a:lstStyle/>
                    <a:p>
                      <a:pPr algn="ctr"/>
                      <a:endParaRPr lang="zh-CN" altLang="en-US" dirty="0"/>
                    </a:p>
                  </a:txBody>
                  <a:tcPr/>
                </a:tc>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tc>
                  <a:txBody>
                    <a:bodyPr/>
                    <a:lstStyle/>
                    <a:p>
                      <a:pPr algn="ctr"/>
                      <a:r>
                        <a:rPr lang="en-US" altLang="zh-CN" dirty="0"/>
                        <a:t>D</a:t>
                      </a:r>
                      <a:endParaRPr lang="zh-CN" altLang="en-US" dirty="0"/>
                    </a:p>
                  </a:txBody>
                  <a:tcPr/>
                </a:tc>
              </a:tr>
              <a:tr h="370840">
                <a:tc>
                  <a:txBody>
                    <a:bodyPr/>
                    <a:lstStyle/>
                    <a:p>
                      <a:pPr algn="ctr"/>
                      <a:r>
                        <a:rPr lang="en-US" altLang="zh-CN" dirty="0"/>
                        <a:t>Next</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0</a:t>
                      </a:r>
                      <a:endParaRPr lang="zh-CN" altLang="en-US"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Next</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可是如何求出</a:t>
            </a:r>
            <a:r>
              <a:rPr lang="en-US" altLang="zh-CN" dirty="0">
                <a:latin typeface="Consolas" panose="020B0609020204030204" pitchFamily="49" charset="0"/>
              </a:rPr>
              <a:t>Next</a:t>
            </a:r>
            <a:r>
              <a:rPr lang="zh-CN" altLang="en-US" dirty="0"/>
              <a:t>数组呢？</a:t>
            </a:r>
            <a:endParaRPr lang="en-US" altLang="zh-CN" dirty="0"/>
          </a:p>
          <a:p>
            <a:r>
              <a:rPr lang="zh-CN" altLang="en-US" dirty="0"/>
              <a:t>考虑这样的前缀</a:t>
            </a:r>
            <a:r>
              <a:rPr lang="en-US" altLang="zh-CN" dirty="0"/>
              <a:t>/</a:t>
            </a:r>
            <a:r>
              <a:rPr lang="zh-CN" altLang="en-US" dirty="0"/>
              <a:t>后缀串，其实就是自己和自己匹配的过程。采用类似上面的做法，维护两个指针进行匹配即可。</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a:t>
            </a:r>
            <a:endParaRPr lang="zh-CN" altLang="en-US" dirty="0"/>
          </a:p>
        </p:txBody>
      </p:sp>
      <p:sp>
        <p:nvSpPr>
          <p:cNvPr id="4" name="矩形 3"/>
          <p:cNvSpPr/>
          <p:nvPr/>
        </p:nvSpPr>
        <p:spPr>
          <a:xfrm>
            <a:off x="838200" y="1690688"/>
            <a:ext cx="6096000" cy="2031325"/>
          </a:xfrm>
          <a:prstGeom prst="rect">
            <a:avLst/>
          </a:prstGeom>
        </p:spPr>
        <p:txBody>
          <a:bodyPr>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getnext</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nxt</a:t>
            </a:r>
            <a:r>
              <a:rPr lang="en-US" altLang="zh-CN" b="0" dirty="0">
                <a:solidFill>
                  <a:srgbClr val="000000"/>
                </a:solidFill>
                <a:effectLst/>
                <a:latin typeface="Consolas" panose="020B0609020204030204" pitchFamily="49" charset="0"/>
              </a:rPr>
              <a:t>[</a:t>
            </a:r>
            <a:r>
              <a:rPr lang="en-US" altLang="zh-CN" b="0" dirty="0">
                <a:solidFill>
                  <a:srgbClr val="09885A"/>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85A"/>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nxt</a:t>
            </a:r>
            <a:r>
              <a:rPr lang="en-US" altLang="zh-CN" b="0" dirty="0">
                <a:solidFill>
                  <a:srgbClr val="000000"/>
                </a:solidFill>
                <a:effectLst/>
                <a:latin typeface="Consolas" panose="020B0609020204030204" pitchFamily="49" charset="0"/>
              </a:rPr>
              <a:t>[</a:t>
            </a:r>
            <a:r>
              <a:rPr lang="en-US" altLang="zh-CN" b="0" dirty="0">
                <a:solidFill>
                  <a:srgbClr val="09885A"/>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85A"/>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85A"/>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j=</a:t>
            </a:r>
            <a:r>
              <a:rPr lang="en-US" altLang="zh-CN" b="0" dirty="0">
                <a:solidFill>
                  <a:srgbClr val="09885A"/>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;s[</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while</a:t>
            </a:r>
            <a:r>
              <a:rPr lang="en-US" altLang="zh-CN" b="0" dirty="0">
                <a:solidFill>
                  <a:srgbClr val="000000"/>
                </a:solidFill>
                <a:effectLst/>
                <a:latin typeface="Consolas" panose="020B0609020204030204" pitchFamily="49" charset="0"/>
              </a:rPr>
              <a:t>(~j&amp;&amp;s[j+</a:t>
            </a:r>
            <a:r>
              <a:rPr lang="en-US" altLang="zh-CN" b="0" dirty="0">
                <a:solidFill>
                  <a:srgbClr val="09885A"/>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]!=s[</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j=</a:t>
            </a:r>
            <a:r>
              <a:rPr lang="en-US" altLang="zh-CN" b="0" dirty="0" err="1">
                <a:solidFill>
                  <a:srgbClr val="000000"/>
                </a:solidFill>
                <a:effectLst/>
                <a:latin typeface="Consolas" panose="020B0609020204030204" pitchFamily="49" charset="0"/>
              </a:rPr>
              <a:t>nxt</a:t>
            </a:r>
            <a:r>
              <a:rPr lang="en-US" altLang="zh-CN" b="0" dirty="0">
                <a:solidFill>
                  <a:srgbClr val="000000"/>
                </a:solidFill>
                <a:effectLst/>
                <a:latin typeface="Consolas" panose="020B0609020204030204" pitchFamily="49" charset="0"/>
              </a:rPr>
              <a:t>[j];</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nxt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]=++j;</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p:txBody>
      </p:sp>
      <p:sp>
        <p:nvSpPr>
          <p:cNvPr id="5" name="矩形 4"/>
          <p:cNvSpPr/>
          <p:nvPr/>
        </p:nvSpPr>
        <p:spPr>
          <a:xfrm>
            <a:off x="838200" y="3722013"/>
            <a:ext cx="6096000" cy="2031325"/>
          </a:xfrm>
          <a:prstGeom prst="rect">
            <a:avLst/>
          </a:prstGeom>
        </p:spPr>
        <p:txBody>
          <a:bodyPr>
            <a:spAutoFit/>
          </a:bodyPr>
          <a:lstStyle/>
          <a:p>
            <a:r>
              <a:rPr lang="en-US" altLang="zh-CN" b="0" dirty="0">
                <a:solidFill>
                  <a:srgbClr val="0000FF"/>
                </a:solidFill>
                <a:effectLst/>
                <a:latin typeface="Consolas" panose="020B0609020204030204" pitchFamily="49" charset="0"/>
              </a:rPr>
              <a:t>void</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cmp</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err="1">
                <a:solidFill>
                  <a:srgbClr val="0000FF"/>
                </a:solidFill>
                <a:effectLst/>
                <a:latin typeface="Consolas" panose="020B0609020204030204" pitchFamily="49" charset="0"/>
              </a:rPr>
              <a:t>int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a:solidFill>
                  <a:srgbClr val="09885A"/>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j=</a:t>
            </a:r>
            <a:r>
              <a:rPr lang="en-US" altLang="zh-CN" b="0" dirty="0">
                <a:solidFill>
                  <a:srgbClr val="09885A"/>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;arr[</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while</a:t>
            </a:r>
            <a:r>
              <a:rPr lang="en-US" altLang="zh-CN" b="0" dirty="0">
                <a:solidFill>
                  <a:srgbClr val="000000"/>
                </a:solidFill>
                <a:effectLst/>
                <a:latin typeface="Consolas" panose="020B0609020204030204" pitchFamily="49" charset="0"/>
              </a:rPr>
              <a:t>(~j&amp;&amp;</a:t>
            </a:r>
            <a:r>
              <a:rPr lang="en-US" altLang="zh-CN" b="0" dirty="0" err="1">
                <a:solidFill>
                  <a:srgbClr val="000000"/>
                </a:solidFill>
                <a:effectLst/>
                <a:latin typeface="Consolas" panose="020B0609020204030204" pitchFamily="49" charset="0"/>
              </a:rPr>
              <a:t>arr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]!=s[j+</a:t>
            </a:r>
            <a:r>
              <a:rPr lang="en-US" altLang="zh-CN" b="0" dirty="0">
                <a:solidFill>
                  <a:srgbClr val="09885A"/>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j=</a:t>
            </a:r>
            <a:r>
              <a:rPr lang="en-US" altLang="zh-CN" b="0" dirty="0" err="1">
                <a:solidFill>
                  <a:srgbClr val="000000"/>
                </a:solidFill>
                <a:effectLst/>
                <a:latin typeface="Consolas" panose="020B0609020204030204" pitchFamily="49" charset="0"/>
              </a:rPr>
              <a:t>nxt</a:t>
            </a:r>
            <a:r>
              <a:rPr lang="en-US" altLang="zh-CN" b="0" dirty="0">
                <a:solidFill>
                  <a:srgbClr val="000000"/>
                </a:solidFill>
                <a:effectLst/>
                <a:latin typeface="Consolas" panose="020B0609020204030204" pitchFamily="49" charset="0"/>
              </a:rPr>
              <a:t>[j];</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(j==l) </a:t>
            </a:r>
            <a:r>
              <a:rPr lang="en-US" altLang="zh-CN" b="0" dirty="0" err="1">
                <a:solidFill>
                  <a:srgbClr val="000000"/>
                </a:solidFill>
                <a:effectLst/>
                <a:latin typeface="Consolas" panose="020B0609020204030204" pitchFamily="49" charset="0"/>
              </a:rPr>
              <a:t>ans</a:t>
            </a:r>
            <a:r>
              <a:rPr lang="en-US" altLang="zh-CN" b="0" dirty="0">
                <a:solidFill>
                  <a:srgbClr val="000000"/>
                </a:solidFill>
                <a:effectLst/>
                <a:latin typeface="Consolas" panose="020B0609020204030204" pitchFamily="49" charset="0"/>
              </a:rPr>
              <a:t>++, j=</a:t>
            </a:r>
            <a:r>
              <a:rPr lang="en-US" altLang="zh-CN" b="0" dirty="0" err="1">
                <a:solidFill>
                  <a:srgbClr val="000000"/>
                </a:solidFill>
                <a:effectLst/>
                <a:latin typeface="Consolas" panose="020B0609020204030204" pitchFamily="49" charset="0"/>
              </a:rPr>
              <a:t>nxt</a:t>
            </a:r>
            <a:r>
              <a:rPr lang="en-US" altLang="zh-CN" b="0" dirty="0">
                <a:solidFill>
                  <a:srgbClr val="000000"/>
                </a:solidFill>
                <a:effectLst/>
                <a:latin typeface="Consolas" panose="020B0609020204030204" pitchFamily="49" charset="0"/>
              </a:rPr>
              <a:t>[j];</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POJ2406 Power Strings</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给定字符串</a:t>
                </a:r>
                <a14:m>
                  <m:oMath xmlns:m="http://schemas.openxmlformats.org/officeDocument/2006/math">
                    <m:r>
                      <a:rPr lang="en-US" altLang="zh-CN" b="0" i="1" smtClean="0">
                        <a:latin typeface="Cambria Math" panose="02040503050406030204" pitchFamily="18" charset="0"/>
                      </a:rPr>
                      <m:t>𝑆</m:t>
                    </m:r>
                  </m:oMath>
                </a14:m>
                <a:r>
                  <a:rPr lang="zh-CN" altLang="en-US" dirty="0"/>
                  <a:t>。</a:t>
                </a:r>
                <a:endParaRPr lang="en-US" altLang="zh-CN" dirty="0"/>
              </a:p>
              <a:p>
                <a:r>
                  <a:rPr lang="zh-CN" altLang="en-US" dirty="0"/>
                  <a:t>求</a:t>
                </a:r>
                <a14:m>
                  <m:oMath xmlns:m="http://schemas.openxmlformats.org/officeDocument/2006/math">
                    <m:r>
                      <a:rPr lang="en-US" altLang="zh-CN" b="0" i="1" smtClean="0">
                        <a:latin typeface="Cambria Math" panose="02040503050406030204" pitchFamily="18" charset="0"/>
                      </a:rPr>
                      <m:t>𝑆</m:t>
                    </m:r>
                  </m:oMath>
                </a14:m>
                <a:r>
                  <a:rPr lang="zh-CN" altLang="en-US" dirty="0"/>
                  <a:t>最多由多少相同字符串连接而成。</a:t>
                </a:r>
                <a:endParaRPr lang="en-US"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BZOJ3942 Censoring</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给定字符串</a:t>
                </a:r>
                <a14:m>
                  <m:oMath xmlns:m="http://schemas.openxmlformats.org/officeDocument/2006/math">
                    <m:r>
                      <a:rPr lang="en-US" altLang="zh-CN" b="0" i="1" smtClean="0">
                        <a:latin typeface="Cambria Math" panose="02040503050406030204" pitchFamily="18" charset="0"/>
                      </a:rPr>
                      <m:t>𝑆</m:t>
                    </m:r>
                  </m:oMath>
                </a14:m>
                <a:r>
                  <a:rPr lang="zh-CN" altLang="en-US" dirty="0"/>
                  <a:t>和</a:t>
                </a:r>
                <a14:m>
                  <m:oMath xmlns:m="http://schemas.openxmlformats.org/officeDocument/2006/math">
                    <m:r>
                      <a:rPr lang="en-US" altLang="zh-CN" b="0" i="1" dirty="0" smtClean="0">
                        <a:latin typeface="Cambria Math" panose="02040503050406030204" pitchFamily="18" charset="0"/>
                      </a:rPr>
                      <m:t>𝑇</m:t>
                    </m:r>
                  </m:oMath>
                </a14:m>
                <a:r>
                  <a:rPr lang="zh-CN" altLang="en-US" dirty="0"/>
                  <a:t>，将</a:t>
                </a:r>
                <a14:m>
                  <m:oMath xmlns:m="http://schemas.openxmlformats.org/officeDocument/2006/math">
                    <m:r>
                      <a:rPr lang="en-US" altLang="zh-CN" b="0" i="1" smtClean="0">
                        <a:latin typeface="Cambria Math" panose="02040503050406030204" pitchFamily="18" charset="0"/>
                      </a:rPr>
                      <m:t>𝑆</m:t>
                    </m:r>
                  </m:oMath>
                </a14:m>
                <a:r>
                  <a:rPr lang="zh-CN" altLang="en-US" dirty="0"/>
                  <a:t>中的字符按顺序加入字符串</a:t>
                </a:r>
                <a14:m>
                  <m:oMath xmlns:m="http://schemas.openxmlformats.org/officeDocument/2006/math">
                    <m:r>
                      <a:rPr lang="en-US" altLang="zh-CN" b="0" i="1" smtClean="0">
                        <a:latin typeface="Cambria Math" panose="02040503050406030204" pitchFamily="18" charset="0"/>
                      </a:rPr>
                      <m:t>𝑈</m:t>
                    </m:r>
                  </m:oMath>
                </a14:m>
                <a:r>
                  <a:rPr lang="zh-CN" altLang="en-US" dirty="0"/>
                  <a:t>中。</a:t>
                </a:r>
                <a:endParaRPr lang="en-US" altLang="zh-CN" dirty="0"/>
              </a:p>
              <a:p>
                <a:r>
                  <a:rPr lang="zh-CN" altLang="en-US" dirty="0"/>
                  <a:t>若</a:t>
                </a:r>
                <a14:m>
                  <m:oMath xmlns:m="http://schemas.openxmlformats.org/officeDocument/2006/math">
                    <m:r>
                      <a:rPr lang="en-US" altLang="zh-CN" b="0" i="1" smtClean="0">
                        <a:latin typeface="Cambria Math" panose="02040503050406030204" pitchFamily="18" charset="0"/>
                      </a:rPr>
                      <m:t>𝑈</m:t>
                    </m:r>
                  </m:oMath>
                </a14:m>
                <a:r>
                  <a:rPr lang="zh-CN" altLang="en-US" dirty="0"/>
                  <a:t>的后缀为</a:t>
                </a:r>
                <a14:m>
                  <m:oMath xmlns:m="http://schemas.openxmlformats.org/officeDocument/2006/math">
                    <m:r>
                      <a:rPr lang="en-US" altLang="zh-CN" b="0" i="1" smtClean="0">
                        <a:latin typeface="Cambria Math" panose="02040503050406030204" pitchFamily="18" charset="0"/>
                      </a:rPr>
                      <m:t>𝑇</m:t>
                    </m:r>
                  </m:oMath>
                </a14:m>
                <a:r>
                  <a:rPr lang="zh-CN" altLang="en-US" dirty="0"/>
                  <a:t>则删掉该后缀。</a:t>
                </a:r>
                <a:endParaRPr lang="en-US" altLang="zh-CN" dirty="0"/>
              </a:p>
              <a:p>
                <a:r>
                  <a:rPr lang="zh-CN" altLang="en-US" dirty="0"/>
                  <a:t>求最终的</a:t>
                </a:r>
                <a14:m>
                  <m:oMath xmlns:m="http://schemas.openxmlformats.org/officeDocument/2006/math">
                    <m:r>
                      <a:rPr lang="en-US" altLang="zh-CN" b="0" i="1" smtClean="0">
                        <a:latin typeface="Cambria Math" panose="02040503050406030204" pitchFamily="18" charset="0"/>
                      </a:rPr>
                      <m:t>𝑈</m:t>
                    </m:r>
                  </m:oMath>
                </a14:m>
                <a:r>
                  <a:rPr lang="zh-CN" altLang="en-US" dirty="0"/>
                  <a:t>。</a:t>
                </a:r>
                <a:endParaRPr lang="en-US" altLang="zh-CN" dirty="0"/>
              </a:p>
              <a:p>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𝑇</m:t>
                        </m:r>
                      </m:e>
                    </m:d>
                    <m:r>
                      <a:rPr lang="en-US" altLang="zh-CN" b="0" i="1" smtClean="0">
                        <a:latin typeface="Cambria Math" panose="02040503050406030204" pitchFamily="18" charset="0"/>
                      </a:rPr>
                      <m:t>≤1000000</m:t>
                    </m:r>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exKMP</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en-US" altLang="zh-CN" dirty="0" err="1">
                <a:latin typeface="苹方 常规" panose="020B0300000000000000" charset="-122"/>
                <a:ea typeface="苹方 常规" panose="020B0300000000000000" charset="-122"/>
              </a:rPr>
              <a:t>exKMP</a:t>
            </a:r>
            <a:r>
              <a:rPr lang="zh-CN" altLang="en-US" dirty="0">
                <a:latin typeface="苹方 常规" panose="020B0300000000000000" charset="-122"/>
                <a:ea typeface="苹方 常规" panose="020B0300000000000000" charset="-122"/>
              </a:rPr>
              <a:t>主要用来解决这样一种问题：</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给定两个字符串</a:t>
            </a:r>
            <a:r>
              <a:rPr lang="en-US" altLang="zh-CN" dirty="0">
                <a:latin typeface="苹方 常规" panose="020B0300000000000000" charset="-122"/>
                <a:ea typeface="苹方 常规" panose="020B0300000000000000" charset="-122"/>
              </a:rPr>
              <a:t>A</a:t>
            </a:r>
            <a:r>
              <a:rPr lang="zh-CN" altLang="en-US" dirty="0">
                <a:latin typeface="苹方 常规" panose="020B0300000000000000" charset="-122"/>
                <a:ea typeface="苹方 常规" panose="020B0300000000000000" charset="-122"/>
              </a:rPr>
              <a:t>和</a:t>
            </a:r>
            <a:r>
              <a:rPr lang="en-US" altLang="zh-CN" dirty="0">
                <a:latin typeface="苹方 常规" panose="020B0300000000000000" charset="-122"/>
                <a:ea typeface="苹方 常规" panose="020B0300000000000000" charset="-122"/>
              </a:rPr>
              <a:t>B</a:t>
            </a:r>
            <a:r>
              <a:rPr lang="zh-CN" altLang="en-US" dirty="0">
                <a:latin typeface="苹方 常规" panose="020B0300000000000000" charset="-122"/>
                <a:ea typeface="苹方 常规" panose="020B0300000000000000" charset="-122"/>
              </a:rPr>
              <a:t>，求</a:t>
            </a:r>
            <a:r>
              <a:rPr lang="en-US" altLang="zh-CN" dirty="0">
                <a:latin typeface="苹方 常规" panose="020B0300000000000000" charset="-122"/>
                <a:ea typeface="苹方 常规" panose="020B0300000000000000" charset="-122"/>
              </a:rPr>
              <a:t>A</a:t>
            </a:r>
            <a:r>
              <a:rPr lang="zh-CN" altLang="en-US" dirty="0">
                <a:latin typeface="苹方 常规" panose="020B0300000000000000" charset="-122"/>
                <a:ea typeface="苹方 常规" panose="020B0300000000000000" charset="-122"/>
              </a:rPr>
              <a:t>的每个前缀与</a:t>
            </a:r>
            <a:r>
              <a:rPr lang="en-US" altLang="zh-CN" dirty="0">
                <a:latin typeface="苹方 常规" panose="020B0300000000000000" charset="-122"/>
                <a:ea typeface="苹方 常规" panose="020B0300000000000000" charset="-122"/>
              </a:rPr>
              <a:t>B</a:t>
            </a:r>
            <a:r>
              <a:rPr lang="zh-CN" altLang="en-US" dirty="0">
                <a:latin typeface="苹方 常规" panose="020B0300000000000000" charset="-122"/>
                <a:ea typeface="苹方 常规" panose="020B0300000000000000" charset="-122"/>
              </a:rPr>
              <a:t>的最长前缀</a:t>
            </a:r>
            <a:r>
              <a:rPr lang="en-US" altLang="zh-CN" dirty="0">
                <a:latin typeface="苹方 常规" panose="020B0300000000000000" charset="-122"/>
                <a:ea typeface="苹方 常规" panose="020B0300000000000000" charset="-122"/>
              </a:rPr>
              <a:t>/</a:t>
            </a:r>
            <a:r>
              <a:rPr lang="zh-CN" altLang="en-US" dirty="0">
                <a:latin typeface="苹方 常规" panose="020B0300000000000000" charset="-122"/>
                <a:ea typeface="苹方 常规" panose="020B0300000000000000" charset="-122"/>
              </a:rPr>
              <a:t>后缀串。</a:t>
            </a:r>
            <a:endParaRPr lang="en-US" altLang="zh-CN" dirty="0">
              <a:latin typeface="苹方 常规" panose="020B0300000000000000" charset="-122"/>
              <a:ea typeface="苹方 常规" panose="020B0300000000000000" charset="-122"/>
            </a:endParaRPr>
          </a:p>
          <a:p>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说是</a:t>
            </a:r>
            <a:r>
              <a:rPr lang="en-US" altLang="zh-CN" dirty="0">
                <a:latin typeface="苹方 常规" panose="020B0300000000000000" charset="-122"/>
                <a:ea typeface="苹方 常规" panose="020B0300000000000000" charset="-122"/>
              </a:rPr>
              <a:t>KMP</a:t>
            </a:r>
            <a:r>
              <a:rPr lang="zh-CN" altLang="en-US" dirty="0">
                <a:latin typeface="苹方 常规" panose="020B0300000000000000" charset="-122"/>
                <a:ea typeface="苹方 常规" panose="020B0300000000000000" charset="-122"/>
              </a:rPr>
              <a:t>肯定差不多啦。</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首先求出</a:t>
            </a:r>
            <a:r>
              <a:rPr lang="en-US" altLang="zh-CN" dirty="0">
                <a:latin typeface="苹方 常规" panose="020B0300000000000000" charset="-122"/>
                <a:ea typeface="苹方 常规" panose="020B0300000000000000" charset="-122"/>
              </a:rPr>
              <a:t>B</a:t>
            </a:r>
            <a:r>
              <a:rPr lang="zh-CN" altLang="en-US" dirty="0">
                <a:latin typeface="苹方 常规" panose="020B0300000000000000" charset="-122"/>
                <a:ea typeface="苹方 常规" panose="020B0300000000000000" charset="-122"/>
              </a:rPr>
              <a:t>的</a:t>
            </a:r>
            <a:r>
              <a:rPr lang="en-US" altLang="zh-CN" dirty="0">
                <a:latin typeface="苹方 常规" panose="020B0300000000000000" charset="-122"/>
                <a:ea typeface="苹方 常规" panose="020B0300000000000000" charset="-122"/>
              </a:rPr>
              <a:t>Next</a:t>
            </a:r>
            <a:r>
              <a:rPr lang="zh-CN" altLang="en-US" dirty="0">
                <a:latin typeface="苹方 常规" panose="020B0300000000000000" charset="-122"/>
                <a:ea typeface="苹方 常规" panose="020B0300000000000000" charset="-122"/>
              </a:rPr>
              <a:t>，然后用</a:t>
            </a:r>
            <a:r>
              <a:rPr lang="en-US" altLang="zh-CN" dirty="0">
                <a:latin typeface="苹方 常规" panose="020B0300000000000000" charset="-122"/>
                <a:ea typeface="苹方 常规" panose="020B0300000000000000" charset="-122"/>
              </a:rPr>
              <a:t>A</a:t>
            </a:r>
            <a:r>
              <a:rPr lang="zh-CN" altLang="en-US" dirty="0">
                <a:latin typeface="苹方 常规" panose="020B0300000000000000" charset="-122"/>
                <a:ea typeface="苹方 常规" panose="020B0300000000000000" charset="-122"/>
              </a:rPr>
              <a:t>像匹配一样在</a:t>
            </a:r>
            <a:r>
              <a:rPr lang="en-US" altLang="zh-CN" dirty="0">
                <a:latin typeface="苹方 常规" panose="020B0300000000000000" charset="-122"/>
                <a:ea typeface="苹方 常规" panose="020B0300000000000000" charset="-122"/>
              </a:rPr>
              <a:t>B</a:t>
            </a:r>
            <a:r>
              <a:rPr lang="zh-CN" altLang="en-US" dirty="0">
                <a:latin typeface="苹方 常规" panose="020B0300000000000000" charset="-122"/>
                <a:ea typeface="苹方 常规" panose="020B0300000000000000" charset="-122"/>
              </a:rPr>
              <a:t>中匹配即可。</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即若</a:t>
            </a:r>
            <a:r>
              <a:rPr lang="en-US" altLang="zh-CN" dirty="0">
                <a:latin typeface="苹方 常规" panose="020B0300000000000000" charset="-122"/>
                <a:ea typeface="苹方 常规" panose="020B0300000000000000" charset="-122"/>
              </a:rPr>
              <a:t>A</a:t>
            </a:r>
            <a:r>
              <a:rPr lang="zh-CN" altLang="en-US" dirty="0">
                <a:latin typeface="苹方 常规" panose="020B0300000000000000" charset="-122"/>
                <a:ea typeface="苹方 常规" panose="020B0300000000000000" charset="-122"/>
              </a:rPr>
              <a:t>匹配到位置</a:t>
            </a:r>
            <a:r>
              <a:rPr lang="en-US" altLang="zh-CN" dirty="0" err="1">
                <a:latin typeface="苹方 常规" panose="020B0300000000000000" charset="-122"/>
                <a:ea typeface="苹方 常规" panose="020B0300000000000000" charset="-122"/>
              </a:rPr>
              <a:t>i</a:t>
            </a:r>
            <a:r>
              <a:rPr lang="zh-CN" altLang="en-US" dirty="0">
                <a:latin typeface="苹方 常规" panose="020B0300000000000000" charset="-122"/>
                <a:ea typeface="苹方 常规" panose="020B0300000000000000" charset="-122"/>
              </a:rPr>
              <a:t>，对应</a:t>
            </a:r>
            <a:r>
              <a:rPr lang="en-US" altLang="zh-CN" dirty="0">
                <a:latin typeface="苹方 常规" panose="020B0300000000000000" charset="-122"/>
                <a:ea typeface="苹方 常规" panose="020B0300000000000000" charset="-122"/>
              </a:rPr>
              <a:t>B</a:t>
            </a:r>
            <a:r>
              <a:rPr lang="zh-CN" altLang="en-US" dirty="0">
                <a:latin typeface="苹方 常规" panose="020B0300000000000000" charset="-122"/>
                <a:ea typeface="苹方 常规" panose="020B0300000000000000" charset="-122"/>
              </a:rPr>
              <a:t>中的</a:t>
            </a:r>
            <a:r>
              <a:rPr lang="en-US" altLang="zh-CN" dirty="0">
                <a:latin typeface="苹方 常规" panose="020B0300000000000000" charset="-122"/>
                <a:ea typeface="苹方 常规" panose="020B0300000000000000" charset="-122"/>
              </a:rPr>
              <a:t>j</a:t>
            </a:r>
            <a:r>
              <a:rPr lang="zh-CN" altLang="en-US" dirty="0">
                <a:latin typeface="苹方 常规" panose="020B0300000000000000" charset="-122"/>
                <a:ea typeface="苹方 常规" panose="020B0300000000000000" charset="-122"/>
              </a:rPr>
              <a:t>，则匹配</a:t>
            </a:r>
            <a:r>
              <a:rPr lang="en-US" altLang="zh-CN" dirty="0">
                <a:latin typeface="苹方 常规" panose="020B0300000000000000" charset="-122"/>
                <a:ea typeface="苹方 常规" panose="020B0300000000000000" charset="-122"/>
              </a:rPr>
              <a:t>i+1</a:t>
            </a:r>
            <a:r>
              <a:rPr lang="zh-CN" altLang="en-US" dirty="0">
                <a:latin typeface="苹方 常规" panose="020B0300000000000000" charset="-122"/>
                <a:ea typeface="苹方 常规" panose="020B0300000000000000" charset="-122"/>
              </a:rPr>
              <a:t>时检查</a:t>
            </a:r>
            <a:r>
              <a:rPr lang="en-US" altLang="zh-CN" dirty="0">
                <a:latin typeface="苹方 常规" panose="020B0300000000000000" charset="-122"/>
                <a:ea typeface="苹方 常规" panose="020B0300000000000000" charset="-122"/>
              </a:rPr>
              <a:t>A[i+1]==B[j+1]</a:t>
            </a:r>
            <a:r>
              <a:rPr lang="zh-CN" altLang="en-US" dirty="0">
                <a:latin typeface="苹方 常规" panose="020B0300000000000000" charset="-122"/>
                <a:ea typeface="苹方 常规" panose="020B0300000000000000" charset="-122"/>
              </a:rPr>
              <a:t>，否则令</a:t>
            </a:r>
            <a:r>
              <a:rPr lang="en-US" altLang="zh-CN" dirty="0">
                <a:latin typeface="苹方 常规" panose="020B0300000000000000" charset="-122"/>
                <a:ea typeface="苹方 常规" panose="020B0300000000000000" charset="-122"/>
              </a:rPr>
              <a:t>j</a:t>
            </a:r>
            <a:r>
              <a:rPr lang="zh-CN" altLang="en-US" dirty="0">
                <a:latin typeface="苹方 常规" panose="020B0300000000000000" charset="-122"/>
                <a:ea typeface="苹方 常规" panose="020B0300000000000000" charset="-122"/>
              </a:rPr>
              <a:t>沿</a:t>
            </a:r>
            <a:r>
              <a:rPr lang="en-US" altLang="zh-CN" dirty="0">
                <a:latin typeface="苹方 常规" panose="020B0300000000000000" charset="-122"/>
                <a:ea typeface="苹方 常规" panose="020B0300000000000000" charset="-122"/>
              </a:rPr>
              <a:t>Next</a:t>
            </a:r>
            <a:r>
              <a:rPr lang="zh-CN" altLang="en-US" dirty="0">
                <a:latin typeface="苹方 常规" panose="020B0300000000000000" charset="-122"/>
                <a:ea typeface="苹方 常规" panose="020B0300000000000000" charset="-122"/>
              </a:rPr>
              <a:t>回跳直到可以继续匹配。</a:t>
            </a:r>
            <a:endParaRPr lang="en-US" altLang="zh-CN"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HDU4333 Revolving Digits</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给定一个数字</a:t>
                </a:r>
                <a14:m>
                  <m:oMath xmlns:m="http://schemas.openxmlformats.org/officeDocument/2006/math">
                    <m:r>
                      <a:rPr lang="en-US" altLang="zh-CN" b="0" i="1" smtClean="0">
                        <a:latin typeface="Cambria Math" panose="02040503050406030204" pitchFamily="18" charset="0"/>
                      </a:rPr>
                      <m:t>𝑛</m:t>
                    </m:r>
                  </m:oMath>
                </a14:m>
                <a:r>
                  <a:rPr lang="zh-CN" altLang="en-US" dirty="0"/>
                  <a:t>。</a:t>
                </a:r>
                <a:endParaRPr lang="en-US" altLang="zh-CN" dirty="0"/>
              </a:p>
              <a:p>
                <a:r>
                  <a:rPr lang="zh-CN" altLang="en-US" dirty="0"/>
                  <a:t>每次将数字的第一位放到最后一位上。</a:t>
                </a:r>
                <a:endParaRPr lang="en-US" altLang="zh-CN" dirty="0"/>
              </a:p>
              <a:p>
                <a:r>
                  <a:rPr lang="zh-CN" altLang="en-US" dirty="0"/>
                  <a:t>求这个过程中所有不同的数</a:t>
                </a:r>
                <a14:m>
                  <m:oMath xmlns:m="http://schemas.openxmlformats.org/officeDocument/2006/math">
                    <m:r>
                      <a:rPr lang="en-US" altLang="zh-CN" b="0" i="1" smtClean="0">
                        <a:latin typeface="Cambria Math" panose="02040503050406030204" pitchFamily="18" charset="0"/>
                      </a:rPr>
                      <m:t>&lt;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,&gt;</m:t>
                    </m:r>
                    <m:r>
                      <a:rPr lang="en-US" altLang="zh-CN" b="0" i="1" smtClean="0">
                        <a:latin typeface="Cambria Math" panose="02040503050406030204" pitchFamily="18" charset="0"/>
                      </a:rPr>
                      <m:t>𝑛</m:t>
                    </m:r>
                  </m:oMath>
                </a14:m>
                <a:r>
                  <a:rPr lang="zh-CN" altLang="en-US" dirty="0"/>
                  <a:t>的分别有多少。</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100000</m:t>
                        </m:r>
                      </m:sup>
                    </m:sSup>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95" y="2967335"/>
            <a:ext cx="1400810" cy="922020"/>
          </a:xfrm>
          <a:prstGeom prst="rect">
            <a:avLst/>
          </a:prstGeom>
          <a:noFill/>
        </p:spPr>
        <p:txBody>
          <a:bodyPr wrap="none" lIns="91440" tIns="45720" rIns="91440" bIns="45720">
            <a:spAutoFit/>
          </a:bodyPr>
          <a:lstStyle/>
          <a:p>
            <a:pPr algn="ctr"/>
            <a:r>
              <a:rPr lang="en-US" altLang="zh-CN" sz="5400" b="0" cap="none" spc="0" dirty="0" err="1">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rPr>
              <a:t>Trie</a:t>
            </a:r>
            <a:endParaRPr lang="zh-CN" altLang="en-US" sz="5400" b="0" cap="none" spc="0" dirty="0">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Trie</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137564" y="1825625"/>
                <a:ext cx="5216236" cy="4351338"/>
              </a:xfrm>
            </p:spPr>
            <p:txBody>
              <a:bodyPr/>
              <a:lstStyle/>
              <a:p>
                <a:r>
                  <a:rPr lang="en-US" altLang="zh-CN" dirty="0"/>
                  <a:t>Trie</a:t>
                </a:r>
                <a:r>
                  <a:rPr lang="zh-CN" altLang="en-US" dirty="0"/>
                  <a:t>树即字典树。</a:t>
                </a:r>
                <a:endParaRPr lang="en-US" altLang="zh-CN" dirty="0"/>
              </a:p>
              <a:p>
                <a:r>
                  <a:rPr lang="zh-CN" altLang="en-US" dirty="0"/>
                  <a:t>每个节点表示一个字符串（的前缀）。其字符集大小为</a:t>
                </a:r>
                <a14:m>
                  <m:oMath xmlns:m="http://schemas.openxmlformats.org/officeDocument/2006/math">
                    <m:r>
                      <m:rPr>
                        <m:sty m:val="p"/>
                      </m:rPr>
                      <a:rPr lang="en-US" altLang="zh-CN" b="0" i="0" smtClean="0">
                        <a:latin typeface="Cambria Math" panose="02040503050406030204" pitchFamily="18" charset="0"/>
                      </a:rPr>
                      <m:t>Σ</m:t>
                    </m:r>
                  </m:oMath>
                </a14:m>
                <a:r>
                  <a:rPr lang="zh-CN" altLang="en-US" dirty="0"/>
                  <a:t>，则每个节点有</a:t>
                </a:r>
                <a14:m>
                  <m:oMath xmlns:m="http://schemas.openxmlformats.org/officeDocument/2006/math">
                    <m:r>
                      <m:rPr>
                        <m:sty m:val="p"/>
                      </m:rPr>
                      <a:rPr lang="en-US" altLang="zh-CN" b="0" i="1" smtClean="0">
                        <a:latin typeface="Cambria Math" panose="02040503050406030204" pitchFamily="18" charset="0"/>
                      </a:rPr>
                      <m:t>Σ</m:t>
                    </m:r>
                  </m:oMath>
                </a14:m>
                <a:r>
                  <a:rPr lang="zh-CN" altLang="en-US" b="0" dirty="0"/>
                  <a:t>个儿子指针，指向</a:t>
                </a:r>
                <a:r>
                  <a:rPr lang="zh-CN" altLang="en-US" dirty="0"/>
                  <a:t>代表</a:t>
                </a:r>
                <a:r>
                  <a:rPr lang="zh-CN" altLang="en-US" b="0" dirty="0"/>
                  <a:t>在这个节点后添加某字符得到字符串的节点。</a:t>
                </a:r>
                <a:endParaRPr lang="en-US" altLang="zh-CN" b="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137564" y="1825625"/>
                <a:ext cx="5216236" cy="4351338"/>
              </a:xfrm>
              <a:blipFill rotWithShape="1">
                <a:blip r:embed="rId1"/>
                <a:stretch>
                  <a:fillRect l="-2103" t="-2521"/>
                </a:stretch>
              </a:blipFill>
            </p:spPr>
            <p:txBody>
              <a:bodyPr/>
              <a:lstStyle/>
              <a:p>
                <a:r>
                  <a:rPr lang="zh-CN" altLang="en-US">
                    <a:noFill/>
                  </a:rPr>
                  <a:t> </a:t>
                </a:r>
                <a:endParaRPr lang="zh-CN" altLang="en-US">
                  <a:noFill/>
                </a:endParaRPr>
              </a:p>
            </p:txBody>
          </p:sp>
        </mc:Fallback>
      </mc:AlternateContent>
      <p:grpSp>
        <p:nvGrpSpPr>
          <p:cNvPr id="29" name="组合 28"/>
          <p:cNvGrpSpPr/>
          <p:nvPr/>
        </p:nvGrpSpPr>
        <p:grpSpPr>
          <a:xfrm>
            <a:off x="1136072" y="1936967"/>
            <a:ext cx="3574474" cy="3477491"/>
            <a:chOff x="1136072" y="1936967"/>
            <a:chExt cx="3574474" cy="3477491"/>
          </a:xfrm>
        </p:grpSpPr>
        <p:sp>
          <p:nvSpPr>
            <p:cNvPr id="4" name="椭圆 3"/>
            <p:cNvSpPr/>
            <p:nvPr/>
          </p:nvSpPr>
          <p:spPr>
            <a:xfrm>
              <a:off x="2574161" y="1936967"/>
              <a:ext cx="1440873" cy="651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root</a:t>
              </a:r>
              <a:endParaRPr lang="zh-CN" altLang="en-US" dirty="0"/>
            </a:p>
          </p:txBody>
        </p:sp>
        <p:sp>
          <p:nvSpPr>
            <p:cNvPr id="9" name="椭圆 8"/>
            <p:cNvSpPr/>
            <p:nvPr/>
          </p:nvSpPr>
          <p:spPr>
            <a:xfrm>
              <a:off x="1911927" y="3505200"/>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0" name="椭圆 9"/>
            <p:cNvSpPr/>
            <p:nvPr/>
          </p:nvSpPr>
          <p:spPr>
            <a:xfrm>
              <a:off x="3934691" y="3505200"/>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11" name="椭圆 10"/>
            <p:cNvSpPr/>
            <p:nvPr/>
          </p:nvSpPr>
          <p:spPr>
            <a:xfrm>
              <a:off x="1136072" y="4918364"/>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ab</a:t>
              </a:r>
              <a:endParaRPr lang="zh-CN" altLang="en-US" dirty="0"/>
            </a:p>
          </p:txBody>
        </p:sp>
        <p:sp>
          <p:nvSpPr>
            <p:cNvPr id="12" name="椭圆 11"/>
            <p:cNvSpPr/>
            <p:nvPr/>
          </p:nvSpPr>
          <p:spPr>
            <a:xfrm>
              <a:off x="2687782" y="4918364"/>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ac</a:t>
              </a:r>
              <a:endParaRPr lang="zh-CN" altLang="en-US" dirty="0"/>
            </a:p>
          </p:txBody>
        </p:sp>
        <p:cxnSp>
          <p:nvCxnSpPr>
            <p:cNvPr id="14" name="直接箭头连接符 13"/>
            <p:cNvCxnSpPr>
              <a:stCxn id="4" idx="3"/>
              <a:endCxn id="9" idx="0"/>
            </p:cNvCxnSpPr>
            <p:nvPr/>
          </p:nvCxnSpPr>
          <p:spPr>
            <a:xfrm flipH="1">
              <a:off x="2299855" y="2492769"/>
              <a:ext cx="485317" cy="1012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4" idx="5"/>
              <a:endCxn id="10" idx="0"/>
            </p:cNvCxnSpPr>
            <p:nvPr/>
          </p:nvCxnSpPr>
          <p:spPr>
            <a:xfrm>
              <a:off x="3804023" y="2492769"/>
              <a:ext cx="518596" cy="1012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9" idx="3"/>
              <a:endCxn id="11" idx="0"/>
            </p:cNvCxnSpPr>
            <p:nvPr/>
          </p:nvCxnSpPr>
          <p:spPr>
            <a:xfrm flipH="1">
              <a:off x="1524000" y="3928643"/>
              <a:ext cx="501548" cy="989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9" idx="5"/>
              <a:endCxn id="12" idx="0"/>
            </p:cNvCxnSpPr>
            <p:nvPr/>
          </p:nvCxnSpPr>
          <p:spPr>
            <a:xfrm>
              <a:off x="2574161" y="3928643"/>
              <a:ext cx="501549" cy="989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137864" y="2816906"/>
              <a:ext cx="312473" cy="369332"/>
            </a:xfrm>
            <a:prstGeom prst="rect">
              <a:avLst/>
            </a:prstGeom>
            <a:noFill/>
          </p:spPr>
          <p:txBody>
            <a:bodyPr wrap="square" rtlCol="0">
              <a:spAutoFit/>
            </a:bodyPr>
            <a:lstStyle/>
            <a:p>
              <a:r>
                <a:rPr lang="en-US" altLang="zh-CN" dirty="0"/>
                <a:t>a</a:t>
              </a:r>
              <a:endParaRPr lang="zh-CN" altLang="en-US" dirty="0"/>
            </a:p>
          </p:txBody>
        </p:sp>
        <p:sp>
          <p:nvSpPr>
            <p:cNvPr id="26" name="文本框 25"/>
            <p:cNvSpPr txBox="1"/>
            <p:nvPr/>
          </p:nvSpPr>
          <p:spPr>
            <a:xfrm>
              <a:off x="4166381" y="2814318"/>
              <a:ext cx="312473" cy="369332"/>
            </a:xfrm>
            <a:prstGeom prst="rect">
              <a:avLst/>
            </a:prstGeom>
            <a:noFill/>
          </p:spPr>
          <p:txBody>
            <a:bodyPr wrap="square" rtlCol="0">
              <a:spAutoFit/>
            </a:bodyPr>
            <a:lstStyle/>
            <a:p>
              <a:r>
                <a:rPr lang="en-US" altLang="zh-CN" dirty="0"/>
                <a:t>b</a:t>
              </a:r>
              <a:endParaRPr lang="zh-CN" altLang="en-US" dirty="0"/>
            </a:p>
          </p:txBody>
        </p:sp>
        <p:sp>
          <p:nvSpPr>
            <p:cNvPr id="27" name="文本框 26"/>
            <p:cNvSpPr txBox="1"/>
            <p:nvPr/>
          </p:nvSpPr>
          <p:spPr>
            <a:xfrm>
              <a:off x="1402707" y="4237604"/>
              <a:ext cx="312473" cy="369332"/>
            </a:xfrm>
            <a:prstGeom prst="rect">
              <a:avLst/>
            </a:prstGeom>
            <a:noFill/>
          </p:spPr>
          <p:txBody>
            <a:bodyPr wrap="square" rtlCol="0">
              <a:spAutoFit/>
            </a:bodyPr>
            <a:lstStyle/>
            <a:p>
              <a:r>
                <a:rPr lang="en-US" altLang="zh-CN" dirty="0"/>
                <a:t>b</a:t>
              </a:r>
              <a:endParaRPr lang="zh-CN" altLang="en-US" dirty="0"/>
            </a:p>
          </p:txBody>
        </p:sp>
        <p:sp>
          <p:nvSpPr>
            <p:cNvPr id="28" name="文本框 27"/>
            <p:cNvSpPr txBox="1"/>
            <p:nvPr/>
          </p:nvSpPr>
          <p:spPr>
            <a:xfrm>
              <a:off x="2919472" y="4237604"/>
              <a:ext cx="312473" cy="369332"/>
            </a:xfrm>
            <a:prstGeom prst="rect">
              <a:avLst/>
            </a:prstGeom>
            <a:noFill/>
          </p:spPr>
          <p:txBody>
            <a:bodyPr wrap="square" rtlCol="0">
              <a:spAutoFit/>
            </a:bodyPr>
            <a:lstStyle/>
            <a:p>
              <a:r>
                <a:rPr lang="en-US" altLang="zh-CN" dirty="0"/>
                <a:t>c</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Trie</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latin typeface="苹方 常规" panose="020B0300000000000000" charset="-122"/>
                <a:ea typeface="苹方 常规" panose="020B0300000000000000" charset="-122"/>
              </a:rPr>
              <a:t>构造</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的方法十分简单，从根节点开始，按顺序遍历串的每个字符，若该节点代表该字符的指针无儿子节点，则新建，然后指针移动到这个儿子节点即可。</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构造出多个串的</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后，还可以查询对于一个给定串为多少个已知串的前缀，给定串与所有已知串的最长公共前缀等。</a:t>
            </a:r>
            <a:endParaRPr lang="zh-CN" altLang="en-US"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BZOJ4896 </a:t>
            </a:r>
            <a:r>
              <a:rPr lang="zh-CN" altLang="en-US" dirty="0">
                <a:latin typeface="苹方 常规" panose="020B0300000000000000" charset="-122"/>
                <a:ea typeface="苹方 常规" panose="020B0300000000000000" charset="-122"/>
              </a:rPr>
              <a:t>补退选</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给定若干个字符串，和一个可重集合，有如下操作：</a:t>
                </a:r>
                <a:endParaRPr lang="en-US" altLang="zh-CN" dirty="0"/>
              </a:p>
              <a:p>
                <a:pPr lvl="1"/>
                <a:r>
                  <a:rPr lang="zh-CN" altLang="en-US" dirty="0"/>
                  <a:t>将某个字符串插入集合中</a:t>
                </a:r>
                <a:endParaRPr lang="en-US" altLang="zh-CN" dirty="0"/>
              </a:p>
              <a:p>
                <a:pPr lvl="1"/>
                <a:r>
                  <a:rPr lang="zh-CN" altLang="en-US" dirty="0"/>
                  <a:t>将某个字符串一出集合</a:t>
                </a:r>
                <a:endParaRPr lang="en-US" altLang="zh-CN" dirty="0"/>
              </a:p>
              <a:p>
                <a:pPr lvl="1"/>
                <a:r>
                  <a:rPr lang="zh-CN" altLang="en-US" dirty="0"/>
                  <a:t>查询最早在哪个事件之前集合中以某字符串为前缀的字符串数量超过了</a:t>
                </a:r>
                <a14:m>
                  <m:oMath xmlns:m="http://schemas.openxmlformats.org/officeDocument/2006/math">
                    <m:r>
                      <a:rPr lang="en-US" altLang="zh-CN" b="0" i="1" smtClean="0">
                        <a:latin typeface="Cambria Math" panose="02040503050406030204" pitchFamily="18" charset="0"/>
                      </a:rPr>
                      <m:t>𝑣</m:t>
                    </m:r>
                  </m:oMath>
                </a14:m>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≤100000,</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≤60,</m:t>
                    </m:r>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≤10</m:t>
                    </m:r>
                  </m:oMath>
                </a14:m>
                <a:endParaRPr lang="en-US" altLang="zh-CN" dirty="0"/>
              </a:p>
              <a:p>
                <a:r>
                  <a:rPr lang="zh-CN" altLang="en-US" dirty="0"/>
                  <a:t>强制在线</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52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BZOJ3689 </a:t>
            </a:r>
            <a:r>
              <a:rPr lang="zh-CN" altLang="en-US" dirty="0">
                <a:latin typeface="苹方 常规" panose="020B0300000000000000" charset="-122"/>
                <a:ea typeface="苹方 常规" panose="020B0300000000000000" charset="-122"/>
              </a:rPr>
              <a:t>异或之</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a:t>
                </a:r>
                <a14:m>
                  <m:oMath xmlns:m="http://schemas.openxmlformats.org/officeDocument/2006/math">
                    <m:r>
                      <a:rPr lang="en-US" altLang="zh-CN" b="0" i="1" dirty="0" smtClean="0">
                        <a:latin typeface="Cambria Math" panose="02040503050406030204" pitchFamily="18" charset="0"/>
                      </a:rPr>
                      <m:t>𝑛</m:t>
                    </m:r>
                  </m:oMath>
                </a14:m>
                <a:r>
                  <a:rPr lang="zh-CN" altLang="en-US" dirty="0"/>
                  <a:t>个整数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oMath>
                </a14:m>
                <a:r>
                  <a:rPr lang="zh-CN" altLang="en-US" dirty="0"/>
                  <a:t>，两两异或起来，求得出的</a:t>
                </a: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num>
                      <m:den>
                        <m:r>
                          <a:rPr lang="en-US" altLang="zh-CN" b="0" i="1" smtClean="0">
                            <a:latin typeface="Cambria Math" panose="02040503050406030204" pitchFamily="18" charset="0"/>
                          </a:rPr>
                          <m:t>2</m:t>
                        </m:r>
                      </m:den>
                    </m:f>
                  </m:oMath>
                </a14:m>
                <a:r>
                  <a:rPr lang="zh-CN" altLang="en-US" dirty="0"/>
                  <a:t>个数中前</a:t>
                </a:r>
                <a14:m>
                  <m:oMath xmlns:m="http://schemas.openxmlformats.org/officeDocument/2006/math">
                    <m:r>
                      <a:rPr lang="en-US" altLang="zh-CN" b="0" i="1" smtClean="0">
                        <a:latin typeface="Cambria Math" panose="02040503050406030204" pitchFamily="18" charset="0"/>
                      </a:rPr>
                      <m:t>𝑘</m:t>
                    </m:r>
                  </m:oMath>
                </a14:m>
                <a:r>
                  <a:rPr lang="zh-CN" altLang="en-US" dirty="0"/>
                  <a:t>小的数。</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≤100000,</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min</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250000,</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num>
                              <m:den>
                                <m:r>
                                  <a:rPr lang="en-US" altLang="zh-CN" b="0" i="1" smtClean="0">
                                    <a:latin typeface="Cambria Math" panose="02040503050406030204" pitchFamily="18" charset="0"/>
                                  </a:rPr>
                                  <m:t>2</m:t>
                                </m:r>
                              </m:den>
                            </m:f>
                          </m:e>
                        </m:d>
                      </m:e>
                    </m:fun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31</m:t>
                        </m:r>
                      </m:sup>
                    </m:sSup>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r="-464"/>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POJ3376 Finding Palindromes</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a:t>
                </a:r>
                <a14:m>
                  <m:oMath xmlns:m="http://schemas.openxmlformats.org/officeDocument/2006/math">
                    <m:r>
                      <a:rPr lang="en-US" altLang="zh-CN" b="0" i="1" smtClean="0">
                        <a:latin typeface="Cambria Math" panose="02040503050406030204" pitchFamily="18" charset="0"/>
                      </a:rPr>
                      <m:t>𝑛</m:t>
                    </m:r>
                  </m:oMath>
                </a14:m>
                <a:r>
                  <a:rPr lang="zh-CN" altLang="en-US" dirty="0"/>
                  <a:t>个字符串</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𝑛</m:t>
                        </m:r>
                      </m:sub>
                    </m:sSub>
                  </m:oMath>
                </a14:m>
                <a:r>
                  <a:rPr lang="zh-CN" altLang="en-US" dirty="0"/>
                  <a:t>，求</a:t>
                </a:r>
                <a14:m>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(1≤</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是回文串的数量。</a:t>
                </a:r>
                <a:endParaRPr lang="en-US" altLang="zh-CN" dirty="0"/>
              </a:p>
              <a:p>
                <a14:m>
                  <m:oMath xmlns:m="http://schemas.openxmlformats.org/officeDocument/2006/math">
                    <m:r>
                      <m:rPr>
                        <m:sty m:val="p"/>
                      </m:rPr>
                      <a:rPr lang="en-US" altLang="zh-CN" b="0" i="0" smtClean="0">
                        <a:latin typeface="Cambria Math" panose="02040503050406030204" pitchFamily="18" charset="0"/>
                      </a:rPr>
                      <m:t>Σ</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≤2000000</m:t>
                    </m:r>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10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506279" y="2967335"/>
            <a:ext cx="3179445" cy="922020"/>
          </a:xfrm>
          <a:prstGeom prst="rect">
            <a:avLst/>
          </a:prstGeom>
          <a:noFill/>
        </p:spPr>
        <p:txBody>
          <a:bodyPr wrap="none" lIns="91440" tIns="45720" rIns="91440" bIns="45720">
            <a:spAutoFit/>
          </a:bodyPr>
          <a:lstStyle/>
          <a:p>
            <a:pPr algn="ctr"/>
            <a:r>
              <a:rPr lang="en-US" altLang="zh-CN" sz="5400" b="0" cap="none" spc="0" dirty="0">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rPr>
              <a:t>AC</a:t>
            </a:r>
            <a:r>
              <a:rPr lang="zh-CN" altLang="en-US" sz="5400" b="0" cap="none" spc="0" dirty="0">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rPr>
              <a:t>自动机</a:t>
            </a:r>
            <a:endParaRPr lang="zh-CN" altLang="en-US" sz="5400" b="0" cap="none" spc="0" dirty="0">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endParaRPr lang="zh-CN" altLang="en-US" dirty="0"/>
          </a:p>
        </p:txBody>
      </p:sp>
      <p:sp>
        <p:nvSpPr>
          <p:cNvPr id="3" name="内容占位符 2"/>
          <p:cNvSpPr>
            <a:spLocks noGrp="1"/>
          </p:cNvSpPr>
          <p:nvPr>
            <p:ph idx="1"/>
          </p:nvPr>
        </p:nvSpPr>
        <p:spPr/>
        <p:txBody>
          <a:bodyPr/>
          <a:lstStyle/>
          <a:p>
            <a:r>
              <a:rPr lang="zh-CN" altLang="en-US" dirty="0">
                <a:latin typeface="苹方 常规" panose="020B0300000000000000" charset="-122"/>
                <a:ea typeface="苹方 常规" panose="020B0300000000000000" charset="-122"/>
              </a:rPr>
              <a:t>然而更经常遇到的问题是给定若干个模式串，求这些串在给定文本串中的匹配。</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若把每个模式串与文本串进行</a:t>
            </a:r>
            <a:r>
              <a:rPr lang="en-US" altLang="zh-CN" dirty="0">
                <a:latin typeface="苹方 常规" panose="020B0300000000000000" charset="-122"/>
                <a:ea typeface="苹方 常规" panose="020B0300000000000000" charset="-122"/>
              </a:rPr>
              <a:t>KMP</a:t>
            </a:r>
            <a:r>
              <a:rPr lang="zh-CN" altLang="en-US" dirty="0">
                <a:latin typeface="苹方 常规" panose="020B0300000000000000" charset="-122"/>
                <a:ea typeface="苹方 常规" panose="020B0300000000000000" charset="-122"/>
              </a:rPr>
              <a:t>，一般来说复杂度显然无法接受。</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考虑刚刚讲过的</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树，可以把多个字符串合并到一起。</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可不可以讲</a:t>
            </a:r>
            <a:r>
              <a:rPr lang="en-US" altLang="zh-CN" dirty="0">
                <a:latin typeface="苹方 常规" panose="020B0300000000000000" charset="-122"/>
                <a:ea typeface="苹方 常规" panose="020B0300000000000000" charset="-122"/>
              </a:rPr>
              <a:t>KMP</a:t>
            </a:r>
            <a:r>
              <a:rPr lang="zh-CN" altLang="en-US" dirty="0">
                <a:latin typeface="苹方 常规" panose="020B0300000000000000" charset="-122"/>
                <a:ea typeface="苹方 常规" panose="020B0300000000000000" charset="-122"/>
              </a:rPr>
              <a:t>应用到</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树上呢？</a:t>
            </a:r>
            <a:endParaRPr lang="zh-CN" altLang="en-US"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AC</a:t>
            </a:r>
            <a:r>
              <a:rPr lang="zh-CN" altLang="en-US" dirty="0">
                <a:latin typeface="苹方 常规" panose="020B0300000000000000" charset="-122"/>
                <a:ea typeface="苹方 常规" panose="020B0300000000000000" charset="-122"/>
              </a:rPr>
              <a:t>自动机</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en-US" altLang="zh-CN" dirty="0">
                <a:latin typeface="苹方 常规" panose="020B0300000000000000" charset="-122"/>
                <a:ea typeface="苹方 常规" panose="020B0300000000000000" charset="-122"/>
              </a:rPr>
              <a:t>AC</a:t>
            </a:r>
            <a:r>
              <a:rPr lang="zh-CN" altLang="en-US" dirty="0">
                <a:latin typeface="苹方 常规" panose="020B0300000000000000" charset="-122"/>
                <a:ea typeface="苹方 常规" panose="020B0300000000000000" charset="-122"/>
              </a:rPr>
              <a:t>自动机全称</a:t>
            </a:r>
            <a:r>
              <a:rPr lang="en-US" altLang="zh-CN" strike="sngStrike" dirty="0" err="1">
                <a:solidFill>
                  <a:schemeClr val="accent6"/>
                </a:solidFill>
                <a:latin typeface="苹方 常规" panose="020B0300000000000000" charset="-122"/>
                <a:ea typeface="苹方 常规" panose="020B0300000000000000" charset="-122"/>
              </a:rPr>
              <a:t>Accepted</a:t>
            </a:r>
            <a:r>
              <a:rPr lang="en-US" altLang="zh-CN" dirty="0" err="1">
                <a:latin typeface="苹方 常规" panose="020B0300000000000000" charset="-122"/>
                <a:ea typeface="苹方 常规" panose="020B0300000000000000" charset="-122"/>
              </a:rPr>
              <a:t>Aho-Corasick</a:t>
            </a:r>
            <a:r>
              <a:rPr lang="zh-CN" altLang="en-US" dirty="0">
                <a:latin typeface="苹方 常规" panose="020B0300000000000000" charset="-122"/>
                <a:ea typeface="苹方 常规" panose="020B0300000000000000" charset="-122"/>
              </a:rPr>
              <a:t>自动机。</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主要思想也是要尽可能利用已经匹配过的信息继续下一个字符的匹配。</a:t>
            </a:r>
            <a:endParaRPr lang="en-US" altLang="zh-CN" dirty="0">
              <a:latin typeface="苹方 常规" panose="020B0300000000000000" charset="-122"/>
              <a:ea typeface="苹方 常规" panose="020B0300000000000000" charset="-122"/>
            </a:endParaRPr>
          </a:p>
          <a:p>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如何把</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和</a:t>
            </a:r>
            <a:r>
              <a:rPr lang="en-US" altLang="zh-CN" dirty="0">
                <a:latin typeface="苹方 常规" panose="020B0300000000000000" charset="-122"/>
                <a:ea typeface="苹方 常规" panose="020B0300000000000000" charset="-122"/>
              </a:rPr>
              <a:t>KMP</a:t>
            </a:r>
            <a:r>
              <a:rPr lang="zh-CN" altLang="en-US" dirty="0">
                <a:latin typeface="苹方 常规" panose="020B0300000000000000" charset="-122"/>
                <a:ea typeface="苹方 常规" panose="020B0300000000000000" charset="-122"/>
              </a:rPr>
              <a:t>结合到一起呢？</a:t>
            </a:r>
            <a:endParaRPr lang="en-US" altLang="zh-CN"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AC</a:t>
            </a:r>
            <a:r>
              <a:rPr lang="zh-CN" altLang="en-US" dirty="0">
                <a:latin typeface="苹方 常规" panose="020B0300000000000000" charset="-122"/>
                <a:ea typeface="苹方 常规" panose="020B0300000000000000" charset="-122"/>
              </a:rPr>
              <a:t>自动机</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a:xfrm>
            <a:off x="6456218" y="1825625"/>
            <a:ext cx="4897582" cy="4351338"/>
          </a:xfrm>
        </p:spPr>
        <p:txBody>
          <a:bodyPr/>
          <a:lstStyle/>
          <a:p>
            <a:r>
              <a:rPr lang="zh-CN" altLang="en-US" dirty="0">
                <a:latin typeface="苹方 常规" panose="020B0300000000000000" charset="-122"/>
                <a:ea typeface="苹方 常规" panose="020B0300000000000000" charset="-122"/>
              </a:rPr>
              <a:t>首先构造出这些模式串的</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树。</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对于代表每个模式串的节点进行结束标记。</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对于每个结点考虑类似</a:t>
            </a:r>
            <a:r>
              <a:rPr lang="en-US" altLang="zh-CN" dirty="0">
                <a:latin typeface="苹方 常规" panose="020B0300000000000000" charset="-122"/>
                <a:ea typeface="苹方 常规" panose="020B0300000000000000" charset="-122"/>
              </a:rPr>
              <a:t>Next</a:t>
            </a:r>
            <a:r>
              <a:rPr lang="zh-CN" altLang="en-US" dirty="0">
                <a:latin typeface="苹方 常规" panose="020B0300000000000000" charset="-122"/>
                <a:ea typeface="苹方 常规" panose="020B0300000000000000" charset="-122"/>
              </a:rPr>
              <a:t>数组的东西。建立一个指针，指向代表 当前节点代表字符串的最长树中前缀</a:t>
            </a:r>
            <a:r>
              <a:rPr lang="en-US" altLang="zh-CN" dirty="0">
                <a:latin typeface="苹方 常规" panose="020B0300000000000000" charset="-122"/>
                <a:ea typeface="苹方 常规" panose="020B0300000000000000" charset="-122"/>
              </a:rPr>
              <a:t>/</a:t>
            </a:r>
            <a:r>
              <a:rPr lang="zh-CN" altLang="en-US" dirty="0">
                <a:latin typeface="苹方 常规" panose="020B0300000000000000" charset="-122"/>
                <a:ea typeface="苹方 常规" panose="020B0300000000000000" charset="-122"/>
              </a:rPr>
              <a:t>串中后缀串 的节点，称为</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指针。</a:t>
            </a:r>
            <a:endParaRPr lang="en-US" altLang="zh-CN" dirty="0">
              <a:latin typeface="苹方 常规" panose="020B0300000000000000" charset="-122"/>
              <a:ea typeface="苹方 常规" panose="020B0300000000000000" charset="-122"/>
            </a:endParaRPr>
          </a:p>
          <a:p>
            <a:endParaRPr lang="en-US" altLang="zh-CN" dirty="0">
              <a:latin typeface="苹方 常规" panose="020B0300000000000000" charset="-122"/>
              <a:ea typeface="苹方 常规" panose="020B0300000000000000" charset="-122"/>
            </a:endParaRPr>
          </a:p>
          <a:p>
            <a:endParaRPr lang="zh-CN" altLang="en-US" dirty="0">
              <a:latin typeface="苹方 常规" panose="020B0300000000000000" charset="-122"/>
              <a:ea typeface="苹方 常规" panose="020B0300000000000000" charset="-122"/>
            </a:endParaRPr>
          </a:p>
        </p:txBody>
      </p:sp>
      <p:grpSp>
        <p:nvGrpSpPr>
          <p:cNvPr id="4" name="组合 3"/>
          <p:cNvGrpSpPr/>
          <p:nvPr/>
        </p:nvGrpSpPr>
        <p:grpSpPr>
          <a:xfrm>
            <a:off x="1136072" y="1936967"/>
            <a:ext cx="3574474" cy="3654484"/>
            <a:chOff x="1136072" y="1936967"/>
            <a:chExt cx="3574474" cy="3654484"/>
          </a:xfrm>
        </p:grpSpPr>
        <p:sp>
          <p:nvSpPr>
            <p:cNvPr id="6" name="椭圆 5"/>
            <p:cNvSpPr/>
            <p:nvPr/>
          </p:nvSpPr>
          <p:spPr>
            <a:xfrm>
              <a:off x="2574161" y="1936967"/>
              <a:ext cx="1440873" cy="651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苹方 常规" panose="020B0300000000000000" charset="-122"/>
                  <a:ea typeface="苹方 常规" panose="020B0300000000000000" charset="-122"/>
                </a:rPr>
                <a:t>root</a:t>
              </a:r>
              <a:endParaRPr lang="zh-CN" altLang="en-US" dirty="0">
                <a:latin typeface="苹方 常规" panose="020B0300000000000000" charset="-122"/>
                <a:ea typeface="苹方 常规" panose="020B0300000000000000" charset="-122"/>
              </a:endParaRPr>
            </a:p>
          </p:txBody>
        </p:sp>
        <p:sp>
          <p:nvSpPr>
            <p:cNvPr id="7" name="椭圆 6"/>
            <p:cNvSpPr/>
            <p:nvPr/>
          </p:nvSpPr>
          <p:spPr>
            <a:xfrm>
              <a:off x="1911927" y="2935603"/>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苹方 常规" panose="020B0300000000000000" charset="-122"/>
                  <a:ea typeface="苹方 常规" panose="020B0300000000000000" charset="-122"/>
                </a:rPr>
                <a:t>a</a:t>
              </a:r>
              <a:endParaRPr lang="zh-CN" altLang="en-US" dirty="0">
                <a:latin typeface="苹方 常规" panose="020B0300000000000000" charset="-122"/>
                <a:ea typeface="苹方 常规" panose="020B0300000000000000" charset="-122"/>
              </a:endParaRPr>
            </a:p>
          </p:txBody>
        </p:sp>
        <p:sp>
          <p:nvSpPr>
            <p:cNvPr id="8" name="椭圆 7"/>
            <p:cNvSpPr/>
            <p:nvPr/>
          </p:nvSpPr>
          <p:spPr>
            <a:xfrm>
              <a:off x="3934691" y="2935603"/>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苹方 常规" panose="020B0300000000000000" charset="-122"/>
                  <a:ea typeface="苹方 常规" panose="020B0300000000000000" charset="-122"/>
                </a:rPr>
                <a:t>b</a:t>
              </a:r>
              <a:endParaRPr lang="zh-CN" altLang="en-US" dirty="0">
                <a:latin typeface="苹方 常规" panose="020B0300000000000000" charset="-122"/>
                <a:ea typeface="苹方 常规" panose="020B0300000000000000" charset="-122"/>
              </a:endParaRPr>
            </a:p>
          </p:txBody>
        </p:sp>
        <p:sp>
          <p:nvSpPr>
            <p:cNvPr id="9" name="椭圆 8"/>
            <p:cNvSpPr/>
            <p:nvPr/>
          </p:nvSpPr>
          <p:spPr>
            <a:xfrm>
              <a:off x="1136072" y="4015480"/>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苹方 常规" panose="020B0300000000000000" charset="-122"/>
                  <a:ea typeface="苹方 常规" panose="020B0300000000000000" charset="-122"/>
                </a:rPr>
                <a:t>ab</a:t>
              </a:r>
              <a:endParaRPr lang="zh-CN" altLang="en-US" dirty="0">
                <a:latin typeface="苹方 常规" panose="020B0300000000000000" charset="-122"/>
                <a:ea typeface="苹方 常规" panose="020B0300000000000000" charset="-122"/>
              </a:endParaRPr>
            </a:p>
          </p:txBody>
        </p:sp>
        <p:sp>
          <p:nvSpPr>
            <p:cNvPr id="10" name="椭圆 9"/>
            <p:cNvSpPr/>
            <p:nvPr/>
          </p:nvSpPr>
          <p:spPr>
            <a:xfrm>
              <a:off x="2687782" y="4015480"/>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苹方 常规" panose="020B0300000000000000" charset="-122"/>
                  <a:ea typeface="苹方 常规" panose="020B0300000000000000" charset="-122"/>
                </a:rPr>
                <a:t>ac</a:t>
              </a:r>
              <a:endParaRPr lang="zh-CN" altLang="en-US" dirty="0">
                <a:latin typeface="苹方 常规" panose="020B0300000000000000" charset="-122"/>
                <a:ea typeface="苹方 常规" panose="020B0300000000000000" charset="-122"/>
              </a:endParaRPr>
            </a:p>
          </p:txBody>
        </p:sp>
        <p:cxnSp>
          <p:nvCxnSpPr>
            <p:cNvPr id="11" name="直接箭头连接符 10"/>
            <p:cNvCxnSpPr>
              <a:stCxn id="6" idx="3"/>
              <a:endCxn id="7" idx="0"/>
            </p:cNvCxnSpPr>
            <p:nvPr/>
          </p:nvCxnSpPr>
          <p:spPr>
            <a:xfrm flipH="1">
              <a:off x="2299855" y="2492769"/>
              <a:ext cx="485317" cy="442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 idx="5"/>
              <a:endCxn id="8" idx="0"/>
            </p:cNvCxnSpPr>
            <p:nvPr/>
          </p:nvCxnSpPr>
          <p:spPr>
            <a:xfrm>
              <a:off x="3804023" y="2492769"/>
              <a:ext cx="518596" cy="442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3"/>
              <a:endCxn id="9" idx="0"/>
            </p:cNvCxnSpPr>
            <p:nvPr/>
          </p:nvCxnSpPr>
          <p:spPr>
            <a:xfrm flipH="1">
              <a:off x="1524000" y="3359046"/>
              <a:ext cx="501548" cy="65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7" idx="5"/>
              <a:endCxn id="10" idx="0"/>
            </p:cNvCxnSpPr>
            <p:nvPr/>
          </p:nvCxnSpPr>
          <p:spPr>
            <a:xfrm>
              <a:off x="2574161" y="3359046"/>
              <a:ext cx="501549" cy="65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137864" y="2529819"/>
              <a:ext cx="312473" cy="368300"/>
            </a:xfrm>
            <a:prstGeom prst="rect">
              <a:avLst/>
            </a:prstGeom>
            <a:noFill/>
          </p:spPr>
          <p:txBody>
            <a:bodyPr wrap="square" rtlCol="0">
              <a:spAutoFit/>
            </a:bodyPr>
            <a:lstStyle/>
            <a:p>
              <a:r>
                <a:rPr lang="en-US" altLang="zh-CN" dirty="0">
                  <a:latin typeface="苹方 常规" panose="020B0300000000000000" charset="-122"/>
                  <a:ea typeface="苹方 常规" panose="020B0300000000000000" charset="-122"/>
                </a:rPr>
                <a:t>a</a:t>
              </a:r>
              <a:endParaRPr lang="zh-CN" altLang="en-US" dirty="0">
                <a:latin typeface="苹方 常规" panose="020B0300000000000000" charset="-122"/>
                <a:ea typeface="苹方 常规" panose="020B0300000000000000" charset="-122"/>
              </a:endParaRPr>
            </a:p>
          </p:txBody>
        </p:sp>
        <p:sp>
          <p:nvSpPr>
            <p:cNvPr id="16" name="文本框 15"/>
            <p:cNvSpPr txBox="1"/>
            <p:nvPr/>
          </p:nvSpPr>
          <p:spPr>
            <a:xfrm>
              <a:off x="4166381" y="2527231"/>
              <a:ext cx="312473" cy="368300"/>
            </a:xfrm>
            <a:prstGeom prst="rect">
              <a:avLst/>
            </a:prstGeom>
            <a:noFill/>
          </p:spPr>
          <p:txBody>
            <a:bodyPr wrap="square" rtlCol="0">
              <a:spAutoFit/>
            </a:bodyPr>
            <a:lstStyle/>
            <a:p>
              <a:r>
                <a:rPr lang="en-US" altLang="zh-CN" dirty="0">
                  <a:latin typeface="苹方 常规" panose="020B0300000000000000" charset="-122"/>
                  <a:ea typeface="苹方 常规" panose="020B0300000000000000" charset="-122"/>
                </a:rPr>
                <a:t>b</a:t>
              </a:r>
              <a:endParaRPr lang="zh-CN" altLang="en-US" dirty="0">
                <a:latin typeface="苹方 常规" panose="020B0300000000000000" charset="-122"/>
                <a:ea typeface="苹方 常规" panose="020B0300000000000000" charset="-122"/>
              </a:endParaRPr>
            </a:p>
          </p:txBody>
        </p:sp>
        <p:sp>
          <p:nvSpPr>
            <p:cNvPr id="17" name="文本框 16"/>
            <p:cNvSpPr txBox="1"/>
            <p:nvPr/>
          </p:nvSpPr>
          <p:spPr>
            <a:xfrm>
              <a:off x="1402707" y="3502597"/>
              <a:ext cx="312473" cy="368300"/>
            </a:xfrm>
            <a:prstGeom prst="rect">
              <a:avLst/>
            </a:prstGeom>
            <a:noFill/>
          </p:spPr>
          <p:txBody>
            <a:bodyPr wrap="square" rtlCol="0">
              <a:spAutoFit/>
            </a:bodyPr>
            <a:lstStyle/>
            <a:p>
              <a:r>
                <a:rPr lang="en-US" altLang="zh-CN" dirty="0">
                  <a:latin typeface="苹方 常规" panose="020B0300000000000000" charset="-122"/>
                  <a:ea typeface="苹方 常规" panose="020B0300000000000000" charset="-122"/>
                </a:rPr>
                <a:t>b</a:t>
              </a:r>
              <a:endParaRPr lang="zh-CN" altLang="en-US" dirty="0">
                <a:latin typeface="苹方 常规" panose="020B0300000000000000" charset="-122"/>
                <a:ea typeface="苹方 常规" panose="020B0300000000000000" charset="-122"/>
              </a:endParaRPr>
            </a:p>
          </p:txBody>
        </p:sp>
        <p:sp>
          <p:nvSpPr>
            <p:cNvPr id="18" name="文本框 17"/>
            <p:cNvSpPr txBox="1"/>
            <p:nvPr/>
          </p:nvSpPr>
          <p:spPr>
            <a:xfrm>
              <a:off x="2919472" y="3502597"/>
              <a:ext cx="312473" cy="368300"/>
            </a:xfrm>
            <a:prstGeom prst="rect">
              <a:avLst/>
            </a:prstGeom>
            <a:noFill/>
          </p:spPr>
          <p:txBody>
            <a:bodyPr wrap="square" rtlCol="0">
              <a:spAutoFit/>
            </a:bodyPr>
            <a:lstStyle/>
            <a:p>
              <a:r>
                <a:rPr lang="en-US" altLang="zh-CN" dirty="0">
                  <a:latin typeface="苹方 常规" panose="020B0300000000000000" charset="-122"/>
                  <a:ea typeface="苹方 常规" panose="020B0300000000000000" charset="-122"/>
                </a:rPr>
                <a:t>c</a:t>
              </a:r>
              <a:endParaRPr lang="zh-CN" altLang="en-US" dirty="0">
                <a:latin typeface="苹方 常规" panose="020B0300000000000000" charset="-122"/>
                <a:ea typeface="苹方 常规" panose="020B0300000000000000" charset="-122"/>
              </a:endParaRPr>
            </a:p>
          </p:txBody>
        </p:sp>
        <p:sp>
          <p:nvSpPr>
            <p:cNvPr id="25" name="椭圆 24"/>
            <p:cNvSpPr/>
            <p:nvPr/>
          </p:nvSpPr>
          <p:spPr>
            <a:xfrm>
              <a:off x="1911927" y="5095357"/>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苹方 常规" panose="020B0300000000000000" charset="-122"/>
                  <a:ea typeface="苹方 常规" panose="020B0300000000000000" charset="-122"/>
                </a:rPr>
                <a:t>aca</a:t>
              </a:r>
              <a:endParaRPr lang="zh-CN" altLang="en-US" dirty="0">
                <a:latin typeface="苹方 常规" panose="020B0300000000000000" charset="-122"/>
                <a:ea typeface="苹方 常规" panose="020B0300000000000000" charset="-122"/>
              </a:endParaRPr>
            </a:p>
          </p:txBody>
        </p:sp>
        <p:cxnSp>
          <p:nvCxnSpPr>
            <p:cNvPr id="26" name="直接箭头连接符 25"/>
            <p:cNvCxnSpPr>
              <a:stCxn id="10" idx="3"/>
              <a:endCxn id="25" idx="0"/>
            </p:cNvCxnSpPr>
            <p:nvPr/>
          </p:nvCxnSpPr>
          <p:spPr>
            <a:xfrm flipH="1">
              <a:off x="2299855" y="4438923"/>
              <a:ext cx="501548" cy="656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147882" y="4582474"/>
              <a:ext cx="312473" cy="368300"/>
            </a:xfrm>
            <a:prstGeom prst="rect">
              <a:avLst/>
            </a:prstGeom>
            <a:noFill/>
          </p:spPr>
          <p:txBody>
            <a:bodyPr wrap="square" rtlCol="0">
              <a:spAutoFit/>
            </a:bodyPr>
            <a:lstStyle/>
            <a:p>
              <a:r>
                <a:rPr lang="en-US" altLang="zh-CN" dirty="0">
                  <a:latin typeface="苹方 常规" panose="020B0300000000000000" charset="-122"/>
                  <a:ea typeface="苹方 常规" panose="020B0300000000000000" charset="-122"/>
                </a:rPr>
                <a:t>a</a:t>
              </a:r>
              <a:endParaRPr lang="zh-CN" altLang="en-US" dirty="0">
                <a:latin typeface="苹方 常规" panose="020B0300000000000000" charset="-122"/>
                <a:ea typeface="苹方 常规" panose="020B0300000000000000" charset="-122"/>
              </a:endParaRPr>
            </a:p>
          </p:txBody>
        </p:sp>
        <p:sp>
          <p:nvSpPr>
            <p:cNvPr id="38" name="椭圆 37"/>
            <p:cNvSpPr/>
            <p:nvPr/>
          </p:nvSpPr>
          <p:spPr>
            <a:xfrm>
              <a:off x="3465028" y="5092950"/>
              <a:ext cx="775855" cy="496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latin typeface="苹方 常规" panose="020B0300000000000000" charset="-122"/>
                  <a:ea typeface="苹方 常规" panose="020B0300000000000000" charset="-122"/>
                </a:rPr>
                <a:t>acb</a:t>
              </a:r>
              <a:endParaRPr lang="zh-CN" altLang="en-US" dirty="0">
                <a:latin typeface="苹方 常规" panose="020B0300000000000000" charset="-122"/>
                <a:ea typeface="苹方 常规" panose="020B0300000000000000" charset="-122"/>
              </a:endParaRPr>
            </a:p>
          </p:txBody>
        </p:sp>
        <p:cxnSp>
          <p:nvCxnSpPr>
            <p:cNvPr id="39" name="直接箭头连接符 38"/>
            <p:cNvCxnSpPr>
              <a:stCxn id="10" idx="5"/>
              <a:endCxn id="38" idx="0"/>
            </p:cNvCxnSpPr>
            <p:nvPr/>
          </p:nvCxnSpPr>
          <p:spPr>
            <a:xfrm>
              <a:off x="3350016" y="4438923"/>
              <a:ext cx="502940" cy="6540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3686958" y="4581270"/>
              <a:ext cx="312473" cy="368300"/>
            </a:xfrm>
            <a:prstGeom prst="rect">
              <a:avLst/>
            </a:prstGeom>
            <a:noFill/>
          </p:spPr>
          <p:txBody>
            <a:bodyPr wrap="square" rtlCol="0">
              <a:spAutoFit/>
            </a:bodyPr>
            <a:lstStyle/>
            <a:p>
              <a:r>
                <a:rPr lang="en-US" altLang="zh-CN" dirty="0">
                  <a:latin typeface="苹方 常规" panose="020B0300000000000000" charset="-122"/>
                  <a:ea typeface="苹方 常规" panose="020B0300000000000000" charset="-122"/>
                </a:rPr>
                <a:t>b</a:t>
              </a:r>
              <a:endParaRPr lang="zh-CN" altLang="en-US" dirty="0">
                <a:latin typeface="苹方 常规" panose="020B0300000000000000" charset="-122"/>
                <a:ea typeface="苹方 常规" panose="020B0300000000000000" charset="-122"/>
              </a:endParaRPr>
            </a:p>
          </p:txBody>
        </p:sp>
      </p:grpSp>
      <p:cxnSp>
        <p:nvCxnSpPr>
          <p:cNvPr id="51" name="连接符: 曲线 50"/>
          <p:cNvCxnSpPr>
            <a:stCxn id="38" idx="6"/>
            <a:endCxn id="8" idx="6"/>
          </p:cNvCxnSpPr>
          <p:nvPr/>
        </p:nvCxnSpPr>
        <p:spPr>
          <a:xfrm flipV="1">
            <a:off x="4240883" y="3183650"/>
            <a:ext cx="469663" cy="2157347"/>
          </a:xfrm>
          <a:prstGeom prst="curvedConnector3">
            <a:avLst>
              <a:gd name="adj1" fmla="val 14867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连接符: 曲线 52"/>
          <p:cNvCxnSpPr>
            <a:stCxn id="8" idx="6"/>
            <a:endCxn id="6" idx="6"/>
          </p:cNvCxnSpPr>
          <p:nvPr/>
        </p:nvCxnSpPr>
        <p:spPr>
          <a:xfrm flipH="1" flipV="1">
            <a:off x="4015034" y="2262549"/>
            <a:ext cx="695512" cy="921101"/>
          </a:xfrm>
          <a:prstGeom prst="curvedConnector3">
            <a:avLst>
              <a:gd name="adj1" fmla="val -32868"/>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连接符: 曲线 54"/>
          <p:cNvCxnSpPr>
            <a:stCxn id="9" idx="6"/>
            <a:endCxn id="8" idx="2"/>
          </p:cNvCxnSpPr>
          <p:nvPr/>
        </p:nvCxnSpPr>
        <p:spPr>
          <a:xfrm flipV="1">
            <a:off x="1911927" y="3183650"/>
            <a:ext cx="2022764" cy="1079877"/>
          </a:xfrm>
          <a:prstGeom prst="curvedConnector3">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连接符: 曲线 56"/>
          <p:cNvCxnSpPr>
            <a:stCxn id="10" idx="6"/>
            <a:endCxn id="6" idx="4"/>
          </p:cNvCxnSpPr>
          <p:nvPr/>
        </p:nvCxnSpPr>
        <p:spPr>
          <a:xfrm flipH="1" flipV="1">
            <a:off x="3294598" y="2588130"/>
            <a:ext cx="169039" cy="1675397"/>
          </a:xfrm>
          <a:prstGeom prst="curvedConnector4">
            <a:avLst>
              <a:gd name="adj1" fmla="val 102451"/>
              <a:gd name="adj2" fmla="val 69807"/>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4" name="连接符: 曲线 63"/>
          <p:cNvCxnSpPr>
            <a:stCxn id="7" idx="2"/>
            <a:endCxn id="6" idx="2"/>
          </p:cNvCxnSpPr>
          <p:nvPr/>
        </p:nvCxnSpPr>
        <p:spPr>
          <a:xfrm rot="10800000" flipH="1">
            <a:off x="1911927" y="2262550"/>
            <a:ext cx="662234" cy="921101"/>
          </a:xfrm>
          <a:prstGeom prst="curvedConnector3">
            <a:avLst>
              <a:gd name="adj1" fmla="val -3452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6" name="连接符: 曲线 65"/>
          <p:cNvCxnSpPr>
            <a:stCxn id="25" idx="2"/>
            <a:endCxn id="7" idx="2"/>
          </p:cNvCxnSpPr>
          <p:nvPr/>
        </p:nvCxnSpPr>
        <p:spPr>
          <a:xfrm rot="10800000">
            <a:off x="1911927" y="3183650"/>
            <a:ext cx="12700" cy="2159754"/>
          </a:xfrm>
          <a:prstGeom prst="curvedConnector3">
            <a:avLst>
              <a:gd name="adj1" fmla="val 9981819"/>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par>
                                <p:cTn id="21" presetID="10" presetClass="entr" presetSubtype="0" fill="hold" nodeType="with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500"/>
                                        <p:tgtEl>
                                          <p:spTgt spid="55"/>
                                        </p:tgtEl>
                                      </p:cBhvr>
                                    </p:animEffect>
                                  </p:childTnLst>
                                </p:cTn>
                              </p:par>
                              <p:par>
                                <p:cTn id="24" presetID="10"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500"/>
                                        <p:tgtEl>
                                          <p:spTgt spid="57"/>
                                        </p:tgtEl>
                                      </p:cBhvr>
                                    </p:animEffect>
                                  </p:childTnLst>
                                </p:cTn>
                              </p:par>
                              <p:par>
                                <p:cTn id="27" presetID="10"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fade">
                                      <p:cBhvr>
                                        <p:cTn id="29" dur="500"/>
                                        <p:tgtEl>
                                          <p:spTgt spid="64"/>
                                        </p:tgtEl>
                                      </p:cBhvr>
                                    </p:animEffect>
                                  </p:childTnLst>
                                </p:cTn>
                              </p:par>
                              <p:par>
                                <p:cTn id="30" presetID="10" presetClass="entr" presetSubtype="0" fill="hold" nodeType="with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fade">
                                      <p:cBhvr>
                                        <p:cTn id="32" dur="500"/>
                                        <p:tgtEl>
                                          <p:spTgt spid="66"/>
                                        </p:tgtEl>
                                      </p:cBhvr>
                                    </p:animEffect>
                                  </p:childTnLst>
                                </p:cTn>
                              </p:par>
                              <p:par>
                                <p:cTn id="33" presetID="10"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匹配</a:t>
            </a:r>
            <a:endParaRPr lang="zh-CN" altLang="en-US" dirty="0"/>
          </a:p>
        </p:txBody>
      </p:sp>
      <p:sp>
        <p:nvSpPr>
          <p:cNvPr id="3" name="内容占位符 2"/>
          <p:cNvSpPr>
            <a:spLocks noGrp="1"/>
          </p:cNvSpPr>
          <p:nvPr>
            <p:ph idx="1"/>
          </p:nvPr>
        </p:nvSpPr>
        <p:spPr/>
        <p:txBody>
          <a:bodyPr/>
          <a:lstStyle/>
          <a:p>
            <a:r>
              <a:rPr lang="zh-CN" altLang="en-US" dirty="0">
                <a:latin typeface="苹方 常规" panose="020B0300000000000000" charset="-122"/>
                <a:ea typeface="苹方 常规" panose="020B0300000000000000" charset="-122"/>
              </a:rPr>
              <a:t>于是匹配过程就和</a:t>
            </a:r>
            <a:r>
              <a:rPr lang="en-US" altLang="zh-CN" dirty="0">
                <a:latin typeface="苹方 常规" panose="020B0300000000000000" charset="-122"/>
                <a:ea typeface="苹方 常规" panose="020B0300000000000000" charset="-122"/>
              </a:rPr>
              <a:t>KMP</a:t>
            </a:r>
            <a:r>
              <a:rPr lang="zh-CN" altLang="en-US" dirty="0">
                <a:latin typeface="苹方 常规" panose="020B0300000000000000" charset="-122"/>
                <a:ea typeface="苹方 常规" panose="020B0300000000000000" charset="-122"/>
              </a:rPr>
              <a:t>类似了。从根节点开始匹配，若能匹配则沿儿子指针跳转，否则沿</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指针回跳，直到可以继续匹配。</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对于每个匹配到的结束节点，像</a:t>
            </a:r>
            <a:r>
              <a:rPr lang="en-US" altLang="zh-CN" dirty="0">
                <a:latin typeface="苹方 常规" panose="020B0300000000000000" charset="-122"/>
                <a:ea typeface="苹方 常规" panose="020B0300000000000000" charset="-122"/>
              </a:rPr>
              <a:t>KMP</a:t>
            </a:r>
            <a:r>
              <a:rPr lang="zh-CN" altLang="en-US" dirty="0">
                <a:latin typeface="苹方 常规" panose="020B0300000000000000" charset="-122"/>
                <a:ea typeface="苹方 常规" panose="020B0300000000000000" charset="-122"/>
              </a:rPr>
              <a:t>一样，沿</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指针一直上跳，其中每个带有结束节点标记的都代表一个匹配。（因为</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指针指向的节点是当前串的一个后缀，也一定可以匹配到。）</a:t>
            </a:r>
            <a:endParaRPr lang="en-US" altLang="zh-CN" dirty="0">
              <a:latin typeface="苹方 常规" panose="020B0300000000000000" charset="-122"/>
              <a:ea typeface="苹方 常规" panose="020B0300000000000000" charset="-122"/>
            </a:endParaRPr>
          </a:p>
          <a:p>
            <a:endParaRPr lang="zh-CN" altLang="en-US"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a:t>
            </a:r>
            <a:endParaRPr lang="zh-CN" altLang="en-US" dirty="0"/>
          </a:p>
        </p:txBody>
      </p:sp>
      <p:sp>
        <p:nvSpPr>
          <p:cNvPr id="3" name="内容占位符 2"/>
          <p:cNvSpPr>
            <a:spLocks noGrp="1"/>
          </p:cNvSpPr>
          <p:nvPr>
            <p:ph idx="1"/>
          </p:nvPr>
        </p:nvSpPr>
        <p:spPr/>
        <p:txBody>
          <a:bodyPr/>
          <a:lstStyle/>
          <a:p>
            <a:r>
              <a:rPr lang="zh-CN" altLang="en-US" dirty="0">
                <a:latin typeface="苹方 常规" panose="020B0300000000000000" charset="-122"/>
                <a:ea typeface="苹方 常规" panose="020B0300000000000000" charset="-122"/>
              </a:rPr>
              <a:t>考虑构造过程。</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首先建出</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树。在树上按照</a:t>
            </a:r>
            <a:r>
              <a:rPr lang="en-US" altLang="zh-CN" dirty="0">
                <a:latin typeface="苹方 常规" panose="020B0300000000000000" charset="-122"/>
                <a:ea typeface="苹方 常规" panose="020B0300000000000000" charset="-122"/>
              </a:rPr>
              <a:t>BFS</a:t>
            </a:r>
            <a:r>
              <a:rPr lang="zh-CN" altLang="en-US" dirty="0">
                <a:latin typeface="苹方 常规" panose="020B0300000000000000" charset="-122"/>
                <a:ea typeface="苹方 常规" panose="020B0300000000000000" charset="-122"/>
              </a:rPr>
              <a:t>的方式添加</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指针。</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枚举每个节点，称当前枚举节点为</a:t>
            </a:r>
            <a:r>
              <a:rPr lang="en-US" altLang="zh-CN" dirty="0">
                <a:latin typeface="苹方 常规" panose="020B0300000000000000" charset="-122"/>
                <a:ea typeface="苹方 常规" panose="020B0300000000000000" charset="-122"/>
              </a:rPr>
              <a:t>p</a:t>
            </a:r>
            <a:r>
              <a:rPr lang="zh-CN" altLang="en-US" dirty="0">
                <a:latin typeface="苹方 常规" panose="020B0300000000000000" charset="-122"/>
                <a:ea typeface="苹方 常规" panose="020B0300000000000000" charset="-122"/>
              </a:rPr>
              <a:t>。枚举</a:t>
            </a:r>
            <a:r>
              <a:rPr lang="en-US" altLang="zh-CN" dirty="0">
                <a:latin typeface="苹方 常规" panose="020B0300000000000000" charset="-122"/>
                <a:ea typeface="苹方 常规" panose="020B0300000000000000" charset="-122"/>
              </a:rPr>
              <a:t>p</a:t>
            </a:r>
            <a:r>
              <a:rPr lang="zh-CN" altLang="en-US" dirty="0">
                <a:latin typeface="苹方 常规" panose="020B0300000000000000" charset="-122"/>
                <a:ea typeface="苹方 常规" panose="020B0300000000000000" charset="-122"/>
              </a:rPr>
              <a:t>的儿子指针，从</a:t>
            </a:r>
            <a:r>
              <a:rPr lang="en-US" altLang="zh-CN" dirty="0">
                <a:latin typeface="苹方 常规" panose="020B0300000000000000" charset="-122"/>
                <a:ea typeface="苹方 常规" panose="020B0300000000000000" charset="-122"/>
              </a:rPr>
              <a:t>p</a:t>
            </a:r>
            <a:r>
              <a:rPr lang="zh-CN" altLang="en-US" dirty="0">
                <a:latin typeface="苹方 常规" panose="020B0300000000000000" charset="-122"/>
                <a:ea typeface="苹方 常规" panose="020B0300000000000000" charset="-122"/>
              </a:rPr>
              <a:t>的</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（称为</a:t>
            </a:r>
            <a:r>
              <a:rPr lang="en-US" altLang="zh-CN" dirty="0">
                <a:latin typeface="苹方 常规" panose="020B0300000000000000" charset="-122"/>
                <a:ea typeface="苹方 常规" panose="020B0300000000000000" charset="-122"/>
              </a:rPr>
              <a:t>q</a:t>
            </a:r>
            <a:r>
              <a:rPr lang="zh-CN" altLang="en-US" dirty="0">
                <a:latin typeface="苹方 常规" panose="020B0300000000000000" charset="-122"/>
                <a:ea typeface="苹方 常规" panose="020B0300000000000000" charset="-122"/>
              </a:rPr>
              <a:t>）开始，若有同样的儿子指针，则</a:t>
            </a:r>
            <a:r>
              <a:rPr lang="en-US" altLang="zh-CN" dirty="0">
                <a:latin typeface="苹方 常规" panose="020B0300000000000000" charset="-122"/>
                <a:ea typeface="苹方 常规" panose="020B0300000000000000" charset="-122"/>
              </a:rPr>
              <a:t>p</a:t>
            </a:r>
            <a:r>
              <a:rPr lang="zh-CN" altLang="en-US" dirty="0">
                <a:latin typeface="苹方 常规" panose="020B0300000000000000" charset="-122"/>
                <a:ea typeface="苹方 常规" panose="020B0300000000000000" charset="-122"/>
              </a:rPr>
              <a:t>的该儿子的</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指向</a:t>
            </a:r>
            <a:r>
              <a:rPr lang="en-US" altLang="zh-CN" dirty="0">
                <a:latin typeface="苹方 常规" panose="020B0300000000000000" charset="-122"/>
                <a:ea typeface="苹方 常规" panose="020B0300000000000000" charset="-122"/>
              </a:rPr>
              <a:t>q</a:t>
            </a:r>
            <a:r>
              <a:rPr lang="zh-CN" altLang="en-US" dirty="0">
                <a:latin typeface="苹方 常规" panose="020B0300000000000000" charset="-122"/>
                <a:ea typeface="苹方 常规" panose="020B0300000000000000" charset="-122"/>
              </a:rPr>
              <a:t>的该儿子。若跳到根都没有节点有同样的儿子指针，则</a:t>
            </a:r>
            <a:r>
              <a:rPr lang="en-US" altLang="zh-CN" dirty="0">
                <a:latin typeface="苹方 常规" panose="020B0300000000000000" charset="-122"/>
                <a:ea typeface="苹方 常规" panose="020B0300000000000000" charset="-122"/>
              </a:rPr>
              <a:t>p</a:t>
            </a:r>
            <a:r>
              <a:rPr lang="zh-CN" altLang="en-US" dirty="0">
                <a:latin typeface="苹方 常规" panose="020B0300000000000000" charset="-122"/>
                <a:ea typeface="苹方 常规" panose="020B0300000000000000" charset="-122"/>
              </a:rPr>
              <a:t>的该儿子的</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指向根，表示需要重新开始匹配。然后将该儿子加入</a:t>
            </a:r>
            <a:r>
              <a:rPr lang="en-US" altLang="zh-CN" dirty="0">
                <a:latin typeface="苹方 常规" panose="020B0300000000000000" charset="-122"/>
                <a:ea typeface="苹方 常规" panose="020B0300000000000000" charset="-122"/>
              </a:rPr>
              <a:t>BFS</a:t>
            </a:r>
            <a:r>
              <a:rPr lang="zh-CN" altLang="en-US" dirty="0">
                <a:latin typeface="苹方 常规" panose="020B0300000000000000" charset="-122"/>
                <a:ea typeface="苹方 常规" panose="020B0300000000000000" charset="-122"/>
              </a:rPr>
              <a:t>队列中。</a:t>
            </a:r>
            <a:endParaRPr lang="zh-CN" altLang="en-US"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HDU3065 </a:t>
            </a:r>
            <a:r>
              <a:rPr lang="zh-CN" altLang="en-US" dirty="0">
                <a:latin typeface="苹方 常规" panose="020B0300000000000000" charset="-122"/>
                <a:ea typeface="苹方 常规" panose="020B0300000000000000" charset="-122"/>
              </a:rPr>
              <a:t>病毒侵袭持续中</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给定文本串和若干模式串，求每个模式串在文本串中出现的次数。</a:t>
                </a:r>
                <a:endParaRPr lang="en-US" altLang="zh-CN" dirty="0"/>
              </a:p>
              <a:p>
                <a:r>
                  <a:rPr lang="en-US" altLang="zh-CN" dirty="0"/>
                  <a:t> </a:t>
                </a:r>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≤1000</m:t>
                    </m:r>
                  </m:oMath>
                </a14:m>
                <a:endParaRPr lang="en-US" altLang="zh-CN" dirty="0"/>
              </a:p>
              <a:p>
                <a14:m>
                  <m:oMath xmlns:m="http://schemas.openxmlformats.org/officeDocument/2006/math">
                    <m:d>
                      <m:dPr>
                        <m:begChr m:val="|"/>
                        <m:endChr m:val="|"/>
                        <m:ctrlPr>
                          <a:rPr lang="en-US" altLang="zh-CN" b="0" i="1" smtClean="0">
                            <a:latin typeface="Cambria Math" panose="02040503050406030204" pitchFamily="18" charset="0"/>
                          </a:rPr>
                        </m:ctrlPr>
                      </m:dPr>
                      <m:e>
                        <m:r>
                          <a:rPr lang="zh-CN" altLang="en-US" i="1">
                            <a:latin typeface="Cambria Math" panose="02040503050406030204" pitchFamily="18" charset="0"/>
                          </a:rPr>
                          <m:t>模式串</m:t>
                        </m:r>
                      </m:e>
                    </m:d>
                    <m:r>
                      <a:rPr lang="en-US" altLang="zh-CN" b="0" i="1" smtClean="0">
                        <a:latin typeface="Cambria Math" panose="02040503050406030204" pitchFamily="18" charset="0"/>
                      </a:rPr>
                      <m:t>≤</m:t>
                    </m:r>
                    <m:r>
                      <a:rPr lang="en-US" altLang="zh-CN" i="1">
                        <a:latin typeface="Cambria Math" panose="02040503050406030204" pitchFamily="18" charset="0"/>
                      </a:rPr>
                      <m:t>5</m:t>
                    </m:r>
                    <m:r>
                      <a:rPr lang="en-US" altLang="zh-CN" i="1" smtClean="0">
                        <a:latin typeface="Cambria Math" panose="02040503050406030204" pitchFamily="18" charset="0"/>
                      </a:rPr>
                      <m:t>0</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zh-CN" altLang="en-US" i="1">
                            <a:latin typeface="Cambria Math" panose="02040503050406030204" pitchFamily="18" charset="0"/>
                          </a:rPr>
                          <m:t>文本串</m:t>
                        </m:r>
                      </m:e>
                    </m:d>
                    <m:r>
                      <a:rPr lang="en-US" altLang="zh-CN" b="0" i="1" smtClean="0">
                        <a:latin typeface="Cambria Math" panose="02040503050406030204" pitchFamily="18" charset="0"/>
                      </a:rPr>
                      <m:t>≤2000000</m:t>
                    </m:r>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521" r="-3188"/>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图</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latin typeface="苹方 常规" panose="020B0300000000000000" charset="-122"/>
                <a:ea typeface="苹方 常规" panose="020B0300000000000000" charset="-122"/>
              </a:rPr>
              <a:t>考虑在</a:t>
            </a:r>
            <a:r>
              <a:rPr lang="en-US" altLang="zh-CN" dirty="0">
                <a:latin typeface="苹方 常规" panose="020B0300000000000000" charset="-122"/>
                <a:ea typeface="苹方 常规" panose="020B0300000000000000" charset="-122"/>
              </a:rPr>
              <a:t>AC</a:t>
            </a:r>
            <a:r>
              <a:rPr lang="zh-CN" altLang="en-US" dirty="0">
                <a:latin typeface="苹方 常规" panose="020B0300000000000000" charset="-122"/>
                <a:ea typeface="苹方 常规" panose="020B0300000000000000" charset="-122"/>
              </a:rPr>
              <a:t>自动机上匹配时，若当前结点没有某儿子指针，则沿</a:t>
            </a:r>
            <a:r>
              <a:rPr lang="en-US" altLang="zh-CN" dirty="0">
                <a:latin typeface="苹方 常规" panose="020B0300000000000000" charset="-122"/>
                <a:ea typeface="苹方 常规" panose="020B0300000000000000" charset="-122"/>
              </a:rPr>
              <a:t>Fail</a:t>
            </a:r>
            <a:r>
              <a:rPr lang="zh-CN" altLang="en-US" dirty="0">
                <a:latin typeface="苹方 常规" panose="020B0300000000000000" charset="-122"/>
                <a:ea typeface="苹方 常规" panose="020B0300000000000000" charset="-122"/>
              </a:rPr>
              <a:t>指针跳跃，一定可以跳到某个节点。则可以将当前结点的该儿子指针直接指向最终会跳到的那个节点。这样构造出的有向图称为</a:t>
            </a:r>
            <a:r>
              <a:rPr lang="en-US" altLang="zh-CN" dirty="0" err="1">
                <a:latin typeface="苹方 常规" panose="020B0300000000000000" charset="-122"/>
                <a:ea typeface="苹方 常规" panose="020B0300000000000000" charset="-122"/>
              </a:rPr>
              <a:t>Trie</a:t>
            </a:r>
            <a:r>
              <a:rPr lang="zh-CN" altLang="en-US" dirty="0">
                <a:latin typeface="苹方 常规" panose="020B0300000000000000" charset="-122"/>
                <a:ea typeface="苹方 常规" panose="020B0300000000000000" charset="-122"/>
              </a:rPr>
              <a:t>图。</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于是在有向图中就可以进行一些</a:t>
            </a:r>
            <a:r>
              <a:rPr lang="en-US" altLang="zh-CN" dirty="0">
                <a:latin typeface="苹方 常规" panose="020B0300000000000000" charset="-122"/>
                <a:ea typeface="苹方 常规" panose="020B0300000000000000" charset="-122"/>
              </a:rPr>
              <a:t>……DP</a:t>
            </a:r>
            <a:r>
              <a:rPr lang="zh-CN" altLang="en-US" dirty="0">
                <a:latin typeface="苹方 常规" panose="020B0300000000000000" charset="-122"/>
                <a:ea typeface="苹方 常规" panose="020B0300000000000000" charset="-122"/>
              </a:rPr>
              <a:t>了。</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这才是更常考的需要用到</a:t>
            </a:r>
            <a:r>
              <a:rPr lang="en-US" altLang="zh-CN" dirty="0">
                <a:latin typeface="苹方 常规" panose="020B0300000000000000" charset="-122"/>
                <a:ea typeface="苹方 常规" panose="020B0300000000000000" charset="-122"/>
              </a:rPr>
              <a:t>AC</a:t>
            </a:r>
            <a:r>
              <a:rPr lang="zh-CN" altLang="en-US" dirty="0">
                <a:latin typeface="苹方 常规" panose="020B0300000000000000" charset="-122"/>
                <a:ea typeface="苹方 常规" panose="020B0300000000000000" charset="-122"/>
              </a:rPr>
              <a:t>自动机的题。</a:t>
            </a:r>
            <a:endParaRPr lang="en-US" altLang="zh-CN"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POJ2778 DNA Sequence</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t>给定</a:t>
                </a:r>
                <a14:m>
                  <m:oMath xmlns:m="http://schemas.openxmlformats.org/officeDocument/2006/math">
                    <m:r>
                      <a:rPr lang="en-US" altLang="zh-CN" b="0" i="1" smtClean="0">
                        <a:latin typeface="Cambria Math" panose="02040503050406030204" pitchFamily="18" charset="0"/>
                      </a:rPr>
                      <m:t>𝑚</m:t>
                    </m:r>
                  </m:oMath>
                </a14:m>
                <a:r>
                  <a:rPr lang="zh-CN" altLang="en-US" dirty="0"/>
                  <a:t>个病毒串，求不包含病毒串的长度为</a:t>
                </a:r>
                <a14:m>
                  <m:oMath xmlns:m="http://schemas.openxmlformats.org/officeDocument/2006/math">
                    <m:r>
                      <a:rPr lang="en-US" altLang="zh-CN" b="0" i="1" smtClean="0">
                        <a:latin typeface="Cambria Math" panose="02040503050406030204" pitchFamily="18" charset="0"/>
                      </a:rPr>
                      <m:t>𝑛</m:t>
                    </m:r>
                  </m:oMath>
                </a14:m>
                <a:r>
                  <a:rPr lang="zh-CN" altLang="en-US" dirty="0"/>
                  <a:t>的</a:t>
                </a:r>
                <a:r>
                  <a:rPr lang="en-US" altLang="zh-CN" dirty="0"/>
                  <a:t>DNA</a:t>
                </a:r>
                <a:r>
                  <a:rPr lang="zh-CN" altLang="en-US" dirty="0"/>
                  <a:t>序列有多少个。对</a:t>
                </a:r>
                <a14:m>
                  <m:oMath xmlns:m="http://schemas.openxmlformats.org/officeDocument/2006/math">
                    <m:r>
                      <a:rPr lang="en-US" altLang="zh-CN" b="0" i="1" smtClean="0">
                        <a:latin typeface="Cambria Math" panose="02040503050406030204" pitchFamily="18" charset="0"/>
                      </a:rPr>
                      <m:t>100000</m:t>
                    </m:r>
                  </m:oMath>
                </a14:m>
                <a:r>
                  <a:rPr lang="zh-CN" altLang="en-US" dirty="0"/>
                  <a:t>取模。</a:t>
                </a:r>
                <a:endParaRPr lang="en-US" altLang="zh-CN" dirty="0"/>
              </a:p>
              <a:p>
                <a14:m>
                  <m:oMath xmlns:m="http://schemas.openxmlformats.org/officeDocument/2006/math">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=4,</m:t>
                    </m:r>
                    <m:r>
                      <a:rPr lang="en-US" altLang="zh-CN" b="0" i="1" smtClean="0">
                        <a:latin typeface="Cambria Math" panose="02040503050406030204" pitchFamily="18" charset="0"/>
                      </a:rPr>
                      <m:t>𝑚</m:t>
                    </m:r>
                    <m:r>
                      <a:rPr lang="en-US" altLang="zh-CN" b="0" i="1" smtClean="0">
                        <a:latin typeface="Cambria Math" panose="02040503050406030204" pitchFamily="18" charset="0"/>
                      </a:rPr>
                      <m:t>≤10,</m:t>
                    </m:r>
                    <m:r>
                      <a:rPr lang="en-US" altLang="zh-CN" b="0" i="1" smtClean="0">
                        <a:latin typeface="Cambria Math" panose="02040503050406030204" pitchFamily="18" charset="0"/>
                      </a:rPr>
                      <m:t>𝑛</m:t>
                    </m:r>
                    <m:r>
                      <a:rPr lang="en-US" altLang="zh-CN" b="0" i="1" smtClean="0">
                        <a:latin typeface="Cambria Math" panose="02040503050406030204" pitchFamily="18" charset="0"/>
                      </a:rPr>
                      <m:t>≤2000000000</m:t>
                    </m:r>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BZOJ2434 </a:t>
            </a:r>
            <a:r>
              <a:rPr lang="zh-CN" altLang="en-US" dirty="0">
                <a:latin typeface="苹方 常规" panose="020B0300000000000000" charset="-122"/>
                <a:ea typeface="苹方 常规" panose="020B0300000000000000" charset="-122"/>
              </a:rPr>
              <a:t>阿狸的打字机</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给定一个空字符串，有以下操作：</a:t>
                </a:r>
                <a:endParaRPr lang="en-US" altLang="zh-CN" dirty="0"/>
              </a:p>
              <a:p>
                <a:pPr lvl="1"/>
                <a:r>
                  <a:rPr lang="zh-CN" altLang="en-US" dirty="0"/>
                  <a:t>在结尾添加一个字符</a:t>
                </a:r>
                <a:endParaRPr lang="en-US" altLang="zh-CN" dirty="0"/>
              </a:p>
              <a:p>
                <a:pPr lvl="1"/>
                <a:r>
                  <a:rPr lang="zh-CN" altLang="en-US" dirty="0"/>
                  <a:t>在结尾删除一个字符</a:t>
                </a:r>
                <a:endParaRPr lang="en-US" altLang="zh-CN" dirty="0"/>
              </a:p>
              <a:p>
                <a:pPr lvl="1"/>
                <a:r>
                  <a:rPr lang="zh-CN" altLang="en-US" dirty="0"/>
                  <a:t>打印当前字符串</a:t>
                </a:r>
                <a:endParaRPr lang="en-US" altLang="zh-CN" dirty="0"/>
              </a:p>
              <a:p>
                <a:pPr lvl="1"/>
                <a:r>
                  <a:rPr lang="zh-CN" altLang="en-US" dirty="0"/>
                  <a:t>询问第</a:t>
                </a:r>
                <a14:m>
                  <m:oMath xmlns:m="http://schemas.openxmlformats.org/officeDocument/2006/math">
                    <m:r>
                      <a:rPr lang="en-US" altLang="zh-CN" b="0" i="1" smtClean="0">
                        <a:latin typeface="Cambria Math" panose="02040503050406030204" pitchFamily="18" charset="0"/>
                      </a:rPr>
                      <m:t>𝑥</m:t>
                    </m:r>
                  </m:oMath>
                </a14:m>
                <a:r>
                  <a:rPr lang="zh-CN" altLang="en-US" dirty="0"/>
                  <a:t>次打印的字符串在第</a:t>
                </a:r>
                <a14:m>
                  <m:oMath xmlns:m="http://schemas.openxmlformats.org/officeDocument/2006/math">
                    <m:r>
                      <a:rPr lang="en-US" altLang="zh-CN" b="0" i="1" smtClean="0">
                        <a:latin typeface="Cambria Math" panose="02040503050406030204" pitchFamily="18" charset="0"/>
                      </a:rPr>
                      <m:t>𝑦</m:t>
                    </m:r>
                  </m:oMath>
                </a14:m>
                <a:r>
                  <a:rPr lang="zh-CN" altLang="en-US" dirty="0"/>
                  <a:t>次打印的字符串中出现的次数</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𝑚</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52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457702" y="2967335"/>
            <a:ext cx="3276600" cy="922020"/>
          </a:xfrm>
          <a:prstGeom prst="rect">
            <a:avLst/>
          </a:prstGeom>
          <a:noFill/>
        </p:spPr>
        <p:txBody>
          <a:bodyPr wrap="none" lIns="91440" tIns="45720" rIns="91440" bIns="45720">
            <a:spAutoFit/>
          </a:bodyPr>
          <a:lstStyle/>
          <a:p>
            <a:pPr algn="ctr"/>
            <a:r>
              <a:rPr lang="en-US" altLang="zh-CN" sz="5400" b="0" cap="none" spc="0" dirty="0" err="1">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rPr>
              <a:t>Manacher</a:t>
            </a:r>
            <a:endParaRPr lang="zh-CN" altLang="en-US" sz="5400" b="0" cap="none" spc="0" dirty="0">
              <a:ln w="0"/>
              <a:solidFill>
                <a:schemeClr val="tx1"/>
              </a:solidFill>
              <a:effectLst>
                <a:outerShdw blurRad="38100" dist="19050" dir="2700000" algn="tl" rotWithShape="0">
                  <a:schemeClr val="dk1">
                    <a:alpha val="40000"/>
                  </a:schemeClr>
                </a:outerShdw>
              </a:effectLst>
              <a:latin typeface="苹方 常规" panose="020B0300000000000000" charset="-122"/>
              <a:ea typeface="苹方 常规" panose="020B0300000000000000"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回文串</a:t>
            </a:r>
            <a:endParaRPr lang="zh-CN" altLang="en-US" dirty="0"/>
          </a:p>
        </p:txBody>
      </p:sp>
      <p:sp>
        <p:nvSpPr>
          <p:cNvPr id="3" name="内容占位符 2"/>
          <p:cNvSpPr>
            <a:spLocks noGrp="1"/>
          </p:cNvSpPr>
          <p:nvPr>
            <p:ph idx="1"/>
          </p:nvPr>
        </p:nvSpPr>
        <p:spPr/>
        <p:txBody>
          <a:bodyPr/>
          <a:lstStyle/>
          <a:p>
            <a:r>
              <a:rPr lang="zh-CN" altLang="en-US" dirty="0">
                <a:latin typeface="苹方 常规" panose="020B0300000000000000" charset="-122"/>
                <a:ea typeface="苹方 常规" panose="020B0300000000000000" charset="-122"/>
              </a:rPr>
              <a:t>回文串就是一个从头到尾读和从尾到头读都相同的串。</a:t>
            </a:r>
            <a:endParaRPr lang="en-US" altLang="zh-CN" dirty="0">
              <a:latin typeface="苹方 常规" panose="020B0300000000000000" charset="-122"/>
              <a:ea typeface="苹方 常规" panose="020B0300000000000000" charset="-122"/>
            </a:endParaRPr>
          </a:p>
          <a:p>
            <a:r>
              <a:rPr lang="en-US" altLang="zh-CN" dirty="0">
                <a:latin typeface="苹方 常规" panose="020B0300000000000000" charset="-122"/>
                <a:ea typeface="苹方 常规" panose="020B0300000000000000" charset="-122"/>
              </a:rPr>
              <a:t>Madam, I’m Adam</a:t>
            </a:r>
            <a:r>
              <a:rPr lang="zh-CN" altLang="en-US" dirty="0">
                <a:latin typeface="苹方 常规" panose="020B0300000000000000" charset="-122"/>
                <a:ea typeface="苹方 常规" panose="020B0300000000000000" charset="-122"/>
              </a:rPr>
              <a:t>（请忽略标点和大小写）</a:t>
            </a:r>
            <a:endParaRPr lang="en-US" altLang="zh-CN" dirty="0">
              <a:latin typeface="苹方 常规" panose="020B0300000000000000" charset="-122"/>
              <a:ea typeface="苹方 常规" panose="020B0300000000000000" charset="-122"/>
            </a:endParaRPr>
          </a:p>
          <a:p>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如何判断一个串是不是回文串？</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如何求出一个串中的最长回文子串？</a:t>
            </a:r>
            <a:endParaRPr lang="zh-CN" altLang="en-US"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Manacher</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en-US" altLang="zh-CN" dirty="0" err="1">
                <a:latin typeface="苹方 常规" panose="020B0300000000000000" charset="-122"/>
                <a:ea typeface="苹方 常规" panose="020B0300000000000000" charset="-122"/>
              </a:rPr>
              <a:t>Manacher</a:t>
            </a:r>
            <a:r>
              <a:rPr lang="zh-CN" altLang="en-US" dirty="0">
                <a:latin typeface="苹方 常规" panose="020B0300000000000000" charset="-122"/>
                <a:ea typeface="苹方 常规" panose="020B0300000000000000" charset="-122"/>
              </a:rPr>
              <a:t>算法就是用来解决这样一类问题的。</a:t>
            </a:r>
            <a:endParaRPr lang="en-US" altLang="zh-CN" dirty="0">
              <a:latin typeface="苹方 常规" panose="020B0300000000000000" charset="-122"/>
              <a:ea typeface="苹方 常规" panose="020B0300000000000000" charset="-122"/>
            </a:endParaRPr>
          </a:p>
          <a:p>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考虑判断回文串，也是一种判断匹配的方法。</a:t>
            </a:r>
            <a:endParaRPr lang="en-US" altLang="zh-CN" dirty="0">
              <a:latin typeface="苹方 常规" panose="020B0300000000000000" charset="-122"/>
              <a:ea typeface="苹方 常规" panose="020B0300000000000000" charset="-122"/>
            </a:endParaRPr>
          </a:p>
          <a:p>
            <a:r>
              <a:rPr lang="zh-CN" altLang="en-US" dirty="0">
                <a:latin typeface="苹方 常规" panose="020B0300000000000000" charset="-122"/>
                <a:ea typeface="苹方 常规" panose="020B0300000000000000" charset="-122"/>
              </a:rPr>
              <a:t>考虑之前的</a:t>
            </a:r>
            <a:r>
              <a:rPr lang="en-US" altLang="zh-CN" dirty="0">
                <a:latin typeface="苹方 常规" panose="020B0300000000000000" charset="-122"/>
                <a:ea typeface="苹方 常规" panose="020B0300000000000000" charset="-122"/>
              </a:rPr>
              <a:t>KMP</a:t>
            </a:r>
            <a:r>
              <a:rPr lang="zh-CN" altLang="en-US" dirty="0">
                <a:latin typeface="苹方 常规" panose="020B0300000000000000" charset="-122"/>
                <a:ea typeface="苹方 常规" panose="020B0300000000000000" charset="-122"/>
              </a:rPr>
              <a:t>，</a:t>
            </a:r>
            <a:r>
              <a:rPr lang="en-US" altLang="zh-CN" dirty="0">
                <a:latin typeface="苹方 常规" panose="020B0300000000000000" charset="-122"/>
                <a:ea typeface="苹方 常规" panose="020B0300000000000000" charset="-122"/>
              </a:rPr>
              <a:t>AC</a:t>
            </a:r>
            <a:r>
              <a:rPr lang="zh-CN" altLang="en-US" dirty="0">
                <a:latin typeface="苹方 常规" panose="020B0300000000000000" charset="-122"/>
                <a:ea typeface="苹方 常规" panose="020B0300000000000000" charset="-122"/>
              </a:rPr>
              <a:t>自动机，思想是尽可能利用已经匹配过的信息。</a:t>
            </a:r>
            <a:endParaRPr lang="en-US" altLang="zh-CN" dirty="0">
              <a:latin typeface="苹方 常规" panose="020B0300000000000000" charset="-122"/>
              <a:ea typeface="苹方 常规" panose="020B0300000000000000" charset="-122"/>
            </a:endParaRPr>
          </a:p>
          <a:p>
            <a:r>
              <a:rPr lang="en-US" altLang="zh-CN" dirty="0" err="1">
                <a:latin typeface="苹方 常规" panose="020B0300000000000000" charset="-122"/>
                <a:ea typeface="苹方 常规" panose="020B0300000000000000" charset="-122"/>
              </a:rPr>
              <a:t>Manacher</a:t>
            </a:r>
            <a:r>
              <a:rPr lang="zh-CN" altLang="en-US" dirty="0">
                <a:latin typeface="苹方 常规" panose="020B0300000000000000" charset="-122"/>
                <a:ea typeface="苹方 常规" panose="020B0300000000000000" charset="-122"/>
              </a:rPr>
              <a:t>也不例外。</a:t>
            </a:r>
            <a:endParaRPr lang="zh-CN" altLang="en-US" dirty="0">
              <a:latin typeface="苹方 常规" panose="020B0300000000000000" charset="-122"/>
              <a:ea typeface="苹方 常规"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Manacher</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回文串长有奇数和偶数，直接做需要分情况讨论。</a:t>
            </a:r>
            <a:endParaRPr lang="en-US" altLang="zh-CN" dirty="0"/>
          </a:p>
          <a:p>
            <a:r>
              <a:rPr lang="zh-CN" altLang="en-US" dirty="0"/>
              <a:t>在每个字符中间插入一个分隔符（比如</a:t>
            </a:r>
            <a:r>
              <a:rPr lang="en-US" altLang="zh-CN" dirty="0">
                <a:latin typeface="Consolas" panose="020B0609020204030204" pitchFamily="49" charset="0"/>
              </a:rPr>
              <a:t>’#’</a:t>
            </a:r>
            <a:r>
              <a:rPr lang="zh-CN" altLang="en-US" dirty="0">
                <a:latin typeface="Consolas" panose="020B0609020204030204" pitchFamily="49" charset="0"/>
              </a:rPr>
              <a:t>），就可以将所有回文串转化使长度为奇数。</a:t>
            </a:r>
            <a:endParaRPr lang="en-US" altLang="zh-CN" dirty="0">
              <a:latin typeface="Consolas" panose="020B0609020204030204" pitchFamily="49" charset="0"/>
            </a:endParaRPr>
          </a:p>
          <a:p>
            <a:r>
              <a:rPr lang="zh-CN" altLang="en-US" dirty="0">
                <a:latin typeface="Consolas" panose="020B0609020204030204" pitchFamily="49" charset="0"/>
              </a:rPr>
              <a:t>在串的开头加入另一种字符（比如</a:t>
            </a:r>
            <a:r>
              <a:rPr lang="en-US" altLang="zh-CN" dirty="0">
                <a:latin typeface="Consolas" panose="020B0609020204030204" pitchFamily="49" charset="0"/>
              </a:rPr>
              <a:t>’$’</a:t>
            </a:r>
            <a:r>
              <a:rPr lang="zh-CN" altLang="en-US" dirty="0">
                <a:latin typeface="Consolas" panose="020B0609020204030204" pitchFamily="49" charset="0"/>
              </a:rPr>
              <a:t>），以避免边界情况的讨论。</a:t>
            </a:r>
            <a:endParaRPr lang="en-US" altLang="zh-CN" dirty="0">
              <a:latin typeface="Consolas" panose="020B0609020204030204" pitchFamily="49" charset="0"/>
            </a:endParaRPr>
          </a:p>
          <a:p>
            <a:endParaRPr lang="en-US" altLang="zh-CN" dirty="0">
              <a:latin typeface="Consolas" panose="020B0609020204030204" pitchFamily="49" charset="0"/>
            </a:endParaRPr>
          </a:p>
          <a:p>
            <a:r>
              <a:rPr lang="zh-CN" altLang="en-US" dirty="0">
                <a:latin typeface="Consolas" panose="020B0609020204030204" pitchFamily="49" charset="0"/>
              </a:rPr>
              <a:t>大概长这个样子：</a:t>
            </a:r>
            <a:endParaRPr lang="en-US" altLang="zh-CN" dirty="0">
              <a:latin typeface="Consolas" panose="020B0609020204030204" pitchFamily="49" charset="0"/>
            </a:endParaRPr>
          </a:p>
          <a:p>
            <a:pPr marL="0" indent="0" algn="ctr">
              <a:buNone/>
            </a:pPr>
            <a:r>
              <a:rPr lang="en-US" altLang="zh-CN" dirty="0">
                <a:latin typeface="Consolas" panose="020B0609020204030204" pitchFamily="49" charset="0"/>
              </a:rPr>
              <a:t>$#</a:t>
            </a:r>
            <a:r>
              <a:rPr lang="en-US" altLang="zh-CN" dirty="0" err="1">
                <a:latin typeface="Consolas" panose="020B0609020204030204" pitchFamily="49" charset="0"/>
              </a:rPr>
              <a:t>a#b#a#b#c#b#a#a</a:t>
            </a:r>
            <a:r>
              <a:rPr lang="en-US" altLang="zh-CN" dirty="0">
                <a:latin typeface="Consolas" panose="020B0609020204030204" pitchFamily="49" charset="0"/>
              </a:rPr>
              <a:t>#</a:t>
            </a:r>
            <a:endParaRPr lang="zh-CN" altLang="en-US"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Manacher</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考虑匹配的过程。</a:t>
            </a:r>
            <a:endParaRPr lang="en-US" altLang="zh-CN" dirty="0"/>
          </a:p>
          <a:p>
            <a:endParaRPr lang="en-US" altLang="zh-CN" dirty="0"/>
          </a:p>
          <a:p>
            <a:r>
              <a:rPr lang="zh-CN" altLang="en-US" dirty="0"/>
              <a:t>维护：</a:t>
            </a:r>
            <a:endParaRPr lang="en-US" altLang="zh-CN" dirty="0"/>
          </a:p>
          <a:p>
            <a:r>
              <a:rPr lang="en-US" altLang="zh-CN" dirty="0">
                <a:latin typeface="Consolas" panose="020B0609020204030204" pitchFamily="49" charset="0"/>
              </a:rPr>
              <a:t>r[]</a:t>
            </a:r>
            <a:r>
              <a:rPr lang="zh-CN" altLang="en-US" dirty="0"/>
              <a:t>：表示以当前字符为中心的最长回文半径</a:t>
            </a:r>
            <a:endParaRPr lang="en-US" altLang="zh-CN" dirty="0"/>
          </a:p>
          <a:p>
            <a:r>
              <a:rPr lang="en-US" altLang="zh-CN" dirty="0">
                <a:latin typeface="Consolas" panose="020B0609020204030204" pitchFamily="49" charset="0"/>
              </a:rPr>
              <a:t>mx</a:t>
            </a:r>
            <a:r>
              <a:rPr lang="zh-CN" altLang="en-US" dirty="0">
                <a:latin typeface="Consolas" panose="020B0609020204030204" pitchFamily="49" charset="0"/>
              </a:rPr>
              <a:t>：表示已经匹配过的最大位置</a:t>
            </a:r>
            <a:endParaRPr lang="en-US" altLang="zh-CN" dirty="0">
              <a:latin typeface="Consolas" panose="020B0609020204030204" pitchFamily="49" charset="0"/>
            </a:endParaRPr>
          </a:p>
          <a:p>
            <a:r>
              <a:rPr lang="en-US" altLang="zh-CN" dirty="0" err="1">
                <a:latin typeface="Consolas" panose="020B0609020204030204" pitchFamily="49" charset="0"/>
              </a:rPr>
              <a:t>ct</a:t>
            </a:r>
            <a:r>
              <a:rPr lang="zh-CN" altLang="en-US" dirty="0">
                <a:latin typeface="Consolas" panose="020B0609020204030204" pitchFamily="49" charset="0"/>
              </a:rPr>
              <a:t>：匹配到</a:t>
            </a:r>
            <a:r>
              <a:rPr lang="en-US" altLang="zh-CN" dirty="0">
                <a:latin typeface="Consolas" panose="020B0609020204030204" pitchFamily="49" charset="0"/>
              </a:rPr>
              <a:t>mx</a:t>
            </a:r>
            <a:r>
              <a:rPr lang="zh-CN" altLang="en-US" dirty="0">
                <a:latin typeface="Consolas" panose="020B0609020204030204" pitchFamily="49" charset="0"/>
              </a:rPr>
              <a:t>位置的回文中心</a:t>
            </a:r>
            <a:endParaRPr lang="en-US" altLang="zh-CN" dirty="0">
              <a:latin typeface="Consolas" panose="020B0609020204030204" pitchFamily="49" charset="0"/>
            </a:endParaRPr>
          </a:p>
          <a:p>
            <a:endParaRPr lang="en-US" altLang="zh-CN"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Manacher</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a:xfrm>
            <a:off x="838200" y="1825625"/>
            <a:ext cx="10515600" cy="4351338"/>
          </a:xfrm>
        </p:spPr>
        <p:txBody>
          <a:bodyPr>
            <a:normAutofit/>
          </a:bodyPr>
          <a:lstStyle/>
          <a:p>
            <a:r>
              <a:rPr lang="zh-CN" altLang="en-US" dirty="0"/>
              <a:t>考虑匹配到位置</a:t>
            </a:r>
            <a:r>
              <a:rPr lang="en-US" altLang="zh-CN" dirty="0" err="1">
                <a:latin typeface="Consolas" panose="020B0609020204030204" pitchFamily="49" charset="0"/>
              </a:rPr>
              <a:t>i</a:t>
            </a:r>
            <a:r>
              <a:rPr lang="zh-CN" altLang="en-US" dirty="0">
                <a:latin typeface="Consolas" panose="020B0609020204030204" pitchFamily="49" charset="0"/>
              </a:rPr>
              <a:t>。</a:t>
            </a:r>
            <a:endParaRPr lang="en-US" altLang="zh-CN" dirty="0">
              <a:latin typeface="Consolas" panose="020B0609020204030204" pitchFamily="49" charset="0"/>
            </a:endParaRPr>
          </a:p>
          <a:p>
            <a:r>
              <a:rPr lang="zh-CN" altLang="en-US" dirty="0">
                <a:latin typeface="Consolas" panose="020B0609020204030204" pitchFamily="49" charset="0"/>
              </a:rPr>
              <a:t>寻找到</a:t>
            </a:r>
            <a:r>
              <a:rPr lang="en-US" altLang="zh-CN" dirty="0" err="1">
                <a:latin typeface="Consolas" panose="020B0609020204030204" pitchFamily="49" charset="0"/>
              </a:rPr>
              <a:t>i</a:t>
            </a:r>
            <a:r>
              <a:rPr lang="zh-CN" altLang="en-US" dirty="0">
                <a:latin typeface="Consolas" panose="020B0609020204030204" pitchFamily="49" charset="0"/>
              </a:rPr>
              <a:t>关于</a:t>
            </a:r>
            <a:r>
              <a:rPr lang="en-US" altLang="zh-CN" dirty="0" err="1">
                <a:latin typeface="Consolas" panose="020B0609020204030204" pitchFamily="49" charset="0"/>
              </a:rPr>
              <a:t>ct</a:t>
            </a:r>
            <a:r>
              <a:rPr lang="zh-CN" altLang="en-US" dirty="0">
                <a:latin typeface="Consolas" panose="020B0609020204030204" pitchFamily="49" charset="0"/>
              </a:rPr>
              <a:t>对称的位置</a:t>
            </a:r>
            <a:r>
              <a:rPr lang="en-US" altLang="zh-CN" dirty="0">
                <a:latin typeface="Consolas" panose="020B0609020204030204" pitchFamily="49" charset="0"/>
              </a:rPr>
              <a:t>j</a:t>
            </a:r>
            <a:r>
              <a:rPr lang="zh-CN" altLang="en-US" dirty="0">
                <a:latin typeface="Consolas" panose="020B0609020204030204" pitchFamily="49" charset="0"/>
              </a:rPr>
              <a:t>。由于关于</a:t>
            </a:r>
            <a:r>
              <a:rPr lang="en-US" altLang="zh-CN" dirty="0" err="1">
                <a:latin typeface="Consolas" panose="020B0609020204030204" pitchFamily="49" charset="0"/>
              </a:rPr>
              <a:t>ct</a:t>
            </a:r>
            <a:r>
              <a:rPr lang="zh-CN" altLang="en-US" dirty="0">
                <a:latin typeface="Consolas" panose="020B0609020204030204" pitchFamily="49" charset="0"/>
              </a:rPr>
              <a:t>对称，则以</a:t>
            </a:r>
            <a:r>
              <a:rPr lang="en-US" altLang="zh-CN" dirty="0" err="1">
                <a:latin typeface="Consolas" panose="020B0609020204030204" pitchFamily="49" charset="0"/>
              </a:rPr>
              <a:t>i</a:t>
            </a:r>
            <a:r>
              <a:rPr lang="zh-CN" altLang="en-US" dirty="0">
                <a:latin typeface="Consolas" panose="020B0609020204030204" pitchFamily="49" charset="0"/>
              </a:rPr>
              <a:t>为中心</a:t>
            </a:r>
            <a:r>
              <a:rPr lang="en-US" altLang="zh-CN" dirty="0">
                <a:latin typeface="Consolas" panose="020B0609020204030204" pitchFamily="49" charset="0"/>
              </a:rPr>
              <a:t>r[j]</a:t>
            </a:r>
            <a:r>
              <a:rPr lang="zh-CN" altLang="en-US" dirty="0">
                <a:latin typeface="Consolas" panose="020B0609020204030204" pitchFamily="49" charset="0"/>
              </a:rPr>
              <a:t>长度内会有一部分已经匹配过。</a:t>
            </a:r>
            <a:endParaRPr lang="en-US" altLang="zh-CN" dirty="0">
              <a:latin typeface="Consolas" panose="020B0609020204030204" pitchFamily="49" charset="0"/>
            </a:endParaRPr>
          </a:p>
          <a:p>
            <a:r>
              <a:rPr lang="zh-CN" altLang="en-US" dirty="0">
                <a:latin typeface="Consolas" panose="020B0609020204030204" pitchFamily="49" charset="0"/>
              </a:rPr>
              <a:t>分情况讨论：</a:t>
            </a:r>
            <a:endParaRPr lang="en-US" altLang="zh-CN"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Manacher</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latin typeface="Consolas" panose="020B0609020204030204" pitchFamily="49" charset="0"/>
              </a:rPr>
              <a:t>若</a:t>
            </a:r>
            <a:r>
              <a:rPr lang="en-US" altLang="zh-CN" dirty="0" err="1">
                <a:latin typeface="Consolas" panose="020B0609020204030204" pitchFamily="49" charset="0"/>
              </a:rPr>
              <a:t>i+r</a:t>
            </a:r>
            <a:r>
              <a:rPr lang="en-US" altLang="zh-CN" dirty="0">
                <a:latin typeface="Consolas" panose="020B0609020204030204" pitchFamily="49" charset="0"/>
              </a:rPr>
              <a:t>[j]&lt;=mx</a:t>
            </a:r>
            <a:endParaRPr lang="en-US" altLang="zh-CN" dirty="0">
              <a:latin typeface="Consolas" panose="020B0609020204030204" pitchFamily="49" charset="0"/>
            </a:endParaRPr>
          </a:p>
          <a:p>
            <a:endParaRPr lang="en-US" altLang="zh-CN" dirty="0">
              <a:latin typeface="Consolas" panose="020B0609020204030204" pitchFamily="49" charset="0"/>
            </a:endParaRPr>
          </a:p>
          <a:p>
            <a:endParaRPr lang="en-US" altLang="zh-CN" dirty="0">
              <a:latin typeface="Consolas" panose="020B0609020204030204" pitchFamily="49" charset="0"/>
            </a:endParaRPr>
          </a:p>
          <a:p>
            <a:endParaRPr lang="en-US" altLang="zh-CN" dirty="0">
              <a:latin typeface="Consolas" panose="020B0609020204030204" pitchFamily="49" charset="0"/>
            </a:endParaRPr>
          </a:p>
          <a:p>
            <a:r>
              <a:rPr lang="zh-CN" altLang="en-US" dirty="0">
                <a:latin typeface="Consolas" panose="020B0609020204030204" pitchFamily="49" charset="0"/>
              </a:rPr>
              <a:t>红</a:t>
            </a:r>
            <a:r>
              <a:rPr lang="en-US" altLang="zh-CN" dirty="0">
                <a:latin typeface="Consolas" panose="020B0609020204030204" pitchFamily="49" charset="0"/>
              </a:rPr>
              <a:t>/</a:t>
            </a:r>
            <a:r>
              <a:rPr lang="zh-CN" altLang="en-US" dirty="0">
                <a:latin typeface="Consolas" panose="020B0609020204030204" pitchFamily="49" charset="0"/>
              </a:rPr>
              <a:t>黄的线均代表回文串。由于</a:t>
            </a:r>
            <a:r>
              <a:rPr lang="en-US" altLang="zh-CN" dirty="0" err="1">
                <a:latin typeface="Consolas" panose="020B0609020204030204" pitchFamily="49" charset="0"/>
              </a:rPr>
              <a:t>i</a:t>
            </a:r>
            <a:r>
              <a:rPr lang="zh-CN" altLang="en-US" dirty="0">
                <a:latin typeface="Consolas" panose="020B0609020204030204" pitchFamily="49" charset="0"/>
              </a:rPr>
              <a:t>与</a:t>
            </a:r>
            <a:r>
              <a:rPr lang="en-US" altLang="zh-CN" dirty="0">
                <a:latin typeface="Consolas" panose="020B0609020204030204" pitchFamily="49" charset="0"/>
              </a:rPr>
              <a:t>j</a:t>
            </a:r>
            <a:r>
              <a:rPr lang="zh-CN" altLang="en-US" dirty="0">
                <a:latin typeface="Consolas" panose="020B0609020204030204" pitchFamily="49" charset="0"/>
              </a:rPr>
              <a:t>关于</a:t>
            </a:r>
            <a:r>
              <a:rPr lang="en-US" altLang="zh-CN" dirty="0" err="1">
                <a:latin typeface="Consolas" panose="020B0609020204030204" pitchFamily="49" charset="0"/>
              </a:rPr>
              <a:t>ct</a:t>
            </a:r>
            <a:r>
              <a:rPr lang="zh-CN" altLang="en-US" dirty="0">
                <a:latin typeface="Consolas" panose="020B0609020204030204" pitchFamily="49" charset="0"/>
              </a:rPr>
              <a:t>对称，两条红色线段也对称，且</a:t>
            </a:r>
            <a:r>
              <a:rPr lang="en-US" altLang="zh-CN" dirty="0" err="1">
                <a:latin typeface="Consolas" panose="020B0609020204030204" pitchFamily="49" charset="0"/>
              </a:rPr>
              <a:t>i</a:t>
            </a:r>
            <a:r>
              <a:rPr lang="zh-CN" altLang="en-US" dirty="0">
                <a:latin typeface="Consolas" panose="020B0609020204030204" pitchFamily="49" charset="0"/>
              </a:rPr>
              <a:t>从红色线段后开始一定不可以继续匹配，故</a:t>
            </a:r>
            <a:r>
              <a:rPr lang="en-US" altLang="zh-CN" dirty="0">
                <a:latin typeface="Consolas" panose="020B0609020204030204" pitchFamily="49" charset="0"/>
              </a:rPr>
              <a:t>r[</a:t>
            </a:r>
            <a:r>
              <a:rPr lang="en-US" altLang="zh-CN" dirty="0" err="1">
                <a:latin typeface="Consolas" panose="020B0609020204030204" pitchFamily="49" charset="0"/>
              </a:rPr>
              <a:t>i</a:t>
            </a:r>
            <a:r>
              <a:rPr lang="en-US" altLang="zh-CN" dirty="0">
                <a:latin typeface="Consolas" panose="020B0609020204030204" pitchFamily="49" charset="0"/>
              </a:rPr>
              <a:t>]=r[j]</a:t>
            </a:r>
            <a:r>
              <a:rPr lang="zh-CN" altLang="en-US" dirty="0">
                <a:latin typeface="Consolas" panose="020B0609020204030204" pitchFamily="49" charset="0"/>
              </a:rPr>
              <a:t>。</a:t>
            </a:r>
            <a:endParaRPr lang="en-US" altLang="zh-CN" dirty="0">
              <a:latin typeface="Consolas" panose="020B0609020204030204" pitchFamily="49" charset="0"/>
            </a:endParaRPr>
          </a:p>
          <a:p>
            <a:endParaRPr lang="zh-CN" altLang="en-US" dirty="0"/>
          </a:p>
        </p:txBody>
      </p:sp>
      <p:grpSp>
        <p:nvGrpSpPr>
          <p:cNvPr id="20" name="组合 19"/>
          <p:cNvGrpSpPr/>
          <p:nvPr/>
        </p:nvGrpSpPr>
        <p:grpSpPr>
          <a:xfrm>
            <a:off x="2313709" y="2509548"/>
            <a:ext cx="7564582" cy="1312039"/>
            <a:chOff x="2313709" y="2509548"/>
            <a:chExt cx="7564582" cy="1312039"/>
          </a:xfrm>
        </p:grpSpPr>
        <p:cxnSp>
          <p:nvCxnSpPr>
            <p:cNvPr id="4" name="直接连接符 3"/>
            <p:cNvCxnSpPr/>
            <p:nvPr/>
          </p:nvCxnSpPr>
          <p:spPr>
            <a:xfrm>
              <a:off x="2313709" y="3131116"/>
              <a:ext cx="7564582"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箭头: 下 4"/>
            <p:cNvSpPr/>
            <p:nvPr/>
          </p:nvSpPr>
          <p:spPr>
            <a:xfrm>
              <a:off x="7928264" y="2878880"/>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772400" y="2509548"/>
              <a:ext cx="512618" cy="369332"/>
            </a:xfrm>
            <a:prstGeom prst="rect">
              <a:avLst/>
            </a:prstGeom>
            <a:noFill/>
          </p:spPr>
          <p:txBody>
            <a:bodyPr wrap="square" rtlCol="0">
              <a:spAutoFit/>
            </a:bodyPr>
            <a:lstStyle/>
            <a:p>
              <a:r>
                <a:rPr lang="en-US" altLang="zh-CN" dirty="0">
                  <a:latin typeface="Consolas" panose="020B0609020204030204" pitchFamily="49" charset="0"/>
                </a:rPr>
                <a:t>mx</a:t>
              </a:r>
              <a:endParaRPr lang="zh-CN" altLang="en-US" dirty="0">
                <a:latin typeface="Consolas" panose="020B0609020204030204" pitchFamily="49" charset="0"/>
              </a:endParaRPr>
            </a:p>
          </p:txBody>
        </p:sp>
        <p:sp>
          <p:nvSpPr>
            <p:cNvPr id="7" name="文本框 6"/>
            <p:cNvSpPr txBox="1"/>
            <p:nvPr/>
          </p:nvSpPr>
          <p:spPr>
            <a:xfrm>
              <a:off x="2313709" y="2694214"/>
              <a:ext cx="332509" cy="369332"/>
            </a:xfrm>
            <a:prstGeom prst="rect">
              <a:avLst/>
            </a:prstGeom>
            <a:noFill/>
          </p:spPr>
          <p:txBody>
            <a:bodyPr wrap="square" rtlCol="0">
              <a:spAutoFit/>
            </a:bodyPr>
            <a:lstStyle/>
            <a:p>
              <a:r>
                <a:rPr lang="en-US" altLang="zh-CN" dirty="0">
                  <a:latin typeface="Consolas" panose="020B0609020204030204" pitchFamily="49" charset="0"/>
                </a:rPr>
                <a:t>$</a:t>
              </a:r>
              <a:endParaRPr lang="zh-CN" altLang="en-US" dirty="0">
                <a:latin typeface="Consolas" panose="020B0609020204030204" pitchFamily="49" charset="0"/>
              </a:endParaRPr>
            </a:p>
          </p:txBody>
        </p:sp>
        <p:sp>
          <p:nvSpPr>
            <p:cNvPr id="8" name="箭头: 下 7"/>
            <p:cNvSpPr/>
            <p:nvPr/>
          </p:nvSpPr>
          <p:spPr>
            <a:xfrm>
              <a:off x="5462155" y="2883109"/>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320145" y="2509548"/>
              <a:ext cx="512618" cy="369332"/>
            </a:xfrm>
            <a:prstGeom prst="rect">
              <a:avLst/>
            </a:prstGeom>
            <a:noFill/>
          </p:spPr>
          <p:txBody>
            <a:bodyPr wrap="square" rtlCol="0">
              <a:spAutoFit/>
            </a:bodyPr>
            <a:lstStyle/>
            <a:p>
              <a:r>
                <a:rPr lang="en-US" altLang="zh-CN" dirty="0" err="1">
                  <a:latin typeface="Consolas" panose="020B0609020204030204" pitchFamily="49" charset="0"/>
                </a:rPr>
                <a:t>ct</a:t>
              </a:r>
              <a:endParaRPr lang="zh-CN" altLang="en-US" dirty="0">
                <a:latin typeface="Consolas" panose="020B0609020204030204" pitchFamily="49" charset="0"/>
              </a:endParaRPr>
            </a:p>
          </p:txBody>
        </p:sp>
        <p:sp>
          <p:nvSpPr>
            <p:cNvPr id="10" name="箭头: 下 9"/>
            <p:cNvSpPr/>
            <p:nvPr/>
          </p:nvSpPr>
          <p:spPr>
            <a:xfrm>
              <a:off x="6982690" y="2878880"/>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908222" y="2509548"/>
              <a:ext cx="512618" cy="369332"/>
            </a:xfrm>
            <a:prstGeom prst="rect">
              <a:avLst/>
            </a:prstGeom>
            <a:noFill/>
          </p:spPr>
          <p:txBody>
            <a:bodyPr wrap="square" rtlCol="0">
              <a:spAutoFit/>
            </a:bodyPr>
            <a:lstStyle/>
            <a:p>
              <a:r>
                <a:rPr lang="en-US" altLang="zh-CN" dirty="0" err="1">
                  <a:latin typeface="Consolas" panose="020B0609020204030204" pitchFamily="49" charset="0"/>
                </a:rPr>
                <a:t>i</a:t>
              </a:r>
              <a:endParaRPr lang="zh-CN" altLang="en-US" dirty="0">
                <a:latin typeface="Consolas" panose="020B0609020204030204" pitchFamily="49" charset="0"/>
              </a:endParaRPr>
            </a:p>
          </p:txBody>
        </p:sp>
        <p:sp>
          <p:nvSpPr>
            <p:cNvPr id="12" name="箭头: 下 11"/>
            <p:cNvSpPr/>
            <p:nvPr/>
          </p:nvSpPr>
          <p:spPr>
            <a:xfrm>
              <a:off x="4021282" y="2878880"/>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946813" y="2514239"/>
              <a:ext cx="512618" cy="369332"/>
            </a:xfrm>
            <a:prstGeom prst="rect">
              <a:avLst/>
            </a:prstGeom>
            <a:noFill/>
          </p:spPr>
          <p:txBody>
            <a:bodyPr wrap="square" rtlCol="0">
              <a:spAutoFit/>
            </a:bodyPr>
            <a:lstStyle/>
            <a:p>
              <a:r>
                <a:rPr lang="en-US" altLang="zh-CN" dirty="0">
                  <a:latin typeface="Consolas" panose="020B0609020204030204" pitchFamily="49" charset="0"/>
                </a:rPr>
                <a:t>j</a:t>
              </a:r>
              <a:endParaRPr lang="zh-CN" altLang="en-US" dirty="0">
                <a:latin typeface="Consolas" panose="020B0609020204030204" pitchFamily="49" charset="0"/>
              </a:endParaRPr>
            </a:p>
          </p:txBody>
        </p:sp>
        <p:cxnSp>
          <p:nvCxnSpPr>
            <p:cNvPr id="14" name="直接连接符 13"/>
            <p:cNvCxnSpPr/>
            <p:nvPr/>
          </p:nvCxnSpPr>
          <p:spPr>
            <a:xfrm>
              <a:off x="6499513" y="3452255"/>
              <a:ext cx="107372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直接连接符 14"/>
            <p:cNvCxnSpPr/>
            <p:nvPr/>
          </p:nvCxnSpPr>
          <p:spPr>
            <a:xfrm>
              <a:off x="3531179" y="3452255"/>
              <a:ext cx="1073725"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箭头: 下 15"/>
            <p:cNvSpPr/>
            <p:nvPr/>
          </p:nvSpPr>
          <p:spPr>
            <a:xfrm rot="10800000">
              <a:off x="3984914" y="3518855"/>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4203122" y="3452255"/>
              <a:ext cx="512618" cy="369332"/>
            </a:xfrm>
            <a:prstGeom prst="rect">
              <a:avLst/>
            </a:prstGeom>
            <a:noFill/>
          </p:spPr>
          <p:txBody>
            <a:bodyPr wrap="square" rtlCol="0">
              <a:spAutoFit/>
            </a:bodyPr>
            <a:lstStyle/>
            <a:p>
              <a:r>
                <a:rPr lang="en-US" altLang="zh-CN" dirty="0">
                  <a:latin typeface="Consolas" panose="020B0609020204030204" pitchFamily="49" charset="0"/>
                </a:rPr>
                <a:t>r</a:t>
              </a:r>
              <a:endParaRPr lang="zh-CN" altLang="en-US" dirty="0">
                <a:latin typeface="Consolas" panose="020B0609020204030204" pitchFamily="49" charset="0"/>
              </a:endParaRPr>
            </a:p>
          </p:txBody>
        </p:sp>
        <p:sp>
          <p:nvSpPr>
            <p:cNvPr id="18" name="箭头: 下 17"/>
            <p:cNvSpPr/>
            <p:nvPr/>
          </p:nvSpPr>
          <p:spPr>
            <a:xfrm rot="10800000">
              <a:off x="4521777" y="3518855"/>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flipH="1">
              <a:off x="3075709" y="3297382"/>
              <a:ext cx="5018809" cy="0"/>
            </a:xfrm>
            <a:prstGeom prst="line">
              <a:avLst/>
            </a:prstGeom>
          </p:spPr>
          <p:style>
            <a:lnRef idx="1">
              <a:schemeClr val="accent4"/>
            </a:lnRef>
            <a:fillRef idx="0">
              <a:schemeClr val="accent4"/>
            </a:fillRef>
            <a:effectRef idx="0">
              <a:schemeClr val="accent4"/>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5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苹方 常规" panose="020B0300000000000000" charset="-122"/>
                <a:ea typeface="苹方 常规" panose="020B0300000000000000" charset="-122"/>
              </a:rPr>
              <a:t>Manacher</a:t>
            </a:r>
            <a:endParaRPr lang="zh-CN" altLang="en-US" dirty="0">
              <a:latin typeface="苹方 常规" panose="020B0300000000000000" charset="-122"/>
              <a:ea typeface="苹方 常规" panose="020B0300000000000000" charset="-122"/>
            </a:endParaRPr>
          </a:p>
        </p:txBody>
      </p:sp>
      <p:sp>
        <p:nvSpPr>
          <p:cNvPr id="3" name="内容占位符 2"/>
          <p:cNvSpPr>
            <a:spLocks noGrp="1"/>
          </p:cNvSpPr>
          <p:nvPr>
            <p:ph idx="1"/>
          </p:nvPr>
        </p:nvSpPr>
        <p:spPr/>
        <p:txBody>
          <a:bodyPr/>
          <a:lstStyle/>
          <a:p>
            <a:r>
              <a:rPr lang="zh-CN" altLang="en-US" dirty="0"/>
              <a:t>若</a:t>
            </a:r>
            <a:r>
              <a:rPr lang="en-US" altLang="zh-CN" dirty="0" err="1">
                <a:latin typeface="Consolas" panose="020B0609020204030204" pitchFamily="49" charset="0"/>
              </a:rPr>
              <a:t>i+r</a:t>
            </a:r>
            <a:r>
              <a:rPr lang="en-US" altLang="zh-CN" dirty="0">
                <a:latin typeface="Consolas" panose="020B0609020204030204" pitchFamily="49" charset="0"/>
              </a:rPr>
              <a:t>[j]&gt;mx</a:t>
            </a:r>
            <a:endParaRPr lang="en-US" altLang="zh-CN" dirty="0">
              <a:latin typeface="Consolas" panose="020B0609020204030204" pitchFamily="49" charset="0"/>
            </a:endParaRPr>
          </a:p>
          <a:p>
            <a:endParaRPr lang="en-US" altLang="zh-CN" dirty="0">
              <a:latin typeface="Consolas" panose="020B0609020204030204" pitchFamily="49" charset="0"/>
            </a:endParaRPr>
          </a:p>
          <a:p>
            <a:endParaRPr lang="en-US" altLang="zh-CN" dirty="0">
              <a:latin typeface="Consolas" panose="020B0609020204030204" pitchFamily="49" charset="0"/>
            </a:endParaRPr>
          </a:p>
          <a:p>
            <a:endParaRPr lang="en-US" altLang="zh-CN" dirty="0">
              <a:latin typeface="Consolas" panose="020B0609020204030204" pitchFamily="49" charset="0"/>
            </a:endParaRPr>
          </a:p>
          <a:p>
            <a:r>
              <a:rPr lang="zh-CN" altLang="en-US" dirty="0">
                <a:latin typeface="Consolas" panose="020B0609020204030204" pitchFamily="49" charset="0"/>
              </a:rPr>
              <a:t>尽管</a:t>
            </a:r>
            <a:r>
              <a:rPr lang="en-US" altLang="zh-CN" dirty="0" err="1">
                <a:latin typeface="Consolas" panose="020B0609020204030204" pitchFamily="49" charset="0"/>
              </a:rPr>
              <a:t>i</a:t>
            </a:r>
            <a:r>
              <a:rPr lang="zh-CN" altLang="en-US" dirty="0">
                <a:latin typeface="Consolas" panose="020B0609020204030204" pitchFamily="49" charset="0"/>
              </a:rPr>
              <a:t>与</a:t>
            </a:r>
            <a:r>
              <a:rPr lang="en-US" altLang="zh-CN" dirty="0">
                <a:latin typeface="Consolas" panose="020B0609020204030204" pitchFamily="49" charset="0"/>
              </a:rPr>
              <a:t>j</a:t>
            </a:r>
            <a:r>
              <a:rPr lang="zh-CN" altLang="en-US" dirty="0">
                <a:latin typeface="Consolas" panose="020B0609020204030204" pitchFamily="49" charset="0"/>
              </a:rPr>
              <a:t>关于</a:t>
            </a:r>
            <a:r>
              <a:rPr lang="en-US" altLang="zh-CN" dirty="0" err="1">
                <a:latin typeface="Consolas" panose="020B0609020204030204" pitchFamily="49" charset="0"/>
              </a:rPr>
              <a:t>ct</a:t>
            </a:r>
            <a:r>
              <a:rPr lang="zh-CN" altLang="en-US" dirty="0">
                <a:latin typeface="Consolas" panose="020B0609020204030204" pitchFamily="49" charset="0"/>
              </a:rPr>
              <a:t>对称，但在以</a:t>
            </a:r>
            <a:r>
              <a:rPr lang="en-US" altLang="zh-CN" dirty="0" err="1">
                <a:latin typeface="Consolas" panose="020B0609020204030204" pitchFamily="49" charset="0"/>
              </a:rPr>
              <a:t>ct</a:t>
            </a:r>
            <a:r>
              <a:rPr lang="zh-CN" altLang="en-US" dirty="0">
                <a:latin typeface="Consolas" panose="020B0609020204030204" pitchFamily="49" charset="0"/>
              </a:rPr>
              <a:t>为中心的回文串中</a:t>
            </a:r>
            <a:r>
              <a:rPr lang="en-US" altLang="zh-CN" dirty="0">
                <a:latin typeface="Consolas" panose="020B0609020204030204" pitchFamily="49" charset="0"/>
              </a:rPr>
              <a:t>mx</a:t>
            </a:r>
            <a:r>
              <a:rPr lang="zh-CN" altLang="en-US" dirty="0">
                <a:latin typeface="Consolas" panose="020B0609020204030204" pitchFamily="49" charset="0"/>
              </a:rPr>
              <a:t>后面的位置并没有被匹配到，不能确定红色线段在</a:t>
            </a:r>
            <a:r>
              <a:rPr lang="en-US" altLang="zh-CN" dirty="0">
                <a:latin typeface="Consolas" panose="020B0609020204030204" pitchFamily="49" charset="0"/>
              </a:rPr>
              <a:t>mx</a:t>
            </a:r>
            <a:r>
              <a:rPr lang="zh-CN" altLang="en-US" dirty="0">
                <a:latin typeface="Consolas" panose="020B0609020204030204" pitchFamily="49" charset="0"/>
              </a:rPr>
              <a:t>后面的位置是否仍以</a:t>
            </a:r>
            <a:r>
              <a:rPr lang="en-US" altLang="zh-CN" dirty="0" err="1">
                <a:latin typeface="Consolas" panose="020B0609020204030204" pitchFamily="49" charset="0"/>
              </a:rPr>
              <a:t>i</a:t>
            </a:r>
            <a:r>
              <a:rPr lang="zh-CN" altLang="en-US" dirty="0">
                <a:latin typeface="Consolas" panose="020B0609020204030204" pitchFamily="49" charset="0"/>
              </a:rPr>
              <a:t>为中心回文。</a:t>
            </a:r>
            <a:endParaRPr lang="en-US" altLang="zh-CN" dirty="0">
              <a:latin typeface="Consolas" panose="020B0609020204030204" pitchFamily="49" charset="0"/>
            </a:endParaRPr>
          </a:p>
          <a:p>
            <a:r>
              <a:rPr lang="zh-CN" altLang="en-US" dirty="0">
                <a:latin typeface="Consolas" panose="020B0609020204030204" pitchFamily="49" charset="0"/>
              </a:rPr>
              <a:t>此时将</a:t>
            </a:r>
            <a:r>
              <a:rPr lang="en-US" altLang="zh-CN" dirty="0">
                <a:latin typeface="Consolas" panose="020B0609020204030204" pitchFamily="49" charset="0"/>
              </a:rPr>
              <a:t>r[</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设为</a:t>
            </a:r>
            <a:r>
              <a:rPr lang="en-US" altLang="zh-CN" dirty="0">
                <a:latin typeface="Consolas" panose="020B0609020204030204" pitchFamily="49" charset="0"/>
              </a:rPr>
              <a:t>mx-</a:t>
            </a:r>
            <a:r>
              <a:rPr lang="en-US" altLang="zh-CN" dirty="0" err="1">
                <a:latin typeface="Consolas" panose="020B0609020204030204" pitchFamily="49" charset="0"/>
              </a:rPr>
              <a:t>i</a:t>
            </a:r>
            <a:r>
              <a:rPr lang="zh-CN" altLang="en-US" dirty="0">
                <a:latin typeface="Consolas" panose="020B0609020204030204" pitchFamily="49" charset="0"/>
              </a:rPr>
              <a:t>，然后从</a:t>
            </a:r>
            <a:r>
              <a:rPr lang="en-US" altLang="zh-CN" dirty="0">
                <a:latin typeface="Consolas" panose="020B0609020204030204" pitchFamily="49" charset="0"/>
              </a:rPr>
              <a:t>mx</a:t>
            </a:r>
            <a:r>
              <a:rPr lang="zh-CN" altLang="en-US" dirty="0">
                <a:latin typeface="Consolas" panose="020B0609020204030204" pitchFamily="49" charset="0"/>
              </a:rPr>
              <a:t>开始继续匹配，更新</a:t>
            </a:r>
            <a:r>
              <a:rPr lang="en-US" altLang="zh-CN" dirty="0">
                <a:latin typeface="Consolas" panose="020B0609020204030204" pitchFamily="49" charset="0"/>
              </a:rPr>
              <a:t>r[</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，并更新</a:t>
            </a:r>
            <a:r>
              <a:rPr lang="en-US" altLang="zh-CN" dirty="0">
                <a:latin typeface="Consolas" panose="020B0609020204030204" pitchFamily="49" charset="0"/>
              </a:rPr>
              <a:t>mx</a:t>
            </a:r>
            <a:r>
              <a:rPr lang="zh-CN" altLang="en-US" dirty="0">
                <a:latin typeface="Consolas" panose="020B0609020204030204" pitchFamily="49" charset="0"/>
              </a:rPr>
              <a:t>为</a:t>
            </a:r>
            <a:r>
              <a:rPr lang="en-US" altLang="zh-CN" dirty="0" err="1">
                <a:latin typeface="Consolas" panose="020B0609020204030204" pitchFamily="49" charset="0"/>
              </a:rPr>
              <a:t>i+r</a:t>
            </a:r>
            <a:r>
              <a:rPr lang="en-US" altLang="zh-CN" dirty="0">
                <a:latin typeface="Consolas" panose="020B0609020204030204" pitchFamily="49" charset="0"/>
              </a:rPr>
              <a:t>[</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a:t>
            </a:r>
            <a:r>
              <a:rPr lang="en-US" altLang="zh-CN" dirty="0" err="1">
                <a:latin typeface="Consolas" panose="020B0609020204030204" pitchFamily="49" charset="0"/>
              </a:rPr>
              <a:t>ct</a:t>
            </a:r>
            <a:r>
              <a:rPr lang="zh-CN" altLang="en-US" dirty="0">
                <a:latin typeface="Consolas" panose="020B0609020204030204" pitchFamily="49" charset="0"/>
              </a:rPr>
              <a:t>为</a:t>
            </a:r>
            <a:r>
              <a:rPr lang="en-US" altLang="zh-CN" dirty="0" err="1">
                <a:latin typeface="Consolas" panose="020B0609020204030204" pitchFamily="49" charset="0"/>
              </a:rPr>
              <a:t>i</a:t>
            </a:r>
            <a:r>
              <a:rPr lang="zh-CN" altLang="en-US" dirty="0">
                <a:latin typeface="Consolas" panose="020B0609020204030204" pitchFamily="49" charset="0"/>
              </a:rPr>
              <a:t>。</a:t>
            </a:r>
            <a:endParaRPr lang="zh-CN" altLang="en-US" dirty="0">
              <a:latin typeface="Consolas" panose="020B0609020204030204" pitchFamily="49" charset="0"/>
            </a:endParaRPr>
          </a:p>
        </p:txBody>
      </p:sp>
      <p:grpSp>
        <p:nvGrpSpPr>
          <p:cNvPr id="23" name="组合 22"/>
          <p:cNvGrpSpPr/>
          <p:nvPr/>
        </p:nvGrpSpPr>
        <p:grpSpPr>
          <a:xfrm>
            <a:off x="2313709" y="2509548"/>
            <a:ext cx="7564582" cy="1286306"/>
            <a:chOff x="2313709" y="2509548"/>
            <a:chExt cx="7564582" cy="1286306"/>
          </a:xfrm>
        </p:grpSpPr>
        <p:cxnSp>
          <p:nvCxnSpPr>
            <p:cNvPr id="4" name="直接连接符 3"/>
            <p:cNvCxnSpPr/>
            <p:nvPr/>
          </p:nvCxnSpPr>
          <p:spPr>
            <a:xfrm>
              <a:off x="2313709" y="3131116"/>
              <a:ext cx="7564582"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箭头: 下 4"/>
            <p:cNvSpPr/>
            <p:nvPr/>
          </p:nvSpPr>
          <p:spPr>
            <a:xfrm>
              <a:off x="7928264" y="2878880"/>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772400" y="2509548"/>
              <a:ext cx="512618" cy="369332"/>
            </a:xfrm>
            <a:prstGeom prst="rect">
              <a:avLst/>
            </a:prstGeom>
            <a:noFill/>
          </p:spPr>
          <p:txBody>
            <a:bodyPr wrap="square" rtlCol="0">
              <a:spAutoFit/>
            </a:bodyPr>
            <a:lstStyle/>
            <a:p>
              <a:r>
                <a:rPr lang="en-US" altLang="zh-CN" dirty="0">
                  <a:latin typeface="Consolas" panose="020B0609020204030204" pitchFamily="49" charset="0"/>
                </a:rPr>
                <a:t>mx</a:t>
              </a:r>
              <a:endParaRPr lang="zh-CN" altLang="en-US" dirty="0">
                <a:latin typeface="Consolas" panose="020B0609020204030204" pitchFamily="49" charset="0"/>
              </a:endParaRPr>
            </a:p>
          </p:txBody>
        </p:sp>
        <p:sp>
          <p:nvSpPr>
            <p:cNvPr id="7" name="文本框 6"/>
            <p:cNvSpPr txBox="1"/>
            <p:nvPr/>
          </p:nvSpPr>
          <p:spPr>
            <a:xfrm>
              <a:off x="2313709" y="2694214"/>
              <a:ext cx="332509" cy="369332"/>
            </a:xfrm>
            <a:prstGeom prst="rect">
              <a:avLst/>
            </a:prstGeom>
            <a:noFill/>
          </p:spPr>
          <p:txBody>
            <a:bodyPr wrap="square" rtlCol="0">
              <a:spAutoFit/>
            </a:bodyPr>
            <a:lstStyle/>
            <a:p>
              <a:r>
                <a:rPr lang="en-US" altLang="zh-CN" dirty="0">
                  <a:latin typeface="Consolas" panose="020B0609020204030204" pitchFamily="49" charset="0"/>
                </a:rPr>
                <a:t>$</a:t>
              </a:r>
              <a:endParaRPr lang="zh-CN" altLang="en-US" dirty="0">
                <a:latin typeface="Consolas" panose="020B0609020204030204" pitchFamily="49" charset="0"/>
              </a:endParaRPr>
            </a:p>
          </p:txBody>
        </p:sp>
        <p:sp>
          <p:nvSpPr>
            <p:cNvPr id="8" name="箭头: 下 7"/>
            <p:cNvSpPr/>
            <p:nvPr/>
          </p:nvSpPr>
          <p:spPr>
            <a:xfrm>
              <a:off x="5462155" y="2883109"/>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320145" y="2509548"/>
              <a:ext cx="512618" cy="369332"/>
            </a:xfrm>
            <a:prstGeom prst="rect">
              <a:avLst/>
            </a:prstGeom>
            <a:noFill/>
          </p:spPr>
          <p:txBody>
            <a:bodyPr wrap="square" rtlCol="0">
              <a:spAutoFit/>
            </a:bodyPr>
            <a:lstStyle/>
            <a:p>
              <a:r>
                <a:rPr lang="en-US" altLang="zh-CN" dirty="0" err="1">
                  <a:latin typeface="Consolas" panose="020B0609020204030204" pitchFamily="49" charset="0"/>
                </a:rPr>
                <a:t>ct</a:t>
              </a:r>
              <a:endParaRPr lang="zh-CN" altLang="en-US" dirty="0">
                <a:latin typeface="Consolas" panose="020B0609020204030204" pitchFamily="49" charset="0"/>
              </a:endParaRPr>
            </a:p>
          </p:txBody>
        </p:sp>
        <p:sp>
          <p:nvSpPr>
            <p:cNvPr id="10" name="箭头: 下 9"/>
            <p:cNvSpPr/>
            <p:nvPr/>
          </p:nvSpPr>
          <p:spPr>
            <a:xfrm>
              <a:off x="6982690" y="2878880"/>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908222" y="2509548"/>
              <a:ext cx="512618" cy="369332"/>
            </a:xfrm>
            <a:prstGeom prst="rect">
              <a:avLst/>
            </a:prstGeom>
            <a:noFill/>
          </p:spPr>
          <p:txBody>
            <a:bodyPr wrap="square" rtlCol="0">
              <a:spAutoFit/>
            </a:bodyPr>
            <a:lstStyle/>
            <a:p>
              <a:r>
                <a:rPr lang="en-US" altLang="zh-CN" dirty="0" err="1">
                  <a:latin typeface="Consolas" panose="020B0609020204030204" pitchFamily="49" charset="0"/>
                </a:rPr>
                <a:t>i</a:t>
              </a:r>
              <a:endParaRPr lang="zh-CN" altLang="en-US" dirty="0">
                <a:latin typeface="Consolas" panose="020B0609020204030204" pitchFamily="49" charset="0"/>
              </a:endParaRPr>
            </a:p>
          </p:txBody>
        </p:sp>
        <p:sp>
          <p:nvSpPr>
            <p:cNvPr id="12" name="箭头: 下 11"/>
            <p:cNvSpPr/>
            <p:nvPr/>
          </p:nvSpPr>
          <p:spPr>
            <a:xfrm>
              <a:off x="4021282" y="2878880"/>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946813" y="2514239"/>
              <a:ext cx="512618" cy="369332"/>
            </a:xfrm>
            <a:prstGeom prst="rect">
              <a:avLst/>
            </a:prstGeom>
            <a:noFill/>
          </p:spPr>
          <p:txBody>
            <a:bodyPr wrap="square" rtlCol="0">
              <a:spAutoFit/>
            </a:bodyPr>
            <a:lstStyle/>
            <a:p>
              <a:r>
                <a:rPr lang="en-US" altLang="zh-CN" dirty="0">
                  <a:latin typeface="Consolas" panose="020B0609020204030204" pitchFamily="49" charset="0"/>
                </a:rPr>
                <a:t>j</a:t>
              </a:r>
              <a:endParaRPr lang="zh-CN" altLang="en-US" dirty="0">
                <a:latin typeface="Consolas" panose="020B0609020204030204" pitchFamily="49" charset="0"/>
              </a:endParaRPr>
            </a:p>
          </p:txBody>
        </p:sp>
        <p:cxnSp>
          <p:nvCxnSpPr>
            <p:cNvPr id="14" name="直接连接符 13"/>
            <p:cNvCxnSpPr/>
            <p:nvPr/>
          </p:nvCxnSpPr>
          <p:spPr>
            <a:xfrm>
              <a:off x="6012873" y="3452255"/>
              <a:ext cx="2272145"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箭头: 下 15"/>
            <p:cNvSpPr/>
            <p:nvPr/>
          </p:nvSpPr>
          <p:spPr>
            <a:xfrm rot="10800000">
              <a:off x="3984914" y="3518855"/>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4464627" y="3426522"/>
              <a:ext cx="512618" cy="369332"/>
            </a:xfrm>
            <a:prstGeom prst="rect">
              <a:avLst/>
            </a:prstGeom>
            <a:noFill/>
          </p:spPr>
          <p:txBody>
            <a:bodyPr wrap="square" rtlCol="0">
              <a:spAutoFit/>
            </a:bodyPr>
            <a:lstStyle/>
            <a:p>
              <a:r>
                <a:rPr lang="en-US" altLang="zh-CN" dirty="0">
                  <a:latin typeface="Consolas" panose="020B0609020204030204" pitchFamily="49" charset="0"/>
                </a:rPr>
                <a:t>r</a:t>
              </a:r>
              <a:endParaRPr lang="zh-CN" altLang="en-US" dirty="0">
                <a:latin typeface="Consolas" panose="020B0609020204030204" pitchFamily="49" charset="0"/>
              </a:endParaRPr>
            </a:p>
          </p:txBody>
        </p:sp>
        <p:sp>
          <p:nvSpPr>
            <p:cNvPr id="18" name="箭头: 下 17"/>
            <p:cNvSpPr/>
            <p:nvPr/>
          </p:nvSpPr>
          <p:spPr>
            <a:xfrm rot="10800000">
              <a:off x="5074227" y="3518855"/>
              <a:ext cx="166254" cy="1846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flipH="1">
              <a:off x="3075709" y="3297382"/>
              <a:ext cx="5018809" cy="0"/>
            </a:xfrm>
            <a:prstGeom prst="line">
              <a:avLst/>
            </a:prstGeom>
          </p:spPr>
          <p:style>
            <a:lnRef idx="1">
              <a:schemeClr val="accent4"/>
            </a:lnRef>
            <a:fillRef idx="0">
              <a:schemeClr val="accent4"/>
            </a:fillRef>
            <a:effectRef idx="0">
              <a:schemeClr val="accent4"/>
            </a:effectRef>
            <a:fontRef idx="minor">
              <a:schemeClr val="tx1"/>
            </a:fontRef>
          </p:style>
        </p:cxnSp>
        <p:cxnSp>
          <p:nvCxnSpPr>
            <p:cNvPr id="22" name="直接连接符 21"/>
            <p:cNvCxnSpPr/>
            <p:nvPr/>
          </p:nvCxnSpPr>
          <p:spPr>
            <a:xfrm>
              <a:off x="2885209" y="3452055"/>
              <a:ext cx="2272145" cy="0"/>
            </a:xfrm>
            <a:prstGeom prst="line">
              <a:avLst/>
            </a:prstGeom>
          </p:spPr>
          <p:style>
            <a:lnRef idx="1">
              <a:schemeClr val="accent2"/>
            </a:lnRef>
            <a:fillRef idx="0">
              <a:schemeClr val="accent2"/>
            </a:fillRef>
            <a:effectRef idx="0">
              <a:schemeClr val="accent2"/>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复杂度</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由于每次更新</a:t>
                </a:r>
                <a:r>
                  <a:rPr lang="en-US" altLang="zh-CN" dirty="0">
                    <a:latin typeface="Consolas" panose="020B0609020204030204" pitchFamily="49" charset="0"/>
                  </a:rPr>
                  <a:t>r[</a:t>
                </a:r>
                <a:r>
                  <a:rPr lang="en-US" altLang="zh-CN" dirty="0" err="1">
                    <a:latin typeface="Consolas" panose="020B0609020204030204" pitchFamily="49" charset="0"/>
                  </a:rPr>
                  <a:t>i</a:t>
                </a:r>
                <a:r>
                  <a:rPr lang="en-US" altLang="zh-CN" dirty="0">
                    <a:latin typeface="Consolas" panose="020B0609020204030204" pitchFamily="49" charset="0"/>
                  </a:rPr>
                  <a:t>]</a:t>
                </a:r>
                <a:r>
                  <a:rPr lang="zh-CN" altLang="en-US" dirty="0">
                    <a:latin typeface="Consolas" panose="020B0609020204030204" pitchFamily="49" charset="0"/>
                  </a:rPr>
                  <a:t>只需要直接赋值或匹配，而每次匹配开始的位置是不降的，所以总时间复杂度为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latin typeface="Consolas" panose="020B0609020204030204" pitchFamily="49" charset="0"/>
                  </a:rPr>
                  <a:t>。</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r="-174"/>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BZOJ3790 </a:t>
            </a:r>
            <a:r>
              <a:rPr lang="zh-CN" altLang="en-US" dirty="0">
                <a:latin typeface="苹方 常规" panose="020B0300000000000000" charset="-122"/>
                <a:ea typeface="苹方 常规" panose="020B0300000000000000" charset="-122"/>
              </a:rPr>
              <a:t>神奇项链</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有一种机器可以生成所有形式的回文串。</a:t>
                </a:r>
                <a:endParaRPr lang="en-US" altLang="zh-CN" dirty="0"/>
              </a:p>
              <a:p>
                <a:r>
                  <a:rPr lang="zh-CN" altLang="en-US" dirty="0"/>
                  <a:t>另一种机器可以把两个回文串连接起来，且可以将前一个串的后缀和后一个串的相同前缀合并。</a:t>
                </a:r>
                <a:endParaRPr lang="en-US" altLang="zh-CN" dirty="0"/>
              </a:p>
              <a:p>
                <a:r>
                  <a:rPr lang="zh-CN" altLang="en-US" dirty="0"/>
                  <a:t>给出目标字符串，求最少用多少次第二种机器。</a:t>
                </a:r>
                <a:endParaRPr lang="en-US" altLang="zh-CN" dirty="0"/>
              </a:p>
              <a:p>
                <a14:m>
                  <m:oMath xmlns:m="http://schemas.openxmlformats.org/officeDocument/2006/math">
                    <m:r>
                      <a:rPr lang="en-US" altLang="zh-CN" b="0" i="1" smtClean="0">
                        <a:latin typeface="Cambria Math" panose="02040503050406030204" pitchFamily="18" charset="0"/>
                      </a:rPr>
                      <m:t>𝑇</m:t>
                    </m:r>
                    <m:r>
                      <a:rPr lang="en-US" altLang="zh-CN" b="0" i="1" smtClean="0">
                        <a:latin typeface="Cambria Math" panose="02040503050406030204" pitchFamily="18" charset="0"/>
                      </a:rPr>
                      <m:t>≤5,</m:t>
                    </m:r>
                    <m:r>
                      <a:rPr lang="en-US" altLang="zh-CN" b="0" i="1" smtClean="0">
                        <a:latin typeface="Cambria Math" panose="02040503050406030204" pitchFamily="18" charset="0"/>
                      </a:rPr>
                      <m:t>𝑛</m:t>
                    </m:r>
                    <m:r>
                      <a:rPr lang="en-US" altLang="zh-CN" b="0" i="1" smtClean="0">
                        <a:latin typeface="Cambria Math" panose="02040503050406030204" pitchFamily="18" charset="0"/>
                      </a:rPr>
                      <m:t>≤100000</m:t>
                    </m:r>
                  </m:oMath>
                </a14:m>
                <a:endParaRPr lang="en-US" altLang="zh-CN" b="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52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苹方 常规" panose="020B0300000000000000" charset="-122"/>
                <a:ea typeface="苹方 常规" panose="020B0300000000000000" charset="-122"/>
              </a:rPr>
              <a:t>HDU5677 </a:t>
            </a:r>
            <a:r>
              <a:rPr lang="en-US" altLang="zh-CN" dirty="0" err="1">
                <a:latin typeface="苹方 常规" panose="020B0300000000000000" charset="-122"/>
                <a:ea typeface="苹方 常规" panose="020B0300000000000000" charset="-122"/>
              </a:rPr>
              <a:t>ztr</a:t>
            </a:r>
            <a:r>
              <a:rPr lang="en-US" altLang="zh-CN" dirty="0">
                <a:latin typeface="苹方 常规" panose="020B0300000000000000" charset="-122"/>
                <a:ea typeface="苹方 常规" panose="020B0300000000000000" charset="-122"/>
              </a:rPr>
              <a:t> loves substring</a:t>
            </a:r>
            <a:endParaRPr lang="zh-CN" altLang="en-US" dirty="0">
              <a:latin typeface="苹方 常规" panose="020B0300000000000000" charset="-122"/>
              <a:ea typeface="苹方 常规" panose="020B0300000000000000"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a:t>
                </a:r>
                <a14:m>
                  <m:oMath xmlns:m="http://schemas.openxmlformats.org/officeDocument/2006/math">
                    <m:r>
                      <a:rPr lang="en-US" altLang="zh-CN" b="0" i="1" smtClean="0">
                        <a:latin typeface="Cambria Math" panose="02040503050406030204" pitchFamily="18" charset="0"/>
                      </a:rPr>
                      <m:t>𝑛</m:t>
                    </m:r>
                  </m:oMath>
                </a14:m>
                <a:r>
                  <a:rPr lang="zh-CN" altLang="en-US" dirty="0"/>
                  <a:t>个字符串，求是否可以取出串的</a:t>
                </a:r>
                <a14:m>
                  <m:oMath xmlns:m="http://schemas.openxmlformats.org/officeDocument/2006/math">
                    <m:r>
                      <a:rPr lang="en-US" altLang="zh-CN" b="0" i="1" smtClean="0">
                        <a:latin typeface="Cambria Math" panose="02040503050406030204" pitchFamily="18" charset="0"/>
                      </a:rPr>
                      <m:t>𝑘</m:t>
                    </m:r>
                  </m:oMath>
                </a14:m>
                <a:r>
                  <a:rPr lang="zh-CN" altLang="en-US" dirty="0"/>
                  <a:t>个回文子串使其总长度为</a:t>
                </a:r>
                <a14:m>
                  <m:oMath xmlns:m="http://schemas.openxmlformats.org/officeDocument/2006/math">
                    <m:r>
                      <a:rPr lang="en-US" altLang="zh-CN" b="0" i="1" smtClean="0">
                        <a:latin typeface="Cambria Math" panose="02040503050406030204" pitchFamily="18" charset="0"/>
                      </a:rPr>
                      <m:t>𝑙</m:t>
                    </m:r>
                  </m:oMath>
                </a14:m>
                <a:r>
                  <a:rPr lang="zh-CN" altLang="en-US" dirty="0"/>
                  <a:t>。</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≤100,</m:t>
                    </m:r>
                    <m:r>
                      <a:rPr lang="en-US" altLang="zh-CN" b="0" i="1" smtClean="0">
                        <a:latin typeface="Cambria Math" panose="02040503050406030204" pitchFamily="18" charset="0"/>
                      </a:rPr>
                      <m:t>𝑘</m:t>
                    </m:r>
                    <m:r>
                      <a:rPr lang="en-US" altLang="zh-CN" b="0" i="1" smtClean="0">
                        <a:latin typeface="Cambria Math" panose="02040503050406030204" pitchFamily="18" charset="0"/>
                      </a:rPr>
                      <m:t>≤100,</m:t>
                    </m:r>
                    <m:r>
                      <a:rPr lang="en-US" altLang="zh-CN" b="0" i="1" smtClean="0">
                        <a:latin typeface="Cambria Math" panose="02040503050406030204" pitchFamily="18" charset="0"/>
                      </a:rPr>
                      <m:t>𝑙</m:t>
                    </m:r>
                    <m:r>
                      <a:rPr lang="en-US" altLang="zh-CN" b="0" i="1" smtClean="0">
                        <a:latin typeface="Cambria Math" panose="02040503050406030204" pitchFamily="18" charset="0"/>
                      </a:rPr>
                      <m:t>≤100</m:t>
                    </m:r>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r="-116"/>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18676" y="2967335"/>
            <a:ext cx="2954655" cy="923330"/>
          </a:xfrm>
          <a:prstGeom prst="rect">
            <a:avLst/>
          </a:prstGeom>
          <a:noFill/>
        </p:spPr>
        <p:txBody>
          <a:bodyPr wrap="none" lIns="91440" tIns="45720" rIns="91440" bIns="45720">
            <a:spAutoFit/>
          </a:bodyPr>
          <a:lstStyle/>
          <a:p>
            <a:pPr algn="ctr"/>
            <a:r>
              <a:rPr lang="zh-CN" altLang="en-US" sz="5400" b="0" cap="none" spc="0" dirty="0">
                <a:ln w="0"/>
                <a:solidFill>
                  <a:schemeClr val="tx1"/>
                </a:solidFill>
                <a:effectLst>
                  <a:outerShdw blurRad="38100" dist="19050" dir="2700000" algn="tl" rotWithShape="0">
                    <a:schemeClr val="dk1">
                      <a:alpha val="40000"/>
                    </a:schemeClr>
                  </a:outerShdw>
                </a:effectLst>
              </a:rPr>
              <a:t>后缀数组</a:t>
            </a:r>
            <a:endParaRPr lang="zh-CN" altLang="en-US" sz="5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endParaRPr lang="zh-CN" altLang="en-US" dirty="0"/>
          </a:p>
        </p:txBody>
      </p:sp>
      <p:sp>
        <p:nvSpPr>
          <p:cNvPr id="3" name="内容占位符 2"/>
          <p:cNvSpPr>
            <a:spLocks noGrp="1"/>
          </p:cNvSpPr>
          <p:nvPr>
            <p:ph idx="1"/>
          </p:nvPr>
        </p:nvSpPr>
        <p:spPr/>
        <p:txBody>
          <a:bodyPr/>
          <a:lstStyle/>
          <a:p>
            <a:pPr marL="0" indent="0">
              <a:buNone/>
            </a:pPr>
            <a:r>
              <a:rPr lang="en-US" altLang="zh-CN" dirty="0">
                <a:latin typeface="苹方 常规" panose="020B0300000000000000" charset="-122"/>
                <a:ea typeface="苹方 常规" panose="020B0300000000000000" charset="-122"/>
                <a:hlinkClick r:id="rId1"/>
              </a:rPr>
              <a:t>http://ferric.cf/blog/index.php/archives/10/</a:t>
            </a:r>
            <a:endParaRPr lang="en-US" altLang="zh-CN" dirty="0">
              <a:latin typeface="苹方 常规" panose="020B0300000000000000" charset="-122"/>
              <a:ea typeface="苹方 常规" panose="020B0300000000000000"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预备知识</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A6BCD4ED-4543-4A18-9A10-C6C45DD30E9D}"/>
                  </a:ext>
                </a:extLst>
              </p:cNvPr>
              <p:cNvSpPr>
                <a:spLocks noGrp="1"/>
              </p:cNvSpPr>
              <p:nvPr>
                <p:ph idx="1"/>
              </p:nvPr>
            </p:nvSpPr>
            <p:spPr/>
            <p:txBody>
              <a:bodyPr/>
              <a:lstStyle/>
              <a:p>
                <a:r>
                  <a:rPr lang="zh-CN" altLang="en-US" dirty="0"/>
                  <a:t>后缀：对于长为</a:t>
                </a:r>
                <a14:m>
                  <m:oMath xmlns:m="http://schemas.openxmlformats.org/officeDocument/2006/math">
                    <m:r>
                      <a:rPr lang="en-US" altLang="zh-CN" i="1" dirty="0" smtClean="0">
                        <a:latin typeface="Cambria Math" panose="02040503050406030204" pitchFamily="18" charset="0"/>
                      </a:rPr>
                      <m:t>𝑙</m:t>
                    </m:r>
                  </m:oMath>
                </a14:m>
                <a:r>
                  <a:rPr lang="zh-CN" altLang="en-US" dirty="0"/>
                  <a:t>的字符串</a:t>
                </a:r>
                <a14:m>
                  <m:oMath xmlns:m="http://schemas.openxmlformats.org/officeDocument/2006/math">
                    <m:r>
                      <a:rPr lang="en-US" altLang="zh-CN" i="1" dirty="0" smtClean="0">
                        <a:latin typeface="Cambria Math" panose="02040503050406030204" pitchFamily="18" charset="0"/>
                      </a:rPr>
                      <m:t>𝑠</m:t>
                    </m:r>
                  </m:oMath>
                </a14:m>
                <a:r>
                  <a:rPr lang="zh-CN" altLang="en-US" dirty="0"/>
                  <a:t>，定义其后缀</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表示</a:t>
                </a:r>
                <a14:m>
                  <m:oMath xmlns:m="http://schemas.openxmlformats.org/officeDocument/2006/math">
                    <m:r>
                      <a:rPr lang="en-US" altLang="zh-CN" i="1" dirty="0" smtClean="0">
                        <a:latin typeface="Cambria Math" panose="02040503050406030204" pitchFamily="18" charset="0"/>
                      </a:rPr>
                      <m:t>𝑠</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r>
                      <a:rPr lang="en-US" altLang="zh-CN" i="1" dirty="0">
                        <a:latin typeface="Cambria Math" panose="02040503050406030204" pitchFamily="18" charset="0"/>
                      </a:rPr>
                      <m:t>𝑙</m:t>
                    </m:r>
                    <m:r>
                      <a:rPr lang="en-US" altLang="zh-CN" i="1" dirty="0" smtClean="0">
                        <a:latin typeface="Cambria Math" panose="02040503050406030204" pitchFamily="18" charset="0"/>
                      </a:rPr>
                      <m:t>]</m:t>
                    </m:r>
                  </m:oMath>
                </a14:m>
                <a:r>
                  <a:rPr lang="en-US" altLang="zh-CN" dirty="0"/>
                  <a:t> </a:t>
                </a:r>
                <a:r>
                  <a:rPr lang="zh-CN" altLang="en-US" dirty="0"/>
                  <a:t>。（都知道吧</a:t>
                </a:r>
                <a:r>
                  <a:rPr lang="en-US" altLang="zh-CN" dirty="0"/>
                  <a:t>……</a:t>
                </a:r>
                <a:r>
                  <a:rPr lang="zh-CN" altLang="en-US" dirty="0"/>
                  <a:t>）</a:t>
                </a:r>
              </a:p>
              <a:p>
                <a:r>
                  <a:rPr lang="zh-CN" altLang="en-US" dirty="0"/>
                  <a:t>后缀数组</a:t>
                </a:r>
                <a:r>
                  <a:rPr lang="en-US" altLang="zh-CN" dirty="0">
                    <a:latin typeface="Consolas" panose="020B0609020204030204" pitchFamily="49" charset="0"/>
                  </a:rPr>
                  <a:t>SA</a:t>
                </a:r>
                <a:r>
                  <a:rPr lang="zh-CN" altLang="en-US" dirty="0"/>
                  <a:t>：对于</a:t>
                </a:r>
                <a14:m>
                  <m:oMath xmlns:m="http://schemas.openxmlformats.org/officeDocument/2006/math">
                    <m:r>
                      <a:rPr lang="en-US" altLang="zh-CN" i="1" dirty="0" smtClean="0">
                        <a:latin typeface="Cambria Math" panose="02040503050406030204" pitchFamily="18" charset="0"/>
                      </a:rPr>
                      <m:t>𝑠</m:t>
                    </m:r>
                  </m:oMath>
                </a14:m>
                <a:r>
                  <a:rPr lang="zh-CN" altLang="en-US" dirty="0"/>
                  <a:t>的每个后缀，按照字典序将其开始位置下标存入数组中。即</a:t>
                </a:r>
                <a14:m>
                  <m:oMath xmlns:m="http://schemas.openxmlformats.org/officeDocument/2006/math">
                    <m:r>
                      <a:rPr lang="en-US" altLang="zh-CN" i="1" dirty="0" smtClean="0">
                        <a:latin typeface="Cambria Math" panose="02040503050406030204" pitchFamily="18" charset="0"/>
                      </a:rPr>
                      <m:t>∀</m:t>
                    </m:r>
                    <m:r>
                      <a:rPr lang="en-US" altLang="zh-CN" i="1" dirty="0">
                        <a:latin typeface="Cambria Math" panose="02040503050406030204" pitchFamily="18" charset="0"/>
                      </a:rPr>
                      <m:t>1</m:t>
                    </m:r>
                    <m:r>
                      <a:rPr lang="en-US" altLang="zh-CN" i="1" dirty="0" smtClean="0">
                        <a:latin typeface="Cambria Math" panose="02040503050406030204" pitchFamily="18" charset="0"/>
                      </a:rPr>
                      <m:t>≤</m:t>
                    </m:r>
                    <m:r>
                      <a:rPr lang="en-US" altLang="zh-CN" i="1" dirty="0" err="1">
                        <a:latin typeface="Cambria Math" panose="02040503050406030204" pitchFamily="18" charset="0"/>
                      </a:rPr>
                      <m:t>𝑖</m:t>
                    </m:r>
                    <m:r>
                      <a:rPr lang="en-US" altLang="zh-CN" b="0" i="1" dirty="0" smtClean="0">
                        <a:latin typeface="Cambria Math" panose="02040503050406030204" pitchFamily="18" charset="0"/>
                      </a:rPr>
                      <m:t>&lt;</m:t>
                    </m:r>
                    <m:r>
                      <a:rPr lang="en-US" altLang="zh-CN" i="1" dirty="0" smtClean="0">
                        <a:latin typeface="Cambria Math" panose="02040503050406030204" pitchFamily="18" charset="0"/>
                      </a:rPr>
                      <m:t>𝑛</m:t>
                    </m:r>
                  </m:oMath>
                </a14:m>
                <a:r>
                  <a:rPr lang="zh-CN" altLang="en-US" dirty="0"/>
                  <a:t>，有</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a:latin typeface="Cambria Math" panose="02040503050406030204" pitchFamily="18" charset="0"/>
                      </a:rPr>
                      <m:t>𝑆𝐴</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])&lt;</m:t>
                    </m:r>
                    <m:r>
                      <a:rPr lang="en-US" altLang="zh-CN" i="1" dirty="0" err="1">
                        <a:latin typeface="Cambria Math" panose="02040503050406030204" pitchFamily="18" charset="0"/>
                      </a:rPr>
                      <m:t>𝑠𝑢𝑓</m:t>
                    </m:r>
                    <m:r>
                      <a:rPr lang="en-US" altLang="zh-CN" i="1" dirty="0">
                        <a:latin typeface="Cambria Math" panose="02040503050406030204" pitchFamily="18" charset="0"/>
                      </a:rPr>
                      <m:t>(</m:t>
                    </m:r>
                    <m:r>
                      <a:rPr lang="en-US" altLang="zh-CN" i="1" dirty="0">
                        <a:latin typeface="Cambria Math" panose="02040503050406030204" pitchFamily="18" charset="0"/>
                      </a:rPr>
                      <m:t>𝑆𝐴</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m:t>
                    </m:r>
                  </m:oMath>
                </a14:m>
                <a:r>
                  <a:rPr lang="zh-CN" altLang="en-US" dirty="0"/>
                  <a:t>。</a:t>
                </a:r>
              </a:p>
              <a:p>
                <a:r>
                  <a:rPr lang="zh-CN" altLang="en-US" dirty="0"/>
                  <a:t>名次数组</a:t>
                </a:r>
                <a:r>
                  <a:rPr lang="en-US" altLang="zh-CN" dirty="0">
                    <a:latin typeface="Consolas" panose="020B0609020204030204" pitchFamily="49" charset="0"/>
                  </a:rPr>
                  <a:t>rank</a:t>
                </a:r>
                <a:r>
                  <a:rPr lang="zh-CN" altLang="en-US" dirty="0"/>
                  <a:t>：</a:t>
                </a:r>
                <a14:m>
                  <m:oMath xmlns:m="http://schemas.openxmlformats.org/officeDocument/2006/math">
                    <m:r>
                      <a:rPr lang="en-US" altLang="zh-CN" i="1" dirty="0" smtClean="0">
                        <a:latin typeface="Cambria Math" panose="02040503050406030204" pitchFamily="18" charset="0"/>
                      </a:rPr>
                      <m:t>𝑟𝑎𝑛𝑘</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表示</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在所有后缀中的排名。</a:t>
                </a:r>
              </a:p>
              <a:p>
                <a:r>
                  <a:rPr lang="zh-CN" altLang="en-US" dirty="0"/>
                  <a:t>高度数组</a:t>
                </a:r>
                <a:r>
                  <a:rPr lang="en-US" altLang="zh-CN" dirty="0">
                    <a:latin typeface="Consolas" panose="020B0609020204030204" pitchFamily="49" charset="0"/>
                  </a:rPr>
                  <a:t>height</a:t>
                </a:r>
                <a:r>
                  <a:rPr lang="zh-CN" altLang="en-US" dirty="0"/>
                  <a:t>：</a:t>
                </a:r>
                <a14:m>
                  <m:oMath xmlns:m="http://schemas.openxmlformats.org/officeDocument/2006/math">
                    <m:r>
                      <a:rPr lang="en-US" altLang="zh-CN" i="1" dirty="0" smtClean="0">
                        <a:latin typeface="Cambria Math" panose="02040503050406030204" pitchFamily="18" charset="0"/>
                      </a:rPr>
                      <m:t>h𝑒𝑖𝑔h𝑡</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表示</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a:latin typeface="Cambria Math" panose="02040503050406030204" pitchFamily="18" charset="0"/>
                      </a:rPr>
                      <m:t>𝑆𝐴</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和</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a:latin typeface="Cambria Math" panose="02040503050406030204" pitchFamily="18" charset="0"/>
                      </a:rPr>
                      <m:t>𝑆𝐴</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m:t>
                    </m:r>
                  </m:oMath>
                </a14:m>
                <a:r>
                  <a:rPr lang="zh-CN" altLang="en-US" dirty="0"/>
                  <a:t>（排名相邻）的</a:t>
                </a:r>
                <a:r>
                  <a:rPr lang="en-US" altLang="zh-CN" dirty="0"/>
                  <a:t>LCP</a:t>
                </a:r>
                <a:r>
                  <a:rPr lang="zh-CN" altLang="en-US" dirty="0"/>
                  <a:t>（</a:t>
                </a:r>
                <a:r>
                  <a:rPr lang="en-US" altLang="zh-CN" dirty="0"/>
                  <a:t>Longest Common Prefix</a:t>
                </a:r>
                <a:r>
                  <a:rPr lang="zh-CN" altLang="en-US" dirty="0"/>
                  <a:t>，最长公共前缀）。</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r="-812"/>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栗子</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6A3EC386-FEE3-4716-AEB3-D89A0E9D22FF}"/>
                  </a:ext>
                </a:extLst>
              </p:cNvPr>
              <p:cNvSpPr>
                <a:spLocks noGrp="1"/>
              </p:cNvSpPr>
              <p:nvPr>
                <p:ph idx="1"/>
              </p:nvPr>
            </p:nvSpPr>
            <p:spPr>
              <a:xfrm>
                <a:off x="838200" y="1825625"/>
                <a:ext cx="5202382" cy="4351338"/>
              </a:xfrm>
            </p:spPr>
            <p:txBody>
              <a:bodyPr>
                <a:normAutofit fontScale="92500"/>
              </a:bodyPr>
              <a:lstStyle/>
              <a:p>
                <a:r>
                  <a:rPr lang="zh-CN" altLang="en-US" dirty="0"/>
                  <a:t>令</a:t>
                </a:r>
                <a14:m>
                  <m:oMath xmlns:m="http://schemas.openxmlformats.org/officeDocument/2006/math">
                    <m:r>
                      <a:rPr lang="en-US" altLang="zh-CN" i="1" dirty="0" smtClean="0">
                        <a:latin typeface="Cambria Math" panose="02040503050406030204" pitchFamily="18" charset="0"/>
                      </a:rPr>
                      <m:t>𝑠</m:t>
                    </m:r>
                    <m:r>
                      <a:rPr lang="en-US" altLang="zh-CN" i="1" dirty="0">
                        <a:latin typeface="Cambria Math" panose="02040503050406030204" pitchFamily="18" charset="0"/>
                      </a:rPr>
                      <m:t>=</m:t>
                    </m:r>
                    <m:r>
                      <a:rPr lang="en-US" altLang="zh-CN" i="1" dirty="0" err="1" smtClean="0">
                        <a:latin typeface="Cambria Math" panose="02040503050406030204" pitchFamily="18" charset="0"/>
                      </a:rPr>
                      <m:t>𝑎𝑏𝑏𝑏𝑎𝑏𝑏𝑐</m:t>
                    </m:r>
                  </m:oMath>
                </a14:m>
                <a:r>
                  <a:rPr lang="zh-CN" altLang="en-US" dirty="0"/>
                  <a:t>，提取其后缀：</a:t>
                </a:r>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𝑎𝑏𝑏𝑏𝑎𝑏𝑏𝑐</m:t>
                    </m:r>
                  </m:oMath>
                </a14:m>
                <a:endParaRPr lang="en-US" altLang="zh-CN" dirty="0"/>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𝑏𝑏𝑏𝑎𝑏𝑏𝑐</m:t>
                    </m:r>
                  </m:oMath>
                </a14:m>
                <a:endParaRPr lang="en-US" altLang="zh-CN" dirty="0"/>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𝑏𝑏𝑎𝑏𝑏𝑐</m:t>
                    </m:r>
                  </m:oMath>
                </a14:m>
                <a:endParaRPr lang="en-US" altLang="zh-CN" dirty="0"/>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𝑏𝑎𝑏𝑏𝑐</m:t>
                    </m:r>
                  </m:oMath>
                </a14:m>
                <a:endParaRPr lang="en-US" altLang="zh-CN" dirty="0"/>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𝑎𝑏𝑏𝑐</m:t>
                    </m:r>
                  </m:oMath>
                </a14:m>
                <a:endParaRPr lang="en-US" altLang="zh-CN" dirty="0"/>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𝑏𝑏𝑐</m:t>
                    </m:r>
                  </m:oMath>
                </a14:m>
                <a:endParaRPr lang="en-US" altLang="zh-CN" dirty="0"/>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𝑏𝑐</m:t>
                    </m:r>
                  </m:oMath>
                </a14:m>
                <a:endParaRPr lang="en-US" altLang="zh-CN" dirty="0"/>
              </a:p>
              <a:p>
                <a:pPr marL="514350" indent="-514350">
                  <a:buFont typeface="+mj-lt"/>
                  <a:buAutoNum type="arabicPeriod"/>
                </a:pPr>
                <a14:m>
                  <m:oMath xmlns:m="http://schemas.openxmlformats.org/officeDocument/2006/math">
                    <m:r>
                      <a:rPr lang="en-US" altLang="zh-CN" i="1" dirty="0" smtClean="0">
                        <a:latin typeface="Cambria Math" panose="02040503050406030204" pitchFamily="18" charset="0"/>
                      </a:rPr>
                      <m:t>𝑐</m:t>
                    </m:r>
                  </m:oMath>
                </a14:m>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200" y="1825625"/>
                <a:ext cx="5202382" cy="4351338"/>
              </a:xfrm>
              <a:blipFill rotWithShape="1">
                <a:blip r:embed="rId1"/>
                <a:stretch>
                  <a:fillRect l="-1876" t="-2101"/>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mc:Choice xmlns:a14="http://schemas.microsoft.com/office/drawing/2010/main" Requires="a14">
          <p:sp>
            <p:nvSpPr>
              <p:cNvPr id="5" name="内容占位符 2">
                <a:extLst>
                  <a:ext uri="{FF2B5EF4-FFF2-40B4-BE49-F238E27FC236}">
                    <a14:artisticCrisscrossEtching id="{BC69779D-AD67-4A44-A6D7-F81DBF15069B}"/>
                  </a:ext>
                </a:extLst>
              </p:cNvPr>
              <p:cNvSpPr txBox="1">
                <a:spLocks/>
              </p:cNvSpPr>
              <p:nvPr/>
            </p:nvSpPr>
            <p:spPr>
              <a:xfrm>
                <a:off x="6040582" y="1825625"/>
                <a:ext cx="5202382"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排序后：</a:t>
                </a:r>
                <a:endParaRPr lang="en-US" altLang="zh-CN"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smtClean="0">
                        <a:latin typeface="Cambria Math" panose="02040503050406030204" pitchFamily="18" charset="0"/>
                      </a:rPr>
                      <m:t>(1)=</m:t>
                    </m:r>
                    <m:r>
                      <a:rPr lang="zh-CN" altLang="en-US" i="1" dirty="0" smtClean="0">
                        <a:latin typeface="Cambria Math" panose="02040503050406030204" pitchFamily="18" charset="0"/>
                      </a:rPr>
                      <m:t>𝑎𝑏𝑏𝑏𝑎𝑏𝑏𝑐</m:t>
                    </m:r>
                  </m:oMath>
                </a14:m>
                <a:endParaRPr lang="zh-CN" altLang="en-US"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smtClean="0">
                        <a:latin typeface="Cambria Math" panose="02040503050406030204" pitchFamily="18" charset="0"/>
                      </a:rPr>
                      <m:t>(5)=</m:t>
                    </m:r>
                    <m:r>
                      <a:rPr lang="zh-CN" altLang="en-US" i="1" dirty="0" smtClean="0">
                        <a:latin typeface="Cambria Math" panose="02040503050406030204" pitchFamily="18" charset="0"/>
                      </a:rPr>
                      <m:t>𝑎𝑏𝑏𝑐</m:t>
                    </m:r>
                  </m:oMath>
                </a14:m>
                <a:endParaRPr lang="zh-CN" altLang="en-US"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smtClean="0">
                        <a:latin typeface="Cambria Math" panose="02040503050406030204" pitchFamily="18" charset="0"/>
                      </a:rPr>
                      <m:t>(4)=</m:t>
                    </m:r>
                    <m:r>
                      <a:rPr lang="zh-CN" altLang="en-US" i="1" dirty="0" smtClean="0">
                        <a:latin typeface="Cambria Math" panose="02040503050406030204" pitchFamily="18" charset="0"/>
                      </a:rPr>
                      <m:t>𝑏𝑎𝑏𝑏𝑐</m:t>
                    </m:r>
                  </m:oMath>
                </a14:m>
                <a:endParaRPr lang="zh-CN" altLang="en-US"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a:latin typeface="Cambria Math" panose="02040503050406030204" pitchFamily="18" charset="0"/>
                      </a:rPr>
                      <m:t>(3)=</m:t>
                    </m:r>
                    <m:r>
                      <a:rPr lang="zh-CN" altLang="en-US" i="1" dirty="0">
                        <a:latin typeface="Cambria Math" panose="02040503050406030204" pitchFamily="18" charset="0"/>
                      </a:rPr>
                      <m:t>𝑏𝑏𝑎𝑏𝑏𝑏𝑐</m:t>
                    </m:r>
                  </m:oMath>
                </a14:m>
                <a:endParaRPr lang="zh-CN" altLang="en-US"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smtClean="0">
                        <a:latin typeface="Cambria Math" panose="02040503050406030204" pitchFamily="18" charset="0"/>
                      </a:rPr>
                      <m:t>(2)=</m:t>
                    </m:r>
                    <m:r>
                      <a:rPr lang="zh-CN" altLang="en-US" i="1" dirty="0" smtClean="0">
                        <a:latin typeface="Cambria Math" panose="02040503050406030204" pitchFamily="18" charset="0"/>
                      </a:rPr>
                      <m:t>𝑏𝑏𝑏𝑎𝑏𝑏𝑐</m:t>
                    </m:r>
                  </m:oMath>
                </a14:m>
                <a:endParaRPr lang="zh-CN" altLang="en-US"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smtClean="0">
                        <a:latin typeface="Cambria Math" panose="02040503050406030204" pitchFamily="18" charset="0"/>
                      </a:rPr>
                      <m:t>(6)=</m:t>
                    </m:r>
                    <m:r>
                      <a:rPr lang="zh-CN" altLang="en-US" i="1" dirty="0" smtClean="0">
                        <a:latin typeface="Cambria Math" panose="02040503050406030204" pitchFamily="18" charset="0"/>
                      </a:rPr>
                      <m:t>𝑏𝑏𝑐</m:t>
                    </m:r>
                  </m:oMath>
                </a14:m>
                <a:endParaRPr lang="zh-CN" altLang="en-US"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smtClean="0">
                        <a:latin typeface="Cambria Math" panose="02040503050406030204" pitchFamily="18" charset="0"/>
                      </a:rPr>
                      <m:t>(7)=</m:t>
                    </m:r>
                    <m:r>
                      <a:rPr lang="zh-CN" altLang="en-US" i="1" dirty="0" smtClean="0">
                        <a:latin typeface="Cambria Math" panose="02040503050406030204" pitchFamily="18" charset="0"/>
                      </a:rPr>
                      <m:t>𝑏𝑐</m:t>
                    </m:r>
                  </m:oMath>
                </a14:m>
                <a:endParaRPr lang="zh-CN" altLang="en-US" dirty="0"/>
              </a:p>
              <a:p>
                <a:pPr marL="514350" indent="-514350">
                  <a:buFont typeface="+mj-lt"/>
                  <a:buAutoNum type="arabicPeriod"/>
                </a:pPr>
                <a14:m>
                  <m:oMath xmlns:m="http://schemas.openxmlformats.org/officeDocument/2006/math">
                    <m:r>
                      <a:rPr lang="zh-CN" altLang="en-US" i="1" dirty="0" smtClean="0">
                        <a:latin typeface="Cambria Math" panose="02040503050406030204" pitchFamily="18" charset="0"/>
                      </a:rPr>
                      <m:t>𝑠𝑢𝑓</m:t>
                    </m:r>
                    <m:r>
                      <a:rPr lang="zh-CN" altLang="en-US" i="1" dirty="0" smtClean="0">
                        <a:latin typeface="Cambria Math" panose="02040503050406030204" pitchFamily="18" charset="0"/>
                      </a:rPr>
                      <m:t>(8)=</m:t>
                    </m:r>
                    <m:r>
                      <a:rPr lang="zh-CN" altLang="en-US" i="1" dirty="0" smtClean="0">
                        <a:latin typeface="Cambria Math" panose="02040503050406030204" pitchFamily="18" charset="0"/>
                      </a:rPr>
                      <m:t>𝑐</m:t>
                    </m:r>
                  </m:oMath>
                </a14:m>
                <a:endParaRPr lang="zh-CN" altLang="en-US" dirty="0"/>
              </a:p>
              <a:p>
                <a:endParaRPr lang="zh-CN" altLang="en-US" dirty="0"/>
              </a:p>
            </p:txBody>
          </p:sp>
        </mc:Choice>
        <mc:Fallback>
          <p:sp>
            <p:nvSpPr>
              <p:cNvPr id="5" name="内容占位符 2"/>
              <p:cNvSpPr txBox="1">
                <a:spLocks noRot="1" noChangeAspect="1" noMove="1" noResize="1" noEditPoints="1" noAdjustHandles="1" noChangeArrowheads="1" noChangeShapeType="1" noTextEdit="1"/>
              </p:cNvSpPr>
              <p:nvPr/>
            </p:nvSpPr>
            <p:spPr>
              <a:xfrm>
                <a:off x="6040582" y="1825625"/>
                <a:ext cx="5202382" cy="4351338"/>
              </a:xfrm>
              <a:prstGeom prst="rect">
                <a:avLst/>
              </a:prstGeom>
              <a:blipFill rotWithShape="1">
                <a:blip r:embed="rId2"/>
                <a:stretch>
                  <a:fillRect l="-2110" t="-3221"/>
                </a:stretch>
              </a:blipFill>
            </p:spPr>
            <p:txBody>
              <a:bodyPr/>
              <a:lstStyle/>
              <a:p>
                <a:r>
                  <a:rPr lang="zh-CN" altLang="en-US">
                    <a:noFill/>
                  </a:rPr>
                  <a:t> </a:t>
                </a:r>
                <a:endParaRPr lang="zh-CN" altLang="en-US">
                  <a:noFill/>
                </a:endParaRPr>
              </a:p>
            </p:txBody>
          </p:sp>
        </mc:Fallback>
      </mc:AlternateContent>
      <p:sp>
        <p:nvSpPr>
          <p:cNvPr id="6" name="矩形 5"/>
          <p:cNvSpPr/>
          <p:nvPr/>
        </p:nvSpPr>
        <p:spPr>
          <a:xfrm>
            <a:off x="6040582" y="0"/>
            <a:ext cx="6096000" cy="1754326"/>
          </a:xfrm>
          <a:prstGeom prst="rect">
            <a:avLst/>
          </a:prstGeom>
        </p:spPr>
        <p:txBody>
          <a:bodyPr>
            <a:spAutoFit/>
          </a:bodyPr>
          <a:lstStyle/>
          <a:p>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"s"</a:t>
            </a:r>
            <a:r>
              <a:rPr lang="en-US" altLang="zh-CN" dirty="0">
                <a:solidFill>
                  <a:srgbClr val="000000"/>
                </a:solidFill>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abbbabbc</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"SA"</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5</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6</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7</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8</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"rank"</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5</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6</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7</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8</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"height"</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一点性质</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AE3B91EF-C257-4002-A338-2C9A3E4A5485}"/>
                  </a:ext>
                </a:extLst>
              </p:cNvPr>
              <p:cNvSpPr>
                <a:spLocks noGrp="1"/>
              </p:cNvSpPr>
              <p:nvPr>
                <p:ph idx="1"/>
              </p:nvPr>
            </p:nvSpPr>
            <p:spPr/>
            <p:txBody>
              <a:bodyPr>
                <a:normAutofit/>
              </a:bodyPr>
              <a:lstStyle/>
              <a:p>
                <a:r>
                  <a:rPr lang="zh-CN" altLang="en-US" dirty="0"/>
                  <a:t>后缀数组和名次数组互逆。即</a:t>
                </a:r>
                <a14:m>
                  <m:oMath xmlns:m="http://schemas.openxmlformats.org/officeDocument/2006/math">
                    <m:r>
                      <a:rPr lang="en-US" altLang="zh-CN" i="1" dirty="0" smtClean="0">
                        <a:latin typeface="Cambria Math" panose="02040503050406030204" pitchFamily="18" charset="0"/>
                      </a:rPr>
                      <m:t>𝑆𝐴</m:t>
                    </m:r>
                    <m:r>
                      <a:rPr lang="en-US" altLang="zh-CN" i="1" dirty="0">
                        <a:latin typeface="Cambria Math" panose="02040503050406030204" pitchFamily="18" charset="0"/>
                      </a:rPr>
                      <m:t>[</m:t>
                    </m:r>
                    <m:r>
                      <a:rPr lang="en-US" altLang="zh-CN" i="1" dirty="0">
                        <a:latin typeface="Cambria Math" panose="02040503050406030204" pitchFamily="18" charset="0"/>
                      </a:rPr>
                      <m:t>𝑟𝑎𝑛𝑘</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 </m:t>
                    </m:r>
                    <m:r>
                      <a:rPr lang="en-US" altLang="zh-CN" i="1" dirty="0">
                        <a:latin typeface="Cambria Math" panose="02040503050406030204" pitchFamily="18" charset="0"/>
                      </a:rPr>
                      <m:t>𝑟𝑎𝑛𝑘</m:t>
                    </m:r>
                    <m:r>
                      <a:rPr lang="en-US" altLang="zh-CN" i="1" dirty="0">
                        <a:latin typeface="Cambria Math" panose="02040503050406030204" pitchFamily="18" charset="0"/>
                      </a:rPr>
                      <m:t>[</m:t>
                    </m:r>
                    <m:r>
                      <a:rPr lang="en-US" altLang="zh-CN" i="1" dirty="0">
                        <a:latin typeface="Cambria Math" panose="02040503050406030204" pitchFamily="18" charset="0"/>
                      </a:rPr>
                      <m:t>𝑆𝐴</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m:t>
                    </m:r>
                    <m:r>
                      <a:rPr lang="en-US" altLang="zh-CN" i="1" dirty="0" err="1" smtClean="0">
                        <a:latin typeface="Cambria Math" panose="02040503050406030204" pitchFamily="18" charset="0"/>
                      </a:rPr>
                      <m:t>𝑖</m:t>
                    </m:r>
                  </m:oMath>
                </a14:m>
                <a:r>
                  <a:rPr lang="zh-CN" altLang="en-US" dirty="0"/>
                  <a:t>。</a:t>
                </a:r>
              </a:p>
              <a:p>
                <a:r>
                  <a:rPr lang="zh-CN" altLang="en-US" dirty="0"/>
                  <a:t>定义</a:t>
                </a:r>
                <a14:m>
                  <m:oMath xmlns:m="http://schemas.openxmlformats.org/officeDocument/2006/math">
                    <m:r>
                      <a:rPr lang="en-US" altLang="zh-CN" i="1" dirty="0" smtClean="0">
                        <a:latin typeface="Cambria Math" panose="02040503050406030204" pitchFamily="18" charset="0"/>
                      </a:rPr>
                      <m:t>h</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h𝑒𝑖𝑔h𝑡</m:t>
                    </m:r>
                    <m:r>
                      <a:rPr lang="en-US" altLang="zh-CN" i="1" dirty="0">
                        <a:latin typeface="Cambria Math" panose="02040503050406030204" pitchFamily="18" charset="0"/>
                      </a:rPr>
                      <m:t>[</m:t>
                    </m:r>
                    <m:r>
                      <a:rPr lang="en-US" altLang="zh-CN" i="1" dirty="0">
                        <a:latin typeface="Cambria Math" panose="02040503050406030204" pitchFamily="18" charset="0"/>
                      </a:rPr>
                      <m:t>𝑟𝑎𝑛𝑘</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，即</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和排在其前一位的</a:t>
                </a:r>
                <a:r>
                  <a:rPr lang="en-US" altLang="zh-CN" dirty="0"/>
                  <a:t>LCP</a:t>
                </a:r>
                <a:r>
                  <a:rPr lang="zh-CN" altLang="en-US" dirty="0"/>
                  <a:t>，有</a:t>
                </a:r>
              </a:p>
              <a:p>
                <a:pPr marL="0" indent="0">
                  <a:buNone/>
                </a:pPr>
                <a14:m>
                  <m:oMathPara xmlns:m="http://schemas.openxmlformats.org/officeDocument/2006/math">
                    <m:oMathParaPr>
                      <m:jc m:val="center"/>
                    </m:oMathParaPr>
                    <m:oMath xmlns:m="http://schemas.openxmlformats.org/officeDocument/2006/math">
                      <m:r>
                        <a:rPr lang="en-US" altLang="zh-CN" i="1" dirty="0" smtClean="0">
                          <a:latin typeface="Cambria Math" panose="02040503050406030204" pitchFamily="18" charset="0"/>
                        </a:rPr>
                        <m:t>h</m:t>
                      </m:r>
                      <m:d>
                        <m:dPr>
                          <m:begChr m:val="["/>
                          <m:endChr m:val="]"/>
                          <m:ctrlPr>
                            <a:rPr lang="en-US" altLang="zh-CN" i="1" dirty="0">
                              <a:latin typeface="Cambria Math" panose="02040503050406030204" pitchFamily="18" charset="0"/>
                            </a:rPr>
                          </m:ctrlPr>
                        </m:dPr>
                        <m:e>
                          <m:r>
                            <a:rPr lang="en-US" altLang="zh-CN" i="1" dirty="0">
                              <a:latin typeface="Cambria Math" panose="02040503050406030204" pitchFamily="18" charset="0"/>
                            </a:rPr>
                            <m:t>𝑖</m:t>
                          </m:r>
                          <m:r>
                            <a:rPr lang="en-US" altLang="zh-CN" i="1" dirty="0">
                              <a:latin typeface="Cambria Math" panose="02040503050406030204" pitchFamily="18" charset="0"/>
                            </a:rPr>
                            <m:t>−1</m:t>
                          </m:r>
                        </m:e>
                      </m:d>
                      <m:r>
                        <a:rPr lang="en-US" altLang="zh-CN" i="1" dirty="0">
                          <a:latin typeface="Cambria Math" panose="02040503050406030204" pitchFamily="18" charset="0"/>
                        </a:rPr>
                        <m:t>−1</m:t>
                      </m:r>
                      <m:r>
                        <a:rPr lang="en-US" altLang="zh-CN" i="1" dirty="0" smtClean="0">
                          <a:latin typeface="Cambria Math" panose="02040503050406030204" pitchFamily="18" charset="0"/>
                        </a:rPr>
                        <m:t>≤</m:t>
                      </m:r>
                      <m:r>
                        <a:rPr lang="en-US" altLang="zh-CN" i="1" dirty="0">
                          <a:latin typeface="Cambria Math" panose="02040503050406030204" pitchFamily="18" charset="0"/>
                        </a:rPr>
                        <m:t>h</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m:oMathPara>
                </a14:m>
                <a:endParaRPr lang="en-US" altLang="zh-CN" dirty="0"/>
              </a:p>
              <a:p>
                <a:r>
                  <a:rPr lang="zh-CN" altLang="en-US" dirty="0"/>
                  <a:t>证明：令</a:t>
                </a:r>
                <a14:m>
                  <m:oMath xmlns:m="http://schemas.openxmlformats.org/officeDocument/2006/math">
                    <m:r>
                      <a:rPr lang="en-US" altLang="zh-CN" i="1" dirty="0" smtClean="0">
                        <a:latin typeface="Cambria Math" panose="02040503050406030204" pitchFamily="18" charset="0"/>
                      </a:rPr>
                      <m:t>𝑘</m:t>
                    </m:r>
                    <m:r>
                      <a:rPr lang="en-US" altLang="zh-CN" i="1" dirty="0">
                        <a:latin typeface="Cambria Math" panose="02040503050406030204" pitchFamily="18" charset="0"/>
                      </a:rPr>
                      <m:t>=</m:t>
                    </m:r>
                    <m:r>
                      <a:rPr lang="en-US" altLang="zh-CN" i="1" dirty="0">
                        <a:latin typeface="Cambria Math" panose="02040503050406030204" pitchFamily="18" charset="0"/>
                      </a:rPr>
                      <m:t>𝑆𝐴</m:t>
                    </m:r>
                    <m:r>
                      <a:rPr lang="en-US" altLang="zh-CN" i="1" dirty="0">
                        <a:latin typeface="Cambria Math" panose="02040503050406030204" pitchFamily="18" charset="0"/>
                      </a:rPr>
                      <m:t>[</m:t>
                    </m:r>
                    <m:r>
                      <a:rPr lang="en-US" altLang="zh-CN" i="1" dirty="0">
                        <a:latin typeface="Cambria Math" panose="02040503050406030204" pitchFamily="18" charset="0"/>
                      </a:rPr>
                      <m:t>𝑟𝑎𝑛𝑘</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−1]−1]</m:t>
                    </m:r>
                  </m:oMath>
                </a14:m>
                <a:r>
                  <a:rPr lang="zh-CN" altLang="en-US" dirty="0"/>
                  <a:t>，即</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m:t>
                    </m:r>
                  </m:oMath>
                </a14:m>
                <a:r>
                  <a:rPr lang="zh-CN" altLang="en-US" dirty="0"/>
                  <a:t>的前一位，其</a:t>
                </a:r>
                <a:r>
                  <a:rPr lang="en-US" altLang="zh-CN" dirty="0"/>
                  <a:t>LCP</a:t>
                </a:r>
                <a:r>
                  <a:rPr lang="zh-CN" altLang="en-US" dirty="0"/>
                  <a:t>为</a:t>
                </a:r>
                <a14:m>
                  <m:oMath xmlns:m="http://schemas.openxmlformats.org/officeDocument/2006/math">
                    <m:r>
                      <a:rPr lang="en-US" altLang="zh-CN" i="1" dirty="0" smtClean="0">
                        <a:latin typeface="Cambria Math" panose="02040503050406030204" pitchFamily="18" charset="0"/>
                      </a:rPr>
                      <m:t>h</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m:t>
                    </m:r>
                  </m:oMath>
                </a14:m>
                <a:r>
                  <a:rPr lang="zh-CN" altLang="en-US" dirty="0"/>
                  <a:t>。若</a:t>
                </a:r>
                <a14:m>
                  <m:oMath xmlns:m="http://schemas.openxmlformats.org/officeDocument/2006/math">
                    <m:r>
                      <a:rPr lang="en-US" altLang="zh-CN" i="1" dirty="0" smtClean="0">
                        <a:latin typeface="Cambria Math" panose="02040503050406030204" pitchFamily="18" charset="0"/>
                      </a:rPr>
                      <m:t>h</m:t>
                    </m:r>
                    <m:d>
                      <m:dPr>
                        <m:begChr m:val="["/>
                        <m:endChr m:val="]"/>
                        <m:ctrlPr>
                          <a:rPr lang="en-US" altLang="zh-CN" i="1" dirty="0">
                            <a:latin typeface="Cambria Math" panose="02040503050406030204" pitchFamily="18" charset="0"/>
                          </a:rPr>
                        </m:ctrlPr>
                      </m:dPr>
                      <m:e>
                        <m:r>
                          <a:rPr lang="en-US" altLang="zh-CN" i="1" dirty="0">
                            <a:latin typeface="Cambria Math" panose="02040503050406030204" pitchFamily="18" charset="0"/>
                          </a:rPr>
                          <m:t>𝑖</m:t>
                        </m:r>
                        <m:r>
                          <a:rPr lang="en-US" altLang="zh-CN" i="1" dirty="0">
                            <a:latin typeface="Cambria Math" panose="02040503050406030204" pitchFamily="18" charset="0"/>
                          </a:rPr>
                          <m:t>−1</m:t>
                        </m:r>
                      </m:e>
                    </m:d>
                    <m:r>
                      <a:rPr lang="en-US" altLang="zh-CN" i="1" dirty="0" smtClean="0">
                        <a:latin typeface="Cambria Math" panose="02040503050406030204" pitchFamily="18" charset="0"/>
                      </a:rPr>
                      <m:t>≤1</m:t>
                    </m:r>
                  </m:oMath>
                </a14:m>
                <a:r>
                  <a:rPr lang="zh-CN" altLang="en-US" dirty="0"/>
                  <a:t>，上式显然成立（就是</a:t>
                </a:r>
                <a14:m>
                  <m:oMath xmlns:m="http://schemas.openxmlformats.org/officeDocument/2006/math">
                    <m:r>
                      <a:rPr lang="en-US" altLang="zh-CN" i="1" dirty="0" smtClean="0">
                        <a:latin typeface="Cambria Math" panose="02040503050406030204" pitchFamily="18" charset="0"/>
                      </a:rPr>
                      <m:t>h</m:t>
                    </m:r>
                    <m:d>
                      <m:dPr>
                        <m:begChr m:val="["/>
                        <m:endChr m:val="]"/>
                        <m:ctrlPr>
                          <a:rPr lang="en-US" altLang="zh-CN" i="1" dirty="0">
                            <a:latin typeface="Cambria Math" panose="02040503050406030204" pitchFamily="18" charset="0"/>
                          </a:rPr>
                        </m:ctrlPr>
                      </m:dPr>
                      <m:e>
                        <m:r>
                          <a:rPr lang="en-US" altLang="zh-CN" i="1" dirty="0" err="1">
                            <a:latin typeface="Cambria Math" panose="02040503050406030204" pitchFamily="18" charset="0"/>
                          </a:rPr>
                          <m:t>𝑖</m:t>
                        </m:r>
                      </m:e>
                    </m:d>
                    <m:r>
                      <a:rPr lang="en-US" altLang="zh-CN" i="1" dirty="0" smtClean="0">
                        <a:latin typeface="Cambria Math" panose="02040503050406030204" pitchFamily="18" charset="0"/>
                      </a:rPr>
                      <m:t>≥0</m:t>
                    </m:r>
                  </m:oMath>
                </a14:m>
                <a:r>
                  <a:rPr lang="zh-CN" altLang="en-US" dirty="0"/>
                  <a:t>）。否则令</a:t>
                </a:r>
                <a14:m>
                  <m:oMath xmlns:m="http://schemas.openxmlformats.org/officeDocument/2006/math">
                    <m:r>
                      <a:rPr lang="en-US" altLang="zh-CN" i="1" dirty="0" smtClean="0">
                        <a:latin typeface="Cambria Math" panose="02040503050406030204" pitchFamily="18" charset="0"/>
                      </a:rPr>
                      <m:t>𝑙</m:t>
                    </m:r>
                    <m:r>
                      <a:rPr lang="en-US" altLang="zh-CN" i="1" dirty="0">
                        <a:latin typeface="Cambria Math" panose="02040503050406030204" pitchFamily="18" charset="0"/>
                      </a:rPr>
                      <m:t>=</m:t>
                    </m:r>
                    <m:r>
                      <a:rPr lang="en-US" altLang="zh-CN" i="1" dirty="0">
                        <a:latin typeface="Cambria Math" panose="02040503050406030204" pitchFamily="18" charset="0"/>
                      </a:rPr>
                      <m:t>h</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m:t>
                    </m:r>
                  </m:oMath>
                </a14:m>
                <a:r>
                  <a:rPr lang="zh-CN" altLang="en-US" dirty="0"/>
                  <a:t>，将</a:t>
                </a:r>
                <a14:m>
                  <m:oMath xmlns:m="http://schemas.openxmlformats.org/officeDocument/2006/math">
                    <m:r>
                      <a:rPr lang="en-US" altLang="zh-CN" i="1" dirty="0" smtClean="0">
                        <a:latin typeface="Cambria Math" panose="02040503050406030204" pitchFamily="18" charset="0"/>
                      </a:rPr>
                      <m:t>𝑖</m:t>
                    </m:r>
                    <m:r>
                      <a:rPr lang="en-US" altLang="zh-CN" i="1" dirty="0" smtClean="0">
                        <a:latin typeface="Cambria Math" panose="02040503050406030204" pitchFamily="18" charset="0"/>
                      </a:rPr>
                      <m:t>−1</m:t>
                    </m:r>
                  </m:oMath>
                </a14:m>
                <a:r>
                  <a:rPr lang="zh-CN" altLang="en-US" dirty="0"/>
                  <a:t>和</a:t>
                </a:r>
                <a14:m>
                  <m:oMath xmlns:m="http://schemas.openxmlformats.org/officeDocument/2006/math">
                    <m:r>
                      <a:rPr lang="en-US" altLang="zh-CN" i="1" dirty="0" smtClean="0">
                        <a:latin typeface="Cambria Math" panose="02040503050406030204" pitchFamily="18" charset="0"/>
                      </a:rPr>
                      <m:t>𝑘</m:t>
                    </m:r>
                  </m:oMath>
                </a14:m>
                <a:r>
                  <a:rPr lang="zh-CN" altLang="en-US" dirty="0"/>
                  <a:t>都右移一位，由于</a:t>
                </a:r>
                <a14:m>
                  <m:oMath xmlns:m="http://schemas.openxmlformats.org/officeDocument/2006/math">
                    <m:r>
                      <a:rPr lang="en-US" altLang="zh-CN" i="1" dirty="0" smtClean="0">
                        <a:latin typeface="Cambria Math" panose="02040503050406030204" pitchFamily="18" charset="0"/>
                      </a:rPr>
                      <m:t>𝑠</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𝑠</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smtClean="0">
                        <a:latin typeface="Cambria Math" panose="02040503050406030204" pitchFamily="18" charset="0"/>
                      </a:rPr>
                      <m:t>]</m:t>
                    </m:r>
                  </m:oMath>
                </a14:m>
                <a:r>
                  <a:rPr lang="zh-CN" altLang="en-US" dirty="0"/>
                  <a:t>，则</a:t>
                </a:r>
                <a14:m>
                  <m:oMath xmlns:m="http://schemas.openxmlformats.org/officeDocument/2006/math">
                    <m:r>
                      <a:rPr lang="en-US" altLang="zh-CN" i="1" dirty="0" smtClean="0">
                        <a:latin typeface="Cambria Math" panose="02040503050406030204" pitchFamily="18" charset="0"/>
                      </a:rPr>
                      <m:t>𝑠𝑢𝑓</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𝑘</m:t>
                        </m:r>
                        <m:r>
                          <a:rPr lang="en-US" altLang="zh-CN" i="1" dirty="0">
                            <a:latin typeface="Cambria Math" panose="02040503050406030204" pitchFamily="18" charset="0"/>
                          </a:rPr>
                          <m:t>+1</m:t>
                        </m:r>
                      </m:e>
                    </m:d>
                    <m:r>
                      <a:rPr lang="en-US" altLang="zh-CN" b="0" i="1" dirty="0" smtClean="0">
                        <a:latin typeface="Cambria Math" panose="02040503050406030204" pitchFamily="18" charset="0"/>
                      </a:rPr>
                      <m:t>&lt;</m:t>
                    </m:r>
                    <m:r>
                      <a:rPr lang="en-US" altLang="zh-CN" i="1" dirty="0" err="1">
                        <a:latin typeface="Cambria Math" panose="02040503050406030204" pitchFamily="18" charset="0"/>
                      </a:rPr>
                      <m:t>𝑠𝑢𝑓</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，且</a:t>
                </a:r>
                <a14:m>
                  <m:oMath xmlns:m="http://schemas.openxmlformats.org/officeDocument/2006/math">
                    <m:r>
                      <a:rPr lang="en-US" altLang="zh-CN" i="1" dirty="0" smtClean="0">
                        <a:latin typeface="Cambria Math" panose="02040503050406030204" pitchFamily="18" charset="0"/>
                      </a:rPr>
                      <m:t>𝐿𝐶𝑃</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a:latin typeface="Cambria Math" panose="02040503050406030204" pitchFamily="18" charset="0"/>
                      </a:rPr>
                      <m:t>+1, </m:t>
                    </m:r>
                    <m:r>
                      <a:rPr lang="en-US" altLang="zh-CN" i="1" dirty="0" err="1">
                        <a:latin typeface="Cambria Math" panose="02040503050406030204" pitchFamily="18" charset="0"/>
                      </a:rPr>
                      <m:t>𝑖</m:t>
                    </m:r>
                    <m:r>
                      <a:rPr lang="en-US" altLang="zh-CN" i="1" dirty="0">
                        <a:latin typeface="Cambria Math" panose="02040503050406030204" pitchFamily="18" charset="0"/>
                      </a:rPr>
                      <m:t>)=</m:t>
                    </m:r>
                    <m:r>
                      <a:rPr lang="en-US" altLang="zh-CN" i="1" dirty="0" smtClean="0">
                        <a:latin typeface="Cambria Math" panose="02040503050406030204" pitchFamily="18" charset="0"/>
                      </a:rPr>
                      <m:t>𝑙</m:t>
                    </m:r>
                    <m:r>
                      <a:rPr lang="en-US" altLang="zh-CN" i="1" dirty="0" smtClean="0">
                        <a:latin typeface="Cambria Math" panose="02040503050406030204" pitchFamily="18" charset="0"/>
                      </a:rPr>
                      <m:t>−1</m:t>
                    </m:r>
                  </m:oMath>
                </a14:m>
                <a:r>
                  <a:rPr lang="zh-CN" altLang="en-US" dirty="0"/>
                  <a:t>。但有可能</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a:latin typeface="Cambria Math" panose="02040503050406030204" pitchFamily="18" charset="0"/>
                      </a:rPr>
                      <m:t>+1)</m:t>
                    </m:r>
                  </m:oMath>
                </a14:m>
                <a:r>
                  <a:rPr lang="zh-CN" altLang="en-US" dirty="0"/>
                  <a:t>和</a:t>
                </a:r>
                <a14:m>
                  <m:oMath xmlns:m="http://schemas.openxmlformats.org/officeDocument/2006/math">
                    <m:r>
                      <a:rPr lang="en-US" altLang="zh-CN" i="1" dirty="0" smtClean="0">
                        <a:latin typeface="Cambria Math" panose="02040503050406030204" pitchFamily="18" charset="0"/>
                      </a:rPr>
                      <m:t>𝑠𝑢𝑓</m:t>
                    </m:r>
                    <m:r>
                      <a:rPr lang="en-US" altLang="zh-CN" i="1" dirty="0">
                        <a:latin typeface="Cambria Math" panose="02040503050406030204" pitchFamily="18" charset="0"/>
                      </a:rPr>
                      <m:t>(</m:t>
                    </m:r>
                    <m:r>
                      <a:rPr lang="en-US" altLang="zh-CN" i="1" dirty="0" err="1">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之间还存在其他后缀，但其一定有长度为</a:t>
                </a:r>
                <a14:m>
                  <m:oMath xmlns:m="http://schemas.openxmlformats.org/officeDocument/2006/math">
                    <m:r>
                      <a:rPr lang="en-US" altLang="zh-CN" i="1" dirty="0" smtClean="0">
                        <a:latin typeface="Cambria Math" panose="02040503050406030204" pitchFamily="18" charset="0"/>
                      </a:rPr>
                      <m:t>𝑙</m:t>
                    </m:r>
                  </m:oMath>
                </a14:m>
                <a:r>
                  <a:rPr lang="zh-CN" altLang="en-US" dirty="0"/>
                  <a:t>的</a:t>
                </a:r>
                <a:r>
                  <a:rPr lang="en-US" altLang="zh-CN" dirty="0"/>
                  <a:t>LCP</a:t>
                </a:r>
                <a:r>
                  <a:rPr lang="zh-CN" altLang="en-US" dirty="0"/>
                  <a:t>，得证。</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r="-4580"/>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再举个栗子</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38200" y="1690688"/>
            <a:ext cx="5801784" cy="4351338"/>
          </a:xfrm>
        </p:spPr>
      </p:pic>
      <p:sp>
        <p:nvSpPr>
          <p:cNvPr id="6" name="内容占位符 2"/>
          <p:cNvSpPr txBox="1"/>
          <p:nvPr/>
        </p:nvSpPr>
        <p:spPr>
          <a:xfrm>
            <a:off x="6639984" y="1825625"/>
            <a:ext cx="471381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阴影部分显然一样</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怎么求</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C331A129-E760-4FA2-ACF2-5BC2C4775D60}"/>
                  </a:ext>
                </a:extLst>
              </p:cNvPr>
              <p:cNvSpPr>
                <a:spLocks noGrp="1"/>
              </p:cNvSpPr>
              <p:nvPr>
                <p:ph idx="1"/>
              </p:nvPr>
            </p:nvSpPr>
            <p:spPr>
              <a:xfrm>
                <a:off x="838199" y="1825625"/>
                <a:ext cx="6754091" cy="4351338"/>
              </a:xfrm>
            </p:spPr>
            <p:txBody>
              <a:bodyPr/>
              <a:lstStyle/>
              <a:p>
                <a:r>
                  <a:rPr lang="zh-CN" altLang="en-US" dirty="0"/>
                  <a:t>暴力思路当然是提取每个后缀比较，但每两个后缀比较的代价是</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的，显然不可以接受。</a:t>
                </a:r>
              </a:p>
              <a:p>
                <a:r>
                  <a:rPr lang="zh-CN" altLang="en-US" dirty="0"/>
                  <a:t>目前通用的算法主要有两种：倍增，</a:t>
                </a:r>
                <a:r>
                  <a:rPr lang="en-US" altLang="zh-CN" dirty="0"/>
                  <a:t>DC3</a:t>
                </a:r>
                <a:r>
                  <a:rPr lang="zh-CN" altLang="en-US" dirty="0"/>
                  <a:t>。（搜的时候貌似搜到一个国人专利？不了解</a:t>
                </a:r>
                <a:r>
                  <a:rPr lang="en-US" altLang="zh-CN" dirty="0"/>
                  <a:t>……</a:t>
                </a:r>
                <a:r>
                  <a:rPr lang="zh-CN" altLang="en-US" dirty="0"/>
                  <a:t>）（小火车提出了一种</a:t>
                </a:r>
                <a:r>
                  <a:rPr lang="en-US" altLang="zh-CN" dirty="0"/>
                  <a:t>Hash+</a:t>
                </a:r>
                <a:r>
                  <a:rPr lang="zh-CN" altLang="en-US" dirty="0"/>
                  <a:t>二分的方法</a:t>
                </a:r>
                <a:r>
                  <a:rPr lang="en-US" altLang="zh-CN" dirty="0"/>
                  <a:t>……</a:t>
                </a:r>
                <a:r>
                  <a:rPr lang="zh-CN" altLang="en-US" dirty="0"/>
                  <a:t>比较好理解</a:t>
                </a:r>
                <a:r>
                  <a:rPr lang="en-US" altLang="zh-CN" dirty="0"/>
                  <a:t>……</a:t>
                </a:r>
                <a:r>
                  <a:rPr lang="zh-CN" altLang="en-US" dirty="0"/>
                  <a:t>我还是说倍增吧）</a:t>
                </a:r>
              </a:p>
              <a:p>
                <a:r>
                  <a:rPr lang="zh-CN" altLang="en-US" dirty="0"/>
                  <a:t>看图：</a:t>
                </a:r>
                <a:endParaRPr lang="en-US" altLang="zh-CN" dirty="0"/>
              </a:p>
              <a:p>
                <a:r>
                  <a:rPr lang="zh-CN" altLang="en-US" dirty="0"/>
                  <a:t>（并不是</a:t>
                </a:r>
                <a:r>
                  <a:rPr lang="en-US" altLang="zh-CN" dirty="0"/>
                  <a:t>Claris</a:t>
                </a:r>
                <a:r>
                  <a:rPr lang="zh-CN" altLang="en-US" dirty="0"/>
                  <a:t>）</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199" y="1825625"/>
                <a:ext cx="6754091" cy="4351338"/>
              </a:xfrm>
              <a:blipFill rotWithShape="1">
                <a:blip r:embed="rId1"/>
                <a:stretch>
                  <a:fillRect l="-1534" t="-2521" r="-7130" b="-2941"/>
                </a:stretch>
              </a:blipFill>
            </p:spPr>
            <p:txBody>
              <a:bodyPr/>
              <a:lstStyle/>
              <a:p>
                <a:r>
                  <a:rPr lang="zh-CN" altLang="en-US">
                    <a:noFill/>
                  </a:rPr>
                  <a:t> </a:t>
                </a:r>
                <a:endParaRPr lang="zh-CN" altLang="en-US">
                  <a:noFill/>
                </a:endParaRPr>
              </a:p>
            </p:txBody>
          </p:sp>
        </mc:Fallback>
      </mc:AlternateContent>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4375" y="0"/>
            <a:ext cx="385762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怎么求</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46616FC4-2855-47E0-AF20-086DAC851843}"/>
                  </a:ext>
                </a:extLst>
              </p:cNvPr>
              <p:cNvSpPr>
                <a:spLocks noGrp="1"/>
              </p:cNvSpPr>
              <p:nvPr>
                <p:ph idx="1"/>
              </p:nvPr>
            </p:nvSpPr>
            <p:spPr/>
            <p:txBody>
              <a:bodyPr/>
              <a:lstStyle/>
              <a:p>
                <a:r>
                  <a:rPr lang="en-US" altLang="zh-CN" dirty="0"/>
                  <a:t>DC3</a:t>
                </a:r>
                <a:r>
                  <a:rPr lang="zh-CN" altLang="en-US" dirty="0"/>
                  <a:t>可是</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的算法啊！为啥大家都不选呢？</a:t>
                </a:r>
              </a:p>
              <a:p>
                <a:r>
                  <a:rPr lang="zh-CN" altLang="en-US" dirty="0"/>
                  <a:t>因为</a:t>
                </a:r>
                <a:r>
                  <a:rPr lang="en-US" altLang="zh-CN" dirty="0"/>
                  <a:t>DC3</a:t>
                </a:r>
                <a:r>
                  <a:rPr lang="zh-CN" altLang="en-US" dirty="0"/>
                  <a:t>用的东西比较玄学</a:t>
                </a:r>
                <a:r>
                  <a:rPr lang="en-US" altLang="zh-CN" dirty="0"/>
                  <a:t>……</a:t>
                </a:r>
                <a:r>
                  <a:rPr lang="zh-CN" altLang="en-US" dirty="0"/>
                  <a:t>据罗穗骞论文，码长要</a:t>
                </a:r>
                <a:r>
                  <a:rPr lang="en-US" altLang="zh-CN" dirty="0"/>
                  <a:t>40</a:t>
                </a:r>
                <a:r>
                  <a:rPr lang="zh-CN" altLang="en-US" dirty="0"/>
                  <a:t>行左右。不太好理解。</a:t>
                </a:r>
              </a:p>
              <a:p>
                <a:r>
                  <a:rPr lang="zh-CN" altLang="en-US" dirty="0"/>
                  <a:t>倍增虽然是</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sSub>
                      <m:sSubPr>
                        <m:ctrlPr>
                          <a:rPr lang="en-US" altLang="zh-CN" b="0" i="1" dirty="0" smtClean="0">
                            <a:latin typeface="Cambria Math" panose="02040503050406030204" pitchFamily="18" charset="0"/>
                          </a:rPr>
                        </m:ctrlPr>
                      </m:sSubPr>
                      <m:e>
                        <m:r>
                          <m:rPr>
                            <m:sty m:val="p"/>
                          </m:rPr>
                          <a:rPr lang="en-US" altLang="zh-CN" b="0" i="0" dirty="0" smtClean="0">
                            <a:latin typeface="Cambria Math" panose="02040503050406030204" pitchFamily="18" charset="0"/>
                          </a:rPr>
                          <m:t>log</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的，可是比较好理解，只要</a:t>
                </a:r>
                <a:r>
                  <a:rPr lang="en-US" altLang="zh-CN" dirty="0"/>
                  <a:t>20</a:t>
                </a:r>
                <a:r>
                  <a:rPr lang="zh-CN" altLang="en-US" dirty="0"/>
                  <a:t>行！</a:t>
                </a:r>
              </a:p>
              <a:p>
                <a:r>
                  <a:rPr lang="zh-CN" altLang="en-US" dirty="0"/>
                  <a:t>而且由于玄学的写法，带上常数</a:t>
                </a:r>
                <a:r>
                  <a:rPr lang="en-US" altLang="zh-CN" dirty="0"/>
                  <a:t>DC3</a:t>
                </a:r>
                <a:r>
                  <a:rPr lang="zh-CN" altLang="en-US" dirty="0"/>
                  <a:t>并不比倍增快多少。所以在</a:t>
                </a:r>
                <a:r>
                  <a:rPr lang="en-US" altLang="zh-CN" dirty="0"/>
                  <a:t>OI</a:t>
                </a:r>
                <a:r>
                  <a:rPr lang="zh-CN" altLang="en-US" dirty="0"/>
                  <a:t>中还是选择性价比较高的倍增法。</a:t>
                </a:r>
              </a:p>
              <a:p>
                <a:r>
                  <a:rPr lang="zh-CN" altLang="en-US" dirty="0"/>
                  <a:t>后两个？撕烤熊</a:t>
                </a:r>
                <a:r>
                  <a:rPr lang="en-US" altLang="zh-CN" dirty="0"/>
                  <a:t>.gif</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r="-464"/>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另一个预备知识</a:t>
            </a:r>
            <a:endParaRPr lang="zh-CN" altLang="en-US" dirty="0"/>
          </a:p>
        </p:txBody>
      </p:sp>
      <p:sp>
        <p:nvSpPr>
          <p:cNvPr id="3" name="内容占位符 2"/>
          <p:cNvSpPr>
            <a:spLocks noGrp="1"/>
          </p:cNvSpPr>
          <p:nvPr>
            <p:ph idx="1"/>
          </p:nvPr>
        </p:nvSpPr>
        <p:spPr/>
        <p:txBody>
          <a:bodyPr/>
          <a:lstStyle/>
          <a:p>
            <a:r>
              <a:rPr lang="zh-CN" altLang="en-US" dirty="0"/>
              <a:t>基数排序</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倍增法</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102FC738-83FC-4AF4-A35B-9A6C64C47F9C}"/>
                  </a:ext>
                </a:extLst>
              </p:cNvPr>
              <p:cNvSpPr>
                <a:spLocks noGrp="1"/>
              </p:cNvSpPr>
              <p:nvPr>
                <p:ph idx="1"/>
              </p:nvPr>
            </p:nvSpPr>
            <p:spPr/>
            <p:txBody>
              <a:bodyPr>
                <a:normAutofit fontScale="92500"/>
              </a:bodyPr>
              <a:lstStyle/>
              <a:p>
                <a:r>
                  <a:rPr lang="zh-CN" altLang="en-US" dirty="0"/>
                  <a:t>倍增法，每次对每个字符开始的长度为</a:t>
                </a:r>
                <a14:m>
                  <m:oMath xmlns:m="http://schemas.openxmlformats.org/officeDocument/2006/math">
                    <m:sSup>
                      <m:sSupPr>
                        <m:ctrlPr>
                          <a:rPr lang="en-US" altLang="zh-CN" i="1" dirty="0">
                            <a:latin typeface="Cambria Math" panose="02040503050406030204" pitchFamily="18" charset="0"/>
                          </a:rPr>
                        </m:ctrlPr>
                      </m:sSupPr>
                      <m:e>
                        <m:r>
                          <a:rPr lang="en-US" altLang="zh-CN" i="1" dirty="0" smtClean="0">
                            <a:latin typeface="Cambria Math" panose="02040503050406030204" pitchFamily="18" charset="0"/>
                          </a:rPr>
                          <m:t>2</m:t>
                        </m:r>
                      </m:e>
                      <m:sup>
                        <m:r>
                          <a:rPr lang="en-US" altLang="zh-CN" i="1" dirty="0" smtClean="0">
                            <a:latin typeface="Cambria Math" panose="02040503050406030204" pitchFamily="18" charset="0"/>
                          </a:rPr>
                          <m:t>𝑘</m:t>
                        </m:r>
                      </m:sup>
                    </m:sSup>
                  </m:oMath>
                </a14:m>
                <a:r>
                  <a:rPr lang="zh-CN" altLang="en-US" dirty="0"/>
                  <a:t>的子串进行排序。默认字符串后方补</a:t>
                </a:r>
                <a14:m>
                  <m:oMath xmlns:m="http://schemas.openxmlformats.org/officeDocument/2006/math">
                    <m:r>
                      <a:rPr lang="en-US" altLang="zh-CN" i="1" dirty="0" smtClean="0">
                        <a:latin typeface="Cambria Math" panose="02040503050406030204" pitchFamily="18" charset="0"/>
                      </a:rPr>
                      <m:t>0</m:t>
                    </m:r>
                  </m:oMath>
                </a14:m>
                <a:r>
                  <a:rPr lang="zh-CN" altLang="en-US" dirty="0"/>
                  <a:t>（和字典序定义相同，小于串中任意元素）。当</a:t>
                </a:r>
                <a14:m>
                  <m:oMath xmlns:m="http://schemas.openxmlformats.org/officeDocument/2006/math">
                    <m:sSup>
                      <m:sSupPr>
                        <m:ctrlPr>
                          <a:rPr lang="en-US" altLang="zh-CN" i="1" dirty="0">
                            <a:latin typeface="Cambria Math" panose="02040503050406030204" pitchFamily="18" charset="0"/>
                          </a:rPr>
                        </m:ctrlPr>
                      </m:sSupPr>
                      <m:e>
                        <m:r>
                          <a:rPr lang="en-US" altLang="zh-CN" i="1" dirty="0" smtClean="0">
                            <a:latin typeface="Cambria Math" panose="02040503050406030204" pitchFamily="18" charset="0"/>
                          </a:rPr>
                          <m:t>2</m:t>
                        </m:r>
                      </m:e>
                      <m:sup>
                        <m:r>
                          <a:rPr lang="en-US" altLang="zh-CN" i="1" dirty="0">
                            <a:latin typeface="Cambria Math" panose="02040503050406030204" pitchFamily="18" charset="0"/>
                          </a:rPr>
                          <m:t>𝑘</m:t>
                        </m:r>
                      </m:sup>
                    </m:sSup>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oMath>
                </a14:m>
                <a:r>
                  <a:rPr lang="zh-CN" altLang="en-US" dirty="0"/>
                  <a:t>时，每个字符开始长为</a:t>
                </a:r>
                <a14:m>
                  <m:oMath xmlns:m="http://schemas.openxmlformats.org/officeDocument/2006/math">
                    <m:sSup>
                      <m:sSupPr>
                        <m:ctrlPr>
                          <a:rPr lang="en-US" altLang="zh-CN" i="1" dirty="0">
                            <a:latin typeface="Cambria Math" panose="02040503050406030204" pitchFamily="18" charset="0"/>
                          </a:rPr>
                        </m:ctrlPr>
                      </m:sSupPr>
                      <m:e>
                        <m:r>
                          <a:rPr lang="en-US" altLang="zh-CN" i="1" dirty="0" smtClean="0">
                            <a:latin typeface="Cambria Math" panose="02040503050406030204" pitchFamily="18" charset="0"/>
                          </a:rPr>
                          <m:t>2</m:t>
                        </m:r>
                      </m:e>
                      <m:sup>
                        <m:r>
                          <a:rPr lang="en-US" altLang="zh-CN" i="1" dirty="0" smtClean="0">
                            <a:latin typeface="Cambria Math" panose="02040503050406030204" pitchFamily="18" charset="0"/>
                          </a:rPr>
                          <m:t>𝑘</m:t>
                        </m:r>
                      </m:sup>
                    </m:sSup>
                  </m:oMath>
                </a14:m>
                <a:r>
                  <a:rPr lang="zh-CN" altLang="en-US" dirty="0"/>
                  <a:t>的子串的排名就相当于该字母开始后缀的排名。</a:t>
                </a:r>
              </a:p>
              <a:p>
                <a:r>
                  <a:rPr lang="zh-CN" altLang="en-US" dirty="0"/>
                  <a:t>为什么要这么做呢？每次比较串长最后还是会到</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啊，算上快排什么的</a:t>
                </a:r>
                <a:r>
                  <a:rPr lang="en-US" altLang="zh-CN" dirty="0"/>
                  <a:t>……</a:t>
                </a:r>
              </a:p>
              <a:p>
                <a:r>
                  <a:rPr lang="zh-CN" altLang="en-US" dirty="0"/>
                  <a:t>这就是为什么要提到基数排序。由于每次比较的串长是上一次的</a:t>
                </a:r>
                <a14:m>
                  <m:oMath xmlns:m="http://schemas.openxmlformats.org/officeDocument/2006/math">
                    <m:r>
                      <a:rPr lang="en-US" altLang="zh-CN" i="1" dirty="0" smtClean="0">
                        <a:latin typeface="Cambria Math" panose="02040503050406030204" pitchFamily="18" charset="0"/>
                      </a:rPr>
                      <m:t>2</m:t>
                    </m:r>
                  </m:oMath>
                </a14:m>
                <a:r>
                  <a:rPr lang="zh-CN" altLang="en-US" dirty="0"/>
                  <a:t>倍，可以将每个字符开始的长为</a:t>
                </a:r>
                <a14:m>
                  <m:oMath xmlns:m="http://schemas.openxmlformats.org/officeDocument/2006/math">
                    <m:sSup>
                      <m:sSupPr>
                        <m:ctrlPr>
                          <a:rPr lang="en-US" altLang="zh-CN" i="1" dirty="0">
                            <a:latin typeface="Cambria Math" panose="02040503050406030204" pitchFamily="18" charset="0"/>
                          </a:rPr>
                        </m:ctrlPr>
                      </m:sSupPr>
                      <m:e>
                        <m:r>
                          <a:rPr lang="en-US" altLang="zh-CN" i="1" dirty="0" smtClean="0">
                            <a:latin typeface="Cambria Math" panose="02040503050406030204" pitchFamily="18" charset="0"/>
                          </a:rPr>
                          <m:t>2</m:t>
                        </m:r>
                      </m:e>
                      <m:sup>
                        <m:r>
                          <a:rPr lang="en-US" altLang="zh-CN" i="1" dirty="0" smtClean="0">
                            <a:latin typeface="Cambria Math" panose="02040503050406030204" pitchFamily="18" charset="0"/>
                          </a:rPr>
                          <m:t>𝑘</m:t>
                        </m:r>
                      </m:sup>
                    </m:sSup>
                  </m:oMath>
                </a14:m>
                <a:r>
                  <a:rPr lang="zh-CN" altLang="en-US" dirty="0"/>
                  <a:t>的子串当成两个长为</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p>
                    </m:sSup>
                  </m:oMath>
                </a14:m>
                <a:r>
                  <a:rPr lang="zh-CN" altLang="en-US" dirty="0"/>
                  <a:t>的子串的二元组，按照基数排序的方法需要先排第二项，而每个二元组的第二项已经在上一层中排好顺序了，所以只要对于二元组第一项再做一次</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的基数排序，即可得到这一层的排序。每次字符串长度倍增，总共有</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0" dirty="0">
                            <a:latin typeface="Cambria Math" panose="02040503050406030204" pitchFamily="18" charset="0"/>
                          </a:rPr>
                          <m:t>log</m:t>
                        </m:r>
                      </m:e>
                      <m:sub>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𝑛</m:t>
                    </m:r>
                  </m:oMath>
                </a14:m>
                <a:r>
                  <a:rPr lang="zh-CN" altLang="en-US" dirty="0"/>
                  <a:t>层，总时间复杂度</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sSub>
                      <m:sSubPr>
                        <m:ctrlPr>
                          <a:rPr lang="en-US" altLang="zh-CN" i="1" dirty="0">
                            <a:latin typeface="Cambria Math" panose="02040503050406030204" pitchFamily="18" charset="0"/>
                          </a:rPr>
                        </m:ctrlPr>
                      </m:sSubPr>
                      <m:e>
                        <m:r>
                          <m:rPr>
                            <m:sty m:val="p"/>
                          </m:rPr>
                          <a:rPr lang="en-US" altLang="zh-CN" i="0" dirty="0">
                            <a:latin typeface="Cambria Math" panose="02040503050406030204" pitchFamily="18" charset="0"/>
                          </a:rPr>
                          <m:t>log</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928" t="-1821" r="-580" b="-2381"/>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一份很丑的代码</a:t>
            </a:r>
            <a:endParaRPr lang="zh-CN" altLang="en-US" dirty="0"/>
          </a:p>
        </p:txBody>
      </p:sp>
      <p:sp>
        <p:nvSpPr>
          <p:cNvPr id="6" name="矩形 5"/>
          <p:cNvSpPr/>
          <p:nvPr/>
        </p:nvSpPr>
        <p:spPr>
          <a:xfrm>
            <a:off x="838199" y="1690688"/>
            <a:ext cx="7100455" cy="3970318"/>
          </a:xfrm>
          <a:prstGeom prst="rect">
            <a:avLst/>
          </a:prstGeom>
        </p:spPr>
        <p:txBody>
          <a:bodyPr wrap="square">
            <a:spAutoFit/>
          </a:bodyPr>
          <a:lstStyle/>
          <a:p>
            <a:r>
              <a:rPr lang="en-US" altLang="zh-CN" dirty="0">
                <a:solidFill>
                  <a:srgbClr val="0000FF"/>
                </a:solidFill>
                <a:latin typeface="Consolas" panose="020B0609020204030204" pitchFamily="49" charset="0"/>
              </a:rPr>
              <a:t>bool</a:t>
            </a:r>
            <a:r>
              <a:rPr lang="en-US" altLang="zh-CN" dirty="0">
                <a:solidFill>
                  <a:srgbClr val="000000"/>
                </a:solidFill>
                <a:latin typeface="Consolas" panose="020B0609020204030204" pitchFamily="49" charset="0"/>
              </a:rPr>
              <a:t> </a:t>
            </a:r>
            <a:r>
              <a:rPr lang="en-US" altLang="zh-CN" dirty="0" err="1">
                <a:solidFill>
                  <a:srgbClr val="795E26"/>
                </a:solidFill>
                <a:latin typeface="Consolas" panose="020B0609020204030204" pitchFamily="49" charset="0"/>
              </a:rPr>
              <a:t>cmp</a:t>
            </a:r>
            <a:r>
              <a:rPr lang="en-US" altLang="zh-CN" dirty="0">
                <a:solidFill>
                  <a:srgbClr val="000000"/>
                </a:solidFill>
                <a:latin typeface="Consolas" panose="020B0609020204030204" pitchFamily="49" charset="0"/>
              </a:rPr>
              <a:t>(</a:t>
            </a:r>
            <a:r>
              <a:rPr lang="en-US" altLang="zh-CN" dirty="0" err="1">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 *r, </a:t>
            </a:r>
            <a:r>
              <a:rPr lang="en-US" altLang="zh-CN" dirty="0" err="1">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 a, </a:t>
            </a:r>
            <a:r>
              <a:rPr lang="en-US" altLang="zh-CN" dirty="0" err="1">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 b, </a:t>
            </a:r>
            <a:r>
              <a:rPr lang="en-US" altLang="zh-CN" dirty="0" err="1">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 l){</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return</a:t>
            </a:r>
            <a:r>
              <a:rPr lang="en-US" altLang="zh-CN" dirty="0">
                <a:solidFill>
                  <a:srgbClr val="000000"/>
                </a:solidFill>
                <a:latin typeface="Consolas" panose="020B0609020204030204" pitchFamily="49" charset="0"/>
              </a:rPr>
              <a:t> r[a]==r[b]&amp;&amp;r[</a:t>
            </a:r>
            <a:r>
              <a:rPr lang="en-US" altLang="zh-CN" dirty="0" err="1">
                <a:solidFill>
                  <a:srgbClr val="000000"/>
                </a:solidFill>
                <a:latin typeface="Consolas" panose="020B0609020204030204" pitchFamily="49" charset="0"/>
              </a:rPr>
              <a:t>a+l</a:t>
            </a:r>
            <a:r>
              <a:rPr lang="en-US" altLang="zh-CN" dirty="0">
                <a:solidFill>
                  <a:srgbClr val="000000"/>
                </a:solidFill>
                <a:latin typeface="Consolas" panose="020B0609020204030204" pitchFamily="49" charset="0"/>
              </a:rPr>
              <a:t>]==r[</a:t>
            </a:r>
            <a:r>
              <a:rPr lang="en-US" altLang="zh-CN" dirty="0" err="1">
                <a:solidFill>
                  <a:srgbClr val="000000"/>
                </a:solidFill>
                <a:latin typeface="Consolas" panose="020B0609020204030204" pitchFamily="49" charset="0"/>
              </a:rPr>
              <a:t>b+l</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FF"/>
                </a:solidFill>
                <a:latin typeface="Consolas" panose="020B0609020204030204" pitchFamily="49" charset="0"/>
              </a:rPr>
              <a:t>void</a:t>
            </a:r>
            <a:r>
              <a:rPr lang="en-US" altLang="zh-CN" dirty="0">
                <a:solidFill>
                  <a:srgbClr val="000000"/>
                </a:solidFill>
                <a:latin typeface="Consolas" panose="020B0609020204030204" pitchFamily="49" charset="0"/>
              </a:rPr>
              <a:t> </a:t>
            </a:r>
            <a:r>
              <a:rPr lang="en-US" altLang="zh-CN" dirty="0">
                <a:solidFill>
                  <a:srgbClr val="795E26"/>
                </a:solidFill>
                <a:latin typeface="Consolas" panose="020B0609020204030204" pitchFamily="49" charset="0"/>
              </a:rPr>
              <a:t>SA</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register</a:t>
            </a:r>
            <a:r>
              <a:rPr lang="en-US" altLang="zh-CN" dirty="0">
                <a:solidFill>
                  <a:srgbClr val="000000"/>
                </a:solidFill>
                <a:latin typeface="Consolas" panose="020B0609020204030204" pitchFamily="49" charset="0"/>
              </a:rPr>
              <a:t> </a:t>
            </a:r>
            <a:r>
              <a:rPr lang="en-US" altLang="zh-CN" dirty="0" err="1">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 j, p=</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u=</a:t>
            </a:r>
            <a:r>
              <a:rPr lang="en-US" altLang="zh-CN" dirty="0">
                <a:solidFill>
                  <a:srgbClr val="09885A"/>
                </a:solidFill>
                <a:latin typeface="Consolas" panose="020B0609020204030204" pitchFamily="49" charset="0"/>
              </a:rPr>
              <a:t>27</a:t>
            </a:r>
            <a:r>
              <a:rPr lang="en-US" altLang="zh-CN" dirty="0">
                <a:solidFill>
                  <a:srgbClr val="000000"/>
                </a:solidFill>
                <a:latin typeface="Consolas" panose="020B0609020204030204" pitchFamily="49" charset="0"/>
              </a:rPr>
              <a:t>, *x=ta, *y=</a:t>
            </a:r>
            <a:r>
              <a:rPr lang="en-US" altLang="zh-CN" dirty="0" err="1">
                <a:solidFill>
                  <a:srgbClr val="000000"/>
                </a:solidFill>
                <a:latin typeface="Consolas" panose="020B0609020204030204" pitchFamily="49" charset="0"/>
              </a:rPr>
              <a:t>tb</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基数排序</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n;i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[x[</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arr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u;i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[i-</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=n-</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arr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倍增</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(j=</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;p&lt;</a:t>
            </a:r>
            <a:r>
              <a:rPr lang="en-US" altLang="zh-CN" dirty="0" err="1">
                <a:solidFill>
                  <a:srgbClr val="000000"/>
                </a:solidFill>
                <a:latin typeface="Consolas" panose="020B0609020204030204" pitchFamily="49" charset="0"/>
              </a:rPr>
              <a:t>n;j</a:t>
            </a:r>
            <a:r>
              <a:rPr lang="en-US" altLang="zh-CN" dirty="0">
                <a:solidFill>
                  <a:srgbClr val="000000"/>
                </a:solidFill>
                <a:latin typeface="Consolas" panose="020B0609020204030204" pitchFamily="49" charset="0"/>
              </a:rPr>
              <a:t>&lt;&lt;=</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u=p){</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直接利用上一次排序结果</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=n-j, p=</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n;i</a:t>
            </a:r>
            <a:r>
              <a:rPr lang="en-US" altLang="zh-CN" dirty="0">
                <a:solidFill>
                  <a:srgbClr val="000000"/>
                </a:solidFill>
                <a:latin typeface="Consolas" panose="020B0609020204030204" pitchFamily="49" charset="0"/>
              </a:rPr>
              <a:t>++) y[p++]=</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n;i</a:t>
            </a:r>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if</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]&gt;=j) y[p++]=</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]-j;</a:t>
            </a:r>
            <a:endParaRPr lang="en-US" altLang="zh-CN" b="0" dirty="0">
              <a:solidFill>
                <a:srgbClr val="000000"/>
              </a:solidFill>
              <a:effectLst/>
              <a:latin typeface="Consolas" panose="020B0609020204030204" pitchFamily="49"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一份很丑的代码</a:t>
            </a:r>
            <a:endParaRPr lang="zh-CN" altLang="en-US" dirty="0"/>
          </a:p>
        </p:txBody>
      </p:sp>
      <p:sp>
        <p:nvSpPr>
          <p:cNvPr id="5" name="矩形 4"/>
          <p:cNvSpPr/>
          <p:nvPr/>
        </p:nvSpPr>
        <p:spPr>
          <a:xfrm>
            <a:off x="838200" y="1690688"/>
            <a:ext cx="9635836" cy="3416320"/>
          </a:xfrm>
          <a:prstGeom prst="rect">
            <a:avLst/>
          </a:prstGeom>
        </p:spPr>
        <p:txBody>
          <a:bodyPr wrap="square">
            <a:spAutoFit/>
          </a:bodyPr>
          <a:lstStyle/>
          <a:p>
            <a:r>
              <a:rPr lang="zh-CN" altLang="en-US"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再次基数排序</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u;i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n;i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tt</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]=x[y[</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n;i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tt</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u;i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[i-</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=n-</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bk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tt</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]]]=y[</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交换数组</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a:solidFill>
                  <a:srgbClr val="795E26"/>
                </a:solidFill>
                <a:latin typeface="Consolas" panose="020B0609020204030204" pitchFamily="49" charset="0"/>
              </a:rPr>
              <a:t>swap</a:t>
            </a:r>
            <a:r>
              <a:rPr lang="en-US" altLang="zh-CN" dirty="0">
                <a:solidFill>
                  <a:srgbClr val="000000"/>
                </a:solidFill>
                <a:latin typeface="Consolas" panose="020B0609020204030204" pitchFamily="49" charset="0"/>
              </a:rPr>
              <a:t>(x, y); x[</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 p=</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合并相同的二元组</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n;i</a:t>
            </a:r>
            <a:r>
              <a:rPr lang="en-US" altLang="zh-CN" dirty="0">
                <a:solidFill>
                  <a:srgbClr val="000000"/>
                </a:solidFill>
                <a:latin typeface="Consolas" panose="020B0609020204030204" pitchFamily="49" charset="0"/>
              </a:rPr>
              <a:t>++) x[</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err="1">
                <a:solidFill>
                  <a:srgbClr val="795E26"/>
                </a:solidFill>
                <a:latin typeface="Consolas" panose="020B0609020204030204" pitchFamily="49" charset="0"/>
              </a:rPr>
              <a:t>cmp</a:t>
            </a:r>
            <a:r>
              <a:rPr lang="en-US" altLang="zh-CN" dirty="0">
                <a:solidFill>
                  <a:srgbClr val="000000"/>
                </a:solidFill>
                <a:latin typeface="Consolas" panose="020B0609020204030204" pitchFamily="49" charset="0"/>
              </a:rPr>
              <a:t>(y, </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[i-</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 j)?p-</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:p++;</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一点小技巧</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D725FCFF-4589-404A-89C1-914B7D6AC1AB}"/>
                  </a:ext>
                </a:extLst>
              </p:cNvPr>
              <p:cNvSpPr>
                <a:spLocks noGrp="1"/>
              </p:cNvSpPr>
              <p:nvPr>
                <p:ph idx="1"/>
              </p:nvPr>
            </p:nvSpPr>
            <p:spPr/>
            <p:txBody>
              <a:bodyPr/>
              <a:lstStyle/>
              <a:p>
                <a:r>
                  <a:rPr lang="en-US" altLang="zh-CN" dirty="0">
                    <a:latin typeface="Consolas" panose="020B0609020204030204" pitchFamily="49" charset="0"/>
                  </a:rPr>
                  <a:t>u</a:t>
                </a:r>
                <a:r>
                  <a:rPr lang="zh-CN" altLang="en-US" dirty="0"/>
                  <a:t>表示字符集大小。如果一开始就很大的话，可以将第一次基数排序改成快排。</a:t>
                </a:r>
                <a:endParaRPr lang="en-US" altLang="zh-CN" dirty="0"/>
              </a:p>
              <a:p>
                <a:r>
                  <a:rPr lang="zh-CN" altLang="en-US" dirty="0"/>
                  <a:t>第二次排序后要比较两个字符串是否完全相同，</a:t>
                </a:r>
                <a:r>
                  <a:rPr lang="en-US" altLang="zh-CN" dirty="0">
                    <a:latin typeface="Consolas" panose="020B0609020204030204" pitchFamily="49" charset="0"/>
                  </a:rPr>
                  <a:t>y</a:t>
                </a:r>
                <a:r>
                  <a:rPr lang="zh-CN" altLang="en-US" dirty="0"/>
                  <a:t>数组的值已经没有必要保存，可以将</a:t>
                </a:r>
                <a:r>
                  <a:rPr lang="en-US" altLang="zh-CN" dirty="0">
                    <a:latin typeface="Consolas" panose="020B0609020204030204" pitchFamily="49" charset="0"/>
                  </a:rPr>
                  <a:t>x</a:t>
                </a:r>
                <a:r>
                  <a:rPr lang="zh-CN" altLang="en-US" dirty="0"/>
                  <a:t>内的值复制到</a:t>
                </a:r>
                <a:r>
                  <a:rPr lang="en-US" altLang="zh-CN" dirty="0">
                    <a:latin typeface="Consolas" panose="020B0609020204030204" pitchFamily="49" charset="0"/>
                  </a:rPr>
                  <a:t>y</a:t>
                </a:r>
                <a:r>
                  <a:rPr lang="zh-CN" altLang="en-US" dirty="0"/>
                  <a:t>中进行操作。将</a:t>
                </a:r>
                <a:r>
                  <a:rPr lang="en-US" altLang="zh-CN" dirty="0">
                    <a:latin typeface="Consolas" panose="020B0609020204030204" pitchFamily="49" charset="0"/>
                  </a:rPr>
                  <a:t>x</a:t>
                </a:r>
                <a:r>
                  <a:rPr lang="zh-CN" altLang="en-US" dirty="0"/>
                  <a:t>和</a:t>
                </a:r>
                <a:r>
                  <a:rPr lang="en-US" altLang="zh-CN" dirty="0">
                    <a:latin typeface="Consolas" panose="020B0609020204030204" pitchFamily="49" charset="0"/>
                  </a:rPr>
                  <a:t>y</a:t>
                </a:r>
                <a:r>
                  <a:rPr lang="zh-CN" altLang="en-US" dirty="0"/>
                  <a:t>定义成指针可以直接交换避免复制内存。</a:t>
                </a:r>
              </a:p>
              <a:p>
                <a14:m>
                  <m:oMath xmlns:m="http://schemas.openxmlformats.org/officeDocument/2006/math">
                    <m:r>
                      <a:rPr lang="en-US" altLang="zh-CN" i="1" dirty="0" smtClean="0">
                        <a:latin typeface="Cambria Math" panose="02040503050406030204" pitchFamily="18" charset="0"/>
                      </a:rPr>
                      <m:t>𝑝</m:t>
                    </m:r>
                  </m:oMath>
                </a14:m>
                <a:r>
                  <a:rPr lang="zh-CN" altLang="en-US" dirty="0"/>
                  <a:t>相当于当前字符集大小（不同二元组个数）。如果</a:t>
                </a:r>
                <a14:m>
                  <m:oMath xmlns:m="http://schemas.openxmlformats.org/officeDocument/2006/math">
                    <m:r>
                      <a:rPr lang="en-US" altLang="zh-CN" i="1" dirty="0" smtClean="0">
                        <a:latin typeface="Cambria Math" panose="02040503050406030204" pitchFamily="18" charset="0"/>
                      </a:rPr>
                      <m:t>𝑝</m:t>
                    </m:r>
                    <m:r>
                      <a:rPr lang="en-US" altLang="zh-CN" i="1" dirty="0">
                        <a:latin typeface="Cambria Math" panose="02040503050406030204" pitchFamily="18" charset="0"/>
                      </a:rPr>
                      <m:t>=</m:t>
                    </m:r>
                    <m:r>
                      <a:rPr lang="en-US" altLang="zh-CN" i="1" dirty="0" smtClean="0">
                        <a:latin typeface="Cambria Math" panose="02040503050406030204" pitchFamily="18" charset="0"/>
                      </a:rPr>
                      <m:t>𝑛</m:t>
                    </m:r>
                  </m:oMath>
                </a14:m>
                <a:r>
                  <a:rPr lang="zh-CN" altLang="en-US" dirty="0"/>
                  <a:t>，说明已经没有相同字符串，排序完毕，可以直接退出。</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r="-174"/>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一点小技巧</a:t>
            </a:r>
            <a:endParaRPr lang="zh-CN" altLang="en-US" dirty="0"/>
          </a:p>
        </p:txBody>
      </p:sp>
      <p:pic>
        <p:nvPicPr>
          <p:cNvPr id="7" name="内容占位符 6" descr="图片包含 浅色, 事情&#10;&#10;已生成高可信度的说明"/>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552016" y="1690688"/>
            <a:ext cx="5801784" cy="4351338"/>
          </a:xfrm>
        </p:spPr>
      </p:pic>
      <mc:AlternateContent xmlns:mc="http://schemas.openxmlformats.org/markup-compatibility/2006">
        <mc:Choice xmlns:a14="http://schemas.microsoft.com/office/drawing/2010/main" Requires="a14">
          <p:sp>
            <p:nvSpPr>
              <p:cNvPr id="10" name="内容占位符 2">
                <a:extLst>
                  <a:ext uri="{FF2B5EF4-FFF2-40B4-BE49-F238E27FC236}">
                    <a14:artisticCrisscrossEtching id="{276001B9-5B32-4559-8E78-A4850435BCC1}"/>
                  </a:ext>
                </a:extLst>
              </p:cNvPr>
              <p:cNvSpPr txBox="1">
                <a:spLocks/>
              </p:cNvSpPr>
              <p:nvPr/>
            </p:nvSpPr>
            <p:spPr>
              <a:xfrm>
                <a:off x="838200" y="1825625"/>
                <a:ext cx="471381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再来张图：</a:t>
                </a:r>
                <a:endParaRPr lang="en-US" altLang="zh-CN" dirty="0"/>
              </a:p>
              <a:p>
                <a:r>
                  <a:rPr lang="zh-CN" altLang="en-US" dirty="0"/>
                  <a:t>（感觉上了颜色还不如论文那个清晰</a:t>
                </a:r>
                <a:r>
                  <a:rPr lang="en-US" altLang="zh-CN" dirty="0"/>
                  <a:t>……</a:t>
                </a:r>
                <a:r>
                  <a:rPr lang="zh-CN" altLang="en-US" dirty="0"/>
                  <a:t>而且字又歪又丑</a:t>
                </a:r>
                <a:r>
                  <a:rPr lang="en-US" altLang="zh-CN" dirty="0"/>
                  <a:t>……</a:t>
                </a:r>
                <a:r>
                  <a:rPr lang="zh-CN" altLang="en-US" dirty="0"/>
                  <a:t>）</a:t>
                </a:r>
                <a:endParaRPr lang="en-US" altLang="zh-CN" dirty="0"/>
              </a:p>
              <a:p>
                <a:r>
                  <a:rPr lang="zh-CN" altLang="en-US" dirty="0"/>
                  <a:t>可以看出只排了</a:t>
                </a:r>
                <a14:m>
                  <m:oMath xmlns:m="http://schemas.openxmlformats.org/officeDocument/2006/math">
                    <m:r>
                      <a:rPr lang="en-US" altLang="zh-CN" i="1" dirty="0" smtClean="0">
                        <a:latin typeface="Cambria Math" panose="02040503050406030204" pitchFamily="18" charset="0"/>
                      </a:rPr>
                      <m:t>2</m:t>
                    </m:r>
                  </m:oMath>
                </a14:m>
                <a:r>
                  <a:rPr lang="zh-CN" altLang="en-US" dirty="0"/>
                  <a:t>次，</a:t>
                </a:r>
                <a14:m>
                  <m:oMath xmlns:m="http://schemas.openxmlformats.org/officeDocument/2006/math">
                    <m:r>
                      <a:rPr lang="en-US" altLang="zh-CN" i="1" dirty="0" smtClean="0">
                        <a:latin typeface="Cambria Math" panose="02040503050406030204" pitchFamily="18" charset="0"/>
                      </a:rPr>
                      <m:t>𝑝</m:t>
                    </m:r>
                  </m:oMath>
                </a14:m>
                <a:r>
                  <a:rPr lang="zh-CN" altLang="en-US" dirty="0"/>
                  <a:t>已经到</a:t>
                </a:r>
                <a14:m>
                  <m:oMath xmlns:m="http://schemas.openxmlformats.org/officeDocument/2006/math">
                    <m:r>
                      <a:rPr lang="en-US" altLang="zh-CN" i="1" dirty="0" smtClean="0">
                        <a:latin typeface="Cambria Math" panose="02040503050406030204" pitchFamily="18" charset="0"/>
                      </a:rPr>
                      <m:t>8</m:t>
                    </m:r>
                  </m:oMath>
                </a14:m>
                <a:r>
                  <a:rPr lang="zh-CN" altLang="en-US" dirty="0"/>
                  <a:t>了，可以直接退出。</a:t>
                </a:r>
              </a:p>
              <a:p>
                <a:endParaRPr lang="zh-CN" altLang="en-US" dirty="0"/>
              </a:p>
            </p:txBody>
          </p:sp>
        </mc:Choice>
        <mc:Fallback>
          <p:sp>
            <p:nvSpPr>
              <p:cNvPr id="10" name="内容占位符 2"/>
              <p:cNvSpPr txBox="1">
                <a:spLocks noRot="1" noChangeAspect="1" noMove="1" noResize="1" noEditPoints="1" noAdjustHandles="1" noChangeArrowheads="1" noChangeShapeType="1" noTextEdit="1"/>
              </p:cNvSpPr>
              <p:nvPr/>
            </p:nvSpPr>
            <p:spPr>
              <a:xfrm>
                <a:off x="838200" y="1825625"/>
                <a:ext cx="4713816" cy="4351338"/>
              </a:xfrm>
              <a:prstGeom prst="rect">
                <a:avLst/>
              </a:prstGeom>
              <a:blipFill rotWithShape="1">
                <a:blip r:embed="rId2"/>
                <a:stretch>
                  <a:fillRect l="-2329" t="-2521" r="-1423"/>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另一点理解</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1ECDEBA7-C5E4-41D7-B4C9-0EF91A578C9C}"/>
                  </a:ext>
                </a:extLst>
              </p:cNvPr>
              <p:cNvSpPr>
                <a:spLocks noGrp="1"/>
              </p:cNvSpPr>
              <p:nvPr>
                <p:ph idx="1"/>
              </p:nvPr>
            </p:nvSpPr>
            <p:spPr/>
            <p:txBody>
              <a:bodyPr>
                <a:normAutofit lnSpcReduction="10000"/>
              </a:bodyPr>
              <a:lstStyle/>
              <a:p>
                <a:r>
                  <a:rPr lang="zh-CN" altLang="en-US" dirty="0"/>
                  <a:t>之前讲发现并没有讲明白</a:t>
                </a:r>
                <a:r>
                  <a:rPr lang="en-US" altLang="zh-CN" dirty="0"/>
                  <a:t>……</a:t>
                </a:r>
                <a:r>
                  <a:rPr lang="zh-CN" altLang="en-US" dirty="0"/>
                  <a:t>再说一点：</a:t>
                </a:r>
              </a:p>
              <a:p>
                <a:r>
                  <a:rPr lang="en-US" altLang="zh-CN" dirty="0">
                    <a:latin typeface="Consolas" panose="020B0609020204030204" pitchFamily="49" charset="0"/>
                  </a:rPr>
                  <a:t>x</a:t>
                </a:r>
                <a:r>
                  <a:rPr lang="zh-CN" altLang="en-US" dirty="0"/>
                  <a:t>相当于每次临时的</a:t>
                </a:r>
                <a:r>
                  <a:rPr lang="en-US" altLang="zh-CN" dirty="0">
                    <a:latin typeface="Consolas" panose="020B0609020204030204" pitchFamily="49" charset="0"/>
                  </a:rPr>
                  <a:t>rank</a:t>
                </a:r>
                <a:r>
                  <a:rPr lang="zh-CN" altLang="en-US" dirty="0"/>
                  <a:t>。</a:t>
                </a:r>
              </a:p>
              <a:p>
                <a:r>
                  <a:rPr lang="zh-CN" altLang="en-US" dirty="0"/>
                  <a:t>整个过程可以理解为交替计算</a:t>
                </a:r>
                <a:r>
                  <a:rPr lang="en-US" altLang="zh-CN" dirty="0">
                    <a:latin typeface="Consolas" panose="020B0609020204030204" pitchFamily="49" charset="0"/>
                  </a:rPr>
                  <a:t>rank</a:t>
                </a:r>
                <a:r>
                  <a:rPr lang="zh-CN" altLang="en-US" dirty="0"/>
                  <a:t>和</a:t>
                </a:r>
                <a:r>
                  <a:rPr lang="en-US" altLang="zh-CN" dirty="0" err="1">
                    <a:latin typeface="Consolas" panose="020B0609020204030204" pitchFamily="49" charset="0"/>
                  </a:rPr>
                  <a:t>sa</a:t>
                </a:r>
                <a:r>
                  <a:rPr lang="zh-CN" altLang="en-US" dirty="0"/>
                  <a:t>。</a:t>
                </a:r>
              </a:p>
              <a:p>
                <a:r>
                  <a:rPr lang="en-US" altLang="zh-CN" dirty="0">
                    <a:latin typeface="Consolas" panose="020B0609020204030204" pitchFamily="49" charset="0"/>
                  </a:rPr>
                  <a:t>y</a:t>
                </a:r>
                <a:r>
                  <a:rPr lang="zh-CN" altLang="en-US" dirty="0"/>
                  <a:t>表示的是按照二元组第二项排序后的顺序，</a:t>
                </a:r>
                <a:r>
                  <a:rPr lang="en-US" altLang="zh-CN" dirty="0">
                    <a:latin typeface="Consolas" panose="020B0609020204030204" pitchFamily="49" charset="0"/>
                  </a:rPr>
                  <a:t>x</a:t>
                </a:r>
                <a:r>
                  <a:rPr lang="zh-CN" altLang="en-US" dirty="0"/>
                  <a:t>按照</a:t>
                </a:r>
                <a:r>
                  <a:rPr lang="en-US" altLang="zh-CN" dirty="0">
                    <a:latin typeface="Consolas" panose="020B0609020204030204" pitchFamily="49" charset="0"/>
                  </a:rPr>
                  <a:t>y</a:t>
                </a:r>
                <a:r>
                  <a:rPr lang="zh-CN" altLang="en-US" dirty="0"/>
                  <a:t>中顺序进桶。</a:t>
                </a:r>
              </a:p>
              <a:p>
                <a:r>
                  <a:rPr lang="en-US" altLang="zh-CN" dirty="0">
                    <a:latin typeface="Consolas" panose="020B0609020204030204" pitchFamily="49" charset="0"/>
                  </a:rPr>
                  <a:t>y</a:t>
                </a:r>
                <a:r>
                  <a:rPr lang="zh-CN" altLang="en-US" dirty="0"/>
                  <a:t>怎么求？令</a:t>
                </a:r>
                <a14:m>
                  <m:oMath xmlns:m="http://schemas.openxmlformats.org/officeDocument/2006/math">
                    <m:r>
                      <a:rPr lang="en-US" altLang="zh-CN" i="1" dirty="0" smtClean="0">
                        <a:latin typeface="Cambria Math" panose="02040503050406030204" pitchFamily="18" charset="0"/>
                      </a:rPr>
                      <m:t>𝑖</m:t>
                    </m:r>
                  </m:oMath>
                </a14:m>
                <a:r>
                  <a:rPr lang="zh-CN" altLang="en-US" dirty="0"/>
                  <a:t>为二元组第二项开始的位置。首先</a:t>
                </a:r>
                <a14:m>
                  <m:oMath xmlns:m="http://schemas.openxmlformats.org/officeDocument/2006/math">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oMath>
                </a14:m>
                <a:r>
                  <a:rPr lang="zh-CN" altLang="en-US" dirty="0"/>
                  <a:t>是存在的，只不过超出了</a:t>
                </a:r>
                <a14:m>
                  <m:oMath xmlns:m="http://schemas.openxmlformats.org/officeDocument/2006/math">
                    <m:r>
                      <a:rPr lang="en-US" altLang="zh-CN" i="1" dirty="0" smtClean="0">
                        <a:latin typeface="Cambria Math" panose="02040503050406030204" pitchFamily="18" charset="0"/>
                      </a:rPr>
                      <m:t>𝑠</m:t>
                    </m:r>
                  </m:oMath>
                </a14:m>
                <a:r>
                  <a:rPr lang="zh-CN" altLang="en-US" dirty="0"/>
                  <a:t>，按照规定为最小的</a:t>
                </a:r>
                <a14:m>
                  <m:oMath xmlns:m="http://schemas.openxmlformats.org/officeDocument/2006/math">
                    <m:r>
                      <a:rPr lang="en-US" altLang="zh-CN" i="1" dirty="0">
                        <a:latin typeface="Cambria Math" panose="02040503050406030204" pitchFamily="18" charset="0"/>
                      </a:rPr>
                      <m:t>0</m:t>
                    </m:r>
                  </m:oMath>
                </a14:m>
                <a:r>
                  <a:rPr lang="zh-CN" altLang="en-US" dirty="0"/>
                  <a:t>，一定排在最前面，直接将</a:t>
                </a:r>
                <a14:m>
                  <m:oMath xmlns:m="http://schemas.openxmlformats.org/officeDocument/2006/math">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oMath>
                </a14:m>
                <a:r>
                  <a:rPr lang="zh-CN" altLang="en-US" dirty="0"/>
                  <a:t>加进去就好（注意这里的</a:t>
                </a:r>
                <a14:m>
                  <m:oMath xmlns:m="http://schemas.openxmlformats.org/officeDocument/2006/math">
                    <m:r>
                      <a:rPr lang="en-US" altLang="zh-CN" i="1" dirty="0" smtClean="0">
                        <a:latin typeface="Cambria Math" panose="02040503050406030204" pitchFamily="18" charset="0"/>
                      </a:rPr>
                      <m:t>𝑖</m:t>
                    </m:r>
                  </m:oMath>
                </a14:m>
                <a:r>
                  <a:rPr lang="zh-CN" altLang="en-US" dirty="0"/>
                  <a:t>和代码中这一部分的</a:t>
                </a:r>
                <a:r>
                  <a:rPr lang="en-US" altLang="zh-CN" dirty="0" err="1">
                    <a:latin typeface="Consolas" panose="020B0609020204030204" pitchFamily="49" charset="0"/>
                  </a:rPr>
                  <a:t>i</a:t>
                </a:r>
                <a:r>
                  <a:rPr lang="zh-CN" altLang="en-US" dirty="0"/>
                  <a:t>是不一样的）；剩下的按照</a:t>
                </a:r>
                <a:r>
                  <a:rPr lang="en-US" altLang="zh-CN" dirty="0" err="1">
                    <a:latin typeface="Consolas" panose="020B0609020204030204" pitchFamily="49" charset="0"/>
                  </a:rPr>
                  <a:t>sa</a:t>
                </a:r>
                <a:r>
                  <a:rPr lang="zh-CN" altLang="en-US" dirty="0"/>
                  <a:t>的顺序处理，对于</a:t>
                </a:r>
                <a14:m>
                  <m:oMath xmlns:m="http://schemas.openxmlformats.org/officeDocument/2006/math">
                    <m:r>
                      <a:rPr lang="en-US" altLang="zh-CN" i="1" dirty="0" smtClean="0">
                        <a:latin typeface="Cambria Math" panose="02040503050406030204" pitchFamily="18" charset="0"/>
                      </a:rPr>
                      <m:t>𝑖</m:t>
                    </m:r>
                    <m:r>
                      <a:rPr lang="en-US" altLang="zh-CN" b="0" i="1" dirty="0" smtClean="0">
                        <a:latin typeface="Cambria Math" panose="02040503050406030204" pitchFamily="18" charset="0"/>
                      </a:rPr>
                      <m:t>&lt;</m:t>
                    </m:r>
                    <m:r>
                      <a:rPr lang="en-US" altLang="zh-CN" i="1" dirty="0" smtClean="0">
                        <a:latin typeface="Cambria Math" panose="02040503050406030204" pitchFamily="18" charset="0"/>
                      </a:rPr>
                      <m:t>𝑗</m:t>
                    </m:r>
                  </m:oMath>
                </a14:m>
                <a:r>
                  <a:rPr lang="zh-CN" altLang="en-US" dirty="0"/>
                  <a:t>，代表的二元组的开始位置</a:t>
                </a:r>
                <a14:m>
                  <m:oMath xmlns:m="http://schemas.openxmlformats.org/officeDocument/2006/math">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b="0" i="1" dirty="0" smtClean="0">
                        <a:latin typeface="Cambria Math" panose="02040503050406030204" pitchFamily="18" charset="0"/>
                      </a:rPr>
                      <m:t>&lt;</m:t>
                    </m:r>
                    <m:r>
                      <a:rPr lang="en-US" altLang="zh-CN" i="1" dirty="0" smtClean="0">
                        <a:latin typeface="Cambria Math" panose="02040503050406030204" pitchFamily="18" charset="0"/>
                      </a:rPr>
                      <m:t>0</m:t>
                    </m:r>
                  </m:oMath>
                </a14:m>
                <a:r>
                  <a:rPr lang="zh-CN" altLang="en-US" dirty="0"/>
                  <a:t>，在</a:t>
                </a:r>
                <a14:m>
                  <m:oMath xmlns:m="http://schemas.openxmlformats.org/officeDocument/2006/math">
                    <m:r>
                      <a:rPr lang="en-US" altLang="zh-CN" i="1" dirty="0" smtClean="0">
                        <a:latin typeface="Cambria Math" panose="02040503050406030204" pitchFamily="18" charset="0"/>
                      </a:rPr>
                      <m:t>𝑠</m:t>
                    </m:r>
                  </m:oMath>
                </a14:m>
                <a:r>
                  <a:rPr lang="zh-CN" altLang="en-US" dirty="0"/>
                  <a:t>之前，是不合法的，跳过就好（注意这里的</a:t>
                </a:r>
                <a14:m>
                  <m:oMath xmlns:m="http://schemas.openxmlformats.org/officeDocument/2006/math">
                    <m:r>
                      <a:rPr lang="en-US" altLang="zh-CN" i="1" dirty="0" smtClean="0">
                        <a:latin typeface="Cambria Math" panose="02040503050406030204" pitchFamily="18" charset="0"/>
                      </a:rPr>
                      <m:t>𝑖</m:t>
                    </m:r>
                  </m:oMath>
                </a14:m>
                <a:r>
                  <a:rPr lang="zh-CN" altLang="en-US" dirty="0"/>
                  <a:t>和代码中这一部分的</a:t>
                </a:r>
                <a:r>
                  <a:rPr lang="en-US" altLang="zh-CN" dirty="0" err="1">
                    <a:latin typeface="Consolas" panose="020B0609020204030204" pitchFamily="49" charset="0"/>
                  </a:rPr>
                  <a:t>i</a:t>
                </a:r>
                <a:r>
                  <a:rPr lang="zh-CN" altLang="en-US" dirty="0"/>
                  <a:t>也不一样</a:t>
                </a:r>
                <a:r>
                  <a:rPr lang="en-US" altLang="zh-CN" dirty="0"/>
                  <a:t>……</a:t>
                </a:r>
                <a:r>
                  <a:rPr lang="zh-CN" altLang="en-US" dirty="0"/>
                  <a:t>）。</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3221" r="-1971"/>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栗子</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21CE4DB9-DAB0-477E-83B6-8FD3A809C43A}"/>
                  </a:ext>
                </a:extLst>
              </p:cNvPr>
              <p:cNvSpPr>
                <a:spLocks noGrp="1"/>
              </p:cNvSpPr>
              <p:nvPr>
                <p:ph idx="1"/>
              </p:nvPr>
            </p:nvSpPr>
            <p:spPr/>
            <p:txBody>
              <a:bodyPr>
                <a:normAutofit/>
              </a:bodyPr>
              <a:lstStyle/>
              <a:p>
                <a:r>
                  <a:rPr lang="zh-CN" altLang="en-US" dirty="0"/>
                  <a:t>还是</a:t>
                </a:r>
                <a14:m>
                  <m:oMath xmlns:m="http://schemas.openxmlformats.org/officeDocument/2006/math">
                    <m:r>
                      <a:rPr lang="en-US" altLang="zh-CN" i="1" dirty="0" smtClean="0">
                        <a:latin typeface="Cambria Math" panose="02040503050406030204" pitchFamily="18" charset="0"/>
                      </a:rPr>
                      <m:t>𝑎𝑏𝑏𝑏𝑎𝑏𝑏𝑐</m:t>
                    </m:r>
                  </m:oMath>
                </a14:m>
                <a:r>
                  <a:rPr lang="zh-CN" altLang="en-US" dirty="0"/>
                  <a:t>，</a:t>
                </a:r>
                <a14:m>
                  <m:oMath xmlns:m="http://schemas.openxmlformats.org/officeDocument/2006/math">
                    <m:r>
                      <a:rPr lang="en-US" altLang="zh-CN" i="1" dirty="0" smtClean="0">
                        <a:latin typeface="Cambria Math" panose="02040503050406030204" pitchFamily="18" charset="0"/>
                      </a:rPr>
                      <m:t>𝑗</m:t>
                    </m:r>
                    <m:r>
                      <a:rPr lang="en-US" altLang="zh-CN" i="1" dirty="0">
                        <a:latin typeface="Cambria Math" panose="02040503050406030204" pitchFamily="18" charset="0"/>
                      </a:rPr>
                      <m:t>=</m:t>
                    </m:r>
                    <m:r>
                      <a:rPr lang="en-US" altLang="zh-CN" i="1" dirty="0" smtClean="0">
                        <a:latin typeface="Cambria Math" panose="02040503050406030204" pitchFamily="18" charset="0"/>
                      </a:rPr>
                      <m:t>1</m:t>
                    </m:r>
                  </m:oMath>
                </a14:m>
                <a:r>
                  <a:rPr lang="zh-CN" altLang="en-US" dirty="0"/>
                  <a:t>时：</a:t>
                </a:r>
              </a:p>
              <a:p>
                <a:r>
                  <a:rPr lang="zh-CN" altLang="en-US" dirty="0"/>
                  <a:t>首先要处理出</a:t>
                </a:r>
                <a:r>
                  <a:rPr lang="en-US" altLang="zh-CN" dirty="0">
                    <a:latin typeface="Consolas" panose="020B0609020204030204" pitchFamily="49" charset="0"/>
                  </a:rPr>
                  <a:t>y</a:t>
                </a:r>
                <a:r>
                  <a:rPr lang="zh-CN" altLang="en-US" dirty="0"/>
                  <a:t>（这里的</a:t>
                </a:r>
                <a:r>
                  <a:rPr lang="en-US" altLang="zh-CN" dirty="0">
                    <a:latin typeface="Consolas" panose="020B0609020204030204" pitchFamily="49" charset="0"/>
                  </a:rPr>
                  <a:t>x</a:t>
                </a:r>
                <a:r>
                  <a:rPr lang="zh-CN" altLang="en-US" dirty="0"/>
                  <a:t>和</a:t>
                </a:r>
                <a:r>
                  <a:rPr lang="en-US" altLang="zh-CN" dirty="0" err="1">
                    <a:latin typeface="Consolas" panose="020B0609020204030204" pitchFamily="49" charset="0"/>
                  </a:rPr>
                  <a:t>sa</a:t>
                </a:r>
                <a:r>
                  <a:rPr lang="zh-CN" altLang="en-US" dirty="0"/>
                  <a:t>是之前的）：</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
        <p:nvSpPr>
          <p:cNvPr id="4" name="矩形 3"/>
          <p:cNvSpPr/>
          <p:nvPr/>
        </p:nvSpPr>
        <p:spPr>
          <a:xfrm>
            <a:off x="838200" y="2805477"/>
            <a:ext cx="6096000" cy="1754326"/>
          </a:xfrm>
          <a:prstGeom prst="rect">
            <a:avLst/>
          </a:prstGeom>
        </p:spPr>
        <p:txBody>
          <a:bodyPr>
            <a:spAutoFit/>
          </a:bodyPr>
          <a:lstStyle/>
          <a:p>
            <a:r>
              <a:rPr lang="fr-FR" altLang="zh-CN" dirty="0">
                <a:solidFill>
                  <a:srgbClr val="000000"/>
                </a:solidFill>
                <a:latin typeface="Consolas" panose="020B0609020204030204" pitchFamily="49" charset="0"/>
              </a:rPr>
              <a:t>{</a:t>
            </a:r>
            <a:endParaRPr lang="fr-FR" altLang="zh-CN" dirty="0">
              <a:solidFill>
                <a:srgbClr val="000000"/>
              </a:solidFill>
              <a:latin typeface="Consolas" panose="020B0609020204030204" pitchFamily="49" charset="0"/>
            </a:endParaRPr>
          </a:p>
          <a:p>
            <a:r>
              <a:rPr lang="fr-FR" altLang="zh-CN" dirty="0">
                <a:solidFill>
                  <a:srgbClr val="0451A5"/>
                </a:solidFill>
                <a:latin typeface="Consolas" panose="020B0609020204030204" pitchFamily="49" charset="0"/>
              </a:rPr>
              <a:t>	"s"</a:t>
            </a:r>
            <a:r>
              <a:rPr lang="fr-FR" altLang="zh-CN" dirty="0">
                <a:solidFill>
                  <a:srgbClr val="000000"/>
                </a:solidFill>
                <a:latin typeface="Consolas" panose="020B0609020204030204" pitchFamily="49" charset="0"/>
              </a:rPr>
              <a:t>: </a:t>
            </a:r>
            <a:r>
              <a:rPr lang="fr-FR" altLang="zh-CN" dirty="0">
                <a:solidFill>
                  <a:srgbClr val="A31515"/>
                </a:solidFill>
                <a:latin typeface="Consolas" panose="020B0609020204030204" pitchFamily="49" charset="0"/>
              </a:rPr>
              <a:t>"abbbabbc"</a:t>
            </a:r>
            <a:r>
              <a:rPr lang="fr-FR" altLang="zh-CN" dirty="0">
                <a:solidFill>
                  <a:srgbClr val="000000"/>
                </a:solidFill>
                <a:latin typeface="Consolas" panose="020B0609020204030204" pitchFamily="49" charset="0"/>
              </a:rPr>
              <a:t>,</a:t>
            </a:r>
            <a:endParaRPr lang="fr-FR" altLang="zh-CN" dirty="0">
              <a:solidFill>
                <a:srgbClr val="000000"/>
              </a:solidFill>
              <a:latin typeface="Consolas" panose="020B0609020204030204" pitchFamily="49" charset="0"/>
            </a:endParaRPr>
          </a:p>
          <a:p>
            <a:r>
              <a:rPr lang="fr-FR" altLang="zh-CN" dirty="0">
                <a:solidFill>
                  <a:srgbClr val="0451A5"/>
                </a:solidFill>
                <a:latin typeface="Consolas" panose="020B0609020204030204" pitchFamily="49" charset="0"/>
              </a:rPr>
              <a:t>	"x"</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1</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2</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2</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2</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1</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2</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2</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3</a:t>
            </a:r>
            <a:r>
              <a:rPr lang="fr-FR" altLang="zh-CN" dirty="0">
                <a:solidFill>
                  <a:srgbClr val="000000"/>
                </a:solidFill>
                <a:latin typeface="Consolas" panose="020B0609020204030204" pitchFamily="49" charset="0"/>
              </a:rPr>
              <a:t>],</a:t>
            </a:r>
            <a:endParaRPr lang="fr-FR" altLang="zh-CN" dirty="0">
              <a:solidFill>
                <a:srgbClr val="000000"/>
              </a:solidFill>
              <a:latin typeface="Consolas" panose="020B0609020204030204" pitchFamily="49" charset="0"/>
            </a:endParaRPr>
          </a:p>
          <a:p>
            <a:r>
              <a:rPr lang="fr-FR" altLang="zh-CN" dirty="0">
                <a:solidFill>
                  <a:srgbClr val="0451A5"/>
                </a:solidFill>
                <a:latin typeface="Consolas" panose="020B0609020204030204" pitchFamily="49" charset="0"/>
              </a:rPr>
              <a:t>	"sa"</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1</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5</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2</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3</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4</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6</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7</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8</a:t>
            </a:r>
            <a:r>
              <a:rPr lang="fr-FR" altLang="zh-CN" dirty="0">
                <a:solidFill>
                  <a:srgbClr val="000000"/>
                </a:solidFill>
                <a:latin typeface="Consolas" panose="020B0609020204030204" pitchFamily="49" charset="0"/>
              </a:rPr>
              <a:t>],</a:t>
            </a:r>
            <a:endParaRPr lang="fr-FR" altLang="zh-CN" dirty="0">
              <a:solidFill>
                <a:srgbClr val="000000"/>
              </a:solidFill>
              <a:latin typeface="Consolas" panose="020B0609020204030204" pitchFamily="49" charset="0"/>
            </a:endParaRPr>
          </a:p>
          <a:p>
            <a:r>
              <a:rPr lang="fr-FR" altLang="zh-CN" dirty="0">
                <a:solidFill>
                  <a:srgbClr val="0451A5"/>
                </a:solidFill>
                <a:latin typeface="Consolas" panose="020B0609020204030204" pitchFamily="49" charset="0"/>
              </a:rPr>
              <a:t>	"y"</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8</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4</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1</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2</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3</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5</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6</a:t>
            </a:r>
            <a:r>
              <a:rPr lang="fr-FR" altLang="zh-CN" dirty="0">
                <a:solidFill>
                  <a:srgbClr val="000000"/>
                </a:solidFill>
                <a:latin typeface="Consolas" panose="020B0609020204030204" pitchFamily="49" charset="0"/>
              </a:rPr>
              <a:t>, </a:t>
            </a:r>
            <a:r>
              <a:rPr lang="fr-FR" altLang="zh-CN" dirty="0">
                <a:solidFill>
                  <a:srgbClr val="09885A"/>
                </a:solidFill>
                <a:latin typeface="Consolas" panose="020B0609020204030204" pitchFamily="49" charset="0"/>
              </a:rPr>
              <a:t>7</a:t>
            </a:r>
            <a:r>
              <a:rPr lang="fr-FR" altLang="zh-CN" dirty="0">
                <a:solidFill>
                  <a:srgbClr val="000000"/>
                </a:solidFill>
                <a:latin typeface="Consolas" panose="020B0609020204030204" pitchFamily="49" charset="0"/>
              </a:rPr>
              <a:t>]</a:t>
            </a:r>
            <a:endParaRPr lang="fr-FR" altLang="zh-CN" dirty="0">
              <a:solidFill>
                <a:srgbClr val="000000"/>
              </a:solidFill>
              <a:latin typeface="Consolas" panose="020B0609020204030204" pitchFamily="49" charset="0"/>
            </a:endParaRPr>
          </a:p>
          <a:p>
            <a:r>
              <a:rPr lang="fr-FR" altLang="zh-CN" dirty="0">
                <a:solidFill>
                  <a:srgbClr val="000000"/>
                </a:solidFill>
                <a:latin typeface="Consolas" panose="020B0609020204030204" pitchFamily="49" charset="0"/>
              </a:rPr>
              <a:t>}</a:t>
            </a:r>
            <a:endParaRPr lang="fr-FR" altLang="zh-CN" b="0" dirty="0">
              <a:solidFill>
                <a:srgbClr val="000000"/>
              </a:solidFill>
              <a:effectLst/>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栗子</a:t>
            </a:r>
            <a:endParaRPr lang="zh-CN" altLang="en-US" dirty="0"/>
          </a:p>
        </p:txBody>
      </p:sp>
      <p:sp>
        <p:nvSpPr>
          <p:cNvPr id="3" name="内容占位符 2"/>
          <p:cNvSpPr>
            <a:spLocks noGrp="1"/>
          </p:cNvSpPr>
          <p:nvPr>
            <p:ph idx="1"/>
          </p:nvPr>
        </p:nvSpPr>
        <p:spPr/>
        <p:txBody>
          <a:bodyPr>
            <a:normAutofit/>
          </a:bodyPr>
          <a:lstStyle/>
          <a:p>
            <a:r>
              <a:rPr lang="zh-CN" altLang="en-US" dirty="0"/>
              <a:t>然后用这个</a:t>
            </a:r>
            <a:r>
              <a:rPr lang="en-US" altLang="zh-CN" dirty="0">
                <a:latin typeface="Consolas" panose="020B0609020204030204" pitchFamily="49" charset="0"/>
              </a:rPr>
              <a:t>y</a:t>
            </a:r>
            <a:r>
              <a:rPr lang="zh-CN" altLang="en-US" dirty="0"/>
              <a:t>去处理这一步的</a:t>
            </a:r>
            <a:r>
              <a:rPr lang="en-US" altLang="zh-CN" dirty="0">
                <a:latin typeface="Consolas" panose="020B0609020204030204" pitchFamily="49" charset="0"/>
              </a:rPr>
              <a:t>x</a:t>
            </a:r>
            <a:r>
              <a:rPr lang="zh-CN" altLang="en-US" dirty="0"/>
              <a:t>和</a:t>
            </a:r>
            <a:r>
              <a:rPr lang="en-US" altLang="zh-CN" dirty="0" err="1">
                <a:latin typeface="Consolas" panose="020B0609020204030204" pitchFamily="49" charset="0"/>
              </a:rPr>
              <a:t>sa</a:t>
            </a:r>
            <a:r>
              <a:rPr lang="zh-CN" altLang="en-US" dirty="0"/>
              <a:t>，得到：</a:t>
            </a:r>
            <a:endParaRPr lang="en-US" altLang="zh-CN" dirty="0"/>
          </a:p>
          <a:p>
            <a:endParaRPr lang="en-US" altLang="zh-CN" dirty="0"/>
          </a:p>
          <a:p>
            <a:endParaRPr lang="en-US" altLang="zh-CN" dirty="0"/>
          </a:p>
          <a:p>
            <a:endParaRPr lang="en-US" altLang="zh-CN" dirty="0"/>
          </a:p>
          <a:p>
            <a:endParaRPr lang="en-US" altLang="zh-CN" dirty="0"/>
          </a:p>
          <a:p>
            <a:r>
              <a:rPr lang="zh-CN" altLang="en-US" dirty="0"/>
              <a:t>（这个</a:t>
            </a:r>
            <a:r>
              <a:rPr lang="en-US" altLang="zh-CN" dirty="0" err="1">
                <a:latin typeface="Consolas" panose="020B0609020204030204" pitchFamily="49" charset="0"/>
              </a:rPr>
              <a:t>bk</a:t>
            </a:r>
            <a:r>
              <a:rPr lang="zh-CN" altLang="en-US" dirty="0"/>
              <a:t>和代码中的不太一样</a:t>
            </a:r>
            <a:r>
              <a:rPr lang="en-US" altLang="zh-CN" dirty="0"/>
              <a:t>……</a:t>
            </a:r>
            <a:r>
              <a:rPr lang="zh-CN" altLang="en-US" dirty="0"/>
              <a:t>写出来表示怎么放进桶中而已，按顺序取出就是下面的</a:t>
            </a:r>
            <a:r>
              <a:rPr lang="en-US" altLang="zh-CN" dirty="0" err="1">
                <a:latin typeface="Consolas" panose="020B0609020204030204" pitchFamily="49" charset="0"/>
              </a:rPr>
              <a:t>sa</a:t>
            </a:r>
            <a:r>
              <a:rPr lang="zh-CN" altLang="en-US" dirty="0"/>
              <a:t>）</a:t>
            </a:r>
            <a:endParaRPr lang="zh-CN" altLang="en-US" dirty="0"/>
          </a:p>
          <a:p>
            <a:r>
              <a:rPr lang="zh-CN" altLang="en-US" dirty="0"/>
              <a:t>推荐手玩一下。</a:t>
            </a:r>
            <a:endParaRPr lang="zh-CN" altLang="en-US" dirty="0"/>
          </a:p>
          <a:p>
            <a:endParaRPr lang="zh-CN" altLang="en-US" dirty="0"/>
          </a:p>
        </p:txBody>
      </p:sp>
      <p:sp>
        <p:nvSpPr>
          <p:cNvPr id="4" name="矩形 3"/>
          <p:cNvSpPr/>
          <p:nvPr/>
        </p:nvSpPr>
        <p:spPr>
          <a:xfrm>
            <a:off x="838200" y="2413338"/>
            <a:ext cx="6096000" cy="2031325"/>
          </a:xfrm>
          <a:prstGeom prst="rect">
            <a:avLst/>
          </a:prstGeom>
        </p:spPr>
        <p:txBody>
          <a:bodyPr>
            <a:spAutoFit/>
          </a:bodyPr>
          <a:lstStyle/>
          <a:p>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"s"</a:t>
            </a:r>
            <a:r>
              <a:rPr lang="en-US" altLang="zh-CN" dirty="0">
                <a:solidFill>
                  <a:srgbClr val="000000"/>
                </a:solidFill>
                <a:latin typeface="Consolas" panose="020B0609020204030204" pitchFamily="49" charset="0"/>
              </a:rPr>
              <a:t>: </a:t>
            </a:r>
            <a:r>
              <a:rPr lang="en-US" altLang="zh-CN" dirty="0">
                <a:solidFill>
                  <a:srgbClr val="A31515"/>
                </a:solidFill>
                <a:latin typeface="Consolas" panose="020B0609020204030204" pitchFamily="49" charset="0"/>
              </a:rPr>
              <a:t>"</a:t>
            </a:r>
            <a:r>
              <a:rPr lang="en-US" altLang="zh-CN" dirty="0" err="1">
                <a:solidFill>
                  <a:srgbClr val="A31515"/>
                </a:solidFill>
                <a:latin typeface="Consolas" panose="020B0609020204030204" pitchFamily="49" charset="0"/>
              </a:rPr>
              <a:t>abbbabbc</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"y"</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8</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5</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6</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7</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8000"/>
                </a:solidFill>
                <a:latin typeface="Consolas" panose="020B0609020204030204" pitchFamily="49" charset="0"/>
              </a:rPr>
              <a:t>	// "</a:t>
            </a:r>
            <a:r>
              <a:rPr lang="en-US" altLang="zh-CN" dirty="0" err="1">
                <a:solidFill>
                  <a:srgbClr val="008000"/>
                </a:solidFill>
                <a:latin typeface="Consolas" panose="020B0609020204030204" pitchFamily="49" charset="0"/>
              </a:rPr>
              <a:t>bk</a:t>
            </a:r>
            <a:r>
              <a:rPr lang="en-US" altLang="zh-CN" dirty="0">
                <a:solidFill>
                  <a:srgbClr val="008000"/>
                </a:solidFill>
                <a:latin typeface="Consolas" panose="020B0609020204030204" pitchFamily="49" charset="0"/>
              </a:rPr>
              <a:t>": [[1, 5], [4, 2, 3, 6, 7], [8]],</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a:t>
            </a:r>
            <a:r>
              <a:rPr lang="en-US" altLang="zh-CN" dirty="0" err="1">
                <a:solidFill>
                  <a:srgbClr val="0451A5"/>
                </a:solidFill>
                <a:latin typeface="Consolas" panose="020B0609020204030204" pitchFamily="49" charset="0"/>
              </a:rPr>
              <a:t>sa</a:t>
            </a:r>
            <a:r>
              <a:rPr lang="en-US" altLang="zh-CN" dirty="0">
                <a:solidFill>
                  <a:srgbClr val="0451A5"/>
                </a:solidFill>
                <a:latin typeface="Consolas" panose="020B0609020204030204" pitchFamily="49" charset="0"/>
              </a:rPr>
              <a:t>"</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5</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6</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7</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8</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451A5"/>
                </a:solidFill>
                <a:latin typeface="Consolas" panose="020B0609020204030204" pitchFamily="49" charset="0"/>
              </a:rPr>
              <a:t>	"x"</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5</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然后</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C50B841C-7E0E-4304-A4B3-FA1B0C0DF2F3}"/>
                  </a:ext>
                </a:extLst>
              </p:cNvPr>
              <p:cNvSpPr>
                <a:spLocks noGrp="1"/>
              </p:cNvSpPr>
              <p:nvPr>
                <p:ph idx="1"/>
              </p:nvPr>
            </p:nvSpPr>
            <p:spPr/>
            <p:txBody>
              <a:bodyPr>
                <a:normAutofit fontScale="92500"/>
              </a:bodyPr>
              <a:lstStyle/>
              <a:p>
                <a:r>
                  <a:rPr lang="zh-CN" altLang="en-US" dirty="0"/>
                  <a:t>然后根据那个互逆的性质，就可以在</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的时间内求</a:t>
                </a:r>
                <a:r>
                  <a:rPr lang="en-US" altLang="zh-CN" dirty="0">
                    <a:latin typeface="Consolas" panose="020B0609020204030204" pitchFamily="49" charset="0"/>
                  </a:rPr>
                  <a:t>rank</a:t>
                </a:r>
                <a:r>
                  <a:rPr lang="zh-CN" altLang="en-US" dirty="0"/>
                  <a:t>数组啦。</a:t>
                </a:r>
              </a:p>
              <a:p>
                <a:r>
                  <a:rPr lang="zh-CN" altLang="en-US" dirty="0"/>
                  <a:t>然后根据那个</a:t>
                </a:r>
                <a14:m>
                  <m:oMath xmlns:m="http://schemas.openxmlformats.org/officeDocument/2006/math">
                    <m:r>
                      <a:rPr lang="en-US" altLang="zh-CN" i="1" dirty="0" smtClean="0">
                        <a:latin typeface="Cambria Math" panose="02040503050406030204" pitchFamily="18" charset="0"/>
                      </a:rPr>
                      <m:t>h</m:t>
                    </m:r>
                  </m:oMath>
                </a14:m>
                <a:r>
                  <a:rPr lang="zh-CN" altLang="en-US" dirty="0"/>
                  <a:t>的性质，就可以按照从</a:t>
                </a:r>
                <a14:m>
                  <m:oMath xmlns:m="http://schemas.openxmlformats.org/officeDocument/2006/math">
                    <m:r>
                      <a:rPr lang="en-US" altLang="zh-CN" i="1" dirty="0" smtClean="0">
                        <a:latin typeface="Cambria Math" panose="02040503050406030204" pitchFamily="18" charset="0"/>
                      </a:rPr>
                      <m:t>1</m:t>
                    </m:r>
                  </m:oMath>
                </a14:m>
                <a:r>
                  <a:rPr lang="zh-CN" altLang="en-US" dirty="0"/>
                  <a:t>到</a:t>
                </a:r>
                <a14:m>
                  <m:oMath xmlns:m="http://schemas.openxmlformats.org/officeDocument/2006/math">
                    <m:r>
                      <a:rPr lang="en-US" altLang="zh-CN" i="1" dirty="0" smtClean="0">
                        <a:latin typeface="Cambria Math" panose="02040503050406030204" pitchFamily="18" charset="0"/>
                      </a:rPr>
                      <m:t>𝑛</m:t>
                    </m:r>
                  </m:oMath>
                </a14:m>
                <a:r>
                  <a:rPr lang="zh-CN" altLang="en-US" dirty="0"/>
                  <a:t>的顺序在</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的时间内求出</a:t>
                </a:r>
                <a:r>
                  <a:rPr lang="en-US" altLang="zh-CN" dirty="0">
                    <a:latin typeface="Consolas" panose="020B0609020204030204" pitchFamily="49" charset="0"/>
                  </a:rPr>
                  <a:t>height</a:t>
                </a:r>
                <a:r>
                  <a:rPr lang="zh-CN" altLang="en-US" dirty="0"/>
                  <a:t>数组啦。</a:t>
                </a:r>
              </a:p>
              <a:p>
                <a:r>
                  <a:rPr lang="zh-CN" altLang="en-US" dirty="0"/>
                  <a:t>为什么是</a:t>
                </a:r>
                <a14:m>
                  <m:oMath xmlns:m="http://schemas.openxmlformats.org/officeDocument/2006/math">
                    <m:r>
                      <a:rPr lang="en-US" altLang="zh-CN" i="1" dirty="0" smtClean="0">
                        <a:latin typeface="Cambria Math" panose="02040503050406030204" pitchFamily="18" charset="0"/>
                      </a:rPr>
                      <m:t>𝑂</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的时间？每个字符只会被比较到一次。</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928" t="-2241"/>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一份很丑的代码</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838D7DC1-0464-47A6-962C-7CDE73CCDAA6}"/>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r>
                  <a:rPr lang="zh-CN" altLang="en-US" dirty="0"/>
                  <a:t>并不用存</a:t>
                </a:r>
                <a14:m>
                  <m:oMath xmlns:m="http://schemas.openxmlformats.org/officeDocument/2006/math">
                    <m:r>
                      <a:rPr lang="en-US" altLang="zh-CN" i="1" dirty="0" smtClean="0">
                        <a:latin typeface="Cambria Math" panose="02040503050406030204" pitchFamily="18" charset="0"/>
                      </a:rPr>
                      <m:t>h</m:t>
                    </m:r>
                  </m:oMath>
                </a14:m>
                <a:r>
                  <a:rPr lang="zh-CN" altLang="en-US" dirty="0"/>
                  <a:t>数组，用</a:t>
                </a:r>
                <a:r>
                  <a:rPr lang="en-US" altLang="zh-CN" dirty="0">
                    <a:latin typeface="Consolas" panose="020B0609020204030204" pitchFamily="49" charset="0"/>
                  </a:rPr>
                  <a:t>k</a:t>
                </a:r>
                <a:r>
                  <a:rPr lang="zh-CN" altLang="en-US" dirty="0"/>
                  <a:t>维护</a:t>
                </a:r>
                <a14:m>
                  <m:oMath xmlns:m="http://schemas.openxmlformats.org/officeDocument/2006/math">
                    <m:r>
                      <a:rPr lang="en-US" altLang="zh-CN" i="1" dirty="0" smtClean="0">
                        <a:latin typeface="Cambria Math" panose="02040503050406030204" pitchFamily="18" charset="0"/>
                      </a:rPr>
                      <m:t>h</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−1]</m:t>
                    </m:r>
                  </m:oMath>
                </a14:m>
                <a:r>
                  <a:rPr lang="zh-CN" altLang="en-US" dirty="0"/>
                  <a:t>，暴力判并更新即可。</a:t>
                </a:r>
              </a:p>
              <a:p>
                <a:r>
                  <a:rPr lang="zh-CN" altLang="en-US" dirty="0"/>
                  <a:t>（貌似</a:t>
                </a:r>
                <a:r>
                  <a:rPr lang="en-US" altLang="zh-CN" dirty="0">
                    <a:latin typeface="Consolas" panose="020B0609020204030204" pitchFamily="49" charset="0"/>
                  </a:rPr>
                  <a:t>register</a:t>
                </a:r>
                <a:r>
                  <a:rPr lang="zh-CN" altLang="en-US" dirty="0"/>
                  <a:t>现在没有用了</a:t>
                </a:r>
                <a:r>
                  <a:rPr lang="en-US" altLang="zh-CN" dirty="0"/>
                  <a:t>……</a:t>
                </a:r>
                <a:r>
                  <a:rPr lang="zh-CN" altLang="en-US" dirty="0"/>
                  <a:t>）</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a:stretch>
              </a:blipFill>
            </p:spPr>
            <p:txBody>
              <a:bodyPr/>
              <a:lstStyle/>
              <a:p>
                <a:r>
                  <a:rPr lang="zh-CN" altLang="en-US">
                    <a:noFill/>
                  </a:rPr>
                  <a:t> </a:t>
                </a:r>
                <a:endParaRPr lang="zh-CN" altLang="en-US">
                  <a:noFill/>
                </a:endParaRPr>
              </a:p>
            </p:txBody>
          </p:sp>
        </mc:Fallback>
      </mc:AlternateContent>
      <p:sp>
        <p:nvSpPr>
          <p:cNvPr id="5" name="矩形 4"/>
          <p:cNvSpPr/>
          <p:nvPr/>
        </p:nvSpPr>
        <p:spPr>
          <a:xfrm>
            <a:off x="838200" y="1825625"/>
            <a:ext cx="6096000" cy="2585323"/>
          </a:xfrm>
          <a:prstGeom prst="rect">
            <a:avLst/>
          </a:prstGeom>
        </p:spPr>
        <p:txBody>
          <a:bodyPr>
            <a:spAutoFit/>
          </a:bodyPr>
          <a:lstStyle/>
          <a:p>
            <a:r>
              <a:rPr lang="en-US" altLang="zh-CN" dirty="0">
                <a:solidFill>
                  <a:srgbClr val="0000FF"/>
                </a:solidFill>
                <a:latin typeface="Consolas" panose="020B0609020204030204" pitchFamily="49" charset="0"/>
              </a:rPr>
              <a:t>void</a:t>
            </a:r>
            <a:r>
              <a:rPr lang="en-US" altLang="zh-CN" dirty="0">
                <a:solidFill>
                  <a:srgbClr val="000000"/>
                </a:solidFill>
                <a:latin typeface="Consolas" panose="020B0609020204030204" pitchFamily="49" charset="0"/>
              </a:rPr>
              <a:t> </a:t>
            </a:r>
            <a:r>
              <a:rPr lang="en-US" altLang="zh-CN" dirty="0" err="1">
                <a:solidFill>
                  <a:srgbClr val="795E26"/>
                </a:solidFill>
                <a:latin typeface="Consolas" panose="020B0609020204030204" pitchFamily="49" charset="0"/>
              </a:rPr>
              <a:t>getht</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0000FF"/>
                </a:solidFill>
                <a:latin typeface="Consolas" panose="020B0609020204030204" pitchFamily="49" charset="0"/>
              </a:rPr>
              <a:t>register</a:t>
            </a:r>
            <a:r>
              <a:rPr lang="en-US" altLang="zh-CN" dirty="0">
                <a:solidFill>
                  <a:srgbClr val="000000"/>
                </a:solidFill>
                <a:latin typeface="Consolas" panose="020B0609020204030204" pitchFamily="49" charset="0"/>
              </a:rPr>
              <a:t> </a:t>
            </a:r>
            <a:r>
              <a:rPr lang="en-US" altLang="zh-CN" dirty="0" err="1">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 j, k=</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a:t>
            </a:r>
            <a:r>
              <a:rPr lang="en-US" altLang="zh-CN" dirty="0" err="1">
                <a:solidFill>
                  <a:srgbClr val="000000"/>
                </a:solidFill>
                <a:latin typeface="Consolas" panose="020B0609020204030204" pitchFamily="49" charset="0"/>
              </a:rPr>
              <a:t>n;i</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rk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for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;i&lt;n-</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;i++){</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if</a:t>
            </a:r>
            <a:r>
              <a:rPr lang="en-US" altLang="zh-CN" dirty="0">
                <a:solidFill>
                  <a:srgbClr val="000000"/>
                </a:solidFill>
                <a:latin typeface="Consolas" panose="020B0609020204030204" pitchFamily="49" charset="0"/>
              </a:rPr>
              <a:t>(k) k--; j=</a:t>
            </a:r>
            <a:r>
              <a:rPr lang="en-US" altLang="zh-CN" dirty="0" err="1">
                <a:solidFill>
                  <a:srgbClr val="000000"/>
                </a:solidFill>
                <a:latin typeface="Consolas" panose="020B0609020204030204" pitchFamily="49" charset="0"/>
              </a:rPr>
              <a:t>sa</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rk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a:solidFill>
                  <a:srgbClr val="AF00DB"/>
                </a:solidFill>
                <a:latin typeface="Consolas" panose="020B0609020204030204" pitchFamily="49" charset="0"/>
              </a:rPr>
              <a:t>while</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arr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arr</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j+k</a:t>
            </a:r>
            <a:r>
              <a:rPr lang="en-US" altLang="zh-CN" dirty="0">
                <a:solidFill>
                  <a:srgbClr val="000000"/>
                </a:solidFill>
                <a:latin typeface="Consolas" panose="020B0609020204030204" pitchFamily="49" charset="0"/>
              </a:rPr>
              <a:t>]) k++;</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ht</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rk</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a:t>
            </a:r>
            <a:r>
              <a:rPr lang="en-US" altLang="zh-CN" dirty="0">
                <a:solidFill>
                  <a:srgbClr val="000000"/>
                </a:solidFill>
                <a:latin typeface="Consolas" panose="020B0609020204030204" pitchFamily="49" charset="0"/>
              </a:rPr>
              <a:t>]]=k;</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    }</a:t>
            </a:r>
            <a:endParaRPr lang="en-US" altLang="zh-CN"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a:t>
            </a:r>
            <a:endParaRPr lang="en-US" altLang="zh-CN" b="0" dirty="0">
              <a:solidFill>
                <a:srgbClr val="000000"/>
              </a:solidFill>
              <a:effectLst/>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简单应用</a:t>
            </a:r>
            <a:endParaRPr lang="zh-CN" altLang="en-US" dirty="0"/>
          </a:p>
        </p:txBody>
      </p:sp>
      <p:sp>
        <p:nvSpPr>
          <p:cNvPr id="3" name="内容占位符 2"/>
          <p:cNvSpPr>
            <a:spLocks noGrp="1"/>
          </p:cNvSpPr>
          <p:nvPr>
            <p:ph idx="1"/>
          </p:nvPr>
        </p:nvSpPr>
        <p:spPr/>
        <p:txBody>
          <a:bodyPr/>
          <a:lstStyle/>
          <a:p>
            <a:r>
              <a:rPr lang="zh-CN" altLang="en-US" dirty="0">
                <a:latin typeface="苹方 常规" panose="020B0300000000000000" charset="-122"/>
                <a:ea typeface="苹方 常规" panose="020B0300000000000000" charset="-122"/>
              </a:rPr>
              <a:t>给定一个字符串，求两个后缀的</a:t>
            </a:r>
            <a:r>
              <a:rPr lang="en-US" altLang="zh-CN" dirty="0">
                <a:latin typeface="苹方 常规" panose="020B0300000000000000" charset="-122"/>
                <a:ea typeface="苹方 常规" panose="020B0300000000000000" charset="-122"/>
              </a:rPr>
              <a:t>LCP</a:t>
            </a:r>
            <a:r>
              <a:rPr lang="zh-CN" altLang="en-US" dirty="0">
                <a:latin typeface="苹方 常规" panose="020B0300000000000000" charset="-122"/>
                <a:ea typeface="苹方 常规" panose="020B0300000000000000" charset="-122"/>
              </a:rPr>
              <a:t>。</a:t>
            </a:r>
            <a:endParaRPr lang="zh-CN" altLang="en-US" dirty="0">
              <a:latin typeface="苹方 常规" panose="020B0300000000000000" charset="-122"/>
              <a:ea typeface="苹方 常规" panose="020B0300000000000000" charset="-122"/>
            </a:endParaRPr>
          </a:p>
          <a:p>
            <a:endParaRPr lang="zh-CN" altLang="en-US" dirty="0">
              <a:latin typeface="苹方 常规" panose="020B0300000000000000" charset="-122"/>
              <a:ea typeface="苹方 常规" panose="020B0300000000000000"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简单应用</a:t>
            </a:r>
            <a:endParaRPr lang="zh-CN" altLang="en-US" dirty="0"/>
          </a:p>
        </p:txBody>
      </p:sp>
      <p:sp>
        <p:nvSpPr>
          <p:cNvPr id="3" name="内容占位符 2"/>
          <p:cNvSpPr>
            <a:spLocks noGrp="1"/>
          </p:cNvSpPr>
          <p:nvPr>
            <p:ph idx="1"/>
          </p:nvPr>
        </p:nvSpPr>
        <p:spPr/>
        <p:txBody>
          <a:bodyPr/>
          <a:lstStyle/>
          <a:p>
            <a:r>
              <a:rPr lang="zh-CN" altLang="en-US" dirty="0"/>
              <a:t>求一个字符串不同子串个数。</a:t>
            </a:r>
            <a:endParaRPr lang="zh-CN" altLang="en-US" dirty="0"/>
          </a:p>
          <a:p>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简单应用</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638E3106-549C-45CD-B498-7F01C1C747EB}"/>
                  </a:ext>
                </a:extLst>
              </p:cNvPr>
              <p:cNvSpPr>
                <a:spLocks noGrp="1"/>
              </p:cNvSpPr>
              <p:nvPr>
                <p:ph idx="1"/>
              </p:nvPr>
            </p:nvSpPr>
            <p:spPr/>
            <p:txBody>
              <a:bodyPr/>
              <a:lstStyle/>
              <a:p>
                <a:r>
                  <a:rPr lang="zh-CN" altLang="en-US" dirty="0"/>
                  <a:t>给定字符串，求最长重复至少</a:t>
                </a:r>
                <a14:m>
                  <m:oMath xmlns:m="http://schemas.openxmlformats.org/officeDocument/2006/math">
                    <m:r>
                      <a:rPr lang="en-US" altLang="zh-CN" i="1" dirty="0" smtClean="0">
                        <a:latin typeface="Cambria Math" panose="02040503050406030204" pitchFamily="18" charset="0"/>
                      </a:rPr>
                      <m:t>𝐾</m:t>
                    </m:r>
                  </m:oMath>
                </a14:m>
                <a:r>
                  <a:rPr lang="zh-CN" altLang="en-US" dirty="0"/>
                  <a:t>次的子串。</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简单应用</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C6A4069F-9C6D-40BE-A3F4-89DDEF2FC4D1}"/>
                  </a:ext>
                </a:extLst>
              </p:cNvPr>
              <p:cNvSpPr>
                <a:spLocks noGrp="1"/>
              </p:cNvSpPr>
              <p:nvPr>
                <p:ph idx="1"/>
              </p:nvPr>
            </p:nvSpPr>
            <p:spPr/>
            <p:txBody>
              <a:bodyPr/>
              <a:lstStyle/>
              <a:p>
                <a:r>
                  <a:rPr lang="zh-CN" altLang="en-US" dirty="0"/>
                  <a:t>给定字符串，求不重叠，可统一加减</a:t>
                </a:r>
                <a14:m>
                  <m:oMath xmlns:m="http://schemas.openxmlformats.org/officeDocument/2006/math">
                    <m:r>
                      <a:rPr lang="en-US" altLang="zh-CN" i="1" dirty="0" smtClean="0">
                        <a:latin typeface="Cambria Math" panose="02040503050406030204" pitchFamily="18" charset="0"/>
                      </a:rPr>
                      <m:t>𝑘</m:t>
                    </m:r>
                  </m:oMath>
                </a14:m>
                <a:r>
                  <a:rPr lang="zh-CN" altLang="en-US" dirty="0"/>
                  <a:t>，长度至少为</a:t>
                </a:r>
                <a14:m>
                  <m:oMath xmlns:m="http://schemas.openxmlformats.org/officeDocument/2006/math">
                    <m:r>
                      <a:rPr lang="en-US" altLang="zh-CN" i="1" dirty="0" smtClean="0">
                        <a:latin typeface="Cambria Math" panose="02040503050406030204" pitchFamily="18" charset="0"/>
                      </a:rPr>
                      <m:t>5</m:t>
                    </m:r>
                  </m:oMath>
                </a14:m>
                <a:r>
                  <a:rPr lang="zh-CN" altLang="en-US" dirty="0"/>
                  <a:t>，至少出项两次的最长子串。</a:t>
                </a:r>
              </a:p>
              <a:p>
                <a:r>
                  <a:rPr lang="zh-CN" altLang="en-US" dirty="0"/>
                  <a:t>（</a:t>
                </a:r>
                <a:r>
                  <a:rPr lang="en-US" altLang="zh-CN" dirty="0"/>
                  <a:t>POJ 1473</a:t>
                </a:r>
                <a:r>
                  <a:rPr lang="zh-CN" altLang="en-US" dirty="0"/>
                  <a:t>）</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简单应用</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CF0B52EE-C5F7-4751-B3C6-CD858B8C37BB}"/>
                  </a:ext>
                </a:extLst>
              </p:cNvPr>
              <p:cNvSpPr>
                <a:spLocks noGrp="1"/>
              </p:cNvSpPr>
              <p:nvPr>
                <p:ph idx="1"/>
              </p:nvPr>
            </p:nvSpPr>
            <p:spPr/>
            <p:txBody>
              <a:bodyPr/>
              <a:lstStyle/>
              <a:p>
                <a:r>
                  <a:rPr lang="zh-CN" altLang="en-US" dirty="0"/>
                  <a:t>给定</a:t>
                </a:r>
                <a14:m>
                  <m:oMath xmlns:m="http://schemas.openxmlformats.org/officeDocument/2006/math">
                    <m:r>
                      <a:rPr lang="en-US" altLang="zh-CN" i="1" dirty="0" smtClean="0">
                        <a:latin typeface="Cambria Math" panose="02040503050406030204" pitchFamily="18" charset="0"/>
                      </a:rPr>
                      <m:t>𝑛</m:t>
                    </m:r>
                  </m:oMath>
                </a14:m>
                <a:r>
                  <a:rPr lang="zh-CN" altLang="en-US" dirty="0"/>
                  <a:t>个字符串，找到最长的、在半数以上字符串中出现过的子串。</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简单应用</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4:artisticCrisscrossEtching id="{56A542FD-412F-4C2C-9D65-9636FB37442E}"/>
                  </a:ext>
                </a:extLst>
              </p:cNvPr>
              <p:cNvSpPr>
                <a:spLocks noGrp="1"/>
              </p:cNvSpPr>
              <p:nvPr>
                <p:ph idx="1"/>
              </p:nvPr>
            </p:nvSpPr>
            <p:spPr/>
            <p:txBody>
              <a:bodyPr/>
              <a:lstStyle/>
              <a:p>
                <a:r>
                  <a:rPr lang="zh-CN" altLang="en-US" dirty="0"/>
                  <a:t>给定</a:t>
                </a:r>
                <a14:m>
                  <m:oMath xmlns:m="http://schemas.openxmlformats.org/officeDocument/2006/math">
                    <m:r>
                      <a:rPr lang="en-US" altLang="zh-CN" i="1" dirty="0" smtClean="0">
                        <a:latin typeface="Cambria Math" panose="02040503050406030204" pitchFamily="18" charset="0"/>
                      </a:rPr>
                      <m:t>𝑛</m:t>
                    </m:r>
                  </m:oMath>
                </a14:m>
                <a:r>
                  <a:rPr lang="zh-CN" altLang="en-US" dirty="0"/>
                  <a:t>个字符串，找到最长的、在每个字符串中出现至少两次、有两次出现不重叠的子串。</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1043" t="-2381"/>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简单应用</a:t>
            </a:r>
            <a:endParaRPr lang="zh-CN" altLang="en-US" dirty="0"/>
          </a:p>
        </p:txBody>
      </p:sp>
      <p:sp>
        <p:nvSpPr>
          <p:cNvPr id="3" name="内容占位符 2"/>
          <p:cNvSpPr>
            <a:spLocks noGrp="1"/>
          </p:cNvSpPr>
          <p:nvPr>
            <p:ph idx="1"/>
          </p:nvPr>
        </p:nvSpPr>
        <p:spPr/>
        <p:txBody>
          <a:bodyPr/>
          <a:lstStyle/>
          <a:p>
            <a:r>
              <a:rPr lang="zh-CN" altLang="en-US" dirty="0"/>
              <a:t>给定字符串，求有多少本质不同回文子串。</a:t>
            </a:r>
            <a:endParaRPr lang="zh-CN" altLang="en-US" dirty="0"/>
          </a:p>
          <a:p>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4603</Words>
  <Application>WPS 演示</Application>
  <PresentationFormat>宽屏</PresentationFormat>
  <Paragraphs>541</Paragraphs>
  <Slides>68</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68</vt:i4>
      </vt:variant>
    </vt:vector>
  </HeadingPairs>
  <TitlesOfParts>
    <vt:vector size="80" baseType="lpstr">
      <vt:lpstr>Arial</vt:lpstr>
      <vt:lpstr>宋体</vt:lpstr>
      <vt:lpstr>Wingdings</vt:lpstr>
      <vt:lpstr>Consolas</vt:lpstr>
      <vt:lpstr>Mongolian Baiti</vt:lpstr>
      <vt:lpstr>等线 Light</vt:lpstr>
      <vt:lpstr>SWAstro</vt:lpstr>
      <vt:lpstr>等线</vt:lpstr>
      <vt:lpstr>微软雅黑</vt:lpstr>
      <vt:lpstr>苹方 中等</vt:lpstr>
      <vt:lpstr>苹方 常规</vt:lpstr>
      <vt:lpstr>Office 主题​​</vt:lpstr>
      <vt:lpstr>课件.pptx</vt:lpstr>
      <vt:lpstr>PowerPoint 演示文稿</vt:lpstr>
      <vt:lpstr>问题</vt:lpstr>
      <vt:lpstr>KMP</vt:lpstr>
      <vt:lpstr>KMP</vt:lpstr>
      <vt:lpstr>KMP</vt:lpstr>
      <vt:lpstr>KMP</vt:lpstr>
      <vt:lpstr>Next</vt:lpstr>
      <vt:lpstr>Next</vt:lpstr>
      <vt:lpstr>Next</vt:lpstr>
      <vt:lpstr>实现</vt:lpstr>
      <vt:lpstr>POJ2406 Power Strings</vt:lpstr>
      <vt:lpstr>BZOJ3942 Censoring</vt:lpstr>
      <vt:lpstr>exKMP</vt:lpstr>
      <vt:lpstr>HDU4333 Revolving Digits</vt:lpstr>
      <vt:lpstr>PowerPoint 演示文稿</vt:lpstr>
      <vt:lpstr>Trie</vt:lpstr>
      <vt:lpstr>Trie</vt:lpstr>
      <vt:lpstr>BZOJ4896 补退选</vt:lpstr>
      <vt:lpstr>BZOJ3689 异或之</vt:lpstr>
      <vt:lpstr>POJ3376 Finding Palindromes</vt:lpstr>
      <vt:lpstr>PowerPoint 演示文稿</vt:lpstr>
      <vt:lpstr>问题</vt:lpstr>
      <vt:lpstr>AC自动机</vt:lpstr>
      <vt:lpstr>AC自动机</vt:lpstr>
      <vt:lpstr>匹配</vt:lpstr>
      <vt:lpstr>构造</vt:lpstr>
      <vt:lpstr>HDU3065 病毒侵袭持续中</vt:lpstr>
      <vt:lpstr>Trie图</vt:lpstr>
      <vt:lpstr>POJ2778 DNA Sequence</vt:lpstr>
      <vt:lpstr>BZOJ2434 阿狸的打字机</vt:lpstr>
      <vt:lpstr>PowerPoint 演示文稿</vt:lpstr>
      <vt:lpstr>回文串</vt:lpstr>
      <vt:lpstr>Manacher</vt:lpstr>
      <vt:lpstr>Manacher</vt:lpstr>
      <vt:lpstr>Manacher</vt:lpstr>
      <vt:lpstr>Manacher</vt:lpstr>
      <vt:lpstr>Manacher</vt:lpstr>
      <vt:lpstr>Manacher</vt:lpstr>
      <vt:lpstr>复杂度</vt:lpstr>
      <vt:lpstr>BZOJ3790 神奇项链</vt:lpstr>
      <vt:lpstr>HDU5677 ztr loves substring</vt:lpstr>
      <vt:lpstr>PowerPoint 演示文稿</vt:lpstr>
      <vt:lpstr>↓</vt:lpstr>
      <vt:lpstr>预备知识</vt:lpstr>
      <vt:lpstr>栗子</vt:lpstr>
      <vt:lpstr>一点性质</vt:lpstr>
      <vt:lpstr>再举个栗子</vt:lpstr>
      <vt:lpstr>怎么求</vt:lpstr>
      <vt:lpstr>怎么求</vt:lpstr>
      <vt:lpstr>另一个预备知识</vt:lpstr>
      <vt:lpstr>倍增法</vt:lpstr>
      <vt:lpstr>一份很丑的代码</vt:lpstr>
      <vt:lpstr>一份很丑的代码</vt:lpstr>
      <vt:lpstr>一点小技巧</vt:lpstr>
      <vt:lpstr>一点小技巧</vt:lpstr>
      <vt:lpstr>另一点理解</vt:lpstr>
      <vt:lpstr>栗子</vt:lpstr>
      <vt:lpstr>栗子</vt:lpstr>
      <vt:lpstr>然后</vt:lpstr>
      <vt:lpstr>一份很丑的代码</vt:lpstr>
      <vt:lpstr>简单应用</vt:lpstr>
      <vt:lpstr>简单应用</vt:lpstr>
      <vt:lpstr>简单应用</vt:lpstr>
      <vt:lpstr>简单应用</vt:lpstr>
      <vt:lpstr>简单应用</vt:lpstr>
      <vt:lpstr>简单应用</vt:lpstr>
      <vt:lpstr>简单应用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课件.pptx</dc:title>
  <dc:creator>892252387@qq.com</dc:creator>
  <cp:lastModifiedBy>stu</cp:lastModifiedBy>
  <cp:revision>64</cp:revision>
  <dcterms:created xsi:type="dcterms:W3CDTF">2017-06-02T12:50:00Z</dcterms:created>
  <dcterms:modified xsi:type="dcterms:W3CDTF">2017-06-09T11:35:28Z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